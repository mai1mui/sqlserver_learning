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625" autoAdjust="0"/>
  </p:normalViewPr>
  <p:slideViewPr>
    <p:cSldViewPr>
      <p:cViewPr varScale="1">
        <p:scale>
          <a:sx n="59" d="100"/>
          <a:sy n="59" d="100"/>
        </p:scale>
        <p:origin x="214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9047F-397B-4589-B7BD-BD6D3796C76A}" type="datetimeFigureOut">
              <a:rPr lang="en-US" smtClean="0"/>
              <a:t>10/24/2021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56DF2-E36C-48BA-9B9B-BBF7F896D4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97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Phiên 12: Triggers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01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Mục tiêu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Giải thích </a:t>
            </a:r>
            <a:r>
              <a:rPr lang="en-US" sz="1200">
                <a:latin typeface="Calibri" pitchFamily="34" charset="0"/>
                <a:cs typeface="Calibri" pitchFamily="34" charset="0"/>
              </a:rPr>
              <a:t>triggers (kích hoạt)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Giải thích thủ tục để tạo </a:t>
            </a:r>
            <a:r>
              <a:rPr lang="en-US" sz="1200">
                <a:latin typeface="Calibri" pitchFamily="34" charset="0"/>
                <a:cs typeface="Calibri" pitchFamily="34" charset="0"/>
              </a:rPr>
              <a:t>DML triggers </a:t>
            </a:r>
            <a:r>
              <a:rPr lang="en-US" b="0"/>
              <a:t>(</a:t>
            </a:r>
            <a:r>
              <a:rPr lang="en-US"/>
              <a:t>Data Manipulation Language - Ngôn ngữ thao tác dữ liệu)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Mô tả các </a:t>
            </a:r>
            <a:r>
              <a:rPr lang="en-US" sz="1200">
                <a:latin typeface="Calibri" pitchFamily="34" charset="0"/>
                <a:cs typeface="Calibri" pitchFamily="34" charset="0"/>
              </a:rPr>
              <a:t>triggers </a:t>
            </a:r>
            <a:r>
              <a:rPr lang="en-US" b="0"/>
              <a:t>lồng nhau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Mô tả các hàm cập nhật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Giải thích việc xử lý nhiều hàng trong một phiên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Giải thích hàm ý hiệu suất của các </a:t>
            </a:r>
            <a:r>
              <a:rPr lang="en-US" sz="1200">
                <a:latin typeface="Calibri" pitchFamily="34" charset="0"/>
                <a:cs typeface="Calibri" pitchFamily="34" charset="0"/>
              </a:rPr>
              <a:t>triggers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37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Giới thiệu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vi-VN" b="0">
                <a:latin typeface="Calibri" pitchFamily="34" charset="0"/>
                <a:cs typeface="Calibri" pitchFamily="34" charset="0"/>
              </a:rPr>
              <a:t>Trigger là một loại </a:t>
            </a:r>
            <a:r>
              <a:rPr lang="en-US" b="0">
                <a:latin typeface="Calibri" pitchFamily="34" charset="0"/>
                <a:cs typeface="Calibri" pitchFamily="34" charset="0"/>
              </a:rPr>
              <a:t>thủ tục </a:t>
            </a:r>
            <a:r>
              <a:rPr lang="vi-VN" b="0">
                <a:latin typeface="Calibri" pitchFamily="34" charset="0"/>
                <a:cs typeface="Calibri" pitchFamily="34" charset="0"/>
              </a:rPr>
              <a:t>trữ đặc biệt được thực thi khi một nỗ lực được thực hiện để sửa đổi dữ liệu trong một bảng mà các kích hoạt được tạo.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vi-VN" b="0">
                <a:latin typeface="Calibri" pitchFamily="34" charset="0"/>
                <a:cs typeface="Calibri" pitchFamily="34" charset="0"/>
              </a:rPr>
              <a:t>Không giống như các thủ tục lưu trữ hệ thống tiêu chuẩn, các </a:t>
            </a:r>
            <a:r>
              <a:rPr lang="en-US" sz="1200" spc="35">
                <a:latin typeface="Times New Roman"/>
                <a:cs typeface="Times New Roman"/>
              </a:rPr>
              <a:t>triggers </a:t>
            </a:r>
            <a:r>
              <a:rPr lang="vi-VN" b="0">
                <a:latin typeface="Calibri" pitchFamily="34" charset="0"/>
                <a:cs typeface="Calibri" pitchFamily="34" charset="0"/>
              </a:rPr>
              <a:t>không thể được thực thi trực tiếp, cũng không </a:t>
            </a:r>
            <a:r>
              <a:rPr lang="en-US" b="0">
                <a:latin typeface="Calibri" pitchFamily="34" charset="0"/>
                <a:cs typeface="Calibri" pitchFamily="34" charset="0"/>
              </a:rPr>
              <a:t>truyền </a:t>
            </a:r>
            <a:r>
              <a:rPr lang="vi-VN" b="0">
                <a:latin typeface="Calibri" pitchFamily="34" charset="0"/>
                <a:cs typeface="Calibri" pitchFamily="34" charset="0"/>
              </a:rPr>
              <a:t>hoặc nhận tham số.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spc="40">
                <a:latin typeface="Times New Roman"/>
                <a:cs typeface="Times New Roman"/>
              </a:rPr>
              <a:t>Triggers </a:t>
            </a:r>
            <a:r>
              <a:rPr lang="vi-VN" b="0">
                <a:latin typeface="Calibri" pitchFamily="34" charset="0"/>
                <a:cs typeface="Calibri" pitchFamily="34" charset="0"/>
              </a:rPr>
              <a:t>sẽ được thực thi tự động khi </a:t>
            </a:r>
            <a:r>
              <a:rPr lang="en-US" b="0">
                <a:latin typeface="Calibri" pitchFamily="34" charset="0"/>
                <a:cs typeface="Calibri" pitchFamily="34" charset="0"/>
              </a:rPr>
              <a:t>h</a:t>
            </a:r>
            <a:r>
              <a:rPr lang="vi-VN" b="0">
                <a:latin typeface="Calibri" pitchFamily="34" charset="0"/>
                <a:cs typeface="Calibri" pitchFamily="34" charset="0"/>
              </a:rPr>
              <a:t>oạt động chèn, cập nhật hoặc xóa</a:t>
            </a:r>
            <a:r>
              <a:rPr lang="en-US" b="0">
                <a:latin typeface="Calibri" pitchFamily="34" charset="0"/>
                <a:cs typeface="Calibri" pitchFamily="34" charset="0"/>
              </a:rPr>
              <a:t> </a:t>
            </a:r>
            <a:r>
              <a:rPr lang="vi-VN" b="0">
                <a:latin typeface="Calibri" pitchFamily="34" charset="0"/>
                <a:cs typeface="Calibri" pitchFamily="34" charset="0"/>
              </a:rPr>
              <a:t>được thực hiện.</a:t>
            </a:r>
            <a:endParaRPr lang="en-US" b="0">
              <a:latin typeface="Calibri" pitchFamily="34" charset="0"/>
              <a:cs typeface="Calibri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vi-VN" b="0"/>
              <a:t>Trong SQL Server, các </a:t>
            </a:r>
            <a:r>
              <a:rPr lang="en-US" sz="1200" spc="35">
                <a:latin typeface="Times New Roman"/>
                <a:cs typeface="Times New Roman"/>
              </a:rPr>
              <a:t>triggers </a:t>
            </a:r>
            <a:r>
              <a:rPr lang="vi-VN" b="0"/>
              <a:t>được tạo bằng cách sử dụng câu lệnh CREATE TRIGGER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17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Sử dụng Triggers 1-4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Triggers có thể chứa logic xử lý phức tạp và thường được sử dụng để duy trì tính toàn vẹn dữ liệu cấp thấp</a:t>
            </a:r>
            <a:r>
              <a:rPr lang="en-US" b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vi-VN" b="0"/>
              <a:t>Việc sử dụng chính các </a:t>
            </a:r>
            <a:r>
              <a:rPr lang="en-US" b="0"/>
              <a:t>Triggers</a:t>
            </a:r>
            <a:r>
              <a:rPr lang="en-US" b="1"/>
              <a:t> </a:t>
            </a:r>
            <a:r>
              <a:rPr lang="vi-VN" b="0"/>
              <a:t>có thể được phân loại như sau</a:t>
            </a:r>
            <a:r>
              <a:rPr lang="en-US" b="0"/>
              <a:t>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0"/>
              <a:t>Thay đổi dây chuyền thông qua các bảng liên quan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b="0"/>
              <a:t>Người dùng có thể sử dụng </a:t>
            </a:r>
            <a:r>
              <a:rPr lang="en-US" b="0"/>
              <a:t>một </a:t>
            </a:r>
            <a:r>
              <a:rPr lang="en-US" sz="1200" spc="45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lang="vi-VN" b="0"/>
              <a:t>để </a:t>
            </a:r>
            <a:r>
              <a:rPr lang="en-US" b="0"/>
              <a:t>thay đổi dây chuyền </a:t>
            </a:r>
            <a:r>
              <a:rPr lang="vi-VN" b="0"/>
              <a:t>thông qua các bảng liên quan.</a:t>
            </a:r>
            <a:endParaRPr lang="en-US" b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b="0"/>
              <a:t>Ví dụ,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 b="0"/>
              <a:t>Xem xét một bảng </a:t>
            </a:r>
            <a:r>
              <a:rPr lang="vi-VN" b="1"/>
              <a:t>Sales.Customer </a:t>
            </a:r>
            <a:r>
              <a:rPr lang="vi-VN" b="0"/>
              <a:t>trong cơ sở dữ liệu </a:t>
            </a:r>
            <a:r>
              <a:rPr lang="vi-VN" b="1"/>
              <a:t>AdventureWorks2019</a:t>
            </a:r>
            <a:r>
              <a:rPr lang="vi-VN" b="0"/>
              <a:t> có khóa ngoại, </a:t>
            </a:r>
            <a:r>
              <a:rPr lang="vi-VN" b="1"/>
              <a:t>PersonID</a:t>
            </a:r>
            <a:r>
              <a:rPr lang="vi-VN" b="0"/>
              <a:t> tham </a:t>
            </a:r>
            <a:r>
              <a:rPr lang="en-US" b="0"/>
              <a:t>chiếu</a:t>
            </a:r>
            <a:r>
              <a:rPr lang="vi-VN" b="0"/>
              <a:t> khóa chính, </a:t>
            </a:r>
            <a:r>
              <a:rPr lang="en-US" sz="1200" b="1" spc="50">
                <a:solidFill>
                  <a:srgbClr val="FFFFFF"/>
                </a:solidFill>
                <a:latin typeface="Times New Roman"/>
                <a:cs typeface="Times New Roman"/>
              </a:rPr>
              <a:t>BusinessEntityID </a:t>
            </a:r>
            <a:r>
              <a:rPr lang="vi-VN" b="0"/>
              <a:t>của bảng </a:t>
            </a:r>
            <a:r>
              <a:rPr lang="vi-VN" b="1"/>
              <a:t>Person.Person</a:t>
            </a:r>
            <a:r>
              <a:rPr lang="vi-VN" b="0"/>
              <a:t>. Nếu một bản cập nhật hoặc một sự kiện xóa xảy ra trong bảng </a:t>
            </a:r>
            <a:r>
              <a:rPr lang="vi-VN" b="1"/>
              <a:t>Person.person</a:t>
            </a:r>
            <a:r>
              <a:rPr lang="vi-VN" b="0"/>
              <a:t>, một </a:t>
            </a:r>
            <a:r>
              <a:rPr lang="en-US" b="0"/>
              <a:t>trigger </a:t>
            </a:r>
            <a:r>
              <a:rPr lang="vi-VN" b="0"/>
              <a:t>cập nhật hoặc xóa có thể được</a:t>
            </a:r>
            <a:r>
              <a:rPr lang="en-US" b="0"/>
              <a:t> </a:t>
            </a:r>
            <a:r>
              <a:rPr lang="vi-VN" b="0"/>
              <a:t>định </a:t>
            </a:r>
            <a:r>
              <a:rPr lang="en-US" b="0"/>
              <a:t>nghĩa </a:t>
            </a:r>
            <a:r>
              <a:rPr lang="vi-VN" b="0"/>
              <a:t>để xếp tầng các thay đổi này đối với bảng</a:t>
            </a:r>
            <a:r>
              <a:rPr lang="en-US" b="0"/>
              <a:t> </a:t>
            </a:r>
            <a:r>
              <a:rPr lang="vi-VN" b="1"/>
              <a:t>Sales.Customer</a:t>
            </a: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17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Sử dụng Triggers 2-4</a:t>
            </a:r>
          </a:p>
          <a:p>
            <a:r>
              <a:rPr lang="vi-VN" b="0"/>
              <a:t>Thực thi toàn vẹn dữ liệu phức tạp</a:t>
            </a:r>
            <a:endParaRPr lang="en-US" b="0"/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/>
              <a:t>DML Triggers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vi-VN" b="0"/>
              <a:t>Thực thi khi dữ liệu được </a:t>
            </a:r>
            <a:r>
              <a:rPr lang="en-US" b="0"/>
              <a:t>thêm</a:t>
            </a:r>
            <a:r>
              <a:rPr lang="vi-VN" b="0"/>
              <a:t>, sửa đổi hoặc xóa trong bảng / </a:t>
            </a:r>
            <a:r>
              <a:rPr lang="en-US" b="0"/>
              <a:t>khung nhìn </a:t>
            </a:r>
            <a:r>
              <a:rPr lang="vi-VN" b="0"/>
              <a:t>bằng </a:t>
            </a:r>
            <a:r>
              <a:rPr lang="en-US" b="0"/>
              <a:t>các câu lệnh INSERT</a:t>
            </a:r>
            <a:r>
              <a:rPr lang="vi-VN" b="0"/>
              <a:t>, </a:t>
            </a:r>
            <a:r>
              <a:rPr lang="en-US" b="0"/>
              <a:t>UPDATE </a:t>
            </a:r>
            <a:r>
              <a:rPr lang="vi-VN" b="0"/>
              <a:t>hoặc </a:t>
            </a:r>
            <a:r>
              <a:rPr lang="en-US" b="0"/>
              <a:t>DELETE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chemeClr val="tx1"/>
                </a:solidFill>
              </a:rPr>
              <a:t>DDL Triggers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vi-VN" b="0"/>
              <a:t>Thực thi khi một bảng hoặc </a:t>
            </a:r>
            <a:r>
              <a:rPr lang="en-US" b="0"/>
              <a:t>một khung nhìn </a:t>
            </a:r>
            <a:r>
              <a:rPr lang="vi-VN" b="0"/>
              <a:t>được tạo, sửa đổi hoặc xóa bằng cách sử dụng các câu lệnh CREATE, ALTER hoặc DROP</a:t>
            </a:r>
            <a:endParaRPr lang="en-US" b="0"/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chemeClr val="tx1"/>
                </a:solidFill>
              </a:rPr>
              <a:t>Logon Triggers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vi-VN" b="0"/>
              <a:t>Thực hiện các thủ tục được lưu trữ khi một phiên được thiết lập với một sự kiện đăng nhập</a:t>
            </a:r>
            <a:r>
              <a:rPr lang="en-US" b="0"/>
              <a:t>. </a:t>
            </a:r>
            <a:r>
              <a:rPr lang="vi-VN" b="0"/>
              <a:t>Các </a:t>
            </a:r>
            <a:r>
              <a:rPr lang="en-US" b="0"/>
              <a:t>trigger </a:t>
            </a:r>
            <a:r>
              <a:rPr lang="vi-VN" b="0"/>
              <a:t>này được gọi sau khi xác thực đăng nhập hoàn tất và trước khi phiên thực tế được thiết lập. </a:t>
            </a:r>
            <a:r>
              <a:rPr lang="en-US" b="0"/>
              <a:t>Trigger Logon </a:t>
            </a:r>
            <a:r>
              <a:rPr lang="vi-VN" b="0"/>
              <a:t>kiểm soát các phiên máy chủ bằng cách hạn chế đăng nhập không hợp lệ hoặc hạn chế số lượng phiên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15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Sử dụng Triggers 3-4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/>
              <a:t>Định nghĩa thông báo lỗi tùy chỉnh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b="0"/>
              <a:t>Được sử dụng để cung cấp các giải thích phù hợp hoặc chi tiết hơn trong các tình huống lỗi nhất định.</a:t>
            </a:r>
            <a:endParaRPr lang="en-US" b="0"/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spc="55">
                <a:solidFill>
                  <a:srgbClr val="FFFFFF"/>
                </a:solidFill>
                <a:latin typeface="Times New Roman"/>
                <a:cs typeface="Times New Roman"/>
              </a:rPr>
              <a:t>Tri</a:t>
            </a:r>
            <a:r>
              <a:rPr lang="en-US" sz="1200" spc="6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lang="en-US" sz="1200" spc="25">
                <a:solidFill>
                  <a:srgbClr val="FFFFFF"/>
                </a:solidFill>
                <a:latin typeface="Times New Roman"/>
                <a:cs typeface="Times New Roman"/>
              </a:rPr>
              <a:t>gers </a:t>
            </a:r>
            <a:r>
              <a:rPr lang="vi-VN" b="0"/>
              <a:t>có thể được sử dụng để gọi các thông báo lỗi tùy chỉnh được định </a:t>
            </a:r>
            <a:r>
              <a:rPr lang="en-US" b="0"/>
              <a:t>nghĩa </a:t>
            </a:r>
            <a:r>
              <a:rPr lang="vi-VN" b="0"/>
              <a:t>trước khi các điều kiện lỗi có liên quan xảy ra</a:t>
            </a:r>
            <a:endParaRPr lang="en-US" b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/>
              <a:t>Duy trì dữ liệu biến dạng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b="0"/>
              <a:t>Tính toàn vẹn dữ liệu cấp thấp có thể được duy trì trong môi trường cơ sở dữ liệu biến dạng bằng cách sử dụng các </a:t>
            </a:r>
            <a:r>
              <a:rPr lang="en-US" sz="1200" spc="35">
                <a:solidFill>
                  <a:srgbClr val="FFFFFF"/>
                </a:solidFill>
                <a:latin typeface="Times New Roman"/>
                <a:cs typeface="Times New Roman"/>
              </a:rPr>
              <a:t>trigger.</a:t>
            </a:r>
            <a:endParaRPr lang="vi-VN" b="0"/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b="0"/>
              <a:t>Nó thường đề cập đến dữ liệu dư thừa hoặc có nguồn gốc.</a:t>
            </a:r>
            <a:endParaRPr lang="en-US" b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b="0"/>
              <a:t>Ví dụ: nếu giá trị của năm sẽ được kiểm tra so với các ngày đầy đủ, có thể sử dụng </a:t>
            </a:r>
            <a:r>
              <a:rPr lang="en-US" sz="1200" spc="35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lang="vi-VN" b="0"/>
              <a:t>để thực hiện kiểm tra.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19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Sử dụng Triggers 4-4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b="1"/>
              <a:t>So sánh trước và sau các trạng thái dữ liệu được sửa đổi</a:t>
            </a:r>
            <a:endParaRPr lang="en-US" b="1"/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Triggers</a:t>
            </a:r>
            <a:r>
              <a:rPr lang="vi-VN" b="0"/>
              <a:t> cung cấp tùy chọn để tham chiếu </a:t>
            </a:r>
            <a:r>
              <a:rPr lang="en-US" b="0"/>
              <a:t>về những</a:t>
            </a:r>
            <a:r>
              <a:rPr lang="vi-VN" b="0"/>
              <a:t> thay đổi </a:t>
            </a:r>
            <a:r>
              <a:rPr lang="en-US" b="0"/>
              <a:t>đã </a:t>
            </a:r>
            <a:r>
              <a:rPr lang="vi-VN" b="0"/>
              <a:t>được thực hiện </a:t>
            </a:r>
            <a:r>
              <a:rPr lang="en-US" b="0"/>
              <a:t>cho</a:t>
            </a:r>
            <a:r>
              <a:rPr lang="vi-VN" b="0"/>
              <a:t> dữ liệu bằng các câu lệnh </a:t>
            </a:r>
            <a:r>
              <a:rPr lang="en-US" b="1"/>
              <a:t>INSERT</a:t>
            </a:r>
            <a:r>
              <a:rPr lang="vi-VN" b="0"/>
              <a:t>, </a:t>
            </a:r>
            <a:r>
              <a:rPr lang="en-US" b="1"/>
              <a:t>UPDATE</a:t>
            </a:r>
            <a:r>
              <a:rPr lang="en-US"/>
              <a:t> </a:t>
            </a:r>
            <a:r>
              <a:rPr lang="vi-VN" b="0"/>
              <a:t>và </a:t>
            </a:r>
            <a:r>
              <a:rPr lang="en-US" b="1"/>
              <a:t>DELETE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b="0"/>
              <a:t>Điều này cho phép người dùng tham chiếu các hàng bị ảnh hưởng khi sửa đổi được thực hiện thông qua các </a:t>
            </a:r>
            <a:r>
              <a:rPr lang="en-US"/>
              <a:t>Triggers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65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Các loại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Các </a:t>
            </a:r>
            <a:r>
              <a:rPr lang="en-US" sz="1200" spc="55">
                <a:latin typeface="Times New Roman"/>
                <a:cs typeface="Times New Roman"/>
              </a:rPr>
              <a:t>Triggers </a:t>
            </a:r>
            <a:r>
              <a:rPr lang="vi-VN" sz="120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được thực hiện tự động khi một sự kiện ngôn ngữ xảy ra trong một bảng hoặc </a:t>
            </a:r>
            <a:r>
              <a:rPr lang="en-US" sz="120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một khung nhìn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Các sự kiện ngôn ngữ có thể được phân loại là các sự kiện DML và DDL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Các </a:t>
            </a:r>
            <a:r>
              <a:rPr lang="en-US" sz="1200" spc="55">
                <a:latin typeface="Times New Roman"/>
                <a:cs typeface="Times New Roman"/>
              </a:rPr>
              <a:t>Triggers </a:t>
            </a:r>
            <a:r>
              <a:rPr lang="vi-VN" b="0"/>
              <a:t>liên quan đến các sự kiện DML được gọi là </a:t>
            </a:r>
            <a:r>
              <a:rPr lang="en-US" sz="1200" b="1" spc="75">
                <a:solidFill>
                  <a:srgbClr val="FFFFFF"/>
                </a:solidFill>
                <a:latin typeface="Times New Roman"/>
                <a:cs typeface="Times New Roman"/>
              </a:rPr>
              <a:t>DML </a:t>
            </a:r>
            <a:r>
              <a:rPr lang="en-US" sz="1200" b="1" spc="4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r>
              <a:rPr lang="vi-VN" b="0"/>
              <a:t>, trong khi các </a:t>
            </a:r>
            <a:r>
              <a:rPr lang="en-US" sz="1200" spc="55">
                <a:latin typeface="Times New Roman"/>
                <a:cs typeface="Times New Roman"/>
              </a:rPr>
              <a:t>Triggers </a:t>
            </a:r>
            <a:r>
              <a:rPr lang="vi-VN" b="0"/>
              <a:t>được liên kết với các sự kiện DDL được gọi là </a:t>
            </a:r>
            <a:r>
              <a:rPr lang="en-US" sz="1200" b="1" spc="105">
                <a:solidFill>
                  <a:srgbClr val="FFFFFF"/>
                </a:solidFill>
                <a:latin typeface="Times New Roman"/>
                <a:cs typeface="Times New Roman"/>
              </a:rPr>
              <a:t>DDL</a:t>
            </a:r>
            <a:r>
              <a:rPr lang="en-US" sz="1200" b="1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4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r>
              <a:rPr lang="vi-VN" b="0"/>
              <a:t>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03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Tạo DML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DML Triggers </a:t>
            </a:r>
            <a:r>
              <a:rPr lang="vi-VN" b="0"/>
              <a:t>được thực thi khi hoàn thành các sự kiện DML hoặc thay cho các sự kiện DML.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DML Triggers </a:t>
            </a:r>
            <a:r>
              <a:rPr lang="vi-VN" b="0"/>
              <a:t>thực thi tính toàn vẹn tham chiếu bằng cách xếp tầng thay đổi đối với các bảng liên quan khi một hàng được sửa đổi</a:t>
            </a:r>
            <a:r>
              <a:rPr lang="en-US" b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95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Giới thiệu về Bảng đã thêm và Bảng đã xóa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/>
              <a:t>Các câu lệnh SQL trong </a:t>
            </a:r>
            <a:r>
              <a:rPr lang="en-US" sz="1200">
                <a:latin typeface="Calibri" pitchFamily="34" charset="0"/>
                <a:cs typeface="Calibri" pitchFamily="34" charset="0"/>
              </a:rPr>
              <a:t>DML triggers </a:t>
            </a:r>
            <a:r>
              <a:rPr lang="vi-VN"/>
              <a:t>sử dụng </a:t>
            </a:r>
            <a:r>
              <a:rPr lang="en-US"/>
              <a:t>2</a:t>
            </a:r>
            <a:r>
              <a:rPr lang="vi-VN"/>
              <a:t> loại bảng đặc biệt để sửa đổi dữ liệu trong cơ sở dữ liệu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/>
              <a:t>Khi dữ liệu được </a:t>
            </a:r>
            <a:r>
              <a:rPr lang="en-US"/>
              <a:t>thêm</a:t>
            </a:r>
            <a:r>
              <a:rPr lang="vi-VN"/>
              <a:t>, cập nhật hoặc xóa, máy chủ SQL sẽ tự động tạo và quản lý các bảng này tự động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Các bảng</a:t>
            </a:r>
            <a:r>
              <a:rPr lang="vi-VN"/>
              <a:t> tạm thời lưu trữ bản gốc cũng như dữ liệu đã sửa đổi</a:t>
            </a:r>
            <a:endParaRPr 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/>
              <a:t>Bảng đã thêm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i="0"/>
              <a:t>Các hàng mới được thêm vào cả </a:t>
            </a:r>
            <a:r>
              <a:rPr lang="vi-VN" b="1" i="0"/>
              <a:t>bảng </a:t>
            </a:r>
            <a:r>
              <a:rPr lang="en-US" sz="1200" b="1" spc="70">
                <a:solidFill>
                  <a:srgbClr val="FFFFFF"/>
                </a:solidFill>
                <a:latin typeface="Times New Roman"/>
                <a:cs typeface="Times New Roman"/>
              </a:rPr>
              <a:t>inserted</a:t>
            </a:r>
            <a:r>
              <a:rPr lang="vi-VN" b="1" i="0"/>
              <a:t> </a:t>
            </a:r>
            <a:r>
              <a:rPr lang="vi-VN" i="0"/>
              <a:t>và </a:t>
            </a:r>
            <a:r>
              <a:rPr lang="vi-VN" b="1" i="0"/>
              <a:t>bảng </a:t>
            </a:r>
            <a:r>
              <a:rPr lang="en-US" sz="1200" b="1" spc="35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lang="vi-VN" i="0"/>
              <a:t>.</a:t>
            </a:r>
          </a:p>
          <a:p>
            <a:pPr marL="1085850" marR="0" lvl="2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i="0"/>
              <a:t>Các hàng trong </a:t>
            </a:r>
            <a:r>
              <a:rPr lang="vi-VN" b="1" i="0"/>
              <a:t>bảng</a:t>
            </a:r>
            <a:r>
              <a:rPr lang="vi-VN" i="0"/>
              <a:t> </a:t>
            </a:r>
            <a:r>
              <a:rPr lang="en-US" sz="1200" b="1" spc="70">
                <a:solidFill>
                  <a:srgbClr val="FFFFFF"/>
                </a:solidFill>
                <a:latin typeface="Times New Roman"/>
                <a:cs typeface="Times New Roman"/>
              </a:rPr>
              <a:t>inserted </a:t>
            </a:r>
            <a:r>
              <a:rPr lang="vi-VN" i="0"/>
              <a:t>là bản sao của các hàng mới trong </a:t>
            </a:r>
            <a:r>
              <a:rPr lang="vi-VN" b="1" i="0"/>
              <a:t>bảng </a:t>
            </a:r>
            <a:r>
              <a:rPr lang="en-US" sz="1200" b="1" spc="35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endParaRPr lang="en-US" i="0"/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/>
              <a:t>Bảng đã xóa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vi-VN" i="0"/>
              <a:t>Trong quá trình thực hiện một câu lệnh </a:t>
            </a:r>
            <a:r>
              <a:rPr lang="en-US" sz="1200" b="1" spc="40">
                <a:solidFill>
                  <a:srgbClr val="FFFFFF"/>
                </a:solidFill>
                <a:latin typeface="Times New Roman"/>
                <a:cs typeface="Times New Roman"/>
              </a:rPr>
              <a:t>DELETE</a:t>
            </a:r>
            <a:r>
              <a:rPr lang="vi-VN" i="0"/>
              <a:t> hoặc </a:t>
            </a:r>
            <a:r>
              <a:rPr lang="en-US" sz="1200" b="1" spc="100">
                <a:solidFill>
                  <a:srgbClr val="FFFFFF"/>
                </a:solidFill>
                <a:latin typeface="Times New Roman"/>
                <a:cs typeface="Times New Roman"/>
              </a:rPr>
              <a:t>UPDATE</a:t>
            </a:r>
            <a:r>
              <a:rPr lang="vi-VN" i="0"/>
              <a:t>, các hàng sẽ bị xóa khỏi </a:t>
            </a:r>
            <a:r>
              <a:rPr lang="vi-VN" b="1" i="0"/>
              <a:t>bảng </a:t>
            </a:r>
            <a:r>
              <a:rPr lang="en-US" sz="1200" b="1" spc="35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lang="vi-VN" i="0"/>
              <a:t>và được chuyển đến </a:t>
            </a:r>
            <a:r>
              <a:rPr lang="vi-VN" b="1" i="0"/>
              <a:t>bảng </a:t>
            </a:r>
            <a:r>
              <a:rPr lang="en-US" sz="1200" b="1" spc="65">
                <a:solidFill>
                  <a:srgbClr val="FFFFFF"/>
                </a:solidFill>
                <a:latin typeface="Times New Roman"/>
                <a:cs typeface="Times New Roman"/>
              </a:rPr>
              <a:t>deleted</a:t>
            </a:r>
            <a:endParaRPr 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37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Trigger Thêm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Một </a:t>
            </a:r>
            <a:r>
              <a:rPr lang="en-US" sz="1200" b="1" spc="65">
                <a:solidFill>
                  <a:srgbClr val="FFFFFF"/>
                </a:solidFill>
                <a:latin typeface="Times New Roman"/>
                <a:cs typeface="Times New Roman"/>
              </a:rPr>
              <a:t>INSERT</a:t>
            </a:r>
            <a:r>
              <a:rPr lang="en-US" sz="1200" b="1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3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lang="en-US" sz="1200" b="1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200" spc="-75">
                <a:solidFill>
                  <a:srgbClr val="FFFFFF"/>
                </a:solidFill>
                <a:latin typeface="Times New Roman"/>
                <a:cs typeface="Times New Roman"/>
              </a:rPr>
              <a:t>đ</a:t>
            </a:r>
            <a:r>
              <a:rPr lang="vi-VN" b="0"/>
              <a:t>ược thực thi khi một </a:t>
            </a:r>
            <a:r>
              <a:rPr lang="en-US" b="0"/>
              <a:t>mẫu tin </a:t>
            </a:r>
            <a:r>
              <a:rPr lang="vi-VN" b="0"/>
              <a:t>mới được </a:t>
            </a:r>
            <a:r>
              <a:rPr lang="en-US" b="0"/>
              <a:t>thêm</a:t>
            </a:r>
            <a:r>
              <a:rPr lang="vi-VN" b="0"/>
              <a:t> vào bảng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spc="65">
                <a:solidFill>
                  <a:srgbClr val="FFFFFF"/>
                </a:solidFill>
                <a:latin typeface="Times New Roman"/>
                <a:cs typeface="Times New Roman"/>
              </a:rPr>
              <a:t>INSERT</a:t>
            </a:r>
            <a:r>
              <a:rPr lang="en-US" sz="1200" b="1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3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lang="en-US" sz="1200" b="1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200" b="0" spc="-75">
                <a:solidFill>
                  <a:srgbClr val="FFFFFF"/>
                </a:solidFill>
                <a:latin typeface="Times New Roman"/>
                <a:cs typeface="Times New Roman"/>
              </a:rPr>
              <a:t>đ</a:t>
            </a:r>
            <a:r>
              <a:rPr lang="vi-VN" b="0"/>
              <a:t>ảm bảo rằng giá trị được nhập phù hợp với các ràng buộc được định </a:t>
            </a:r>
            <a:r>
              <a:rPr lang="en-US" b="0"/>
              <a:t>nghĩa </a:t>
            </a:r>
            <a:r>
              <a:rPr lang="vi-VN" b="0"/>
              <a:t>trên bảng đó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Khi người dùng chèn một </a:t>
            </a:r>
            <a:r>
              <a:rPr lang="en-US" b="0"/>
              <a:t>mẫu tin vào</a:t>
            </a:r>
            <a:r>
              <a:rPr lang="vi-VN" b="0"/>
              <a:t> bảng, </a:t>
            </a:r>
            <a:r>
              <a:rPr lang="en-US" sz="1200" b="1" spc="65">
                <a:solidFill>
                  <a:srgbClr val="FFFFFF"/>
                </a:solidFill>
                <a:latin typeface="Times New Roman"/>
                <a:cs typeface="Times New Roman"/>
              </a:rPr>
              <a:t>INSERT</a:t>
            </a:r>
            <a:r>
              <a:rPr lang="en-US" sz="1200" b="1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3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lang="en-US" sz="1200" b="1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vi-VN" b="0"/>
              <a:t>lưu một bản sao của </a:t>
            </a:r>
            <a:r>
              <a:rPr lang="en-US" b="0"/>
              <a:t>mẫu tin </a:t>
            </a:r>
            <a:r>
              <a:rPr lang="vi-VN" b="0"/>
              <a:t>đó trong </a:t>
            </a:r>
            <a:r>
              <a:rPr lang="vi-VN" b="1"/>
              <a:t>bảng </a:t>
            </a:r>
            <a:r>
              <a:rPr lang="en-US" sz="1200" b="1" spc="60">
                <a:solidFill>
                  <a:srgbClr val="FFFFFF"/>
                </a:solidFill>
                <a:latin typeface="Times New Roman"/>
                <a:cs typeface="Times New Roman"/>
              </a:rPr>
              <a:t>inserted</a:t>
            </a:r>
            <a:endParaRPr lang="vi-VN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Sau đó, nó kiểm tra xem giá trị mới trong </a:t>
            </a:r>
            <a:r>
              <a:rPr lang="vi-VN" b="1"/>
              <a:t>bảng </a:t>
            </a:r>
            <a:r>
              <a:rPr lang="en-US" sz="1200" b="1" spc="60">
                <a:solidFill>
                  <a:srgbClr val="FFFFFF"/>
                </a:solidFill>
                <a:latin typeface="Times New Roman"/>
                <a:cs typeface="Times New Roman"/>
              </a:rPr>
              <a:t>inserted </a:t>
            </a:r>
            <a:r>
              <a:rPr lang="vi-VN" b="0"/>
              <a:t>có phù hợp với các ràng buộc được chỉ định hay không.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91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Update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UPDATE trigger</a:t>
            </a:r>
            <a:r>
              <a:rPr lang="en-US" b="0"/>
              <a:t> </a:t>
            </a:r>
            <a:r>
              <a:rPr lang="vi-VN" b="0"/>
              <a:t>sao chép </a:t>
            </a:r>
            <a:r>
              <a:rPr lang="en-US" b="0"/>
              <a:t>mẫu tin </a:t>
            </a:r>
            <a:r>
              <a:rPr lang="vi-VN" b="0"/>
              <a:t>gốc trong </a:t>
            </a:r>
            <a:r>
              <a:rPr lang="vi-VN" b="1"/>
              <a:t>bảng </a:t>
            </a:r>
            <a:r>
              <a:rPr lang="en-US" sz="1200" b="1" spc="80">
                <a:solidFill>
                  <a:srgbClr val="FFFFFF"/>
                </a:solidFill>
                <a:latin typeface="Times New Roman"/>
                <a:cs typeface="Times New Roman"/>
              </a:rPr>
              <a:t>Deleted </a:t>
            </a:r>
            <a:r>
              <a:rPr lang="vi-VN" b="0"/>
              <a:t>và </a:t>
            </a:r>
            <a:r>
              <a:rPr lang="en-US" b="0"/>
              <a:t>mẫu tin </a:t>
            </a:r>
            <a:r>
              <a:rPr lang="vi-VN" b="0"/>
              <a:t>mới vào </a:t>
            </a:r>
            <a:r>
              <a:rPr lang="vi-VN" b="1"/>
              <a:t>bảng </a:t>
            </a:r>
            <a:r>
              <a:rPr lang="en-US" sz="1200" b="1" spc="80">
                <a:solidFill>
                  <a:srgbClr val="FFFFFF"/>
                </a:solidFill>
                <a:latin typeface="Times New Roman"/>
                <a:cs typeface="Times New Roman"/>
              </a:rPr>
              <a:t>Inserted </a:t>
            </a:r>
            <a:r>
              <a:rPr lang="vi-VN" b="0"/>
              <a:t>khi </a:t>
            </a:r>
            <a:r>
              <a:rPr lang="en-US" b="0"/>
              <a:t>mẫu tin </a:t>
            </a:r>
            <a:r>
              <a:rPr lang="vi-VN" b="0"/>
              <a:t>được cập nhật.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5880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Delete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pc="45">
                <a:latin typeface="Times New Roman"/>
                <a:cs typeface="Times New Roman"/>
              </a:rPr>
              <a:t>DELETE</a:t>
            </a:r>
            <a:r>
              <a:rPr lang="en-US" sz="1200" spc="-40">
                <a:latin typeface="Times New Roman"/>
                <a:cs typeface="Times New Roman"/>
              </a:rPr>
              <a:t> </a:t>
            </a:r>
            <a:r>
              <a:rPr lang="en-US" sz="1200" spc="45">
                <a:latin typeface="Times New Roman"/>
                <a:cs typeface="Times New Roman"/>
              </a:rPr>
              <a:t>trigger</a:t>
            </a:r>
            <a:r>
              <a:rPr lang="en-US" sz="1200" spc="-30">
                <a:latin typeface="Times New Roman"/>
                <a:cs typeface="Times New Roman"/>
              </a:rPr>
              <a:t> </a:t>
            </a:r>
            <a:r>
              <a:rPr lang="vi-VN" b="0" i="0"/>
              <a:t>có thể được tạo để hạn chế người dùng xóa một </a:t>
            </a:r>
            <a:r>
              <a:rPr lang="en-US" b="0" i="0"/>
              <a:t>mẫu tin </a:t>
            </a:r>
            <a:r>
              <a:rPr lang="vi-VN" b="0" i="0"/>
              <a:t>cụ thể trong một bảng.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Những điều s</a:t>
            </a:r>
            <a:r>
              <a:rPr lang="vi-VN"/>
              <a:t>au đây sẽ xảy ra nếu người dùng cố gắng xóa </a:t>
            </a:r>
            <a:r>
              <a:rPr lang="en-US"/>
              <a:t>mẫu tin</a:t>
            </a:r>
            <a:r>
              <a:rPr lang="vi-VN" b="0" i="0"/>
              <a:t>:</a:t>
            </a:r>
            <a:endParaRPr lang="en-US" b="0" i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i="0"/>
              <a:t>Mẫu </a:t>
            </a:r>
            <a:r>
              <a:rPr lang="vi-VN" b="0" i="0"/>
              <a:t>bị </a:t>
            </a:r>
            <a:r>
              <a:rPr lang="en-US" b="0" i="0"/>
              <a:t>đ</a:t>
            </a:r>
            <a:r>
              <a:rPr lang="vi-VN" b="0" i="0"/>
              <a:t>ư</a:t>
            </a:r>
            <a:r>
              <a:rPr lang="en-US" b="0" i="0"/>
              <a:t>ợc </a:t>
            </a:r>
            <a:r>
              <a:rPr lang="vi-VN" b="0" i="0"/>
              <a:t>xóa khỏi </a:t>
            </a:r>
            <a:r>
              <a:rPr lang="vi-VN" b="1" i="0"/>
              <a:t>bảng </a:t>
            </a:r>
            <a:r>
              <a:rPr lang="en-US" sz="1200" b="1" spc="35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lang="vi-VN" b="0" i="0"/>
              <a:t>và được </a:t>
            </a:r>
            <a:r>
              <a:rPr lang="en-US" b="0" i="0"/>
              <a:t>thêm</a:t>
            </a:r>
            <a:r>
              <a:rPr lang="vi-VN" b="0" i="0"/>
              <a:t> vào </a:t>
            </a:r>
            <a:r>
              <a:rPr lang="vi-VN" b="1" i="0"/>
              <a:t>bảng </a:t>
            </a:r>
            <a:r>
              <a:rPr lang="en-US" sz="1200" b="1" spc="65">
                <a:solidFill>
                  <a:srgbClr val="FFFFFF"/>
                </a:solidFill>
                <a:latin typeface="Times New Roman"/>
                <a:cs typeface="Times New Roman"/>
              </a:rPr>
              <a:t>Deleted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0" i="0"/>
              <a:t>Nếu có một ràng buộc trên mẫu tin để ngăn xóa, </a:t>
            </a:r>
            <a:r>
              <a:rPr lang="en-US" sz="1200" b="1" spc="40">
                <a:solidFill>
                  <a:srgbClr val="FFFFFF"/>
                </a:solidFill>
                <a:latin typeface="Times New Roman"/>
                <a:cs typeface="Times New Roman"/>
              </a:rPr>
              <a:t>DELETE</a:t>
            </a:r>
            <a:r>
              <a:rPr lang="en-US" sz="1200" b="1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35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lang="en-US" sz="1200" b="1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b="0" i="0"/>
              <a:t>sẽ hiển thị thông báo lỗi.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Mẫu tin </a:t>
            </a:r>
            <a:r>
              <a:rPr lang="vi-VN"/>
              <a:t>được lưu trong </a:t>
            </a:r>
            <a:r>
              <a:rPr lang="vi-VN" b="1"/>
              <a:t>bảng </a:t>
            </a:r>
            <a:r>
              <a:rPr lang="en-US" sz="1200" b="1" spc="65">
                <a:solidFill>
                  <a:srgbClr val="FFFFFF"/>
                </a:solidFill>
                <a:latin typeface="Times New Roman"/>
                <a:cs typeface="Times New Roman"/>
              </a:rPr>
              <a:t>Deleted </a:t>
            </a:r>
            <a:r>
              <a:rPr lang="vi-VN"/>
              <a:t>được sao lưu trở lại </a:t>
            </a:r>
            <a:r>
              <a:rPr lang="vi-VN" b="1"/>
              <a:t>bảng </a:t>
            </a:r>
            <a:r>
              <a:rPr lang="en-US" sz="1200" b="1">
                <a:latin typeface="Calibri" pitchFamily="34" charset="0"/>
                <a:cs typeface="Calibri" pitchFamily="34" charset="0"/>
              </a:rPr>
              <a:t>trigger</a:t>
            </a:r>
            <a:r>
              <a:rPr lang="vi-VN"/>
              <a:t>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57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AFTER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Một </a:t>
            </a:r>
            <a:r>
              <a:rPr lang="en-US" sz="1200" spc="90">
                <a:latin typeface="Times New Roman"/>
                <a:cs typeface="Times New Roman"/>
              </a:rPr>
              <a:t>AFTER</a:t>
            </a:r>
            <a:r>
              <a:rPr lang="en-US" sz="1200" spc="5">
                <a:latin typeface="Times New Roman"/>
                <a:cs typeface="Times New Roman"/>
              </a:rPr>
              <a:t> </a:t>
            </a:r>
            <a:r>
              <a:rPr lang="en-US" sz="1200" spc="40">
                <a:latin typeface="Times New Roman"/>
                <a:cs typeface="Times New Roman"/>
              </a:rPr>
              <a:t>trigger</a:t>
            </a:r>
            <a:r>
              <a:rPr lang="en-US" sz="1200">
                <a:latin typeface="Times New Roman"/>
                <a:cs typeface="Times New Roman"/>
              </a:rPr>
              <a:t> </a:t>
            </a:r>
            <a:r>
              <a:rPr lang="en-US" sz="1200" b="0">
                <a:latin typeface="Times New Roman"/>
                <a:cs typeface="Times New Roman"/>
              </a:rPr>
              <a:t>đ</a:t>
            </a:r>
            <a:r>
              <a:rPr lang="vi-VN" b="0"/>
              <a:t>ược thực thi khi hoàn thành các thao tác </a:t>
            </a:r>
            <a:r>
              <a:rPr lang="en-US" sz="1200" spc="65">
                <a:latin typeface="Times New Roman"/>
                <a:cs typeface="Times New Roman"/>
              </a:rPr>
              <a:t>INSERT</a:t>
            </a:r>
            <a:r>
              <a:rPr lang="vi-VN" b="0"/>
              <a:t>, </a:t>
            </a:r>
            <a:r>
              <a:rPr lang="en-US" sz="1200" spc="95">
                <a:latin typeface="Times New Roman"/>
                <a:cs typeface="Times New Roman"/>
              </a:rPr>
              <a:t>UPDATE </a:t>
            </a:r>
            <a:r>
              <a:rPr lang="vi-VN" b="0"/>
              <a:t>hoặc </a:t>
            </a:r>
            <a:r>
              <a:rPr lang="en-US" sz="1200" spc="40">
                <a:latin typeface="Times New Roman"/>
                <a:cs typeface="Times New Roman"/>
              </a:rPr>
              <a:t>DELETE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Một </a:t>
            </a:r>
            <a:r>
              <a:rPr lang="en-US" sz="1200" spc="90">
                <a:latin typeface="Times New Roman"/>
                <a:cs typeface="Times New Roman"/>
              </a:rPr>
              <a:t>AFTER</a:t>
            </a:r>
            <a:r>
              <a:rPr lang="en-US" sz="1200" spc="20">
                <a:latin typeface="Times New Roman"/>
                <a:cs typeface="Times New Roman"/>
              </a:rPr>
              <a:t> </a:t>
            </a:r>
            <a:r>
              <a:rPr lang="en-US" sz="1200" spc="40">
                <a:latin typeface="Times New Roman"/>
                <a:cs typeface="Times New Roman"/>
              </a:rPr>
              <a:t>trigger</a:t>
            </a:r>
            <a:r>
              <a:rPr lang="en-US" sz="1200" spc="20">
                <a:latin typeface="Times New Roman"/>
                <a:cs typeface="Times New Roman"/>
              </a:rPr>
              <a:t> </a:t>
            </a:r>
            <a:r>
              <a:rPr lang="vi-VN" b="0"/>
              <a:t>được thực thi khi kiểm tra ràng buộc trong bảng hoàn thành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6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INSTEAD OF Triggers (Bẫy thay thế)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Một bẫy thay thế đ</a:t>
            </a:r>
            <a:r>
              <a:rPr lang="vi-VN" b="0"/>
              <a:t>ược thực thi</a:t>
            </a:r>
            <a:r>
              <a:rPr lang="en-US" b="0"/>
              <a:t> tại chỗ của các thao tác </a:t>
            </a:r>
            <a:r>
              <a:rPr lang="en-US" sz="1200" spc="80">
                <a:latin typeface="Times New Roman"/>
                <a:cs typeface="Times New Roman"/>
              </a:rPr>
              <a:t>INSERT</a:t>
            </a:r>
            <a:r>
              <a:rPr lang="en-US" b="0"/>
              <a:t>, </a:t>
            </a:r>
            <a:r>
              <a:rPr lang="en-US" sz="1200" spc="114">
                <a:latin typeface="Times New Roman"/>
                <a:cs typeface="Times New Roman"/>
              </a:rPr>
              <a:t>UPDATE</a:t>
            </a:r>
            <a:r>
              <a:rPr lang="en-US" b="0"/>
              <a:t>, hoặc </a:t>
            </a:r>
            <a:r>
              <a:rPr lang="en-US" sz="1200" spc="50">
                <a:latin typeface="Times New Roman"/>
                <a:cs typeface="Times New Roman"/>
              </a:rPr>
              <a:t>DELETE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Bẫy thay thế </a:t>
            </a:r>
            <a:r>
              <a:rPr lang="vi-VN" b="0"/>
              <a:t>được thực thi trước khi kiểm tra ràng buộc được thực hiện trên b</a:t>
            </a:r>
            <a:r>
              <a:rPr lang="en-US" b="0"/>
              <a:t>ảng</a:t>
            </a:r>
            <a:r>
              <a:rPr lang="vi-VN" b="0"/>
              <a:t>.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Các </a:t>
            </a:r>
            <a:r>
              <a:rPr lang="en-US" b="0"/>
              <a:t>bẫy thay thế này </a:t>
            </a:r>
            <a:r>
              <a:rPr lang="vi-VN" b="0"/>
              <a:t>được thực hiện sau khi tạo các</a:t>
            </a:r>
            <a:r>
              <a:rPr lang="en-US" b="0"/>
              <a:t> bảng</a:t>
            </a:r>
            <a:r>
              <a:rPr lang="vi-VN" b="0"/>
              <a:t>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Inserted tables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và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Deleted tables</a:t>
            </a:r>
            <a:endParaRPr lang="en-US" b="1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49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Thứ tự thi hành của DML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SQL Server cho phép người dùng chỉ định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AFTER trigger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nào </a:t>
            </a:r>
            <a:r>
              <a:rPr lang="vi-VN" b="0"/>
              <a:t>sẽ được thực thi đầu tiên và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AFTER trigger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nào </a:t>
            </a:r>
            <a:r>
              <a:rPr lang="vi-VN" b="0"/>
              <a:t>được thực thi sau cùng.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Tất cả các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 </a:t>
            </a:r>
            <a:r>
              <a:rPr lang="vi-VN" b="0"/>
              <a:t>hành động có </a:t>
            </a:r>
            <a:r>
              <a:rPr lang="en-US" b="0"/>
              <a:t>một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 </a:t>
            </a:r>
            <a:r>
              <a:rPr lang="vi-VN" b="0"/>
              <a:t>đầu và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 </a:t>
            </a:r>
            <a:r>
              <a:rPr lang="vi-VN" b="0"/>
              <a:t>cuối được định </a:t>
            </a:r>
            <a:r>
              <a:rPr lang="en-US" b="0"/>
              <a:t>nghĩa </a:t>
            </a:r>
            <a:r>
              <a:rPr lang="vi-VN" b="0"/>
              <a:t>cho chúng. 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Tuy nhiên, không có </a:t>
            </a:r>
            <a:r>
              <a:rPr lang="en-US" b="0"/>
              <a:t>2</a:t>
            </a:r>
            <a:r>
              <a:rPr lang="vi-VN" b="0"/>
              <a:t>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 </a:t>
            </a:r>
            <a:r>
              <a:rPr lang="vi-VN" b="0"/>
              <a:t>hành động trên một bảng có thể có cùng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triggers </a:t>
            </a:r>
            <a:r>
              <a:rPr lang="vi-VN" b="0"/>
              <a:t>đầu và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triggers </a:t>
            </a:r>
            <a:r>
              <a:rPr lang="vi-VN" b="0"/>
              <a:t>cuối.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68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Xem định nghĩa của DML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Một đ</a:t>
            </a:r>
            <a:r>
              <a:rPr lang="vi-VN" b="0"/>
              <a:t>ịnh nghĩa </a:t>
            </a:r>
            <a:r>
              <a:rPr lang="en-US" b="1"/>
              <a:t>Trigger </a:t>
            </a:r>
            <a:r>
              <a:rPr lang="vi-VN" b="0"/>
              <a:t>bao gồm tên </a:t>
            </a:r>
            <a:r>
              <a:rPr lang="en-US" b="0"/>
              <a:t>Trigger</a:t>
            </a:r>
            <a:r>
              <a:rPr lang="vi-VN" b="0"/>
              <a:t>, bảng mà </a:t>
            </a:r>
            <a:r>
              <a:rPr lang="en-US" b="0"/>
              <a:t>Trigger</a:t>
            </a:r>
            <a:r>
              <a:rPr lang="en-US" b="1"/>
              <a:t> </a:t>
            </a:r>
            <a:r>
              <a:rPr lang="vi-VN" b="0"/>
              <a:t>được tạo, các hành động </a:t>
            </a:r>
            <a:r>
              <a:rPr lang="en-US" b="0"/>
              <a:t>Trigger</a:t>
            </a:r>
            <a:r>
              <a:rPr lang="en-US" b="1"/>
              <a:t> </a:t>
            </a:r>
            <a:r>
              <a:rPr lang="vi-VN" b="0"/>
              <a:t>và các câu lệnh SQL được thực thi.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SQL Server cung cấp thủ tục được lưu trữ </a:t>
            </a:r>
            <a:r>
              <a:rPr lang="vi-VN" b="1"/>
              <a:t>sp_helptext </a:t>
            </a:r>
            <a:r>
              <a:rPr lang="vi-VN" b="0"/>
              <a:t>để truy xuất các định nghĩa </a:t>
            </a:r>
            <a:r>
              <a:rPr lang="en-US" b="0"/>
              <a:t>Trigger</a:t>
            </a:r>
            <a:r>
              <a:rPr lang="vi-VN" b="0"/>
              <a:t>.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Cú pháp: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sp_helptext </a:t>
            </a:r>
            <a:r>
              <a:rPr lang="en-US" sz="1200" b="1">
                <a:latin typeface="Courier New" panose="02070309020205020404" pitchFamily="49" charset="0"/>
                <a:cs typeface="Courier New" panose="02070309020205020404" pitchFamily="49" charset="0"/>
              </a:rPr>
              <a:t>'&lt;DML_trigger_name&gt;'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892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/>
              <a:t>Sửa đổi định nghĩa của DML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/>
              <a:t>Các tham số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 </a:t>
            </a:r>
            <a:r>
              <a:rPr lang="vi-VN"/>
              <a:t>được định </a:t>
            </a:r>
            <a:r>
              <a:rPr lang="en-US"/>
              <a:t>nghĩa </a:t>
            </a:r>
            <a:r>
              <a:rPr lang="vi-VN"/>
              <a:t>tại thời điểm tạo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/>
              <a:t>Các tham số bao gồm </a:t>
            </a:r>
            <a:r>
              <a:rPr lang="en-US"/>
              <a:t>kiểu</a:t>
            </a:r>
            <a:r>
              <a:rPr lang="vi-VN"/>
              <a:t> hành động </a:t>
            </a:r>
            <a:r>
              <a:rPr lang="en-US"/>
              <a:t>của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 mà hành động đó </a:t>
            </a:r>
            <a:r>
              <a:rPr lang="vi-VN"/>
              <a:t>gọi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 </a:t>
            </a:r>
            <a:r>
              <a:rPr lang="vi-VN"/>
              <a:t>và các câu lệnh SQL được thực thi</a:t>
            </a:r>
            <a:r>
              <a:rPr lang="en-US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/>
              <a:t>Người dùng có thể sửa đổi bất kỳ tham số nào trong bất kỳ một trong </a:t>
            </a:r>
            <a:r>
              <a:rPr lang="en-US"/>
              <a:t>2</a:t>
            </a:r>
            <a:r>
              <a:rPr lang="vi-VN"/>
              <a:t> cách:</a:t>
            </a:r>
            <a:endParaRPr lang="en-US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Xóa và tạo lại </a:t>
            </a:r>
            <a:r>
              <a:rPr lang="en-US" sz="1200">
                <a:latin typeface="Calibri" pitchFamily="34" charset="0"/>
                <a:cs typeface="Calibri" pitchFamily="34" charset="0"/>
              </a:rPr>
              <a:t>trigger </a:t>
            </a:r>
            <a:r>
              <a:rPr lang="en-US"/>
              <a:t>với các tham số mới.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Thay đổi các tham số bằng cách sử dụng câu lệnh ALTER TRIGGER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/>
              <a:t>Một DML trigger </a:t>
            </a:r>
            <a:r>
              <a:rPr lang="vi-VN"/>
              <a:t>có thể được mã hóa để ẩn định nghĩa của nó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27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Xóa DML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sz="1200">
                <a:latin typeface="Calibri" panose="020F0502020204030204" pitchFamily="34" charset="0"/>
                <a:cs typeface="Calibri" panose="020F0502020204030204" pitchFamily="34" charset="0"/>
              </a:rPr>
              <a:t>SQL Server cung cấp tùy chọn để loại bỏ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một </a:t>
            </a:r>
            <a:r>
              <a:rPr lang="en-US" sz="1200" spc="-5">
                <a:solidFill>
                  <a:srgbClr val="404040"/>
                </a:solidFill>
                <a:latin typeface="Arial"/>
                <a:cs typeface="Arial"/>
              </a:rPr>
              <a:t>DML trigger </a:t>
            </a:r>
            <a:r>
              <a:rPr lang="vi-VN" sz="1200">
                <a:latin typeface="Calibri" panose="020F0502020204030204" pitchFamily="34" charset="0"/>
                <a:cs typeface="Calibri" panose="020F0502020204030204" pitchFamily="34" charset="0"/>
              </a:rPr>
              <a:t>được tạo trên một bảng nếu </a:t>
            </a:r>
            <a:r>
              <a:rPr lang="en-US" sz="1200" spc="-5">
                <a:solidFill>
                  <a:srgbClr val="404040"/>
                </a:solidFill>
                <a:latin typeface="Arial"/>
                <a:cs typeface="Arial"/>
              </a:rPr>
              <a:t>trigger đó </a:t>
            </a:r>
            <a:r>
              <a:rPr lang="vi-VN" sz="1200">
                <a:latin typeface="Calibri" panose="020F0502020204030204" pitchFamily="34" charset="0"/>
                <a:cs typeface="Calibri" panose="020F0502020204030204" pitchFamily="34" charset="0"/>
              </a:rPr>
              <a:t>không còn cần thiết.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Khi một bảng bị </a:t>
            </a:r>
            <a:r>
              <a:rPr lang="en-US" b="0"/>
              <a:t>xóa</a:t>
            </a:r>
            <a:r>
              <a:rPr lang="vi-VN" b="0"/>
              <a:t>, tất cả các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triggers </a:t>
            </a:r>
            <a:r>
              <a:rPr lang="vi-VN" b="0"/>
              <a:t>được định </a:t>
            </a:r>
            <a:r>
              <a:rPr lang="en-US" b="0"/>
              <a:t>nghĩa </a:t>
            </a:r>
            <a:r>
              <a:rPr lang="vi-VN" b="0"/>
              <a:t>trên bảng đó cũng bị loại </a:t>
            </a:r>
            <a:r>
              <a:rPr lang="en-US" b="0"/>
              <a:t>xóa</a:t>
            </a:r>
            <a:r>
              <a:rPr lang="vi-VN" b="0"/>
              <a:t>.</a:t>
            </a:r>
            <a:endParaRPr lang="en-US" b="0"/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/>
              <a:t>Cú pháp: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TRIGGER </a:t>
            </a:r>
            <a:r>
              <a:rPr lang="en-US" sz="1200" b="1">
                <a:latin typeface="Courier New" panose="02070309020205020404" pitchFamily="49" charset="0"/>
                <a:cs typeface="Courier New" panose="02070309020205020404" pitchFamily="49" charset="0"/>
              </a:rPr>
              <a:t>&lt;trigger_name&gt; [ ,...n ]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/>
              <a:t>Ví dụ: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TRIGGER </a:t>
            </a:r>
            <a:r>
              <a:rPr lang="en-US" sz="1200" b="1">
                <a:latin typeface="Courier New" panose="02070309020205020404" pitchFamily="49" charset="0"/>
                <a:cs typeface="Courier New" panose="02070309020205020404" pitchFamily="49" charset="0"/>
              </a:rPr>
              <a:t>CheckEmployeeID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02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DDL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DDL Triggers </a:t>
            </a:r>
            <a:r>
              <a:rPr lang="vi-VN" b="0"/>
              <a:t>thực thi các thủ tục được lưu trữ khi các sự kiện như </a:t>
            </a:r>
            <a:r>
              <a:rPr lang="en-US" sz="1200" b="1" spc="-20">
                <a:latin typeface="Arial"/>
                <a:cs typeface="Arial"/>
              </a:rPr>
              <a:t>CREATE</a:t>
            </a:r>
            <a:r>
              <a:rPr lang="vi-VN" b="0"/>
              <a:t>, </a:t>
            </a:r>
            <a:r>
              <a:rPr lang="en-US" sz="1200" b="1" spc="-20">
                <a:latin typeface="Arial"/>
                <a:cs typeface="Arial"/>
              </a:rPr>
              <a:t>ALTER</a:t>
            </a:r>
            <a:r>
              <a:rPr lang="en-US" sz="1200" spc="-20">
                <a:latin typeface="Arial"/>
                <a:cs typeface="Arial"/>
              </a:rPr>
              <a:t> </a:t>
            </a:r>
            <a:r>
              <a:rPr lang="vi-VN" b="0"/>
              <a:t>và </a:t>
            </a:r>
            <a:r>
              <a:rPr lang="en-US" sz="1200" b="1" spc="-5">
                <a:latin typeface="Arial"/>
                <a:cs typeface="Arial"/>
              </a:rPr>
              <a:t>DROP</a:t>
            </a:r>
            <a:r>
              <a:rPr lang="vi-VN" b="0"/>
              <a:t> xảy ra trong DB hoặc máy chủ.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sz="1200">
                <a:latin typeface="Calibri" panose="020F0502020204030204" pitchFamily="34" charset="0"/>
                <a:cs typeface="Calibri" panose="020F0502020204030204" pitchFamily="34" charset="0"/>
              </a:rPr>
              <a:t>Nó có thể được sử dụng để ngăn chặn các sửa đổi trong lược đồ cơ sở dữ liệu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sz="1200">
                <a:latin typeface="Calibri" panose="020F0502020204030204" pitchFamily="34" charset="0"/>
                <a:cs typeface="Calibri" panose="020F0502020204030204" pitchFamily="34" charset="0"/>
              </a:rPr>
              <a:t>Một lược đồ là một tập hợp các đối tượng như bảng,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khung nhìn</a:t>
            </a:r>
            <a:r>
              <a:rPr lang="vi-VN" sz="1200">
                <a:latin typeface="Calibri" panose="020F0502020204030204" pitchFamily="34" charset="0"/>
                <a:cs typeface="Calibri" panose="020F0502020204030204" pitchFamily="34" charset="0"/>
              </a:rPr>
              <a:t>, v.v. trong cơ sở dữ liệu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Chúng được định </a:t>
            </a:r>
            <a:r>
              <a:rPr lang="en-US" b="0"/>
              <a:t>nghĩa </a:t>
            </a:r>
            <a:r>
              <a:rPr lang="vi-VN" b="0"/>
              <a:t>ở cấp cơ sở dữ liệu hoặc ở cấp độ máy chủ.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053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1"/>
              <a:t>Phạm vi của </a:t>
            </a:r>
            <a:r>
              <a:rPr lang="en-US" b="1"/>
              <a:t>DDL Triggers 1-2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/>
              <a:t>DDL triggers </a:t>
            </a:r>
            <a:r>
              <a:rPr lang="vi-VN" b="0"/>
              <a:t>được gọi bởi các câu lệnh SQL được thực thi trong cơ sở dữ liệu hiện tại hoặc trên máy chủ hiện tại.</a:t>
            </a:r>
            <a:endParaRPr lang="en-US" b="0"/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b="0"/>
              <a:t>Phạm vi của </a:t>
            </a:r>
            <a:r>
              <a:rPr lang="en-US" sz="1200"/>
              <a:t>DDL trigger </a:t>
            </a:r>
            <a:r>
              <a:rPr lang="vi-VN" b="0"/>
              <a:t>phụ thuộc vào việc </a:t>
            </a:r>
            <a:r>
              <a:rPr lang="en-US" sz="1200"/>
              <a:t>trigger</a:t>
            </a:r>
            <a:r>
              <a:rPr lang="en-US" sz="1200" b="0"/>
              <a:t> </a:t>
            </a:r>
            <a:r>
              <a:rPr lang="vi-VN" b="0"/>
              <a:t>thực thi cho các sự kiện cơ sở dữ liệu hoặc sự kiện máy chủ hay không.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itchFamily="34" charset="0"/>
                <a:cs typeface="Calibri" pitchFamily="34" charset="0"/>
              </a:rPr>
              <a:t>DDL triggers </a:t>
            </a:r>
            <a:r>
              <a:rPr lang="vi-VN"/>
              <a:t>được phân loại thành </a:t>
            </a:r>
            <a:r>
              <a:rPr lang="en-US"/>
              <a:t>2</a:t>
            </a:r>
            <a:r>
              <a:rPr lang="vi-VN"/>
              <a:t> loại, như sau:</a:t>
            </a:r>
            <a:endParaRPr lang="en-US"/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spc="40">
                <a:solidFill>
                  <a:srgbClr val="FFFFFF"/>
                </a:solidFill>
                <a:latin typeface="Times New Roman"/>
                <a:cs typeface="Times New Roman"/>
              </a:rPr>
              <a:t>Database-Scoped</a:t>
            </a:r>
            <a:r>
              <a:rPr lang="en-US" sz="1200" b="1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60">
                <a:solidFill>
                  <a:srgbClr val="FFFFFF"/>
                </a:solidFill>
                <a:latin typeface="Times New Roman"/>
                <a:cs typeface="Times New Roman"/>
              </a:rPr>
              <a:t>DDL </a:t>
            </a:r>
            <a:r>
              <a:rPr lang="en-US" sz="1200" b="1" spc="3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endParaRPr lang="en-US" sz="1200" b="1">
              <a:latin typeface="Times New Roman"/>
              <a:cs typeface="Times New Roman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spc="40">
                <a:solidFill>
                  <a:srgbClr val="FFFFFF"/>
                </a:solidFill>
                <a:latin typeface="Times New Roman"/>
                <a:cs typeface="Times New Roman"/>
              </a:rPr>
              <a:t>Server-Scoped</a:t>
            </a:r>
            <a:r>
              <a:rPr lang="en-US" sz="1200" b="1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1200" b="1" spc="60">
                <a:solidFill>
                  <a:srgbClr val="FFFFFF"/>
                </a:solidFill>
                <a:latin typeface="Times New Roman"/>
                <a:cs typeface="Times New Roman"/>
              </a:rPr>
              <a:t>DDL </a:t>
            </a:r>
            <a:r>
              <a:rPr lang="en-US" sz="1200" b="1" spc="3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endParaRPr lang="en-US" sz="1200" b="1">
              <a:latin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336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sv-SE" b="1"/>
              <a:t>Phạm vi của </a:t>
            </a:r>
            <a:r>
              <a:rPr lang="en-US" b="1"/>
              <a:t>DDL Triggers 2-2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latin typeface="Calibri" pitchFamily="34" charset="0"/>
                <a:cs typeface="Calibri" pitchFamily="34" charset="0"/>
              </a:rPr>
              <a:t>DDL Triggers </a:t>
            </a:r>
            <a:r>
              <a:rPr lang="vi-VN" b="1"/>
              <a:t>phạm vi cơ sở dữ liệu</a:t>
            </a:r>
            <a:endParaRPr lang="en-US" b="1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Đ</a:t>
            </a:r>
            <a:r>
              <a:rPr lang="vi-VN"/>
              <a:t>ược gọi bởi các sự kiện sửa đổi lược đồ cơ sở dữ liệu</a:t>
            </a:r>
            <a:r>
              <a:rPr lang="en-US"/>
              <a:t> (</a:t>
            </a:r>
            <a:r>
              <a:rPr lang="en-US" sz="1200" b="1" spc="-20">
                <a:latin typeface="Arial"/>
                <a:cs typeface="Arial"/>
              </a:rPr>
              <a:t>CREATE</a:t>
            </a:r>
            <a:r>
              <a:rPr lang="vi-VN" b="0"/>
              <a:t>, </a:t>
            </a:r>
            <a:r>
              <a:rPr lang="en-US" sz="1200" b="1" spc="-20">
                <a:latin typeface="Arial"/>
                <a:cs typeface="Arial"/>
              </a:rPr>
              <a:t>ALTER</a:t>
            </a:r>
            <a:r>
              <a:rPr lang="en-US" sz="1200" spc="-20">
                <a:latin typeface="Arial"/>
                <a:cs typeface="Arial"/>
              </a:rPr>
              <a:t> </a:t>
            </a:r>
            <a:r>
              <a:rPr lang="vi-VN" b="0"/>
              <a:t>và </a:t>
            </a:r>
            <a:r>
              <a:rPr lang="en-US" sz="1200" b="1" spc="-5">
                <a:latin typeface="Arial"/>
                <a:cs typeface="Arial"/>
              </a:rPr>
              <a:t>DROP</a:t>
            </a:r>
            <a:r>
              <a:rPr lang="en-US" b="0"/>
              <a:t>)</a:t>
            </a:r>
            <a:endParaRPr lang="vi-VN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/>
              <a:t>Lưu trữ các </a:t>
            </a:r>
            <a:r>
              <a:rPr lang="en-US" sz="1200">
                <a:latin typeface="Calibri" pitchFamily="34" charset="0"/>
                <a:cs typeface="Calibri" pitchFamily="34" charset="0"/>
              </a:rPr>
              <a:t>triggers </a:t>
            </a:r>
            <a:r>
              <a:rPr lang="vi-VN"/>
              <a:t>trong cơ sở dữ liệu và thực thi trên các sự kiện DDL, ngoại trừ những sự kiện liên quan đến các bảng tạm thời.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latin typeface="Calibri" pitchFamily="34" charset="0"/>
                <a:cs typeface="Calibri" pitchFamily="34" charset="0"/>
              </a:rPr>
              <a:t>DDL Triggers </a:t>
            </a:r>
            <a:r>
              <a:rPr lang="vi-VN" b="1"/>
              <a:t>phạm vi</a:t>
            </a:r>
            <a:r>
              <a:rPr lang="en-US" b="1"/>
              <a:t> máy chủ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Đ</a:t>
            </a:r>
            <a:r>
              <a:rPr lang="vi-VN"/>
              <a:t>ược gọi bởi các sự kiện DDL ở cấp độ máy chủ.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Đ</a:t>
            </a:r>
            <a:r>
              <a:rPr lang="vi-VN"/>
              <a:t>ược lưu trữ trong cơ sở dữ liệu </a:t>
            </a:r>
            <a:r>
              <a:rPr lang="en-US" sz="1200">
                <a:latin typeface="Calibri" pitchFamily="34" charset="0"/>
                <a:cs typeface="Calibri" pitchFamily="34" charset="0"/>
              </a:rPr>
              <a:t>master</a:t>
            </a:r>
            <a:r>
              <a:rPr lang="vi-VN"/>
              <a:t>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521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Triggers lồng nhau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Cả </a:t>
            </a:r>
            <a:r>
              <a:rPr lang="vi-VN" b="1"/>
              <a:t>DDL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triggers </a:t>
            </a:r>
            <a:r>
              <a:rPr lang="vi-VN" b="0"/>
              <a:t>và </a:t>
            </a:r>
            <a:r>
              <a:rPr lang="vi-VN" b="1"/>
              <a:t>DML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triggers </a:t>
            </a:r>
            <a:r>
              <a:rPr lang="vi-VN" b="0"/>
              <a:t>đều được lồng khi </a:t>
            </a:r>
            <a:r>
              <a:rPr lang="en-US" b="0"/>
              <a:t>một</a:t>
            </a:r>
            <a:r>
              <a:rPr lang="vi-VN" b="0"/>
              <a:t>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 </a:t>
            </a:r>
            <a:r>
              <a:rPr lang="vi-VN" b="0"/>
              <a:t>thực hiện một hành động khởi tạo một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 </a:t>
            </a:r>
            <a:r>
              <a:rPr lang="vi-VN" b="0"/>
              <a:t>khác.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1"/>
              <a:t>DDL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triggers </a:t>
            </a:r>
            <a:r>
              <a:rPr lang="vi-VN" b="0"/>
              <a:t>và </a:t>
            </a:r>
            <a:r>
              <a:rPr lang="vi-VN" b="1"/>
              <a:t>DML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triggers </a:t>
            </a:r>
            <a:r>
              <a:rPr lang="vi-VN" b="0"/>
              <a:t>có thể được lồng đến 32 cấp độ.</a:t>
            </a:r>
            <a:endParaRPr lang="en-US" b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b="0"/>
              <a:t>Nếu các </a:t>
            </a:r>
            <a:r>
              <a:rPr lang="en-US" b="0"/>
              <a:t>Triggers lồng nhau </a:t>
            </a:r>
            <a:r>
              <a:rPr lang="vi-VN" b="0"/>
              <a:t>được cho phép thì, các </a:t>
            </a:r>
            <a:r>
              <a:rPr lang="en-US" b="0"/>
              <a:t>Triggers </a:t>
            </a:r>
            <a:r>
              <a:rPr lang="vi-VN" b="0"/>
              <a:t>bắt đầu</a:t>
            </a:r>
            <a:r>
              <a:rPr lang="en-US" b="0"/>
              <a:t> </a:t>
            </a:r>
            <a:r>
              <a:rPr lang="vi-VN" b="0"/>
              <a:t>trong </a:t>
            </a:r>
            <a:r>
              <a:rPr lang="en-US" b="0"/>
              <a:t>trình tự</a:t>
            </a:r>
            <a:r>
              <a:rPr lang="vi-VN" b="0"/>
              <a:t> một vòng lặp vô hạn</a:t>
            </a:r>
            <a:r>
              <a:rPr lang="en-US" b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b="0"/>
              <a:t>Các </a:t>
            </a:r>
            <a:r>
              <a:rPr lang="en-US" b="1"/>
              <a:t>Triggers lồng nhau </a:t>
            </a:r>
            <a:r>
              <a:rPr lang="vi-VN" b="0"/>
              <a:t>có thể được sử dụng để thực hiện các </a:t>
            </a:r>
            <a:r>
              <a:rPr lang="en-US" b="0"/>
              <a:t>hàm </a:t>
            </a:r>
            <a:r>
              <a:rPr lang="vi-VN" b="0"/>
              <a:t>như lưu trữ bản sao lưu của các hàng bị ảnh hưởng bởi các hành động trước đó</a:t>
            </a:r>
            <a:r>
              <a:rPr lang="en-US" b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3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UPDATE()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/>
              <a:t>Hàm </a:t>
            </a:r>
            <a:r>
              <a:rPr lang="en-US" b="1"/>
              <a:t>UPDATE() </a:t>
            </a:r>
            <a:r>
              <a:rPr lang="en-US" b="0"/>
              <a:t>t</a:t>
            </a:r>
            <a:r>
              <a:rPr lang="vi-VN" b="0"/>
              <a:t>rả về một giá trị Boolean chỉ định liệu một hành động </a:t>
            </a:r>
            <a:r>
              <a:rPr lang="en-US" sz="1200" b="1" spc="125">
                <a:solidFill>
                  <a:srgbClr val="FFFFFF"/>
                </a:solidFill>
                <a:latin typeface="Times New Roman"/>
                <a:cs typeface="Times New Roman"/>
              </a:rPr>
              <a:t>UPDATE</a:t>
            </a:r>
            <a:r>
              <a:rPr lang="en-US" sz="120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vi-VN" b="0"/>
              <a:t>hoặc </a:t>
            </a:r>
            <a:r>
              <a:rPr lang="en-US" sz="1200" b="1" spc="85">
                <a:solidFill>
                  <a:srgbClr val="FFFFFF"/>
                </a:solidFill>
                <a:latin typeface="Times New Roman"/>
                <a:cs typeface="Times New Roman"/>
              </a:rPr>
              <a:t>INSERT</a:t>
            </a:r>
            <a:r>
              <a:rPr lang="vi-VN" b="0"/>
              <a:t> đã được thực hiện trên một khung nhìn cụ thể hoặc cột của </a:t>
            </a:r>
            <a:r>
              <a:rPr lang="en-US" b="0"/>
              <a:t>môt </a:t>
            </a:r>
            <a:r>
              <a:rPr lang="vi-VN" b="0"/>
              <a:t>bảng</a:t>
            </a:r>
            <a:r>
              <a:rPr lang="en-US" b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/>
              <a:t>Hàm </a:t>
            </a:r>
            <a:r>
              <a:rPr lang="en-US" b="1"/>
              <a:t>UPDATE() </a:t>
            </a:r>
            <a:r>
              <a:rPr lang="vi-VN" b="0"/>
              <a:t>có thể được sử dụng ở bất cứ đâu bên trong phần thân của </a:t>
            </a:r>
            <a:r>
              <a:rPr lang="vi-VN" b="1"/>
              <a:t>Transact-SQL </a:t>
            </a:r>
            <a:r>
              <a:rPr lang="en-US" sz="1200" b="1" spc="110">
                <a:solidFill>
                  <a:srgbClr val="FFFFFF"/>
                </a:solidFill>
                <a:latin typeface="Times New Roman"/>
                <a:cs typeface="Times New Roman"/>
              </a:rPr>
              <a:t>UPDATE </a:t>
            </a:r>
            <a:r>
              <a:rPr lang="vi-VN" b="0"/>
              <a:t>hoặc </a:t>
            </a:r>
            <a:r>
              <a:rPr lang="en-US" b="1"/>
              <a:t>trigger </a:t>
            </a:r>
            <a:r>
              <a:rPr lang="en-US" sz="1200" b="1" spc="80">
                <a:solidFill>
                  <a:srgbClr val="FFFFFF"/>
                </a:solidFill>
                <a:latin typeface="Times New Roman"/>
                <a:cs typeface="Times New Roman"/>
              </a:rPr>
              <a:t>INSERT </a:t>
            </a:r>
            <a:r>
              <a:rPr lang="vi-VN" b="0"/>
              <a:t>để kiểm tra xem </a:t>
            </a:r>
            <a:r>
              <a:rPr lang="en-US" b="0"/>
              <a:t>trigger </a:t>
            </a:r>
            <a:r>
              <a:rPr lang="vi-VN" b="0"/>
              <a:t>nào sẽ thực thi một số hành động.</a:t>
            </a:r>
            <a:endParaRPr lang="en-US" b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827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Xử lý nhiều hàng trong một phiên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Khi người dùng viết mã cho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DML trigger</a:t>
            </a:r>
            <a:r>
              <a:rPr lang="vi-VN" b="0"/>
              <a:t>, </a:t>
            </a:r>
            <a:r>
              <a:rPr lang="en-US" b="0"/>
              <a:t>khi đó </a:t>
            </a:r>
            <a:r>
              <a:rPr lang="vi-VN" b="0"/>
              <a:t>câu lệnh </a:t>
            </a:r>
            <a:r>
              <a:rPr lang="en-US" b="0"/>
              <a:t>tạo</a:t>
            </a:r>
            <a:r>
              <a:rPr lang="vi-VN" b="0"/>
              <a:t> ra </a:t>
            </a:r>
            <a:r>
              <a:rPr lang="en-US" b="0"/>
              <a:t>trigger </a:t>
            </a:r>
            <a:r>
              <a:rPr lang="vi-VN" b="0"/>
              <a:t>khuy</a:t>
            </a:r>
            <a:r>
              <a:rPr lang="en-US" b="0"/>
              <a:t>ến</a:t>
            </a:r>
            <a:r>
              <a:rPr lang="vi-VN" b="0"/>
              <a:t> kh</a:t>
            </a:r>
            <a:r>
              <a:rPr lang="en-US" b="0"/>
              <a:t>íc</a:t>
            </a:r>
            <a:r>
              <a:rPr lang="vi-VN" b="0"/>
              <a:t>h</a:t>
            </a:r>
            <a:r>
              <a:rPr lang="en-US" b="0"/>
              <a:t> </a:t>
            </a:r>
            <a:r>
              <a:rPr lang="vi-VN" b="0"/>
              <a:t>sẽ là </a:t>
            </a:r>
            <a:r>
              <a:rPr lang="en-US" b="0"/>
              <a:t>câu lệnh </a:t>
            </a:r>
            <a:r>
              <a:rPr lang="vi-VN" b="0"/>
              <a:t>đơn lẻ</a:t>
            </a:r>
            <a:r>
              <a:rPr lang="en-US" b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Câu lệnh </a:t>
            </a:r>
            <a:r>
              <a:rPr lang="vi-VN" b="0"/>
              <a:t>đơn sẽ ảnh hưởng đến nhiều hàng </a:t>
            </a:r>
            <a:r>
              <a:rPr lang="en-US" b="0"/>
              <a:t>của </a:t>
            </a:r>
            <a:r>
              <a:rPr lang="vi-VN" b="0"/>
              <a:t>dữ liệu, thay vì một hàng.</a:t>
            </a:r>
            <a:endParaRPr lang="en-US" b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Đây là một hành vi phổ biến để </a:t>
            </a:r>
            <a:r>
              <a:rPr lang="en-US" sz="1200" b="1" spc="-5">
                <a:latin typeface="Arial"/>
                <a:cs typeface="Arial"/>
              </a:rPr>
              <a:t>DELETE</a:t>
            </a:r>
            <a:r>
              <a:rPr lang="vi-VN" b="0"/>
              <a:t> và </a:t>
            </a:r>
            <a:r>
              <a:rPr lang="en-US" sz="1200" b="1" spc="-5">
                <a:latin typeface="Arial"/>
                <a:cs typeface="Arial"/>
              </a:rPr>
              <a:t>UPDATE</a:t>
            </a:r>
            <a:r>
              <a:rPr lang="en-US" sz="1200" spc="-5">
                <a:latin typeface="Arial"/>
                <a:cs typeface="Arial"/>
              </a:rPr>
              <a:t> </a:t>
            </a:r>
            <a:r>
              <a:rPr lang="vi-VN" b="0"/>
              <a:t>các </a:t>
            </a:r>
            <a:r>
              <a:rPr lang="en-US" b="0"/>
              <a:t>trigger </a:t>
            </a:r>
            <a:r>
              <a:rPr lang="vi-VN" b="0"/>
              <a:t>nh</a:t>
            </a:r>
            <a:r>
              <a:rPr lang="en-US" b="0"/>
              <a:t>ưng</a:t>
            </a:r>
            <a:r>
              <a:rPr lang="vi-VN" b="0"/>
              <a:t> </a:t>
            </a:r>
            <a:r>
              <a:rPr lang="en-US" b="0"/>
              <a:t>những câu lệnh này </a:t>
            </a:r>
            <a:r>
              <a:rPr lang="vi-VN" b="0"/>
              <a:t>thường ảnh hưởng đến nhiều hàng.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902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LOGON Triggers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</a:t>
            </a:r>
            <a:r>
              <a:rPr lang="vi-VN"/>
              <a:t>ác </a:t>
            </a:r>
            <a:r>
              <a:rPr lang="en-US" b="0"/>
              <a:t>LOGON Triggers giúp các </a:t>
            </a:r>
            <a:r>
              <a:rPr lang="vi-VN"/>
              <a:t>thủ tục lưu trữ đáp ứng với sự kiện đăng nhập.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/>
              <a:t>Sự kiện này được nâng lên khi một phiên người dùng được thiết lập với một </a:t>
            </a:r>
            <a:r>
              <a:rPr lang="en-US"/>
              <a:t>thể hiện </a:t>
            </a:r>
            <a:r>
              <a:rPr lang="vi-VN"/>
              <a:t>của SQL Server.</a:t>
            </a:r>
            <a:endParaRPr lang="en-US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/>
              <a:t>LOGON Triggers </a:t>
            </a:r>
            <a:r>
              <a:rPr lang="vi-VN"/>
              <a:t>được tạo ở cấp độ máy chủ và rất hữu ích trong các trường hợp sau: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/>
              <a:t>Để kiểm tra hoạt động đăng nhập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vi-VN"/>
              <a:t>Để kiểm soát hoạt động đăng nhập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550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Hiệu suất ngụ ý của các Triggers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pc="45">
                <a:latin typeface="Times New Roman"/>
                <a:cs typeface="Times New Roman"/>
              </a:rPr>
              <a:t>Triggers </a:t>
            </a:r>
            <a:r>
              <a:rPr lang="en-US" b="0"/>
              <a:t>không mang theo giá trị, thay vào đó chúng khá nhạy.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/>
              <a:t>Nhiều vấn đề hiệu suất có thể xảy ra do logic có trong trình kích hoạt.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vi-VN" b="0"/>
              <a:t>Tương tự, hãy xem xét rằng Triggers thực thi các câu lệnh SQL khác nhau với các bảng khác tách biệt với các </a:t>
            </a:r>
            <a:r>
              <a:rPr lang="vi-VN" b="1"/>
              <a:t>bảng </a:t>
            </a:r>
            <a:r>
              <a:rPr lang="en-US" sz="1200" b="1" spc="75">
                <a:latin typeface="Times New Roman"/>
                <a:cs typeface="Times New Roman"/>
              </a:rPr>
              <a:t>Inserted </a:t>
            </a:r>
            <a:r>
              <a:rPr lang="vi-VN" b="0"/>
              <a:t>và </a:t>
            </a:r>
            <a:r>
              <a:rPr lang="en-US" b="1"/>
              <a:t>bảng </a:t>
            </a:r>
            <a:r>
              <a:rPr lang="en-US" sz="1200" b="1" spc="75">
                <a:latin typeface="Times New Roman"/>
                <a:cs typeface="Times New Roman"/>
              </a:rPr>
              <a:t>Deleted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spc="75">
                <a:latin typeface="Times New Roman"/>
                <a:cs typeface="Times New Roman"/>
              </a:rPr>
              <a:t>Điều này một lần nữa sẽ dẫn đến sự chậm lại của tốc độ các câu lệnh SQL nằm trong Trigger.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223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/>
              <a:t>Tóm lược</a:t>
            </a:r>
            <a:endParaRPr lang="en-US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Một </a:t>
            </a: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Trigger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vi-VN" b="0"/>
              <a:t>là một </a:t>
            </a:r>
            <a:r>
              <a:rPr lang="en-US" b="0"/>
              <a:t>thử tục </a:t>
            </a:r>
            <a:r>
              <a:rPr lang="vi-VN" b="0"/>
              <a:t>lưu trữ được thực thi khi một nỗ lực được thực hiện để </a:t>
            </a:r>
            <a:r>
              <a:rPr lang="en-US" b="0"/>
              <a:t>thêm, </a:t>
            </a:r>
            <a:r>
              <a:rPr lang="vi-VN" b="0"/>
              <a:t>sửa đổi</a:t>
            </a:r>
            <a:r>
              <a:rPr lang="en-US" b="0"/>
              <a:t> hoặc xóa</a:t>
            </a:r>
            <a:r>
              <a:rPr lang="vi-VN" b="0"/>
              <a:t> dữ liệu trong một bảng được bảo vệ bởi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trigger</a:t>
            </a:r>
            <a:r>
              <a:rPr lang="vi-VN" b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Logon </a:t>
            </a:r>
            <a:r>
              <a:rPr lang="vi-VN" b="1"/>
              <a:t>Triggers </a:t>
            </a:r>
            <a:r>
              <a:rPr lang="vi-VN" b="0"/>
              <a:t>thực thi các thủ tục lưu trữ khi một phiên được thiết lập với một sự kiện đăng nhập.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DML triggers </a:t>
            </a:r>
            <a:r>
              <a:rPr lang="vi-VN" b="0"/>
              <a:t>được thực thi khi các sự kiện DML xảy ra trong bảng hoặc </a:t>
            </a:r>
            <a:r>
              <a:rPr lang="en-US" b="0"/>
              <a:t>khung nhìn</a:t>
            </a:r>
            <a:r>
              <a:rPr lang="vi-VN" b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INSERT trigger </a:t>
            </a:r>
            <a:r>
              <a:rPr lang="vi-VN" b="0"/>
              <a:t>được thực thi khi một </a:t>
            </a:r>
            <a:r>
              <a:rPr lang="en-US" b="0"/>
              <a:t>mẫu tin </a:t>
            </a:r>
            <a:r>
              <a:rPr lang="vi-VN" b="0"/>
              <a:t>mới được chèn vào bảng.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UPDATE trigger </a:t>
            </a:r>
            <a:r>
              <a:rPr lang="vi-VN" b="0"/>
              <a:t>sao chép </a:t>
            </a:r>
            <a:r>
              <a:rPr lang="en-US" b="0"/>
              <a:t>mẫu tin </a:t>
            </a:r>
            <a:r>
              <a:rPr lang="vi-VN" b="0"/>
              <a:t>gốc trong </a:t>
            </a:r>
            <a:r>
              <a:rPr lang="en-US" b="1"/>
              <a:t>B</a:t>
            </a:r>
            <a:r>
              <a:rPr lang="vi-VN" b="1"/>
              <a:t>ảng đã xóa </a:t>
            </a:r>
            <a:r>
              <a:rPr lang="vi-VN" b="0"/>
              <a:t>và </a:t>
            </a:r>
            <a:r>
              <a:rPr lang="en-US" b="0"/>
              <a:t>mẫu tin </a:t>
            </a:r>
            <a:r>
              <a:rPr lang="vi-VN" b="0"/>
              <a:t>mới vào </a:t>
            </a:r>
            <a:r>
              <a:rPr lang="en-US" b="1"/>
              <a:t>B</a:t>
            </a:r>
            <a:r>
              <a:rPr lang="vi-VN" b="1"/>
              <a:t>ảng đã </a:t>
            </a:r>
            <a:r>
              <a:rPr lang="en-US" b="1"/>
              <a:t>thêm</a:t>
            </a:r>
            <a:r>
              <a:rPr lang="vi-VN" b="1"/>
              <a:t> </a:t>
            </a:r>
            <a:r>
              <a:rPr lang="vi-VN" b="0"/>
              <a:t>khi </a:t>
            </a:r>
            <a:r>
              <a:rPr lang="en-US" b="0"/>
              <a:t>mẫu tin </a:t>
            </a:r>
            <a:r>
              <a:rPr lang="vi-VN" b="0"/>
              <a:t>được cập nhật.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DELETE trigger </a:t>
            </a:r>
            <a:r>
              <a:rPr lang="vi-VN" b="0"/>
              <a:t>có thể được tạo để hạn chế người dùng xóa một </a:t>
            </a:r>
            <a:r>
              <a:rPr lang="en-US" b="0"/>
              <a:t>mẫu tin </a:t>
            </a:r>
            <a:r>
              <a:rPr lang="vi-VN" b="0"/>
              <a:t>cụ thể trong bảng.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AFTER trigger </a:t>
            </a:r>
            <a:r>
              <a:rPr lang="vi-VN" b="0"/>
              <a:t>được thực thi khi hoàn thành các thao tác </a:t>
            </a:r>
            <a:r>
              <a:rPr lang="en-US" b="0"/>
              <a:t>THÊM</a:t>
            </a:r>
            <a:r>
              <a:rPr lang="vi-VN" b="0"/>
              <a:t>, CẬP NHẬT hoặc XÓA.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856DF2-E36C-48BA-9B9B-BBF7F896D49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26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‹#›</a:t>
            </a:fld>
            <a:endParaRPr sz="12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‹#›</a:t>
            </a:fld>
            <a:endParaRPr sz="12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‹#›</a:t>
            </a:fld>
            <a:endParaRPr sz="1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‹#›</a:t>
            </a:fld>
            <a:endParaRPr sz="1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‹#›</a:t>
            </a:fld>
            <a:endParaRPr sz="1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762000"/>
          </a:xfrm>
          <a:custGeom>
            <a:avLst/>
            <a:gdLst/>
            <a:ahLst/>
            <a:cxnLst/>
            <a:rect l="l" t="t" r="r" b="b"/>
            <a:pathLst>
              <a:path w="9144000" h="762000">
                <a:moveTo>
                  <a:pt x="9144000" y="0"/>
                </a:moveTo>
                <a:lnTo>
                  <a:pt x="0" y="0"/>
                </a:lnTo>
                <a:lnTo>
                  <a:pt x="0" y="762000"/>
                </a:lnTo>
                <a:lnTo>
                  <a:pt x="9144000" y="762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647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6755" y="21081"/>
            <a:ext cx="8730488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363980"/>
            <a:ext cx="845312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07809"/>
            <a:ext cx="892810" cy="245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1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863078" y="6569709"/>
            <a:ext cx="934084" cy="256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‹#›</a:t>
            </a:fld>
            <a:endParaRPr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jp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9.jp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17525" y="3810000"/>
              <a:ext cx="9126855" cy="3048000"/>
            </a:xfrm>
            <a:custGeom>
              <a:avLst/>
              <a:gdLst/>
              <a:ahLst/>
              <a:cxnLst/>
              <a:rect l="l" t="t" r="r" b="b"/>
              <a:pathLst>
                <a:path w="9126855" h="3048000">
                  <a:moveTo>
                    <a:pt x="9126474" y="0"/>
                  </a:moveTo>
                  <a:lnTo>
                    <a:pt x="0" y="0"/>
                  </a:lnTo>
                  <a:lnTo>
                    <a:pt x="0" y="3047999"/>
                  </a:lnTo>
                  <a:lnTo>
                    <a:pt x="9126474" y="3048000"/>
                  </a:lnTo>
                  <a:lnTo>
                    <a:pt x="9126474" y="0"/>
                  </a:lnTo>
                  <a:close/>
                </a:path>
              </a:pathLst>
            </a:custGeom>
            <a:solidFill>
              <a:srgbClr val="DFAA85">
                <a:alpha val="6666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1288" y="0"/>
              <a:ext cx="7982711" cy="392811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2615946" cy="393268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17725" y="4211828"/>
            <a:ext cx="18053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Book Antiqua"/>
                <a:cs typeface="Book Antiqua"/>
              </a:rPr>
              <a:t>Session:</a:t>
            </a:r>
            <a:r>
              <a:rPr sz="2800" b="1" spc="-80" dirty="0">
                <a:latin typeface="Book Antiqua"/>
                <a:cs typeface="Book Antiqua"/>
              </a:rPr>
              <a:t> </a:t>
            </a:r>
            <a:r>
              <a:rPr sz="2800" b="1" dirty="0">
                <a:latin typeface="Book Antiqua"/>
                <a:cs typeface="Book Antiqua"/>
              </a:rPr>
              <a:t>12</a:t>
            </a:r>
            <a:endParaRPr sz="28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4823" y="4749546"/>
            <a:ext cx="208978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i="1" dirty="0">
                <a:latin typeface="Book Antiqua"/>
                <a:cs typeface="Book Antiqua"/>
              </a:rPr>
              <a:t>Triggers</a:t>
            </a:r>
            <a:endParaRPr sz="45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007360" y="1224534"/>
            <a:ext cx="4544060" cy="169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3600" b="1" spc="-110" dirty="0">
                <a:latin typeface="Arial"/>
                <a:cs typeface="Arial"/>
              </a:rPr>
              <a:t>Intelligent</a:t>
            </a:r>
            <a:endParaRPr sz="3600">
              <a:latin typeface="Arial"/>
              <a:cs typeface="Arial"/>
            </a:endParaRPr>
          </a:p>
          <a:p>
            <a:pPr marL="12700" marR="5080" algn="ctr">
              <a:lnSpc>
                <a:spcPts val="4500"/>
              </a:lnSpc>
            </a:pPr>
            <a:r>
              <a:rPr sz="3600" b="1" spc="-130" dirty="0">
                <a:latin typeface="Arial"/>
                <a:cs typeface="Arial"/>
              </a:rPr>
              <a:t>Data </a:t>
            </a:r>
            <a:r>
              <a:rPr sz="3600" b="1" spc="-220" dirty="0">
                <a:latin typeface="Arial"/>
                <a:cs typeface="Arial"/>
              </a:rPr>
              <a:t>Management</a:t>
            </a:r>
            <a:r>
              <a:rPr sz="3600" b="1" spc="-495" dirty="0">
                <a:latin typeface="Arial"/>
                <a:cs typeface="Arial"/>
              </a:rPr>
              <a:t> </a:t>
            </a:r>
            <a:r>
              <a:rPr sz="3600" b="1" spc="-55" dirty="0">
                <a:latin typeface="Arial"/>
                <a:cs typeface="Arial"/>
              </a:rPr>
              <a:t>with  </a:t>
            </a:r>
            <a:r>
              <a:rPr sz="3600" b="1" spc="-50" dirty="0">
                <a:latin typeface="Arial"/>
                <a:cs typeface="Arial"/>
              </a:rPr>
              <a:t>SQL</a:t>
            </a:r>
            <a:r>
              <a:rPr sz="3600" b="1" spc="-295" dirty="0">
                <a:latin typeface="Arial"/>
                <a:cs typeface="Arial"/>
              </a:rPr>
              <a:t> </a:t>
            </a:r>
            <a:r>
              <a:rPr sz="3600" b="1" spc="-215" dirty="0">
                <a:latin typeface="Arial"/>
                <a:cs typeface="Arial"/>
              </a:rPr>
              <a:t>Server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493"/>
            <a:ext cx="23672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Objectives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2</a:t>
            </a:fld>
            <a:endParaRPr sz="12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463040"/>
            <a:ext cx="807275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indent="-341630">
              <a:lnSpc>
                <a:spcPct val="100000"/>
              </a:lnSpc>
              <a:spcBef>
                <a:spcPts val="100"/>
              </a:spcBef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z="2400" spc="70" dirty="0">
                <a:latin typeface="Times New Roman"/>
                <a:cs typeface="Times New Roman"/>
              </a:rPr>
              <a:t>Explain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triggers</a:t>
            </a:r>
            <a:endParaRPr sz="240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z="2400" spc="70" dirty="0">
                <a:latin typeface="Times New Roman"/>
                <a:cs typeface="Times New Roman"/>
              </a:rPr>
              <a:t>Explain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Times New Roman"/>
                <a:cs typeface="Times New Roman"/>
              </a:rPr>
              <a:t>the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procedure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130" dirty="0">
                <a:latin typeface="Times New Roman"/>
                <a:cs typeface="Times New Roman"/>
              </a:rPr>
              <a:t>to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create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Times New Roman"/>
                <a:cs typeface="Times New Roman"/>
              </a:rPr>
              <a:t>and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alter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DML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triggers</a:t>
            </a:r>
            <a:endParaRPr sz="240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z="2400" spc="65" dirty="0">
                <a:latin typeface="Times New Roman"/>
                <a:cs typeface="Times New Roman"/>
              </a:rPr>
              <a:t>Describe </a:t>
            </a:r>
            <a:r>
              <a:rPr sz="2400" spc="105" dirty="0">
                <a:latin typeface="Times New Roman"/>
                <a:cs typeface="Times New Roman"/>
              </a:rPr>
              <a:t>nested</a:t>
            </a:r>
            <a:r>
              <a:rPr sz="2400" spc="-27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triggers</a:t>
            </a:r>
            <a:endParaRPr sz="240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z="2400" spc="65" dirty="0">
                <a:latin typeface="Times New Roman"/>
                <a:cs typeface="Times New Roman"/>
              </a:rPr>
              <a:t>Describe </a:t>
            </a:r>
            <a:r>
              <a:rPr sz="2400" spc="114" dirty="0">
                <a:latin typeface="Times New Roman"/>
                <a:cs typeface="Times New Roman"/>
              </a:rPr>
              <a:t>update</a:t>
            </a:r>
            <a:r>
              <a:rPr sz="2400" spc="-245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functions</a:t>
            </a:r>
            <a:endParaRPr sz="2400">
              <a:latin typeface="Times New Roman"/>
              <a:cs typeface="Times New Roman"/>
            </a:endParaRPr>
          </a:p>
          <a:p>
            <a:pPr marL="353695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z="2400" spc="70" dirty="0">
                <a:latin typeface="Times New Roman"/>
                <a:cs typeface="Times New Roman"/>
              </a:rPr>
              <a:t>Explain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Times New Roman"/>
                <a:cs typeface="Times New Roman"/>
              </a:rPr>
              <a:t>the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handling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of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multiple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rows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114" dirty="0">
                <a:latin typeface="Times New Roman"/>
                <a:cs typeface="Times New Roman"/>
              </a:rPr>
              <a:t>in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a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session</a:t>
            </a:r>
            <a:endParaRPr sz="2400">
              <a:latin typeface="Times New Roman"/>
              <a:cs typeface="Times New Roman"/>
            </a:endParaRPr>
          </a:p>
          <a:p>
            <a:pPr marL="353695" marR="5080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  <a:tab pos="1737995" algn="l"/>
                <a:tab pos="2533015" algn="l"/>
                <a:tab pos="4566920" algn="l"/>
                <a:tab pos="6438265" algn="l"/>
                <a:tab pos="7079615" algn="l"/>
              </a:tabLst>
            </a:pPr>
            <a:r>
              <a:rPr sz="2400" spc="65" dirty="0">
                <a:latin typeface="Times New Roman"/>
                <a:cs typeface="Times New Roman"/>
              </a:rPr>
              <a:t>Exp</a:t>
            </a:r>
            <a:r>
              <a:rPr sz="2400" spc="35" dirty="0">
                <a:latin typeface="Times New Roman"/>
                <a:cs typeface="Times New Roman"/>
              </a:rPr>
              <a:t>l</a:t>
            </a:r>
            <a:r>
              <a:rPr sz="2400" spc="90" dirty="0">
                <a:latin typeface="Times New Roman"/>
                <a:cs typeface="Times New Roman"/>
              </a:rPr>
              <a:t>ain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80" dirty="0">
                <a:latin typeface="Times New Roman"/>
                <a:cs typeface="Times New Roman"/>
              </a:rPr>
              <a:t>th</a:t>
            </a:r>
            <a:r>
              <a:rPr sz="2400" spc="5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85" dirty="0">
                <a:latin typeface="Times New Roman"/>
                <a:cs typeface="Times New Roman"/>
              </a:rPr>
              <a:t>performance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10" dirty="0">
                <a:latin typeface="Times New Roman"/>
                <a:cs typeface="Times New Roman"/>
              </a:rPr>
              <a:t>i</a:t>
            </a:r>
            <a:r>
              <a:rPr sz="2400" spc="125" dirty="0">
                <a:latin typeface="Times New Roman"/>
                <a:cs typeface="Times New Roman"/>
              </a:rPr>
              <a:t>mp</a:t>
            </a:r>
            <a:r>
              <a:rPr sz="2400" spc="5" dirty="0">
                <a:latin typeface="Times New Roman"/>
                <a:cs typeface="Times New Roman"/>
              </a:rPr>
              <a:t>l</a:t>
            </a:r>
            <a:r>
              <a:rPr sz="2400" spc="10" dirty="0">
                <a:latin typeface="Times New Roman"/>
                <a:cs typeface="Times New Roman"/>
              </a:rPr>
              <a:t>i</a:t>
            </a:r>
            <a:r>
              <a:rPr sz="2400" spc="15" dirty="0">
                <a:latin typeface="Times New Roman"/>
                <a:cs typeface="Times New Roman"/>
              </a:rPr>
              <a:t>c</a:t>
            </a:r>
            <a:r>
              <a:rPr sz="2400" spc="120" dirty="0">
                <a:latin typeface="Times New Roman"/>
                <a:cs typeface="Times New Roman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t</a:t>
            </a:r>
            <a:r>
              <a:rPr sz="2400" spc="114" dirty="0">
                <a:latin typeface="Times New Roman"/>
                <a:cs typeface="Times New Roman"/>
              </a:rPr>
              <a:t>ion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70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90" dirty="0">
                <a:latin typeface="Times New Roman"/>
                <a:cs typeface="Times New Roman"/>
              </a:rPr>
              <a:t>tr</a:t>
            </a:r>
            <a:r>
              <a:rPr sz="2400" spc="85" dirty="0">
                <a:latin typeface="Times New Roman"/>
                <a:cs typeface="Times New Roman"/>
              </a:rPr>
              <a:t>i</a:t>
            </a:r>
            <a:r>
              <a:rPr sz="2400" spc="15" dirty="0">
                <a:latin typeface="Times New Roman"/>
                <a:cs typeface="Times New Roman"/>
              </a:rPr>
              <a:t>ggers  </a:t>
            </a:r>
            <a:r>
              <a:rPr sz="2400" spc="75" dirty="0">
                <a:latin typeface="Times New Roman"/>
                <a:cs typeface="Times New Roman"/>
              </a:rPr>
              <a:t>implication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493"/>
            <a:ext cx="28416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1195" y="1057401"/>
            <a:ext cx="5131435" cy="368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080" indent="-341630" algn="just">
              <a:lnSpc>
                <a:spcPct val="100000"/>
              </a:lnSpc>
              <a:spcBef>
                <a:spcPts val="95"/>
              </a:spcBef>
              <a:buFont typeface="Segoe UI Symbol"/>
              <a:buChar char="⮚"/>
              <a:tabLst>
                <a:tab pos="354330" algn="l"/>
              </a:tabLst>
            </a:pPr>
            <a:r>
              <a:rPr sz="2000" spc="45" dirty="0">
                <a:latin typeface="Times New Roman"/>
                <a:cs typeface="Times New Roman"/>
              </a:rPr>
              <a:t>Trigger </a:t>
            </a:r>
            <a:r>
              <a:rPr sz="2000" spc="5" dirty="0">
                <a:latin typeface="Times New Roman"/>
                <a:cs typeface="Times New Roman"/>
              </a:rPr>
              <a:t>is </a:t>
            </a:r>
            <a:r>
              <a:rPr sz="2000" spc="30" dirty="0">
                <a:latin typeface="Times New Roman"/>
                <a:cs typeface="Times New Roman"/>
              </a:rPr>
              <a:t>a special </a:t>
            </a:r>
            <a:r>
              <a:rPr sz="2000" spc="70" dirty="0">
                <a:latin typeface="Times New Roman"/>
                <a:cs typeface="Times New Roman"/>
              </a:rPr>
              <a:t>type </a:t>
            </a:r>
            <a:r>
              <a:rPr sz="2000" spc="55" dirty="0">
                <a:latin typeface="Times New Roman"/>
                <a:cs typeface="Times New Roman"/>
              </a:rPr>
              <a:t>of </a:t>
            </a:r>
            <a:r>
              <a:rPr sz="2000" spc="80" dirty="0">
                <a:latin typeface="Times New Roman"/>
                <a:cs typeface="Times New Roman"/>
              </a:rPr>
              <a:t>stored</a:t>
            </a:r>
            <a:r>
              <a:rPr sz="2000" spc="-290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procedure  </a:t>
            </a:r>
            <a:r>
              <a:rPr sz="2000" spc="114" dirty="0">
                <a:latin typeface="Times New Roman"/>
                <a:cs typeface="Times New Roman"/>
              </a:rPr>
              <a:t>that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is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executed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when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an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attempt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is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made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14" dirty="0">
                <a:latin typeface="Times New Roman"/>
                <a:cs typeface="Times New Roman"/>
              </a:rPr>
              <a:t>to  </a:t>
            </a:r>
            <a:r>
              <a:rPr sz="2000" spc="55" dirty="0">
                <a:latin typeface="Times New Roman"/>
                <a:cs typeface="Times New Roman"/>
              </a:rPr>
              <a:t>modify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data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table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for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which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Times New Roman"/>
                <a:cs typeface="Times New Roman"/>
              </a:rPr>
              <a:t>triggers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are  created.</a:t>
            </a:r>
            <a:endParaRPr sz="2000">
              <a:latin typeface="Times New Roman"/>
              <a:cs typeface="Times New Roman"/>
            </a:endParaRPr>
          </a:p>
          <a:p>
            <a:pPr marL="353695" marR="5080" indent="-341630" algn="just">
              <a:lnSpc>
                <a:spcPct val="100000"/>
              </a:lnSpc>
              <a:spcBef>
                <a:spcPts val="2400"/>
              </a:spcBef>
              <a:buFont typeface="Segoe UI Symbol"/>
              <a:buChar char="⮚"/>
              <a:tabLst>
                <a:tab pos="354330" algn="l"/>
              </a:tabLst>
            </a:pPr>
            <a:r>
              <a:rPr sz="2000" spc="85" dirty="0">
                <a:latin typeface="Times New Roman"/>
                <a:cs typeface="Times New Roman"/>
              </a:rPr>
              <a:t>Unlike </a:t>
            </a:r>
            <a:r>
              <a:rPr sz="2000" spc="90" dirty="0">
                <a:latin typeface="Times New Roman"/>
                <a:cs typeface="Times New Roman"/>
              </a:rPr>
              <a:t>standard </a:t>
            </a:r>
            <a:r>
              <a:rPr sz="2000" spc="45" dirty="0">
                <a:latin typeface="Times New Roman"/>
                <a:cs typeface="Times New Roman"/>
              </a:rPr>
              <a:t>system </a:t>
            </a:r>
            <a:r>
              <a:rPr sz="2000" spc="80" dirty="0">
                <a:latin typeface="Times New Roman"/>
                <a:cs typeface="Times New Roman"/>
              </a:rPr>
              <a:t>stored </a:t>
            </a:r>
            <a:r>
              <a:rPr sz="2000" spc="65" dirty="0">
                <a:latin typeface="Times New Roman"/>
                <a:cs typeface="Times New Roman"/>
              </a:rPr>
              <a:t>procedures,  </a:t>
            </a:r>
            <a:r>
              <a:rPr sz="2000" spc="35" dirty="0">
                <a:latin typeface="Times New Roman"/>
                <a:cs typeface="Times New Roman"/>
              </a:rPr>
              <a:t>triggers </a:t>
            </a:r>
            <a:r>
              <a:rPr sz="2000" spc="105" dirty="0">
                <a:latin typeface="Times New Roman"/>
                <a:cs typeface="Times New Roman"/>
              </a:rPr>
              <a:t>cannot </a:t>
            </a:r>
            <a:r>
              <a:rPr sz="2000" spc="70" dirty="0">
                <a:latin typeface="Times New Roman"/>
                <a:cs typeface="Times New Roman"/>
              </a:rPr>
              <a:t>be </a:t>
            </a:r>
            <a:r>
              <a:rPr sz="2000" spc="80" dirty="0">
                <a:latin typeface="Times New Roman"/>
                <a:cs typeface="Times New Roman"/>
              </a:rPr>
              <a:t>executed </a:t>
            </a:r>
            <a:r>
              <a:rPr sz="2000" spc="40" dirty="0">
                <a:latin typeface="Times New Roman"/>
                <a:cs typeface="Times New Roman"/>
              </a:rPr>
              <a:t>directly, </a:t>
            </a:r>
            <a:r>
              <a:rPr sz="2000" spc="120" dirty="0">
                <a:latin typeface="Times New Roman"/>
                <a:cs typeface="Times New Roman"/>
              </a:rPr>
              <a:t>nor</a:t>
            </a:r>
            <a:r>
              <a:rPr sz="2000" spc="-28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do  </a:t>
            </a:r>
            <a:r>
              <a:rPr sz="2000" spc="80" dirty="0">
                <a:latin typeface="Times New Roman"/>
                <a:cs typeface="Times New Roman"/>
              </a:rPr>
              <a:t>they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Times New Roman"/>
                <a:cs typeface="Times New Roman"/>
              </a:rPr>
              <a:t>pass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or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receive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parameters.</a:t>
            </a:r>
            <a:endParaRPr sz="2000">
              <a:latin typeface="Times New Roman"/>
              <a:cs typeface="Times New Roman"/>
            </a:endParaRPr>
          </a:p>
          <a:p>
            <a:pPr marL="353695" marR="5080" indent="-341630" algn="just">
              <a:lnSpc>
                <a:spcPct val="100000"/>
              </a:lnSpc>
              <a:spcBef>
                <a:spcPts val="2405"/>
              </a:spcBef>
              <a:buFont typeface="Segoe UI Symbol"/>
              <a:buChar char="⮚"/>
              <a:tabLst>
                <a:tab pos="354330" algn="l"/>
              </a:tabLst>
            </a:pPr>
            <a:r>
              <a:rPr sz="2000" spc="40" dirty="0">
                <a:latin typeface="Times New Roman"/>
                <a:cs typeface="Times New Roman"/>
              </a:rPr>
              <a:t>Triggers </a:t>
            </a:r>
            <a:r>
              <a:rPr sz="2000" spc="15" dirty="0">
                <a:latin typeface="Times New Roman"/>
                <a:cs typeface="Times New Roman"/>
              </a:rPr>
              <a:t>will </a:t>
            </a:r>
            <a:r>
              <a:rPr sz="2000" spc="45" dirty="0">
                <a:latin typeface="Times New Roman"/>
                <a:cs typeface="Times New Roman"/>
              </a:rPr>
              <a:t>get </a:t>
            </a:r>
            <a:r>
              <a:rPr sz="2000" spc="80" dirty="0">
                <a:latin typeface="Times New Roman"/>
                <a:cs typeface="Times New Roman"/>
              </a:rPr>
              <a:t>executed </a:t>
            </a:r>
            <a:r>
              <a:rPr sz="2000" spc="55" dirty="0">
                <a:latin typeface="Times New Roman"/>
                <a:cs typeface="Times New Roman"/>
              </a:rPr>
              <a:t>automatically  </a:t>
            </a:r>
            <a:r>
              <a:rPr sz="2000" spc="110" dirty="0">
                <a:latin typeface="Times New Roman"/>
                <a:cs typeface="Times New Roman"/>
              </a:rPr>
              <a:t>when</a:t>
            </a:r>
            <a:r>
              <a:rPr sz="2000" spc="72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INSERT, </a:t>
            </a:r>
            <a:r>
              <a:rPr sz="2000" spc="95" dirty="0">
                <a:latin typeface="Times New Roman"/>
                <a:cs typeface="Times New Roman"/>
              </a:rPr>
              <a:t>UPDATE, </a:t>
            </a:r>
            <a:r>
              <a:rPr sz="2000" spc="90" dirty="0">
                <a:latin typeface="Times New Roman"/>
                <a:cs typeface="Times New Roman"/>
              </a:rPr>
              <a:t>or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DELETE</a:t>
            </a:r>
            <a:endParaRPr sz="2000">
              <a:latin typeface="Times New Roman"/>
              <a:cs typeface="Times New Roman"/>
            </a:endParaRPr>
          </a:p>
          <a:p>
            <a:pPr marL="353695">
              <a:lnSpc>
                <a:spcPct val="100000"/>
              </a:lnSpc>
            </a:pPr>
            <a:r>
              <a:rPr sz="2000" spc="75" dirty="0">
                <a:latin typeface="Times New Roman"/>
                <a:cs typeface="Times New Roman"/>
              </a:rPr>
              <a:t>operations </a:t>
            </a:r>
            <a:r>
              <a:rPr sz="2000" spc="50" dirty="0">
                <a:latin typeface="Times New Roman"/>
                <a:cs typeface="Times New Roman"/>
              </a:rPr>
              <a:t>are</a:t>
            </a:r>
            <a:r>
              <a:rPr sz="2000" spc="-19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performed.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195" y="5020055"/>
            <a:ext cx="5130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Segoe UI Symbol"/>
                <a:cs typeface="Segoe UI Symbol"/>
              </a:rPr>
              <a:t>⮚ </a:t>
            </a:r>
            <a:r>
              <a:rPr sz="2000" spc="80" dirty="0">
                <a:latin typeface="Times New Roman"/>
                <a:cs typeface="Times New Roman"/>
              </a:rPr>
              <a:t>In </a:t>
            </a:r>
            <a:r>
              <a:rPr sz="2000" spc="90" dirty="0">
                <a:latin typeface="Times New Roman"/>
                <a:cs typeface="Times New Roman"/>
              </a:rPr>
              <a:t>SQL </a:t>
            </a:r>
            <a:r>
              <a:rPr sz="2000" spc="50" dirty="0">
                <a:latin typeface="Times New Roman"/>
                <a:cs typeface="Times New Roman"/>
              </a:rPr>
              <a:t>Server, </a:t>
            </a:r>
            <a:r>
              <a:rPr sz="2000" spc="35" dirty="0">
                <a:latin typeface="Times New Roman"/>
                <a:cs typeface="Times New Roman"/>
              </a:rPr>
              <a:t>triggers </a:t>
            </a:r>
            <a:r>
              <a:rPr sz="2000" spc="55" dirty="0">
                <a:latin typeface="Times New Roman"/>
                <a:cs typeface="Times New Roman"/>
              </a:rPr>
              <a:t>are </a:t>
            </a:r>
            <a:r>
              <a:rPr sz="2000" spc="65" dirty="0">
                <a:latin typeface="Times New Roman"/>
                <a:cs typeface="Times New Roman"/>
              </a:rPr>
              <a:t>created using 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14" dirty="0">
                <a:latin typeface="Times New Roman"/>
                <a:cs typeface="Times New Roman"/>
              </a:rPr>
              <a:t>CREATE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TRIGGER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statement.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2788" y="1828800"/>
            <a:ext cx="3601212" cy="34465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77633" y="5265928"/>
            <a:ext cx="65151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90" dirty="0">
                <a:latin typeface="Arial"/>
                <a:cs typeface="Arial"/>
              </a:rPr>
              <a:t>Triggers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3</a:t>
            </a:fld>
            <a:endParaRPr sz="120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586" y="0"/>
            <a:ext cx="40697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Use</a:t>
            </a:r>
            <a:r>
              <a:rPr spc="-720" dirty="0"/>
              <a:t> </a:t>
            </a:r>
            <a:r>
              <a:rPr spc="114" dirty="0"/>
              <a:t>of </a:t>
            </a:r>
            <a:r>
              <a:rPr spc="90" dirty="0"/>
              <a:t>Triggers </a:t>
            </a:r>
            <a:r>
              <a:rPr spc="-200" dirty="0"/>
              <a:t>1-4</a:t>
            </a:r>
          </a:p>
        </p:txBody>
      </p:sp>
      <p:sp>
        <p:nvSpPr>
          <p:cNvPr id="3" name="object 3"/>
          <p:cNvSpPr/>
          <p:nvPr/>
        </p:nvSpPr>
        <p:spPr>
          <a:xfrm>
            <a:off x="237744" y="938783"/>
            <a:ext cx="8669020" cy="1377315"/>
          </a:xfrm>
          <a:custGeom>
            <a:avLst/>
            <a:gdLst/>
            <a:ahLst/>
            <a:cxnLst/>
            <a:rect l="l" t="t" r="r" b="b"/>
            <a:pathLst>
              <a:path w="8669020" h="1377314">
                <a:moveTo>
                  <a:pt x="8668512" y="229489"/>
                </a:moveTo>
                <a:lnTo>
                  <a:pt x="8663838" y="183248"/>
                </a:lnTo>
                <a:lnTo>
                  <a:pt x="8650465" y="140169"/>
                </a:lnTo>
                <a:lnTo>
                  <a:pt x="8629307" y="101180"/>
                </a:lnTo>
                <a:lnTo>
                  <a:pt x="8601291" y="67221"/>
                </a:lnTo>
                <a:lnTo>
                  <a:pt x="8567331" y="39204"/>
                </a:lnTo>
                <a:lnTo>
                  <a:pt x="8528342" y="18034"/>
                </a:lnTo>
                <a:lnTo>
                  <a:pt x="8485264" y="4673"/>
                </a:lnTo>
                <a:lnTo>
                  <a:pt x="8439023" y="0"/>
                </a:lnTo>
                <a:lnTo>
                  <a:pt x="229489" y="0"/>
                </a:lnTo>
                <a:lnTo>
                  <a:pt x="183235" y="4673"/>
                </a:lnTo>
                <a:lnTo>
                  <a:pt x="140157" y="18034"/>
                </a:lnTo>
                <a:lnTo>
                  <a:pt x="101168" y="39204"/>
                </a:lnTo>
                <a:lnTo>
                  <a:pt x="67208" y="67221"/>
                </a:lnTo>
                <a:lnTo>
                  <a:pt x="39192" y="101180"/>
                </a:lnTo>
                <a:lnTo>
                  <a:pt x="18034" y="140169"/>
                </a:lnTo>
                <a:lnTo>
                  <a:pt x="4660" y="183248"/>
                </a:lnTo>
                <a:lnTo>
                  <a:pt x="0" y="229489"/>
                </a:lnTo>
                <a:lnTo>
                  <a:pt x="0" y="1147445"/>
                </a:lnTo>
                <a:lnTo>
                  <a:pt x="4660" y="1193698"/>
                </a:lnTo>
                <a:lnTo>
                  <a:pt x="18034" y="1236776"/>
                </a:lnTo>
                <a:lnTo>
                  <a:pt x="39192" y="1275765"/>
                </a:lnTo>
                <a:lnTo>
                  <a:pt x="67208" y="1309725"/>
                </a:lnTo>
                <a:lnTo>
                  <a:pt x="101168" y="1337741"/>
                </a:lnTo>
                <a:lnTo>
                  <a:pt x="140157" y="1358900"/>
                </a:lnTo>
                <a:lnTo>
                  <a:pt x="183235" y="1372273"/>
                </a:lnTo>
                <a:lnTo>
                  <a:pt x="229489" y="1376934"/>
                </a:lnTo>
                <a:lnTo>
                  <a:pt x="8439023" y="1376934"/>
                </a:lnTo>
                <a:lnTo>
                  <a:pt x="8485264" y="1372273"/>
                </a:lnTo>
                <a:lnTo>
                  <a:pt x="8528342" y="1358900"/>
                </a:lnTo>
                <a:lnTo>
                  <a:pt x="8567331" y="1337741"/>
                </a:lnTo>
                <a:lnTo>
                  <a:pt x="8601291" y="1309725"/>
                </a:lnTo>
                <a:lnTo>
                  <a:pt x="8629307" y="1275765"/>
                </a:lnTo>
                <a:lnTo>
                  <a:pt x="8650465" y="1236776"/>
                </a:lnTo>
                <a:lnTo>
                  <a:pt x="8663838" y="1193698"/>
                </a:lnTo>
                <a:lnTo>
                  <a:pt x="8668512" y="1147445"/>
                </a:lnTo>
                <a:lnTo>
                  <a:pt x="8668512" y="229489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9694" y="3058667"/>
            <a:ext cx="8168005" cy="683895"/>
          </a:xfrm>
          <a:custGeom>
            <a:avLst/>
            <a:gdLst/>
            <a:ahLst/>
            <a:cxnLst/>
            <a:rect l="l" t="t" r="r" b="b"/>
            <a:pathLst>
              <a:path w="8168005" h="683895">
                <a:moveTo>
                  <a:pt x="8167878" y="113919"/>
                </a:moveTo>
                <a:lnTo>
                  <a:pt x="8158912" y="69608"/>
                </a:lnTo>
                <a:lnTo>
                  <a:pt x="8134490" y="33388"/>
                </a:lnTo>
                <a:lnTo>
                  <a:pt x="8098269" y="8966"/>
                </a:lnTo>
                <a:lnTo>
                  <a:pt x="8053959" y="0"/>
                </a:lnTo>
                <a:lnTo>
                  <a:pt x="113919" y="0"/>
                </a:lnTo>
                <a:lnTo>
                  <a:pt x="69570" y="8966"/>
                </a:lnTo>
                <a:lnTo>
                  <a:pt x="33362" y="33388"/>
                </a:lnTo>
                <a:lnTo>
                  <a:pt x="8940" y="69608"/>
                </a:lnTo>
                <a:lnTo>
                  <a:pt x="0" y="113919"/>
                </a:lnTo>
                <a:lnTo>
                  <a:pt x="0" y="569595"/>
                </a:lnTo>
                <a:lnTo>
                  <a:pt x="8940" y="613918"/>
                </a:lnTo>
                <a:lnTo>
                  <a:pt x="33362" y="650138"/>
                </a:lnTo>
                <a:lnTo>
                  <a:pt x="69570" y="674560"/>
                </a:lnTo>
                <a:lnTo>
                  <a:pt x="113919" y="683514"/>
                </a:lnTo>
                <a:lnTo>
                  <a:pt x="8053959" y="683514"/>
                </a:lnTo>
                <a:lnTo>
                  <a:pt x="8098269" y="674560"/>
                </a:lnTo>
                <a:lnTo>
                  <a:pt x="8134490" y="650138"/>
                </a:lnTo>
                <a:lnTo>
                  <a:pt x="8158912" y="613918"/>
                </a:lnTo>
                <a:lnTo>
                  <a:pt x="8167878" y="569595"/>
                </a:lnTo>
                <a:lnTo>
                  <a:pt x="8167878" y="113919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3512" y="1067053"/>
            <a:ext cx="8115934" cy="31407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56895" marR="5080" indent="-342900">
              <a:lnSpc>
                <a:spcPts val="2590"/>
              </a:lnSpc>
              <a:spcBef>
                <a:spcPts val="425"/>
              </a:spcBef>
              <a:buFont typeface="Wingdings"/>
              <a:buChar char=""/>
              <a:tabLst>
                <a:tab pos="557530" algn="l"/>
                <a:tab pos="1786255" algn="l"/>
                <a:tab pos="2385060" algn="l"/>
                <a:tab pos="3521075" algn="l"/>
                <a:tab pos="4782185" algn="l"/>
                <a:tab pos="6305550" algn="l"/>
                <a:tab pos="7073900" algn="l"/>
                <a:tab pos="7705725" algn="l"/>
              </a:tabLst>
            </a:pPr>
            <a:r>
              <a:rPr sz="2400" spc="110" dirty="0">
                <a:solidFill>
                  <a:srgbClr val="FFFFFF"/>
                </a:solidFill>
                <a:latin typeface="Times New Roman"/>
                <a:cs typeface="Times New Roman"/>
              </a:rPr>
              <a:t>Tri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400" spc="50" dirty="0">
                <a:solidFill>
                  <a:srgbClr val="FFFFFF"/>
                </a:solidFill>
                <a:latin typeface="Times New Roman"/>
                <a:cs typeface="Times New Roman"/>
              </a:rPr>
              <a:t>ers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contai</a:t>
            </a:r>
            <a:r>
              <a:rPr sz="2400" spc="21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65" dirty="0">
                <a:solidFill>
                  <a:srgbClr val="FFFFFF"/>
                </a:solidFill>
                <a:latin typeface="Times New Roman"/>
                <a:cs typeface="Times New Roman"/>
              </a:rPr>
              <a:t>co</a:t>
            </a:r>
            <a:r>
              <a:rPr sz="2400" spc="114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plex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processing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gic	</a:t>
            </a:r>
            <a:r>
              <a:rPr sz="2400" spc="13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400" spc="14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55" dirty="0">
                <a:solidFill>
                  <a:srgbClr val="FFFFFF"/>
                </a:solidFill>
                <a:latin typeface="Times New Roman"/>
                <a:cs typeface="Times New Roman"/>
              </a:rPr>
              <a:t>are  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generally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24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maintaining</a:t>
            </a:r>
            <a:r>
              <a:rPr sz="24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low-level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24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imes New Roman"/>
                <a:cs typeface="Times New Roman"/>
              </a:rPr>
              <a:t>integrity.</a:t>
            </a:r>
            <a:endParaRPr sz="2400">
              <a:latin typeface="Times New Roman"/>
              <a:cs typeface="Times New Roman"/>
            </a:endParaRPr>
          </a:p>
          <a:p>
            <a:pPr marL="556895" indent="-343535">
              <a:lnSpc>
                <a:spcPts val="2555"/>
              </a:lnSpc>
              <a:buFont typeface="Wingdings"/>
              <a:buChar char=""/>
              <a:tabLst>
                <a:tab pos="557530" algn="l"/>
              </a:tabLst>
            </a:pPr>
            <a:r>
              <a:rPr sz="2400" spc="16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primary</a:t>
            </a:r>
            <a:r>
              <a:rPr sz="24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r>
              <a:rPr sz="24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4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4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FFFFFF"/>
                </a:solidFill>
                <a:latin typeface="Times New Roman"/>
                <a:cs typeface="Times New Roman"/>
              </a:rPr>
              <a:t>classified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Times New Roman"/>
                <a:cs typeface="Times New Roman"/>
              </a:rPr>
              <a:t>follows: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FFFF"/>
              </a:buClr>
              <a:buFont typeface="Wingdings"/>
              <a:buChar char=""/>
            </a:pPr>
            <a:endParaRPr sz="345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</a:pPr>
            <a:r>
              <a:rPr sz="2400" b="1" spc="-195" dirty="0">
                <a:latin typeface="Arial"/>
                <a:cs typeface="Arial"/>
              </a:rPr>
              <a:t>Cascade </a:t>
            </a:r>
            <a:r>
              <a:rPr sz="2400" b="1" spc="-229" dirty="0">
                <a:latin typeface="Arial"/>
                <a:cs typeface="Arial"/>
              </a:rPr>
              <a:t>changes </a:t>
            </a:r>
            <a:r>
              <a:rPr sz="2400" b="1" spc="-20" dirty="0">
                <a:latin typeface="Arial"/>
                <a:cs typeface="Arial"/>
              </a:rPr>
              <a:t>in </a:t>
            </a:r>
            <a:r>
              <a:rPr sz="2400" b="1" spc="-125" dirty="0">
                <a:latin typeface="Arial"/>
                <a:cs typeface="Arial"/>
              </a:rPr>
              <a:t>related</a:t>
            </a:r>
            <a:r>
              <a:rPr sz="2400" b="1" spc="-380" dirty="0">
                <a:latin typeface="Arial"/>
                <a:cs typeface="Arial"/>
              </a:rPr>
              <a:t> </a:t>
            </a:r>
            <a:r>
              <a:rPr sz="2400" b="1" spc="-175" dirty="0">
                <a:latin typeface="Arial"/>
                <a:cs typeface="Arial"/>
              </a:rPr>
              <a:t>tables</a:t>
            </a:r>
            <a:endParaRPr sz="2400">
              <a:latin typeface="Arial"/>
              <a:cs typeface="Arial"/>
            </a:endParaRPr>
          </a:p>
          <a:p>
            <a:pPr marL="894715" marR="130175" lvl="1" indent="-342900">
              <a:lnSpc>
                <a:spcPts val="2380"/>
              </a:lnSpc>
              <a:spcBef>
                <a:spcPts val="1185"/>
              </a:spcBef>
              <a:buFont typeface="Wingdings"/>
              <a:buChar char=""/>
              <a:tabLst>
                <a:tab pos="895350" algn="l"/>
              </a:tabLst>
            </a:pPr>
            <a:r>
              <a:rPr sz="2200" spc="70" dirty="0">
                <a:solidFill>
                  <a:srgbClr val="FFFFFF"/>
                </a:solidFill>
                <a:latin typeface="Times New Roman"/>
                <a:cs typeface="Times New Roman"/>
              </a:rPr>
              <a:t>Users </a:t>
            </a:r>
            <a:r>
              <a:rPr sz="2200" spc="85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2200" spc="70" dirty="0">
                <a:solidFill>
                  <a:srgbClr val="FFFFFF"/>
                </a:solidFill>
                <a:latin typeface="Times New Roman"/>
                <a:cs typeface="Times New Roman"/>
              </a:rPr>
              <a:t>use 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200" spc="45" dirty="0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200" spc="45" dirty="0">
                <a:solidFill>
                  <a:srgbClr val="FFFFFF"/>
                </a:solidFill>
                <a:latin typeface="Times New Roman"/>
                <a:cs typeface="Times New Roman"/>
              </a:rPr>
              <a:t>cascade </a:t>
            </a:r>
            <a:r>
              <a:rPr sz="2200" spc="65" dirty="0">
                <a:solidFill>
                  <a:srgbClr val="FFFFFF"/>
                </a:solidFill>
                <a:latin typeface="Times New Roman"/>
                <a:cs typeface="Times New Roman"/>
              </a:rPr>
              <a:t>changes 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through </a:t>
            </a:r>
            <a:r>
              <a:rPr sz="2200" spc="70" dirty="0">
                <a:solidFill>
                  <a:srgbClr val="FFFFFF"/>
                </a:solidFill>
                <a:latin typeface="Times New Roman"/>
                <a:cs typeface="Times New Roman"/>
              </a:rPr>
              <a:t>related  </a:t>
            </a:r>
            <a:r>
              <a:rPr sz="2200" spc="45" dirty="0">
                <a:solidFill>
                  <a:srgbClr val="FFFFFF"/>
                </a:solidFill>
                <a:latin typeface="Times New Roman"/>
                <a:cs typeface="Times New Roman"/>
              </a:rPr>
              <a:t>tables.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000" spc="55" dirty="0">
                <a:latin typeface="Times New Roman"/>
                <a:cs typeface="Times New Roman"/>
              </a:rPr>
              <a:t>For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example,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4</a:t>
            </a:fld>
            <a:endParaRPr sz="120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51838" y="4327397"/>
            <a:ext cx="6121400" cy="1701164"/>
          </a:xfrm>
          <a:prstGeom prst="rect">
            <a:avLst/>
          </a:prstGeom>
          <a:solidFill>
            <a:srgbClr val="001F5F"/>
          </a:solidFill>
          <a:ln w="38100">
            <a:solidFill>
              <a:srgbClr val="FFC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76200" marR="67310" algn="just">
              <a:lnSpc>
                <a:spcPct val="89700"/>
              </a:lnSpc>
              <a:spcBef>
                <a:spcPts val="459"/>
              </a:spcBef>
            </a:pPr>
            <a:r>
              <a:rPr sz="1800" spc="90" dirty="0">
                <a:solidFill>
                  <a:srgbClr val="FFFFFF"/>
                </a:solidFill>
                <a:latin typeface="Times New Roman"/>
                <a:cs typeface="Times New Roman"/>
              </a:rPr>
              <a:t>Consider 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table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Sales.Customer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AdventureWorks2019 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database 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having 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foreign 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key, 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PersonID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referencing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primary </a:t>
            </a:r>
            <a:r>
              <a:rPr sz="1800" spc="25" dirty="0">
                <a:solidFill>
                  <a:srgbClr val="FFFFFF"/>
                </a:solidFill>
                <a:latin typeface="Times New Roman"/>
                <a:cs typeface="Times New Roman"/>
              </a:rPr>
              <a:t>key,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BusinessEntityID of </a:t>
            </a:r>
            <a:r>
              <a:rPr sz="1800" spc="10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Person.Person 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table.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If  </a:t>
            </a:r>
            <a:r>
              <a:rPr sz="1800" spc="95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update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delete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event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occurs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Person.Person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table,  </a:t>
            </a:r>
            <a:r>
              <a:rPr sz="1800" spc="90" dirty="0">
                <a:solidFill>
                  <a:srgbClr val="FFFFFF"/>
                </a:solidFill>
                <a:latin typeface="Times New Roman"/>
                <a:cs typeface="Times New Roman"/>
              </a:rPr>
              <a:t>an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update 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or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delete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defined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cascade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these 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changes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Sales.Customer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777" y="0"/>
            <a:ext cx="41338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Use </a:t>
            </a:r>
            <a:r>
              <a:rPr spc="114" dirty="0"/>
              <a:t>of</a:t>
            </a:r>
            <a:r>
              <a:rPr spc="-750" dirty="0"/>
              <a:t> </a:t>
            </a:r>
            <a:r>
              <a:rPr spc="90" dirty="0"/>
              <a:t>Triggers </a:t>
            </a:r>
            <a:r>
              <a:rPr spc="-35" dirty="0"/>
              <a:t>2-4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4574" y="926591"/>
            <a:ext cx="3985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35" dirty="0">
                <a:latin typeface="Arial"/>
                <a:cs typeface="Arial"/>
              </a:rPr>
              <a:t>Enforce </a:t>
            </a:r>
            <a:r>
              <a:rPr sz="2400" b="1" spc="-150" dirty="0">
                <a:latin typeface="Arial"/>
                <a:cs typeface="Arial"/>
              </a:rPr>
              <a:t>complex data</a:t>
            </a:r>
            <a:r>
              <a:rPr sz="2400" b="1" spc="-390" dirty="0">
                <a:latin typeface="Arial"/>
                <a:cs typeface="Arial"/>
              </a:rPr>
              <a:t> </a:t>
            </a:r>
            <a:r>
              <a:rPr sz="2400" b="1" spc="-85" dirty="0">
                <a:latin typeface="Arial"/>
                <a:cs typeface="Arial"/>
              </a:rPr>
              <a:t>integrity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0113" y="1748840"/>
            <a:ext cx="2743200" cy="524510"/>
            <a:chOff x="150113" y="1748840"/>
            <a:chExt cx="2743200" cy="5245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113" y="1748840"/>
              <a:ext cx="2743200" cy="50833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565" y="1770913"/>
              <a:ext cx="1604772" cy="5021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6214" y="1772030"/>
              <a:ext cx="2657856" cy="42291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96214" y="1772030"/>
              <a:ext cx="2658110" cy="422909"/>
            </a:xfrm>
            <a:custGeom>
              <a:avLst/>
              <a:gdLst/>
              <a:ahLst/>
              <a:cxnLst/>
              <a:rect l="l" t="t" r="r" b="b"/>
              <a:pathLst>
                <a:path w="2658110" h="422910">
                  <a:moveTo>
                    <a:pt x="0" y="422910"/>
                  </a:moveTo>
                  <a:lnTo>
                    <a:pt x="2657856" y="422910"/>
                  </a:lnTo>
                  <a:lnTo>
                    <a:pt x="2657856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ln w="9906">
              <a:solidFill>
                <a:srgbClr val="BE3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6214" y="1772030"/>
            <a:ext cx="2658110" cy="422909"/>
          </a:xfrm>
          <a:prstGeom prst="rect">
            <a:avLst/>
          </a:prstGeom>
          <a:ln w="9905">
            <a:solidFill>
              <a:srgbClr val="BE3525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685165">
              <a:lnSpc>
                <a:spcPct val="100000"/>
              </a:lnSpc>
              <a:spcBef>
                <a:spcPts val="545"/>
              </a:spcBef>
            </a:pPr>
            <a:r>
              <a:rPr sz="1600" b="1" spc="-5" dirty="0">
                <a:solidFill>
                  <a:srgbClr val="FFFFFF"/>
                </a:solidFill>
                <a:latin typeface="Calisto MT"/>
                <a:cs typeface="Calisto MT"/>
              </a:rPr>
              <a:t>DML</a:t>
            </a:r>
            <a:r>
              <a:rPr sz="1600" b="1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5" dirty="0">
                <a:solidFill>
                  <a:srgbClr val="FFFFFF"/>
                </a:solidFill>
                <a:latin typeface="Calisto MT"/>
                <a:cs typeface="Calisto MT"/>
              </a:rPr>
              <a:t>Triggers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1262" y="2189988"/>
            <a:ext cx="2668270" cy="3089275"/>
            <a:chOff x="191262" y="2189988"/>
            <a:chExt cx="2668270" cy="3089275"/>
          </a:xfrm>
        </p:grpSpPr>
        <p:sp>
          <p:nvSpPr>
            <p:cNvPr id="11" name="object 11"/>
            <p:cNvSpPr/>
            <p:nvPr/>
          </p:nvSpPr>
          <p:spPr>
            <a:xfrm>
              <a:off x="196215" y="2194941"/>
              <a:ext cx="2658110" cy="3079750"/>
            </a:xfrm>
            <a:custGeom>
              <a:avLst/>
              <a:gdLst/>
              <a:ahLst/>
              <a:cxnLst/>
              <a:rect l="l" t="t" r="r" b="b"/>
              <a:pathLst>
                <a:path w="2658110" h="3079750">
                  <a:moveTo>
                    <a:pt x="2657856" y="0"/>
                  </a:moveTo>
                  <a:lnTo>
                    <a:pt x="0" y="0"/>
                  </a:lnTo>
                  <a:lnTo>
                    <a:pt x="0" y="3079242"/>
                  </a:lnTo>
                  <a:lnTo>
                    <a:pt x="2657856" y="3079242"/>
                  </a:lnTo>
                  <a:lnTo>
                    <a:pt x="2657856" y="0"/>
                  </a:lnTo>
                  <a:close/>
                </a:path>
              </a:pathLst>
            </a:custGeom>
            <a:solidFill>
              <a:srgbClr val="E8CE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6215" y="2194941"/>
              <a:ext cx="2658110" cy="3079750"/>
            </a:xfrm>
            <a:custGeom>
              <a:avLst/>
              <a:gdLst/>
              <a:ahLst/>
              <a:cxnLst/>
              <a:rect l="l" t="t" r="r" b="b"/>
              <a:pathLst>
                <a:path w="2658110" h="3079750">
                  <a:moveTo>
                    <a:pt x="0" y="3079242"/>
                  </a:moveTo>
                  <a:lnTo>
                    <a:pt x="2657856" y="3079242"/>
                  </a:lnTo>
                  <a:lnTo>
                    <a:pt x="2657856" y="0"/>
                  </a:lnTo>
                  <a:lnTo>
                    <a:pt x="0" y="0"/>
                  </a:lnTo>
                  <a:lnTo>
                    <a:pt x="0" y="3079242"/>
                  </a:lnTo>
                  <a:close/>
                </a:path>
              </a:pathLst>
            </a:custGeom>
            <a:ln w="9906">
              <a:solidFill>
                <a:srgbClr val="E3C8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6214" y="2239518"/>
            <a:ext cx="2658110" cy="11995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27355" marR="125730" indent="-342900">
              <a:lnSpc>
                <a:spcPct val="90100"/>
              </a:lnSpc>
              <a:spcBef>
                <a:spcPts val="265"/>
              </a:spcBef>
              <a:buClr>
                <a:srgbClr val="000000"/>
              </a:buClr>
              <a:buFont typeface="Times New Roman"/>
              <a:buChar char="•"/>
              <a:tabLst>
                <a:tab pos="427355" algn="l"/>
                <a:tab pos="427990" algn="l"/>
              </a:tabLst>
            </a:pP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DML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triggers execute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when  data is </a:t>
            </a:r>
            <a:r>
              <a:rPr sz="1400" dirty="0">
                <a:solidFill>
                  <a:srgbClr val="1D1B11"/>
                </a:solidFill>
                <a:latin typeface="Calisto MT"/>
                <a:cs typeface="Calisto MT"/>
              </a:rPr>
              <a:t>inserted,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modified,  or deleted in a table or a 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view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using the </a:t>
            </a:r>
            <a:r>
              <a:rPr sz="1400" spc="-35" dirty="0">
                <a:solidFill>
                  <a:srgbClr val="1D1B11"/>
                </a:solidFill>
                <a:latin typeface="Calisto MT"/>
                <a:cs typeface="Calisto MT"/>
              </a:rPr>
              <a:t>INSERT,  UPDATE,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or DELETE  statements.</a:t>
            </a:r>
            <a:endParaRPr sz="1400">
              <a:latin typeface="Calisto MT"/>
              <a:cs typeface="Calisto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179826" y="1748840"/>
            <a:ext cx="2743200" cy="524510"/>
            <a:chOff x="3179826" y="1748840"/>
            <a:chExt cx="2743200" cy="52451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9826" y="1748840"/>
              <a:ext cx="2743200" cy="50833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4280" y="1770913"/>
              <a:ext cx="1572768" cy="5021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25927" y="1772030"/>
              <a:ext cx="2657855" cy="42291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225927" y="1772030"/>
              <a:ext cx="2658110" cy="422909"/>
            </a:xfrm>
            <a:custGeom>
              <a:avLst/>
              <a:gdLst/>
              <a:ahLst/>
              <a:cxnLst/>
              <a:rect l="l" t="t" r="r" b="b"/>
              <a:pathLst>
                <a:path w="2658110" h="422910">
                  <a:moveTo>
                    <a:pt x="0" y="422910"/>
                  </a:moveTo>
                  <a:lnTo>
                    <a:pt x="2657855" y="422910"/>
                  </a:lnTo>
                  <a:lnTo>
                    <a:pt x="2657855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ln w="9906">
              <a:solidFill>
                <a:srgbClr val="2C82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25926" y="1772030"/>
            <a:ext cx="2658110" cy="422909"/>
          </a:xfrm>
          <a:prstGeom prst="rect">
            <a:avLst/>
          </a:prstGeom>
          <a:ln w="9905">
            <a:solidFill>
              <a:srgbClr val="2C8255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701675">
              <a:lnSpc>
                <a:spcPct val="100000"/>
              </a:lnSpc>
              <a:spcBef>
                <a:spcPts val="545"/>
              </a:spcBef>
            </a:pPr>
            <a:r>
              <a:rPr sz="1600" b="1" spc="-5" dirty="0">
                <a:solidFill>
                  <a:srgbClr val="FFFFFF"/>
                </a:solidFill>
                <a:latin typeface="Calisto MT"/>
                <a:cs typeface="Calisto MT"/>
              </a:rPr>
              <a:t>DDL</a:t>
            </a:r>
            <a:r>
              <a:rPr sz="1600" b="1" spc="-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5" dirty="0">
                <a:solidFill>
                  <a:srgbClr val="FFFFFF"/>
                </a:solidFill>
                <a:latin typeface="Calisto MT"/>
                <a:cs typeface="Calisto MT"/>
              </a:rPr>
              <a:t>Triggers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20973" y="2189988"/>
            <a:ext cx="2668270" cy="3089275"/>
            <a:chOff x="3220973" y="2189988"/>
            <a:chExt cx="2668270" cy="3089275"/>
          </a:xfrm>
        </p:grpSpPr>
        <p:sp>
          <p:nvSpPr>
            <p:cNvPr id="21" name="object 21"/>
            <p:cNvSpPr/>
            <p:nvPr/>
          </p:nvSpPr>
          <p:spPr>
            <a:xfrm>
              <a:off x="3225926" y="2194941"/>
              <a:ext cx="2658110" cy="3079750"/>
            </a:xfrm>
            <a:custGeom>
              <a:avLst/>
              <a:gdLst/>
              <a:ahLst/>
              <a:cxnLst/>
              <a:rect l="l" t="t" r="r" b="b"/>
              <a:pathLst>
                <a:path w="2658110" h="3079750">
                  <a:moveTo>
                    <a:pt x="2657855" y="0"/>
                  </a:moveTo>
                  <a:lnTo>
                    <a:pt x="0" y="0"/>
                  </a:lnTo>
                  <a:lnTo>
                    <a:pt x="0" y="3079242"/>
                  </a:lnTo>
                  <a:lnTo>
                    <a:pt x="2657855" y="3079242"/>
                  </a:lnTo>
                  <a:lnTo>
                    <a:pt x="2657855" y="0"/>
                  </a:lnTo>
                  <a:close/>
                </a:path>
              </a:pathLst>
            </a:custGeom>
            <a:solidFill>
              <a:srgbClr val="CCDD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25926" y="2194941"/>
              <a:ext cx="2658110" cy="3079750"/>
            </a:xfrm>
            <a:custGeom>
              <a:avLst/>
              <a:gdLst/>
              <a:ahLst/>
              <a:cxnLst/>
              <a:rect l="l" t="t" r="r" b="b"/>
              <a:pathLst>
                <a:path w="2658110" h="3079750">
                  <a:moveTo>
                    <a:pt x="0" y="3079242"/>
                  </a:moveTo>
                  <a:lnTo>
                    <a:pt x="2657855" y="3079242"/>
                  </a:lnTo>
                  <a:lnTo>
                    <a:pt x="2657855" y="0"/>
                  </a:lnTo>
                  <a:lnTo>
                    <a:pt x="0" y="0"/>
                  </a:lnTo>
                  <a:lnTo>
                    <a:pt x="0" y="3079242"/>
                  </a:lnTo>
                  <a:close/>
                </a:path>
              </a:pathLst>
            </a:custGeom>
            <a:ln w="9906">
              <a:solidFill>
                <a:srgbClr val="C6D9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225926" y="2239518"/>
            <a:ext cx="2658110" cy="100393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427990" marR="153670" indent="-342900">
              <a:lnSpc>
                <a:spcPct val="89600"/>
              </a:lnSpc>
              <a:spcBef>
                <a:spcPts val="270"/>
              </a:spcBef>
              <a:buClr>
                <a:srgbClr val="000000"/>
              </a:buClr>
              <a:buFont typeface="Times New Roman"/>
              <a:buChar char="•"/>
              <a:tabLst>
                <a:tab pos="427990" algn="l"/>
                <a:tab pos="428625" algn="l"/>
              </a:tabLst>
            </a:pP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DDL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triggers execute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when  a table or a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view is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created,  modified, or deleted using  the </a:t>
            </a:r>
            <a:r>
              <a:rPr sz="1400" spc="-20" dirty="0">
                <a:solidFill>
                  <a:srgbClr val="1D1B11"/>
                </a:solidFill>
                <a:latin typeface="Calisto MT"/>
                <a:cs typeface="Calisto MT"/>
              </a:rPr>
              <a:t>CREATE, ALTER,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or  </a:t>
            </a:r>
            <a:r>
              <a:rPr sz="1400" spc="-25" dirty="0">
                <a:solidFill>
                  <a:srgbClr val="1D1B11"/>
                </a:solidFill>
                <a:latin typeface="Calisto MT"/>
                <a:cs typeface="Calisto MT"/>
              </a:rPr>
              <a:t>DROP</a:t>
            </a:r>
            <a:r>
              <a:rPr sz="1400" spc="15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statements.</a:t>
            </a:r>
            <a:endParaRPr sz="1400">
              <a:latin typeface="Calisto MT"/>
              <a:cs typeface="Calisto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09538" y="1748840"/>
            <a:ext cx="2743200" cy="524510"/>
            <a:chOff x="6209538" y="1748840"/>
            <a:chExt cx="2743200" cy="52451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9538" y="1748840"/>
              <a:ext cx="2743200" cy="50833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40652" y="1770913"/>
              <a:ext cx="1679448" cy="5021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55639" y="1772030"/>
              <a:ext cx="2657856" cy="42291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255639" y="1772030"/>
              <a:ext cx="2658110" cy="422909"/>
            </a:xfrm>
            <a:custGeom>
              <a:avLst/>
              <a:gdLst/>
              <a:ahLst/>
              <a:cxnLst/>
              <a:rect l="l" t="t" r="r" b="b"/>
              <a:pathLst>
                <a:path w="2658109" h="422910">
                  <a:moveTo>
                    <a:pt x="0" y="422910"/>
                  </a:moveTo>
                  <a:lnTo>
                    <a:pt x="2657856" y="422910"/>
                  </a:lnTo>
                  <a:lnTo>
                    <a:pt x="2657856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ln w="9906">
              <a:solidFill>
                <a:srgbClr val="492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55639" y="1772030"/>
            <a:ext cx="2658110" cy="422909"/>
          </a:xfrm>
          <a:prstGeom prst="rect">
            <a:avLst/>
          </a:prstGeom>
          <a:ln w="9905">
            <a:solidFill>
              <a:srgbClr val="492A4F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648335">
              <a:lnSpc>
                <a:spcPct val="100000"/>
              </a:lnSpc>
              <a:spcBef>
                <a:spcPts val="545"/>
              </a:spcBef>
            </a:pPr>
            <a:r>
              <a:rPr sz="1600" b="1" spc="-5" dirty="0">
                <a:solidFill>
                  <a:srgbClr val="FFFFFF"/>
                </a:solidFill>
                <a:latin typeface="Calisto MT"/>
                <a:cs typeface="Calisto MT"/>
              </a:rPr>
              <a:t>Logon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5" dirty="0">
                <a:solidFill>
                  <a:srgbClr val="FFFFFF"/>
                </a:solidFill>
                <a:latin typeface="Calisto MT"/>
                <a:cs typeface="Calisto MT"/>
              </a:rPr>
              <a:t>Triggers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250685" y="2189988"/>
            <a:ext cx="2668270" cy="3089275"/>
            <a:chOff x="6250685" y="2189988"/>
            <a:chExt cx="2668270" cy="3089275"/>
          </a:xfrm>
        </p:grpSpPr>
        <p:sp>
          <p:nvSpPr>
            <p:cNvPr id="31" name="object 31"/>
            <p:cNvSpPr/>
            <p:nvPr/>
          </p:nvSpPr>
          <p:spPr>
            <a:xfrm>
              <a:off x="6255638" y="2194941"/>
              <a:ext cx="2658110" cy="3079750"/>
            </a:xfrm>
            <a:custGeom>
              <a:avLst/>
              <a:gdLst/>
              <a:ahLst/>
              <a:cxnLst/>
              <a:rect l="l" t="t" r="r" b="b"/>
              <a:pathLst>
                <a:path w="2658109" h="3079750">
                  <a:moveTo>
                    <a:pt x="2657856" y="0"/>
                  </a:moveTo>
                  <a:lnTo>
                    <a:pt x="0" y="0"/>
                  </a:lnTo>
                  <a:lnTo>
                    <a:pt x="0" y="3079242"/>
                  </a:lnTo>
                  <a:lnTo>
                    <a:pt x="2657856" y="3079242"/>
                  </a:lnTo>
                  <a:lnTo>
                    <a:pt x="2657856" y="0"/>
                  </a:lnTo>
                  <a:close/>
                </a:path>
              </a:pathLst>
            </a:custGeom>
            <a:solidFill>
              <a:srgbClr val="D0CDD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55638" y="2194941"/>
              <a:ext cx="2658110" cy="3079750"/>
            </a:xfrm>
            <a:custGeom>
              <a:avLst/>
              <a:gdLst/>
              <a:ahLst/>
              <a:cxnLst/>
              <a:rect l="l" t="t" r="r" b="b"/>
              <a:pathLst>
                <a:path w="2658109" h="3079750">
                  <a:moveTo>
                    <a:pt x="0" y="3079242"/>
                  </a:moveTo>
                  <a:lnTo>
                    <a:pt x="2657856" y="3079242"/>
                  </a:lnTo>
                  <a:lnTo>
                    <a:pt x="2657856" y="0"/>
                  </a:lnTo>
                  <a:lnTo>
                    <a:pt x="0" y="0"/>
                  </a:lnTo>
                  <a:lnTo>
                    <a:pt x="0" y="3079242"/>
                  </a:lnTo>
                  <a:close/>
                </a:path>
              </a:pathLst>
            </a:custGeom>
            <a:ln w="9906">
              <a:solidFill>
                <a:srgbClr val="CAC7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341109" y="2239518"/>
            <a:ext cx="2468245" cy="234823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42265" marR="5080" indent="-342900">
              <a:lnSpc>
                <a:spcPct val="89900"/>
              </a:lnSpc>
              <a:spcBef>
                <a:spcPts val="265"/>
              </a:spcBef>
              <a:buClr>
                <a:srgbClr val="000000"/>
              </a:buClr>
              <a:buFont typeface="Times New Roman"/>
              <a:buChar char="•"/>
              <a:tabLst>
                <a:tab pos="342265" algn="l"/>
                <a:tab pos="342900" algn="l"/>
              </a:tabLst>
            </a:pP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Logon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triggers execute 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stored procedures when a  session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is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established with a 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LOGON </a:t>
            </a:r>
            <a:r>
              <a:rPr sz="1400" spc="-15" dirty="0">
                <a:solidFill>
                  <a:srgbClr val="1D1B11"/>
                </a:solidFill>
                <a:latin typeface="Calisto MT"/>
                <a:cs typeface="Calisto MT"/>
              </a:rPr>
              <a:t>event.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These 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triggers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are </a:t>
            </a:r>
            <a:r>
              <a:rPr sz="1400" spc="-15" dirty="0">
                <a:solidFill>
                  <a:srgbClr val="1D1B11"/>
                </a:solidFill>
                <a:latin typeface="Calisto MT"/>
                <a:cs typeface="Calisto MT"/>
              </a:rPr>
              <a:t>invoked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after  the login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authentication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is 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complete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and before the  actual session is established.  Logon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triggers control 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server sessions by restricting  </a:t>
            </a:r>
            <a:r>
              <a:rPr sz="1400" spc="-20" dirty="0">
                <a:solidFill>
                  <a:srgbClr val="1D1B11"/>
                </a:solidFill>
                <a:latin typeface="Calisto MT"/>
                <a:cs typeface="Calisto MT"/>
              </a:rPr>
              <a:t>invalid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logins or limiting  the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number </a:t>
            </a:r>
            <a:r>
              <a:rPr sz="1400" spc="-5" dirty="0">
                <a:solidFill>
                  <a:srgbClr val="1D1B11"/>
                </a:solidFill>
                <a:latin typeface="Calisto MT"/>
                <a:cs typeface="Calisto MT"/>
              </a:rPr>
              <a:t>of</a:t>
            </a:r>
            <a:r>
              <a:rPr sz="1400" spc="180" dirty="0">
                <a:solidFill>
                  <a:srgbClr val="1D1B11"/>
                </a:solidFill>
                <a:latin typeface="Calisto MT"/>
                <a:cs typeface="Calisto MT"/>
              </a:rPr>
              <a:t> </a:t>
            </a:r>
            <a:r>
              <a:rPr sz="1400" spc="-10" dirty="0">
                <a:solidFill>
                  <a:srgbClr val="1D1B11"/>
                </a:solidFill>
                <a:latin typeface="Calisto MT"/>
                <a:cs typeface="Calisto MT"/>
              </a:rPr>
              <a:t>sessions.</a:t>
            </a:r>
            <a:endParaRPr sz="1400">
              <a:latin typeface="Calisto MT"/>
              <a:cs typeface="Calisto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5</a:t>
            </a:fld>
            <a:endParaRPr sz="1200"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881" y="0"/>
            <a:ext cx="41014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Use</a:t>
            </a:r>
            <a:r>
              <a:rPr spc="-740" dirty="0"/>
              <a:t> </a:t>
            </a:r>
            <a:r>
              <a:rPr spc="114" dirty="0"/>
              <a:t>of </a:t>
            </a:r>
            <a:r>
              <a:rPr spc="90" dirty="0"/>
              <a:t>Triggers </a:t>
            </a:r>
            <a:r>
              <a:rPr spc="-114" dirty="0"/>
              <a:t>3-4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9475" y="926591"/>
            <a:ext cx="3848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latin typeface="Arial"/>
                <a:cs typeface="Arial"/>
              </a:rPr>
              <a:t>Define </a:t>
            </a:r>
            <a:r>
              <a:rPr sz="2400" b="1" spc="-185" dirty="0">
                <a:latin typeface="Arial"/>
                <a:cs typeface="Arial"/>
              </a:rPr>
              <a:t>custom </a:t>
            </a:r>
            <a:r>
              <a:rPr sz="2400" b="1" spc="-110" dirty="0">
                <a:latin typeface="Arial"/>
                <a:cs typeface="Arial"/>
              </a:rPr>
              <a:t>error</a:t>
            </a:r>
            <a:r>
              <a:rPr sz="2400" b="1" spc="-409" dirty="0">
                <a:latin typeface="Arial"/>
                <a:cs typeface="Arial"/>
              </a:rPr>
              <a:t> </a:t>
            </a:r>
            <a:r>
              <a:rPr sz="2400" b="1" spc="-305" dirty="0">
                <a:latin typeface="Arial"/>
                <a:cs typeface="Arial"/>
              </a:rPr>
              <a:t>messages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0990" y="1545335"/>
            <a:ext cx="8403590" cy="1951989"/>
          </a:xfrm>
          <a:custGeom>
            <a:avLst/>
            <a:gdLst/>
            <a:ahLst/>
            <a:cxnLst/>
            <a:rect l="l" t="t" r="r" b="b"/>
            <a:pathLst>
              <a:path w="8403590" h="1951989">
                <a:moveTo>
                  <a:pt x="8403336" y="325247"/>
                </a:moveTo>
                <a:lnTo>
                  <a:pt x="8399805" y="277202"/>
                </a:lnTo>
                <a:lnTo>
                  <a:pt x="8389556" y="231330"/>
                </a:lnTo>
                <a:lnTo>
                  <a:pt x="8373097" y="188163"/>
                </a:lnTo>
                <a:lnTo>
                  <a:pt x="8350923" y="148170"/>
                </a:lnTo>
                <a:lnTo>
                  <a:pt x="8323529" y="111887"/>
                </a:lnTo>
                <a:lnTo>
                  <a:pt x="8291449" y="79806"/>
                </a:lnTo>
                <a:lnTo>
                  <a:pt x="8255165" y="52412"/>
                </a:lnTo>
                <a:lnTo>
                  <a:pt x="8215173" y="30238"/>
                </a:lnTo>
                <a:lnTo>
                  <a:pt x="8172005" y="13779"/>
                </a:lnTo>
                <a:lnTo>
                  <a:pt x="8126133" y="3530"/>
                </a:lnTo>
                <a:lnTo>
                  <a:pt x="8078089" y="0"/>
                </a:lnTo>
                <a:lnTo>
                  <a:pt x="325247" y="0"/>
                </a:lnTo>
                <a:lnTo>
                  <a:pt x="277177" y="3530"/>
                </a:lnTo>
                <a:lnTo>
                  <a:pt x="231305" y="13779"/>
                </a:lnTo>
                <a:lnTo>
                  <a:pt x="188125" y="30238"/>
                </a:lnTo>
                <a:lnTo>
                  <a:pt x="148145" y="52412"/>
                </a:lnTo>
                <a:lnTo>
                  <a:pt x="111848" y="79806"/>
                </a:lnTo>
                <a:lnTo>
                  <a:pt x="79768" y="111887"/>
                </a:lnTo>
                <a:lnTo>
                  <a:pt x="52387" y="148170"/>
                </a:lnTo>
                <a:lnTo>
                  <a:pt x="30226" y="188163"/>
                </a:lnTo>
                <a:lnTo>
                  <a:pt x="13766" y="231330"/>
                </a:lnTo>
                <a:lnTo>
                  <a:pt x="3517" y="277202"/>
                </a:lnTo>
                <a:lnTo>
                  <a:pt x="0" y="325247"/>
                </a:lnTo>
                <a:lnTo>
                  <a:pt x="0" y="1626235"/>
                </a:lnTo>
                <a:lnTo>
                  <a:pt x="3517" y="1674291"/>
                </a:lnTo>
                <a:lnTo>
                  <a:pt x="13766" y="1720164"/>
                </a:lnTo>
                <a:lnTo>
                  <a:pt x="30226" y="1763331"/>
                </a:lnTo>
                <a:lnTo>
                  <a:pt x="52387" y="1803323"/>
                </a:lnTo>
                <a:lnTo>
                  <a:pt x="79768" y="1839607"/>
                </a:lnTo>
                <a:lnTo>
                  <a:pt x="111848" y="1871687"/>
                </a:lnTo>
                <a:lnTo>
                  <a:pt x="148145" y="1899081"/>
                </a:lnTo>
                <a:lnTo>
                  <a:pt x="188125" y="1921256"/>
                </a:lnTo>
                <a:lnTo>
                  <a:pt x="231305" y="1937715"/>
                </a:lnTo>
                <a:lnTo>
                  <a:pt x="277177" y="1947964"/>
                </a:lnTo>
                <a:lnTo>
                  <a:pt x="325247" y="1951482"/>
                </a:lnTo>
                <a:lnTo>
                  <a:pt x="8078089" y="1951482"/>
                </a:lnTo>
                <a:lnTo>
                  <a:pt x="8126133" y="1947964"/>
                </a:lnTo>
                <a:lnTo>
                  <a:pt x="8172005" y="1937715"/>
                </a:lnTo>
                <a:lnTo>
                  <a:pt x="8215173" y="1921256"/>
                </a:lnTo>
                <a:lnTo>
                  <a:pt x="8255165" y="1899081"/>
                </a:lnTo>
                <a:lnTo>
                  <a:pt x="8291449" y="1871687"/>
                </a:lnTo>
                <a:lnTo>
                  <a:pt x="8323529" y="1839607"/>
                </a:lnTo>
                <a:lnTo>
                  <a:pt x="8350923" y="1803323"/>
                </a:lnTo>
                <a:lnTo>
                  <a:pt x="8373097" y="1763331"/>
                </a:lnTo>
                <a:lnTo>
                  <a:pt x="8389556" y="1720164"/>
                </a:lnTo>
                <a:lnTo>
                  <a:pt x="8399805" y="1674291"/>
                </a:lnTo>
                <a:lnTo>
                  <a:pt x="8403336" y="1626235"/>
                </a:lnTo>
                <a:lnTo>
                  <a:pt x="8403336" y="325247"/>
                </a:lnTo>
                <a:close/>
              </a:path>
            </a:pathLst>
          </a:custGeom>
          <a:solidFill>
            <a:srgbClr val="5F49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8781" y="1930654"/>
            <a:ext cx="7666355" cy="11531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5080" indent="-342900">
              <a:lnSpc>
                <a:spcPts val="2160"/>
              </a:lnSpc>
              <a:spcBef>
                <a:spcPts val="370"/>
              </a:spcBef>
              <a:buFont typeface="Wingdings"/>
              <a:buChar char=""/>
              <a:tabLst>
                <a:tab pos="354965" algn="l"/>
                <a:tab pos="355600" algn="l"/>
                <a:tab pos="1071245" algn="l"/>
                <a:tab pos="1541780" algn="l"/>
                <a:tab pos="2760980" algn="l"/>
                <a:tab pos="3471545" algn="l"/>
                <a:tab pos="4472305" algn="l"/>
                <a:tab pos="4855845" algn="l"/>
                <a:tab pos="5875655" algn="l"/>
                <a:tab pos="7430134" algn="l"/>
              </a:tabLst>
            </a:pP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Used	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for	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ovi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ing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suit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ble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det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iled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ti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ns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in 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certain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spc="-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situations.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160"/>
              </a:lnSpc>
              <a:buFont typeface="Wingdings"/>
              <a:buChar char=""/>
              <a:tabLst>
                <a:tab pos="354965" algn="l"/>
                <a:tab pos="355600" algn="l"/>
                <a:tab pos="1397000" algn="l"/>
                <a:tab pos="1916430" algn="l"/>
                <a:tab pos="2309495" algn="l"/>
                <a:tab pos="2954655" algn="l"/>
                <a:tab pos="3317240" algn="l"/>
                <a:tab pos="4205605" algn="l"/>
                <a:tab pos="4851400" algn="l"/>
                <a:tab pos="6176645" algn="l"/>
                <a:tab pos="7109459" algn="l"/>
              </a:tabLst>
            </a:pP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Tri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gers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oke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ede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fined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cust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om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err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or  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messages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relevant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conditions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occur.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6</a:t>
            </a:fld>
            <a:endParaRPr sz="120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2722" y="3612388"/>
            <a:ext cx="36277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Arial"/>
                <a:cs typeface="Arial"/>
              </a:rPr>
              <a:t>Maintain </a:t>
            </a:r>
            <a:r>
              <a:rPr sz="2400" b="1" spc="-145" dirty="0">
                <a:latin typeface="Arial"/>
                <a:cs typeface="Arial"/>
              </a:rPr>
              <a:t>denormalized</a:t>
            </a:r>
            <a:r>
              <a:rPr sz="2400" b="1" spc="-450" dirty="0">
                <a:latin typeface="Arial"/>
                <a:cs typeface="Arial"/>
              </a:rPr>
              <a:t> </a:t>
            </a:r>
            <a:r>
              <a:rPr sz="2400" b="1" spc="-150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1583" y="4179570"/>
            <a:ext cx="8041640" cy="1701800"/>
          </a:xfrm>
          <a:prstGeom prst="rect">
            <a:avLst/>
          </a:prstGeom>
          <a:solidFill>
            <a:srgbClr val="001F5F"/>
          </a:solidFill>
        </p:spPr>
        <p:txBody>
          <a:bodyPr vert="horz" wrap="square" lIns="0" tIns="30480" rIns="0" bIns="0" rtlCol="0">
            <a:spAutoFit/>
          </a:bodyPr>
          <a:lstStyle/>
          <a:p>
            <a:pPr marL="419100" marR="67945" indent="-342900">
              <a:lnSpc>
                <a:spcPts val="2160"/>
              </a:lnSpc>
              <a:spcBef>
                <a:spcPts val="240"/>
              </a:spcBef>
              <a:buFont typeface="Wingdings"/>
              <a:buChar char=""/>
              <a:tabLst>
                <a:tab pos="419100" algn="l"/>
                <a:tab pos="419734" algn="l"/>
              </a:tabLst>
            </a:pP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Low-level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integrity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maintained 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denormalized</a:t>
            </a:r>
            <a:r>
              <a:rPr sz="2000" spc="-1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database  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environments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triggers.</a:t>
            </a:r>
            <a:endParaRPr sz="2000">
              <a:latin typeface="Times New Roman"/>
              <a:cs typeface="Times New Roman"/>
            </a:endParaRPr>
          </a:p>
          <a:p>
            <a:pPr marL="419100" indent="-343535">
              <a:lnSpc>
                <a:spcPts val="2130"/>
              </a:lnSpc>
              <a:buFont typeface="Wingdings"/>
              <a:buChar char=""/>
              <a:tabLst>
                <a:tab pos="419100" algn="l"/>
                <a:tab pos="419734" algn="l"/>
              </a:tabLst>
            </a:pP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generally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refers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redundant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derived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data.</a:t>
            </a:r>
            <a:endParaRPr sz="2000">
              <a:latin typeface="Times New Roman"/>
              <a:cs typeface="Times New Roman"/>
            </a:endParaRPr>
          </a:p>
          <a:p>
            <a:pPr marL="76200" marR="67310">
              <a:lnSpc>
                <a:spcPts val="1939"/>
              </a:lnSpc>
              <a:spcBef>
                <a:spcPts val="2005"/>
              </a:spcBef>
            </a:pP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For example, 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if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value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year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be checked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against 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complete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dates, 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perform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check.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090" y="21081"/>
            <a:ext cx="41522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Use</a:t>
            </a:r>
            <a:r>
              <a:rPr spc="-715" dirty="0"/>
              <a:t> </a:t>
            </a:r>
            <a:r>
              <a:rPr spc="114" dirty="0"/>
              <a:t>of </a:t>
            </a:r>
            <a:r>
              <a:rPr spc="90" dirty="0"/>
              <a:t>Triggers </a:t>
            </a:r>
            <a:r>
              <a:rPr spc="15" dirty="0"/>
              <a:t>4-4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" y="910844"/>
            <a:ext cx="5060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25" dirty="0">
                <a:latin typeface="Arial"/>
                <a:cs typeface="Arial"/>
              </a:rPr>
              <a:t>Compare </a:t>
            </a:r>
            <a:r>
              <a:rPr sz="2400" b="1" spc="-140" dirty="0">
                <a:latin typeface="Arial"/>
                <a:cs typeface="Arial"/>
              </a:rPr>
              <a:t>before </a:t>
            </a:r>
            <a:r>
              <a:rPr sz="2400" b="1" spc="-145" dirty="0">
                <a:latin typeface="Arial"/>
                <a:cs typeface="Arial"/>
              </a:rPr>
              <a:t>and </a:t>
            </a:r>
            <a:r>
              <a:rPr sz="2400" b="1" spc="-100" dirty="0">
                <a:latin typeface="Arial"/>
                <a:cs typeface="Arial"/>
              </a:rPr>
              <a:t>after </a:t>
            </a:r>
            <a:r>
              <a:rPr sz="2400" b="1" spc="-210" dirty="0">
                <a:latin typeface="Arial"/>
                <a:cs typeface="Arial"/>
              </a:rPr>
              <a:t>states </a:t>
            </a:r>
            <a:r>
              <a:rPr sz="2400" b="1" spc="-75" dirty="0">
                <a:latin typeface="Arial"/>
                <a:cs typeface="Arial"/>
              </a:rPr>
              <a:t>of</a:t>
            </a:r>
            <a:r>
              <a:rPr sz="2400" b="1" spc="-495" dirty="0">
                <a:latin typeface="Arial"/>
                <a:cs typeface="Arial"/>
              </a:rPr>
              <a:t> </a:t>
            </a:r>
            <a:r>
              <a:rPr sz="2400" b="1" spc="-150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316" y="1834133"/>
            <a:ext cx="3982974" cy="16116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7955" y="2042414"/>
            <a:ext cx="3395345" cy="105219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 indent="-635" algn="ctr">
              <a:lnSpc>
                <a:spcPct val="91400"/>
              </a:lnSpc>
              <a:spcBef>
                <a:spcPts val="285"/>
              </a:spcBef>
            </a:pPr>
            <a:r>
              <a:rPr sz="1800" spc="40" dirty="0">
                <a:latin typeface="Times New Roman"/>
                <a:cs typeface="Times New Roman"/>
              </a:rPr>
              <a:t>Triggers </a:t>
            </a:r>
            <a:r>
              <a:rPr sz="1800" spc="65" dirty="0">
                <a:latin typeface="Times New Roman"/>
                <a:cs typeface="Times New Roman"/>
              </a:rPr>
              <a:t>provide </a:t>
            </a:r>
            <a:r>
              <a:rPr sz="1800" spc="100" dirty="0">
                <a:latin typeface="Times New Roman"/>
                <a:cs typeface="Times New Roman"/>
              </a:rPr>
              <a:t>the </a:t>
            </a:r>
            <a:r>
              <a:rPr sz="1800" spc="90" dirty="0">
                <a:latin typeface="Times New Roman"/>
                <a:cs typeface="Times New Roman"/>
              </a:rPr>
              <a:t>option </a:t>
            </a:r>
            <a:r>
              <a:rPr sz="1800" spc="100" dirty="0">
                <a:latin typeface="Times New Roman"/>
                <a:cs typeface="Times New Roman"/>
              </a:rPr>
              <a:t>to  </a:t>
            </a:r>
            <a:r>
              <a:rPr sz="1800" spc="55" dirty="0">
                <a:latin typeface="Times New Roman"/>
                <a:cs typeface="Times New Roman"/>
              </a:rPr>
              <a:t>reference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changes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100" dirty="0">
                <a:latin typeface="Times New Roman"/>
                <a:cs typeface="Times New Roman"/>
              </a:rPr>
              <a:t>that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are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65" dirty="0">
                <a:latin typeface="Times New Roman"/>
                <a:cs typeface="Times New Roman"/>
              </a:rPr>
              <a:t>made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100" dirty="0">
                <a:latin typeface="Times New Roman"/>
                <a:cs typeface="Times New Roman"/>
              </a:rPr>
              <a:t>to  </a:t>
            </a:r>
            <a:r>
              <a:rPr sz="1800" spc="70" dirty="0">
                <a:latin typeface="Times New Roman"/>
                <a:cs typeface="Times New Roman"/>
              </a:rPr>
              <a:t>data </a:t>
            </a:r>
            <a:r>
              <a:rPr sz="1800" spc="40" dirty="0">
                <a:latin typeface="Times New Roman"/>
                <a:cs typeface="Times New Roman"/>
              </a:rPr>
              <a:t>by </a:t>
            </a:r>
            <a:r>
              <a:rPr sz="1800" spc="60" dirty="0">
                <a:latin typeface="Times New Roman"/>
                <a:cs typeface="Times New Roman"/>
              </a:rPr>
              <a:t>INSERT, </a:t>
            </a:r>
            <a:r>
              <a:rPr sz="1800" spc="85" dirty="0">
                <a:latin typeface="Times New Roman"/>
                <a:cs typeface="Times New Roman"/>
              </a:rPr>
              <a:t>UPDATE, </a:t>
            </a:r>
            <a:r>
              <a:rPr sz="1800" spc="100" dirty="0">
                <a:latin typeface="Times New Roman"/>
                <a:cs typeface="Times New Roman"/>
              </a:rPr>
              <a:t>and  </a:t>
            </a:r>
            <a:r>
              <a:rPr sz="1800" spc="40" dirty="0">
                <a:latin typeface="Times New Roman"/>
                <a:cs typeface="Times New Roman"/>
              </a:rPr>
              <a:t>DELETE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65" dirty="0">
                <a:latin typeface="Times New Roman"/>
                <a:cs typeface="Times New Roman"/>
              </a:rPr>
              <a:t>statements.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3795" y="3371837"/>
            <a:ext cx="3922014" cy="9227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56632" y="1834133"/>
            <a:ext cx="4059173" cy="161163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223764" y="2165858"/>
            <a:ext cx="3680460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065" marR="5080" indent="-1905" algn="ctr">
              <a:lnSpc>
                <a:spcPts val="1939"/>
              </a:lnSpc>
              <a:spcBef>
                <a:spcPts val="345"/>
              </a:spcBef>
            </a:pPr>
            <a:r>
              <a:rPr sz="1800" spc="85" dirty="0">
                <a:latin typeface="Times New Roman"/>
                <a:cs typeface="Times New Roman"/>
              </a:rPr>
              <a:t>This </a:t>
            </a:r>
            <a:r>
              <a:rPr sz="1800" spc="25" dirty="0">
                <a:latin typeface="Times New Roman"/>
                <a:cs typeface="Times New Roman"/>
              </a:rPr>
              <a:t>allows </a:t>
            </a:r>
            <a:r>
              <a:rPr sz="1800" spc="50" dirty="0">
                <a:latin typeface="Times New Roman"/>
                <a:cs typeface="Times New Roman"/>
              </a:rPr>
              <a:t>users </a:t>
            </a:r>
            <a:r>
              <a:rPr sz="1800" spc="100" dirty="0">
                <a:latin typeface="Times New Roman"/>
                <a:cs typeface="Times New Roman"/>
              </a:rPr>
              <a:t>to </a:t>
            </a:r>
            <a:r>
              <a:rPr sz="1800" spc="55" dirty="0">
                <a:latin typeface="Times New Roman"/>
                <a:cs typeface="Times New Roman"/>
              </a:rPr>
              <a:t>reference </a:t>
            </a:r>
            <a:r>
              <a:rPr sz="1800" spc="100" dirty="0">
                <a:latin typeface="Times New Roman"/>
                <a:cs typeface="Times New Roman"/>
              </a:rPr>
              <a:t>the  </a:t>
            </a:r>
            <a:r>
              <a:rPr sz="1800" spc="50" dirty="0">
                <a:latin typeface="Times New Roman"/>
                <a:cs typeface="Times New Roman"/>
              </a:rPr>
              <a:t>affected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Times New Roman"/>
                <a:cs typeface="Times New Roman"/>
              </a:rPr>
              <a:t>rows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100" dirty="0">
                <a:latin typeface="Times New Roman"/>
                <a:cs typeface="Times New Roman"/>
              </a:rPr>
              <a:t>when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modifications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45" dirty="0">
                <a:latin typeface="Times New Roman"/>
                <a:cs typeface="Times New Roman"/>
              </a:rPr>
              <a:t>are  </a:t>
            </a:r>
            <a:r>
              <a:rPr sz="1800" spc="50" dirty="0">
                <a:latin typeface="Times New Roman"/>
                <a:cs typeface="Times New Roman"/>
              </a:rPr>
              <a:t>carried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110" dirty="0">
                <a:latin typeface="Times New Roman"/>
                <a:cs typeface="Times New Roman"/>
              </a:rPr>
              <a:t>out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100" dirty="0">
                <a:latin typeface="Times New Roman"/>
                <a:cs typeface="Times New Roman"/>
              </a:rPr>
              <a:t>through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Times New Roman"/>
                <a:cs typeface="Times New Roman"/>
              </a:rPr>
              <a:t>triggers.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01590" y="3371837"/>
            <a:ext cx="3922014" cy="922794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7</a:t>
            </a:fld>
            <a:endParaRPr sz="120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7366"/>
            <a:ext cx="38385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Types </a:t>
            </a:r>
            <a:r>
              <a:rPr spc="114" dirty="0"/>
              <a:t>of</a:t>
            </a:r>
            <a:r>
              <a:rPr spc="-495" dirty="0"/>
              <a:t> </a:t>
            </a:r>
            <a:r>
              <a:rPr spc="90" dirty="0"/>
              <a:t>Triggers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8555" y="982980"/>
            <a:ext cx="7867015" cy="969644"/>
          </a:xfrm>
          <a:prstGeom prst="rect">
            <a:avLst/>
          </a:prstGeom>
          <a:solidFill>
            <a:srgbClr val="9BBA58"/>
          </a:solidFill>
        </p:spPr>
        <p:txBody>
          <a:bodyPr vert="horz" wrap="square" lIns="0" tIns="109220" rIns="0" bIns="0" rtlCol="0">
            <a:spAutoFit/>
          </a:bodyPr>
          <a:lstStyle/>
          <a:p>
            <a:pPr marL="76200" marR="67310">
              <a:lnSpc>
                <a:spcPts val="2590"/>
              </a:lnSpc>
              <a:spcBef>
                <a:spcPts val="860"/>
              </a:spcBef>
            </a:pPr>
            <a:r>
              <a:rPr sz="2400" spc="55" dirty="0">
                <a:latin typeface="Times New Roman"/>
                <a:cs typeface="Times New Roman"/>
              </a:rPr>
              <a:t>Triggers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65" dirty="0">
                <a:latin typeface="Times New Roman"/>
                <a:cs typeface="Times New Roman"/>
              </a:rPr>
              <a:t>automatically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executed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Times New Roman"/>
                <a:cs typeface="Times New Roman"/>
              </a:rPr>
              <a:t>when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language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event  </a:t>
            </a:r>
            <a:r>
              <a:rPr sz="2400" spc="70" dirty="0">
                <a:latin typeface="Times New Roman"/>
                <a:cs typeface="Times New Roman"/>
              </a:rPr>
              <a:t>occurs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114" dirty="0">
                <a:latin typeface="Times New Roman"/>
                <a:cs typeface="Times New Roman"/>
              </a:rPr>
              <a:t>in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a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table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or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a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view.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5883" y="2109977"/>
            <a:ext cx="7866380" cy="970280"/>
          </a:xfrm>
          <a:prstGeom prst="rect">
            <a:avLst/>
          </a:prstGeom>
          <a:solidFill>
            <a:srgbClr val="F79546"/>
          </a:solidFill>
        </p:spPr>
        <p:txBody>
          <a:bodyPr vert="horz" wrap="square" lIns="0" tIns="23304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835"/>
              </a:spcBef>
            </a:pPr>
            <a:r>
              <a:rPr sz="2400" spc="55" dirty="0">
                <a:latin typeface="Times New Roman"/>
                <a:cs typeface="Times New Roman"/>
              </a:rPr>
              <a:t>Language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events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Times New Roman"/>
                <a:cs typeface="Times New Roman"/>
              </a:rPr>
              <a:t>can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be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classified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as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DML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Times New Roman"/>
                <a:cs typeface="Times New Roman"/>
              </a:rPr>
              <a:t>and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100" dirty="0">
                <a:latin typeface="Times New Roman"/>
                <a:cs typeface="Times New Roman"/>
              </a:rPr>
              <a:t>DDL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events.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9976" y="4207001"/>
            <a:ext cx="8004175" cy="1628139"/>
          </a:xfrm>
          <a:custGeom>
            <a:avLst/>
            <a:gdLst/>
            <a:ahLst/>
            <a:cxnLst/>
            <a:rect l="l" t="t" r="r" b="b"/>
            <a:pathLst>
              <a:path w="8004175" h="1628139">
                <a:moveTo>
                  <a:pt x="8004048" y="271272"/>
                </a:moveTo>
                <a:lnTo>
                  <a:pt x="7999666" y="222504"/>
                </a:lnTo>
                <a:lnTo>
                  <a:pt x="7987081" y="176606"/>
                </a:lnTo>
                <a:lnTo>
                  <a:pt x="7967015" y="134340"/>
                </a:lnTo>
                <a:lnTo>
                  <a:pt x="7940256" y="96481"/>
                </a:lnTo>
                <a:lnTo>
                  <a:pt x="7907566" y="63792"/>
                </a:lnTo>
                <a:lnTo>
                  <a:pt x="7869707" y="37033"/>
                </a:lnTo>
                <a:lnTo>
                  <a:pt x="7827442" y="16967"/>
                </a:lnTo>
                <a:lnTo>
                  <a:pt x="7781544" y="4381"/>
                </a:lnTo>
                <a:lnTo>
                  <a:pt x="7732776" y="0"/>
                </a:lnTo>
                <a:lnTo>
                  <a:pt x="271272" y="0"/>
                </a:lnTo>
                <a:lnTo>
                  <a:pt x="222504" y="4381"/>
                </a:lnTo>
                <a:lnTo>
                  <a:pt x="176606" y="16967"/>
                </a:lnTo>
                <a:lnTo>
                  <a:pt x="134353" y="37033"/>
                </a:lnTo>
                <a:lnTo>
                  <a:pt x="96481" y="63792"/>
                </a:lnTo>
                <a:lnTo>
                  <a:pt x="63792" y="96481"/>
                </a:lnTo>
                <a:lnTo>
                  <a:pt x="37033" y="134340"/>
                </a:lnTo>
                <a:lnTo>
                  <a:pt x="16967" y="176606"/>
                </a:lnTo>
                <a:lnTo>
                  <a:pt x="4368" y="222504"/>
                </a:lnTo>
                <a:lnTo>
                  <a:pt x="0" y="271272"/>
                </a:lnTo>
                <a:lnTo>
                  <a:pt x="0" y="1356360"/>
                </a:lnTo>
                <a:lnTo>
                  <a:pt x="4368" y="1405128"/>
                </a:lnTo>
                <a:lnTo>
                  <a:pt x="16967" y="1451025"/>
                </a:lnTo>
                <a:lnTo>
                  <a:pt x="37033" y="1493278"/>
                </a:lnTo>
                <a:lnTo>
                  <a:pt x="63792" y="1531150"/>
                </a:lnTo>
                <a:lnTo>
                  <a:pt x="96481" y="1563839"/>
                </a:lnTo>
                <a:lnTo>
                  <a:pt x="134353" y="1590598"/>
                </a:lnTo>
                <a:lnTo>
                  <a:pt x="137160" y="1591932"/>
                </a:lnTo>
                <a:lnTo>
                  <a:pt x="137160" y="1627632"/>
                </a:lnTo>
                <a:lnTo>
                  <a:pt x="271272" y="1627632"/>
                </a:lnTo>
                <a:lnTo>
                  <a:pt x="7732776" y="1627632"/>
                </a:lnTo>
                <a:lnTo>
                  <a:pt x="8004048" y="1627632"/>
                </a:lnTo>
                <a:lnTo>
                  <a:pt x="8004048" y="1356360"/>
                </a:lnTo>
                <a:lnTo>
                  <a:pt x="8004048" y="422148"/>
                </a:lnTo>
                <a:lnTo>
                  <a:pt x="8004048" y="271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70636" y="4500879"/>
            <a:ext cx="7740650" cy="1050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 algn="just">
              <a:lnSpc>
                <a:spcPts val="2590"/>
              </a:lnSpc>
              <a:spcBef>
                <a:spcPts val="42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55" dirty="0">
                <a:solidFill>
                  <a:srgbClr val="FFFFFF"/>
                </a:solidFill>
                <a:latin typeface="Times New Roman"/>
                <a:cs typeface="Times New Roman"/>
              </a:rPr>
              <a:t>Triggers 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associated </a:t>
            </a:r>
            <a:r>
              <a:rPr sz="2400" spc="110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DML 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events </a:t>
            </a:r>
            <a:r>
              <a:rPr sz="2400" spc="6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400" spc="140" dirty="0">
                <a:solidFill>
                  <a:srgbClr val="FFFFFF"/>
                </a:solidFill>
                <a:latin typeface="Times New Roman"/>
                <a:cs typeface="Times New Roman"/>
              </a:rPr>
              <a:t>known 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as  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DML 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triggers, 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whereas 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triggers 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associated </a:t>
            </a:r>
            <a:r>
              <a:rPr sz="2400" spc="110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DDL  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events</a:t>
            </a:r>
            <a:r>
              <a:rPr sz="2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Times New Roman"/>
                <a:cs typeface="Times New Roman"/>
              </a:rPr>
              <a:t>known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DDL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triggers.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8</a:t>
            </a:fld>
            <a:endParaRPr sz="120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66039"/>
            <a:ext cx="51695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5" dirty="0"/>
              <a:t>Creating </a:t>
            </a:r>
            <a:r>
              <a:rPr spc="125" dirty="0"/>
              <a:t>DML</a:t>
            </a:r>
            <a:r>
              <a:rPr spc="-575" dirty="0"/>
              <a:t> </a:t>
            </a:r>
            <a:r>
              <a:rPr spc="90" dirty="0"/>
              <a:t>Triggers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961643"/>
            <a:ext cx="8594090" cy="2091055"/>
          </a:xfrm>
          <a:custGeom>
            <a:avLst/>
            <a:gdLst/>
            <a:ahLst/>
            <a:cxnLst/>
            <a:rect l="l" t="t" r="r" b="b"/>
            <a:pathLst>
              <a:path w="8594090" h="2091055">
                <a:moveTo>
                  <a:pt x="8593836" y="270510"/>
                </a:moveTo>
                <a:lnTo>
                  <a:pt x="8584362" y="270510"/>
                </a:lnTo>
                <a:lnTo>
                  <a:pt x="8581377" y="255866"/>
                </a:lnTo>
                <a:lnTo>
                  <a:pt x="8566429" y="212877"/>
                </a:lnTo>
                <a:lnTo>
                  <a:pt x="8546236" y="172631"/>
                </a:lnTo>
                <a:lnTo>
                  <a:pt x="8521205" y="135572"/>
                </a:lnTo>
                <a:lnTo>
                  <a:pt x="8491741" y="102095"/>
                </a:lnTo>
                <a:lnTo>
                  <a:pt x="8458263" y="72631"/>
                </a:lnTo>
                <a:lnTo>
                  <a:pt x="8421205" y="47599"/>
                </a:lnTo>
                <a:lnTo>
                  <a:pt x="8380958" y="27406"/>
                </a:lnTo>
                <a:lnTo>
                  <a:pt x="8337969" y="12458"/>
                </a:lnTo>
                <a:lnTo>
                  <a:pt x="8292617" y="3187"/>
                </a:lnTo>
                <a:lnTo>
                  <a:pt x="8245348" y="0"/>
                </a:lnTo>
                <a:lnTo>
                  <a:pt x="348488" y="0"/>
                </a:lnTo>
                <a:lnTo>
                  <a:pt x="301193" y="3187"/>
                </a:lnTo>
                <a:lnTo>
                  <a:pt x="255841" y="12458"/>
                </a:lnTo>
                <a:lnTo>
                  <a:pt x="212826" y="27406"/>
                </a:lnTo>
                <a:lnTo>
                  <a:pt x="172593" y="47599"/>
                </a:lnTo>
                <a:lnTo>
                  <a:pt x="135534" y="72631"/>
                </a:lnTo>
                <a:lnTo>
                  <a:pt x="102057" y="102095"/>
                </a:lnTo>
                <a:lnTo>
                  <a:pt x="72605" y="135572"/>
                </a:lnTo>
                <a:lnTo>
                  <a:pt x="47574" y="172631"/>
                </a:lnTo>
                <a:lnTo>
                  <a:pt x="27381" y="212877"/>
                </a:lnTo>
                <a:lnTo>
                  <a:pt x="12446" y="255866"/>
                </a:lnTo>
                <a:lnTo>
                  <a:pt x="3175" y="301218"/>
                </a:lnTo>
                <a:lnTo>
                  <a:pt x="0" y="348488"/>
                </a:lnTo>
                <a:lnTo>
                  <a:pt x="0" y="1742440"/>
                </a:lnTo>
                <a:lnTo>
                  <a:pt x="3175" y="1789722"/>
                </a:lnTo>
                <a:lnTo>
                  <a:pt x="12446" y="1835073"/>
                </a:lnTo>
                <a:lnTo>
                  <a:pt x="27381" y="1878063"/>
                </a:lnTo>
                <a:lnTo>
                  <a:pt x="47574" y="1918309"/>
                </a:lnTo>
                <a:lnTo>
                  <a:pt x="72605" y="1955368"/>
                </a:lnTo>
                <a:lnTo>
                  <a:pt x="102057" y="1988845"/>
                </a:lnTo>
                <a:lnTo>
                  <a:pt x="135534" y="2018309"/>
                </a:lnTo>
                <a:lnTo>
                  <a:pt x="172593" y="2043341"/>
                </a:lnTo>
                <a:lnTo>
                  <a:pt x="212826" y="2063534"/>
                </a:lnTo>
                <a:lnTo>
                  <a:pt x="255841" y="2078482"/>
                </a:lnTo>
                <a:lnTo>
                  <a:pt x="301193" y="2087753"/>
                </a:lnTo>
                <a:lnTo>
                  <a:pt x="348488" y="2090928"/>
                </a:lnTo>
                <a:lnTo>
                  <a:pt x="8245348" y="2090928"/>
                </a:lnTo>
                <a:lnTo>
                  <a:pt x="8292617" y="2087753"/>
                </a:lnTo>
                <a:lnTo>
                  <a:pt x="8337969" y="2078482"/>
                </a:lnTo>
                <a:lnTo>
                  <a:pt x="8380958" y="2063534"/>
                </a:lnTo>
                <a:lnTo>
                  <a:pt x="8421205" y="2043341"/>
                </a:lnTo>
                <a:lnTo>
                  <a:pt x="8458263" y="2018309"/>
                </a:lnTo>
                <a:lnTo>
                  <a:pt x="8491741" y="1988845"/>
                </a:lnTo>
                <a:lnTo>
                  <a:pt x="8521205" y="1955368"/>
                </a:lnTo>
                <a:lnTo>
                  <a:pt x="8546236" y="1918309"/>
                </a:lnTo>
                <a:lnTo>
                  <a:pt x="8566429" y="1878063"/>
                </a:lnTo>
                <a:lnTo>
                  <a:pt x="8581377" y="1835073"/>
                </a:lnTo>
                <a:lnTo>
                  <a:pt x="8584362" y="1820418"/>
                </a:lnTo>
                <a:lnTo>
                  <a:pt x="8593836" y="1820418"/>
                </a:lnTo>
                <a:lnTo>
                  <a:pt x="8593836" y="1742440"/>
                </a:lnTo>
                <a:lnTo>
                  <a:pt x="8593836" y="348488"/>
                </a:lnTo>
                <a:lnTo>
                  <a:pt x="8593836" y="270510"/>
                </a:lnTo>
                <a:close/>
              </a:path>
            </a:pathLst>
          </a:custGeom>
          <a:solidFill>
            <a:srgbClr val="2058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1312" y="1248664"/>
            <a:ext cx="8321675" cy="13792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715" indent="-343535">
              <a:lnSpc>
                <a:spcPts val="2590"/>
              </a:lnSpc>
              <a:spcBef>
                <a:spcPts val="425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DML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Times New Roman"/>
                <a:cs typeface="Times New Roman"/>
              </a:rPr>
              <a:t>executed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Times New Roman"/>
                <a:cs typeface="Times New Roman"/>
              </a:rPr>
              <a:t>either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6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completion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3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DML  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events</a:t>
            </a:r>
            <a:r>
              <a:rPr sz="2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place</a:t>
            </a:r>
            <a:r>
              <a:rPr sz="2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3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DML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imes New Roman"/>
                <a:cs typeface="Times New Roman"/>
              </a:rPr>
              <a:t>events.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ts val="2590"/>
              </a:lnSpc>
              <a:spcBef>
                <a:spcPts val="5"/>
              </a:spcBef>
              <a:buFont typeface="Wingdings"/>
              <a:buChar char=""/>
              <a:tabLst>
                <a:tab pos="356235" algn="l"/>
                <a:tab pos="1170940" algn="l"/>
                <a:tab pos="2285365" algn="l"/>
                <a:tab pos="3769995" algn="l"/>
                <a:tab pos="5019040" algn="l"/>
                <a:tab pos="5467350" algn="l"/>
                <a:tab pos="6861175" algn="l"/>
                <a:tab pos="8037195" algn="l"/>
              </a:tabLst>
            </a:pPr>
            <a:r>
              <a:rPr sz="2400" spc="114" dirty="0">
                <a:solidFill>
                  <a:srgbClr val="FFFFFF"/>
                </a:solidFill>
                <a:latin typeface="Times New Roman"/>
                <a:cs typeface="Times New Roman"/>
              </a:rPr>
              <a:t>They	</a:t>
            </a:r>
            <a:r>
              <a:rPr sz="2400" spc="95" dirty="0">
                <a:solidFill>
                  <a:srgbClr val="FFFFFF"/>
                </a:solidFill>
                <a:latin typeface="Times New Roman"/>
                <a:cs typeface="Times New Roman"/>
              </a:rPr>
              <a:t>enf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400" spc="55" dirty="0">
                <a:solidFill>
                  <a:srgbClr val="FFFFFF"/>
                </a:solidFill>
                <a:latin typeface="Times New Roman"/>
                <a:cs typeface="Times New Roman"/>
              </a:rPr>
              <a:t>rce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65" dirty="0">
                <a:solidFill>
                  <a:srgbClr val="FFFFFF"/>
                </a:solidFill>
                <a:latin typeface="Times New Roman"/>
                <a:cs typeface="Times New Roman"/>
              </a:rPr>
              <a:t>refe</a:t>
            </a:r>
            <a:r>
              <a:rPr sz="2400" spc="4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spc="125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400" spc="8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spc="20" dirty="0">
                <a:solidFill>
                  <a:srgbClr val="FFFFFF"/>
                </a:solidFill>
                <a:latin typeface="Times New Roman"/>
                <a:cs typeface="Times New Roman"/>
              </a:rPr>
              <a:t>al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ntegr</a:t>
            </a:r>
            <a:r>
              <a:rPr sz="2400" spc="6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ty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5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5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55" dirty="0">
                <a:solidFill>
                  <a:srgbClr val="FFFFFF"/>
                </a:solidFill>
                <a:latin typeface="Times New Roman"/>
                <a:cs typeface="Times New Roman"/>
              </a:rPr>
              <a:t>ascading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110" dirty="0">
                <a:solidFill>
                  <a:srgbClr val="FFFFFF"/>
                </a:solidFill>
                <a:latin typeface="Times New Roman"/>
                <a:cs typeface="Times New Roman"/>
              </a:rPr>
              <a:t>ch</a:t>
            </a:r>
            <a:r>
              <a:rPr sz="2400" spc="55" dirty="0">
                <a:solidFill>
                  <a:srgbClr val="FFFFFF"/>
                </a:solidFill>
                <a:latin typeface="Times New Roman"/>
                <a:cs typeface="Times New Roman"/>
              </a:rPr>
              <a:t>anges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spc="105" dirty="0">
                <a:solidFill>
                  <a:srgbClr val="FFFFFF"/>
                </a:solidFill>
                <a:latin typeface="Times New Roman"/>
                <a:cs typeface="Times New Roman"/>
              </a:rPr>
              <a:t>to  </a:t>
            </a:r>
            <a:r>
              <a:rPr sz="2400" spc="80" dirty="0">
                <a:solidFill>
                  <a:srgbClr val="FFFFFF"/>
                </a:solidFill>
                <a:latin typeface="Times New Roman"/>
                <a:cs typeface="Times New Roman"/>
              </a:rPr>
              <a:t>related</a:t>
            </a:r>
            <a:r>
              <a:rPr sz="24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imes New Roman"/>
                <a:cs typeface="Times New Roman"/>
              </a:rPr>
              <a:t>tables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35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Times New Roman"/>
                <a:cs typeface="Times New Roman"/>
              </a:rPr>
              <a:t>row</a:t>
            </a:r>
            <a:r>
              <a:rPr sz="24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Times New Roman"/>
                <a:cs typeface="Times New Roman"/>
              </a:rPr>
              <a:t>modified.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9270" y="3207257"/>
            <a:ext cx="5585459" cy="268909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9</a:t>
            </a:fld>
            <a:endParaRPr sz="12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04" y="21082"/>
            <a:ext cx="8642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75" dirty="0"/>
              <a:t>Introduction</a:t>
            </a:r>
            <a:r>
              <a:rPr sz="3600" spc="-140" dirty="0"/>
              <a:t> </a:t>
            </a:r>
            <a:r>
              <a:rPr sz="3600" spc="190" dirty="0"/>
              <a:t>to</a:t>
            </a:r>
            <a:r>
              <a:rPr sz="3600" spc="-135" dirty="0"/>
              <a:t> </a:t>
            </a:r>
            <a:r>
              <a:rPr sz="3600" spc="135" dirty="0"/>
              <a:t>Inserted</a:t>
            </a:r>
            <a:r>
              <a:rPr sz="3600" spc="-160" dirty="0"/>
              <a:t> </a:t>
            </a:r>
            <a:r>
              <a:rPr sz="3600" spc="204" dirty="0"/>
              <a:t>and</a:t>
            </a:r>
            <a:r>
              <a:rPr sz="3600" spc="-135" dirty="0"/>
              <a:t> </a:t>
            </a:r>
            <a:r>
              <a:rPr sz="3600" spc="135" dirty="0"/>
              <a:t>Deleted</a:t>
            </a:r>
            <a:r>
              <a:rPr sz="3600" spc="-155" dirty="0"/>
              <a:t> </a:t>
            </a:r>
            <a:r>
              <a:rPr sz="3600" spc="110" dirty="0"/>
              <a:t>Tables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00963" y="3243580"/>
            <a:ext cx="15805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5" dirty="0">
                <a:latin typeface="Arial"/>
                <a:cs typeface="Arial"/>
              </a:rPr>
              <a:t>Inserted</a:t>
            </a:r>
            <a:r>
              <a:rPr sz="2000" b="1" spc="-204" dirty="0">
                <a:latin typeface="Arial"/>
                <a:cs typeface="Arial"/>
              </a:rPr>
              <a:t> </a:t>
            </a:r>
            <a:r>
              <a:rPr sz="2000" b="1" spc="-75" dirty="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138" y="3748278"/>
            <a:ext cx="3962400" cy="2200910"/>
          </a:xfrm>
          <a:custGeom>
            <a:avLst/>
            <a:gdLst/>
            <a:ahLst/>
            <a:cxnLst/>
            <a:rect l="l" t="t" r="r" b="b"/>
            <a:pathLst>
              <a:path w="3962400" h="2200910">
                <a:moveTo>
                  <a:pt x="3595624" y="0"/>
                </a:moveTo>
                <a:lnTo>
                  <a:pt x="366776" y="0"/>
                </a:lnTo>
                <a:lnTo>
                  <a:pt x="320768" y="2857"/>
                </a:lnTo>
                <a:lnTo>
                  <a:pt x="276466" y="11201"/>
                </a:lnTo>
                <a:lnTo>
                  <a:pt x="234212" y="24688"/>
                </a:lnTo>
                <a:lnTo>
                  <a:pt x="194352" y="42973"/>
                </a:lnTo>
                <a:lnTo>
                  <a:pt x="157228" y="65713"/>
                </a:lnTo>
                <a:lnTo>
                  <a:pt x="123185" y="92565"/>
                </a:lnTo>
                <a:lnTo>
                  <a:pt x="92565" y="123185"/>
                </a:lnTo>
                <a:lnTo>
                  <a:pt x="65713" y="157228"/>
                </a:lnTo>
                <a:lnTo>
                  <a:pt x="42973" y="194352"/>
                </a:lnTo>
                <a:lnTo>
                  <a:pt x="24688" y="234212"/>
                </a:lnTo>
                <a:lnTo>
                  <a:pt x="11201" y="276466"/>
                </a:lnTo>
                <a:lnTo>
                  <a:pt x="2857" y="320768"/>
                </a:lnTo>
                <a:lnTo>
                  <a:pt x="0" y="366776"/>
                </a:lnTo>
                <a:lnTo>
                  <a:pt x="0" y="1833880"/>
                </a:lnTo>
                <a:lnTo>
                  <a:pt x="2857" y="1879887"/>
                </a:lnTo>
                <a:lnTo>
                  <a:pt x="11201" y="1924189"/>
                </a:lnTo>
                <a:lnTo>
                  <a:pt x="24688" y="1966443"/>
                </a:lnTo>
                <a:lnTo>
                  <a:pt x="42973" y="2006303"/>
                </a:lnTo>
                <a:lnTo>
                  <a:pt x="65713" y="2043427"/>
                </a:lnTo>
                <a:lnTo>
                  <a:pt x="92565" y="2077470"/>
                </a:lnTo>
                <a:lnTo>
                  <a:pt x="123185" y="2108090"/>
                </a:lnTo>
                <a:lnTo>
                  <a:pt x="157228" y="2134942"/>
                </a:lnTo>
                <a:lnTo>
                  <a:pt x="194352" y="2157682"/>
                </a:lnTo>
                <a:lnTo>
                  <a:pt x="234212" y="2175967"/>
                </a:lnTo>
                <a:lnTo>
                  <a:pt x="276466" y="2189454"/>
                </a:lnTo>
                <a:lnTo>
                  <a:pt x="320768" y="2197798"/>
                </a:lnTo>
                <a:lnTo>
                  <a:pt x="366776" y="2200656"/>
                </a:lnTo>
                <a:lnTo>
                  <a:pt x="3595624" y="2200656"/>
                </a:lnTo>
                <a:lnTo>
                  <a:pt x="3641631" y="2197798"/>
                </a:lnTo>
                <a:lnTo>
                  <a:pt x="3685933" y="2189454"/>
                </a:lnTo>
                <a:lnTo>
                  <a:pt x="3728187" y="2175967"/>
                </a:lnTo>
                <a:lnTo>
                  <a:pt x="3768047" y="2157682"/>
                </a:lnTo>
                <a:lnTo>
                  <a:pt x="3805171" y="2134942"/>
                </a:lnTo>
                <a:lnTo>
                  <a:pt x="3839214" y="2108090"/>
                </a:lnTo>
                <a:lnTo>
                  <a:pt x="3869834" y="2077470"/>
                </a:lnTo>
                <a:lnTo>
                  <a:pt x="3896686" y="2043427"/>
                </a:lnTo>
                <a:lnTo>
                  <a:pt x="3919426" y="2006303"/>
                </a:lnTo>
                <a:lnTo>
                  <a:pt x="3937711" y="1966443"/>
                </a:lnTo>
                <a:lnTo>
                  <a:pt x="3951198" y="1924189"/>
                </a:lnTo>
                <a:lnTo>
                  <a:pt x="3959542" y="1879887"/>
                </a:lnTo>
                <a:lnTo>
                  <a:pt x="3962400" y="1833880"/>
                </a:lnTo>
                <a:lnTo>
                  <a:pt x="3962400" y="366776"/>
                </a:lnTo>
                <a:lnTo>
                  <a:pt x="3959542" y="320768"/>
                </a:lnTo>
                <a:lnTo>
                  <a:pt x="3951198" y="276466"/>
                </a:lnTo>
                <a:lnTo>
                  <a:pt x="3937711" y="234212"/>
                </a:lnTo>
                <a:lnTo>
                  <a:pt x="3919426" y="194352"/>
                </a:lnTo>
                <a:lnTo>
                  <a:pt x="3896686" y="157228"/>
                </a:lnTo>
                <a:lnTo>
                  <a:pt x="3869834" y="123185"/>
                </a:lnTo>
                <a:lnTo>
                  <a:pt x="3839214" y="92565"/>
                </a:lnTo>
                <a:lnTo>
                  <a:pt x="3805171" y="65713"/>
                </a:lnTo>
                <a:lnTo>
                  <a:pt x="3768047" y="42973"/>
                </a:lnTo>
                <a:lnTo>
                  <a:pt x="3728187" y="24688"/>
                </a:lnTo>
                <a:lnTo>
                  <a:pt x="3685933" y="11201"/>
                </a:lnTo>
                <a:lnTo>
                  <a:pt x="3641631" y="2857"/>
                </a:lnTo>
                <a:lnTo>
                  <a:pt x="3595624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8066" y="3967733"/>
            <a:ext cx="359029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8450" algn="l"/>
              </a:tabLst>
            </a:pP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New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rows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added </a:t>
            </a:r>
            <a:r>
              <a:rPr sz="1800" spc="9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1800" spc="110" dirty="0">
                <a:solidFill>
                  <a:srgbClr val="FFFFFF"/>
                </a:solidFill>
                <a:latin typeface="Times New Roman"/>
                <a:cs typeface="Times New Roman"/>
              </a:rPr>
              <a:t>both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inserted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table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and the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 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endParaRPr sz="180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1800" spc="12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rows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inserted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are  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copies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new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rows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9841" y="3243580"/>
            <a:ext cx="15392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85" dirty="0">
                <a:latin typeface="Arial"/>
                <a:cs typeface="Arial"/>
              </a:rPr>
              <a:t>Deleted</a:t>
            </a:r>
            <a:r>
              <a:rPr sz="2000" b="1" spc="-220" dirty="0">
                <a:latin typeface="Arial"/>
                <a:cs typeface="Arial"/>
              </a:rPr>
              <a:t> </a:t>
            </a:r>
            <a:r>
              <a:rPr sz="2000" b="1" spc="-75" dirty="0">
                <a:latin typeface="Arial"/>
                <a:cs typeface="Arial"/>
              </a:rPr>
              <a:t>Table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79264" y="3748278"/>
            <a:ext cx="3962400" cy="2200910"/>
          </a:xfrm>
          <a:custGeom>
            <a:avLst/>
            <a:gdLst/>
            <a:ahLst/>
            <a:cxnLst/>
            <a:rect l="l" t="t" r="r" b="b"/>
            <a:pathLst>
              <a:path w="3962400" h="2200910">
                <a:moveTo>
                  <a:pt x="3595624" y="0"/>
                </a:moveTo>
                <a:lnTo>
                  <a:pt x="366776" y="0"/>
                </a:lnTo>
                <a:lnTo>
                  <a:pt x="320768" y="2857"/>
                </a:lnTo>
                <a:lnTo>
                  <a:pt x="276466" y="11201"/>
                </a:lnTo>
                <a:lnTo>
                  <a:pt x="234212" y="24688"/>
                </a:lnTo>
                <a:lnTo>
                  <a:pt x="194352" y="42973"/>
                </a:lnTo>
                <a:lnTo>
                  <a:pt x="157228" y="65713"/>
                </a:lnTo>
                <a:lnTo>
                  <a:pt x="123185" y="92565"/>
                </a:lnTo>
                <a:lnTo>
                  <a:pt x="92565" y="123185"/>
                </a:lnTo>
                <a:lnTo>
                  <a:pt x="65713" y="157228"/>
                </a:lnTo>
                <a:lnTo>
                  <a:pt x="42973" y="194352"/>
                </a:lnTo>
                <a:lnTo>
                  <a:pt x="24688" y="234212"/>
                </a:lnTo>
                <a:lnTo>
                  <a:pt x="11201" y="276466"/>
                </a:lnTo>
                <a:lnTo>
                  <a:pt x="2857" y="320768"/>
                </a:lnTo>
                <a:lnTo>
                  <a:pt x="0" y="366776"/>
                </a:lnTo>
                <a:lnTo>
                  <a:pt x="0" y="1833880"/>
                </a:lnTo>
                <a:lnTo>
                  <a:pt x="2857" y="1879887"/>
                </a:lnTo>
                <a:lnTo>
                  <a:pt x="11201" y="1924189"/>
                </a:lnTo>
                <a:lnTo>
                  <a:pt x="24688" y="1966443"/>
                </a:lnTo>
                <a:lnTo>
                  <a:pt x="42973" y="2006303"/>
                </a:lnTo>
                <a:lnTo>
                  <a:pt x="65713" y="2043427"/>
                </a:lnTo>
                <a:lnTo>
                  <a:pt x="92565" y="2077470"/>
                </a:lnTo>
                <a:lnTo>
                  <a:pt x="123185" y="2108090"/>
                </a:lnTo>
                <a:lnTo>
                  <a:pt x="157228" y="2134942"/>
                </a:lnTo>
                <a:lnTo>
                  <a:pt x="194352" y="2157682"/>
                </a:lnTo>
                <a:lnTo>
                  <a:pt x="234212" y="2175967"/>
                </a:lnTo>
                <a:lnTo>
                  <a:pt x="276466" y="2189454"/>
                </a:lnTo>
                <a:lnTo>
                  <a:pt x="320768" y="2197798"/>
                </a:lnTo>
                <a:lnTo>
                  <a:pt x="366776" y="2200656"/>
                </a:lnTo>
                <a:lnTo>
                  <a:pt x="3595624" y="2200656"/>
                </a:lnTo>
                <a:lnTo>
                  <a:pt x="3641631" y="2197798"/>
                </a:lnTo>
                <a:lnTo>
                  <a:pt x="3685933" y="2189454"/>
                </a:lnTo>
                <a:lnTo>
                  <a:pt x="3728187" y="2175967"/>
                </a:lnTo>
                <a:lnTo>
                  <a:pt x="3768047" y="2157682"/>
                </a:lnTo>
                <a:lnTo>
                  <a:pt x="3805171" y="2134942"/>
                </a:lnTo>
                <a:lnTo>
                  <a:pt x="3839214" y="2108090"/>
                </a:lnTo>
                <a:lnTo>
                  <a:pt x="3869834" y="2077470"/>
                </a:lnTo>
                <a:lnTo>
                  <a:pt x="3896686" y="2043427"/>
                </a:lnTo>
                <a:lnTo>
                  <a:pt x="3919426" y="2006303"/>
                </a:lnTo>
                <a:lnTo>
                  <a:pt x="3937711" y="1966443"/>
                </a:lnTo>
                <a:lnTo>
                  <a:pt x="3951198" y="1924189"/>
                </a:lnTo>
                <a:lnTo>
                  <a:pt x="3959542" y="1879887"/>
                </a:lnTo>
                <a:lnTo>
                  <a:pt x="3962400" y="1833880"/>
                </a:lnTo>
                <a:lnTo>
                  <a:pt x="3962400" y="366776"/>
                </a:lnTo>
                <a:lnTo>
                  <a:pt x="3959542" y="320768"/>
                </a:lnTo>
                <a:lnTo>
                  <a:pt x="3951198" y="276466"/>
                </a:lnTo>
                <a:lnTo>
                  <a:pt x="3937711" y="234212"/>
                </a:lnTo>
                <a:lnTo>
                  <a:pt x="3919426" y="194352"/>
                </a:lnTo>
                <a:lnTo>
                  <a:pt x="3896686" y="157228"/>
                </a:lnTo>
                <a:lnTo>
                  <a:pt x="3869834" y="123185"/>
                </a:lnTo>
                <a:lnTo>
                  <a:pt x="3839214" y="92565"/>
                </a:lnTo>
                <a:lnTo>
                  <a:pt x="3805171" y="65713"/>
                </a:lnTo>
                <a:lnTo>
                  <a:pt x="3768047" y="42973"/>
                </a:lnTo>
                <a:lnTo>
                  <a:pt x="3728187" y="24688"/>
                </a:lnTo>
                <a:lnTo>
                  <a:pt x="3685933" y="11201"/>
                </a:lnTo>
                <a:lnTo>
                  <a:pt x="3641631" y="2857"/>
                </a:lnTo>
                <a:lnTo>
                  <a:pt x="3595624" y="0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65700" y="4104894"/>
            <a:ext cx="35902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98450" algn="l"/>
              </a:tabLst>
            </a:pP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During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execution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DELETE 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or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UPDATE</a:t>
            </a:r>
            <a:r>
              <a:rPr sz="18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statement, 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rows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deleted from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 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table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transferred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to the 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deleted</a:t>
            </a:r>
            <a:r>
              <a:rPr sz="18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6602" y="1120013"/>
            <a:ext cx="4073525" cy="842644"/>
            <a:chOff x="506602" y="1120013"/>
            <a:chExt cx="4073525" cy="842644"/>
          </a:xfrm>
        </p:grpSpPr>
        <p:sp>
          <p:nvSpPr>
            <p:cNvPr id="10" name="object 10"/>
            <p:cNvSpPr/>
            <p:nvPr/>
          </p:nvSpPr>
          <p:spPr>
            <a:xfrm>
              <a:off x="511683" y="1125105"/>
              <a:ext cx="4063365" cy="832485"/>
            </a:xfrm>
            <a:custGeom>
              <a:avLst/>
              <a:gdLst/>
              <a:ahLst/>
              <a:cxnLst/>
              <a:rect l="l" t="t" r="r" b="b"/>
              <a:pathLst>
                <a:path w="4063365" h="832485">
                  <a:moveTo>
                    <a:pt x="4062984" y="0"/>
                  </a:moveTo>
                  <a:lnTo>
                    <a:pt x="0" y="0"/>
                  </a:lnTo>
                  <a:lnTo>
                    <a:pt x="0" y="753605"/>
                  </a:lnTo>
                  <a:lnTo>
                    <a:pt x="0" y="832091"/>
                  </a:lnTo>
                  <a:lnTo>
                    <a:pt x="4062984" y="832091"/>
                  </a:lnTo>
                  <a:lnTo>
                    <a:pt x="4062984" y="753605"/>
                  </a:lnTo>
                  <a:lnTo>
                    <a:pt x="4062984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1682" y="1125093"/>
              <a:ext cx="4063365" cy="832485"/>
            </a:xfrm>
            <a:custGeom>
              <a:avLst/>
              <a:gdLst/>
              <a:ahLst/>
              <a:cxnLst/>
              <a:rect l="l" t="t" r="r" b="b"/>
              <a:pathLst>
                <a:path w="4063365" h="832485">
                  <a:moveTo>
                    <a:pt x="0" y="832103"/>
                  </a:moveTo>
                  <a:lnTo>
                    <a:pt x="4062984" y="832103"/>
                  </a:lnTo>
                  <a:lnTo>
                    <a:pt x="4062984" y="0"/>
                  </a:lnTo>
                  <a:lnTo>
                    <a:pt x="0" y="0"/>
                  </a:lnTo>
                  <a:lnTo>
                    <a:pt x="0" y="832103"/>
                  </a:lnTo>
                  <a:close/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43583" y="1137411"/>
            <a:ext cx="3326129" cy="71882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41605" marR="350520" algn="just">
              <a:lnSpc>
                <a:spcPct val="92000"/>
              </a:lnSpc>
              <a:spcBef>
                <a:spcPts val="254"/>
              </a:spcBef>
            </a:pPr>
            <a:r>
              <a:rPr sz="1600" spc="80" dirty="0">
                <a:latin typeface="Times New Roman"/>
                <a:cs typeface="Times New Roman"/>
              </a:rPr>
              <a:t>SQL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60" dirty="0">
                <a:latin typeface="Times New Roman"/>
                <a:cs typeface="Times New Roman"/>
              </a:rPr>
              <a:t>statements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75" dirty="0">
                <a:latin typeface="Times New Roman"/>
                <a:cs typeface="Times New Roman"/>
              </a:rPr>
              <a:t>in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DML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30" dirty="0">
                <a:latin typeface="Times New Roman"/>
                <a:cs typeface="Times New Roman"/>
              </a:rPr>
              <a:t>triggers  </a:t>
            </a:r>
            <a:r>
              <a:rPr sz="1600" spc="55" dirty="0">
                <a:latin typeface="Times New Roman"/>
                <a:cs typeface="Times New Roman"/>
              </a:rPr>
              <a:t>use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70" dirty="0">
                <a:latin typeface="Times New Roman"/>
                <a:cs typeface="Times New Roman"/>
              </a:rPr>
              <a:t>two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special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types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of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Times New Roman"/>
                <a:cs typeface="Times New Roman"/>
              </a:rPr>
              <a:t>tables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85" dirty="0">
                <a:latin typeface="Times New Roman"/>
                <a:cs typeface="Times New Roman"/>
              </a:rPr>
              <a:t>to  </a:t>
            </a:r>
            <a:r>
              <a:rPr sz="1600" spc="45" dirty="0">
                <a:latin typeface="Times New Roman"/>
                <a:cs typeface="Times New Roman"/>
              </a:rPr>
              <a:t>modify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65" dirty="0">
                <a:latin typeface="Times New Roman"/>
                <a:cs typeface="Times New Roman"/>
              </a:rPr>
              <a:t>data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75" dirty="0">
                <a:latin typeface="Times New Roman"/>
                <a:cs typeface="Times New Roman"/>
              </a:rPr>
              <a:t>in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90" dirty="0">
                <a:latin typeface="Times New Roman"/>
                <a:cs typeface="Times New Roman"/>
              </a:rPr>
              <a:t>the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database.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9945" y="992124"/>
            <a:ext cx="913765" cy="899160"/>
            <a:chOff x="329945" y="992124"/>
            <a:chExt cx="913765" cy="899160"/>
          </a:xfrm>
        </p:grpSpPr>
        <p:sp>
          <p:nvSpPr>
            <p:cNvPr id="14" name="object 14"/>
            <p:cNvSpPr/>
            <p:nvPr/>
          </p:nvSpPr>
          <p:spPr>
            <a:xfrm>
              <a:off x="342518" y="1004697"/>
              <a:ext cx="889000" cy="874394"/>
            </a:xfrm>
            <a:custGeom>
              <a:avLst/>
              <a:gdLst/>
              <a:ahLst/>
              <a:cxnLst/>
              <a:rect l="l" t="t" r="r" b="b"/>
              <a:pathLst>
                <a:path w="889000" h="874394">
                  <a:moveTo>
                    <a:pt x="888491" y="0"/>
                  </a:moveTo>
                  <a:lnTo>
                    <a:pt x="0" y="0"/>
                  </a:lnTo>
                  <a:lnTo>
                    <a:pt x="0" y="874013"/>
                  </a:lnTo>
                  <a:lnTo>
                    <a:pt x="888491" y="874013"/>
                  </a:lnTo>
                  <a:lnTo>
                    <a:pt x="888491" y="0"/>
                  </a:lnTo>
                  <a:close/>
                </a:path>
              </a:pathLst>
            </a:custGeom>
            <a:solidFill>
              <a:srgbClr val="C2C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2518" y="1004697"/>
              <a:ext cx="889000" cy="874394"/>
            </a:xfrm>
            <a:custGeom>
              <a:avLst/>
              <a:gdLst/>
              <a:ahLst/>
              <a:cxnLst/>
              <a:rect l="l" t="t" r="r" b="b"/>
              <a:pathLst>
                <a:path w="889000" h="874394">
                  <a:moveTo>
                    <a:pt x="0" y="874013"/>
                  </a:moveTo>
                  <a:lnTo>
                    <a:pt x="888491" y="874013"/>
                  </a:lnTo>
                  <a:lnTo>
                    <a:pt x="888491" y="0"/>
                  </a:lnTo>
                  <a:lnTo>
                    <a:pt x="0" y="0"/>
                  </a:lnTo>
                  <a:lnTo>
                    <a:pt x="0" y="87401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933822" y="1120013"/>
            <a:ext cx="4074160" cy="842644"/>
            <a:chOff x="4933822" y="1120013"/>
            <a:chExt cx="4074160" cy="842644"/>
          </a:xfrm>
        </p:grpSpPr>
        <p:sp>
          <p:nvSpPr>
            <p:cNvPr id="17" name="object 17"/>
            <p:cNvSpPr/>
            <p:nvPr/>
          </p:nvSpPr>
          <p:spPr>
            <a:xfrm>
              <a:off x="4938903" y="1125105"/>
              <a:ext cx="4064000" cy="832485"/>
            </a:xfrm>
            <a:custGeom>
              <a:avLst/>
              <a:gdLst/>
              <a:ahLst/>
              <a:cxnLst/>
              <a:rect l="l" t="t" r="r" b="b"/>
              <a:pathLst>
                <a:path w="4064000" h="832485">
                  <a:moveTo>
                    <a:pt x="4063746" y="0"/>
                  </a:moveTo>
                  <a:lnTo>
                    <a:pt x="0" y="0"/>
                  </a:lnTo>
                  <a:lnTo>
                    <a:pt x="0" y="753605"/>
                  </a:lnTo>
                  <a:lnTo>
                    <a:pt x="0" y="832091"/>
                  </a:lnTo>
                  <a:lnTo>
                    <a:pt x="4063746" y="832091"/>
                  </a:lnTo>
                  <a:lnTo>
                    <a:pt x="4063746" y="753605"/>
                  </a:lnTo>
                  <a:lnTo>
                    <a:pt x="406374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38902" y="1125093"/>
              <a:ext cx="4064000" cy="832485"/>
            </a:xfrm>
            <a:custGeom>
              <a:avLst/>
              <a:gdLst/>
              <a:ahLst/>
              <a:cxnLst/>
              <a:rect l="l" t="t" r="r" b="b"/>
              <a:pathLst>
                <a:path w="4064000" h="832485">
                  <a:moveTo>
                    <a:pt x="0" y="832103"/>
                  </a:moveTo>
                  <a:lnTo>
                    <a:pt x="4063746" y="832103"/>
                  </a:lnTo>
                  <a:lnTo>
                    <a:pt x="4063746" y="0"/>
                  </a:lnTo>
                  <a:lnTo>
                    <a:pt x="0" y="0"/>
                  </a:lnTo>
                  <a:lnTo>
                    <a:pt x="0" y="832103"/>
                  </a:lnTo>
                  <a:close/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71565" y="1137411"/>
            <a:ext cx="3326129" cy="7086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41605" marR="81915">
              <a:lnSpc>
                <a:spcPts val="1730"/>
              </a:lnSpc>
              <a:spcBef>
                <a:spcPts val="315"/>
              </a:spcBef>
            </a:pPr>
            <a:r>
              <a:rPr sz="1600" spc="145" dirty="0">
                <a:latin typeface="Times New Roman"/>
                <a:cs typeface="Times New Roman"/>
              </a:rPr>
              <a:t>When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90" dirty="0">
                <a:latin typeface="Times New Roman"/>
                <a:cs typeface="Times New Roman"/>
              </a:rPr>
              <a:t>the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65" dirty="0">
                <a:latin typeface="Times New Roman"/>
                <a:cs typeface="Times New Roman"/>
              </a:rPr>
              <a:t>data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is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Times New Roman"/>
                <a:cs typeface="Times New Roman"/>
              </a:rPr>
              <a:t>inserted,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spc="70" dirty="0">
                <a:latin typeface="Times New Roman"/>
                <a:cs typeface="Times New Roman"/>
              </a:rPr>
              <a:t>updated,  or </a:t>
            </a:r>
            <a:r>
              <a:rPr sz="1600" spc="50" dirty="0">
                <a:latin typeface="Times New Roman"/>
                <a:cs typeface="Times New Roman"/>
              </a:rPr>
              <a:t>deleted, </a:t>
            </a:r>
            <a:r>
              <a:rPr sz="1600" spc="80" dirty="0">
                <a:latin typeface="Times New Roman"/>
                <a:cs typeface="Times New Roman"/>
              </a:rPr>
              <a:t>SQL </a:t>
            </a:r>
            <a:r>
              <a:rPr sz="1600" spc="50" dirty="0">
                <a:latin typeface="Times New Roman"/>
                <a:cs typeface="Times New Roman"/>
              </a:rPr>
              <a:t>Server </a:t>
            </a:r>
            <a:r>
              <a:rPr sz="1600" spc="40" dirty="0">
                <a:latin typeface="Times New Roman"/>
                <a:cs typeface="Times New Roman"/>
              </a:rPr>
              <a:t>creates </a:t>
            </a:r>
            <a:r>
              <a:rPr sz="1600" spc="90" dirty="0">
                <a:latin typeface="Times New Roman"/>
                <a:cs typeface="Times New Roman"/>
              </a:rPr>
              <a:t>and  </a:t>
            </a:r>
            <a:r>
              <a:rPr sz="1600" spc="40" dirty="0">
                <a:latin typeface="Times New Roman"/>
                <a:cs typeface="Times New Roman"/>
              </a:rPr>
              <a:t>manages </a:t>
            </a:r>
            <a:r>
              <a:rPr sz="1600" spc="60" dirty="0">
                <a:latin typeface="Times New Roman"/>
                <a:cs typeface="Times New Roman"/>
              </a:rPr>
              <a:t>these </a:t>
            </a:r>
            <a:r>
              <a:rPr sz="1600" spc="40" dirty="0">
                <a:latin typeface="Times New Roman"/>
                <a:cs typeface="Times New Roman"/>
              </a:rPr>
              <a:t>tables</a:t>
            </a:r>
            <a:r>
              <a:rPr sz="1600" spc="-290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Times New Roman"/>
                <a:cs typeface="Times New Roman"/>
              </a:rPr>
              <a:t>automatically.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57165" y="992124"/>
            <a:ext cx="914400" cy="899160"/>
            <a:chOff x="4757165" y="992124"/>
            <a:chExt cx="914400" cy="899160"/>
          </a:xfrm>
        </p:grpSpPr>
        <p:sp>
          <p:nvSpPr>
            <p:cNvPr id="21" name="object 21"/>
            <p:cNvSpPr/>
            <p:nvPr/>
          </p:nvSpPr>
          <p:spPr>
            <a:xfrm>
              <a:off x="4769738" y="1004697"/>
              <a:ext cx="889635" cy="874394"/>
            </a:xfrm>
            <a:custGeom>
              <a:avLst/>
              <a:gdLst/>
              <a:ahLst/>
              <a:cxnLst/>
              <a:rect l="l" t="t" r="r" b="b"/>
              <a:pathLst>
                <a:path w="889635" h="874394">
                  <a:moveTo>
                    <a:pt x="889253" y="0"/>
                  </a:moveTo>
                  <a:lnTo>
                    <a:pt x="0" y="0"/>
                  </a:lnTo>
                  <a:lnTo>
                    <a:pt x="0" y="874013"/>
                  </a:lnTo>
                  <a:lnTo>
                    <a:pt x="889253" y="874013"/>
                  </a:lnTo>
                  <a:lnTo>
                    <a:pt x="889253" y="0"/>
                  </a:lnTo>
                  <a:close/>
                </a:path>
              </a:pathLst>
            </a:custGeom>
            <a:solidFill>
              <a:srgbClr val="C2C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69738" y="1004697"/>
              <a:ext cx="889635" cy="874394"/>
            </a:xfrm>
            <a:custGeom>
              <a:avLst/>
              <a:gdLst/>
              <a:ahLst/>
              <a:cxnLst/>
              <a:rect l="l" t="t" r="r" b="b"/>
              <a:pathLst>
                <a:path w="889635" h="874394">
                  <a:moveTo>
                    <a:pt x="0" y="874013"/>
                  </a:moveTo>
                  <a:lnTo>
                    <a:pt x="889253" y="874013"/>
                  </a:lnTo>
                  <a:lnTo>
                    <a:pt x="889253" y="0"/>
                  </a:lnTo>
                  <a:lnTo>
                    <a:pt x="0" y="0"/>
                  </a:lnTo>
                  <a:lnTo>
                    <a:pt x="0" y="87401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720213" y="2167763"/>
            <a:ext cx="4073525" cy="842644"/>
            <a:chOff x="2720213" y="2167763"/>
            <a:chExt cx="4073525" cy="842644"/>
          </a:xfrm>
        </p:grpSpPr>
        <p:sp>
          <p:nvSpPr>
            <p:cNvPr id="24" name="object 24"/>
            <p:cNvSpPr/>
            <p:nvPr/>
          </p:nvSpPr>
          <p:spPr>
            <a:xfrm>
              <a:off x="2725293" y="2172855"/>
              <a:ext cx="4063365" cy="832485"/>
            </a:xfrm>
            <a:custGeom>
              <a:avLst/>
              <a:gdLst/>
              <a:ahLst/>
              <a:cxnLst/>
              <a:rect l="l" t="t" r="r" b="b"/>
              <a:pathLst>
                <a:path w="4063365" h="832485">
                  <a:moveTo>
                    <a:pt x="4062984" y="0"/>
                  </a:moveTo>
                  <a:lnTo>
                    <a:pt x="0" y="0"/>
                  </a:lnTo>
                  <a:lnTo>
                    <a:pt x="0" y="753605"/>
                  </a:lnTo>
                  <a:lnTo>
                    <a:pt x="0" y="832091"/>
                  </a:lnTo>
                  <a:lnTo>
                    <a:pt x="4062984" y="832091"/>
                  </a:lnTo>
                  <a:lnTo>
                    <a:pt x="4062984" y="753605"/>
                  </a:lnTo>
                  <a:lnTo>
                    <a:pt x="4062984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25293" y="2172843"/>
              <a:ext cx="4063365" cy="832485"/>
            </a:xfrm>
            <a:custGeom>
              <a:avLst/>
              <a:gdLst/>
              <a:ahLst/>
              <a:cxnLst/>
              <a:rect l="l" t="t" r="r" b="b"/>
              <a:pathLst>
                <a:path w="4063365" h="832485">
                  <a:moveTo>
                    <a:pt x="0" y="832103"/>
                  </a:moveTo>
                  <a:lnTo>
                    <a:pt x="4062983" y="832103"/>
                  </a:lnTo>
                  <a:lnTo>
                    <a:pt x="4062983" y="0"/>
                  </a:lnTo>
                  <a:lnTo>
                    <a:pt x="0" y="0"/>
                  </a:lnTo>
                  <a:lnTo>
                    <a:pt x="0" y="832103"/>
                  </a:lnTo>
                  <a:close/>
                </a:path>
              </a:pathLst>
            </a:custGeom>
            <a:ln w="9906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57194" y="2294636"/>
            <a:ext cx="3326129" cy="499109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42240" marR="44450">
              <a:lnSpc>
                <a:spcPts val="1810"/>
              </a:lnSpc>
              <a:spcBef>
                <a:spcPts val="250"/>
              </a:spcBef>
            </a:pPr>
            <a:r>
              <a:rPr sz="1600" spc="45" dirty="0">
                <a:latin typeface="Times New Roman"/>
                <a:cs typeface="Times New Roman"/>
              </a:rPr>
              <a:t>Tables </a:t>
            </a:r>
            <a:r>
              <a:rPr sz="1600" spc="50" dirty="0">
                <a:latin typeface="Times New Roman"/>
                <a:cs typeface="Times New Roman"/>
              </a:rPr>
              <a:t>temporarily </a:t>
            </a:r>
            <a:r>
              <a:rPr sz="1600" spc="55" dirty="0">
                <a:latin typeface="Times New Roman"/>
                <a:cs typeface="Times New Roman"/>
              </a:rPr>
              <a:t>store </a:t>
            </a:r>
            <a:r>
              <a:rPr sz="1600" spc="90" dirty="0">
                <a:latin typeface="Times New Roman"/>
                <a:cs typeface="Times New Roman"/>
              </a:rPr>
              <a:t>the  </a:t>
            </a:r>
            <a:r>
              <a:rPr sz="1600" spc="40" dirty="0">
                <a:latin typeface="Times New Roman"/>
                <a:cs typeface="Times New Roman"/>
              </a:rPr>
              <a:t>original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as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20" dirty="0">
                <a:latin typeface="Times New Roman"/>
                <a:cs typeface="Times New Roman"/>
              </a:rPr>
              <a:t>well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15" dirty="0">
                <a:latin typeface="Times New Roman"/>
                <a:cs typeface="Times New Roman"/>
              </a:rPr>
              <a:t>as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90" dirty="0">
                <a:latin typeface="Times New Roman"/>
                <a:cs typeface="Times New Roman"/>
              </a:rPr>
              <a:t>the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modified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data.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543555" y="2039873"/>
            <a:ext cx="913765" cy="899160"/>
            <a:chOff x="2543555" y="2039873"/>
            <a:chExt cx="913765" cy="899160"/>
          </a:xfrm>
        </p:grpSpPr>
        <p:sp>
          <p:nvSpPr>
            <p:cNvPr id="28" name="object 28"/>
            <p:cNvSpPr/>
            <p:nvPr/>
          </p:nvSpPr>
          <p:spPr>
            <a:xfrm>
              <a:off x="2556128" y="2052446"/>
              <a:ext cx="889000" cy="874394"/>
            </a:xfrm>
            <a:custGeom>
              <a:avLst/>
              <a:gdLst/>
              <a:ahLst/>
              <a:cxnLst/>
              <a:rect l="l" t="t" r="r" b="b"/>
              <a:pathLst>
                <a:path w="889000" h="874394">
                  <a:moveTo>
                    <a:pt x="888492" y="0"/>
                  </a:moveTo>
                  <a:lnTo>
                    <a:pt x="0" y="0"/>
                  </a:lnTo>
                  <a:lnTo>
                    <a:pt x="0" y="874013"/>
                  </a:lnTo>
                  <a:lnTo>
                    <a:pt x="888492" y="874013"/>
                  </a:lnTo>
                  <a:lnTo>
                    <a:pt x="888492" y="0"/>
                  </a:lnTo>
                  <a:close/>
                </a:path>
              </a:pathLst>
            </a:custGeom>
            <a:solidFill>
              <a:srgbClr val="C2C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56128" y="2052446"/>
              <a:ext cx="889000" cy="874394"/>
            </a:xfrm>
            <a:custGeom>
              <a:avLst/>
              <a:gdLst/>
              <a:ahLst/>
              <a:cxnLst/>
              <a:rect l="l" t="t" r="r" b="b"/>
              <a:pathLst>
                <a:path w="889000" h="874394">
                  <a:moveTo>
                    <a:pt x="0" y="874013"/>
                  </a:moveTo>
                  <a:lnTo>
                    <a:pt x="888492" y="874013"/>
                  </a:lnTo>
                  <a:lnTo>
                    <a:pt x="888492" y="0"/>
                  </a:lnTo>
                  <a:lnTo>
                    <a:pt x="0" y="0"/>
                  </a:lnTo>
                  <a:lnTo>
                    <a:pt x="0" y="874013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10</a:t>
            </a:fld>
            <a:endParaRPr sz="1200"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525" y="26416"/>
            <a:ext cx="321627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Insert</a:t>
            </a:r>
            <a:r>
              <a:rPr spc="-225" dirty="0"/>
              <a:t> </a:t>
            </a:r>
            <a:r>
              <a:rPr spc="90" dirty="0"/>
              <a:t>Triggers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6994" y="4490465"/>
            <a:ext cx="5247132" cy="164287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88079" y="6132067"/>
            <a:ext cx="14249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65" dirty="0">
                <a:latin typeface="Arial"/>
                <a:cs typeface="Arial"/>
              </a:rPr>
              <a:t>Insert Trigger</a:t>
            </a:r>
            <a:r>
              <a:rPr sz="1400" b="1" spc="-220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Test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15845" y="1285532"/>
            <a:ext cx="5060950" cy="753110"/>
            <a:chOff x="1815845" y="1285532"/>
            <a:chExt cx="5060950" cy="7531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5845" y="1285532"/>
              <a:ext cx="5060441" cy="7238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4331" y="1309077"/>
              <a:ext cx="4943856" cy="7292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6993" y="1303781"/>
              <a:ext cx="4985004" cy="64846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856994" y="1303782"/>
            <a:ext cx="4985385" cy="6489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699260" marR="193675" indent="-1499235">
              <a:lnSpc>
                <a:spcPts val="1789"/>
              </a:lnSpc>
              <a:spcBef>
                <a:spcPts val="509"/>
              </a:spcBef>
            </a:pPr>
            <a:r>
              <a:rPr sz="1600" spc="145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Times New Roman"/>
                <a:cs typeface="Times New Roman"/>
              </a:rPr>
              <a:t>INSERT</a:t>
            </a:r>
            <a:r>
              <a:rPr sz="16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Times New Roman"/>
                <a:cs typeface="Times New Roman"/>
              </a:rPr>
              <a:t>executed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record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is 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inserted </a:t>
            </a:r>
            <a:r>
              <a:rPr sz="1600" spc="7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2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1600" spc="40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78991" y="1901990"/>
            <a:ext cx="6631940" cy="745490"/>
            <a:chOff x="1078991" y="1901990"/>
            <a:chExt cx="6631940" cy="74549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991" y="1901990"/>
              <a:ext cx="6631685" cy="72386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8155" y="1925586"/>
              <a:ext cx="6336030" cy="7216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20139" y="1920240"/>
              <a:ext cx="6556248" cy="64846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20139" y="1952244"/>
            <a:ext cx="6556375" cy="6165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843405" marR="283845" indent="-1552575">
              <a:lnSpc>
                <a:spcPts val="1730"/>
              </a:lnSpc>
              <a:spcBef>
                <a:spcPts val="305"/>
              </a:spcBef>
            </a:pPr>
            <a:r>
              <a:rPr sz="1600" spc="65" dirty="0">
                <a:solidFill>
                  <a:srgbClr val="FFFFFF"/>
                </a:solidFill>
                <a:latin typeface="Times New Roman"/>
                <a:cs typeface="Times New Roman"/>
              </a:rPr>
              <a:t>INSERT</a:t>
            </a:r>
            <a:r>
              <a:rPr sz="16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ensures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45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Times New Roman"/>
                <a:cs typeface="Times New Roman"/>
              </a:rPr>
              <a:t>being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Times New Roman"/>
                <a:cs typeface="Times New Roman"/>
              </a:rPr>
              <a:t>entered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conforms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8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constraints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Times New Roman"/>
                <a:cs typeface="Times New Roman"/>
              </a:rPr>
              <a:t>defined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11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43761" y="2535212"/>
            <a:ext cx="6431280" cy="745490"/>
            <a:chOff x="1143761" y="2535212"/>
            <a:chExt cx="6431280" cy="745490"/>
          </a:xfrm>
        </p:grpSpPr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3761" y="2535212"/>
              <a:ext cx="6404610" cy="72386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59763" y="2558808"/>
              <a:ext cx="6415278" cy="72160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84909" y="2553462"/>
              <a:ext cx="6329171" cy="64846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184910" y="2568701"/>
            <a:ext cx="6329680" cy="6337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26260" marR="130175" indent="-1689100">
              <a:lnSpc>
                <a:spcPts val="1730"/>
              </a:lnSpc>
              <a:spcBef>
                <a:spcPts val="434"/>
              </a:spcBef>
            </a:pPr>
            <a:r>
              <a:rPr sz="1600" spc="145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55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50" dirty="0">
                <a:solidFill>
                  <a:srgbClr val="FFFFFF"/>
                </a:solidFill>
                <a:latin typeface="Times New Roman"/>
                <a:cs typeface="Times New Roman"/>
              </a:rPr>
              <a:t>inserts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record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imes New Roman"/>
                <a:cs typeface="Times New Roman"/>
              </a:rPr>
              <a:t>table,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5" dirty="0">
                <a:solidFill>
                  <a:srgbClr val="FFFFFF"/>
                </a:solidFill>
                <a:latin typeface="Times New Roman"/>
                <a:cs typeface="Times New Roman"/>
              </a:rPr>
              <a:t>INSERT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30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20" dirty="0">
                <a:solidFill>
                  <a:srgbClr val="FFFFFF"/>
                </a:solidFill>
                <a:latin typeface="Times New Roman"/>
                <a:cs typeface="Times New Roman"/>
              </a:rPr>
              <a:t>saves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2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imes New Roman"/>
                <a:cs typeface="Times New Roman"/>
              </a:rPr>
              <a:t>copy  </a:t>
            </a:r>
            <a:r>
              <a:rPr sz="1600" spc="4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record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inserted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40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21080" y="3246920"/>
            <a:ext cx="6790690" cy="744855"/>
            <a:chOff x="1021080" y="3246920"/>
            <a:chExt cx="6790690" cy="74485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78992" y="3246920"/>
              <a:ext cx="6631685" cy="72386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1080" y="3269754"/>
              <a:ext cx="6790182" cy="72160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0140" y="3265169"/>
              <a:ext cx="6556248" cy="64846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120139" y="3265170"/>
            <a:ext cx="6556375" cy="64897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072639" marR="57150" indent="-2009139">
              <a:lnSpc>
                <a:spcPts val="1730"/>
              </a:lnSpc>
              <a:spcBef>
                <a:spcPts val="555"/>
              </a:spcBef>
            </a:pPr>
            <a:r>
              <a:rPr sz="1600" spc="45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16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45" dirty="0">
                <a:solidFill>
                  <a:srgbClr val="FFFFFF"/>
                </a:solidFill>
                <a:latin typeface="Times New Roman"/>
                <a:cs typeface="Times New Roman"/>
              </a:rPr>
              <a:t>checks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80" dirty="0">
                <a:solidFill>
                  <a:srgbClr val="FFFFFF"/>
                </a:solidFill>
                <a:latin typeface="Times New Roman"/>
                <a:cs typeface="Times New Roman"/>
              </a:rPr>
              <a:t>whether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Times New Roman"/>
                <a:cs typeface="Times New Roman"/>
              </a:rPr>
              <a:t>new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45" dirty="0">
                <a:solidFill>
                  <a:srgbClr val="FFFFFF"/>
                </a:solidFill>
                <a:latin typeface="Times New Roman"/>
                <a:cs typeface="Times New Roman"/>
              </a:rPr>
              <a:t>value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7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inserted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45" dirty="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conforms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8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1600" spc="35" dirty="0">
                <a:solidFill>
                  <a:srgbClr val="FFFFFF"/>
                </a:solidFill>
                <a:latin typeface="Times New Roman"/>
                <a:cs typeface="Times New Roman"/>
              </a:rPr>
              <a:t>specified</a:t>
            </a:r>
            <a:r>
              <a:rPr sz="16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60" dirty="0">
                <a:solidFill>
                  <a:srgbClr val="FFFFFF"/>
                </a:solidFill>
                <a:latin typeface="Times New Roman"/>
                <a:cs typeface="Times New Roman"/>
              </a:rPr>
              <a:t>constraints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7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16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80" dirty="0">
                <a:solidFill>
                  <a:srgbClr val="FFFFFF"/>
                </a:solidFill>
                <a:latin typeface="Times New Roman"/>
                <a:cs typeface="Times New Roman"/>
              </a:rPr>
              <a:t>not.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11</a:t>
            </a:fld>
            <a:endParaRPr sz="1200"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0"/>
            <a:ext cx="357759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Update</a:t>
            </a:r>
            <a:r>
              <a:rPr spc="-210" dirty="0"/>
              <a:t> </a:t>
            </a:r>
            <a:r>
              <a:rPr spc="90" dirty="0"/>
              <a:t>Triggers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7209" y="2268473"/>
            <a:ext cx="4259580" cy="2859405"/>
          </a:xfrm>
          <a:prstGeom prst="rect">
            <a:avLst/>
          </a:prstGeom>
          <a:solidFill>
            <a:srgbClr val="205868"/>
          </a:solidFill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4300">
              <a:latin typeface="Times New Roman"/>
              <a:cs typeface="Times New Roman"/>
            </a:endParaRPr>
          </a:p>
          <a:p>
            <a:pPr marL="419100" marR="67310" indent="-343535" algn="just">
              <a:lnSpc>
                <a:spcPct val="90000"/>
              </a:lnSpc>
              <a:buFont typeface="Wingdings"/>
              <a:buChar char=""/>
              <a:tabLst>
                <a:tab pos="419734" algn="l"/>
              </a:tabLst>
            </a:pPr>
            <a:r>
              <a:rPr sz="2200" spc="15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UPDATE </a:t>
            </a:r>
            <a:r>
              <a:rPr sz="2200" spc="45" dirty="0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sz="2200" spc="50" dirty="0">
                <a:solidFill>
                  <a:srgbClr val="FFFFFF"/>
                </a:solidFill>
                <a:latin typeface="Times New Roman"/>
                <a:cs typeface="Times New Roman"/>
              </a:rPr>
              <a:t>copies  </a:t>
            </a:r>
            <a:r>
              <a:rPr sz="2200" spc="1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spc="55" dirty="0">
                <a:solidFill>
                  <a:srgbClr val="FFFFFF"/>
                </a:solidFill>
                <a:latin typeface="Times New Roman"/>
                <a:cs typeface="Times New Roman"/>
              </a:rPr>
              <a:t>original </a:t>
            </a:r>
            <a:r>
              <a:rPr sz="2200" spc="80" dirty="0">
                <a:solidFill>
                  <a:srgbClr val="FFFFFF"/>
                </a:solidFill>
                <a:latin typeface="Times New Roman"/>
                <a:cs typeface="Times New Roman"/>
              </a:rPr>
              <a:t>record 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200" spc="125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2200" spc="80" dirty="0">
                <a:solidFill>
                  <a:srgbClr val="FFFFFF"/>
                </a:solidFill>
                <a:latin typeface="Times New Roman"/>
                <a:cs typeface="Times New Roman"/>
              </a:rPr>
              <a:t>Deleted </a:t>
            </a:r>
            <a:r>
              <a:rPr sz="2200" spc="65" dirty="0">
                <a:solidFill>
                  <a:srgbClr val="FFFFFF"/>
                </a:solidFill>
                <a:latin typeface="Times New Roman"/>
                <a:cs typeface="Times New Roman"/>
              </a:rPr>
              <a:t>table 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and the 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new  </a:t>
            </a:r>
            <a:r>
              <a:rPr sz="2200" spc="80" dirty="0">
                <a:solidFill>
                  <a:srgbClr val="FFFFFF"/>
                </a:solidFill>
                <a:latin typeface="Times New Roman"/>
                <a:cs typeface="Times New Roman"/>
              </a:rPr>
              <a:t>record </a:t>
            </a:r>
            <a:r>
              <a:rPr sz="2200" spc="110" dirty="0">
                <a:solidFill>
                  <a:srgbClr val="FFFFFF"/>
                </a:solidFill>
                <a:latin typeface="Times New Roman"/>
                <a:cs typeface="Times New Roman"/>
              </a:rPr>
              <a:t>into </a:t>
            </a:r>
            <a:r>
              <a:rPr sz="2200" spc="125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200" spc="80" dirty="0">
                <a:solidFill>
                  <a:srgbClr val="FFFFFF"/>
                </a:solidFill>
                <a:latin typeface="Times New Roman"/>
                <a:cs typeface="Times New Roman"/>
              </a:rPr>
              <a:t>Inserted </a:t>
            </a:r>
            <a:r>
              <a:rPr sz="2200" spc="60" dirty="0">
                <a:solidFill>
                  <a:srgbClr val="FFFFFF"/>
                </a:solidFill>
                <a:latin typeface="Times New Roman"/>
                <a:cs typeface="Times New Roman"/>
              </a:rPr>
              <a:t>table  </a:t>
            </a:r>
            <a:r>
              <a:rPr sz="2200" spc="125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80" dirty="0">
                <a:solidFill>
                  <a:srgbClr val="FFFFFF"/>
                </a:solidFill>
                <a:latin typeface="Times New Roman"/>
                <a:cs typeface="Times New Roman"/>
              </a:rPr>
              <a:t>record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updated.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4490" y="2180844"/>
            <a:ext cx="3558540" cy="29466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15278" y="5188458"/>
            <a:ext cx="155003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5" dirty="0">
                <a:latin typeface="Arial"/>
                <a:cs typeface="Arial"/>
              </a:rPr>
              <a:t>Update </a:t>
            </a:r>
            <a:r>
              <a:rPr sz="1400" b="1" spc="-65" dirty="0">
                <a:latin typeface="Arial"/>
                <a:cs typeface="Arial"/>
              </a:rPr>
              <a:t>Trigger</a:t>
            </a:r>
            <a:r>
              <a:rPr sz="1400" b="1" spc="-235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Test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12</a:t>
            </a:fld>
            <a:endParaRPr sz="12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133855"/>
            <a:ext cx="798131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145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45" dirty="0">
                <a:latin typeface="Times New Roman"/>
                <a:cs typeface="Times New Roman"/>
              </a:rPr>
              <a:t>DELETE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45" dirty="0">
                <a:latin typeface="Times New Roman"/>
                <a:cs typeface="Times New Roman"/>
              </a:rPr>
              <a:t>trigger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85" dirty="0">
                <a:latin typeface="Times New Roman"/>
                <a:cs typeface="Times New Roman"/>
              </a:rPr>
              <a:t>can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75" dirty="0">
                <a:latin typeface="Times New Roman"/>
                <a:cs typeface="Times New Roman"/>
              </a:rPr>
              <a:t>be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75" dirty="0">
                <a:latin typeface="Times New Roman"/>
                <a:cs typeface="Times New Roman"/>
              </a:rPr>
              <a:t>created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12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65" dirty="0">
                <a:latin typeface="Times New Roman"/>
                <a:cs typeface="Times New Roman"/>
              </a:rPr>
              <a:t>restrict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35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Times New Roman"/>
                <a:cs typeface="Times New Roman"/>
              </a:rPr>
              <a:t>user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Times New Roman"/>
                <a:cs typeface="Times New Roman"/>
              </a:rPr>
              <a:t>from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70" dirty="0">
                <a:latin typeface="Times New Roman"/>
                <a:cs typeface="Times New Roman"/>
              </a:rPr>
              <a:t>deleting  </a:t>
            </a:r>
            <a:r>
              <a:rPr sz="2200" spc="35" dirty="0">
                <a:latin typeface="Times New Roman"/>
                <a:cs typeface="Times New Roman"/>
              </a:rPr>
              <a:t>a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70" dirty="0">
                <a:latin typeface="Times New Roman"/>
                <a:cs typeface="Times New Roman"/>
              </a:rPr>
              <a:t>particular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Times New Roman"/>
                <a:cs typeface="Times New Roman"/>
              </a:rPr>
              <a:t>record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Times New Roman"/>
                <a:cs typeface="Times New Roman"/>
              </a:rPr>
              <a:t>in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35" dirty="0">
                <a:latin typeface="Times New Roman"/>
                <a:cs typeface="Times New Roman"/>
              </a:rPr>
              <a:t>a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55" dirty="0">
                <a:latin typeface="Times New Roman"/>
                <a:cs typeface="Times New Roman"/>
              </a:rPr>
              <a:t>table.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sz="2200" spc="50" dirty="0">
                <a:latin typeface="Times New Roman"/>
                <a:cs typeface="Times New Roman"/>
              </a:rPr>
              <a:t>Following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15" dirty="0">
                <a:latin typeface="Times New Roman"/>
                <a:cs typeface="Times New Roman"/>
              </a:rPr>
              <a:t>will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spc="120" dirty="0">
                <a:latin typeface="Times New Roman"/>
                <a:cs typeface="Times New Roman"/>
              </a:rPr>
              <a:t>happen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15" dirty="0">
                <a:latin typeface="Times New Roman"/>
                <a:cs typeface="Times New Roman"/>
              </a:rPr>
              <a:t>if</a:t>
            </a:r>
            <a:r>
              <a:rPr sz="2200" spc="-90" dirty="0">
                <a:latin typeface="Times New Roman"/>
                <a:cs typeface="Times New Roman"/>
              </a:rPr>
              <a:t> </a:t>
            </a:r>
            <a:r>
              <a:rPr sz="2200" spc="125" dirty="0">
                <a:latin typeface="Times New Roman"/>
                <a:cs typeface="Times New Roman"/>
              </a:rPr>
              <a:t>the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Times New Roman"/>
                <a:cs typeface="Times New Roman"/>
              </a:rPr>
              <a:t>user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60" dirty="0">
                <a:latin typeface="Times New Roman"/>
                <a:cs typeface="Times New Roman"/>
              </a:rPr>
              <a:t>tries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120" dirty="0">
                <a:latin typeface="Times New Roman"/>
                <a:cs typeface="Times New Roman"/>
              </a:rPr>
              <a:t>to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70" dirty="0">
                <a:latin typeface="Times New Roman"/>
                <a:cs typeface="Times New Roman"/>
              </a:rPr>
              <a:t>delete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125" dirty="0">
                <a:latin typeface="Times New Roman"/>
                <a:cs typeface="Times New Roman"/>
              </a:rPr>
              <a:t>the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65" dirty="0">
                <a:latin typeface="Times New Roman"/>
                <a:cs typeface="Times New Roman"/>
              </a:rPr>
              <a:t>record: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5493"/>
            <a:ext cx="33750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Delete</a:t>
            </a:r>
            <a:r>
              <a:rPr spc="-245" dirty="0"/>
              <a:t> </a:t>
            </a:r>
            <a:r>
              <a:rPr spc="90" dirty="0"/>
              <a:t>Triggers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44184" y="2974848"/>
            <a:ext cx="3099816" cy="194081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51319" y="4931917"/>
            <a:ext cx="14808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5" dirty="0">
                <a:latin typeface="Arial"/>
                <a:cs typeface="Arial"/>
              </a:rPr>
              <a:t>Delete </a:t>
            </a:r>
            <a:r>
              <a:rPr sz="1400" b="1" spc="-65" dirty="0">
                <a:latin typeface="Arial"/>
                <a:cs typeface="Arial"/>
              </a:rPr>
              <a:t>Trigger</a:t>
            </a:r>
            <a:r>
              <a:rPr sz="1400" b="1" spc="-240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Test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7847" y="2761488"/>
            <a:ext cx="5314315" cy="841375"/>
            <a:chOff x="307847" y="2761488"/>
            <a:chExt cx="5314315" cy="8413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847" y="2761488"/>
              <a:ext cx="5314188" cy="81533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3776" y="2791167"/>
              <a:ext cx="4990338" cy="8115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995" y="2779776"/>
              <a:ext cx="5238750" cy="73990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48995" y="2779776"/>
            <a:ext cx="5238750" cy="74041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10310" marR="316865" indent="-887094">
              <a:lnSpc>
                <a:spcPts val="2020"/>
              </a:lnSpc>
              <a:spcBef>
                <a:spcPts val="605"/>
              </a:spcBef>
            </a:pPr>
            <a:r>
              <a:rPr sz="1800" spc="12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record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deleted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and 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inserted</a:t>
            </a:r>
            <a:r>
              <a:rPr sz="18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Deleted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7847" y="3553205"/>
            <a:ext cx="5314315" cy="1049655"/>
            <a:chOff x="307847" y="3553205"/>
            <a:chExt cx="5314315" cy="104965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847" y="3646919"/>
              <a:ext cx="5314188" cy="81535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636" y="3553205"/>
              <a:ext cx="4942332" cy="10492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8995" y="3665219"/>
              <a:ext cx="5238750" cy="73990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82751" y="3582923"/>
            <a:ext cx="457009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065" marR="5080" algn="ctr">
              <a:lnSpc>
                <a:spcPts val="1939"/>
              </a:lnSpc>
              <a:spcBef>
                <a:spcPts val="345"/>
              </a:spcBef>
            </a:pP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constraint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2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record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prevent  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deletion,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DELETE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18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Times New Roman"/>
                <a:cs typeface="Times New Roman"/>
              </a:rPr>
              <a:t>displays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95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error  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message.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7847" y="4527791"/>
            <a:ext cx="5314315" cy="832485"/>
            <a:chOff x="307847" y="4527791"/>
            <a:chExt cx="5314315" cy="83248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7847" y="4527791"/>
              <a:ext cx="5314188" cy="8153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055" y="4557522"/>
              <a:ext cx="5084064" cy="80238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8995" y="4546092"/>
              <a:ext cx="5238750" cy="73990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48995" y="4546091"/>
            <a:ext cx="5238750" cy="74041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ts val="2050"/>
              </a:lnSpc>
              <a:spcBef>
                <a:spcPts val="420"/>
              </a:spcBef>
            </a:pPr>
            <a:r>
              <a:rPr sz="1800" spc="12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deleted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record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stored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Deleted</a:t>
            </a:r>
            <a:r>
              <a:rPr sz="18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ts val="2050"/>
              </a:lnSpc>
            </a:pP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copied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back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1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13</a:t>
            </a:fld>
            <a:endParaRPr sz="1200"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493"/>
            <a:ext cx="36715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AFTER</a:t>
            </a:r>
            <a:r>
              <a:rPr spc="-229" dirty="0"/>
              <a:t> </a:t>
            </a:r>
            <a:r>
              <a:rPr spc="90" dirty="0"/>
              <a:t>Triggers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8480" y="946150"/>
            <a:ext cx="8256905" cy="145097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5600" marR="5080" indent="-342900">
              <a:lnSpc>
                <a:spcPts val="2160"/>
              </a:lnSpc>
              <a:spcBef>
                <a:spcPts val="370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175" dirty="0">
                <a:latin typeface="Times New Roman"/>
                <a:cs typeface="Times New Roman"/>
              </a:rPr>
              <a:t>An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AFTER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trigger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is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executed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35" dirty="0">
                <a:latin typeface="Times New Roman"/>
                <a:cs typeface="Times New Roman"/>
              </a:rPr>
              <a:t>on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completion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INSERT,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UPDATE,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or  </a:t>
            </a:r>
            <a:r>
              <a:rPr sz="2000" spc="40" dirty="0">
                <a:latin typeface="Times New Roman"/>
                <a:cs typeface="Times New Roman"/>
              </a:rPr>
              <a:t>DELETE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operations.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ts val="2255"/>
              </a:lnSpc>
              <a:spcBef>
                <a:spcPts val="1885"/>
              </a:spcBef>
              <a:buFont typeface="Wingdings"/>
              <a:buChar char=""/>
              <a:tabLst>
                <a:tab pos="354965" algn="l"/>
                <a:tab pos="355600" algn="l"/>
              </a:tabLst>
            </a:pPr>
            <a:r>
              <a:rPr sz="2000" spc="180" dirty="0">
                <a:latin typeface="Times New Roman"/>
                <a:cs typeface="Times New Roman"/>
              </a:rPr>
              <a:t>An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AFTER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trigger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executed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when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114" dirty="0">
                <a:latin typeface="Times New Roman"/>
                <a:cs typeface="Times New Roman"/>
              </a:rPr>
              <a:t>the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constraint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check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in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114" dirty="0">
                <a:latin typeface="Times New Roman"/>
                <a:cs typeface="Times New Roman"/>
              </a:rPr>
              <a:t>the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table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ts val="2495"/>
              </a:lnSpc>
            </a:pPr>
            <a:r>
              <a:rPr sz="2000" spc="65" dirty="0">
                <a:latin typeface="Times New Roman"/>
                <a:cs typeface="Times New Roman"/>
              </a:rPr>
              <a:t>completed</a:t>
            </a:r>
            <a:r>
              <a:rPr sz="2200" spc="6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3307079"/>
            <a:ext cx="3701034" cy="26647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3859" y="3429000"/>
            <a:ext cx="4881372" cy="23583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70152" y="5970270"/>
            <a:ext cx="12820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Arial"/>
                <a:cs typeface="Arial"/>
              </a:rPr>
              <a:t>AFTER</a:t>
            </a:r>
            <a:r>
              <a:rPr sz="1400" b="1" spc="-175" dirty="0">
                <a:latin typeface="Arial"/>
                <a:cs typeface="Arial"/>
              </a:rPr>
              <a:t> </a:t>
            </a:r>
            <a:r>
              <a:rPr sz="1400" b="1" spc="-85" dirty="0">
                <a:latin typeface="Arial"/>
                <a:cs typeface="Arial"/>
              </a:rPr>
              <a:t>Triggers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14</a:t>
            </a:fld>
            <a:endParaRPr sz="120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72328" y="5831078"/>
            <a:ext cx="2190750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Arial"/>
                <a:cs typeface="Arial"/>
              </a:rPr>
              <a:t>After </a:t>
            </a:r>
            <a:r>
              <a:rPr sz="1400" b="1" spc="-65" dirty="0">
                <a:latin typeface="Arial"/>
                <a:cs typeface="Arial"/>
              </a:rPr>
              <a:t>Insert Trigger</a:t>
            </a:r>
            <a:r>
              <a:rPr sz="1400" b="1" spc="-315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Test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938" y="78485"/>
            <a:ext cx="46151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80" dirty="0"/>
              <a:t>INSTEAD </a:t>
            </a:r>
            <a:r>
              <a:rPr sz="3600" spc="229" dirty="0"/>
              <a:t>OF</a:t>
            </a:r>
            <a:r>
              <a:rPr sz="3600" spc="-500" dirty="0"/>
              <a:t> </a:t>
            </a:r>
            <a:r>
              <a:rPr sz="3600" spc="80" dirty="0"/>
              <a:t>Triggers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943" y="877824"/>
            <a:ext cx="8663940" cy="234772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697" y="963929"/>
            <a:ext cx="8538210" cy="20370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6350" indent="-342900">
              <a:lnSpc>
                <a:spcPts val="2590"/>
              </a:lnSpc>
              <a:spcBef>
                <a:spcPts val="42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215" dirty="0">
                <a:latin typeface="Times New Roman"/>
                <a:cs typeface="Times New Roman"/>
              </a:rPr>
              <a:t>An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20" dirty="0">
                <a:latin typeface="Times New Roman"/>
                <a:cs typeface="Times New Roman"/>
              </a:rPr>
              <a:t>INSTEAD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150" dirty="0">
                <a:latin typeface="Times New Roman"/>
                <a:cs typeface="Times New Roman"/>
              </a:rPr>
              <a:t>OF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trigger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is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executed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14" dirty="0">
                <a:latin typeface="Times New Roman"/>
                <a:cs typeface="Times New Roman"/>
              </a:rPr>
              <a:t>in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place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of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spc="135" dirty="0">
                <a:latin typeface="Times New Roman"/>
                <a:cs typeface="Times New Roman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INSERT,  </a:t>
            </a:r>
            <a:r>
              <a:rPr sz="2400" spc="114" dirty="0">
                <a:latin typeface="Times New Roman"/>
                <a:cs typeface="Times New Roman"/>
              </a:rPr>
              <a:t>UPDATE, </a:t>
            </a:r>
            <a:r>
              <a:rPr sz="2400" spc="105" dirty="0">
                <a:latin typeface="Times New Roman"/>
                <a:cs typeface="Times New Roman"/>
              </a:rPr>
              <a:t>or</a:t>
            </a:r>
            <a:r>
              <a:rPr sz="2400" spc="-44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DELETE </a:t>
            </a:r>
            <a:r>
              <a:rPr sz="2400" spc="85" dirty="0">
                <a:latin typeface="Times New Roman"/>
                <a:cs typeface="Times New Roman"/>
              </a:rPr>
              <a:t>operations.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114" dirty="0">
                <a:latin typeface="Times New Roman"/>
                <a:cs typeface="Times New Roman"/>
              </a:rPr>
              <a:t>They </a:t>
            </a:r>
            <a:r>
              <a:rPr sz="2400" spc="65" dirty="0">
                <a:latin typeface="Times New Roman"/>
                <a:cs typeface="Times New Roman"/>
              </a:rPr>
              <a:t>are </a:t>
            </a:r>
            <a:r>
              <a:rPr sz="2400" spc="95" dirty="0">
                <a:latin typeface="Times New Roman"/>
                <a:cs typeface="Times New Roman"/>
              </a:rPr>
              <a:t>executed </a:t>
            </a:r>
            <a:r>
              <a:rPr sz="2400" spc="75" dirty="0">
                <a:latin typeface="Times New Roman"/>
                <a:cs typeface="Times New Roman"/>
              </a:rPr>
              <a:t>before </a:t>
            </a:r>
            <a:r>
              <a:rPr sz="2400" spc="100" dirty="0">
                <a:latin typeface="Times New Roman"/>
                <a:cs typeface="Times New Roman"/>
              </a:rPr>
              <a:t>constraint </a:t>
            </a:r>
            <a:r>
              <a:rPr sz="2400" spc="70" dirty="0">
                <a:latin typeface="Times New Roman"/>
                <a:cs typeface="Times New Roman"/>
              </a:rPr>
              <a:t>checks </a:t>
            </a:r>
            <a:r>
              <a:rPr sz="2400" spc="65" dirty="0">
                <a:latin typeface="Times New Roman"/>
                <a:cs typeface="Times New Roman"/>
              </a:rPr>
              <a:t>are </a:t>
            </a:r>
            <a:r>
              <a:rPr sz="2400" spc="95" dirty="0">
                <a:latin typeface="Times New Roman"/>
                <a:cs typeface="Times New Roman"/>
              </a:rPr>
              <a:t>performed </a:t>
            </a:r>
            <a:r>
              <a:rPr sz="2400" spc="165" dirty="0">
                <a:latin typeface="Times New Roman"/>
                <a:cs typeface="Times New Roman"/>
              </a:rPr>
              <a:t>on  </a:t>
            </a:r>
            <a:r>
              <a:rPr sz="2400" spc="135" dirty="0">
                <a:latin typeface="Times New Roman"/>
                <a:cs typeface="Times New Roman"/>
              </a:rPr>
              <a:t>the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table.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59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105" dirty="0">
                <a:latin typeface="Times New Roman"/>
                <a:cs typeface="Times New Roman"/>
              </a:rPr>
              <a:t>These </a:t>
            </a:r>
            <a:r>
              <a:rPr sz="2400" spc="45" dirty="0">
                <a:latin typeface="Times New Roman"/>
                <a:cs typeface="Times New Roman"/>
              </a:rPr>
              <a:t>triggers </a:t>
            </a:r>
            <a:r>
              <a:rPr sz="2400" spc="65" dirty="0">
                <a:latin typeface="Times New Roman"/>
                <a:cs typeface="Times New Roman"/>
              </a:rPr>
              <a:t>are </a:t>
            </a:r>
            <a:r>
              <a:rPr sz="2400" spc="95" dirty="0">
                <a:latin typeface="Times New Roman"/>
                <a:cs typeface="Times New Roman"/>
              </a:rPr>
              <a:t>executed </a:t>
            </a:r>
            <a:r>
              <a:rPr sz="2400" spc="75" dirty="0">
                <a:latin typeface="Times New Roman"/>
                <a:cs typeface="Times New Roman"/>
              </a:rPr>
              <a:t>after </a:t>
            </a:r>
            <a:r>
              <a:rPr sz="2400" spc="135" dirty="0">
                <a:latin typeface="Times New Roman"/>
                <a:cs typeface="Times New Roman"/>
              </a:rPr>
              <a:t>the </a:t>
            </a:r>
            <a:r>
              <a:rPr sz="2400" spc="90" dirty="0">
                <a:latin typeface="Times New Roman"/>
                <a:cs typeface="Times New Roman"/>
              </a:rPr>
              <a:t>creation </a:t>
            </a:r>
            <a:r>
              <a:rPr sz="2400" spc="70" dirty="0">
                <a:latin typeface="Times New Roman"/>
                <a:cs typeface="Times New Roman"/>
              </a:rPr>
              <a:t>of </a:t>
            </a:r>
            <a:r>
              <a:rPr sz="2400" spc="135" dirty="0">
                <a:latin typeface="Times New Roman"/>
                <a:cs typeface="Times New Roman"/>
              </a:rPr>
              <a:t>the </a:t>
            </a:r>
            <a:r>
              <a:rPr sz="2400" spc="85" dirty="0">
                <a:latin typeface="Times New Roman"/>
                <a:cs typeface="Times New Roman"/>
              </a:rPr>
              <a:t>Inserted  </a:t>
            </a:r>
            <a:r>
              <a:rPr sz="2400" spc="135" dirty="0">
                <a:latin typeface="Times New Roman"/>
                <a:cs typeface="Times New Roman"/>
              </a:rPr>
              <a:t>and </a:t>
            </a:r>
            <a:r>
              <a:rPr sz="2400" spc="90" dirty="0">
                <a:latin typeface="Times New Roman"/>
                <a:cs typeface="Times New Roman"/>
              </a:rPr>
              <a:t>Deleted</a:t>
            </a:r>
            <a:r>
              <a:rPr sz="2400" spc="-330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tables.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5913" y="3429000"/>
            <a:ext cx="4009644" cy="261747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19800" y="6188709"/>
            <a:ext cx="173291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Instead </a:t>
            </a:r>
            <a:r>
              <a:rPr sz="1400" b="1" spc="-45" dirty="0">
                <a:latin typeface="Arial"/>
                <a:cs typeface="Arial"/>
              </a:rPr>
              <a:t>of </a:t>
            </a:r>
            <a:r>
              <a:rPr sz="1400" b="1" spc="-65" dirty="0">
                <a:latin typeface="Arial"/>
                <a:cs typeface="Arial"/>
              </a:rPr>
              <a:t>Trigger</a:t>
            </a:r>
            <a:r>
              <a:rPr sz="1400" b="1" spc="-280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Test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15</a:t>
            </a:fld>
            <a:endParaRPr sz="120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A7011D-A26E-4F8E-8A6D-329AAE460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9240" y="3422393"/>
            <a:ext cx="3633159" cy="271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9624"/>
            <a:ext cx="81508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Execution</a:t>
            </a:r>
            <a:r>
              <a:rPr spc="-185" dirty="0"/>
              <a:t> </a:t>
            </a:r>
            <a:r>
              <a:rPr spc="240" dirty="0"/>
              <a:t>Order</a:t>
            </a:r>
            <a:r>
              <a:rPr spc="-150" dirty="0"/>
              <a:t> </a:t>
            </a:r>
            <a:r>
              <a:rPr spc="114" dirty="0"/>
              <a:t>of</a:t>
            </a:r>
            <a:r>
              <a:rPr spc="-150" dirty="0"/>
              <a:t> </a:t>
            </a:r>
            <a:r>
              <a:rPr spc="114" dirty="0"/>
              <a:t>DML</a:t>
            </a:r>
            <a:r>
              <a:rPr spc="-165" dirty="0"/>
              <a:t> </a:t>
            </a:r>
            <a:r>
              <a:rPr spc="90" dirty="0"/>
              <a:t>Triggers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893" y="1700022"/>
            <a:ext cx="4744720" cy="3088005"/>
          </a:xfrm>
          <a:prstGeom prst="rect">
            <a:avLst/>
          </a:prstGeom>
          <a:solidFill>
            <a:srgbClr val="4AACC5"/>
          </a:solidFill>
        </p:spPr>
        <p:txBody>
          <a:bodyPr vert="horz" wrap="square" lIns="0" tIns="133350" rIns="0" bIns="0" rtlCol="0">
            <a:spAutoFit/>
          </a:bodyPr>
          <a:lstStyle/>
          <a:p>
            <a:pPr marL="418465" marR="69215" indent="-342900" algn="just">
              <a:lnSpc>
                <a:spcPts val="2160"/>
              </a:lnSpc>
              <a:spcBef>
                <a:spcPts val="1050"/>
              </a:spcBef>
              <a:buFont typeface="Wingdings"/>
              <a:buChar char=""/>
              <a:tabLst>
                <a:tab pos="419100" algn="l"/>
              </a:tabLst>
            </a:pP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SQL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Server 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allows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users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specify 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AFTER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executed 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executed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last.</a:t>
            </a:r>
            <a:endParaRPr sz="2000">
              <a:latin typeface="Times New Roman"/>
              <a:cs typeface="Times New Roman"/>
            </a:endParaRPr>
          </a:p>
          <a:p>
            <a:pPr marL="418465" indent="-343535">
              <a:lnSpc>
                <a:spcPts val="2280"/>
              </a:lnSpc>
              <a:spcBef>
                <a:spcPts val="1889"/>
              </a:spcBef>
              <a:buFont typeface="Wingdings"/>
              <a:buChar char=""/>
              <a:tabLst>
                <a:tab pos="418465" algn="l"/>
                <a:tab pos="419100" algn="l"/>
              </a:tabLst>
            </a:pP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All 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triggering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actions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have 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45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endParaRPr sz="2000">
              <a:latin typeface="Times New Roman"/>
              <a:cs typeface="Times New Roman"/>
            </a:endParaRPr>
          </a:p>
          <a:p>
            <a:pPr marL="418465">
              <a:lnSpc>
                <a:spcPts val="2280"/>
              </a:lnSpc>
            </a:pP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last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defined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them.</a:t>
            </a:r>
            <a:endParaRPr sz="2000">
              <a:latin typeface="Times New Roman"/>
              <a:cs typeface="Times New Roman"/>
            </a:endParaRPr>
          </a:p>
          <a:p>
            <a:pPr marL="418465" marR="68580" indent="-342900" algn="just">
              <a:lnSpc>
                <a:spcPts val="2160"/>
              </a:lnSpc>
              <a:spcBef>
                <a:spcPts val="2190"/>
              </a:spcBef>
              <a:buFont typeface="Wingdings"/>
              <a:buChar char=""/>
              <a:tabLst>
                <a:tab pos="419100" algn="l"/>
              </a:tabLst>
            </a:pP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However, </a:t>
            </a:r>
            <a:r>
              <a:rPr sz="2000" spc="135" dirty="0">
                <a:solidFill>
                  <a:srgbClr val="FFFFFF"/>
                </a:solidFill>
                <a:latin typeface="Times New Roman"/>
                <a:cs typeface="Times New Roman"/>
              </a:rPr>
              <a:t>no 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two 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triggering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actions</a:t>
            </a:r>
            <a:r>
              <a:rPr sz="20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on  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table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have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same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first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last 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triggers.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7028" y="1508760"/>
            <a:ext cx="3585972" cy="34709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18988" y="4978400"/>
            <a:ext cx="25920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70" dirty="0">
                <a:latin typeface="Arial"/>
                <a:cs typeface="Arial"/>
              </a:rPr>
              <a:t>Execution</a:t>
            </a:r>
            <a:r>
              <a:rPr sz="1400" b="1" spc="-135" dirty="0">
                <a:latin typeface="Arial"/>
                <a:cs typeface="Arial"/>
              </a:rPr>
              <a:t> </a:t>
            </a:r>
            <a:r>
              <a:rPr sz="1400" b="1" spc="-35" dirty="0">
                <a:latin typeface="Arial"/>
                <a:cs typeface="Arial"/>
              </a:rPr>
              <a:t>Order</a:t>
            </a:r>
            <a:r>
              <a:rPr sz="1400" b="1" spc="-120" dirty="0">
                <a:latin typeface="Arial"/>
                <a:cs typeface="Arial"/>
              </a:rPr>
              <a:t> </a:t>
            </a:r>
            <a:r>
              <a:rPr sz="1400" b="1" spc="-45" dirty="0">
                <a:latin typeface="Arial"/>
                <a:cs typeface="Arial"/>
              </a:rPr>
              <a:t>of</a:t>
            </a:r>
            <a:r>
              <a:rPr sz="1400" b="1" spc="-110" dirty="0">
                <a:latin typeface="Arial"/>
                <a:cs typeface="Arial"/>
              </a:rPr>
              <a:t> </a:t>
            </a:r>
            <a:r>
              <a:rPr sz="1400" b="1" spc="50" dirty="0">
                <a:latin typeface="Arial"/>
                <a:cs typeface="Arial"/>
              </a:rPr>
              <a:t>DML</a:t>
            </a:r>
            <a:r>
              <a:rPr sz="1400" b="1" spc="-120" dirty="0">
                <a:latin typeface="Arial"/>
                <a:cs typeface="Arial"/>
              </a:rPr>
              <a:t> </a:t>
            </a:r>
            <a:r>
              <a:rPr sz="1400" b="1" spc="-90" dirty="0">
                <a:latin typeface="Arial"/>
                <a:cs typeface="Arial"/>
              </a:rPr>
              <a:t>Triggers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16</a:t>
            </a:fld>
            <a:endParaRPr sz="120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1959" y="1778"/>
            <a:ext cx="826008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Viewing</a:t>
            </a:r>
            <a:r>
              <a:rPr spc="-170" dirty="0"/>
              <a:t> </a:t>
            </a:r>
            <a:r>
              <a:rPr spc="150" dirty="0"/>
              <a:t>Definitions</a:t>
            </a:r>
            <a:r>
              <a:rPr spc="-170" dirty="0"/>
              <a:t> </a:t>
            </a:r>
            <a:r>
              <a:rPr spc="114" dirty="0"/>
              <a:t>of</a:t>
            </a:r>
            <a:r>
              <a:rPr spc="-150" dirty="0"/>
              <a:t> </a:t>
            </a:r>
            <a:r>
              <a:rPr spc="120" dirty="0"/>
              <a:t>DML</a:t>
            </a:r>
            <a:r>
              <a:rPr spc="-165" dirty="0"/>
              <a:t> </a:t>
            </a:r>
            <a:r>
              <a:rPr spc="90" dirty="0"/>
              <a:t>Triggers</a:t>
            </a:r>
          </a:p>
        </p:txBody>
      </p:sp>
      <p:sp>
        <p:nvSpPr>
          <p:cNvPr id="3" name="object 3"/>
          <p:cNvSpPr/>
          <p:nvPr/>
        </p:nvSpPr>
        <p:spPr>
          <a:xfrm>
            <a:off x="544830" y="1282446"/>
            <a:ext cx="8141970" cy="1298575"/>
          </a:xfrm>
          <a:custGeom>
            <a:avLst/>
            <a:gdLst/>
            <a:ahLst/>
            <a:cxnLst/>
            <a:rect l="l" t="t" r="r" b="b"/>
            <a:pathLst>
              <a:path w="8141970" h="1298575">
                <a:moveTo>
                  <a:pt x="7492746" y="0"/>
                </a:moveTo>
                <a:lnTo>
                  <a:pt x="649224" y="0"/>
                </a:lnTo>
                <a:lnTo>
                  <a:pt x="600771" y="1780"/>
                </a:lnTo>
                <a:lnTo>
                  <a:pt x="553285" y="7040"/>
                </a:lnTo>
                <a:lnTo>
                  <a:pt x="506893" y="15651"/>
                </a:lnTo>
                <a:lnTo>
                  <a:pt x="461718" y="27490"/>
                </a:lnTo>
                <a:lnTo>
                  <a:pt x="417887" y="42430"/>
                </a:lnTo>
                <a:lnTo>
                  <a:pt x="375526" y="60346"/>
                </a:lnTo>
                <a:lnTo>
                  <a:pt x="334759" y="81112"/>
                </a:lnTo>
                <a:lnTo>
                  <a:pt x="295713" y="104602"/>
                </a:lnTo>
                <a:lnTo>
                  <a:pt x="258513" y="130692"/>
                </a:lnTo>
                <a:lnTo>
                  <a:pt x="223284" y="159255"/>
                </a:lnTo>
                <a:lnTo>
                  <a:pt x="190152" y="190166"/>
                </a:lnTo>
                <a:lnTo>
                  <a:pt x="159242" y="223299"/>
                </a:lnTo>
                <a:lnTo>
                  <a:pt x="130681" y="258529"/>
                </a:lnTo>
                <a:lnTo>
                  <a:pt x="104593" y="295730"/>
                </a:lnTo>
                <a:lnTo>
                  <a:pt x="81104" y="334776"/>
                </a:lnTo>
                <a:lnTo>
                  <a:pt x="60340" y="375542"/>
                </a:lnTo>
                <a:lnTo>
                  <a:pt x="42425" y="417903"/>
                </a:lnTo>
                <a:lnTo>
                  <a:pt x="27487" y="461732"/>
                </a:lnTo>
                <a:lnTo>
                  <a:pt x="15649" y="506904"/>
                </a:lnTo>
                <a:lnTo>
                  <a:pt x="7039" y="553294"/>
                </a:lnTo>
                <a:lnTo>
                  <a:pt x="1780" y="600776"/>
                </a:lnTo>
                <a:lnTo>
                  <a:pt x="0" y="649224"/>
                </a:lnTo>
                <a:lnTo>
                  <a:pt x="1780" y="697671"/>
                </a:lnTo>
                <a:lnTo>
                  <a:pt x="7039" y="745153"/>
                </a:lnTo>
                <a:lnTo>
                  <a:pt x="15649" y="791543"/>
                </a:lnTo>
                <a:lnTo>
                  <a:pt x="27487" y="836715"/>
                </a:lnTo>
                <a:lnTo>
                  <a:pt x="42425" y="880544"/>
                </a:lnTo>
                <a:lnTo>
                  <a:pt x="60340" y="922905"/>
                </a:lnTo>
                <a:lnTo>
                  <a:pt x="81104" y="963671"/>
                </a:lnTo>
                <a:lnTo>
                  <a:pt x="104593" y="1002717"/>
                </a:lnTo>
                <a:lnTo>
                  <a:pt x="130681" y="1039918"/>
                </a:lnTo>
                <a:lnTo>
                  <a:pt x="159242" y="1075148"/>
                </a:lnTo>
                <a:lnTo>
                  <a:pt x="190152" y="1108281"/>
                </a:lnTo>
                <a:lnTo>
                  <a:pt x="223284" y="1139192"/>
                </a:lnTo>
                <a:lnTo>
                  <a:pt x="258513" y="1167755"/>
                </a:lnTo>
                <a:lnTo>
                  <a:pt x="295713" y="1193845"/>
                </a:lnTo>
                <a:lnTo>
                  <a:pt x="334759" y="1217335"/>
                </a:lnTo>
                <a:lnTo>
                  <a:pt x="375526" y="1238101"/>
                </a:lnTo>
                <a:lnTo>
                  <a:pt x="417887" y="1256017"/>
                </a:lnTo>
                <a:lnTo>
                  <a:pt x="461718" y="1270957"/>
                </a:lnTo>
                <a:lnTo>
                  <a:pt x="506893" y="1282796"/>
                </a:lnTo>
                <a:lnTo>
                  <a:pt x="553285" y="1291407"/>
                </a:lnTo>
                <a:lnTo>
                  <a:pt x="600771" y="1296667"/>
                </a:lnTo>
                <a:lnTo>
                  <a:pt x="649224" y="1298448"/>
                </a:lnTo>
                <a:lnTo>
                  <a:pt x="7492746" y="1298448"/>
                </a:lnTo>
                <a:lnTo>
                  <a:pt x="7541193" y="1296667"/>
                </a:lnTo>
                <a:lnTo>
                  <a:pt x="7588675" y="1291407"/>
                </a:lnTo>
                <a:lnTo>
                  <a:pt x="7635065" y="1282796"/>
                </a:lnTo>
                <a:lnTo>
                  <a:pt x="7680237" y="1270957"/>
                </a:lnTo>
                <a:lnTo>
                  <a:pt x="7724066" y="1256017"/>
                </a:lnTo>
                <a:lnTo>
                  <a:pt x="7766427" y="1238101"/>
                </a:lnTo>
                <a:lnTo>
                  <a:pt x="7807193" y="1217335"/>
                </a:lnTo>
                <a:lnTo>
                  <a:pt x="7846239" y="1193845"/>
                </a:lnTo>
                <a:lnTo>
                  <a:pt x="7883440" y="1167755"/>
                </a:lnTo>
                <a:lnTo>
                  <a:pt x="7918670" y="1139192"/>
                </a:lnTo>
                <a:lnTo>
                  <a:pt x="7951803" y="1108281"/>
                </a:lnTo>
                <a:lnTo>
                  <a:pt x="7982714" y="1075148"/>
                </a:lnTo>
                <a:lnTo>
                  <a:pt x="8011277" y="1039918"/>
                </a:lnTo>
                <a:lnTo>
                  <a:pt x="8037367" y="1002717"/>
                </a:lnTo>
                <a:lnTo>
                  <a:pt x="8060857" y="963671"/>
                </a:lnTo>
                <a:lnTo>
                  <a:pt x="8081623" y="922905"/>
                </a:lnTo>
                <a:lnTo>
                  <a:pt x="8099539" y="880544"/>
                </a:lnTo>
                <a:lnTo>
                  <a:pt x="8114479" y="836715"/>
                </a:lnTo>
                <a:lnTo>
                  <a:pt x="8126318" y="791543"/>
                </a:lnTo>
                <a:lnTo>
                  <a:pt x="8134929" y="745153"/>
                </a:lnTo>
                <a:lnTo>
                  <a:pt x="8140189" y="697671"/>
                </a:lnTo>
                <a:lnTo>
                  <a:pt x="8141970" y="649224"/>
                </a:lnTo>
                <a:lnTo>
                  <a:pt x="8140189" y="600776"/>
                </a:lnTo>
                <a:lnTo>
                  <a:pt x="8134929" y="553294"/>
                </a:lnTo>
                <a:lnTo>
                  <a:pt x="8126318" y="506904"/>
                </a:lnTo>
                <a:lnTo>
                  <a:pt x="8114479" y="461732"/>
                </a:lnTo>
                <a:lnTo>
                  <a:pt x="8099539" y="417903"/>
                </a:lnTo>
                <a:lnTo>
                  <a:pt x="8081623" y="375542"/>
                </a:lnTo>
                <a:lnTo>
                  <a:pt x="8060857" y="334776"/>
                </a:lnTo>
                <a:lnTo>
                  <a:pt x="8037367" y="295730"/>
                </a:lnTo>
                <a:lnTo>
                  <a:pt x="8011277" y="258529"/>
                </a:lnTo>
                <a:lnTo>
                  <a:pt x="7982714" y="223299"/>
                </a:lnTo>
                <a:lnTo>
                  <a:pt x="7951803" y="190166"/>
                </a:lnTo>
                <a:lnTo>
                  <a:pt x="7918670" y="159255"/>
                </a:lnTo>
                <a:lnTo>
                  <a:pt x="7883440" y="130692"/>
                </a:lnTo>
                <a:lnTo>
                  <a:pt x="7846239" y="104602"/>
                </a:lnTo>
                <a:lnTo>
                  <a:pt x="7807193" y="81112"/>
                </a:lnTo>
                <a:lnTo>
                  <a:pt x="7766427" y="60346"/>
                </a:lnTo>
                <a:lnTo>
                  <a:pt x="7724066" y="42430"/>
                </a:lnTo>
                <a:lnTo>
                  <a:pt x="7680237" y="27490"/>
                </a:lnTo>
                <a:lnTo>
                  <a:pt x="7635065" y="15651"/>
                </a:lnTo>
                <a:lnTo>
                  <a:pt x="7588675" y="7040"/>
                </a:lnTo>
                <a:lnTo>
                  <a:pt x="7541193" y="1780"/>
                </a:lnTo>
                <a:lnTo>
                  <a:pt x="7492746" y="0"/>
                </a:lnTo>
                <a:close/>
              </a:path>
            </a:pathLst>
          </a:custGeom>
          <a:solidFill>
            <a:srgbClr val="0580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6441" y="1501902"/>
            <a:ext cx="70275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 trigger definition includes the trigger name, the table on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which  the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trigger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created,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triggering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actions, and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SQL 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statements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executed.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4830" y="3064764"/>
            <a:ext cx="8017509" cy="909319"/>
          </a:xfrm>
          <a:custGeom>
            <a:avLst/>
            <a:gdLst/>
            <a:ahLst/>
            <a:cxnLst/>
            <a:rect l="l" t="t" r="r" b="b"/>
            <a:pathLst>
              <a:path w="8017509" h="909320">
                <a:moveTo>
                  <a:pt x="7562469" y="0"/>
                </a:moveTo>
                <a:lnTo>
                  <a:pt x="454533" y="0"/>
                </a:lnTo>
                <a:lnTo>
                  <a:pt x="408060" y="2346"/>
                </a:lnTo>
                <a:lnTo>
                  <a:pt x="362929" y="9232"/>
                </a:lnTo>
                <a:lnTo>
                  <a:pt x="319370" y="20430"/>
                </a:lnTo>
                <a:lnTo>
                  <a:pt x="277609" y="35712"/>
                </a:lnTo>
                <a:lnTo>
                  <a:pt x="237877" y="54850"/>
                </a:lnTo>
                <a:lnTo>
                  <a:pt x="200400" y="77614"/>
                </a:lnTo>
                <a:lnTo>
                  <a:pt x="165409" y="103777"/>
                </a:lnTo>
                <a:lnTo>
                  <a:pt x="133130" y="133111"/>
                </a:lnTo>
                <a:lnTo>
                  <a:pt x="103794" y="165388"/>
                </a:lnTo>
                <a:lnTo>
                  <a:pt x="77628" y="200378"/>
                </a:lnTo>
                <a:lnTo>
                  <a:pt x="54860" y="237854"/>
                </a:lnTo>
                <a:lnTo>
                  <a:pt x="35719" y="277588"/>
                </a:lnTo>
                <a:lnTo>
                  <a:pt x="20435" y="319351"/>
                </a:lnTo>
                <a:lnTo>
                  <a:pt x="9234" y="362915"/>
                </a:lnTo>
                <a:lnTo>
                  <a:pt x="2346" y="408051"/>
                </a:lnTo>
                <a:lnTo>
                  <a:pt x="0" y="454533"/>
                </a:lnTo>
                <a:lnTo>
                  <a:pt x="2346" y="501014"/>
                </a:lnTo>
                <a:lnTo>
                  <a:pt x="9234" y="546150"/>
                </a:lnTo>
                <a:lnTo>
                  <a:pt x="20435" y="589714"/>
                </a:lnTo>
                <a:lnTo>
                  <a:pt x="35719" y="631477"/>
                </a:lnTo>
                <a:lnTo>
                  <a:pt x="54860" y="671211"/>
                </a:lnTo>
                <a:lnTo>
                  <a:pt x="77628" y="708687"/>
                </a:lnTo>
                <a:lnTo>
                  <a:pt x="103794" y="743677"/>
                </a:lnTo>
                <a:lnTo>
                  <a:pt x="133130" y="775954"/>
                </a:lnTo>
                <a:lnTo>
                  <a:pt x="165409" y="805288"/>
                </a:lnTo>
                <a:lnTo>
                  <a:pt x="200400" y="831451"/>
                </a:lnTo>
                <a:lnTo>
                  <a:pt x="237877" y="854215"/>
                </a:lnTo>
                <a:lnTo>
                  <a:pt x="277609" y="873353"/>
                </a:lnTo>
                <a:lnTo>
                  <a:pt x="319370" y="888635"/>
                </a:lnTo>
                <a:lnTo>
                  <a:pt x="362929" y="899833"/>
                </a:lnTo>
                <a:lnTo>
                  <a:pt x="408060" y="906719"/>
                </a:lnTo>
                <a:lnTo>
                  <a:pt x="454533" y="909066"/>
                </a:lnTo>
                <a:lnTo>
                  <a:pt x="7562469" y="909066"/>
                </a:lnTo>
                <a:lnTo>
                  <a:pt x="7608950" y="906719"/>
                </a:lnTo>
                <a:lnTo>
                  <a:pt x="7654086" y="899833"/>
                </a:lnTo>
                <a:lnTo>
                  <a:pt x="7697650" y="888635"/>
                </a:lnTo>
                <a:lnTo>
                  <a:pt x="7739413" y="873353"/>
                </a:lnTo>
                <a:lnTo>
                  <a:pt x="7779147" y="854215"/>
                </a:lnTo>
                <a:lnTo>
                  <a:pt x="7816623" y="831451"/>
                </a:lnTo>
                <a:lnTo>
                  <a:pt x="7851613" y="805288"/>
                </a:lnTo>
                <a:lnTo>
                  <a:pt x="7883890" y="775954"/>
                </a:lnTo>
                <a:lnTo>
                  <a:pt x="7913224" y="743677"/>
                </a:lnTo>
                <a:lnTo>
                  <a:pt x="7939387" y="708687"/>
                </a:lnTo>
                <a:lnTo>
                  <a:pt x="7962151" y="671211"/>
                </a:lnTo>
                <a:lnTo>
                  <a:pt x="7981289" y="631477"/>
                </a:lnTo>
                <a:lnTo>
                  <a:pt x="7996571" y="589714"/>
                </a:lnTo>
                <a:lnTo>
                  <a:pt x="8007769" y="546150"/>
                </a:lnTo>
                <a:lnTo>
                  <a:pt x="8014655" y="501014"/>
                </a:lnTo>
                <a:lnTo>
                  <a:pt x="8017002" y="454533"/>
                </a:lnTo>
                <a:lnTo>
                  <a:pt x="8014655" y="408051"/>
                </a:lnTo>
                <a:lnTo>
                  <a:pt x="8007769" y="362915"/>
                </a:lnTo>
                <a:lnTo>
                  <a:pt x="7996571" y="319351"/>
                </a:lnTo>
                <a:lnTo>
                  <a:pt x="7981289" y="277588"/>
                </a:lnTo>
                <a:lnTo>
                  <a:pt x="7962151" y="237854"/>
                </a:lnTo>
                <a:lnTo>
                  <a:pt x="7939387" y="200378"/>
                </a:lnTo>
                <a:lnTo>
                  <a:pt x="7913224" y="165388"/>
                </a:lnTo>
                <a:lnTo>
                  <a:pt x="7883890" y="133111"/>
                </a:lnTo>
                <a:lnTo>
                  <a:pt x="7851613" y="103777"/>
                </a:lnTo>
                <a:lnTo>
                  <a:pt x="7816623" y="77614"/>
                </a:lnTo>
                <a:lnTo>
                  <a:pt x="7779147" y="54850"/>
                </a:lnTo>
                <a:lnTo>
                  <a:pt x="7739413" y="35712"/>
                </a:lnTo>
                <a:lnTo>
                  <a:pt x="7697650" y="20430"/>
                </a:lnTo>
                <a:lnTo>
                  <a:pt x="7654086" y="9232"/>
                </a:lnTo>
                <a:lnTo>
                  <a:pt x="7608950" y="2346"/>
                </a:lnTo>
                <a:lnTo>
                  <a:pt x="7562469" y="0"/>
                </a:lnTo>
                <a:close/>
              </a:path>
            </a:pathLst>
          </a:custGeom>
          <a:solidFill>
            <a:srgbClr val="06A2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9291" y="3226561"/>
            <a:ext cx="7133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SQL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Server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provides sp_helptext stored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procedure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retrieve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trigger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definitions.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17</a:t>
            </a:fld>
            <a:endParaRPr sz="120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Modifying</a:t>
            </a:r>
            <a:r>
              <a:rPr spc="-170" dirty="0"/>
              <a:t> </a:t>
            </a:r>
            <a:r>
              <a:rPr spc="150" dirty="0"/>
              <a:t>Definitions</a:t>
            </a:r>
            <a:r>
              <a:rPr spc="-170" dirty="0"/>
              <a:t> </a:t>
            </a:r>
            <a:r>
              <a:rPr spc="114" dirty="0"/>
              <a:t>of</a:t>
            </a:r>
            <a:r>
              <a:rPr spc="-155" dirty="0"/>
              <a:t> </a:t>
            </a:r>
            <a:r>
              <a:rPr spc="120" dirty="0"/>
              <a:t>DML</a:t>
            </a:r>
            <a:r>
              <a:rPr spc="-145" dirty="0"/>
              <a:t> </a:t>
            </a:r>
            <a:r>
              <a:rPr spc="90" dirty="0"/>
              <a:t>Triggers</a:t>
            </a:r>
          </a:p>
        </p:txBody>
      </p:sp>
      <p:sp>
        <p:nvSpPr>
          <p:cNvPr id="3" name="object 3"/>
          <p:cNvSpPr/>
          <p:nvPr/>
        </p:nvSpPr>
        <p:spPr>
          <a:xfrm>
            <a:off x="218694" y="1602485"/>
            <a:ext cx="3651885" cy="1323975"/>
          </a:xfrm>
          <a:custGeom>
            <a:avLst/>
            <a:gdLst/>
            <a:ahLst/>
            <a:cxnLst/>
            <a:rect l="l" t="t" r="r" b="b"/>
            <a:pathLst>
              <a:path w="3651885" h="1323975">
                <a:moveTo>
                  <a:pt x="3651504" y="220599"/>
                </a:moveTo>
                <a:lnTo>
                  <a:pt x="3647008" y="176161"/>
                </a:lnTo>
                <a:lnTo>
                  <a:pt x="3634155" y="134759"/>
                </a:lnTo>
                <a:lnTo>
                  <a:pt x="3613810" y="97282"/>
                </a:lnTo>
                <a:lnTo>
                  <a:pt x="3586873" y="64630"/>
                </a:lnTo>
                <a:lnTo>
                  <a:pt x="3554222" y="37693"/>
                </a:lnTo>
                <a:lnTo>
                  <a:pt x="3516744" y="17348"/>
                </a:lnTo>
                <a:lnTo>
                  <a:pt x="3475342" y="4495"/>
                </a:lnTo>
                <a:lnTo>
                  <a:pt x="3430905" y="0"/>
                </a:lnTo>
                <a:lnTo>
                  <a:pt x="220599" y="0"/>
                </a:lnTo>
                <a:lnTo>
                  <a:pt x="176136" y="4495"/>
                </a:lnTo>
                <a:lnTo>
                  <a:pt x="134721" y="17348"/>
                </a:lnTo>
                <a:lnTo>
                  <a:pt x="97256" y="37693"/>
                </a:lnTo>
                <a:lnTo>
                  <a:pt x="64604" y="64630"/>
                </a:lnTo>
                <a:lnTo>
                  <a:pt x="37668" y="97282"/>
                </a:lnTo>
                <a:lnTo>
                  <a:pt x="17335" y="134759"/>
                </a:lnTo>
                <a:lnTo>
                  <a:pt x="4470" y="176161"/>
                </a:lnTo>
                <a:lnTo>
                  <a:pt x="0" y="220599"/>
                </a:lnTo>
                <a:lnTo>
                  <a:pt x="0" y="1102995"/>
                </a:lnTo>
                <a:lnTo>
                  <a:pt x="4470" y="1147445"/>
                </a:lnTo>
                <a:lnTo>
                  <a:pt x="17335" y="1188847"/>
                </a:lnTo>
                <a:lnTo>
                  <a:pt x="37668" y="1226324"/>
                </a:lnTo>
                <a:lnTo>
                  <a:pt x="64604" y="1258976"/>
                </a:lnTo>
                <a:lnTo>
                  <a:pt x="97256" y="1285913"/>
                </a:lnTo>
                <a:lnTo>
                  <a:pt x="134721" y="1306258"/>
                </a:lnTo>
                <a:lnTo>
                  <a:pt x="176136" y="1319110"/>
                </a:lnTo>
                <a:lnTo>
                  <a:pt x="220599" y="1323594"/>
                </a:lnTo>
                <a:lnTo>
                  <a:pt x="3430905" y="1323594"/>
                </a:lnTo>
                <a:lnTo>
                  <a:pt x="3475342" y="1319110"/>
                </a:lnTo>
                <a:lnTo>
                  <a:pt x="3516744" y="1306258"/>
                </a:lnTo>
                <a:lnTo>
                  <a:pt x="3554222" y="1285913"/>
                </a:lnTo>
                <a:lnTo>
                  <a:pt x="3586873" y="1258976"/>
                </a:lnTo>
                <a:lnTo>
                  <a:pt x="3613810" y="1226324"/>
                </a:lnTo>
                <a:lnTo>
                  <a:pt x="3634155" y="1188847"/>
                </a:lnTo>
                <a:lnTo>
                  <a:pt x="3647008" y="1147445"/>
                </a:lnTo>
                <a:lnTo>
                  <a:pt x="3651504" y="1102995"/>
                </a:lnTo>
                <a:lnTo>
                  <a:pt x="3651504" y="220599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7245" y="1904238"/>
            <a:ext cx="3460115" cy="60452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0"/>
              </a:spcBef>
            </a:pP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parameters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defined  at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creating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35652" y="1672589"/>
            <a:ext cx="3763645" cy="1270635"/>
          </a:xfrm>
          <a:custGeom>
            <a:avLst/>
            <a:gdLst/>
            <a:ahLst/>
            <a:cxnLst/>
            <a:rect l="l" t="t" r="r" b="b"/>
            <a:pathLst>
              <a:path w="3763645" h="1270635">
                <a:moveTo>
                  <a:pt x="3763518" y="211709"/>
                </a:moveTo>
                <a:lnTo>
                  <a:pt x="3757917" y="163156"/>
                </a:lnTo>
                <a:lnTo>
                  <a:pt x="3742004" y="118592"/>
                </a:lnTo>
                <a:lnTo>
                  <a:pt x="3717010" y="79286"/>
                </a:lnTo>
                <a:lnTo>
                  <a:pt x="3684232" y="46507"/>
                </a:lnTo>
                <a:lnTo>
                  <a:pt x="3644925" y="21513"/>
                </a:lnTo>
                <a:lnTo>
                  <a:pt x="3600361" y="5600"/>
                </a:lnTo>
                <a:lnTo>
                  <a:pt x="3551809" y="0"/>
                </a:lnTo>
                <a:lnTo>
                  <a:pt x="211709" y="0"/>
                </a:lnTo>
                <a:lnTo>
                  <a:pt x="163144" y="5600"/>
                </a:lnTo>
                <a:lnTo>
                  <a:pt x="118579" y="21513"/>
                </a:lnTo>
                <a:lnTo>
                  <a:pt x="79273" y="46507"/>
                </a:lnTo>
                <a:lnTo>
                  <a:pt x="46494" y="79286"/>
                </a:lnTo>
                <a:lnTo>
                  <a:pt x="21501" y="118592"/>
                </a:lnTo>
                <a:lnTo>
                  <a:pt x="5588" y="163156"/>
                </a:lnTo>
                <a:lnTo>
                  <a:pt x="0" y="211709"/>
                </a:lnTo>
                <a:lnTo>
                  <a:pt x="0" y="1058545"/>
                </a:lnTo>
                <a:lnTo>
                  <a:pt x="5588" y="1107109"/>
                </a:lnTo>
                <a:lnTo>
                  <a:pt x="21501" y="1151674"/>
                </a:lnTo>
                <a:lnTo>
                  <a:pt x="46494" y="1190980"/>
                </a:lnTo>
                <a:lnTo>
                  <a:pt x="79273" y="1223759"/>
                </a:lnTo>
                <a:lnTo>
                  <a:pt x="118579" y="1248752"/>
                </a:lnTo>
                <a:lnTo>
                  <a:pt x="163144" y="1264666"/>
                </a:lnTo>
                <a:lnTo>
                  <a:pt x="211709" y="1270254"/>
                </a:lnTo>
                <a:lnTo>
                  <a:pt x="3551809" y="1270254"/>
                </a:lnTo>
                <a:lnTo>
                  <a:pt x="3600361" y="1264666"/>
                </a:lnTo>
                <a:lnTo>
                  <a:pt x="3644925" y="1248752"/>
                </a:lnTo>
                <a:lnTo>
                  <a:pt x="3684232" y="1223759"/>
                </a:lnTo>
                <a:lnTo>
                  <a:pt x="3717010" y="1190980"/>
                </a:lnTo>
                <a:lnTo>
                  <a:pt x="3742004" y="1151674"/>
                </a:lnTo>
                <a:lnTo>
                  <a:pt x="3757917" y="1107109"/>
                </a:lnTo>
                <a:lnTo>
                  <a:pt x="3763518" y="1058545"/>
                </a:lnTo>
                <a:lnTo>
                  <a:pt x="3763518" y="211709"/>
                </a:lnTo>
                <a:close/>
              </a:path>
            </a:pathLst>
          </a:custGeom>
          <a:solidFill>
            <a:srgbClr val="C050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935473" y="1735073"/>
            <a:ext cx="3571875" cy="7937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algn="just">
              <a:lnSpc>
                <a:spcPts val="1939"/>
              </a:lnSpc>
              <a:spcBef>
                <a:spcPts val="345"/>
              </a:spcBef>
            </a:pP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These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parameters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include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spc="60" dirty="0">
                <a:solidFill>
                  <a:srgbClr val="FFFFFF"/>
                </a:solidFill>
                <a:latin typeface="Times New Roman"/>
                <a:cs typeface="Times New Roman"/>
              </a:rPr>
              <a:t>type  </a:t>
            </a:r>
            <a:r>
              <a:rPr sz="1800" spc="5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triggering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action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that </a:t>
            </a:r>
            <a:r>
              <a:rPr sz="1800" spc="55" dirty="0">
                <a:solidFill>
                  <a:srgbClr val="FFFFFF"/>
                </a:solidFill>
                <a:latin typeface="Times New Roman"/>
                <a:cs typeface="Times New Roman"/>
              </a:rPr>
              <a:t>invokes</a:t>
            </a:r>
            <a:r>
              <a:rPr sz="1800" spc="-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and the </a:t>
            </a:r>
            <a:r>
              <a:rPr sz="1800" spc="85" dirty="0">
                <a:solidFill>
                  <a:srgbClr val="FFFFFF"/>
                </a:solidFill>
                <a:latin typeface="Times New Roman"/>
                <a:cs typeface="Times New Roman"/>
              </a:rPr>
              <a:t>SQL </a:t>
            </a:r>
            <a:r>
              <a:rPr sz="1800" spc="70" dirty="0">
                <a:solidFill>
                  <a:srgbClr val="FFFFFF"/>
                </a:solidFill>
                <a:latin typeface="Times New Roman"/>
                <a:cs typeface="Times New Roman"/>
              </a:rPr>
              <a:t>statements</a:t>
            </a:r>
            <a:r>
              <a:rPr sz="1800" spc="-2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5473" y="2475738"/>
            <a:ext cx="1318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65" dirty="0">
                <a:solidFill>
                  <a:srgbClr val="FFFFFF"/>
                </a:solidFill>
                <a:latin typeface="Times New Roman"/>
                <a:cs typeface="Times New Roman"/>
              </a:rPr>
              <a:t>executed.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829" y="3429000"/>
            <a:ext cx="3563874" cy="231114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57833" y="5708141"/>
            <a:ext cx="19208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45" dirty="0">
                <a:latin typeface="Arial"/>
                <a:cs typeface="Arial"/>
              </a:rPr>
              <a:t>Modifying </a:t>
            </a:r>
            <a:r>
              <a:rPr sz="1400" b="1" spc="50" dirty="0">
                <a:latin typeface="Arial"/>
                <a:cs typeface="Arial"/>
              </a:rPr>
              <a:t>DML</a:t>
            </a:r>
            <a:r>
              <a:rPr sz="1400" b="1" spc="-220" dirty="0">
                <a:latin typeface="Arial"/>
                <a:cs typeface="Arial"/>
              </a:rPr>
              <a:t> </a:t>
            </a:r>
            <a:r>
              <a:rPr sz="1400" b="1" spc="-90" dirty="0">
                <a:latin typeface="Arial"/>
                <a:cs typeface="Arial"/>
              </a:rPr>
              <a:t>Triggers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5353" y="3664458"/>
            <a:ext cx="4937759" cy="19255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694934" y="5620003"/>
            <a:ext cx="14001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80" dirty="0">
                <a:latin typeface="Arial"/>
                <a:cs typeface="Arial"/>
              </a:rPr>
              <a:t>Encrypted</a:t>
            </a:r>
            <a:r>
              <a:rPr sz="1400" b="1" spc="-160" dirty="0">
                <a:latin typeface="Arial"/>
                <a:cs typeface="Arial"/>
              </a:rPr>
              <a:t> </a:t>
            </a:r>
            <a:r>
              <a:rPr sz="1400" b="1" spc="-65" dirty="0">
                <a:latin typeface="Arial"/>
                <a:cs typeface="Arial"/>
              </a:rPr>
              <a:t>Trigger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/>
              <a:t>Session </a:t>
            </a:r>
            <a:r>
              <a:rPr sz="1800" spc="-37" baseline="4629" dirty="0"/>
              <a:t>12/</a:t>
            </a:r>
            <a:r>
              <a:rPr sz="1800" spc="-262" baseline="4629" dirty="0"/>
              <a:t> </a:t>
            </a:r>
            <a:fld id="{81D60167-4931-47E6-BA6A-407CBD079E47}" type="slidenum">
              <a:rPr sz="1200" spc="-80" dirty="0"/>
              <a:t>18</a:t>
            </a:fld>
            <a:endParaRPr sz="120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6601714"/>
            <a:ext cx="8928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Arial"/>
                <a:cs typeface="Arial"/>
              </a:rPr>
              <a:t>©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Aptech </a:t>
            </a:r>
            <a:r>
              <a:rPr sz="1200" i="1" spc="-15" dirty="0">
                <a:latin typeface="Palatino Linotype"/>
                <a:cs typeface="Palatino Linotype"/>
              </a:rPr>
              <a:t>Ltd.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63078" y="6575552"/>
            <a:ext cx="9023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84" baseline="4629" dirty="0">
                <a:latin typeface="Times New Roman"/>
                <a:cs typeface="Times New Roman"/>
              </a:rPr>
              <a:t> </a:t>
            </a:r>
            <a:r>
              <a:rPr sz="1200" spc="-105" dirty="0">
                <a:latin typeface="Times New Roman"/>
                <a:cs typeface="Times New Roman"/>
              </a:rPr>
              <a:t>19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1987" y="0"/>
            <a:ext cx="535876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Dropping </a:t>
            </a:r>
            <a:r>
              <a:rPr spc="114" dirty="0"/>
              <a:t>DML</a:t>
            </a:r>
            <a:r>
              <a:rPr spc="-525" dirty="0"/>
              <a:t> </a:t>
            </a:r>
            <a:r>
              <a:rPr spc="90" dirty="0"/>
              <a:t>Triggers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6523" y="3765041"/>
            <a:ext cx="5330952" cy="274624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62171" y="6548881"/>
            <a:ext cx="18618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60" dirty="0">
                <a:latin typeface="Arial"/>
                <a:cs typeface="Arial"/>
              </a:rPr>
              <a:t>Dropping </a:t>
            </a:r>
            <a:r>
              <a:rPr sz="1400" b="1" spc="50" dirty="0">
                <a:latin typeface="Arial"/>
                <a:cs typeface="Arial"/>
              </a:rPr>
              <a:t>DML</a:t>
            </a:r>
            <a:r>
              <a:rPr sz="1400" b="1" spc="-195" dirty="0">
                <a:latin typeface="Arial"/>
                <a:cs typeface="Arial"/>
              </a:rPr>
              <a:t> </a:t>
            </a:r>
            <a:r>
              <a:rPr sz="1400" b="1" spc="-90" dirty="0">
                <a:latin typeface="Arial"/>
                <a:cs typeface="Arial"/>
              </a:rPr>
              <a:t>Triggers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522" y="1200403"/>
            <a:ext cx="7919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0610" marR="5080" indent="-232791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SQL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Server provides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option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of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dropping a DML trigger created on a table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if  the </a:t>
            </a:r>
            <a:r>
              <a:rPr sz="1800" spc="-5" dirty="0">
                <a:solidFill>
                  <a:srgbClr val="404040"/>
                </a:solidFill>
                <a:latin typeface="Arial"/>
                <a:cs typeface="Arial"/>
              </a:rPr>
              <a:t>trigger is no longer</a:t>
            </a:r>
            <a:r>
              <a:rPr sz="18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"/>
                <a:cs typeface="Arial"/>
              </a:rPr>
              <a:t>required.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4908" y="1074800"/>
            <a:ext cx="8040370" cy="0"/>
          </a:xfrm>
          <a:custGeom>
            <a:avLst/>
            <a:gdLst/>
            <a:ahLst/>
            <a:cxnLst/>
            <a:rect l="l" t="t" r="r" b="b"/>
            <a:pathLst>
              <a:path w="8040370">
                <a:moveTo>
                  <a:pt x="0" y="0"/>
                </a:moveTo>
                <a:lnTo>
                  <a:pt x="8039861" y="0"/>
                </a:lnTo>
              </a:path>
            </a:pathLst>
          </a:custGeom>
          <a:ln w="57150">
            <a:solidFill>
              <a:srgbClr val="00AFE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4908" y="1919097"/>
            <a:ext cx="8040370" cy="0"/>
          </a:xfrm>
          <a:custGeom>
            <a:avLst/>
            <a:gdLst/>
            <a:ahLst/>
            <a:cxnLst/>
            <a:rect l="l" t="t" r="r" b="b"/>
            <a:pathLst>
              <a:path w="8040370">
                <a:moveTo>
                  <a:pt x="0" y="0"/>
                </a:moveTo>
                <a:lnTo>
                  <a:pt x="8039861" y="0"/>
                </a:lnTo>
              </a:path>
            </a:pathLst>
          </a:custGeom>
          <a:ln w="57150">
            <a:solidFill>
              <a:srgbClr val="00AFEF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9744" y="3048050"/>
            <a:ext cx="7518400" cy="392430"/>
          </a:xfrm>
          <a:custGeom>
            <a:avLst/>
            <a:gdLst/>
            <a:ahLst/>
            <a:cxnLst/>
            <a:rect l="l" t="t" r="r" b="b"/>
            <a:pathLst>
              <a:path w="7518400" h="392429">
                <a:moveTo>
                  <a:pt x="7518400" y="0"/>
                </a:moveTo>
                <a:lnTo>
                  <a:pt x="0" y="0"/>
                </a:lnTo>
                <a:lnTo>
                  <a:pt x="0" y="392125"/>
                </a:lnTo>
                <a:lnTo>
                  <a:pt x="7518400" y="392125"/>
                </a:lnTo>
                <a:lnTo>
                  <a:pt x="7518400" y="0"/>
                </a:lnTo>
                <a:close/>
              </a:path>
            </a:pathLst>
          </a:custGeom>
          <a:solidFill>
            <a:srgbClr val="90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49744" y="2243518"/>
            <a:ext cx="7519034" cy="28575"/>
          </a:xfrm>
          <a:custGeom>
            <a:avLst/>
            <a:gdLst/>
            <a:ahLst/>
            <a:cxnLst/>
            <a:rect l="l" t="t" r="r" b="b"/>
            <a:pathLst>
              <a:path w="7519034" h="28575">
                <a:moveTo>
                  <a:pt x="0" y="28575"/>
                </a:moveTo>
                <a:lnTo>
                  <a:pt x="7518412" y="28575"/>
                </a:lnTo>
                <a:lnTo>
                  <a:pt x="7518412" y="0"/>
                </a:lnTo>
                <a:lnTo>
                  <a:pt x="0" y="0"/>
                </a:lnTo>
                <a:lnTo>
                  <a:pt x="0" y="28575"/>
                </a:lnTo>
                <a:close/>
              </a:path>
            </a:pathLst>
          </a:custGeom>
          <a:solidFill>
            <a:srgbClr val="90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49744" y="2272093"/>
            <a:ext cx="7518400" cy="7759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</a:pP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When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a table is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dropped,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all the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triggers defined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on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that table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are also</a:t>
            </a:r>
            <a:r>
              <a:rPr sz="1600" spc="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dropped.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6601714"/>
            <a:ext cx="8928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Arial"/>
                <a:cs typeface="Arial"/>
              </a:rPr>
              <a:t>©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i="1" dirty="0">
                <a:latin typeface="Palatino Linotype"/>
                <a:cs typeface="Palatino Linotype"/>
              </a:rPr>
              <a:t>Aptech </a:t>
            </a:r>
            <a:r>
              <a:rPr sz="1200" i="1" spc="-15" dirty="0">
                <a:latin typeface="Palatino Linotype"/>
                <a:cs typeface="Palatino Linotype"/>
              </a:rPr>
              <a:t>Ltd.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7294" y="0"/>
            <a:ext cx="30587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5" dirty="0"/>
              <a:t>DDL</a:t>
            </a:r>
            <a:r>
              <a:rPr spc="-229" dirty="0"/>
              <a:t> </a:t>
            </a:r>
            <a:r>
              <a:rPr spc="90" dirty="0"/>
              <a:t>Triggers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63078" y="6575552"/>
            <a:ext cx="929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77" baseline="4629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20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76755" y="2071115"/>
            <a:ext cx="6339205" cy="3169920"/>
            <a:chOff x="1476755" y="2910077"/>
            <a:chExt cx="6339205" cy="316992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1847" y="3253739"/>
              <a:ext cx="5642610" cy="28213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6755" y="2910077"/>
              <a:ext cx="6339078" cy="316953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3218" y="2186686"/>
            <a:ext cx="156146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40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A Data Definition  Language (DDL)  triggers execute  stored procedures  when DDL events  such as </a:t>
            </a:r>
            <a:r>
              <a:rPr sz="1400" spc="-20" dirty="0">
                <a:latin typeface="Arial"/>
                <a:cs typeface="Arial"/>
              </a:rPr>
              <a:t>CREATE,  ALTER, </a:t>
            </a:r>
            <a:r>
              <a:rPr sz="1400" spc="-5" dirty="0">
                <a:latin typeface="Arial"/>
                <a:cs typeface="Arial"/>
              </a:rPr>
              <a:t>and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DROP</a:t>
            </a:r>
            <a:endParaRPr sz="1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statements occur</a:t>
            </a:r>
            <a:r>
              <a:rPr sz="1400" spc="-7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in  the database or the  </a:t>
            </a:r>
            <a:r>
              <a:rPr sz="1400" spc="-15" dirty="0">
                <a:latin typeface="Arial"/>
                <a:cs typeface="Arial"/>
              </a:rPr>
              <a:t>server.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78785" y="1447800"/>
            <a:ext cx="1888489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52450" algn="r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It can be used</a:t>
            </a:r>
            <a:r>
              <a:rPr sz="1400" spc="-8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to  prevent modifications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in  the database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schema.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27420" y="1453642"/>
            <a:ext cx="236156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A schema is a collection of  objects such as tables, views,  and so </a:t>
            </a:r>
            <a:r>
              <a:rPr sz="1400" dirty="0">
                <a:latin typeface="Arial"/>
                <a:cs typeface="Arial"/>
              </a:rPr>
              <a:t>forth </a:t>
            </a:r>
            <a:r>
              <a:rPr sz="1400" spc="-5" dirty="0">
                <a:latin typeface="Arial"/>
                <a:cs typeface="Arial"/>
              </a:rPr>
              <a:t>in a</a:t>
            </a:r>
            <a:r>
              <a:rPr sz="1400" spc="-6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database.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42454" y="2902458"/>
            <a:ext cx="15716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5" dirty="0">
                <a:latin typeface="Arial"/>
                <a:cs typeface="Arial"/>
              </a:rPr>
              <a:t>These are defined  either at the  database level or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at  the server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level.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76755" y="5403341"/>
            <a:ext cx="6358890" cy="81915"/>
            <a:chOff x="1476755" y="6242303"/>
            <a:chExt cx="6358890" cy="81915"/>
          </a:xfrm>
        </p:grpSpPr>
        <p:sp>
          <p:nvSpPr>
            <p:cNvPr id="13" name="object 13"/>
            <p:cNvSpPr/>
            <p:nvPr/>
          </p:nvSpPr>
          <p:spPr>
            <a:xfrm>
              <a:off x="1476755" y="6242303"/>
              <a:ext cx="1580515" cy="81915"/>
            </a:xfrm>
            <a:custGeom>
              <a:avLst/>
              <a:gdLst/>
              <a:ahLst/>
              <a:cxnLst/>
              <a:rect l="l" t="t" r="r" b="b"/>
              <a:pathLst>
                <a:path w="1580514" h="81914">
                  <a:moveTo>
                    <a:pt x="1580388" y="0"/>
                  </a:moveTo>
                  <a:lnTo>
                    <a:pt x="0" y="0"/>
                  </a:lnTo>
                  <a:lnTo>
                    <a:pt x="0" y="81534"/>
                  </a:lnTo>
                  <a:lnTo>
                    <a:pt x="1580388" y="81534"/>
                  </a:lnTo>
                  <a:lnTo>
                    <a:pt x="1580388" y="0"/>
                  </a:lnTo>
                  <a:close/>
                </a:path>
              </a:pathLst>
            </a:custGeom>
            <a:solidFill>
              <a:srgbClr val="05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64002" y="6242303"/>
              <a:ext cx="1580515" cy="81915"/>
            </a:xfrm>
            <a:custGeom>
              <a:avLst/>
              <a:gdLst/>
              <a:ahLst/>
              <a:cxnLst/>
              <a:rect l="l" t="t" r="r" b="b"/>
              <a:pathLst>
                <a:path w="1580514" h="81914">
                  <a:moveTo>
                    <a:pt x="1580388" y="0"/>
                  </a:moveTo>
                  <a:lnTo>
                    <a:pt x="0" y="0"/>
                  </a:lnTo>
                  <a:lnTo>
                    <a:pt x="0" y="81534"/>
                  </a:lnTo>
                  <a:lnTo>
                    <a:pt x="1580388" y="81534"/>
                  </a:lnTo>
                  <a:lnTo>
                    <a:pt x="1580388" y="0"/>
                  </a:lnTo>
                  <a:close/>
                </a:path>
              </a:pathLst>
            </a:custGeom>
            <a:solidFill>
              <a:srgbClr val="06A2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69535" y="6242303"/>
              <a:ext cx="1581150" cy="81915"/>
            </a:xfrm>
            <a:custGeom>
              <a:avLst/>
              <a:gdLst/>
              <a:ahLst/>
              <a:cxnLst/>
              <a:rect l="l" t="t" r="r" b="b"/>
              <a:pathLst>
                <a:path w="1581150" h="81914">
                  <a:moveTo>
                    <a:pt x="1581150" y="0"/>
                  </a:moveTo>
                  <a:lnTo>
                    <a:pt x="0" y="0"/>
                  </a:lnTo>
                  <a:lnTo>
                    <a:pt x="0" y="81534"/>
                  </a:lnTo>
                  <a:lnTo>
                    <a:pt x="1581150" y="81534"/>
                  </a:lnTo>
                  <a:lnTo>
                    <a:pt x="1581150" y="0"/>
                  </a:lnTo>
                  <a:close/>
                </a:path>
              </a:pathLst>
            </a:custGeom>
            <a:solidFill>
              <a:srgbClr val="90C2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55258" y="6242303"/>
              <a:ext cx="1580515" cy="81915"/>
            </a:xfrm>
            <a:custGeom>
              <a:avLst/>
              <a:gdLst/>
              <a:ahLst/>
              <a:cxnLst/>
              <a:rect l="l" t="t" r="r" b="b"/>
              <a:pathLst>
                <a:path w="1580515" h="81914">
                  <a:moveTo>
                    <a:pt x="1580388" y="0"/>
                  </a:moveTo>
                  <a:lnTo>
                    <a:pt x="0" y="0"/>
                  </a:lnTo>
                  <a:lnTo>
                    <a:pt x="0" y="81534"/>
                  </a:lnTo>
                  <a:lnTo>
                    <a:pt x="1580388" y="81534"/>
                  </a:lnTo>
                  <a:lnTo>
                    <a:pt x="1580388" y="0"/>
                  </a:lnTo>
                  <a:close/>
                </a:path>
              </a:pathLst>
            </a:custGeom>
            <a:solidFill>
              <a:srgbClr val="FAA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33190" y="5562600"/>
            <a:ext cx="1370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latin typeface="Arial"/>
                <a:cs typeface="Arial"/>
              </a:rPr>
              <a:t>DDL</a:t>
            </a:r>
            <a:r>
              <a:rPr sz="1800" b="1" spc="-215" dirty="0">
                <a:latin typeface="Arial"/>
                <a:cs typeface="Arial"/>
              </a:rPr>
              <a:t> </a:t>
            </a:r>
            <a:r>
              <a:rPr sz="1800" b="1" spc="-110" dirty="0">
                <a:latin typeface="Arial"/>
                <a:cs typeface="Arial"/>
              </a:rPr>
              <a:t>Triggers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32404" y="3256026"/>
            <a:ext cx="2715895" cy="1920239"/>
            <a:chOff x="3232404" y="4094988"/>
            <a:chExt cx="2715895" cy="1920239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8500" y="4094988"/>
              <a:ext cx="2709672" cy="185928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32404" y="4094988"/>
              <a:ext cx="44450" cy="1920239"/>
            </a:xfrm>
            <a:custGeom>
              <a:avLst/>
              <a:gdLst/>
              <a:ahLst/>
              <a:cxnLst/>
              <a:rect l="l" t="t" r="r" b="b"/>
              <a:pathLst>
                <a:path w="44450" h="1920239">
                  <a:moveTo>
                    <a:pt x="44195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44195" y="1920239"/>
                  </a:lnTo>
                  <a:lnTo>
                    <a:pt x="441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294" y="0"/>
            <a:ext cx="57486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Scope</a:t>
            </a:r>
            <a:r>
              <a:rPr spc="-160" dirty="0"/>
              <a:t> </a:t>
            </a:r>
            <a:r>
              <a:rPr spc="114" dirty="0"/>
              <a:t>of</a:t>
            </a:r>
            <a:r>
              <a:rPr spc="-160" dirty="0"/>
              <a:t> </a:t>
            </a:r>
            <a:r>
              <a:rPr spc="175" dirty="0"/>
              <a:t>DDL</a:t>
            </a:r>
            <a:r>
              <a:rPr spc="-185" dirty="0"/>
              <a:t> </a:t>
            </a:r>
            <a:r>
              <a:rPr spc="90" dirty="0"/>
              <a:t>Triggers</a:t>
            </a:r>
            <a:r>
              <a:rPr spc="-155" dirty="0"/>
              <a:t> </a:t>
            </a:r>
            <a:r>
              <a:rPr spc="-250" dirty="0"/>
              <a:t>1-2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9300" y="1395222"/>
            <a:ext cx="3314700" cy="204596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38172" y="3940301"/>
            <a:ext cx="5237480" cy="877569"/>
          </a:xfrm>
          <a:custGeom>
            <a:avLst/>
            <a:gdLst/>
            <a:ahLst/>
            <a:cxnLst/>
            <a:rect l="l" t="t" r="r" b="b"/>
            <a:pathLst>
              <a:path w="5237480" h="877570">
                <a:moveTo>
                  <a:pt x="5237226" y="146177"/>
                </a:moveTo>
                <a:lnTo>
                  <a:pt x="5229771" y="99961"/>
                </a:lnTo>
                <a:lnTo>
                  <a:pt x="5209032" y="59829"/>
                </a:lnTo>
                <a:lnTo>
                  <a:pt x="5177396" y="28194"/>
                </a:lnTo>
                <a:lnTo>
                  <a:pt x="5137264" y="7454"/>
                </a:lnTo>
                <a:lnTo>
                  <a:pt x="5091049" y="0"/>
                </a:lnTo>
                <a:lnTo>
                  <a:pt x="146177" y="0"/>
                </a:lnTo>
                <a:lnTo>
                  <a:pt x="99949" y="7454"/>
                </a:lnTo>
                <a:lnTo>
                  <a:pt x="59817" y="28194"/>
                </a:lnTo>
                <a:lnTo>
                  <a:pt x="28181" y="59829"/>
                </a:lnTo>
                <a:lnTo>
                  <a:pt x="7442" y="99961"/>
                </a:lnTo>
                <a:lnTo>
                  <a:pt x="0" y="146177"/>
                </a:lnTo>
                <a:lnTo>
                  <a:pt x="0" y="730885"/>
                </a:lnTo>
                <a:lnTo>
                  <a:pt x="7442" y="777113"/>
                </a:lnTo>
                <a:lnTo>
                  <a:pt x="28181" y="817245"/>
                </a:lnTo>
                <a:lnTo>
                  <a:pt x="59817" y="848880"/>
                </a:lnTo>
                <a:lnTo>
                  <a:pt x="99949" y="869619"/>
                </a:lnTo>
                <a:lnTo>
                  <a:pt x="146177" y="877062"/>
                </a:lnTo>
                <a:lnTo>
                  <a:pt x="5091049" y="877062"/>
                </a:lnTo>
                <a:lnTo>
                  <a:pt x="5137264" y="869619"/>
                </a:lnTo>
                <a:lnTo>
                  <a:pt x="5177396" y="848880"/>
                </a:lnTo>
                <a:lnTo>
                  <a:pt x="5209032" y="817245"/>
                </a:lnTo>
                <a:lnTo>
                  <a:pt x="5229771" y="777113"/>
                </a:lnTo>
                <a:lnTo>
                  <a:pt x="5237226" y="730885"/>
                </a:lnTo>
                <a:lnTo>
                  <a:pt x="5237226" y="146177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05811" y="4156202"/>
            <a:ext cx="45783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DDL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r>
              <a:rPr sz="2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classified</a:t>
            </a:r>
            <a:r>
              <a:rPr sz="20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606296" y="4814696"/>
            <a:ext cx="6109970" cy="1353185"/>
            <a:chOff x="1606296" y="4814696"/>
            <a:chExt cx="6109970" cy="1353185"/>
          </a:xfrm>
        </p:grpSpPr>
        <p:sp>
          <p:nvSpPr>
            <p:cNvPr id="7" name="object 7"/>
            <p:cNvSpPr/>
            <p:nvPr/>
          </p:nvSpPr>
          <p:spPr>
            <a:xfrm>
              <a:off x="4756785" y="4814696"/>
              <a:ext cx="0" cy="299720"/>
            </a:xfrm>
            <a:custGeom>
              <a:avLst/>
              <a:gdLst/>
              <a:ahLst/>
              <a:cxnLst/>
              <a:rect l="l" t="t" r="r" b="b"/>
              <a:pathLst>
                <a:path h="299720">
                  <a:moveTo>
                    <a:pt x="0" y="0"/>
                  </a:moveTo>
                  <a:lnTo>
                    <a:pt x="0" y="299466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2923" y="5130164"/>
              <a:ext cx="3822700" cy="20955"/>
            </a:xfrm>
            <a:custGeom>
              <a:avLst/>
              <a:gdLst/>
              <a:ahLst/>
              <a:cxnLst/>
              <a:rect l="l" t="t" r="r" b="b"/>
              <a:pathLst>
                <a:path w="3822700" h="20954">
                  <a:moveTo>
                    <a:pt x="0" y="20827"/>
                  </a:moveTo>
                  <a:lnTo>
                    <a:pt x="3822700" y="0"/>
                  </a:lnTo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06296" y="5522213"/>
              <a:ext cx="2413000" cy="645795"/>
            </a:xfrm>
            <a:custGeom>
              <a:avLst/>
              <a:gdLst/>
              <a:ahLst/>
              <a:cxnLst/>
              <a:rect l="l" t="t" r="r" b="b"/>
              <a:pathLst>
                <a:path w="2413000" h="645795">
                  <a:moveTo>
                    <a:pt x="2412492" y="107569"/>
                  </a:moveTo>
                  <a:lnTo>
                    <a:pt x="2404033" y="65697"/>
                  </a:lnTo>
                  <a:lnTo>
                    <a:pt x="2380996" y="31496"/>
                  </a:lnTo>
                  <a:lnTo>
                    <a:pt x="2346795" y="8458"/>
                  </a:lnTo>
                  <a:lnTo>
                    <a:pt x="2304923" y="0"/>
                  </a:lnTo>
                  <a:lnTo>
                    <a:pt x="107569" y="0"/>
                  </a:lnTo>
                  <a:lnTo>
                    <a:pt x="65684" y="8458"/>
                  </a:lnTo>
                  <a:lnTo>
                    <a:pt x="31496" y="31496"/>
                  </a:lnTo>
                  <a:lnTo>
                    <a:pt x="8445" y="65697"/>
                  </a:lnTo>
                  <a:lnTo>
                    <a:pt x="0" y="107569"/>
                  </a:lnTo>
                  <a:lnTo>
                    <a:pt x="0" y="537845"/>
                  </a:lnTo>
                  <a:lnTo>
                    <a:pt x="8445" y="579716"/>
                  </a:lnTo>
                  <a:lnTo>
                    <a:pt x="31496" y="613918"/>
                  </a:lnTo>
                  <a:lnTo>
                    <a:pt x="65684" y="636968"/>
                  </a:lnTo>
                  <a:lnTo>
                    <a:pt x="107569" y="645414"/>
                  </a:lnTo>
                  <a:lnTo>
                    <a:pt x="2304923" y="645414"/>
                  </a:lnTo>
                  <a:lnTo>
                    <a:pt x="2346795" y="636968"/>
                  </a:lnTo>
                  <a:lnTo>
                    <a:pt x="2380996" y="613918"/>
                  </a:lnTo>
                  <a:lnTo>
                    <a:pt x="2404033" y="579716"/>
                  </a:lnTo>
                  <a:lnTo>
                    <a:pt x="2412492" y="537845"/>
                  </a:lnTo>
                  <a:lnTo>
                    <a:pt x="2412492" y="107569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74823" y="5148452"/>
              <a:ext cx="76200" cy="374015"/>
            </a:xfrm>
            <a:custGeom>
              <a:avLst/>
              <a:gdLst/>
              <a:ahLst/>
              <a:cxnLst/>
              <a:rect l="l" t="t" r="r" b="b"/>
              <a:pathLst>
                <a:path w="76200" h="374014">
                  <a:moveTo>
                    <a:pt x="31750" y="297561"/>
                  </a:moveTo>
                  <a:lnTo>
                    <a:pt x="0" y="297561"/>
                  </a:lnTo>
                  <a:lnTo>
                    <a:pt x="38100" y="373761"/>
                  </a:lnTo>
                  <a:lnTo>
                    <a:pt x="69850" y="310261"/>
                  </a:lnTo>
                  <a:lnTo>
                    <a:pt x="31750" y="310261"/>
                  </a:lnTo>
                  <a:lnTo>
                    <a:pt x="31750" y="297561"/>
                  </a:lnTo>
                  <a:close/>
                </a:path>
                <a:path w="76200" h="374014">
                  <a:moveTo>
                    <a:pt x="44450" y="0"/>
                  </a:moveTo>
                  <a:lnTo>
                    <a:pt x="31750" y="0"/>
                  </a:lnTo>
                  <a:lnTo>
                    <a:pt x="31750" y="310261"/>
                  </a:lnTo>
                  <a:lnTo>
                    <a:pt x="44450" y="310261"/>
                  </a:lnTo>
                  <a:lnTo>
                    <a:pt x="44450" y="0"/>
                  </a:lnTo>
                  <a:close/>
                </a:path>
                <a:path w="76200" h="374014">
                  <a:moveTo>
                    <a:pt x="76200" y="297561"/>
                  </a:moveTo>
                  <a:lnTo>
                    <a:pt x="44450" y="297561"/>
                  </a:lnTo>
                  <a:lnTo>
                    <a:pt x="44450" y="310261"/>
                  </a:lnTo>
                  <a:lnTo>
                    <a:pt x="69850" y="310261"/>
                  </a:lnTo>
                  <a:lnTo>
                    <a:pt x="76200" y="2975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303520" y="5462777"/>
              <a:ext cx="2413000" cy="645795"/>
            </a:xfrm>
            <a:custGeom>
              <a:avLst/>
              <a:gdLst/>
              <a:ahLst/>
              <a:cxnLst/>
              <a:rect l="l" t="t" r="r" b="b"/>
              <a:pathLst>
                <a:path w="2413000" h="645795">
                  <a:moveTo>
                    <a:pt x="2412492" y="107569"/>
                  </a:moveTo>
                  <a:lnTo>
                    <a:pt x="2404033" y="65697"/>
                  </a:lnTo>
                  <a:lnTo>
                    <a:pt x="2380996" y="31496"/>
                  </a:lnTo>
                  <a:lnTo>
                    <a:pt x="2346795" y="8458"/>
                  </a:lnTo>
                  <a:lnTo>
                    <a:pt x="2304923" y="0"/>
                  </a:lnTo>
                  <a:lnTo>
                    <a:pt x="107569" y="0"/>
                  </a:lnTo>
                  <a:lnTo>
                    <a:pt x="65684" y="8458"/>
                  </a:lnTo>
                  <a:lnTo>
                    <a:pt x="31496" y="31496"/>
                  </a:lnTo>
                  <a:lnTo>
                    <a:pt x="8445" y="65697"/>
                  </a:lnTo>
                  <a:lnTo>
                    <a:pt x="0" y="107569"/>
                  </a:lnTo>
                  <a:lnTo>
                    <a:pt x="0" y="537845"/>
                  </a:lnTo>
                  <a:lnTo>
                    <a:pt x="8445" y="579716"/>
                  </a:lnTo>
                  <a:lnTo>
                    <a:pt x="31496" y="613918"/>
                  </a:lnTo>
                  <a:lnTo>
                    <a:pt x="65684" y="636968"/>
                  </a:lnTo>
                  <a:lnTo>
                    <a:pt x="107569" y="645414"/>
                  </a:lnTo>
                  <a:lnTo>
                    <a:pt x="2304923" y="645414"/>
                  </a:lnTo>
                  <a:lnTo>
                    <a:pt x="2346795" y="636968"/>
                  </a:lnTo>
                  <a:lnTo>
                    <a:pt x="2380996" y="613918"/>
                  </a:lnTo>
                  <a:lnTo>
                    <a:pt x="2404033" y="579716"/>
                  </a:lnTo>
                  <a:lnTo>
                    <a:pt x="2412492" y="537845"/>
                  </a:lnTo>
                  <a:lnTo>
                    <a:pt x="2412492" y="107569"/>
                  </a:lnTo>
                  <a:close/>
                </a:path>
              </a:pathLst>
            </a:custGeom>
            <a:solidFill>
              <a:srgbClr val="8063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97777" y="5148452"/>
              <a:ext cx="76200" cy="314960"/>
            </a:xfrm>
            <a:custGeom>
              <a:avLst/>
              <a:gdLst/>
              <a:ahLst/>
              <a:cxnLst/>
              <a:rect l="l" t="t" r="r" b="b"/>
              <a:pathLst>
                <a:path w="76200" h="314960">
                  <a:moveTo>
                    <a:pt x="31750" y="238506"/>
                  </a:moveTo>
                  <a:lnTo>
                    <a:pt x="0" y="238506"/>
                  </a:lnTo>
                  <a:lnTo>
                    <a:pt x="38100" y="314706"/>
                  </a:lnTo>
                  <a:lnTo>
                    <a:pt x="69850" y="251206"/>
                  </a:lnTo>
                  <a:lnTo>
                    <a:pt x="31750" y="251206"/>
                  </a:lnTo>
                  <a:lnTo>
                    <a:pt x="31750" y="238506"/>
                  </a:lnTo>
                  <a:close/>
                </a:path>
                <a:path w="76200" h="314960">
                  <a:moveTo>
                    <a:pt x="44450" y="0"/>
                  </a:moveTo>
                  <a:lnTo>
                    <a:pt x="31750" y="0"/>
                  </a:lnTo>
                  <a:lnTo>
                    <a:pt x="31750" y="251206"/>
                  </a:lnTo>
                  <a:lnTo>
                    <a:pt x="44450" y="251206"/>
                  </a:lnTo>
                  <a:lnTo>
                    <a:pt x="44450" y="0"/>
                  </a:lnTo>
                  <a:close/>
                </a:path>
                <a:path w="76200" h="314960">
                  <a:moveTo>
                    <a:pt x="76200" y="238506"/>
                  </a:moveTo>
                  <a:lnTo>
                    <a:pt x="44450" y="238506"/>
                  </a:lnTo>
                  <a:lnTo>
                    <a:pt x="44450" y="251206"/>
                  </a:lnTo>
                  <a:lnTo>
                    <a:pt x="69850" y="251206"/>
                  </a:lnTo>
                  <a:lnTo>
                    <a:pt x="76200" y="2385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47088" y="5571744"/>
            <a:ext cx="1776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Database-Scoped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DDL  </a:t>
            </a:r>
            <a:r>
              <a:rPr sz="1400" spc="30" dirty="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3155" y="5545073"/>
            <a:ext cx="15760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Server-Scoped</a:t>
            </a:r>
            <a:r>
              <a:rPr sz="14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imes New Roman"/>
                <a:cs typeface="Times New Roman"/>
              </a:rPr>
              <a:t>DDL  </a:t>
            </a:r>
            <a:r>
              <a:rPr sz="1400" spc="30" dirty="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57823" y="3463289"/>
            <a:ext cx="17595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20" dirty="0">
                <a:latin typeface="Arial"/>
                <a:cs typeface="Arial"/>
              </a:rPr>
              <a:t>Scope </a:t>
            </a:r>
            <a:r>
              <a:rPr sz="1400" b="1" spc="-45" dirty="0">
                <a:latin typeface="Arial"/>
                <a:cs typeface="Arial"/>
              </a:rPr>
              <a:t>of </a:t>
            </a:r>
            <a:r>
              <a:rPr sz="1400" b="1" spc="45" dirty="0">
                <a:latin typeface="Arial"/>
                <a:cs typeface="Arial"/>
              </a:rPr>
              <a:t>DDL</a:t>
            </a:r>
            <a:r>
              <a:rPr sz="1400" b="1" spc="-210" dirty="0">
                <a:latin typeface="Arial"/>
                <a:cs typeface="Arial"/>
              </a:rPr>
              <a:t> </a:t>
            </a:r>
            <a:r>
              <a:rPr sz="1400" b="1" spc="-90" dirty="0">
                <a:latin typeface="Arial"/>
                <a:cs typeface="Arial"/>
              </a:rPr>
              <a:t>Triggers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6679" y="1571244"/>
            <a:ext cx="2579370" cy="1631950"/>
            <a:chOff x="106679" y="1571244"/>
            <a:chExt cx="2579370" cy="1631950"/>
          </a:xfrm>
        </p:grpSpPr>
        <p:sp>
          <p:nvSpPr>
            <p:cNvPr id="17" name="object 17"/>
            <p:cNvSpPr/>
            <p:nvPr/>
          </p:nvSpPr>
          <p:spPr>
            <a:xfrm>
              <a:off x="125729" y="1571244"/>
              <a:ext cx="2541270" cy="339090"/>
            </a:xfrm>
            <a:custGeom>
              <a:avLst/>
              <a:gdLst/>
              <a:ahLst/>
              <a:cxnLst/>
              <a:rect l="l" t="t" r="r" b="b"/>
              <a:pathLst>
                <a:path w="2541270" h="339089">
                  <a:moveTo>
                    <a:pt x="2541270" y="0"/>
                  </a:moveTo>
                  <a:lnTo>
                    <a:pt x="0" y="0"/>
                  </a:lnTo>
                  <a:lnTo>
                    <a:pt x="0" y="339089"/>
                  </a:lnTo>
                  <a:lnTo>
                    <a:pt x="2541270" y="339089"/>
                  </a:lnTo>
                  <a:lnTo>
                    <a:pt x="2541270" y="0"/>
                  </a:lnTo>
                  <a:close/>
                </a:path>
              </a:pathLst>
            </a:custGeom>
            <a:solidFill>
              <a:srgbClr val="06A2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5729" y="1860042"/>
              <a:ext cx="2541270" cy="1323975"/>
            </a:xfrm>
            <a:custGeom>
              <a:avLst/>
              <a:gdLst/>
              <a:ahLst/>
              <a:cxnLst/>
              <a:rect l="l" t="t" r="r" b="b"/>
              <a:pathLst>
                <a:path w="2541270" h="1323975">
                  <a:moveTo>
                    <a:pt x="0" y="1323593"/>
                  </a:moveTo>
                  <a:lnTo>
                    <a:pt x="2541270" y="1323593"/>
                  </a:lnTo>
                  <a:lnTo>
                    <a:pt x="2541270" y="0"/>
                  </a:lnTo>
                  <a:lnTo>
                    <a:pt x="0" y="0"/>
                  </a:lnTo>
                  <a:lnTo>
                    <a:pt x="0" y="1323593"/>
                  </a:lnTo>
                  <a:close/>
                </a:path>
              </a:pathLst>
            </a:custGeom>
            <a:ln w="38100">
              <a:solidFill>
                <a:srgbClr val="06A29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44779" y="1887219"/>
            <a:ext cx="250317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0" marR="18224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DDL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triggers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are</a:t>
            </a:r>
            <a:r>
              <a:rPr sz="1600" spc="-1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invoked  by SQL statements 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executed either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in the  current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database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or on  the current</a:t>
            </a:r>
            <a:r>
              <a:rPr sz="16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404040"/>
                </a:solidFill>
                <a:latin typeface="Arial"/>
                <a:cs typeface="Arial"/>
              </a:rPr>
              <a:t>server.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29483" y="1571244"/>
            <a:ext cx="2579370" cy="1631950"/>
            <a:chOff x="2729483" y="1571244"/>
            <a:chExt cx="2579370" cy="1631950"/>
          </a:xfrm>
        </p:grpSpPr>
        <p:sp>
          <p:nvSpPr>
            <p:cNvPr id="21" name="object 21"/>
            <p:cNvSpPr/>
            <p:nvPr/>
          </p:nvSpPr>
          <p:spPr>
            <a:xfrm>
              <a:off x="2748533" y="1571244"/>
              <a:ext cx="2541270" cy="339090"/>
            </a:xfrm>
            <a:custGeom>
              <a:avLst/>
              <a:gdLst/>
              <a:ahLst/>
              <a:cxnLst/>
              <a:rect l="l" t="t" r="r" b="b"/>
              <a:pathLst>
                <a:path w="2541270" h="339089">
                  <a:moveTo>
                    <a:pt x="2541270" y="0"/>
                  </a:moveTo>
                  <a:lnTo>
                    <a:pt x="0" y="0"/>
                  </a:lnTo>
                  <a:lnTo>
                    <a:pt x="0" y="339089"/>
                  </a:lnTo>
                  <a:lnTo>
                    <a:pt x="2541270" y="339089"/>
                  </a:lnTo>
                  <a:lnTo>
                    <a:pt x="2541270" y="0"/>
                  </a:lnTo>
                  <a:close/>
                </a:path>
              </a:pathLst>
            </a:custGeom>
            <a:solidFill>
              <a:srgbClr val="0580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8533" y="1860042"/>
              <a:ext cx="2541270" cy="1323975"/>
            </a:xfrm>
            <a:custGeom>
              <a:avLst/>
              <a:gdLst/>
              <a:ahLst/>
              <a:cxnLst/>
              <a:rect l="l" t="t" r="r" b="b"/>
              <a:pathLst>
                <a:path w="2541270" h="1323975">
                  <a:moveTo>
                    <a:pt x="0" y="1323593"/>
                  </a:moveTo>
                  <a:lnTo>
                    <a:pt x="2541270" y="1323593"/>
                  </a:lnTo>
                  <a:lnTo>
                    <a:pt x="2541270" y="0"/>
                  </a:lnTo>
                  <a:lnTo>
                    <a:pt x="0" y="0"/>
                  </a:lnTo>
                  <a:lnTo>
                    <a:pt x="0" y="1323593"/>
                  </a:lnTo>
                  <a:close/>
                </a:path>
              </a:pathLst>
            </a:custGeom>
            <a:ln w="38100">
              <a:solidFill>
                <a:srgbClr val="0580C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767583" y="1887219"/>
            <a:ext cx="2503170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0" marR="307975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The scope of the DDL 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trigger depends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on 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whether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the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trigger  executes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for </a:t>
            </a:r>
            <a:r>
              <a:rPr sz="1600" spc="-5" dirty="0">
                <a:solidFill>
                  <a:srgbClr val="404040"/>
                </a:solidFill>
                <a:latin typeface="Arial"/>
                <a:cs typeface="Arial"/>
              </a:rPr>
              <a:t>database 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events or server</a:t>
            </a:r>
            <a:r>
              <a:rPr sz="1600" spc="-8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"/>
                <a:cs typeface="Arial"/>
              </a:rPr>
              <a:t>events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63078" y="6569709"/>
            <a:ext cx="950594" cy="25654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54" baseline="4629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200" spc="-20" dirty="0">
                <a:latin typeface="Times New Roman"/>
                <a:cs typeface="Times New Roman"/>
              </a:rPr>
              <a:t>21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202" y="47243"/>
            <a:ext cx="58134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5" dirty="0"/>
              <a:t>Scope</a:t>
            </a:r>
            <a:r>
              <a:rPr spc="-160" dirty="0"/>
              <a:t> </a:t>
            </a:r>
            <a:r>
              <a:rPr spc="114" dirty="0"/>
              <a:t>of</a:t>
            </a:r>
            <a:r>
              <a:rPr spc="-160" dirty="0"/>
              <a:t> </a:t>
            </a:r>
            <a:r>
              <a:rPr spc="175" dirty="0"/>
              <a:t>DDL</a:t>
            </a:r>
            <a:r>
              <a:rPr spc="-185" dirty="0"/>
              <a:t> </a:t>
            </a:r>
            <a:r>
              <a:rPr spc="90" dirty="0"/>
              <a:t>Triggers</a:t>
            </a:r>
            <a:r>
              <a:rPr spc="-160" dirty="0"/>
              <a:t> </a:t>
            </a:r>
            <a:r>
              <a:rPr spc="-80" dirty="0"/>
              <a:t>2-2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63078" y="6569709"/>
            <a:ext cx="950594" cy="25654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54" baseline="4629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200" spc="-20" dirty="0">
                <a:latin typeface="Times New Roman"/>
                <a:cs typeface="Times New Roman"/>
              </a:rPr>
              <a:t>22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53719" y="1394967"/>
          <a:ext cx="3418204" cy="32663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8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1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8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262890" marR="94615" indent="-171450">
                        <a:lnSpc>
                          <a:spcPct val="100000"/>
                        </a:lnSpc>
                        <a:buChar char="•"/>
                        <a:tabLst>
                          <a:tab pos="263525" algn="l"/>
                        </a:tabLst>
                      </a:pP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They </a:t>
                      </a: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are invoked by 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events  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that modify </a:t>
                      </a: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database</a:t>
                      </a: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schema.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62890" marR="116839" indent="-171450">
                        <a:lnSpc>
                          <a:spcPct val="100000"/>
                        </a:lnSpc>
                        <a:buChar char="•"/>
                        <a:tabLst>
                          <a:tab pos="263525" algn="l"/>
                        </a:tabLst>
                      </a:pP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Stored in the 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database and  </a:t>
                      </a: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execute on DDL events, except  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those related </a:t>
                      </a: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to 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temporary</a:t>
                      </a:r>
                      <a:r>
                        <a:rPr sz="1600" spc="4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tables.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5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12">
                <a:tc>
                  <a:txBody>
                    <a:bodyPr/>
                    <a:lstStyle/>
                    <a:p>
                      <a:pPr marL="2540" algn="ctr">
                        <a:lnSpc>
                          <a:spcPts val="2005"/>
                        </a:lnSpc>
                      </a:pPr>
                      <a:r>
                        <a:rPr sz="2000" b="1" spc="-1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Database-Scoped</a:t>
                      </a:r>
                      <a:r>
                        <a:rPr sz="2000" b="1" spc="-1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DDL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000" b="1" spc="-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Triggers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580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28575">
                      <a:solidFill>
                        <a:srgbClr val="0580C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768850" y="1394967"/>
          <a:ext cx="3297554" cy="3266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75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05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29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262890" marR="157480" indent="-171450">
                        <a:lnSpc>
                          <a:spcPct val="100000"/>
                        </a:lnSpc>
                        <a:buChar char="•"/>
                        <a:tabLst>
                          <a:tab pos="263525" algn="l"/>
                        </a:tabLst>
                      </a:pP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Server-scoped DDL 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triggers</a:t>
                      </a:r>
                      <a:r>
                        <a:rPr sz="1600" spc="-7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are  invoked by DDL events at the  server 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level.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62890" indent="-172085">
                        <a:lnSpc>
                          <a:spcPct val="100000"/>
                        </a:lnSpc>
                        <a:buChar char="•"/>
                        <a:tabLst>
                          <a:tab pos="263525" algn="l"/>
                        </a:tabLst>
                      </a:pP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Stored </a:t>
                      </a:r>
                      <a:r>
                        <a:rPr sz="1600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in the master</a:t>
                      </a:r>
                      <a:r>
                        <a:rPr sz="1600" spc="-5" dirty="0">
                          <a:solidFill>
                            <a:srgbClr val="404040"/>
                          </a:solidFill>
                          <a:latin typeface="Arial"/>
                          <a:cs typeface="Arial"/>
                        </a:rPr>
                        <a:t> database.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4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763">
                <a:tc>
                  <a:txBody>
                    <a:bodyPr/>
                    <a:lstStyle/>
                    <a:p>
                      <a:pPr marL="3810" algn="ctr">
                        <a:lnSpc>
                          <a:spcPts val="2170"/>
                        </a:lnSpc>
                      </a:pPr>
                      <a:r>
                        <a:rPr sz="2000" b="1" spc="-1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Server-Scoped</a:t>
                      </a:r>
                      <a:r>
                        <a:rPr sz="2000" b="1" spc="-1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DDL</a:t>
                      </a:r>
                      <a:endParaRPr sz="2000">
                        <a:latin typeface="Arial"/>
                        <a:cs typeface="Arial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000" b="1" spc="-1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Triggers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0C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141" y="36575"/>
            <a:ext cx="34867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Nested</a:t>
            </a:r>
            <a:r>
              <a:rPr spc="-215" dirty="0"/>
              <a:t> </a:t>
            </a:r>
            <a:r>
              <a:rPr spc="90" dirty="0"/>
              <a:t>Triggers</a:t>
            </a:r>
          </a:p>
        </p:txBody>
      </p:sp>
      <p:sp>
        <p:nvSpPr>
          <p:cNvPr id="3" name="object 3"/>
          <p:cNvSpPr/>
          <p:nvPr/>
        </p:nvSpPr>
        <p:spPr>
          <a:xfrm>
            <a:off x="295656" y="1042415"/>
            <a:ext cx="7172959" cy="862965"/>
          </a:xfrm>
          <a:custGeom>
            <a:avLst/>
            <a:gdLst/>
            <a:ahLst/>
            <a:cxnLst/>
            <a:rect l="l" t="t" r="r" b="b"/>
            <a:pathLst>
              <a:path w="7172959" h="862964">
                <a:moveTo>
                  <a:pt x="7172706" y="143764"/>
                </a:moveTo>
                <a:lnTo>
                  <a:pt x="7165365" y="98336"/>
                </a:lnTo>
                <a:lnTo>
                  <a:pt x="7144956" y="58877"/>
                </a:lnTo>
                <a:lnTo>
                  <a:pt x="7113829" y="27749"/>
                </a:lnTo>
                <a:lnTo>
                  <a:pt x="7074370" y="7340"/>
                </a:lnTo>
                <a:lnTo>
                  <a:pt x="7028942" y="0"/>
                </a:lnTo>
                <a:lnTo>
                  <a:pt x="143764" y="0"/>
                </a:lnTo>
                <a:lnTo>
                  <a:pt x="98310" y="7340"/>
                </a:lnTo>
                <a:lnTo>
                  <a:pt x="58851" y="27749"/>
                </a:lnTo>
                <a:lnTo>
                  <a:pt x="27736" y="58877"/>
                </a:lnTo>
                <a:lnTo>
                  <a:pt x="7327" y="98336"/>
                </a:lnTo>
                <a:lnTo>
                  <a:pt x="0" y="143764"/>
                </a:lnTo>
                <a:lnTo>
                  <a:pt x="0" y="718820"/>
                </a:lnTo>
                <a:lnTo>
                  <a:pt x="7327" y="764260"/>
                </a:lnTo>
                <a:lnTo>
                  <a:pt x="27736" y="803719"/>
                </a:lnTo>
                <a:lnTo>
                  <a:pt x="58851" y="834847"/>
                </a:lnTo>
                <a:lnTo>
                  <a:pt x="98310" y="855256"/>
                </a:lnTo>
                <a:lnTo>
                  <a:pt x="143764" y="862584"/>
                </a:lnTo>
                <a:lnTo>
                  <a:pt x="7028942" y="862584"/>
                </a:lnTo>
                <a:lnTo>
                  <a:pt x="7074370" y="855256"/>
                </a:lnTo>
                <a:lnTo>
                  <a:pt x="7113829" y="834847"/>
                </a:lnTo>
                <a:lnTo>
                  <a:pt x="7144956" y="803719"/>
                </a:lnTo>
                <a:lnTo>
                  <a:pt x="7165365" y="764260"/>
                </a:lnTo>
                <a:lnTo>
                  <a:pt x="7172706" y="718820"/>
                </a:lnTo>
                <a:lnTo>
                  <a:pt x="7172706" y="143764"/>
                </a:lnTo>
                <a:close/>
              </a:path>
            </a:pathLst>
          </a:custGeom>
          <a:solidFill>
            <a:srgbClr val="0580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9328" y="2047493"/>
            <a:ext cx="6838950" cy="584200"/>
          </a:xfrm>
          <a:custGeom>
            <a:avLst/>
            <a:gdLst/>
            <a:ahLst/>
            <a:cxnLst/>
            <a:rect l="l" t="t" r="r" b="b"/>
            <a:pathLst>
              <a:path w="6838950" h="584200">
                <a:moveTo>
                  <a:pt x="6838950" y="97282"/>
                </a:moveTo>
                <a:lnTo>
                  <a:pt x="6831292" y="59423"/>
                </a:lnTo>
                <a:lnTo>
                  <a:pt x="6810451" y="28498"/>
                </a:lnTo>
                <a:lnTo>
                  <a:pt x="6779527" y="7658"/>
                </a:lnTo>
                <a:lnTo>
                  <a:pt x="6741668" y="0"/>
                </a:lnTo>
                <a:lnTo>
                  <a:pt x="97282" y="0"/>
                </a:lnTo>
                <a:lnTo>
                  <a:pt x="59410" y="7658"/>
                </a:lnTo>
                <a:lnTo>
                  <a:pt x="28486" y="28498"/>
                </a:lnTo>
                <a:lnTo>
                  <a:pt x="7632" y="59423"/>
                </a:lnTo>
                <a:lnTo>
                  <a:pt x="0" y="97282"/>
                </a:lnTo>
                <a:lnTo>
                  <a:pt x="0" y="486410"/>
                </a:lnTo>
                <a:lnTo>
                  <a:pt x="7632" y="524281"/>
                </a:lnTo>
                <a:lnTo>
                  <a:pt x="28486" y="555205"/>
                </a:lnTo>
                <a:lnTo>
                  <a:pt x="59410" y="576046"/>
                </a:lnTo>
                <a:lnTo>
                  <a:pt x="97282" y="583692"/>
                </a:lnTo>
                <a:lnTo>
                  <a:pt x="6741668" y="583692"/>
                </a:lnTo>
                <a:lnTo>
                  <a:pt x="6779527" y="576046"/>
                </a:lnTo>
                <a:lnTo>
                  <a:pt x="6810451" y="555205"/>
                </a:lnTo>
                <a:lnTo>
                  <a:pt x="6831292" y="524281"/>
                </a:lnTo>
                <a:lnTo>
                  <a:pt x="6838950" y="486410"/>
                </a:lnTo>
                <a:lnTo>
                  <a:pt x="6838950" y="441198"/>
                </a:lnTo>
                <a:lnTo>
                  <a:pt x="6838950" y="142494"/>
                </a:lnTo>
                <a:lnTo>
                  <a:pt x="6838950" y="97282"/>
                </a:lnTo>
                <a:close/>
              </a:path>
            </a:pathLst>
          </a:custGeom>
          <a:solidFill>
            <a:srgbClr val="06A2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38428" y="2941319"/>
            <a:ext cx="6838950" cy="890905"/>
          </a:xfrm>
          <a:custGeom>
            <a:avLst/>
            <a:gdLst/>
            <a:ahLst/>
            <a:cxnLst/>
            <a:rect l="l" t="t" r="r" b="b"/>
            <a:pathLst>
              <a:path w="6838950" h="890904">
                <a:moveTo>
                  <a:pt x="6838950" y="148463"/>
                </a:moveTo>
                <a:lnTo>
                  <a:pt x="6831381" y="101523"/>
                </a:lnTo>
                <a:lnTo>
                  <a:pt x="6810311" y="60769"/>
                </a:lnTo>
                <a:lnTo>
                  <a:pt x="6778180" y="28638"/>
                </a:lnTo>
                <a:lnTo>
                  <a:pt x="6737426" y="7569"/>
                </a:lnTo>
                <a:lnTo>
                  <a:pt x="6690487" y="0"/>
                </a:lnTo>
                <a:lnTo>
                  <a:pt x="148463" y="0"/>
                </a:lnTo>
                <a:lnTo>
                  <a:pt x="101536" y="7569"/>
                </a:lnTo>
                <a:lnTo>
                  <a:pt x="60782" y="28638"/>
                </a:lnTo>
                <a:lnTo>
                  <a:pt x="28638" y="60769"/>
                </a:lnTo>
                <a:lnTo>
                  <a:pt x="7556" y="101523"/>
                </a:lnTo>
                <a:lnTo>
                  <a:pt x="0" y="148463"/>
                </a:lnTo>
                <a:lnTo>
                  <a:pt x="0" y="742315"/>
                </a:lnTo>
                <a:lnTo>
                  <a:pt x="7556" y="789266"/>
                </a:lnTo>
                <a:lnTo>
                  <a:pt x="28638" y="830021"/>
                </a:lnTo>
                <a:lnTo>
                  <a:pt x="60782" y="862152"/>
                </a:lnTo>
                <a:lnTo>
                  <a:pt x="101536" y="883221"/>
                </a:lnTo>
                <a:lnTo>
                  <a:pt x="148463" y="890778"/>
                </a:lnTo>
                <a:lnTo>
                  <a:pt x="6690487" y="890778"/>
                </a:lnTo>
                <a:lnTo>
                  <a:pt x="6737426" y="883221"/>
                </a:lnTo>
                <a:lnTo>
                  <a:pt x="6778180" y="862152"/>
                </a:lnTo>
                <a:lnTo>
                  <a:pt x="6810311" y="830021"/>
                </a:lnTo>
                <a:lnTo>
                  <a:pt x="6831381" y="789266"/>
                </a:lnTo>
                <a:lnTo>
                  <a:pt x="6838950" y="742315"/>
                </a:lnTo>
                <a:lnTo>
                  <a:pt x="6838950" y="673608"/>
                </a:lnTo>
                <a:lnTo>
                  <a:pt x="6838950" y="217170"/>
                </a:lnTo>
                <a:lnTo>
                  <a:pt x="6838950" y="148463"/>
                </a:lnTo>
                <a:close/>
              </a:path>
            </a:pathLst>
          </a:custGeom>
          <a:solidFill>
            <a:srgbClr val="90C2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69136" y="4280153"/>
            <a:ext cx="6838950" cy="1256030"/>
          </a:xfrm>
          <a:custGeom>
            <a:avLst/>
            <a:gdLst/>
            <a:ahLst/>
            <a:cxnLst/>
            <a:rect l="l" t="t" r="r" b="b"/>
            <a:pathLst>
              <a:path w="6838950" h="1256029">
                <a:moveTo>
                  <a:pt x="6838950" y="209296"/>
                </a:moveTo>
                <a:lnTo>
                  <a:pt x="6833413" y="161315"/>
                </a:lnTo>
                <a:lnTo>
                  <a:pt x="6817665" y="117271"/>
                </a:lnTo>
                <a:lnTo>
                  <a:pt x="6792963" y="78409"/>
                </a:lnTo>
                <a:lnTo>
                  <a:pt x="6760540" y="45986"/>
                </a:lnTo>
                <a:lnTo>
                  <a:pt x="6721678" y="21285"/>
                </a:lnTo>
                <a:lnTo>
                  <a:pt x="6677634" y="5537"/>
                </a:lnTo>
                <a:lnTo>
                  <a:pt x="6629654" y="0"/>
                </a:lnTo>
                <a:lnTo>
                  <a:pt x="209296" y="0"/>
                </a:lnTo>
                <a:lnTo>
                  <a:pt x="161302" y="5537"/>
                </a:lnTo>
                <a:lnTo>
                  <a:pt x="117259" y="21285"/>
                </a:lnTo>
                <a:lnTo>
                  <a:pt x="78397" y="45986"/>
                </a:lnTo>
                <a:lnTo>
                  <a:pt x="45974" y="78409"/>
                </a:lnTo>
                <a:lnTo>
                  <a:pt x="21272" y="117271"/>
                </a:lnTo>
                <a:lnTo>
                  <a:pt x="5524" y="161315"/>
                </a:lnTo>
                <a:lnTo>
                  <a:pt x="0" y="209296"/>
                </a:lnTo>
                <a:lnTo>
                  <a:pt x="0" y="1046480"/>
                </a:lnTo>
                <a:lnTo>
                  <a:pt x="5524" y="1094473"/>
                </a:lnTo>
                <a:lnTo>
                  <a:pt x="21272" y="1138516"/>
                </a:lnTo>
                <a:lnTo>
                  <a:pt x="45974" y="1177378"/>
                </a:lnTo>
                <a:lnTo>
                  <a:pt x="78397" y="1209802"/>
                </a:lnTo>
                <a:lnTo>
                  <a:pt x="117259" y="1234503"/>
                </a:lnTo>
                <a:lnTo>
                  <a:pt x="161302" y="1250251"/>
                </a:lnTo>
                <a:lnTo>
                  <a:pt x="209296" y="1255776"/>
                </a:lnTo>
                <a:lnTo>
                  <a:pt x="6629654" y="1255776"/>
                </a:lnTo>
                <a:lnTo>
                  <a:pt x="6677634" y="1250251"/>
                </a:lnTo>
                <a:lnTo>
                  <a:pt x="6721678" y="1234503"/>
                </a:lnTo>
                <a:lnTo>
                  <a:pt x="6760540" y="1209802"/>
                </a:lnTo>
                <a:lnTo>
                  <a:pt x="6792963" y="1177378"/>
                </a:lnTo>
                <a:lnTo>
                  <a:pt x="6817665" y="1138516"/>
                </a:lnTo>
                <a:lnTo>
                  <a:pt x="6833413" y="1094473"/>
                </a:lnTo>
                <a:lnTo>
                  <a:pt x="6838950" y="1046480"/>
                </a:lnTo>
                <a:lnTo>
                  <a:pt x="6838950" y="950214"/>
                </a:lnTo>
                <a:lnTo>
                  <a:pt x="6838950" y="305562"/>
                </a:lnTo>
                <a:lnTo>
                  <a:pt x="6838950" y="209296"/>
                </a:lnTo>
                <a:close/>
              </a:path>
            </a:pathLst>
          </a:custGeom>
          <a:solidFill>
            <a:srgbClr val="FAA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48386" y="1102868"/>
            <a:ext cx="7680959" cy="4249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19810">
              <a:lnSpc>
                <a:spcPct val="100000"/>
              </a:lnSpc>
              <a:spcBef>
                <a:spcPts val="95"/>
              </a:spcBef>
              <a:tabLst>
                <a:tab pos="687070" algn="l"/>
                <a:tab pos="1380490" algn="l"/>
                <a:tab pos="1929130" algn="l"/>
                <a:tab pos="2654935" algn="l"/>
                <a:tab pos="3607435" algn="l"/>
                <a:tab pos="4077335" algn="l"/>
                <a:tab pos="4933950" algn="l"/>
                <a:tab pos="5680710" algn="l"/>
                <a:tab pos="5936615" algn="l"/>
              </a:tabLst>
            </a:pP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oth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DDL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14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ML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tr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ggers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18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ed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130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h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en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r 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implements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action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initiates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00" dirty="0">
                <a:solidFill>
                  <a:srgbClr val="FFFFFF"/>
                </a:solidFill>
                <a:latin typeface="Times New Roman"/>
                <a:cs typeface="Times New Roman"/>
              </a:rPr>
              <a:t>another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 marL="513715">
              <a:lnSpc>
                <a:spcPct val="100000"/>
              </a:lnSpc>
            </a:pP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DDL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DML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triggers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nested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25" dirty="0">
                <a:solidFill>
                  <a:srgbClr val="FFFFFF"/>
                </a:solidFill>
                <a:latin typeface="Times New Roman"/>
                <a:cs typeface="Times New Roman"/>
              </a:rPr>
              <a:t>up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30" dirty="0">
                <a:solidFill>
                  <a:srgbClr val="FFFFFF"/>
                </a:solidFill>
                <a:latin typeface="Times New Roman"/>
                <a:cs typeface="Times New Roman"/>
              </a:rPr>
              <a:t>32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levels.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681355" marR="337820">
              <a:lnSpc>
                <a:spcPct val="100000"/>
              </a:lnSpc>
              <a:spcBef>
                <a:spcPts val="207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If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nested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triggers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allowed 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then,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triggers 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sequence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05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infinite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loop.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1011555" marR="5080" algn="just">
              <a:lnSpc>
                <a:spcPct val="100000"/>
              </a:lnSpc>
              <a:spcBef>
                <a:spcPts val="2155"/>
              </a:spcBef>
            </a:pP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Nested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triggers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used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3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perform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functions such 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as 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storing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backup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rows 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that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affected 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by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previous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actions.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63078" y="6569709"/>
            <a:ext cx="950594" cy="25654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54" baseline="4629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200" spc="-20" dirty="0">
                <a:latin typeface="Times New Roman"/>
                <a:cs typeface="Times New Roman"/>
              </a:rPr>
              <a:t>23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493"/>
            <a:ext cx="253746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UPDATE()</a:t>
            </a:r>
          </a:p>
        </p:txBody>
      </p:sp>
      <p:sp>
        <p:nvSpPr>
          <p:cNvPr id="3" name="object 3"/>
          <p:cNvSpPr/>
          <p:nvPr/>
        </p:nvSpPr>
        <p:spPr>
          <a:xfrm>
            <a:off x="159258" y="1255775"/>
            <a:ext cx="8680450" cy="1504950"/>
          </a:xfrm>
          <a:custGeom>
            <a:avLst/>
            <a:gdLst/>
            <a:ahLst/>
            <a:cxnLst/>
            <a:rect l="l" t="t" r="r" b="b"/>
            <a:pathLst>
              <a:path w="8680450" h="1504950">
                <a:moveTo>
                  <a:pt x="8679942" y="250825"/>
                </a:moveTo>
                <a:lnTo>
                  <a:pt x="8675891" y="205740"/>
                </a:lnTo>
                <a:lnTo>
                  <a:pt x="8664245" y="163296"/>
                </a:lnTo>
                <a:lnTo>
                  <a:pt x="8645703" y="124218"/>
                </a:lnTo>
                <a:lnTo>
                  <a:pt x="8620950" y="89217"/>
                </a:lnTo>
                <a:lnTo>
                  <a:pt x="8590724" y="58991"/>
                </a:lnTo>
                <a:lnTo>
                  <a:pt x="8555723" y="34239"/>
                </a:lnTo>
                <a:lnTo>
                  <a:pt x="8516645" y="15697"/>
                </a:lnTo>
                <a:lnTo>
                  <a:pt x="8474202" y="4051"/>
                </a:lnTo>
                <a:lnTo>
                  <a:pt x="8429117" y="0"/>
                </a:lnTo>
                <a:lnTo>
                  <a:pt x="250825" y="0"/>
                </a:lnTo>
                <a:lnTo>
                  <a:pt x="205740" y="4051"/>
                </a:lnTo>
                <a:lnTo>
                  <a:pt x="163296" y="15697"/>
                </a:lnTo>
                <a:lnTo>
                  <a:pt x="124231" y="34239"/>
                </a:lnTo>
                <a:lnTo>
                  <a:pt x="89217" y="58991"/>
                </a:lnTo>
                <a:lnTo>
                  <a:pt x="58991" y="89217"/>
                </a:lnTo>
                <a:lnTo>
                  <a:pt x="34239" y="124218"/>
                </a:lnTo>
                <a:lnTo>
                  <a:pt x="15684" y="163296"/>
                </a:lnTo>
                <a:lnTo>
                  <a:pt x="4038" y="205740"/>
                </a:lnTo>
                <a:lnTo>
                  <a:pt x="0" y="250825"/>
                </a:lnTo>
                <a:lnTo>
                  <a:pt x="0" y="1254125"/>
                </a:lnTo>
                <a:lnTo>
                  <a:pt x="4038" y="1299222"/>
                </a:lnTo>
                <a:lnTo>
                  <a:pt x="15684" y="1341666"/>
                </a:lnTo>
                <a:lnTo>
                  <a:pt x="34239" y="1380744"/>
                </a:lnTo>
                <a:lnTo>
                  <a:pt x="58991" y="1415745"/>
                </a:lnTo>
                <a:lnTo>
                  <a:pt x="89217" y="1445971"/>
                </a:lnTo>
                <a:lnTo>
                  <a:pt x="124231" y="1470723"/>
                </a:lnTo>
                <a:lnTo>
                  <a:pt x="163296" y="1489265"/>
                </a:lnTo>
                <a:lnTo>
                  <a:pt x="205740" y="1500911"/>
                </a:lnTo>
                <a:lnTo>
                  <a:pt x="250825" y="1504950"/>
                </a:lnTo>
                <a:lnTo>
                  <a:pt x="8429117" y="1504950"/>
                </a:lnTo>
                <a:lnTo>
                  <a:pt x="8474202" y="1500911"/>
                </a:lnTo>
                <a:lnTo>
                  <a:pt x="8516645" y="1489265"/>
                </a:lnTo>
                <a:lnTo>
                  <a:pt x="8555723" y="1470723"/>
                </a:lnTo>
                <a:lnTo>
                  <a:pt x="8590724" y="1445971"/>
                </a:lnTo>
                <a:lnTo>
                  <a:pt x="8620950" y="1415745"/>
                </a:lnTo>
                <a:lnTo>
                  <a:pt x="8645703" y="1380744"/>
                </a:lnTo>
                <a:lnTo>
                  <a:pt x="8664245" y="1341666"/>
                </a:lnTo>
                <a:lnTo>
                  <a:pt x="8675891" y="1299222"/>
                </a:lnTo>
                <a:lnTo>
                  <a:pt x="8679942" y="1254125"/>
                </a:lnTo>
                <a:lnTo>
                  <a:pt x="8679942" y="2508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2627" y="1334008"/>
            <a:ext cx="80892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UPDATE( </a:t>
            </a:r>
            <a:r>
              <a:rPr sz="2200" spc="-15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function returns 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200" spc="55" dirty="0">
                <a:solidFill>
                  <a:srgbClr val="FFFFFF"/>
                </a:solidFill>
                <a:latin typeface="Times New Roman"/>
                <a:cs typeface="Times New Roman"/>
              </a:rPr>
              <a:t>Boolean </a:t>
            </a:r>
            <a:r>
              <a:rPr sz="2200" spc="60" dirty="0">
                <a:solidFill>
                  <a:srgbClr val="FFFFFF"/>
                </a:solidFill>
                <a:latin typeface="Times New Roman"/>
                <a:cs typeface="Times New Roman"/>
              </a:rPr>
              <a:t>value </a:t>
            </a:r>
            <a:r>
              <a:rPr sz="2200" spc="125" dirty="0">
                <a:solidFill>
                  <a:srgbClr val="FFFFFF"/>
                </a:solidFill>
                <a:latin typeface="Times New Roman"/>
                <a:cs typeface="Times New Roman"/>
              </a:rPr>
              <a:t>that 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specifies  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whether </a:t>
            </a:r>
            <a:r>
              <a:rPr sz="2200" spc="114" dirty="0">
                <a:solidFill>
                  <a:srgbClr val="FFFFFF"/>
                </a:solidFill>
                <a:latin typeface="Times New Roman"/>
                <a:cs typeface="Times New Roman"/>
              </a:rPr>
              <a:t>an </a:t>
            </a:r>
            <a:r>
              <a:rPr sz="2200" spc="125" dirty="0">
                <a:solidFill>
                  <a:srgbClr val="FFFFFF"/>
                </a:solidFill>
                <a:latin typeface="Times New Roman"/>
                <a:cs typeface="Times New Roman"/>
              </a:rPr>
              <a:t>UPDATE </a:t>
            </a:r>
            <a:r>
              <a:rPr sz="2200" spc="95" dirty="0">
                <a:solidFill>
                  <a:srgbClr val="FFFFFF"/>
                </a:solidFill>
                <a:latin typeface="Times New Roman"/>
                <a:cs typeface="Times New Roman"/>
              </a:rPr>
              <a:t>or </a:t>
            </a:r>
            <a:r>
              <a:rPr sz="2200" spc="85" dirty="0">
                <a:solidFill>
                  <a:srgbClr val="FFFFFF"/>
                </a:solidFill>
                <a:latin typeface="Times New Roman"/>
                <a:cs typeface="Times New Roman"/>
              </a:rPr>
              <a:t>INSERT </a:t>
            </a:r>
            <a:r>
              <a:rPr sz="2200" spc="80" dirty="0">
                <a:solidFill>
                  <a:srgbClr val="FFFFFF"/>
                </a:solidFill>
                <a:latin typeface="Times New Roman"/>
                <a:cs typeface="Times New Roman"/>
              </a:rPr>
              <a:t>action 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was </a:t>
            </a:r>
            <a:r>
              <a:rPr sz="2200" spc="85" dirty="0">
                <a:solidFill>
                  <a:srgbClr val="FFFFFF"/>
                </a:solidFill>
                <a:latin typeface="Times New Roman"/>
                <a:cs typeface="Times New Roman"/>
              </a:rPr>
              <a:t>performed </a:t>
            </a:r>
            <a:r>
              <a:rPr sz="2200" spc="150" dirty="0">
                <a:solidFill>
                  <a:srgbClr val="FFFFFF"/>
                </a:solidFill>
                <a:latin typeface="Times New Roman"/>
                <a:cs typeface="Times New Roman"/>
              </a:rPr>
              <a:t>on 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a  </a:t>
            </a:r>
            <a:r>
              <a:rPr sz="2200" spc="30" dirty="0">
                <a:solidFill>
                  <a:srgbClr val="FFFFFF"/>
                </a:solidFill>
                <a:latin typeface="Times New Roman"/>
                <a:cs typeface="Times New Roman"/>
              </a:rPr>
              <a:t>specific</a:t>
            </a:r>
            <a:r>
              <a:rPr sz="2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view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9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column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6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55" dirty="0">
                <a:solidFill>
                  <a:srgbClr val="FFFFFF"/>
                </a:solidFill>
                <a:latin typeface="Times New Roman"/>
                <a:cs typeface="Times New Roman"/>
              </a:rPr>
              <a:t>table.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" y="3438905"/>
            <a:ext cx="7924800" cy="1645920"/>
          </a:xfrm>
          <a:custGeom>
            <a:avLst/>
            <a:gdLst/>
            <a:ahLst/>
            <a:cxnLst/>
            <a:rect l="l" t="t" r="r" b="b"/>
            <a:pathLst>
              <a:path w="7924800" h="1645920">
                <a:moveTo>
                  <a:pt x="7924800" y="274320"/>
                </a:moveTo>
                <a:lnTo>
                  <a:pt x="7920380" y="225018"/>
                </a:lnTo>
                <a:lnTo>
                  <a:pt x="7907629" y="178600"/>
                </a:lnTo>
                <a:lnTo>
                  <a:pt x="7887348" y="135864"/>
                </a:lnTo>
                <a:lnTo>
                  <a:pt x="7860284" y="97586"/>
                </a:lnTo>
                <a:lnTo>
                  <a:pt x="7827213" y="64516"/>
                </a:lnTo>
                <a:lnTo>
                  <a:pt x="7788935" y="37452"/>
                </a:lnTo>
                <a:lnTo>
                  <a:pt x="7746200" y="17170"/>
                </a:lnTo>
                <a:lnTo>
                  <a:pt x="7699781" y="4419"/>
                </a:lnTo>
                <a:lnTo>
                  <a:pt x="7650480" y="0"/>
                </a:lnTo>
                <a:lnTo>
                  <a:pt x="274320" y="0"/>
                </a:lnTo>
                <a:lnTo>
                  <a:pt x="225005" y="4419"/>
                </a:lnTo>
                <a:lnTo>
                  <a:pt x="178600" y="17170"/>
                </a:lnTo>
                <a:lnTo>
                  <a:pt x="135864" y="37452"/>
                </a:lnTo>
                <a:lnTo>
                  <a:pt x="97574" y="64516"/>
                </a:lnTo>
                <a:lnTo>
                  <a:pt x="64516" y="97586"/>
                </a:lnTo>
                <a:lnTo>
                  <a:pt x="37452" y="135864"/>
                </a:lnTo>
                <a:lnTo>
                  <a:pt x="17157" y="178600"/>
                </a:lnTo>
                <a:lnTo>
                  <a:pt x="4419" y="225018"/>
                </a:lnTo>
                <a:lnTo>
                  <a:pt x="0" y="274320"/>
                </a:lnTo>
                <a:lnTo>
                  <a:pt x="0" y="1371600"/>
                </a:lnTo>
                <a:lnTo>
                  <a:pt x="4419" y="1420914"/>
                </a:lnTo>
                <a:lnTo>
                  <a:pt x="17157" y="1467332"/>
                </a:lnTo>
                <a:lnTo>
                  <a:pt x="37452" y="1510068"/>
                </a:lnTo>
                <a:lnTo>
                  <a:pt x="64516" y="1548345"/>
                </a:lnTo>
                <a:lnTo>
                  <a:pt x="97574" y="1581416"/>
                </a:lnTo>
                <a:lnTo>
                  <a:pt x="135864" y="1608480"/>
                </a:lnTo>
                <a:lnTo>
                  <a:pt x="178600" y="1628762"/>
                </a:lnTo>
                <a:lnTo>
                  <a:pt x="225005" y="1641513"/>
                </a:lnTo>
                <a:lnTo>
                  <a:pt x="274320" y="1645920"/>
                </a:lnTo>
                <a:lnTo>
                  <a:pt x="7650480" y="1645920"/>
                </a:lnTo>
                <a:lnTo>
                  <a:pt x="7699781" y="1641513"/>
                </a:lnTo>
                <a:lnTo>
                  <a:pt x="7746200" y="1628762"/>
                </a:lnTo>
                <a:lnTo>
                  <a:pt x="7788935" y="1608480"/>
                </a:lnTo>
                <a:lnTo>
                  <a:pt x="7827213" y="1581416"/>
                </a:lnTo>
                <a:lnTo>
                  <a:pt x="7860284" y="1548345"/>
                </a:lnTo>
                <a:lnTo>
                  <a:pt x="7887348" y="1510068"/>
                </a:lnTo>
                <a:lnTo>
                  <a:pt x="7907629" y="1467332"/>
                </a:lnTo>
                <a:lnTo>
                  <a:pt x="7920380" y="1420914"/>
                </a:lnTo>
                <a:lnTo>
                  <a:pt x="7924800" y="1371600"/>
                </a:lnTo>
                <a:lnTo>
                  <a:pt x="7924800" y="27432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5369" y="3749547"/>
            <a:ext cx="7033259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UPDATE( 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function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can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be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used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anywhere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inside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body 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2000" spc="30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Transact-SQL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UPDATE </a:t>
            </a:r>
            <a:r>
              <a:rPr sz="2000" spc="85" dirty="0">
                <a:solidFill>
                  <a:srgbClr val="FFFFFF"/>
                </a:solidFill>
                <a:latin typeface="Times New Roman"/>
                <a:cs typeface="Times New Roman"/>
              </a:rPr>
              <a:t>or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INSERT 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trigger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000" spc="75" dirty="0">
                <a:solidFill>
                  <a:srgbClr val="FFFFFF"/>
                </a:solidFill>
                <a:latin typeface="Times New Roman"/>
                <a:cs typeface="Times New Roman"/>
              </a:rPr>
              <a:t>test  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whether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Times New Roman"/>
                <a:cs typeface="Times New Roman"/>
              </a:rPr>
              <a:t>trigger</a:t>
            </a:r>
            <a:r>
              <a:rPr sz="2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90" dirty="0">
                <a:solidFill>
                  <a:srgbClr val="FFFFFF"/>
                </a:solidFill>
                <a:latin typeface="Times New Roman"/>
                <a:cs typeface="Times New Roman"/>
              </a:rPr>
              <a:t>should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70" dirty="0">
                <a:solidFill>
                  <a:srgbClr val="FFFFFF"/>
                </a:solidFill>
                <a:latin typeface="Times New Roman"/>
                <a:cs typeface="Times New Roman"/>
              </a:rPr>
              <a:t>execute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some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55" dirty="0">
                <a:solidFill>
                  <a:srgbClr val="FFFFFF"/>
                </a:solidFill>
                <a:latin typeface="Times New Roman"/>
                <a:cs typeface="Times New Roman"/>
              </a:rPr>
              <a:t>actions.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63078" y="6569709"/>
            <a:ext cx="950594" cy="25654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54" baseline="4629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200" spc="-20" dirty="0">
                <a:latin typeface="Times New Roman"/>
                <a:cs typeface="Times New Roman"/>
              </a:rPr>
              <a:t>24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854" y="15493"/>
            <a:ext cx="862457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65" dirty="0"/>
              <a:t>Handling</a:t>
            </a:r>
            <a:r>
              <a:rPr spc="-155" dirty="0"/>
              <a:t> </a:t>
            </a:r>
            <a:r>
              <a:rPr spc="114" dirty="0"/>
              <a:t>of</a:t>
            </a:r>
            <a:r>
              <a:rPr spc="-175" dirty="0"/>
              <a:t> </a:t>
            </a:r>
            <a:r>
              <a:rPr spc="125" dirty="0"/>
              <a:t>Multiple</a:t>
            </a:r>
            <a:r>
              <a:rPr spc="-175" dirty="0"/>
              <a:t> </a:t>
            </a:r>
            <a:r>
              <a:rPr spc="125" dirty="0"/>
              <a:t>Rows</a:t>
            </a:r>
            <a:r>
              <a:rPr spc="-155" dirty="0"/>
              <a:t> </a:t>
            </a:r>
            <a:r>
              <a:rPr spc="195" dirty="0"/>
              <a:t>in</a:t>
            </a:r>
            <a:r>
              <a:rPr spc="-155" dirty="0"/>
              <a:t> </a:t>
            </a:r>
            <a:r>
              <a:rPr spc="65" dirty="0"/>
              <a:t>a</a:t>
            </a:r>
            <a:r>
              <a:rPr spc="-160" dirty="0"/>
              <a:t> </a:t>
            </a:r>
            <a:r>
              <a:rPr spc="120" dirty="0"/>
              <a:t>Session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63078" y="6569709"/>
            <a:ext cx="950594" cy="25654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54" baseline="4629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200" spc="-20" dirty="0">
                <a:latin typeface="Times New Roman"/>
                <a:cs typeface="Times New Roman"/>
              </a:rPr>
              <a:t>25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3394" y="1682750"/>
          <a:ext cx="7444740" cy="3479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4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55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 marR="82550">
                        <a:lnSpc>
                          <a:spcPts val="173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When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 user writes the code for a DML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trigger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then, the statement that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causes 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the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trigger to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fire will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be single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statement.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1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This single statement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will affect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multiple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rows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of data,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instead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of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single</a:t>
                      </a:r>
                      <a:r>
                        <a:rPr sz="16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row.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E9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1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ts val="1825"/>
                        </a:lnSpc>
                        <a:tabLst>
                          <a:tab pos="609600" algn="l"/>
                          <a:tab pos="889635" algn="l"/>
                          <a:tab pos="1137285" algn="l"/>
                          <a:tab pos="2051685" algn="l"/>
                          <a:tab pos="2966720" algn="l"/>
                          <a:tab pos="3338829" algn="l"/>
                          <a:tab pos="4263390" algn="l"/>
                          <a:tab pos="4735830" algn="l"/>
                          <a:tab pos="5692775" algn="l"/>
                          <a:tab pos="6505575" algn="l"/>
                          <a:tab pos="6855459" algn="l"/>
                        </a:tabLst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This	is	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	common	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behavior	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for	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DELETE	and	UPDATE	triggers	as	these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91440">
                        <a:lnSpc>
                          <a:spcPts val="1825"/>
                        </a:lnSpc>
                      </a:pPr>
                      <a:r>
                        <a:rPr sz="1600" spc="-5" dirty="0">
                          <a:latin typeface="Arial"/>
                          <a:cs typeface="Arial"/>
                        </a:rPr>
                        <a:t>statements often affect multiple</a:t>
                      </a:r>
                      <a:r>
                        <a:rPr sz="16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rows.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L w="12700">
                      <a:solidFill>
                        <a:srgbClr val="4AACC5"/>
                      </a:solidFill>
                      <a:prstDash val="solid"/>
                    </a:lnL>
                    <a:lnR w="12700">
                      <a:solidFill>
                        <a:srgbClr val="4AACC5"/>
                      </a:solidFill>
                      <a:prstDash val="solid"/>
                    </a:lnR>
                    <a:lnT w="12700">
                      <a:solidFill>
                        <a:srgbClr val="4AACC5"/>
                      </a:solidFill>
                      <a:prstDash val="solid"/>
                    </a:lnT>
                    <a:lnB w="12700">
                      <a:solidFill>
                        <a:srgbClr val="4AACC5"/>
                      </a:solidFill>
                      <a:prstDash val="solid"/>
                    </a:lnB>
                    <a:solidFill>
                      <a:srgbClr val="D0E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493"/>
            <a:ext cx="394271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40" dirty="0"/>
              <a:t>LOGON</a:t>
            </a:r>
            <a:r>
              <a:rPr spc="-220" dirty="0"/>
              <a:t> </a:t>
            </a:r>
            <a:r>
              <a:rPr spc="90" dirty="0"/>
              <a:t>Triggers</a:t>
            </a:r>
          </a:p>
        </p:txBody>
      </p:sp>
      <p:sp>
        <p:nvSpPr>
          <p:cNvPr id="3" name="object 3"/>
          <p:cNvSpPr/>
          <p:nvPr/>
        </p:nvSpPr>
        <p:spPr>
          <a:xfrm>
            <a:off x="304800" y="979169"/>
            <a:ext cx="8698230" cy="1877060"/>
          </a:xfrm>
          <a:custGeom>
            <a:avLst/>
            <a:gdLst/>
            <a:ahLst/>
            <a:cxnLst/>
            <a:rect l="l" t="t" r="r" b="b"/>
            <a:pathLst>
              <a:path w="8698230" h="1877060">
                <a:moveTo>
                  <a:pt x="8698230" y="312801"/>
                </a:moveTo>
                <a:lnTo>
                  <a:pt x="8694826" y="266585"/>
                </a:lnTo>
                <a:lnTo>
                  <a:pt x="8684971" y="222478"/>
                </a:lnTo>
                <a:lnTo>
                  <a:pt x="8669147" y="180949"/>
                </a:lnTo>
                <a:lnTo>
                  <a:pt x="8647824" y="142494"/>
                </a:lnTo>
                <a:lnTo>
                  <a:pt x="8621484" y="107607"/>
                </a:lnTo>
                <a:lnTo>
                  <a:pt x="8590623" y="76746"/>
                </a:lnTo>
                <a:lnTo>
                  <a:pt x="8555736" y="50406"/>
                </a:lnTo>
                <a:lnTo>
                  <a:pt x="8517280" y="29083"/>
                </a:lnTo>
                <a:lnTo>
                  <a:pt x="8475751" y="13258"/>
                </a:lnTo>
                <a:lnTo>
                  <a:pt x="8431644" y="3403"/>
                </a:lnTo>
                <a:lnTo>
                  <a:pt x="8385429" y="0"/>
                </a:lnTo>
                <a:lnTo>
                  <a:pt x="312813" y="0"/>
                </a:lnTo>
                <a:lnTo>
                  <a:pt x="266585" y="3403"/>
                </a:lnTo>
                <a:lnTo>
                  <a:pt x="222465" y="13258"/>
                </a:lnTo>
                <a:lnTo>
                  <a:pt x="180936" y="29083"/>
                </a:lnTo>
                <a:lnTo>
                  <a:pt x="142481" y="50406"/>
                </a:lnTo>
                <a:lnTo>
                  <a:pt x="107581" y="76746"/>
                </a:lnTo>
                <a:lnTo>
                  <a:pt x="76720" y="107607"/>
                </a:lnTo>
                <a:lnTo>
                  <a:pt x="50393" y="142494"/>
                </a:lnTo>
                <a:lnTo>
                  <a:pt x="29070" y="180949"/>
                </a:lnTo>
                <a:lnTo>
                  <a:pt x="13233" y="222478"/>
                </a:lnTo>
                <a:lnTo>
                  <a:pt x="3390" y="266585"/>
                </a:lnTo>
                <a:lnTo>
                  <a:pt x="0" y="312801"/>
                </a:lnTo>
                <a:lnTo>
                  <a:pt x="0" y="1564005"/>
                </a:lnTo>
                <a:lnTo>
                  <a:pt x="3390" y="1610233"/>
                </a:lnTo>
                <a:lnTo>
                  <a:pt x="13233" y="1654340"/>
                </a:lnTo>
                <a:lnTo>
                  <a:pt x="29070" y="1695869"/>
                </a:lnTo>
                <a:lnTo>
                  <a:pt x="50393" y="1734324"/>
                </a:lnTo>
                <a:lnTo>
                  <a:pt x="76720" y="1769211"/>
                </a:lnTo>
                <a:lnTo>
                  <a:pt x="107581" y="1800072"/>
                </a:lnTo>
                <a:lnTo>
                  <a:pt x="142481" y="1826412"/>
                </a:lnTo>
                <a:lnTo>
                  <a:pt x="180936" y="1847735"/>
                </a:lnTo>
                <a:lnTo>
                  <a:pt x="222465" y="1863559"/>
                </a:lnTo>
                <a:lnTo>
                  <a:pt x="266585" y="1873415"/>
                </a:lnTo>
                <a:lnTo>
                  <a:pt x="312813" y="1876806"/>
                </a:lnTo>
                <a:lnTo>
                  <a:pt x="8385429" y="1876806"/>
                </a:lnTo>
                <a:lnTo>
                  <a:pt x="8431644" y="1873415"/>
                </a:lnTo>
                <a:lnTo>
                  <a:pt x="8475751" y="1863559"/>
                </a:lnTo>
                <a:lnTo>
                  <a:pt x="8517280" y="1847735"/>
                </a:lnTo>
                <a:lnTo>
                  <a:pt x="8555736" y="1826412"/>
                </a:lnTo>
                <a:lnTo>
                  <a:pt x="8590623" y="1800072"/>
                </a:lnTo>
                <a:lnTo>
                  <a:pt x="8621484" y="1769211"/>
                </a:lnTo>
                <a:lnTo>
                  <a:pt x="8647824" y="1734324"/>
                </a:lnTo>
                <a:lnTo>
                  <a:pt x="8669147" y="1695869"/>
                </a:lnTo>
                <a:lnTo>
                  <a:pt x="8684971" y="1654340"/>
                </a:lnTo>
                <a:lnTo>
                  <a:pt x="8694826" y="1610233"/>
                </a:lnTo>
                <a:lnTo>
                  <a:pt x="8698230" y="1564005"/>
                </a:lnTo>
                <a:lnTo>
                  <a:pt x="8698230" y="1419606"/>
                </a:lnTo>
                <a:lnTo>
                  <a:pt x="8698230" y="457200"/>
                </a:lnTo>
                <a:lnTo>
                  <a:pt x="8698230" y="312801"/>
                </a:lnTo>
                <a:close/>
              </a:path>
            </a:pathLst>
          </a:custGeom>
          <a:solidFill>
            <a:srgbClr val="8063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2130" y="1171955"/>
            <a:ext cx="835850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6235" algn="l"/>
              </a:tabLst>
            </a:pPr>
            <a:r>
              <a:rPr sz="2200" spc="70" dirty="0">
                <a:solidFill>
                  <a:srgbClr val="FFFFFF"/>
                </a:solidFill>
                <a:latin typeface="Times New Roman"/>
                <a:cs typeface="Times New Roman"/>
              </a:rPr>
              <a:t>Logon </a:t>
            </a:r>
            <a:r>
              <a:rPr sz="2200" spc="40" dirty="0">
                <a:solidFill>
                  <a:srgbClr val="FFFFFF"/>
                </a:solidFill>
                <a:latin typeface="Times New Roman"/>
                <a:cs typeface="Times New Roman"/>
              </a:rPr>
              <a:t>triggers </a:t>
            </a:r>
            <a:r>
              <a:rPr sz="2200" spc="45" dirty="0">
                <a:solidFill>
                  <a:srgbClr val="FFFFFF"/>
                </a:solidFill>
                <a:latin typeface="Times New Roman"/>
                <a:cs typeface="Times New Roman"/>
              </a:rPr>
              <a:t>fire </a:t>
            </a:r>
            <a:r>
              <a:rPr sz="2200" spc="85" dirty="0">
                <a:solidFill>
                  <a:srgbClr val="FFFFFF"/>
                </a:solidFill>
                <a:latin typeface="Times New Roman"/>
                <a:cs typeface="Times New Roman"/>
              </a:rPr>
              <a:t>stored </a:t>
            </a:r>
            <a:r>
              <a:rPr sz="2200" spc="80" dirty="0">
                <a:solidFill>
                  <a:srgbClr val="FFFFFF"/>
                </a:solidFill>
                <a:latin typeface="Times New Roman"/>
                <a:cs typeface="Times New Roman"/>
              </a:rPr>
              <a:t>procedures </a:t>
            </a: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sz="2200" spc="75" dirty="0">
                <a:solidFill>
                  <a:srgbClr val="FFFFFF"/>
                </a:solidFill>
                <a:latin typeface="Times New Roman"/>
                <a:cs typeface="Times New Roman"/>
              </a:rPr>
              <a:t>response </a:t>
            </a:r>
            <a:r>
              <a:rPr sz="2200" spc="120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200" spc="180" dirty="0">
                <a:solidFill>
                  <a:srgbClr val="FFFFFF"/>
                </a:solidFill>
                <a:latin typeface="Times New Roman"/>
                <a:cs typeface="Times New Roman"/>
              </a:rPr>
              <a:t>LOGON  </a:t>
            </a:r>
            <a:r>
              <a:rPr sz="2200" spc="75" dirty="0">
                <a:solidFill>
                  <a:srgbClr val="FFFFFF"/>
                </a:solidFill>
                <a:latin typeface="Times New Roman"/>
                <a:cs typeface="Times New Roman"/>
              </a:rPr>
              <a:t>event.</a:t>
            </a:r>
            <a:endParaRPr sz="2200">
              <a:latin typeface="Times New Roman"/>
              <a:cs typeface="Times New Roman"/>
            </a:endParaRPr>
          </a:p>
          <a:p>
            <a:pPr marL="355600" marR="6350" indent="-343535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200" spc="105" dirty="0">
                <a:solidFill>
                  <a:srgbClr val="FFFFFF"/>
                </a:solidFill>
                <a:latin typeface="Times New Roman"/>
                <a:cs typeface="Times New Roman"/>
              </a:rPr>
              <a:t>This </a:t>
            </a:r>
            <a:r>
              <a:rPr sz="2200" spc="95" dirty="0">
                <a:solidFill>
                  <a:srgbClr val="FFFFFF"/>
                </a:solidFill>
                <a:latin typeface="Times New Roman"/>
                <a:cs typeface="Times New Roman"/>
              </a:rPr>
              <a:t>event 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200" spc="55" dirty="0">
                <a:solidFill>
                  <a:srgbClr val="FFFFFF"/>
                </a:solidFill>
                <a:latin typeface="Times New Roman"/>
                <a:cs typeface="Times New Roman"/>
              </a:rPr>
              <a:t>raised </a:t>
            </a:r>
            <a:r>
              <a:rPr sz="2200" spc="125" dirty="0">
                <a:solidFill>
                  <a:srgbClr val="FFFFFF"/>
                </a:solidFill>
                <a:latin typeface="Times New Roman"/>
                <a:cs typeface="Times New Roman"/>
              </a:rPr>
              <a:t>when </a:t>
            </a:r>
            <a:r>
              <a:rPr sz="2200" spc="35" dirty="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sz="2200" spc="75" dirty="0">
                <a:solidFill>
                  <a:srgbClr val="FFFFFF"/>
                </a:solidFill>
                <a:latin typeface="Times New Roman"/>
                <a:cs typeface="Times New Roman"/>
              </a:rPr>
              <a:t>user </a:t>
            </a:r>
            <a:r>
              <a:rPr sz="2200" spc="50" dirty="0">
                <a:solidFill>
                  <a:srgbClr val="FFFFFF"/>
                </a:solidFill>
                <a:latin typeface="Times New Roman"/>
                <a:cs typeface="Times New Roman"/>
              </a:rPr>
              <a:t>session </a:t>
            </a:r>
            <a:r>
              <a:rPr sz="2200" spc="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2200" spc="65" dirty="0">
                <a:solidFill>
                  <a:srgbClr val="FFFFFF"/>
                </a:solidFill>
                <a:latin typeface="Times New Roman"/>
                <a:cs typeface="Times New Roman"/>
              </a:rPr>
              <a:t>established </a:t>
            </a:r>
            <a:r>
              <a:rPr sz="2200" spc="100" dirty="0">
                <a:solidFill>
                  <a:srgbClr val="FFFFFF"/>
                </a:solidFill>
                <a:latin typeface="Times New Roman"/>
                <a:cs typeface="Times New Roman"/>
              </a:rPr>
              <a:t>with </a:t>
            </a:r>
            <a:r>
              <a:rPr sz="2200" spc="114" dirty="0">
                <a:solidFill>
                  <a:srgbClr val="FFFFFF"/>
                </a:solidFill>
                <a:latin typeface="Times New Roman"/>
                <a:cs typeface="Times New Roman"/>
              </a:rPr>
              <a:t>an  </a:t>
            </a:r>
            <a:r>
              <a:rPr sz="2200" spc="80" dirty="0">
                <a:solidFill>
                  <a:srgbClr val="FFFFFF"/>
                </a:solidFill>
                <a:latin typeface="Times New Roman"/>
                <a:cs typeface="Times New Roman"/>
              </a:rPr>
              <a:t>instance</a:t>
            </a:r>
            <a:r>
              <a:rPr sz="2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65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110" dirty="0">
                <a:solidFill>
                  <a:srgbClr val="FFFFFF"/>
                </a:solidFill>
                <a:latin typeface="Times New Roman"/>
                <a:cs typeface="Times New Roman"/>
              </a:rPr>
              <a:t>SQL</a:t>
            </a:r>
            <a:r>
              <a:rPr sz="22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200" spc="60" dirty="0">
                <a:solidFill>
                  <a:srgbClr val="FFFFFF"/>
                </a:solidFill>
                <a:latin typeface="Times New Roman"/>
                <a:cs typeface="Times New Roman"/>
              </a:rPr>
              <a:t>Server.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7418" y="3429000"/>
            <a:ext cx="7924800" cy="1645920"/>
          </a:xfrm>
          <a:custGeom>
            <a:avLst/>
            <a:gdLst/>
            <a:ahLst/>
            <a:cxnLst/>
            <a:rect l="l" t="t" r="r" b="b"/>
            <a:pathLst>
              <a:path w="7924800" h="1645920">
                <a:moveTo>
                  <a:pt x="7924800" y="274320"/>
                </a:moveTo>
                <a:lnTo>
                  <a:pt x="7920380" y="225018"/>
                </a:lnTo>
                <a:lnTo>
                  <a:pt x="7907629" y="178600"/>
                </a:lnTo>
                <a:lnTo>
                  <a:pt x="7887348" y="135864"/>
                </a:lnTo>
                <a:lnTo>
                  <a:pt x="7860284" y="97586"/>
                </a:lnTo>
                <a:lnTo>
                  <a:pt x="7827213" y="64516"/>
                </a:lnTo>
                <a:lnTo>
                  <a:pt x="7788935" y="37452"/>
                </a:lnTo>
                <a:lnTo>
                  <a:pt x="7746200" y="17170"/>
                </a:lnTo>
                <a:lnTo>
                  <a:pt x="7699781" y="4419"/>
                </a:lnTo>
                <a:lnTo>
                  <a:pt x="7650480" y="0"/>
                </a:lnTo>
                <a:lnTo>
                  <a:pt x="274320" y="0"/>
                </a:lnTo>
                <a:lnTo>
                  <a:pt x="225005" y="4419"/>
                </a:lnTo>
                <a:lnTo>
                  <a:pt x="178600" y="17170"/>
                </a:lnTo>
                <a:lnTo>
                  <a:pt x="135864" y="37452"/>
                </a:lnTo>
                <a:lnTo>
                  <a:pt x="97574" y="64516"/>
                </a:lnTo>
                <a:lnTo>
                  <a:pt x="64516" y="97586"/>
                </a:lnTo>
                <a:lnTo>
                  <a:pt x="37452" y="135864"/>
                </a:lnTo>
                <a:lnTo>
                  <a:pt x="17157" y="178600"/>
                </a:lnTo>
                <a:lnTo>
                  <a:pt x="4419" y="225018"/>
                </a:lnTo>
                <a:lnTo>
                  <a:pt x="0" y="274320"/>
                </a:lnTo>
                <a:lnTo>
                  <a:pt x="0" y="1371600"/>
                </a:lnTo>
                <a:lnTo>
                  <a:pt x="4419" y="1420914"/>
                </a:lnTo>
                <a:lnTo>
                  <a:pt x="17157" y="1467332"/>
                </a:lnTo>
                <a:lnTo>
                  <a:pt x="37452" y="1510068"/>
                </a:lnTo>
                <a:lnTo>
                  <a:pt x="64516" y="1548345"/>
                </a:lnTo>
                <a:lnTo>
                  <a:pt x="97574" y="1581416"/>
                </a:lnTo>
                <a:lnTo>
                  <a:pt x="135864" y="1608480"/>
                </a:lnTo>
                <a:lnTo>
                  <a:pt x="178600" y="1628762"/>
                </a:lnTo>
                <a:lnTo>
                  <a:pt x="225005" y="1641513"/>
                </a:lnTo>
                <a:lnTo>
                  <a:pt x="274320" y="1645920"/>
                </a:lnTo>
                <a:lnTo>
                  <a:pt x="7650480" y="1645920"/>
                </a:lnTo>
                <a:lnTo>
                  <a:pt x="7699781" y="1641513"/>
                </a:lnTo>
                <a:lnTo>
                  <a:pt x="7746200" y="1628762"/>
                </a:lnTo>
                <a:lnTo>
                  <a:pt x="7788935" y="1608480"/>
                </a:lnTo>
                <a:lnTo>
                  <a:pt x="7827213" y="1581416"/>
                </a:lnTo>
                <a:lnTo>
                  <a:pt x="7860284" y="1548345"/>
                </a:lnTo>
                <a:lnTo>
                  <a:pt x="7887348" y="1510068"/>
                </a:lnTo>
                <a:lnTo>
                  <a:pt x="7907629" y="1467332"/>
                </a:lnTo>
                <a:lnTo>
                  <a:pt x="7920380" y="1420914"/>
                </a:lnTo>
                <a:lnTo>
                  <a:pt x="7924800" y="1371600"/>
                </a:lnTo>
                <a:lnTo>
                  <a:pt x="7924800" y="274320"/>
                </a:lnTo>
                <a:close/>
              </a:path>
            </a:pathLst>
          </a:custGeom>
          <a:solidFill>
            <a:srgbClr val="F795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5030" y="3604259"/>
            <a:ext cx="7530465" cy="1188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spc="165" dirty="0">
                <a:solidFill>
                  <a:srgbClr val="FFFFFF"/>
                </a:solidFill>
                <a:latin typeface="Times New Roman"/>
                <a:cs typeface="Times New Roman"/>
              </a:rPr>
              <a:t>LOGON </a:t>
            </a:r>
            <a:r>
              <a:rPr sz="2000" spc="35" dirty="0">
                <a:solidFill>
                  <a:srgbClr val="FFFFFF"/>
                </a:solidFill>
                <a:latin typeface="Times New Roman"/>
                <a:cs typeface="Times New Roman"/>
              </a:rPr>
              <a:t>triggers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spc="65" dirty="0">
                <a:solidFill>
                  <a:srgbClr val="FFFFFF"/>
                </a:solidFill>
                <a:latin typeface="Times New Roman"/>
                <a:cs typeface="Times New Roman"/>
              </a:rPr>
              <a:t>created </a:t>
            </a:r>
            <a:r>
              <a:rPr sz="2000" spc="80" dirty="0">
                <a:solidFill>
                  <a:srgbClr val="FFFFFF"/>
                </a:solidFill>
                <a:latin typeface="Times New Roman"/>
                <a:cs typeface="Times New Roman"/>
              </a:rPr>
              <a:t>at </a:t>
            </a:r>
            <a:r>
              <a:rPr sz="2000" spc="11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server </a:t>
            </a:r>
            <a:r>
              <a:rPr sz="2000" spc="25" dirty="0">
                <a:solidFill>
                  <a:srgbClr val="FFFFFF"/>
                </a:solidFill>
                <a:latin typeface="Times New Roman"/>
                <a:cs typeface="Times New Roman"/>
              </a:rPr>
              <a:t>level </a:t>
            </a:r>
            <a:r>
              <a:rPr sz="2000" spc="114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spc="50" dirty="0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sz="2000" spc="60" dirty="0">
                <a:solidFill>
                  <a:srgbClr val="FFFFFF"/>
                </a:solidFill>
                <a:latin typeface="Times New Roman"/>
                <a:cs typeface="Times New Roman"/>
              </a:rPr>
              <a:t>useful </a:t>
            </a:r>
            <a:r>
              <a:rPr sz="2000" spc="95" dirty="0">
                <a:solidFill>
                  <a:srgbClr val="FFFFFF"/>
                </a:solidFill>
                <a:latin typeface="Times New Roman"/>
                <a:cs typeface="Times New Roman"/>
              </a:rPr>
              <a:t>in  </a:t>
            </a:r>
            <a:r>
              <a:rPr sz="2000" spc="45" dirty="0">
                <a:solidFill>
                  <a:srgbClr val="FFFFFF"/>
                </a:solidFill>
                <a:latin typeface="Times New Roman"/>
                <a:cs typeface="Times New Roman"/>
              </a:rPr>
              <a:t>following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cases: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40"/>
              </a:spcBef>
              <a:buFont typeface="Wingdings"/>
              <a:buChar char=""/>
              <a:tabLst>
                <a:tab pos="298450" algn="l"/>
              </a:tabLst>
            </a:pPr>
            <a:r>
              <a:rPr sz="1800" spc="12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3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imes New Roman"/>
                <a:cs typeface="Times New Roman"/>
              </a:rPr>
              <a:t>audit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login 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activity</a:t>
            </a:r>
            <a:endParaRPr sz="18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"/>
              <a:tabLst>
                <a:tab pos="298450" algn="l"/>
              </a:tabLst>
            </a:pPr>
            <a:r>
              <a:rPr sz="1800" spc="125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75" dirty="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r>
              <a:rPr sz="18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login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Times New Roman"/>
                <a:cs typeface="Times New Roman"/>
              </a:rPr>
              <a:t>activity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63078" y="6569709"/>
            <a:ext cx="950594" cy="25654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54" baseline="4629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200" spc="-20" dirty="0">
                <a:latin typeface="Times New Roman"/>
                <a:cs typeface="Times New Roman"/>
              </a:rPr>
              <a:t>26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493"/>
            <a:ext cx="861898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Performance </a:t>
            </a:r>
            <a:r>
              <a:rPr spc="120" dirty="0"/>
              <a:t>Implication </a:t>
            </a:r>
            <a:r>
              <a:rPr spc="114"/>
              <a:t>of</a:t>
            </a:r>
            <a:r>
              <a:rPr spc="-715"/>
              <a:t> </a:t>
            </a:r>
            <a:r>
              <a:rPr lang="en-US" spc="-715"/>
              <a:t> </a:t>
            </a:r>
            <a:r>
              <a:rPr spc="90"/>
              <a:t>Triggers</a:t>
            </a:r>
            <a:endParaRPr spc="90" dirty="0"/>
          </a:p>
        </p:txBody>
      </p:sp>
      <p:grpSp>
        <p:nvGrpSpPr>
          <p:cNvPr id="3" name="object 3"/>
          <p:cNvGrpSpPr/>
          <p:nvPr/>
        </p:nvGrpSpPr>
        <p:grpSpPr>
          <a:xfrm>
            <a:off x="707008" y="1837817"/>
            <a:ext cx="3729990" cy="1664970"/>
            <a:chOff x="707008" y="1837817"/>
            <a:chExt cx="3729990" cy="1664970"/>
          </a:xfrm>
        </p:grpSpPr>
        <p:sp>
          <p:nvSpPr>
            <p:cNvPr id="4" name="object 4"/>
            <p:cNvSpPr/>
            <p:nvPr/>
          </p:nvSpPr>
          <p:spPr>
            <a:xfrm>
              <a:off x="712089" y="1842896"/>
              <a:ext cx="3719829" cy="1654810"/>
            </a:xfrm>
            <a:custGeom>
              <a:avLst/>
              <a:gdLst/>
              <a:ahLst/>
              <a:cxnLst/>
              <a:rect l="l" t="t" r="r" b="b"/>
              <a:pathLst>
                <a:path w="3719829" h="1654810">
                  <a:moveTo>
                    <a:pt x="3719322" y="0"/>
                  </a:moveTo>
                  <a:lnTo>
                    <a:pt x="0" y="0"/>
                  </a:lnTo>
                  <a:lnTo>
                    <a:pt x="0" y="1581150"/>
                  </a:lnTo>
                  <a:lnTo>
                    <a:pt x="0" y="1654302"/>
                  </a:lnTo>
                  <a:lnTo>
                    <a:pt x="3719322" y="1654302"/>
                  </a:lnTo>
                  <a:lnTo>
                    <a:pt x="3719322" y="1581150"/>
                  </a:lnTo>
                  <a:lnTo>
                    <a:pt x="3719322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2088" y="1842897"/>
              <a:ext cx="3719829" cy="1654810"/>
            </a:xfrm>
            <a:custGeom>
              <a:avLst/>
              <a:gdLst/>
              <a:ahLst/>
              <a:cxnLst/>
              <a:rect l="l" t="t" r="r" b="b"/>
              <a:pathLst>
                <a:path w="3719829" h="1654810">
                  <a:moveTo>
                    <a:pt x="0" y="1654302"/>
                  </a:moveTo>
                  <a:lnTo>
                    <a:pt x="3719322" y="1654302"/>
                  </a:lnTo>
                  <a:lnTo>
                    <a:pt x="3719322" y="0"/>
                  </a:lnTo>
                  <a:lnTo>
                    <a:pt x="0" y="0"/>
                  </a:lnTo>
                  <a:lnTo>
                    <a:pt x="0" y="1654302"/>
                  </a:lnTo>
                  <a:close/>
                </a:path>
              </a:pathLst>
            </a:custGeom>
            <a:ln w="9906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97686" y="2168397"/>
            <a:ext cx="2843530" cy="89217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ct val="92200"/>
              </a:lnSpc>
              <a:spcBef>
                <a:spcPts val="285"/>
              </a:spcBef>
            </a:pPr>
            <a:r>
              <a:rPr sz="2000" spc="45" dirty="0">
                <a:latin typeface="Times New Roman"/>
                <a:cs typeface="Times New Roman"/>
              </a:rPr>
              <a:t>Triggers </a:t>
            </a:r>
            <a:r>
              <a:rPr sz="2000" spc="110" dirty="0">
                <a:latin typeface="Times New Roman"/>
                <a:cs typeface="Times New Roman"/>
              </a:rPr>
              <a:t>do </a:t>
            </a:r>
            <a:r>
              <a:rPr sz="2000" spc="130" dirty="0">
                <a:latin typeface="Times New Roman"/>
                <a:cs typeface="Times New Roman"/>
              </a:rPr>
              <a:t>not </a:t>
            </a:r>
            <a:r>
              <a:rPr sz="2000" spc="40" dirty="0">
                <a:latin typeface="Times New Roman"/>
                <a:cs typeface="Times New Roman"/>
              </a:rPr>
              <a:t>carry  </a:t>
            </a:r>
            <a:r>
              <a:rPr sz="2000" spc="60" dirty="0">
                <a:latin typeface="Times New Roman"/>
                <a:cs typeface="Times New Roman"/>
              </a:rPr>
              <a:t>overheads, </a:t>
            </a:r>
            <a:r>
              <a:rPr sz="2000" spc="90" dirty="0">
                <a:latin typeface="Times New Roman"/>
                <a:cs typeface="Times New Roman"/>
              </a:rPr>
              <a:t>rather </a:t>
            </a:r>
            <a:r>
              <a:rPr sz="2000" spc="80" dirty="0">
                <a:latin typeface="Times New Roman"/>
                <a:cs typeface="Times New Roman"/>
              </a:rPr>
              <a:t>they</a:t>
            </a:r>
            <a:r>
              <a:rPr sz="2000" spc="-335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are  </a:t>
            </a:r>
            <a:r>
              <a:rPr sz="2000" spc="90" dirty="0">
                <a:latin typeface="Times New Roman"/>
                <a:cs typeface="Times New Roman"/>
              </a:rPr>
              <a:t>quite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responsive.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12573" y="1673351"/>
            <a:ext cx="896619" cy="1763395"/>
            <a:chOff x="-12573" y="1673351"/>
            <a:chExt cx="896619" cy="1763395"/>
          </a:xfrm>
        </p:grpSpPr>
        <p:sp>
          <p:nvSpPr>
            <p:cNvPr id="8" name="object 8"/>
            <p:cNvSpPr/>
            <p:nvPr/>
          </p:nvSpPr>
          <p:spPr>
            <a:xfrm>
              <a:off x="0" y="1685924"/>
              <a:ext cx="871855" cy="1738630"/>
            </a:xfrm>
            <a:custGeom>
              <a:avLst/>
              <a:gdLst/>
              <a:ahLst/>
              <a:cxnLst/>
              <a:rect l="l" t="t" r="r" b="b"/>
              <a:pathLst>
                <a:path w="871855" h="1738629">
                  <a:moveTo>
                    <a:pt x="871347" y="0"/>
                  </a:moveTo>
                  <a:lnTo>
                    <a:pt x="0" y="0"/>
                  </a:lnTo>
                  <a:lnTo>
                    <a:pt x="0" y="1738122"/>
                  </a:lnTo>
                  <a:lnTo>
                    <a:pt x="871347" y="1738122"/>
                  </a:lnTo>
                  <a:lnTo>
                    <a:pt x="871347" y="0"/>
                  </a:lnTo>
                  <a:close/>
                </a:path>
              </a:pathLst>
            </a:custGeom>
            <a:solidFill>
              <a:srgbClr val="C1D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685924"/>
              <a:ext cx="871855" cy="1738630"/>
            </a:xfrm>
            <a:custGeom>
              <a:avLst/>
              <a:gdLst/>
              <a:ahLst/>
              <a:cxnLst/>
              <a:rect l="l" t="t" r="r" b="b"/>
              <a:pathLst>
                <a:path w="871855" h="1738629">
                  <a:moveTo>
                    <a:pt x="0" y="1738122"/>
                  </a:moveTo>
                  <a:lnTo>
                    <a:pt x="871347" y="1738122"/>
                  </a:lnTo>
                  <a:lnTo>
                    <a:pt x="871347" y="0"/>
                  </a:lnTo>
                  <a:lnTo>
                    <a:pt x="0" y="0"/>
                  </a:lnTo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5144896" y="1837817"/>
            <a:ext cx="4004945" cy="1664970"/>
            <a:chOff x="5144896" y="1837817"/>
            <a:chExt cx="4004945" cy="1664970"/>
          </a:xfrm>
        </p:grpSpPr>
        <p:sp>
          <p:nvSpPr>
            <p:cNvPr id="11" name="object 11"/>
            <p:cNvSpPr/>
            <p:nvPr/>
          </p:nvSpPr>
          <p:spPr>
            <a:xfrm>
              <a:off x="5586602" y="1842897"/>
              <a:ext cx="3557904" cy="1654810"/>
            </a:xfrm>
            <a:custGeom>
              <a:avLst/>
              <a:gdLst/>
              <a:ahLst/>
              <a:cxnLst/>
              <a:rect l="l" t="t" r="r" b="b"/>
              <a:pathLst>
                <a:path w="3557904" h="1654810">
                  <a:moveTo>
                    <a:pt x="0" y="1654302"/>
                  </a:moveTo>
                  <a:lnTo>
                    <a:pt x="3557778" y="1654302"/>
                  </a:lnTo>
                  <a:lnTo>
                    <a:pt x="3557778" y="0"/>
                  </a:lnTo>
                  <a:lnTo>
                    <a:pt x="0" y="0"/>
                  </a:lnTo>
                  <a:lnTo>
                    <a:pt x="0" y="1654302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149976" y="1842897"/>
              <a:ext cx="3994785" cy="1654810"/>
            </a:xfrm>
            <a:custGeom>
              <a:avLst/>
              <a:gdLst/>
              <a:ahLst/>
              <a:cxnLst/>
              <a:rect l="l" t="t" r="r" b="b"/>
              <a:pathLst>
                <a:path w="3994784" h="1654810">
                  <a:moveTo>
                    <a:pt x="0" y="1654302"/>
                  </a:moveTo>
                  <a:lnTo>
                    <a:pt x="3994404" y="1654302"/>
                  </a:lnTo>
                  <a:lnTo>
                    <a:pt x="3994404" y="0"/>
                  </a:lnTo>
                  <a:lnTo>
                    <a:pt x="0" y="0"/>
                  </a:lnTo>
                  <a:lnTo>
                    <a:pt x="0" y="1654302"/>
                  </a:lnTo>
                  <a:close/>
                </a:path>
              </a:pathLst>
            </a:custGeom>
            <a:ln w="9906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36082" y="2168397"/>
            <a:ext cx="3223260" cy="87947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0"/>
              </a:spcBef>
            </a:pPr>
            <a:r>
              <a:rPr sz="2000" spc="65" dirty="0">
                <a:latin typeface="Times New Roman"/>
                <a:cs typeface="Times New Roman"/>
              </a:rPr>
              <a:t>Many </a:t>
            </a:r>
            <a:r>
              <a:rPr sz="2000" spc="70" dirty="0">
                <a:latin typeface="Times New Roman"/>
                <a:cs typeface="Times New Roman"/>
              </a:rPr>
              <a:t>performance </a:t>
            </a:r>
            <a:r>
              <a:rPr sz="2000" spc="35" dirty="0">
                <a:latin typeface="Times New Roman"/>
                <a:cs typeface="Times New Roman"/>
              </a:rPr>
              <a:t>issues</a:t>
            </a:r>
            <a:r>
              <a:rPr sz="2000" spc="-35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can  </a:t>
            </a:r>
            <a:r>
              <a:rPr sz="2000" spc="70" dirty="0">
                <a:latin typeface="Times New Roman"/>
                <a:cs typeface="Times New Roman"/>
              </a:rPr>
              <a:t>occur </a:t>
            </a:r>
            <a:r>
              <a:rPr sz="2000" spc="50" dirty="0">
                <a:latin typeface="Times New Roman"/>
                <a:cs typeface="Times New Roman"/>
              </a:rPr>
              <a:t>because </a:t>
            </a:r>
            <a:r>
              <a:rPr sz="2000" spc="55" dirty="0">
                <a:latin typeface="Times New Roman"/>
                <a:cs typeface="Times New Roman"/>
              </a:rPr>
              <a:t>of </a:t>
            </a:r>
            <a:r>
              <a:rPr sz="2000" spc="110" dirty="0">
                <a:latin typeface="Times New Roman"/>
                <a:cs typeface="Times New Roman"/>
              </a:rPr>
              <a:t>the </a:t>
            </a:r>
            <a:r>
              <a:rPr sz="2000" spc="15" dirty="0">
                <a:latin typeface="Times New Roman"/>
                <a:cs typeface="Times New Roman"/>
              </a:rPr>
              <a:t>logic  </a:t>
            </a:r>
            <a:r>
              <a:rPr sz="2000" spc="80" dirty="0">
                <a:latin typeface="Times New Roman"/>
                <a:cs typeface="Times New Roman"/>
              </a:rPr>
              <a:t>present </a:t>
            </a:r>
            <a:r>
              <a:rPr sz="2000" spc="60" dirty="0">
                <a:latin typeface="Times New Roman"/>
                <a:cs typeface="Times New Roman"/>
              </a:rPr>
              <a:t>inside </a:t>
            </a:r>
            <a:r>
              <a:rPr sz="2000" spc="110" dirty="0">
                <a:latin typeface="Times New Roman"/>
                <a:cs typeface="Times New Roman"/>
              </a:rPr>
              <a:t>the</a:t>
            </a:r>
            <a:r>
              <a:rPr sz="2000" spc="-345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Times New Roman"/>
                <a:cs typeface="Times New Roman"/>
              </a:rPr>
              <a:t>trigger.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00778" y="1772411"/>
            <a:ext cx="898525" cy="1763395"/>
            <a:chOff x="4700778" y="1772411"/>
            <a:chExt cx="898525" cy="1763395"/>
          </a:xfrm>
        </p:grpSpPr>
        <p:sp>
          <p:nvSpPr>
            <p:cNvPr id="15" name="object 15"/>
            <p:cNvSpPr/>
            <p:nvPr/>
          </p:nvSpPr>
          <p:spPr>
            <a:xfrm>
              <a:off x="4713351" y="1784984"/>
              <a:ext cx="873760" cy="1738630"/>
            </a:xfrm>
            <a:custGeom>
              <a:avLst/>
              <a:gdLst/>
              <a:ahLst/>
              <a:cxnLst/>
              <a:rect l="l" t="t" r="r" b="b"/>
              <a:pathLst>
                <a:path w="873760" h="1738629">
                  <a:moveTo>
                    <a:pt x="873251" y="0"/>
                  </a:moveTo>
                  <a:lnTo>
                    <a:pt x="0" y="0"/>
                  </a:lnTo>
                  <a:lnTo>
                    <a:pt x="0" y="1738122"/>
                  </a:lnTo>
                  <a:lnTo>
                    <a:pt x="873251" y="1738122"/>
                  </a:lnTo>
                  <a:lnTo>
                    <a:pt x="873251" y="0"/>
                  </a:lnTo>
                  <a:close/>
                </a:path>
              </a:pathLst>
            </a:custGeom>
            <a:solidFill>
              <a:srgbClr val="C0EC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13351" y="1784984"/>
              <a:ext cx="873760" cy="1738630"/>
            </a:xfrm>
            <a:custGeom>
              <a:avLst/>
              <a:gdLst/>
              <a:ahLst/>
              <a:cxnLst/>
              <a:rect l="l" t="t" r="r" b="b"/>
              <a:pathLst>
                <a:path w="873760" h="1738629">
                  <a:moveTo>
                    <a:pt x="0" y="1738122"/>
                  </a:moveTo>
                  <a:lnTo>
                    <a:pt x="873251" y="1738122"/>
                  </a:lnTo>
                  <a:lnTo>
                    <a:pt x="873251" y="0"/>
                  </a:lnTo>
                  <a:lnTo>
                    <a:pt x="0" y="0"/>
                  </a:lnTo>
                  <a:lnTo>
                    <a:pt x="0" y="1738122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07008" y="3921125"/>
            <a:ext cx="3729990" cy="1665605"/>
            <a:chOff x="707008" y="3921125"/>
            <a:chExt cx="3729990" cy="1665605"/>
          </a:xfrm>
        </p:grpSpPr>
        <p:sp>
          <p:nvSpPr>
            <p:cNvPr id="18" name="object 18"/>
            <p:cNvSpPr/>
            <p:nvPr/>
          </p:nvSpPr>
          <p:spPr>
            <a:xfrm>
              <a:off x="712089" y="3926204"/>
              <a:ext cx="3719829" cy="1655445"/>
            </a:xfrm>
            <a:custGeom>
              <a:avLst/>
              <a:gdLst/>
              <a:ahLst/>
              <a:cxnLst/>
              <a:rect l="l" t="t" r="r" b="b"/>
              <a:pathLst>
                <a:path w="3719829" h="1655445">
                  <a:moveTo>
                    <a:pt x="3719322" y="0"/>
                  </a:moveTo>
                  <a:lnTo>
                    <a:pt x="0" y="0"/>
                  </a:lnTo>
                  <a:lnTo>
                    <a:pt x="0" y="1568958"/>
                  </a:lnTo>
                  <a:lnTo>
                    <a:pt x="0" y="1655064"/>
                  </a:lnTo>
                  <a:lnTo>
                    <a:pt x="3719322" y="1655064"/>
                  </a:lnTo>
                  <a:lnTo>
                    <a:pt x="3719322" y="1568958"/>
                  </a:lnTo>
                  <a:lnTo>
                    <a:pt x="3719322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2088" y="3926205"/>
              <a:ext cx="3719829" cy="1655445"/>
            </a:xfrm>
            <a:custGeom>
              <a:avLst/>
              <a:gdLst/>
              <a:ahLst/>
              <a:cxnLst/>
              <a:rect l="l" t="t" r="r" b="b"/>
              <a:pathLst>
                <a:path w="3719829" h="1655445">
                  <a:moveTo>
                    <a:pt x="0" y="1655064"/>
                  </a:moveTo>
                  <a:lnTo>
                    <a:pt x="3719322" y="1655064"/>
                  </a:lnTo>
                  <a:lnTo>
                    <a:pt x="3719322" y="0"/>
                  </a:lnTo>
                  <a:lnTo>
                    <a:pt x="0" y="0"/>
                  </a:lnTo>
                  <a:lnTo>
                    <a:pt x="0" y="1655064"/>
                  </a:lnTo>
                  <a:close/>
                </a:path>
              </a:pathLst>
            </a:custGeom>
            <a:ln w="9906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97686" y="3840988"/>
            <a:ext cx="2964815" cy="17018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0"/>
              </a:spcBef>
            </a:pPr>
            <a:r>
              <a:rPr sz="2000" spc="30" dirty="0">
                <a:latin typeface="Times New Roman"/>
                <a:cs typeface="Times New Roman"/>
              </a:rPr>
              <a:t>Similarly, </a:t>
            </a:r>
            <a:r>
              <a:rPr sz="2000" spc="70" dirty="0">
                <a:latin typeface="Times New Roman"/>
                <a:cs typeface="Times New Roman"/>
              </a:rPr>
              <a:t>consider </a:t>
            </a:r>
            <a:r>
              <a:rPr sz="2000" spc="114" dirty="0">
                <a:latin typeface="Times New Roman"/>
                <a:cs typeface="Times New Roman"/>
              </a:rPr>
              <a:t>that</a:t>
            </a:r>
            <a:r>
              <a:rPr sz="2000" spc="-37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  </a:t>
            </a:r>
            <a:r>
              <a:rPr sz="2000" spc="40" dirty="0">
                <a:latin typeface="Times New Roman"/>
                <a:cs typeface="Times New Roman"/>
              </a:rPr>
              <a:t>trigger </a:t>
            </a:r>
            <a:r>
              <a:rPr sz="2000" spc="60" dirty="0">
                <a:latin typeface="Times New Roman"/>
                <a:cs typeface="Times New Roman"/>
              </a:rPr>
              <a:t>executes various  </a:t>
            </a:r>
            <a:r>
              <a:rPr sz="2000" spc="95" dirty="0">
                <a:latin typeface="Times New Roman"/>
                <a:cs typeface="Times New Roman"/>
              </a:rPr>
              <a:t>SQL </a:t>
            </a:r>
            <a:r>
              <a:rPr sz="2000" spc="75" dirty="0">
                <a:latin typeface="Times New Roman"/>
                <a:cs typeface="Times New Roman"/>
              </a:rPr>
              <a:t>statements </a:t>
            </a:r>
            <a:r>
              <a:rPr sz="2000" spc="50" dirty="0">
                <a:latin typeface="Times New Roman"/>
                <a:cs typeface="Times New Roman"/>
              </a:rPr>
              <a:t>against  </a:t>
            </a:r>
            <a:r>
              <a:rPr sz="2000" spc="100" dirty="0">
                <a:latin typeface="Times New Roman"/>
                <a:cs typeface="Times New Roman"/>
              </a:rPr>
              <a:t>other </a:t>
            </a:r>
            <a:r>
              <a:rPr sz="2000" spc="50" dirty="0">
                <a:latin typeface="Times New Roman"/>
                <a:cs typeface="Times New Roman"/>
              </a:rPr>
              <a:t>tables </a:t>
            </a:r>
            <a:r>
              <a:rPr sz="2000" spc="60" dirty="0">
                <a:latin typeface="Times New Roman"/>
                <a:cs typeface="Times New Roman"/>
              </a:rPr>
              <a:t>separate </a:t>
            </a:r>
            <a:r>
              <a:rPr sz="2000" spc="70" dirty="0">
                <a:latin typeface="Times New Roman"/>
                <a:cs typeface="Times New Roman"/>
              </a:rPr>
              <a:t>from  </a:t>
            </a:r>
            <a:r>
              <a:rPr sz="2000" spc="110" dirty="0">
                <a:latin typeface="Times New Roman"/>
                <a:cs typeface="Times New Roman"/>
              </a:rPr>
              <a:t>the </a:t>
            </a:r>
            <a:r>
              <a:rPr sz="2000" spc="75" dirty="0">
                <a:latin typeface="Times New Roman"/>
                <a:cs typeface="Times New Roman"/>
              </a:rPr>
              <a:t>Inserted </a:t>
            </a:r>
            <a:r>
              <a:rPr sz="2000" spc="110" dirty="0">
                <a:latin typeface="Times New Roman"/>
                <a:cs typeface="Times New Roman"/>
              </a:rPr>
              <a:t>and </a:t>
            </a:r>
            <a:r>
              <a:rPr sz="2000" spc="75" dirty="0">
                <a:latin typeface="Times New Roman"/>
                <a:cs typeface="Times New Roman"/>
              </a:rPr>
              <a:t>Deleted  </a:t>
            </a:r>
            <a:r>
              <a:rPr sz="2000" spc="40" dirty="0">
                <a:latin typeface="Times New Roman"/>
                <a:cs typeface="Times New Roman"/>
              </a:rPr>
              <a:t>tables.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-12191" y="3745229"/>
            <a:ext cx="899160" cy="1762760"/>
            <a:chOff x="-12191" y="3745229"/>
            <a:chExt cx="899160" cy="1762760"/>
          </a:xfrm>
        </p:grpSpPr>
        <p:sp>
          <p:nvSpPr>
            <p:cNvPr id="22" name="object 22"/>
            <p:cNvSpPr/>
            <p:nvPr/>
          </p:nvSpPr>
          <p:spPr>
            <a:xfrm>
              <a:off x="381" y="3757802"/>
              <a:ext cx="874394" cy="1737360"/>
            </a:xfrm>
            <a:custGeom>
              <a:avLst/>
              <a:gdLst/>
              <a:ahLst/>
              <a:cxnLst/>
              <a:rect l="l" t="t" r="r" b="b"/>
              <a:pathLst>
                <a:path w="874394" h="1737360">
                  <a:moveTo>
                    <a:pt x="874013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874013" y="1737360"/>
                  </a:lnTo>
                  <a:lnTo>
                    <a:pt x="874013" y="0"/>
                  </a:lnTo>
                  <a:close/>
                </a:path>
              </a:pathLst>
            </a:custGeom>
            <a:solidFill>
              <a:srgbClr val="E3F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81" y="3757802"/>
              <a:ext cx="874394" cy="1737360"/>
            </a:xfrm>
            <a:custGeom>
              <a:avLst/>
              <a:gdLst/>
              <a:ahLst/>
              <a:cxnLst/>
              <a:rect l="l" t="t" r="r" b="b"/>
              <a:pathLst>
                <a:path w="874394" h="1737360">
                  <a:moveTo>
                    <a:pt x="0" y="1737360"/>
                  </a:moveTo>
                  <a:lnTo>
                    <a:pt x="874013" y="1737360"/>
                  </a:lnTo>
                  <a:lnTo>
                    <a:pt x="874013" y="0"/>
                  </a:lnTo>
                  <a:lnTo>
                    <a:pt x="0" y="0"/>
                  </a:lnTo>
                  <a:lnTo>
                    <a:pt x="0" y="173736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5144896" y="3921125"/>
            <a:ext cx="4004945" cy="1665605"/>
            <a:chOff x="5144896" y="3921125"/>
            <a:chExt cx="4004945" cy="1665605"/>
          </a:xfrm>
        </p:grpSpPr>
        <p:sp>
          <p:nvSpPr>
            <p:cNvPr id="25" name="object 25"/>
            <p:cNvSpPr/>
            <p:nvPr/>
          </p:nvSpPr>
          <p:spPr>
            <a:xfrm>
              <a:off x="5149976" y="3926205"/>
              <a:ext cx="3994785" cy="1655445"/>
            </a:xfrm>
            <a:custGeom>
              <a:avLst/>
              <a:gdLst/>
              <a:ahLst/>
              <a:cxnLst/>
              <a:rect l="l" t="t" r="r" b="b"/>
              <a:pathLst>
                <a:path w="3994784" h="1655445">
                  <a:moveTo>
                    <a:pt x="3994404" y="0"/>
                  </a:moveTo>
                  <a:lnTo>
                    <a:pt x="0" y="0"/>
                  </a:lnTo>
                  <a:lnTo>
                    <a:pt x="0" y="1655064"/>
                  </a:lnTo>
                  <a:lnTo>
                    <a:pt x="3994404" y="1655064"/>
                  </a:lnTo>
                  <a:lnTo>
                    <a:pt x="3994404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49976" y="3926205"/>
              <a:ext cx="3994785" cy="1655445"/>
            </a:xfrm>
            <a:custGeom>
              <a:avLst/>
              <a:gdLst/>
              <a:ahLst/>
              <a:cxnLst/>
              <a:rect l="l" t="t" r="r" b="b"/>
              <a:pathLst>
                <a:path w="3994784" h="1655445">
                  <a:moveTo>
                    <a:pt x="0" y="1655064"/>
                  </a:moveTo>
                  <a:lnTo>
                    <a:pt x="3994404" y="1655064"/>
                  </a:lnTo>
                  <a:lnTo>
                    <a:pt x="3994404" y="0"/>
                  </a:lnTo>
                  <a:lnTo>
                    <a:pt x="0" y="0"/>
                  </a:lnTo>
                  <a:lnTo>
                    <a:pt x="0" y="1655064"/>
                  </a:lnTo>
                  <a:close/>
                </a:path>
              </a:pathLst>
            </a:custGeom>
            <a:ln w="9906">
              <a:solidFill>
                <a:srgbClr val="46AA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736082" y="4115308"/>
            <a:ext cx="3266440" cy="115316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0"/>
              </a:spcBef>
            </a:pPr>
            <a:r>
              <a:rPr sz="2000" spc="90" dirty="0">
                <a:latin typeface="Times New Roman"/>
                <a:cs typeface="Times New Roman"/>
              </a:rPr>
              <a:t>This </a:t>
            </a:r>
            <a:r>
              <a:rPr sz="2000" spc="10" dirty="0">
                <a:latin typeface="Times New Roman"/>
                <a:cs typeface="Times New Roman"/>
              </a:rPr>
              <a:t>will </a:t>
            </a:r>
            <a:r>
              <a:rPr sz="2000" spc="45" dirty="0">
                <a:latin typeface="Times New Roman"/>
                <a:cs typeface="Times New Roman"/>
              </a:rPr>
              <a:t>again </a:t>
            </a:r>
            <a:r>
              <a:rPr sz="2000" spc="65" dirty="0">
                <a:latin typeface="Times New Roman"/>
                <a:cs typeface="Times New Roman"/>
              </a:rPr>
              <a:t>result </a:t>
            </a:r>
            <a:r>
              <a:rPr sz="2000" spc="95" dirty="0">
                <a:latin typeface="Times New Roman"/>
                <a:cs typeface="Times New Roman"/>
              </a:rPr>
              <a:t>in </a:t>
            </a:r>
            <a:r>
              <a:rPr sz="2000" spc="110" dirty="0">
                <a:latin typeface="Times New Roman"/>
                <a:cs typeface="Times New Roman"/>
              </a:rPr>
              <a:t>the  </a:t>
            </a:r>
            <a:r>
              <a:rPr sz="2000" spc="75" dirty="0">
                <a:latin typeface="Times New Roman"/>
                <a:cs typeface="Times New Roman"/>
              </a:rPr>
              <a:t>slowdown </a:t>
            </a:r>
            <a:r>
              <a:rPr sz="2000" spc="55" dirty="0">
                <a:latin typeface="Times New Roman"/>
                <a:cs typeface="Times New Roman"/>
              </a:rPr>
              <a:t>of </a:t>
            </a:r>
            <a:r>
              <a:rPr sz="2000" spc="65" dirty="0">
                <a:latin typeface="Times New Roman"/>
                <a:cs typeface="Times New Roman"/>
              </a:rPr>
              <a:t>speed </a:t>
            </a:r>
            <a:r>
              <a:rPr sz="2000" spc="55" dirty="0">
                <a:latin typeface="Times New Roman"/>
                <a:cs typeface="Times New Roman"/>
              </a:rPr>
              <a:t>of </a:t>
            </a:r>
            <a:r>
              <a:rPr sz="2000" spc="95" dirty="0">
                <a:latin typeface="Times New Roman"/>
                <a:cs typeface="Times New Roman"/>
              </a:rPr>
              <a:t>SQL  </a:t>
            </a:r>
            <a:r>
              <a:rPr sz="2000" spc="75" dirty="0">
                <a:latin typeface="Times New Roman"/>
                <a:cs typeface="Times New Roman"/>
              </a:rPr>
              <a:t>statements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114" dirty="0">
                <a:latin typeface="Times New Roman"/>
                <a:cs typeface="Times New Roman"/>
              </a:rPr>
              <a:t>that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are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90" dirty="0">
                <a:latin typeface="Times New Roman"/>
                <a:cs typeface="Times New Roman"/>
              </a:rPr>
              <a:t>within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the  </a:t>
            </a:r>
            <a:r>
              <a:rPr sz="2000" spc="35" dirty="0">
                <a:latin typeface="Times New Roman"/>
                <a:cs typeface="Times New Roman"/>
              </a:rPr>
              <a:t>trigger.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700778" y="3745229"/>
            <a:ext cx="898525" cy="1762760"/>
            <a:chOff x="4700778" y="3745229"/>
            <a:chExt cx="898525" cy="1762760"/>
          </a:xfrm>
        </p:grpSpPr>
        <p:sp>
          <p:nvSpPr>
            <p:cNvPr id="29" name="object 29"/>
            <p:cNvSpPr/>
            <p:nvPr/>
          </p:nvSpPr>
          <p:spPr>
            <a:xfrm>
              <a:off x="4713351" y="3757802"/>
              <a:ext cx="873760" cy="1737360"/>
            </a:xfrm>
            <a:custGeom>
              <a:avLst/>
              <a:gdLst/>
              <a:ahLst/>
              <a:cxnLst/>
              <a:rect l="l" t="t" r="r" b="b"/>
              <a:pathLst>
                <a:path w="873760" h="1737360">
                  <a:moveTo>
                    <a:pt x="873251" y="0"/>
                  </a:moveTo>
                  <a:lnTo>
                    <a:pt x="0" y="0"/>
                  </a:lnTo>
                  <a:lnTo>
                    <a:pt x="0" y="1737360"/>
                  </a:lnTo>
                  <a:lnTo>
                    <a:pt x="873251" y="1737360"/>
                  </a:lnTo>
                  <a:lnTo>
                    <a:pt x="873251" y="0"/>
                  </a:lnTo>
                  <a:close/>
                </a:path>
              </a:pathLst>
            </a:custGeom>
            <a:solidFill>
              <a:srgbClr val="FAD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13351" y="3757802"/>
              <a:ext cx="873760" cy="1737360"/>
            </a:xfrm>
            <a:custGeom>
              <a:avLst/>
              <a:gdLst/>
              <a:ahLst/>
              <a:cxnLst/>
              <a:rect l="l" t="t" r="r" b="b"/>
              <a:pathLst>
                <a:path w="873760" h="1737360">
                  <a:moveTo>
                    <a:pt x="0" y="1737360"/>
                  </a:moveTo>
                  <a:lnTo>
                    <a:pt x="873251" y="1737360"/>
                  </a:lnTo>
                  <a:lnTo>
                    <a:pt x="873251" y="0"/>
                  </a:lnTo>
                  <a:lnTo>
                    <a:pt x="0" y="0"/>
                  </a:lnTo>
                  <a:lnTo>
                    <a:pt x="0" y="1737360"/>
                  </a:lnTo>
                  <a:close/>
                </a:path>
              </a:pathLst>
            </a:custGeom>
            <a:ln w="2514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863078" y="6569709"/>
            <a:ext cx="950594" cy="25654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54" baseline="4629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200" spc="-20" dirty="0">
                <a:latin typeface="Times New Roman"/>
                <a:cs typeface="Times New Roman"/>
              </a:rPr>
              <a:t>27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5493"/>
            <a:ext cx="213995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5" dirty="0"/>
              <a:t>Summary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863078" y="6569709"/>
            <a:ext cx="950594" cy="25654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spc="52" baseline="4629" dirty="0">
                <a:latin typeface="Times New Roman"/>
                <a:cs typeface="Times New Roman"/>
              </a:rPr>
              <a:t>Session </a:t>
            </a:r>
            <a:r>
              <a:rPr sz="1800" spc="-37" baseline="4629" dirty="0">
                <a:latin typeface="Times New Roman"/>
                <a:cs typeface="Times New Roman"/>
              </a:rPr>
              <a:t>12/</a:t>
            </a:r>
            <a:r>
              <a:rPr sz="1800" spc="-254" baseline="4629" dirty="0"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200" spc="-20" dirty="0">
                <a:latin typeface="Times New Roman"/>
                <a:cs typeface="Times New Roman"/>
              </a:rPr>
              <a:t>28</a:t>
            </a:fld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i="0" spc="70" dirty="0">
                <a:latin typeface="Arial"/>
                <a:cs typeface="Arial"/>
              </a:rPr>
              <a:t>©</a:t>
            </a:r>
            <a:r>
              <a:rPr i="0" spc="-180" dirty="0">
                <a:latin typeface="Arial"/>
                <a:cs typeface="Arial"/>
              </a:rPr>
              <a:t> </a:t>
            </a:r>
            <a:r>
              <a:rPr dirty="0"/>
              <a:t>Aptech </a:t>
            </a:r>
            <a:r>
              <a:rPr spc="-15" dirty="0"/>
              <a:t>Ltd.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marR="5080" indent="-341630">
              <a:lnSpc>
                <a:spcPct val="100000"/>
              </a:lnSpc>
              <a:spcBef>
                <a:spcPts val="95"/>
              </a:spcBef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pc="175" dirty="0"/>
              <a:t>A</a:t>
            </a:r>
            <a:r>
              <a:rPr spc="-75" dirty="0"/>
              <a:t> </a:t>
            </a:r>
            <a:r>
              <a:rPr spc="40" dirty="0"/>
              <a:t>trigger</a:t>
            </a:r>
            <a:r>
              <a:rPr spc="-65" dirty="0"/>
              <a:t> </a:t>
            </a:r>
            <a:r>
              <a:rPr spc="5" dirty="0"/>
              <a:t>is</a:t>
            </a:r>
            <a:r>
              <a:rPr spc="-70" dirty="0"/>
              <a:t> </a:t>
            </a:r>
            <a:r>
              <a:rPr spc="30" dirty="0"/>
              <a:t>a</a:t>
            </a:r>
            <a:r>
              <a:rPr spc="-65" dirty="0"/>
              <a:t> </a:t>
            </a:r>
            <a:r>
              <a:rPr spc="80" dirty="0"/>
              <a:t>stored</a:t>
            </a:r>
            <a:r>
              <a:rPr spc="-70" dirty="0"/>
              <a:t> </a:t>
            </a:r>
            <a:r>
              <a:rPr spc="80" dirty="0"/>
              <a:t>procedure</a:t>
            </a:r>
            <a:r>
              <a:rPr spc="-60" dirty="0"/>
              <a:t> </a:t>
            </a:r>
            <a:r>
              <a:rPr spc="114" dirty="0"/>
              <a:t>that</a:t>
            </a:r>
            <a:r>
              <a:rPr spc="-65" dirty="0"/>
              <a:t> </a:t>
            </a:r>
            <a:r>
              <a:rPr spc="5" dirty="0"/>
              <a:t>is</a:t>
            </a:r>
            <a:r>
              <a:rPr spc="-70" dirty="0"/>
              <a:t> </a:t>
            </a:r>
            <a:r>
              <a:rPr spc="80" dirty="0"/>
              <a:t>executed</a:t>
            </a:r>
            <a:r>
              <a:rPr spc="-70" dirty="0"/>
              <a:t> </a:t>
            </a:r>
            <a:r>
              <a:rPr spc="110" dirty="0"/>
              <a:t>when</a:t>
            </a:r>
            <a:r>
              <a:rPr spc="-55" dirty="0"/>
              <a:t> </a:t>
            </a:r>
            <a:r>
              <a:rPr spc="105" dirty="0"/>
              <a:t>an</a:t>
            </a:r>
            <a:r>
              <a:rPr spc="-70" dirty="0"/>
              <a:t> </a:t>
            </a:r>
            <a:r>
              <a:rPr spc="95" dirty="0"/>
              <a:t>attempt</a:t>
            </a:r>
            <a:r>
              <a:rPr spc="-55" dirty="0"/>
              <a:t> </a:t>
            </a:r>
            <a:r>
              <a:rPr spc="5" dirty="0"/>
              <a:t>is</a:t>
            </a:r>
            <a:r>
              <a:rPr spc="-70" dirty="0"/>
              <a:t> </a:t>
            </a:r>
            <a:r>
              <a:rPr spc="75" dirty="0"/>
              <a:t>made</a:t>
            </a:r>
            <a:r>
              <a:rPr spc="-70" dirty="0"/>
              <a:t> </a:t>
            </a:r>
            <a:r>
              <a:rPr spc="114" dirty="0"/>
              <a:t>to  </a:t>
            </a:r>
            <a:r>
              <a:rPr spc="60" dirty="0"/>
              <a:t>insert,</a:t>
            </a:r>
            <a:r>
              <a:rPr spc="-60" dirty="0"/>
              <a:t> </a:t>
            </a:r>
            <a:r>
              <a:rPr spc="80" dirty="0"/>
              <a:t>update,</a:t>
            </a:r>
            <a:r>
              <a:rPr spc="-55" dirty="0"/>
              <a:t> </a:t>
            </a:r>
            <a:r>
              <a:rPr spc="85" dirty="0"/>
              <a:t>or</a:t>
            </a:r>
            <a:r>
              <a:rPr spc="-65" dirty="0"/>
              <a:t> </a:t>
            </a:r>
            <a:r>
              <a:rPr spc="60" dirty="0"/>
              <a:t>delete</a:t>
            </a:r>
            <a:r>
              <a:rPr spc="-50" dirty="0"/>
              <a:t> </a:t>
            </a:r>
            <a:r>
              <a:rPr spc="80" dirty="0"/>
              <a:t>data</a:t>
            </a:r>
            <a:r>
              <a:rPr spc="-65" dirty="0"/>
              <a:t> </a:t>
            </a:r>
            <a:r>
              <a:rPr spc="95" dirty="0"/>
              <a:t>in</a:t>
            </a:r>
            <a:r>
              <a:rPr spc="-75" dirty="0"/>
              <a:t> </a:t>
            </a:r>
            <a:r>
              <a:rPr spc="30" dirty="0"/>
              <a:t>a</a:t>
            </a:r>
            <a:r>
              <a:rPr spc="-70" dirty="0"/>
              <a:t> </a:t>
            </a:r>
            <a:r>
              <a:rPr spc="55" dirty="0"/>
              <a:t>table</a:t>
            </a:r>
            <a:r>
              <a:rPr spc="-45" dirty="0"/>
              <a:t> </a:t>
            </a:r>
            <a:r>
              <a:rPr spc="114" dirty="0"/>
              <a:t>that</a:t>
            </a:r>
            <a:r>
              <a:rPr spc="-65" dirty="0"/>
              <a:t> </a:t>
            </a:r>
            <a:r>
              <a:rPr spc="5" dirty="0"/>
              <a:t>is</a:t>
            </a:r>
            <a:r>
              <a:rPr spc="-75" dirty="0"/>
              <a:t> </a:t>
            </a:r>
            <a:r>
              <a:rPr spc="85" dirty="0"/>
              <a:t>protected</a:t>
            </a:r>
            <a:r>
              <a:rPr spc="-45" dirty="0"/>
              <a:t> </a:t>
            </a:r>
            <a:r>
              <a:rPr spc="40" dirty="0"/>
              <a:t>by</a:t>
            </a:r>
            <a:r>
              <a:rPr spc="-65" dirty="0"/>
              <a:t> </a:t>
            </a:r>
            <a:r>
              <a:rPr spc="110" dirty="0"/>
              <a:t>the</a:t>
            </a:r>
            <a:r>
              <a:rPr spc="-60" dirty="0"/>
              <a:t> </a:t>
            </a:r>
            <a:r>
              <a:rPr spc="35" dirty="0"/>
              <a:t>trigger.</a:t>
            </a:r>
          </a:p>
          <a:p>
            <a:pPr marL="353695" marR="5715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pc="65" dirty="0"/>
              <a:t>Logon </a:t>
            </a:r>
            <a:r>
              <a:rPr spc="35" dirty="0"/>
              <a:t>triggers </a:t>
            </a:r>
            <a:r>
              <a:rPr spc="75" dirty="0"/>
              <a:t>execute </a:t>
            </a:r>
            <a:r>
              <a:rPr spc="80" dirty="0"/>
              <a:t>stored </a:t>
            </a:r>
            <a:r>
              <a:rPr spc="75" dirty="0"/>
              <a:t>procedures </a:t>
            </a:r>
            <a:r>
              <a:rPr spc="114" dirty="0"/>
              <a:t>when </a:t>
            </a:r>
            <a:r>
              <a:rPr spc="30" dirty="0"/>
              <a:t>a </a:t>
            </a:r>
            <a:r>
              <a:rPr spc="50" dirty="0"/>
              <a:t>session </a:t>
            </a:r>
            <a:r>
              <a:rPr spc="5" dirty="0"/>
              <a:t>is </a:t>
            </a:r>
            <a:r>
              <a:rPr spc="60" dirty="0"/>
              <a:t>established  </a:t>
            </a:r>
            <a:r>
              <a:rPr spc="90" dirty="0"/>
              <a:t>with </a:t>
            </a:r>
            <a:r>
              <a:rPr spc="30" dirty="0"/>
              <a:t>a </a:t>
            </a:r>
            <a:r>
              <a:rPr spc="165" dirty="0"/>
              <a:t>LOGON</a:t>
            </a:r>
            <a:r>
              <a:rPr spc="-350" dirty="0"/>
              <a:t> </a:t>
            </a:r>
            <a:r>
              <a:rPr spc="70" dirty="0"/>
              <a:t>event.</a:t>
            </a:r>
          </a:p>
          <a:p>
            <a:pPr marL="353695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pc="55" dirty="0"/>
              <a:t>DML</a:t>
            </a:r>
            <a:r>
              <a:rPr spc="-75" dirty="0"/>
              <a:t> </a:t>
            </a:r>
            <a:r>
              <a:rPr spc="35" dirty="0"/>
              <a:t>triggers</a:t>
            </a:r>
            <a:r>
              <a:rPr spc="-75" dirty="0"/>
              <a:t> </a:t>
            </a:r>
            <a:r>
              <a:rPr spc="50" dirty="0"/>
              <a:t>are</a:t>
            </a:r>
            <a:r>
              <a:rPr spc="-55" dirty="0"/>
              <a:t> </a:t>
            </a:r>
            <a:r>
              <a:rPr spc="80" dirty="0"/>
              <a:t>executed</a:t>
            </a:r>
            <a:r>
              <a:rPr spc="-60" dirty="0"/>
              <a:t> </a:t>
            </a:r>
            <a:r>
              <a:rPr spc="110" dirty="0"/>
              <a:t>when</a:t>
            </a:r>
            <a:r>
              <a:rPr spc="-55" dirty="0"/>
              <a:t> </a:t>
            </a:r>
            <a:r>
              <a:rPr spc="55" dirty="0"/>
              <a:t>DML</a:t>
            </a:r>
            <a:r>
              <a:rPr spc="-70" dirty="0"/>
              <a:t> </a:t>
            </a:r>
            <a:r>
              <a:rPr spc="70" dirty="0"/>
              <a:t>events</a:t>
            </a:r>
            <a:r>
              <a:rPr spc="-45" dirty="0"/>
              <a:t> </a:t>
            </a:r>
            <a:r>
              <a:rPr spc="70" dirty="0"/>
              <a:t>occur</a:t>
            </a:r>
            <a:r>
              <a:rPr spc="-80" dirty="0"/>
              <a:t> </a:t>
            </a:r>
            <a:r>
              <a:rPr spc="95" dirty="0"/>
              <a:t>in</a:t>
            </a:r>
            <a:r>
              <a:rPr spc="-75" dirty="0"/>
              <a:t> </a:t>
            </a:r>
            <a:r>
              <a:rPr spc="50" dirty="0"/>
              <a:t>tables</a:t>
            </a:r>
            <a:r>
              <a:rPr spc="-50" dirty="0"/>
              <a:t> </a:t>
            </a:r>
            <a:r>
              <a:rPr spc="85" dirty="0"/>
              <a:t>or</a:t>
            </a:r>
            <a:r>
              <a:rPr spc="-65" dirty="0"/>
              <a:t> </a:t>
            </a:r>
            <a:r>
              <a:rPr spc="25" dirty="0"/>
              <a:t>views.</a:t>
            </a:r>
          </a:p>
          <a:p>
            <a:pPr marL="353695" indent="-341630">
              <a:lnSpc>
                <a:spcPct val="100000"/>
              </a:lnSpc>
              <a:spcBef>
                <a:spcPts val="5"/>
              </a:spcBef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pc="130" dirty="0"/>
              <a:t>The</a:t>
            </a:r>
            <a:r>
              <a:rPr spc="-75" dirty="0"/>
              <a:t> </a:t>
            </a:r>
            <a:r>
              <a:rPr spc="80" dirty="0"/>
              <a:t>INSERT</a:t>
            </a:r>
            <a:r>
              <a:rPr spc="-75" dirty="0"/>
              <a:t> </a:t>
            </a:r>
            <a:r>
              <a:rPr spc="40" dirty="0"/>
              <a:t>trigger</a:t>
            </a:r>
            <a:r>
              <a:rPr spc="-70" dirty="0"/>
              <a:t> </a:t>
            </a:r>
            <a:r>
              <a:rPr spc="5" dirty="0"/>
              <a:t>is</a:t>
            </a:r>
            <a:r>
              <a:rPr spc="-80" dirty="0"/>
              <a:t> </a:t>
            </a:r>
            <a:r>
              <a:rPr spc="80" dirty="0"/>
              <a:t>executed</a:t>
            </a:r>
            <a:r>
              <a:rPr spc="-50" dirty="0"/>
              <a:t> </a:t>
            </a:r>
            <a:r>
              <a:rPr spc="110" dirty="0"/>
              <a:t>when</a:t>
            </a:r>
            <a:r>
              <a:rPr spc="-55" dirty="0"/>
              <a:t> </a:t>
            </a:r>
            <a:r>
              <a:rPr spc="30" dirty="0"/>
              <a:t>a</a:t>
            </a:r>
            <a:r>
              <a:rPr spc="-75" dirty="0"/>
              <a:t> </a:t>
            </a:r>
            <a:r>
              <a:rPr spc="90" dirty="0"/>
              <a:t>new</a:t>
            </a:r>
            <a:r>
              <a:rPr spc="-50" dirty="0"/>
              <a:t> </a:t>
            </a:r>
            <a:r>
              <a:rPr spc="70" dirty="0"/>
              <a:t>record</a:t>
            </a:r>
            <a:r>
              <a:rPr spc="-70" dirty="0"/>
              <a:t> </a:t>
            </a:r>
            <a:r>
              <a:rPr spc="5" dirty="0"/>
              <a:t>is</a:t>
            </a:r>
            <a:r>
              <a:rPr spc="-75" dirty="0"/>
              <a:t> </a:t>
            </a:r>
            <a:r>
              <a:rPr spc="75" dirty="0"/>
              <a:t>inserted</a:t>
            </a:r>
            <a:r>
              <a:rPr spc="-60" dirty="0"/>
              <a:t> </a:t>
            </a:r>
            <a:r>
              <a:rPr spc="95" dirty="0"/>
              <a:t>in</a:t>
            </a:r>
            <a:r>
              <a:rPr spc="-75" dirty="0"/>
              <a:t> </a:t>
            </a:r>
            <a:r>
              <a:rPr spc="30" dirty="0"/>
              <a:t>a</a:t>
            </a:r>
            <a:r>
              <a:rPr spc="-75" dirty="0"/>
              <a:t> </a:t>
            </a:r>
            <a:r>
              <a:rPr spc="50" dirty="0"/>
              <a:t>table.</a:t>
            </a:r>
          </a:p>
          <a:p>
            <a:pPr marL="353695" marR="6350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pc="130" dirty="0"/>
              <a:t>The </a:t>
            </a:r>
            <a:r>
              <a:rPr spc="110" dirty="0"/>
              <a:t>UPDATE </a:t>
            </a:r>
            <a:r>
              <a:rPr spc="40" dirty="0"/>
              <a:t>trigger </a:t>
            </a:r>
            <a:r>
              <a:rPr spc="45" dirty="0"/>
              <a:t>copies </a:t>
            </a:r>
            <a:r>
              <a:rPr spc="110" dirty="0"/>
              <a:t>the </a:t>
            </a:r>
            <a:r>
              <a:rPr spc="45" dirty="0"/>
              <a:t>original </a:t>
            </a:r>
            <a:r>
              <a:rPr spc="75" dirty="0"/>
              <a:t>record </a:t>
            </a:r>
            <a:r>
              <a:rPr spc="95" dirty="0"/>
              <a:t>in </a:t>
            </a:r>
            <a:r>
              <a:rPr spc="110" dirty="0"/>
              <a:t>the </a:t>
            </a:r>
            <a:r>
              <a:rPr spc="75" dirty="0"/>
              <a:t>Deleted </a:t>
            </a:r>
            <a:r>
              <a:rPr spc="60" dirty="0"/>
              <a:t>table </a:t>
            </a:r>
            <a:r>
              <a:rPr spc="114" dirty="0"/>
              <a:t>and  </a:t>
            </a:r>
            <a:r>
              <a:rPr spc="110" dirty="0"/>
              <a:t>the</a:t>
            </a:r>
            <a:r>
              <a:rPr spc="-60" dirty="0"/>
              <a:t> </a:t>
            </a:r>
            <a:r>
              <a:rPr spc="90" dirty="0"/>
              <a:t>new</a:t>
            </a:r>
            <a:r>
              <a:rPr spc="-60" dirty="0"/>
              <a:t> </a:t>
            </a:r>
            <a:r>
              <a:rPr spc="70" dirty="0"/>
              <a:t>record</a:t>
            </a:r>
            <a:r>
              <a:rPr spc="-75" dirty="0"/>
              <a:t> </a:t>
            </a:r>
            <a:r>
              <a:rPr spc="100" dirty="0"/>
              <a:t>into</a:t>
            </a:r>
            <a:r>
              <a:rPr spc="-55" dirty="0"/>
              <a:t> </a:t>
            </a:r>
            <a:r>
              <a:rPr spc="110" dirty="0"/>
              <a:t>the</a:t>
            </a:r>
            <a:r>
              <a:rPr spc="-70" dirty="0"/>
              <a:t> </a:t>
            </a:r>
            <a:r>
              <a:rPr spc="75" dirty="0"/>
              <a:t>Inserted</a:t>
            </a:r>
            <a:r>
              <a:rPr spc="-60" dirty="0"/>
              <a:t> </a:t>
            </a:r>
            <a:r>
              <a:rPr spc="55" dirty="0"/>
              <a:t>table</a:t>
            </a:r>
            <a:r>
              <a:rPr spc="-45" dirty="0"/>
              <a:t> </a:t>
            </a:r>
            <a:r>
              <a:rPr spc="110" dirty="0"/>
              <a:t>when</a:t>
            </a:r>
            <a:r>
              <a:rPr spc="-55" dirty="0"/>
              <a:t> </a:t>
            </a:r>
            <a:r>
              <a:rPr spc="30" dirty="0"/>
              <a:t>a</a:t>
            </a:r>
            <a:r>
              <a:rPr spc="-70" dirty="0"/>
              <a:t> </a:t>
            </a:r>
            <a:r>
              <a:rPr spc="70" dirty="0"/>
              <a:t>record</a:t>
            </a:r>
            <a:r>
              <a:rPr spc="-65" dirty="0"/>
              <a:t> </a:t>
            </a:r>
            <a:r>
              <a:rPr spc="5" dirty="0"/>
              <a:t>is</a:t>
            </a:r>
            <a:r>
              <a:rPr spc="-80" dirty="0"/>
              <a:t> </a:t>
            </a:r>
            <a:r>
              <a:rPr spc="90" dirty="0"/>
              <a:t>updated.</a:t>
            </a:r>
          </a:p>
          <a:p>
            <a:pPr marL="353695" marR="5080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pc="130" dirty="0"/>
              <a:t>The </a:t>
            </a:r>
            <a:r>
              <a:rPr spc="40" dirty="0"/>
              <a:t>DELETE trigger </a:t>
            </a:r>
            <a:r>
              <a:rPr spc="75" dirty="0"/>
              <a:t>can </a:t>
            </a:r>
            <a:r>
              <a:rPr spc="70" dirty="0"/>
              <a:t>be </a:t>
            </a:r>
            <a:r>
              <a:rPr spc="65" dirty="0"/>
              <a:t>created </a:t>
            </a:r>
            <a:r>
              <a:rPr spc="110" dirty="0"/>
              <a:t>to </a:t>
            </a:r>
            <a:r>
              <a:rPr spc="60" dirty="0"/>
              <a:t>restrict </a:t>
            </a:r>
            <a:r>
              <a:rPr spc="30" dirty="0"/>
              <a:t>a </a:t>
            </a:r>
            <a:r>
              <a:rPr spc="70" dirty="0"/>
              <a:t>user </a:t>
            </a:r>
            <a:r>
              <a:rPr spc="75" dirty="0"/>
              <a:t>from </a:t>
            </a:r>
            <a:r>
              <a:rPr spc="65" dirty="0"/>
              <a:t>deleting </a:t>
            </a:r>
            <a:r>
              <a:rPr spc="30" dirty="0"/>
              <a:t>a  </a:t>
            </a:r>
            <a:r>
              <a:rPr spc="65" dirty="0"/>
              <a:t>particular</a:t>
            </a:r>
            <a:r>
              <a:rPr spc="-85" dirty="0"/>
              <a:t> </a:t>
            </a:r>
            <a:r>
              <a:rPr spc="70" dirty="0"/>
              <a:t>record</a:t>
            </a:r>
            <a:r>
              <a:rPr spc="-70" dirty="0"/>
              <a:t> </a:t>
            </a:r>
            <a:r>
              <a:rPr spc="95" dirty="0"/>
              <a:t>in</a:t>
            </a:r>
            <a:r>
              <a:rPr spc="-75" dirty="0"/>
              <a:t> </a:t>
            </a:r>
            <a:r>
              <a:rPr spc="30" dirty="0"/>
              <a:t>a</a:t>
            </a:r>
            <a:r>
              <a:rPr spc="-75" dirty="0"/>
              <a:t> </a:t>
            </a:r>
            <a:r>
              <a:rPr spc="50" dirty="0"/>
              <a:t>table.</a:t>
            </a:r>
          </a:p>
          <a:p>
            <a:pPr marL="353695" marR="5080" indent="-341630">
              <a:lnSpc>
                <a:spcPct val="100000"/>
              </a:lnSpc>
              <a:buFont typeface="Calibri"/>
              <a:buChar char="●"/>
              <a:tabLst>
                <a:tab pos="353695" algn="l"/>
                <a:tab pos="354330" algn="l"/>
              </a:tabLst>
            </a:pPr>
            <a:r>
              <a:rPr spc="130" dirty="0"/>
              <a:t>The </a:t>
            </a:r>
            <a:r>
              <a:rPr spc="85" dirty="0"/>
              <a:t>AFTER </a:t>
            </a:r>
            <a:r>
              <a:rPr spc="40" dirty="0"/>
              <a:t>trigger </a:t>
            </a:r>
            <a:r>
              <a:rPr spc="5" dirty="0"/>
              <a:t>is </a:t>
            </a:r>
            <a:r>
              <a:rPr spc="80" dirty="0"/>
              <a:t>executed </a:t>
            </a:r>
            <a:r>
              <a:rPr spc="135" dirty="0"/>
              <a:t>on </a:t>
            </a:r>
            <a:r>
              <a:rPr spc="75" dirty="0"/>
              <a:t>completion </a:t>
            </a:r>
            <a:r>
              <a:rPr spc="55" dirty="0"/>
              <a:t>of </a:t>
            </a:r>
            <a:r>
              <a:rPr spc="70" dirty="0"/>
              <a:t>INSERT, </a:t>
            </a:r>
            <a:r>
              <a:rPr spc="95" dirty="0"/>
              <a:t>UPDATE, </a:t>
            </a:r>
            <a:r>
              <a:rPr spc="80" dirty="0"/>
              <a:t>or  </a:t>
            </a:r>
            <a:r>
              <a:rPr spc="40" dirty="0"/>
              <a:t>DELETE</a:t>
            </a:r>
            <a:r>
              <a:rPr spc="-70" dirty="0"/>
              <a:t> </a:t>
            </a:r>
            <a:r>
              <a:rPr spc="70" dirty="0"/>
              <a:t>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</TotalTime>
  <Words>4532</Words>
  <Application>Microsoft Office PowerPoint</Application>
  <PresentationFormat>On-screen Show (4:3)</PresentationFormat>
  <Paragraphs>403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Book Antiqua</vt:lpstr>
      <vt:lpstr>Calibri</vt:lpstr>
      <vt:lpstr>Calisto MT</vt:lpstr>
      <vt:lpstr>Courier New</vt:lpstr>
      <vt:lpstr>Palatino Linotype</vt:lpstr>
      <vt:lpstr>Segoe UI Symbol</vt:lpstr>
      <vt:lpstr>Times New Roman</vt:lpstr>
      <vt:lpstr>Wingdings</vt:lpstr>
      <vt:lpstr>Office Theme</vt:lpstr>
      <vt:lpstr>Intelligent Data Management with  SQL Server</vt:lpstr>
      <vt:lpstr>Objectives</vt:lpstr>
      <vt:lpstr>Introduction</vt:lpstr>
      <vt:lpstr>Use of Triggers 1-4</vt:lpstr>
      <vt:lpstr>Use of Triggers 2-4</vt:lpstr>
      <vt:lpstr>Use of Triggers 3-4</vt:lpstr>
      <vt:lpstr>Use of Triggers 4-4</vt:lpstr>
      <vt:lpstr>Types of Triggers</vt:lpstr>
      <vt:lpstr>Creating DML Triggers</vt:lpstr>
      <vt:lpstr>Introduction to Inserted and Deleted Tables</vt:lpstr>
      <vt:lpstr>Insert Triggers</vt:lpstr>
      <vt:lpstr>Update Triggers</vt:lpstr>
      <vt:lpstr>Delete Triggers</vt:lpstr>
      <vt:lpstr>AFTER Triggers</vt:lpstr>
      <vt:lpstr>INSTEAD OF Triggers</vt:lpstr>
      <vt:lpstr>Execution Order of DML Triggers</vt:lpstr>
      <vt:lpstr>Viewing Definitions of DML Triggers</vt:lpstr>
      <vt:lpstr>Modifying Definitions of DML Triggers</vt:lpstr>
      <vt:lpstr>Dropping DML Triggers</vt:lpstr>
      <vt:lpstr>DDL Triggers</vt:lpstr>
      <vt:lpstr>Scope of DDL Triggers 1-2</vt:lpstr>
      <vt:lpstr>Scope of DDL Triggers 2-2</vt:lpstr>
      <vt:lpstr>Nested Triggers</vt:lpstr>
      <vt:lpstr>UPDATE()</vt:lpstr>
      <vt:lpstr>Handling of Multiple Rows in a Session</vt:lpstr>
      <vt:lpstr>LOGON Triggers</vt:lpstr>
      <vt:lpstr>Performance Implication of  Triggers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Aptech Limited</dc:creator>
  <cp:lastModifiedBy>Nguyen Phat Tai (FE FAI HCM)</cp:lastModifiedBy>
  <cp:revision>240</cp:revision>
  <dcterms:created xsi:type="dcterms:W3CDTF">2021-10-11T16:11:03Z</dcterms:created>
  <dcterms:modified xsi:type="dcterms:W3CDTF">2021-10-24T09:19:49Z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2021-10-11T00:00:00Z</vt:filetime>
  </property>
</Properties>
</file>