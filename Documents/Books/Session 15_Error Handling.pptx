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424" r:id="rId13"/>
    <p:sldId id="267" r:id="rId14"/>
    <p:sldId id="268" r:id="rId15"/>
    <p:sldId id="269" r:id="rId16"/>
    <p:sldId id="270" r:id="rId17"/>
    <p:sldId id="271" r:id="rId18"/>
    <p:sldId id="272" r:id="rId19"/>
    <p:sldId id="273" r:id="rId20"/>
    <p:sldId id="436" r:id="rId21"/>
    <p:sldId id="274" r:id="rId22"/>
    <p:sldId id="275" r:id="rId23"/>
    <p:sldId id="276" r:id="rId24"/>
    <p:sldId id="277" r:id="rId25"/>
    <p:sldId id="278" r:id="rId26"/>
    <p:sldId id="434" r:id="rId27"/>
    <p:sldId id="279" r:id="rId28"/>
    <p:sldId id="442" r:id="rId29"/>
    <p:sldId id="280" r:id="rId3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000" autoAdjust="0"/>
  </p:normalViewPr>
  <p:slideViewPr>
    <p:cSldViewPr>
      <p:cViewPr varScale="1">
        <p:scale>
          <a:sx n="62" d="100"/>
          <a:sy n="62" d="100"/>
        </p:scale>
        <p:origin x="205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05A0B06C-96B7-4DEB-B1E2-0FB634EFE37A}" type="datetimeFigureOut">
              <a:rPr lang="en-US" smtClean="0"/>
              <a:t>10/29/2021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C1CC8803-5939-473F-B8FF-E76A98141DDF}" type="slidenum">
              <a:rPr lang="en-US" smtClean="0"/>
              <a:t>‹#›</a:t>
            </a:fld>
            <a:endParaRPr lang="en-US"/>
          </a:p>
        </p:txBody>
      </p:sp>
    </p:spTree>
    <p:extLst>
      <p:ext uri="{BB962C8B-B14F-4D97-AF65-F5344CB8AC3E}">
        <p14:creationId xmlns:p14="http://schemas.microsoft.com/office/powerpoint/2010/main" val="1703194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15: Xử lý lỗi</a:t>
            </a:r>
          </a:p>
        </p:txBody>
      </p:sp>
      <p:sp>
        <p:nvSpPr>
          <p:cNvPr id="4" name="Slide Number Placeholder 3"/>
          <p:cNvSpPr>
            <a:spLocks noGrp="1"/>
          </p:cNvSpPr>
          <p:nvPr>
            <p:ph type="sldNum" sz="quarter" idx="5"/>
          </p:nvPr>
        </p:nvSpPr>
        <p:spPr/>
        <p:txBody>
          <a:bodyPr/>
          <a:lstStyle/>
          <a:p>
            <a:fld id="{C1CC8803-5939-473F-B8FF-E76A98141DDF}" type="slidenum">
              <a:rPr lang="en-US" smtClean="0"/>
              <a:t>1</a:t>
            </a:fld>
            <a:endParaRPr lang="en-US"/>
          </a:p>
        </p:txBody>
      </p:sp>
    </p:spTree>
    <p:extLst>
      <p:ext uri="{BB962C8B-B14F-4D97-AF65-F5344CB8AC3E}">
        <p14:creationId xmlns:p14="http://schemas.microsoft.com/office/powerpoint/2010/main" val="717337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en-US" b="0"/>
              <a:t>Giải thích xử lý lỗi và việc thực hiện</a:t>
            </a:r>
          </a:p>
          <a:p>
            <a:pPr marL="171450" indent="-171450">
              <a:buFont typeface="Arial" panose="020B0604020202020204" pitchFamily="34" charset="0"/>
              <a:buChar char="•"/>
            </a:pPr>
            <a:r>
              <a:rPr lang="en-US" b="0"/>
              <a:t>Mô tả khối </a:t>
            </a:r>
            <a:r>
              <a:rPr lang="en-US" sz="1200" b="1">
                <a:latin typeface="Calibri" pitchFamily="34" charset="0"/>
                <a:cs typeface="Calibri" pitchFamily="34" charset="0"/>
              </a:rPr>
              <a:t>TRY-CATCH</a:t>
            </a:r>
          </a:p>
          <a:p>
            <a:pPr marL="171450" indent="-171450">
              <a:buFont typeface="Arial" panose="020B0604020202020204" pitchFamily="34" charset="0"/>
              <a:buChar char="•"/>
            </a:pPr>
            <a:r>
              <a:rPr lang="en-US" sz="1200">
                <a:latin typeface="Calibri" pitchFamily="34" charset="0"/>
                <a:cs typeface="Calibri" pitchFamily="34" charset="0"/>
              </a:rPr>
              <a:t>Giải thích thủ tục để hiển thị thông tin lỗi</a:t>
            </a:r>
          </a:p>
          <a:p>
            <a:pPr marL="171450" indent="-171450">
              <a:buFont typeface="Arial" panose="020B0604020202020204" pitchFamily="34" charset="0"/>
              <a:buChar char="•"/>
            </a:pPr>
            <a:r>
              <a:rPr lang="en-US" sz="1200">
                <a:latin typeface="Calibri" pitchFamily="34" charset="0"/>
                <a:cs typeface="Calibri" pitchFamily="34" charset="0"/>
              </a:rPr>
              <a:t>Mô tả các câu lệnh </a:t>
            </a:r>
            <a:r>
              <a:rPr lang="en-US" sz="1200" b="1">
                <a:latin typeface="Calibri" pitchFamily="34" charset="0"/>
                <a:cs typeface="Calibri" pitchFamily="34" charset="0"/>
              </a:rPr>
              <a:t>@@ERROR </a:t>
            </a:r>
            <a:r>
              <a:rPr lang="en-US" sz="1200">
                <a:latin typeface="Calibri" pitchFamily="34" charset="0"/>
                <a:cs typeface="Calibri" pitchFamily="34" charset="0"/>
              </a:rPr>
              <a:t>và </a:t>
            </a:r>
            <a:r>
              <a:rPr lang="en-US" sz="1200" b="1">
                <a:latin typeface="Calibri" pitchFamily="34" charset="0"/>
                <a:cs typeface="Calibri" pitchFamily="34" charset="0"/>
              </a:rPr>
              <a:t>RAISERROR</a:t>
            </a:r>
          </a:p>
          <a:p>
            <a:pPr marL="171450" indent="-171450">
              <a:buFont typeface="Arial" panose="020B0604020202020204" pitchFamily="34" charset="0"/>
              <a:buChar char="•"/>
            </a:pPr>
            <a:r>
              <a:rPr lang="en-US" sz="1200" b="0">
                <a:latin typeface="Calibri" pitchFamily="34" charset="0"/>
                <a:cs typeface="Calibri" pitchFamily="34" charset="0"/>
              </a:rPr>
              <a:t>Giải thích việc sử dụng </a:t>
            </a:r>
            <a:r>
              <a:rPr lang="en-US" sz="1200" b="1">
                <a:latin typeface="Calibri" pitchFamily="34" charset="0"/>
                <a:cs typeface="Calibri" pitchFamily="34" charset="0"/>
              </a:rPr>
              <a:t>ERROR_STATE</a:t>
            </a:r>
            <a:r>
              <a:rPr lang="en-US" sz="1200" b="0">
                <a:latin typeface="Calibri" pitchFamily="34" charset="0"/>
                <a:cs typeface="Calibri" pitchFamily="34" charset="0"/>
              </a:rPr>
              <a:t>, </a:t>
            </a:r>
            <a:r>
              <a:rPr lang="en-US" sz="1200" b="1">
                <a:latin typeface="Calibri" pitchFamily="34" charset="0"/>
                <a:cs typeface="Calibri" pitchFamily="34" charset="0"/>
              </a:rPr>
              <a:t>ERROR_SEVERITY </a:t>
            </a:r>
            <a:r>
              <a:rPr lang="en-US" sz="1200" b="0">
                <a:latin typeface="Calibri" pitchFamily="34" charset="0"/>
                <a:cs typeface="Calibri" pitchFamily="34" charset="0"/>
              </a:rPr>
              <a:t>và </a:t>
            </a:r>
            <a:r>
              <a:rPr lang="en-US" sz="1200" b="1">
                <a:latin typeface="Calibri" pitchFamily="34" charset="0"/>
                <a:cs typeface="Calibri" pitchFamily="34" charset="0"/>
              </a:rPr>
              <a:t>ERROR_PROCEDURE</a:t>
            </a:r>
          </a:p>
          <a:p>
            <a:pPr marL="171450" indent="-171450">
              <a:buFont typeface="Arial" panose="020B0604020202020204" pitchFamily="34" charset="0"/>
              <a:buChar char="•"/>
            </a:pPr>
            <a:r>
              <a:rPr lang="en-US" sz="1200" b="0">
                <a:latin typeface="Calibri" pitchFamily="34" charset="0"/>
                <a:cs typeface="Calibri" pitchFamily="34" charset="0"/>
              </a:rPr>
              <a:t>Giải thích việc sử dụng </a:t>
            </a:r>
            <a:r>
              <a:rPr lang="en-US" sz="1200" b="1">
                <a:latin typeface="Calibri" pitchFamily="34" charset="0"/>
                <a:cs typeface="Calibri" pitchFamily="34" charset="0"/>
              </a:rPr>
              <a:t>ERROR_NUMBER</a:t>
            </a:r>
            <a:r>
              <a:rPr lang="en-US" sz="1200">
                <a:latin typeface="Calibri" pitchFamily="34" charset="0"/>
                <a:cs typeface="Calibri" pitchFamily="34" charset="0"/>
              </a:rPr>
              <a:t>, </a:t>
            </a:r>
            <a:r>
              <a:rPr lang="en-US" sz="1200" b="1">
                <a:latin typeface="Calibri" pitchFamily="34" charset="0"/>
                <a:cs typeface="Calibri" pitchFamily="34" charset="0"/>
              </a:rPr>
              <a:t>ERROR_MESSAGE</a:t>
            </a:r>
            <a:r>
              <a:rPr lang="en-US" sz="1200">
                <a:latin typeface="Calibri" pitchFamily="34" charset="0"/>
                <a:cs typeface="Calibri" pitchFamily="34" charset="0"/>
              </a:rPr>
              <a:t>, and </a:t>
            </a:r>
            <a:r>
              <a:rPr lang="en-US" sz="1200" b="1">
                <a:latin typeface="Calibri" pitchFamily="34" charset="0"/>
                <a:cs typeface="Calibri" pitchFamily="34" charset="0"/>
              </a:rPr>
              <a:t>ERROR_LINE</a:t>
            </a:r>
          </a:p>
          <a:p>
            <a:pPr marL="171450" indent="-171450">
              <a:buFont typeface="Arial" panose="020B0604020202020204" pitchFamily="34" charset="0"/>
              <a:buChar char="•"/>
            </a:pPr>
            <a:r>
              <a:rPr lang="en-US" b="0"/>
              <a:t>Mô tả phát biểu </a:t>
            </a:r>
            <a:r>
              <a:rPr lang="en-US" sz="1200" b="1">
                <a:latin typeface="Calibri" pitchFamily="34" charset="0"/>
                <a:cs typeface="Calibri" pitchFamily="34" charset="0"/>
              </a:rPr>
              <a:t>THROW</a:t>
            </a:r>
            <a:endParaRPr lang="en-US" b="1"/>
          </a:p>
        </p:txBody>
      </p:sp>
      <p:sp>
        <p:nvSpPr>
          <p:cNvPr id="4" name="Slide Number Placeholder 3"/>
          <p:cNvSpPr>
            <a:spLocks noGrp="1"/>
          </p:cNvSpPr>
          <p:nvPr>
            <p:ph type="sldNum" sz="quarter" idx="5"/>
          </p:nvPr>
        </p:nvSpPr>
        <p:spPr/>
        <p:txBody>
          <a:bodyPr/>
          <a:lstStyle/>
          <a:p>
            <a:fld id="{C1CC8803-5939-473F-B8FF-E76A98141DDF}" type="slidenum">
              <a:rPr lang="en-US" smtClean="0"/>
              <a:t>2</a:t>
            </a:fld>
            <a:endParaRPr lang="en-US"/>
          </a:p>
        </p:txBody>
      </p:sp>
    </p:spTree>
    <p:extLst>
      <p:ext uri="{BB962C8B-B14F-4D97-AF65-F5344CB8AC3E}">
        <p14:creationId xmlns:p14="http://schemas.microsoft.com/office/powerpoint/2010/main" val="2877931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vi-VN"/>
              <a:t>Xử lý lỗi trong SQL Server đã trở nên dễ dàng thông qua một số kỹ thuật khác nhau</a:t>
            </a:r>
            <a:r>
              <a:rPr lang="en-US"/>
              <a:t>.</a:t>
            </a:r>
          </a:p>
          <a:p>
            <a:pPr marL="171450" indent="-171450">
              <a:buFont typeface="Arial" panose="020B0604020202020204" pitchFamily="34" charset="0"/>
              <a:buChar char="•"/>
            </a:pPr>
            <a:r>
              <a:rPr lang="en-US"/>
              <a:t>SQL Server đã giới thiệu các tùy chọn có thể giúp bạn xử lý lỗi một cách hiệu quả.</a:t>
            </a:r>
          </a:p>
          <a:p>
            <a:pPr marL="171450" indent="-171450">
              <a:buFont typeface="Arial" panose="020B0604020202020204" pitchFamily="34" charset="0"/>
              <a:buChar char="•"/>
            </a:pPr>
            <a:r>
              <a:rPr lang="vi-VN"/>
              <a:t>Thông thường, không thể nắm bắt được các lỗi xảy ra ở </a:t>
            </a:r>
            <a:r>
              <a:rPr lang="en-US"/>
              <a:t>đầu </a:t>
            </a:r>
            <a:r>
              <a:rPr lang="vi-VN"/>
              <a:t>cuối của người dùng</a:t>
            </a:r>
            <a:r>
              <a:rPr lang="en-US"/>
              <a:t>.</a:t>
            </a:r>
          </a:p>
          <a:p>
            <a:pPr marL="171450" indent="-171450">
              <a:buFont typeface="Arial" panose="020B0604020202020204" pitchFamily="34" charset="0"/>
              <a:buChar char="•"/>
            </a:pPr>
            <a:r>
              <a:rPr lang="en-US" sz="1200">
                <a:cs typeface="Courier New" pitchFamily="49" charset="0"/>
              </a:rPr>
              <a:t>Phát biểu </a:t>
            </a:r>
            <a:r>
              <a:rPr lang="en-US" sz="1200" b="1">
                <a:cs typeface="Courier New" pitchFamily="49" charset="0"/>
              </a:rPr>
              <a:t>TRY…CATCH</a:t>
            </a:r>
            <a:r>
              <a:rPr lang="en-US" sz="1200" b="1">
                <a:latin typeface="Calibri" pitchFamily="34" charset="0"/>
                <a:cs typeface="Calibri" pitchFamily="34" charset="0"/>
              </a:rPr>
              <a:t> </a:t>
            </a:r>
            <a:r>
              <a:rPr lang="en-US"/>
              <a:t>để xử lý các lỗi một cách hiệu quả ở đằng sau ch</a:t>
            </a:r>
            <a:r>
              <a:rPr lang="vi-VN"/>
              <a:t>ư</a:t>
            </a:r>
            <a:r>
              <a:rPr lang="en-US"/>
              <a:t>ơng trình.</a:t>
            </a:r>
          </a:p>
          <a:p>
            <a:pPr marL="171450" indent="-171450">
              <a:buFont typeface="Arial" panose="020B0604020202020204" pitchFamily="34" charset="0"/>
              <a:buChar char="•"/>
            </a:pPr>
            <a:r>
              <a:rPr lang="en-US"/>
              <a:t>Các hàm hệ thống in thông tin liên quan đến lỗi giúp có thể sửa lỗi dễ dàng.</a:t>
            </a:r>
          </a:p>
        </p:txBody>
      </p:sp>
      <p:sp>
        <p:nvSpPr>
          <p:cNvPr id="4" name="Slide Number Placeholder 3"/>
          <p:cNvSpPr>
            <a:spLocks noGrp="1"/>
          </p:cNvSpPr>
          <p:nvPr>
            <p:ph type="sldNum" sz="quarter" idx="5"/>
          </p:nvPr>
        </p:nvSpPr>
        <p:spPr/>
        <p:txBody>
          <a:bodyPr/>
          <a:lstStyle/>
          <a:p>
            <a:fld id="{C1CC8803-5939-473F-B8FF-E76A98141DDF}" type="slidenum">
              <a:rPr lang="en-US" smtClean="0"/>
              <a:t>3</a:t>
            </a:fld>
            <a:endParaRPr lang="en-US"/>
          </a:p>
        </p:txBody>
      </p:sp>
    </p:spTree>
    <p:extLst>
      <p:ext uri="{BB962C8B-B14F-4D97-AF65-F5344CB8AC3E}">
        <p14:creationId xmlns:p14="http://schemas.microsoft.com/office/powerpoint/2010/main" val="1849482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loại lỗi 1-5</a:t>
            </a:r>
          </a:p>
          <a:p>
            <a:pPr marL="171450" indent="-171450">
              <a:buFont typeface="Arial" panose="020B0604020202020204" pitchFamily="34" charset="0"/>
              <a:buChar char="•"/>
            </a:pPr>
            <a:r>
              <a:rPr lang="vi-VN" b="0"/>
              <a:t>Là một lập trình viên Transact-SQL, </a:t>
            </a:r>
            <a:r>
              <a:rPr lang="en-US" b="0"/>
              <a:t>bạn </a:t>
            </a:r>
            <a:r>
              <a:rPr lang="vi-VN" b="0"/>
              <a:t>phải biết nhiều loại lỗi khác nhau có thể xảy ra trong khi làm việc với các câu lệnh SQL Server</a:t>
            </a:r>
            <a:r>
              <a:rPr lang="en-US" b="0"/>
              <a:t>.</a:t>
            </a:r>
          </a:p>
          <a:p>
            <a:pPr marL="171450" indent="-171450">
              <a:buFont typeface="Arial" panose="020B0604020202020204" pitchFamily="34" charset="0"/>
              <a:buChar char="•"/>
            </a:pPr>
            <a:r>
              <a:rPr lang="vi-VN" b="0"/>
              <a:t>Bước đầu tiên có thể thực hiện là xác định loại lỗi và sau đó, xác định cách xử lý hoặc khắc phục nó.</a:t>
            </a:r>
            <a:endParaRPr lang="en-US" b="0"/>
          </a:p>
        </p:txBody>
      </p:sp>
      <p:sp>
        <p:nvSpPr>
          <p:cNvPr id="4" name="Slide Number Placeholder 3"/>
          <p:cNvSpPr>
            <a:spLocks noGrp="1"/>
          </p:cNvSpPr>
          <p:nvPr>
            <p:ph type="sldNum" sz="quarter" idx="5"/>
          </p:nvPr>
        </p:nvSpPr>
        <p:spPr/>
        <p:txBody>
          <a:bodyPr/>
          <a:lstStyle/>
          <a:p>
            <a:fld id="{C1CC8803-5939-473F-B8FF-E76A98141DDF}" type="slidenum">
              <a:rPr lang="en-US" smtClean="0"/>
              <a:t>4</a:t>
            </a:fld>
            <a:endParaRPr lang="en-US"/>
          </a:p>
        </p:txBody>
      </p:sp>
    </p:spTree>
    <p:extLst>
      <p:ext uri="{BB962C8B-B14F-4D97-AF65-F5344CB8AC3E}">
        <p14:creationId xmlns:p14="http://schemas.microsoft.com/office/powerpoint/2010/main" val="2024101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loại lỗi 2-5</a:t>
            </a:r>
          </a:p>
          <a:p>
            <a:r>
              <a:rPr lang="vi-VN"/>
              <a:t>Một số loại lỗi như sau</a:t>
            </a:r>
            <a:r>
              <a:rPr lang="en-US"/>
              <a:t>:</a:t>
            </a:r>
          </a:p>
          <a:p>
            <a:pPr marL="171450" indent="-171450">
              <a:buFont typeface="Arial" panose="020B0604020202020204" pitchFamily="34" charset="0"/>
              <a:buChar char="•"/>
            </a:pPr>
            <a:r>
              <a:rPr lang="en-US" b="1"/>
              <a:t>Lỗi cú pháp</a:t>
            </a:r>
            <a:r>
              <a:rPr lang="en-US" b="0"/>
              <a:t>:</a:t>
            </a:r>
          </a:p>
          <a:p>
            <a:pPr marL="628650" lvl="1" indent="-171450">
              <a:buFont typeface="Arial" panose="020B0604020202020204" pitchFamily="34" charset="0"/>
              <a:buChar char="•"/>
            </a:pPr>
            <a:r>
              <a:rPr lang="vi-VN" b="0"/>
              <a:t>Lỗi cú pháp là các lỗi xảy ra khi mã không thể được phân tích cú pháp bởi SQL Server. Các lỗi như vậy được phát hiện bởi SQL Server trước khi bắt đầu quá trình thực thi của một khối Transact-SQL hoặc thủ tục được lưu trữ</a:t>
            </a:r>
            <a:r>
              <a:rPr lang="en-US" b="0"/>
              <a:t>.</a:t>
            </a:r>
          </a:p>
        </p:txBody>
      </p:sp>
      <p:sp>
        <p:nvSpPr>
          <p:cNvPr id="4" name="Slide Number Placeholder 3"/>
          <p:cNvSpPr>
            <a:spLocks noGrp="1"/>
          </p:cNvSpPr>
          <p:nvPr>
            <p:ph type="sldNum" sz="quarter" idx="5"/>
          </p:nvPr>
        </p:nvSpPr>
        <p:spPr/>
        <p:txBody>
          <a:bodyPr/>
          <a:lstStyle/>
          <a:p>
            <a:fld id="{C1CC8803-5939-473F-B8FF-E76A98141DDF}" type="slidenum">
              <a:rPr lang="en-US" smtClean="0"/>
              <a:t>5</a:t>
            </a:fld>
            <a:endParaRPr lang="en-US"/>
          </a:p>
        </p:txBody>
      </p:sp>
    </p:spTree>
    <p:extLst>
      <p:ext uri="{BB962C8B-B14F-4D97-AF65-F5344CB8AC3E}">
        <p14:creationId xmlns:p14="http://schemas.microsoft.com/office/powerpoint/2010/main" val="895411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loại lỗi 3-5</a:t>
            </a:r>
          </a:p>
          <a:p>
            <a:pPr marL="171450" indent="-171450">
              <a:buFont typeface="Arial" panose="020B0604020202020204" pitchFamily="34" charset="0"/>
              <a:buChar char="•"/>
            </a:pPr>
            <a:r>
              <a:rPr lang="vi-VN"/>
              <a:t>Nếu người dùng nhập một từ khóa hoặc </a:t>
            </a:r>
            <a:r>
              <a:rPr lang="en-US"/>
              <a:t>toán tử </a:t>
            </a:r>
            <a:r>
              <a:rPr lang="vi-VN"/>
              <a:t>sai vì người dùng không nhớ việc sử dụng hợp lệ, trình soạn thảo mã sẽ biểu thị nó một cách thích hợp.</a:t>
            </a:r>
            <a:endParaRPr lang="en-US"/>
          </a:p>
          <a:p>
            <a:pPr marL="171450" indent="-171450">
              <a:buFont typeface="Arial" panose="020B0604020202020204" pitchFamily="34" charset="0"/>
              <a:buChar char="•"/>
            </a:pPr>
            <a:r>
              <a:rPr lang="vi-VN"/>
              <a:t>Nếu người dùng quên nhập một thứ gì đó được yêu cầu, trình soạn thảo mã sẽ hiển thị lỗi khi người dùng thực thi câu lệnh đó</a:t>
            </a:r>
            <a:r>
              <a:rPr lang="en-US"/>
              <a:t>.</a:t>
            </a:r>
          </a:p>
          <a:p>
            <a:pPr marL="171450" indent="-171450">
              <a:buFont typeface="Arial" panose="020B0604020202020204" pitchFamily="34" charset="0"/>
              <a:buChar char="•"/>
            </a:pPr>
            <a:r>
              <a:rPr lang="vi-VN"/>
              <a:t>Lỗi cú pháp dễ dàng được xác định là trình soạn thảo mã sẽ chỉ ra chúng. Tuy nhiên, nếu người dùng sử dụng một ứng dụng dựa trên lệnh như </a:t>
            </a:r>
            <a:r>
              <a:rPr lang="vi-VN" b="1"/>
              <a:t>sqlcmd</a:t>
            </a:r>
            <a:r>
              <a:rPr lang="vi-VN"/>
              <a:t>, lỗi sẽ chỉ được hiển thị sau khi mã được thực thi</a:t>
            </a:r>
            <a:r>
              <a:rPr lang="en-US"/>
              <a:t>.</a:t>
            </a:r>
          </a:p>
        </p:txBody>
      </p:sp>
      <p:sp>
        <p:nvSpPr>
          <p:cNvPr id="4" name="Slide Number Placeholder 3"/>
          <p:cNvSpPr>
            <a:spLocks noGrp="1"/>
          </p:cNvSpPr>
          <p:nvPr>
            <p:ph type="sldNum" sz="quarter" idx="5"/>
          </p:nvPr>
        </p:nvSpPr>
        <p:spPr/>
        <p:txBody>
          <a:bodyPr/>
          <a:lstStyle/>
          <a:p>
            <a:fld id="{C1CC8803-5939-473F-B8FF-E76A98141DDF}" type="slidenum">
              <a:rPr lang="en-US" smtClean="0"/>
              <a:t>6</a:t>
            </a:fld>
            <a:endParaRPr lang="en-US"/>
          </a:p>
        </p:txBody>
      </p:sp>
    </p:spTree>
    <p:extLst>
      <p:ext uri="{BB962C8B-B14F-4D97-AF65-F5344CB8AC3E}">
        <p14:creationId xmlns:p14="http://schemas.microsoft.com/office/powerpoint/2010/main" val="28579454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loại lỗi 4-5</a:t>
            </a:r>
          </a:p>
          <a:p>
            <a:pPr marL="171450" lvl="0" indent="-171450">
              <a:buFont typeface="Arial" panose="020B0604020202020204" pitchFamily="34" charset="0"/>
              <a:buChar char="•"/>
            </a:pPr>
            <a:r>
              <a:rPr lang="en-US" b="1"/>
              <a:t>Lỗi thực thi ch</a:t>
            </a:r>
            <a:r>
              <a:rPr lang="vi-VN" b="1"/>
              <a:t>ư</a:t>
            </a:r>
            <a:r>
              <a:rPr lang="en-US" b="1"/>
              <a:t>ơng trình</a:t>
            </a:r>
            <a:r>
              <a:rPr lang="en-US" b="0"/>
              <a:t>:</a:t>
            </a:r>
          </a:p>
          <a:p>
            <a:pPr marL="628650" lvl="1" indent="-171450">
              <a:buFont typeface="Arial" panose="020B0604020202020204" pitchFamily="34" charset="0"/>
              <a:buChar char="•"/>
            </a:pPr>
            <a:r>
              <a:rPr lang="en-US" b="0"/>
              <a:t>Lỗi thực thi ch</a:t>
            </a:r>
            <a:r>
              <a:rPr lang="vi-VN" b="0"/>
              <a:t>ư</a:t>
            </a:r>
            <a:r>
              <a:rPr lang="en-US" b="0"/>
              <a:t>ơng trình là các lỗi x</a:t>
            </a:r>
            <a:r>
              <a:rPr lang="vi-VN" b="0"/>
              <a:t>ảy ra khi ứng dụng cố gắng thực hiện một hành động được hỗ trợ bởi SQL Server và hệ điều hành.</a:t>
            </a:r>
            <a:endParaRPr lang="en-US" b="0"/>
          </a:p>
          <a:p>
            <a:pPr marL="628650" lvl="1" indent="-171450">
              <a:buFont typeface="Arial" panose="020B0604020202020204" pitchFamily="34" charset="0"/>
              <a:buChar char="•"/>
            </a:pPr>
            <a:r>
              <a:rPr lang="vi-VN" b="0"/>
              <a:t>Một số trường hợp có thể xảy ra </a:t>
            </a:r>
            <a:r>
              <a:rPr lang="en-US" b="0"/>
              <a:t>lỗi thực thi ch</a:t>
            </a:r>
            <a:r>
              <a:rPr lang="vi-VN" b="0"/>
              <a:t>ư</a:t>
            </a:r>
            <a:r>
              <a:rPr lang="en-US" b="0"/>
              <a:t>ơng trình</a:t>
            </a:r>
            <a:r>
              <a:rPr lang="vi-VN" b="0"/>
              <a:t> như sau</a:t>
            </a:r>
            <a:r>
              <a:rPr lang="en-US" b="0"/>
              <a:t>: </a:t>
            </a:r>
            <a:endParaRPr lang="vi-VN" b="0"/>
          </a:p>
          <a:p>
            <a:pPr marL="1085850" lvl="2" indent="-171450">
              <a:buFont typeface="Arial" panose="020B0604020202020204" pitchFamily="34" charset="0"/>
              <a:buChar char="•"/>
            </a:pPr>
            <a:r>
              <a:rPr lang="vi-VN" b="0"/>
              <a:t>Thực hiện tính toán chia bằng 0.</a:t>
            </a:r>
            <a:endParaRPr lang="en-US" b="0"/>
          </a:p>
          <a:p>
            <a:pPr marL="1085850" lvl="2" indent="-171450">
              <a:buFont typeface="Arial" panose="020B0604020202020204" pitchFamily="34" charset="0"/>
              <a:buChar char="•"/>
            </a:pPr>
            <a:r>
              <a:rPr lang="en-US" b="0"/>
              <a:t>C</a:t>
            </a:r>
            <a:r>
              <a:rPr lang="vi-VN" b="0"/>
              <a:t>ố gắng để thực thi mã không được định </a:t>
            </a:r>
            <a:r>
              <a:rPr lang="en-US" b="0"/>
              <a:t>nghĩa </a:t>
            </a:r>
            <a:r>
              <a:rPr lang="vi-VN" b="0"/>
              <a:t>rõ r</a:t>
            </a:r>
            <a:r>
              <a:rPr lang="en-US" b="0"/>
              <a:t>à</a:t>
            </a:r>
            <a:r>
              <a:rPr lang="vi-VN" b="0"/>
              <a:t>ng</a:t>
            </a:r>
            <a:r>
              <a:rPr lang="en-US" b="0"/>
              <a:t>.</a:t>
            </a:r>
          </a:p>
        </p:txBody>
      </p:sp>
      <p:sp>
        <p:nvSpPr>
          <p:cNvPr id="4" name="Slide Number Placeholder 3"/>
          <p:cNvSpPr>
            <a:spLocks noGrp="1"/>
          </p:cNvSpPr>
          <p:nvPr>
            <p:ph type="sldNum" sz="quarter" idx="5"/>
          </p:nvPr>
        </p:nvSpPr>
        <p:spPr/>
        <p:txBody>
          <a:bodyPr/>
          <a:lstStyle/>
          <a:p>
            <a:fld id="{C1CC8803-5939-473F-B8FF-E76A98141DDF}" type="slidenum">
              <a:rPr lang="en-US" smtClean="0"/>
              <a:t>7</a:t>
            </a:fld>
            <a:endParaRPr lang="en-US"/>
          </a:p>
        </p:txBody>
      </p:sp>
    </p:spTree>
    <p:extLst>
      <p:ext uri="{BB962C8B-B14F-4D97-AF65-F5344CB8AC3E}">
        <p14:creationId xmlns:p14="http://schemas.microsoft.com/office/powerpoint/2010/main" val="1869851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Các loại lỗi 5-5</a:t>
            </a:r>
          </a:p>
          <a:p>
            <a:r>
              <a:rPr lang="en-US"/>
              <a:t>Sau đây là một số tình huống phổ biến khi xảy ra </a:t>
            </a:r>
            <a:r>
              <a:rPr lang="en-US" b="0"/>
              <a:t>Lỗi thực thi ch</a:t>
            </a:r>
            <a:r>
              <a:rPr lang="vi-VN" b="0"/>
              <a:t>ư</a:t>
            </a:r>
            <a:r>
              <a:rPr lang="en-US" b="0"/>
              <a:t>ơng trình:</a:t>
            </a:r>
          </a:p>
          <a:p>
            <a:pPr marL="628650" lvl="1" indent="-171450">
              <a:buFont typeface="Arial" panose="020B0604020202020204" pitchFamily="34" charset="0"/>
              <a:buChar char="•"/>
            </a:pPr>
            <a:r>
              <a:rPr lang="vi-VN" b="0"/>
              <a:t>Sử dụng một thủ tục được lưu trữ hoặc một hàm hoặc kích hoạt không có sẵn</a:t>
            </a:r>
          </a:p>
          <a:p>
            <a:pPr marL="628650" lvl="1" indent="-171450">
              <a:buFont typeface="Arial" panose="020B0604020202020204" pitchFamily="34" charset="0"/>
              <a:buChar char="•"/>
            </a:pPr>
            <a:r>
              <a:rPr lang="vi-VN" b="0"/>
              <a:t>Cố gắng thực hiện một hành động mà một đối tượng hoặc một biến không thể xử lý</a:t>
            </a:r>
          </a:p>
          <a:p>
            <a:pPr marL="628650" lvl="1" indent="-171450">
              <a:buFont typeface="Arial" panose="020B0604020202020204" pitchFamily="34" charset="0"/>
              <a:buChar char="•"/>
            </a:pPr>
            <a:r>
              <a:rPr lang="vi-VN" b="0"/>
              <a:t>Cố gắng truy cập hoặc sử dụng bộ nhớ máy tính không đủ</a:t>
            </a:r>
          </a:p>
          <a:p>
            <a:pPr marL="628650" lvl="1" indent="-171450">
              <a:buFont typeface="Arial" panose="020B0604020202020204" pitchFamily="34" charset="0"/>
              <a:buChar char="•"/>
            </a:pPr>
            <a:r>
              <a:rPr lang="vi-VN" b="0"/>
              <a:t>Cố gắng thực hiện một hành động về các </a:t>
            </a:r>
            <a:r>
              <a:rPr lang="en-US" b="0"/>
              <a:t>kiểu</a:t>
            </a:r>
            <a:r>
              <a:rPr lang="vi-VN" b="0"/>
              <a:t> không tương thích</a:t>
            </a:r>
          </a:p>
          <a:p>
            <a:pPr marL="628650" lvl="1" indent="-171450">
              <a:buFont typeface="Arial" panose="020B0604020202020204" pitchFamily="34" charset="0"/>
              <a:buChar char="•"/>
            </a:pPr>
            <a:r>
              <a:rPr lang="vi-VN" b="0"/>
              <a:t>Sử dụng các tuyên bố có điều kiện sai</a:t>
            </a:r>
            <a:endParaRPr lang="en-US"/>
          </a:p>
        </p:txBody>
      </p:sp>
      <p:sp>
        <p:nvSpPr>
          <p:cNvPr id="4" name="Slide Number Placeholder 3"/>
          <p:cNvSpPr>
            <a:spLocks noGrp="1"/>
          </p:cNvSpPr>
          <p:nvPr>
            <p:ph type="sldNum" sz="quarter" idx="5"/>
          </p:nvPr>
        </p:nvSpPr>
        <p:spPr/>
        <p:txBody>
          <a:bodyPr/>
          <a:lstStyle/>
          <a:p>
            <a:fld id="{C1CC8803-5939-473F-B8FF-E76A98141DDF}" type="slidenum">
              <a:rPr lang="en-US" smtClean="0"/>
              <a:t>8</a:t>
            </a:fld>
            <a:endParaRPr lang="en-US"/>
          </a:p>
        </p:txBody>
      </p:sp>
    </p:spTree>
    <p:extLst>
      <p:ext uri="{BB962C8B-B14F-4D97-AF65-F5344CB8AC3E}">
        <p14:creationId xmlns:p14="http://schemas.microsoft.com/office/powerpoint/2010/main" val="1753578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Thực hiện xử lý lỗi</a:t>
            </a:r>
          </a:p>
          <a:p>
            <a:pPr marL="171450" indent="-171450">
              <a:buFont typeface="Arial" panose="020B0604020202020204" pitchFamily="34" charset="0"/>
              <a:buChar char="•"/>
            </a:pPr>
            <a:r>
              <a:rPr lang="vi-VN" b="0"/>
              <a:t>Trong khi phát triển bất kỳ ứng dụng nào, một trong những điều quan trọng nhất mà người dùng cần chăm sóc là xử lý lỗi.</a:t>
            </a:r>
          </a:p>
          <a:p>
            <a:pPr marL="171450" indent="-171450">
              <a:buFont typeface="Arial" panose="020B0604020202020204" pitchFamily="34" charset="0"/>
              <a:buChar char="•"/>
            </a:pPr>
            <a:r>
              <a:rPr lang="vi-VN" b="0"/>
              <a:t>Theo cùng một cách, người dùng cũng phải cẩn thận xử lý ngoại lệ và lỗi trong khi thiết kế cơ sở dữ liệu.</a:t>
            </a:r>
          </a:p>
          <a:p>
            <a:pPr marL="171450" indent="-171450">
              <a:buFont typeface="Arial" panose="020B0604020202020204" pitchFamily="34" charset="0"/>
              <a:buChar char="•"/>
            </a:pPr>
            <a:r>
              <a:rPr lang="vi-VN" b="0"/>
              <a:t>Các cơ chế xử lý lỗi khác nhau có thể được sử dụng</a:t>
            </a:r>
            <a:r>
              <a:rPr lang="en-US" b="0"/>
              <a:t>.</a:t>
            </a:r>
          </a:p>
          <a:p>
            <a:pPr marL="171450" indent="-171450">
              <a:buFont typeface="Arial" panose="020B0604020202020204" pitchFamily="34" charset="0"/>
              <a:buChar char="•"/>
            </a:pPr>
            <a:r>
              <a:rPr lang="vi-VN" b="0"/>
              <a:t>Khi thực hiện một số câu lệnh DML như </a:t>
            </a:r>
            <a:r>
              <a:rPr lang="vi-VN" b="1"/>
              <a:t>INSERT</a:t>
            </a:r>
            <a:r>
              <a:rPr lang="vi-VN" b="0"/>
              <a:t>, </a:t>
            </a:r>
            <a:r>
              <a:rPr lang="vi-VN" b="1"/>
              <a:t>DELETE</a:t>
            </a:r>
            <a:r>
              <a:rPr lang="vi-VN" b="0"/>
              <a:t> và </a:t>
            </a:r>
            <a:r>
              <a:rPr lang="vi-VN" b="1"/>
              <a:t>UPDATE</a:t>
            </a:r>
            <a:r>
              <a:rPr lang="vi-VN" b="0"/>
              <a:t>, người dùng có thể xử lý các lỗi để đảm bảo đầu ra chính xác.</a:t>
            </a:r>
          </a:p>
          <a:p>
            <a:pPr marL="171450" indent="-171450">
              <a:buFont typeface="Arial" panose="020B0604020202020204" pitchFamily="34" charset="0"/>
              <a:buChar char="•"/>
            </a:pPr>
            <a:r>
              <a:rPr lang="vi-VN" b="0"/>
              <a:t>Khi giao dịch thất bại và người dùng phải </a:t>
            </a:r>
            <a:r>
              <a:rPr lang="en-US" b="0"/>
              <a:t>hoàn tác </a:t>
            </a:r>
            <a:r>
              <a:rPr lang="vi-VN" b="0"/>
              <a:t>giao dịch, một thông báo lỗi thích hợp có thể được hiển thị.</a:t>
            </a:r>
          </a:p>
          <a:p>
            <a:pPr marL="171450" indent="-171450">
              <a:buFont typeface="Arial" panose="020B0604020202020204" pitchFamily="34" charset="0"/>
              <a:buChar char="•"/>
            </a:pPr>
            <a:r>
              <a:rPr lang="vi-VN" b="0"/>
              <a:t>Khi làm việc với các con trỏ trong SQL Server, người dùng có thể xử lý các lỗi để đảm bảo kết quả chính xác</a:t>
            </a:r>
            <a:r>
              <a:rPr lang="en-US" b="0"/>
              <a:t>.</a:t>
            </a:r>
          </a:p>
        </p:txBody>
      </p:sp>
      <p:sp>
        <p:nvSpPr>
          <p:cNvPr id="4" name="Slide Number Placeholder 3"/>
          <p:cNvSpPr>
            <a:spLocks noGrp="1"/>
          </p:cNvSpPr>
          <p:nvPr>
            <p:ph type="sldNum" sz="quarter" idx="5"/>
          </p:nvPr>
        </p:nvSpPr>
        <p:spPr/>
        <p:txBody>
          <a:bodyPr/>
          <a:lstStyle/>
          <a:p>
            <a:fld id="{C1CC8803-5939-473F-B8FF-E76A98141DDF}" type="slidenum">
              <a:rPr lang="en-US" smtClean="0"/>
              <a:t>9</a:t>
            </a:fld>
            <a:endParaRPr lang="en-US"/>
          </a:p>
        </p:txBody>
      </p:sp>
    </p:spTree>
    <p:extLst>
      <p:ext uri="{BB962C8B-B14F-4D97-AF65-F5344CB8AC3E}">
        <p14:creationId xmlns:p14="http://schemas.microsoft.com/office/powerpoint/2010/main" val="2855840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Thực hiện xử lý lỗi: TRY…CATCH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Try … Catch </a:t>
            </a:r>
            <a:r>
              <a:rPr lang="vi-VN" b="0"/>
              <a:t>được sử dụng để thực hiện xử lý ngoại lệ</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Một hoặc nhiều câu lệnh T-SQL có thể được đặt trong một khối </a:t>
            </a:r>
            <a:r>
              <a:rPr lang="en-US" b="1"/>
              <a:t>TRY</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Nếu xảy ra lỗi trong khối </a:t>
            </a:r>
            <a:r>
              <a:rPr lang="en-US" b="1"/>
              <a:t>TRY</a:t>
            </a:r>
            <a:r>
              <a:rPr lang="en-US" b="0"/>
              <a:t>, điều khiển sẽ chuyển sang khối </a:t>
            </a:r>
            <a:r>
              <a:rPr lang="en-US" b="1"/>
              <a:t>CATCH</a:t>
            </a:r>
            <a:r>
              <a:rPr lang="en-US" b="0"/>
              <a:t> có thể chứa một hoặc nhiều câu lệnh</a:t>
            </a:r>
          </a:p>
        </p:txBody>
      </p:sp>
      <p:sp>
        <p:nvSpPr>
          <p:cNvPr id="4" name="Slide Number Placeholder 3"/>
          <p:cNvSpPr>
            <a:spLocks noGrp="1"/>
          </p:cNvSpPr>
          <p:nvPr>
            <p:ph type="sldNum" sz="quarter" idx="5"/>
          </p:nvPr>
        </p:nvSpPr>
        <p:spPr/>
        <p:txBody>
          <a:bodyPr/>
          <a:lstStyle/>
          <a:p>
            <a:fld id="{C1CC8803-5939-473F-B8FF-E76A98141DDF}" type="slidenum">
              <a:rPr lang="en-US" smtClean="0"/>
              <a:t>10</a:t>
            </a:fld>
            <a:endParaRPr lang="en-US"/>
          </a:p>
        </p:txBody>
      </p:sp>
    </p:spTree>
    <p:extLst>
      <p:ext uri="{BB962C8B-B14F-4D97-AF65-F5344CB8AC3E}">
        <p14:creationId xmlns:p14="http://schemas.microsoft.com/office/powerpoint/2010/main" val="3125161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Thông tin 1-3</a:t>
            </a:r>
          </a:p>
          <a:p>
            <a:pPr marL="171450" indent="-171450">
              <a:buFont typeface="Arial" panose="020B0604020202020204" pitchFamily="34" charset="0"/>
              <a:buChar char="•"/>
            </a:pPr>
            <a:r>
              <a:rPr lang="en-US" b="0"/>
              <a:t>Đó là một thực hành tốt để hiển thị thông tin lỗi cùng với lỗi, để nó có thể giúp giải quyết lỗi nhanh chóng và hiệu quả.</a:t>
            </a:r>
          </a:p>
          <a:p>
            <a:pPr marL="171450" indent="-171450">
              <a:buFont typeface="Arial" panose="020B0604020202020204" pitchFamily="34" charset="0"/>
              <a:buChar char="•"/>
            </a:pPr>
            <a:r>
              <a:rPr lang="vi-VN" b="0"/>
              <a:t>Để đạt được điều này, các </a:t>
            </a:r>
            <a:r>
              <a:rPr lang="en-US" b="0"/>
              <a:t>hàm </a:t>
            </a:r>
            <a:r>
              <a:rPr lang="vi-VN" b="0"/>
              <a:t>hệ thống cần được sử dụng trong khối </a:t>
            </a:r>
            <a:r>
              <a:rPr lang="vi-VN" b="1"/>
              <a:t>CATCH</a:t>
            </a:r>
            <a:r>
              <a:rPr lang="vi-VN" b="0"/>
              <a:t> để tìm thông tin về lỗi bắt đầu khối </a:t>
            </a:r>
            <a:r>
              <a:rPr lang="vi-VN" b="1"/>
              <a:t>CATCH</a:t>
            </a:r>
            <a:r>
              <a:rPr lang="vi-VN" b="0"/>
              <a:t> để thực thi</a:t>
            </a:r>
            <a:r>
              <a:rPr lang="en-US" b="0"/>
              <a:t>.</a:t>
            </a:r>
          </a:p>
          <a:p>
            <a:pPr marL="171450" indent="-171450">
              <a:buFont typeface="Arial" panose="020B0604020202020204" pitchFamily="34" charset="0"/>
              <a:buChar char="•"/>
            </a:pPr>
            <a:r>
              <a:rPr lang="en-US" b="0"/>
              <a:t>Sử dụng </a:t>
            </a:r>
            <a:r>
              <a:rPr lang="en-US" b="1"/>
              <a:t>TRY…CATCH </a:t>
            </a:r>
            <a:r>
              <a:rPr lang="en-US" b="0"/>
              <a:t>với thông tin lỗi.</a:t>
            </a:r>
          </a:p>
        </p:txBody>
      </p:sp>
      <p:sp>
        <p:nvSpPr>
          <p:cNvPr id="4" name="Slide Number Placeholder 3"/>
          <p:cNvSpPr>
            <a:spLocks noGrp="1"/>
          </p:cNvSpPr>
          <p:nvPr>
            <p:ph type="sldNum" sz="quarter" idx="5"/>
          </p:nvPr>
        </p:nvSpPr>
        <p:spPr/>
        <p:txBody>
          <a:bodyPr/>
          <a:lstStyle/>
          <a:p>
            <a:fld id="{C1CC8803-5939-473F-B8FF-E76A98141DDF}" type="slidenum">
              <a:rPr lang="en-US" smtClean="0"/>
              <a:t>11</a:t>
            </a:fld>
            <a:endParaRPr lang="en-US"/>
          </a:p>
        </p:txBody>
      </p:sp>
    </p:spTree>
    <p:extLst>
      <p:ext uri="{BB962C8B-B14F-4D97-AF65-F5344CB8AC3E}">
        <p14:creationId xmlns:p14="http://schemas.microsoft.com/office/powerpoint/2010/main" val="40401256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Thông tin lỗi</a:t>
            </a:r>
          </a:p>
          <a:p>
            <a:pPr marL="171450" indent="-171450">
              <a:buFont typeface="Arial" panose="020B0604020202020204" pitchFamily="34" charset="0"/>
              <a:buChar char="•"/>
            </a:pPr>
            <a:r>
              <a:rPr lang="vi-VN" b="0"/>
              <a:t>Đoạn mã hiển thị một ví dụ đơn giản hiển thị thông tin lỗi:</a:t>
            </a:r>
            <a:endParaRPr lang="en-US" b="0" dirty="0"/>
          </a:p>
        </p:txBody>
      </p:sp>
      <p:sp>
        <p:nvSpPr>
          <p:cNvPr id="4" name="Slide Number Placeholder 3"/>
          <p:cNvSpPr>
            <a:spLocks noGrp="1"/>
          </p:cNvSpPr>
          <p:nvPr>
            <p:ph type="sldNum" sz="quarter" idx="10"/>
          </p:nvPr>
        </p:nvSpPr>
        <p:spPr/>
        <p:txBody>
          <a:bodyPr/>
          <a:lstStyle/>
          <a:p>
            <a:pPr>
              <a:defRPr/>
            </a:pPr>
            <a:fld id="{6AE1F710-3F4D-4CB2-B8EF-AD2B0CD37885}" type="slidenum">
              <a:rPr lang="en-US" smtClean="0"/>
              <a:pPr>
                <a:defRPr/>
              </a:pPr>
              <a:t>12</a:t>
            </a:fld>
            <a:endParaRPr lang="en-US" dirty="0"/>
          </a:p>
        </p:txBody>
      </p:sp>
    </p:spTree>
    <p:extLst>
      <p:ext uri="{BB962C8B-B14F-4D97-AF65-F5344CB8AC3E}">
        <p14:creationId xmlns:p14="http://schemas.microsoft.com/office/powerpoint/2010/main" val="1024497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Thông tin 2-3</a:t>
            </a:r>
          </a:p>
          <a:p>
            <a:pPr marL="171450" indent="-171450">
              <a:buFont typeface="Arial" panose="020B0604020202020204" pitchFamily="34" charset="0"/>
              <a:buChar char="•"/>
            </a:pPr>
            <a:r>
              <a:rPr lang="en-US"/>
              <a:t>Sử dụng </a:t>
            </a:r>
            <a:r>
              <a:rPr lang="en-US" b="1"/>
              <a:t>TRY…CATCH </a:t>
            </a:r>
            <a:r>
              <a:rPr lang="en-US"/>
              <a:t>với giao dịch</a:t>
            </a:r>
          </a:p>
        </p:txBody>
      </p:sp>
      <p:sp>
        <p:nvSpPr>
          <p:cNvPr id="4" name="Slide Number Placeholder 3"/>
          <p:cNvSpPr>
            <a:spLocks noGrp="1"/>
          </p:cNvSpPr>
          <p:nvPr>
            <p:ph type="sldNum" sz="quarter" idx="5"/>
          </p:nvPr>
        </p:nvSpPr>
        <p:spPr/>
        <p:txBody>
          <a:bodyPr/>
          <a:lstStyle/>
          <a:p>
            <a:fld id="{C1CC8803-5939-473F-B8FF-E76A98141DDF}" type="slidenum">
              <a:rPr lang="en-US" smtClean="0"/>
              <a:t>13</a:t>
            </a:fld>
            <a:endParaRPr lang="en-US"/>
          </a:p>
        </p:txBody>
      </p:sp>
    </p:spTree>
    <p:extLst>
      <p:ext uri="{BB962C8B-B14F-4D97-AF65-F5344CB8AC3E}">
        <p14:creationId xmlns:p14="http://schemas.microsoft.com/office/powerpoint/2010/main" val="497162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Thông tin 3-3</a:t>
            </a:r>
          </a:p>
          <a:p>
            <a:pPr marL="171450" indent="-171450">
              <a:buFont typeface="Arial" panose="020B0604020202020204" pitchFamily="34" charset="0"/>
              <a:buChar char="•"/>
            </a:pPr>
            <a:r>
              <a:rPr lang="en-US"/>
              <a:t>Giao dịch không hoàn thành</a:t>
            </a:r>
          </a:p>
          <a:p>
            <a:pPr marL="628650" lvl="1" indent="-171450">
              <a:buFont typeface="Arial" panose="020B0604020202020204" pitchFamily="34" charset="0"/>
              <a:buChar char="•"/>
            </a:pPr>
            <a:r>
              <a:rPr lang="vi-VN"/>
              <a:t>Nếu một lỗi được tạo trong một khối </a:t>
            </a:r>
            <a:r>
              <a:rPr lang="vi-VN" b="1"/>
              <a:t>TRY</a:t>
            </a:r>
            <a:r>
              <a:rPr lang="vi-VN"/>
              <a:t>, nó sẽ khiến trạng thái của giao dịch hiện tại không hợp lệ và giao dịch được coi là một giao dịch không </a:t>
            </a:r>
            <a:r>
              <a:rPr lang="en-US"/>
              <a:t>hoàn thành.</a:t>
            </a:r>
          </a:p>
          <a:p>
            <a:pPr marL="628650" lvl="1" indent="-171450">
              <a:buFont typeface="Arial" panose="020B0604020202020204" pitchFamily="34" charset="0"/>
              <a:buChar char="•"/>
            </a:pPr>
            <a:r>
              <a:rPr lang="en-US"/>
              <a:t>Một giao dịch không hoàn thành chỉ thực hiện </a:t>
            </a:r>
            <a:r>
              <a:rPr lang="en-US" b="1"/>
              <a:t>ROLLBACK TRANSACTION </a:t>
            </a:r>
            <a:r>
              <a:rPr lang="en-US"/>
              <a:t>hoặc đọc các thao tác.</a:t>
            </a:r>
          </a:p>
          <a:p>
            <a:pPr marL="628650" lvl="1" indent="-171450">
              <a:buFont typeface="Arial" panose="020B0604020202020204" pitchFamily="34" charset="0"/>
              <a:buChar char="•"/>
            </a:pPr>
            <a:r>
              <a:rPr lang="en-US"/>
              <a:t>Giao dịch không thực thi bất kỳ câu lệnh Transact-SQL nào thực hiện </a:t>
            </a:r>
            <a:r>
              <a:rPr lang="en-US" b="1"/>
              <a:t>COMMIT TRANSACTION </a:t>
            </a:r>
            <a:r>
              <a:rPr lang="en-US"/>
              <a:t>hoặc một thao tác ghi.</a:t>
            </a:r>
          </a:p>
        </p:txBody>
      </p:sp>
      <p:sp>
        <p:nvSpPr>
          <p:cNvPr id="4" name="Slide Number Placeholder 3"/>
          <p:cNvSpPr>
            <a:spLocks noGrp="1"/>
          </p:cNvSpPr>
          <p:nvPr>
            <p:ph type="sldNum" sz="quarter" idx="5"/>
          </p:nvPr>
        </p:nvSpPr>
        <p:spPr/>
        <p:txBody>
          <a:bodyPr/>
          <a:lstStyle/>
          <a:p>
            <a:fld id="{C1CC8803-5939-473F-B8FF-E76A98141DDF}" type="slidenum">
              <a:rPr lang="en-US" smtClean="0"/>
              <a:t>14</a:t>
            </a:fld>
            <a:endParaRPr lang="en-US"/>
          </a:p>
        </p:txBody>
      </p:sp>
    </p:spTree>
    <p:extLst>
      <p:ext uri="{BB962C8B-B14F-4D97-AF65-F5344CB8AC3E}">
        <p14:creationId xmlns:p14="http://schemas.microsoft.com/office/powerpoint/2010/main" val="28328003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Hàm @@ERROR trả về:</a:t>
            </a:r>
          </a:p>
          <a:p>
            <a:pPr marL="628650" lvl="1" indent="-171450">
              <a:buFont typeface="Arial" panose="020B0604020202020204" pitchFamily="34" charset="0"/>
              <a:buChar char="•"/>
            </a:pPr>
            <a:r>
              <a:rPr lang="en-US" baseline="0"/>
              <a:t>0, </a:t>
            </a:r>
            <a:r>
              <a:rPr lang="vi-VN" baseline="0"/>
              <a:t>Nếu câu lệnh T-SQL trước đó không có lỗi</a:t>
            </a:r>
            <a:r>
              <a:rPr lang="en-US" baseline="0"/>
              <a:t>. </a:t>
            </a:r>
          </a:p>
          <a:p>
            <a:pPr marL="628650" lvl="1" indent="-171450">
              <a:buFont typeface="Arial" panose="020B0604020202020204" pitchFamily="34" charset="0"/>
              <a:buChar char="•"/>
            </a:pPr>
            <a:r>
              <a:rPr lang="en-US" baseline="0"/>
              <a:t>Có trị bằng với mã lỗi sai </a:t>
            </a:r>
            <a:r>
              <a:rPr lang="vi-VN" baseline="0"/>
              <a:t>nếu các câu lệnh trước gặp phải một lỗi</a:t>
            </a:r>
            <a:r>
              <a:rPr lang="en-US" baseline="0"/>
              <a:t>.</a:t>
            </a:r>
            <a:endParaRPr lang="vi-VN" baseline="0"/>
          </a:p>
        </p:txBody>
      </p:sp>
      <p:sp>
        <p:nvSpPr>
          <p:cNvPr id="4" name="Slide Number Placeholder 3"/>
          <p:cNvSpPr>
            <a:spLocks noGrp="1"/>
          </p:cNvSpPr>
          <p:nvPr>
            <p:ph type="sldNum" sz="quarter" idx="5"/>
          </p:nvPr>
        </p:nvSpPr>
        <p:spPr/>
        <p:txBody>
          <a:bodyPr/>
          <a:lstStyle/>
          <a:p>
            <a:fld id="{C1CC8803-5939-473F-B8FF-E76A98141DDF}" type="slidenum">
              <a:rPr lang="en-US" smtClean="0"/>
              <a:t>15</a:t>
            </a:fld>
            <a:endParaRPr lang="en-US"/>
          </a:p>
        </p:txBody>
      </p:sp>
    </p:spTree>
    <p:extLst>
      <p:ext uri="{BB962C8B-B14F-4D97-AF65-F5344CB8AC3E}">
        <p14:creationId xmlns:p14="http://schemas.microsoft.com/office/powerpoint/2010/main" val="3895082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RAISERROR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Câu lệnh RAISERROR</a:t>
            </a:r>
            <a:r>
              <a:rPr lang="en-US" b="1"/>
              <a:t> </a:t>
            </a:r>
            <a:r>
              <a:rPr lang="en-US" b="0"/>
              <a:t>bắt đầu xử lý lỗi cho một phiên và hiển thị một thông báo lỗi.</a:t>
            </a:r>
          </a:p>
          <a:p>
            <a:pPr marL="171450" indent="-171450">
              <a:buFont typeface="Arial" panose="020B0604020202020204" pitchFamily="34" charset="0"/>
              <a:buChar char="•"/>
            </a:pPr>
            <a:r>
              <a:rPr lang="en-US" b="0"/>
              <a:t>RAISERROR c</a:t>
            </a:r>
            <a:r>
              <a:rPr lang="vi-VN" b="0"/>
              <a:t>ó thể tham </a:t>
            </a:r>
            <a:r>
              <a:rPr lang="en-US" b="0"/>
              <a:t>chiếu</a:t>
            </a:r>
            <a:r>
              <a:rPr lang="vi-VN" b="0"/>
              <a:t> một thông báo do người dùng </a:t>
            </a:r>
            <a:r>
              <a:rPr lang="en-US" b="0"/>
              <a:t>tự </a:t>
            </a:r>
            <a:r>
              <a:rPr lang="vi-VN" b="0"/>
              <a:t>định nghĩa được lưu trữ trong chế độ xem danh mục </a:t>
            </a:r>
            <a:r>
              <a:rPr lang="en-US" b="1"/>
              <a:t>s</a:t>
            </a:r>
            <a:r>
              <a:rPr lang="vi-VN" b="1"/>
              <a:t>ys.</a:t>
            </a:r>
            <a:r>
              <a:rPr lang="en-US" b="1"/>
              <a:t>m</a:t>
            </a:r>
            <a:r>
              <a:rPr lang="vi-VN" b="1"/>
              <a:t>essages </a:t>
            </a:r>
            <a:r>
              <a:rPr lang="vi-VN" b="0"/>
              <a:t>hoặc xây dựng thông báo lỗi động khi </a:t>
            </a:r>
            <a:r>
              <a:rPr lang="en-US" b="0"/>
              <a:t>thực thi.</a:t>
            </a:r>
          </a:p>
          <a:p>
            <a:pPr marL="0" indent="0">
              <a:buFont typeface="Arial" panose="020B0604020202020204" pitchFamily="34" charset="0"/>
              <a:buNone/>
            </a:pPr>
            <a:r>
              <a:rPr lang="vi-VN" b="0"/>
              <a:t>Các lỗi sau được trả </a:t>
            </a:r>
            <a:r>
              <a:rPr lang="en-US" b="0"/>
              <a:t>về</a:t>
            </a:r>
            <a:r>
              <a:rPr lang="vi-VN" b="0"/>
              <a:t> cho người gọi nếu </a:t>
            </a:r>
            <a:r>
              <a:rPr lang="en-US" b="0"/>
              <a:t>RAISERROR</a:t>
            </a:r>
            <a:r>
              <a:rPr lang="vi-VN" b="0"/>
              <a:t> thực thi</a:t>
            </a:r>
            <a:r>
              <a:rPr lang="en-US" b="0"/>
              <a:t>:</a:t>
            </a:r>
          </a:p>
          <a:p>
            <a:pPr marL="628650" lvl="1" indent="-171450">
              <a:buFont typeface="Arial" panose="020B0604020202020204" pitchFamily="34" charset="0"/>
              <a:buChar char="•"/>
            </a:pPr>
            <a:r>
              <a:rPr lang="vi-VN" b="0"/>
              <a:t>Ra khỏi</a:t>
            </a:r>
            <a:r>
              <a:rPr lang="en-US" b="0"/>
              <a:t> </a:t>
            </a:r>
            <a:r>
              <a:rPr lang="vi-VN" b="0"/>
              <a:t>phạm vi của bất kỳ khối TRY</a:t>
            </a:r>
          </a:p>
          <a:p>
            <a:pPr marL="628650" lvl="1" indent="-171450">
              <a:buFont typeface="Arial" panose="020B0604020202020204" pitchFamily="34" charset="0"/>
              <a:buChar char="•"/>
            </a:pPr>
            <a:r>
              <a:rPr lang="vi-VN" b="0"/>
              <a:t>Có mức độ nghiêm trọng từ 10 hoặc thấp hơn trong khối TRY</a:t>
            </a:r>
          </a:p>
          <a:p>
            <a:pPr marL="628650" lvl="1" indent="-171450">
              <a:buFont typeface="Arial" panose="020B0604020202020204" pitchFamily="34" charset="0"/>
              <a:buChar char="•"/>
            </a:pPr>
            <a:r>
              <a:rPr lang="vi-VN" b="0"/>
              <a:t>Có mức độ nghiêm trọng từ 20 trở lên chấm dứt kết nối cơ sở dữ liệu</a:t>
            </a:r>
            <a:endParaRPr lang="en-US" b="0"/>
          </a:p>
          <a:p>
            <a:r>
              <a:rPr lang="en-US" u="sng"/>
              <a:t>Note</a:t>
            </a:r>
            <a:r>
              <a:rPr lang="en-US"/>
              <a:t>:</a:t>
            </a:r>
          </a:p>
          <a:p>
            <a:pPr marL="628650" lvl="1" indent="-171450">
              <a:buFont typeface="Arial" panose="020B0604020202020204" pitchFamily="34" charset="0"/>
              <a:buChar char="•"/>
            </a:pPr>
            <a:r>
              <a:rPr lang="en-US"/>
              <a:t>msg_id &gt; 50000, default 50000</a:t>
            </a:r>
          </a:p>
          <a:p>
            <a:pPr marL="628650" lvl="1" indent="-171450">
              <a:buFont typeface="Arial" panose="020B0604020202020204" pitchFamily="34" charset="0"/>
              <a:buChar char="•"/>
            </a:pPr>
            <a:r>
              <a:rPr lang="en-US"/>
              <a:t>severity</a:t>
            </a:r>
            <a:r>
              <a:rPr lang="en-US" baseline="0"/>
              <a:t> 0 – 25 : 0-18: any user, &gt;18: sys admin, </a:t>
            </a:r>
            <a:r>
              <a:rPr lang="en-US" b="1" baseline="0"/>
              <a:t>20-25 : fatal error -&gt; terminate client connection </a:t>
            </a:r>
            <a:r>
              <a:rPr lang="en-US" baseline="0"/>
              <a:t>;  must be &gt;10</a:t>
            </a:r>
          </a:p>
          <a:p>
            <a:pPr marL="628650" lvl="1" indent="-171450">
              <a:buFont typeface="Arial" panose="020B0604020202020204" pitchFamily="34" charset="0"/>
              <a:buChar char="•"/>
            </a:pPr>
            <a:r>
              <a:rPr lang="en-US" baseline="0"/>
              <a:t>state : 0-255 -&gt; find session of code</a:t>
            </a:r>
            <a:endParaRPr lang="en-US"/>
          </a:p>
        </p:txBody>
      </p:sp>
      <p:sp>
        <p:nvSpPr>
          <p:cNvPr id="4" name="Slide Number Placeholder 3"/>
          <p:cNvSpPr>
            <a:spLocks noGrp="1"/>
          </p:cNvSpPr>
          <p:nvPr>
            <p:ph type="sldNum" sz="quarter" idx="5"/>
          </p:nvPr>
        </p:nvSpPr>
        <p:spPr/>
        <p:txBody>
          <a:bodyPr/>
          <a:lstStyle/>
          <a:p>
            <a:fld id="{C1CC8803-5939-473F-B8FF-E76A98141DDF}" type="slidenum">
              <a:rPr lang="en-US" smtClean="0"/>
              <a:t>16</a:t>
            </a:fld>
            <a:endParaRPr lang="en-US"/>
          </a:p>
        </p:txBody>
      </p:sp>
    </p:spTree>
    <p:extLst>
      <p:ext uri="{BB962C8B-B14F-4D97-AF65-F5344CB8AC3E}">
        <p14:creationId xmlns:p14="http://schemas.microsoft.com/office/powerpoint/2010/main" val="23858898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_STATE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solidFill>
                  <a:srgbClr val="FF0000"/>
                </a:solidFill>
                <a:latin typeface="Courier New" panose="02070309020205020404" pitchFamily="49" charset="0"/>
                <a:cs typeface="Courier New" panose="02070309020205020404" pitchFamily="49" charset="0"/>
              </a:rPr>
              <a:t>Hàm hệ thống ERROR_STATE trả về số lượng trạng thái của lỗi gây ra </a:t>
            </a:r>
            <a:r>
              <a:rPr lang="en-US" sz="1200" b="0">
                <a:solidFill>
                  <a:srgbClr val="FF0000"/>
                </a:solidFill>
                <a:latin typeface="Courier New" panose="02070309020205020404" pitchFamily="49" charset="0"/>
                <a:cs typeface="Courier New" panose="02070309020205020404" pitchFamily="49" charset="0"/>
              </a:rPr>
              <a:t>do </a:t>
            </a:r>
            <a:r>
              <a:rPr lang="vi-VN" sz="1200" b="0">
                <a:solidFill>
                  <a:srgbClr val="FF0000"/>
                </a:solidFill>
                <a:latin typeface="Courier New" panose="02070309020205020404" pitchFamily="49" charset="0"/>
                <a:cs typeface="Courier New" panose="02070309020205020404" pitchFamily="49" charset="0"/>
              </a:rPr>
              <a:t>khối </a:t>
            </a:r>
            <a:r>
              <a:rPr lang="vi-VN" sz="1200" b="1">
                <a:solidFill>
                  <a:srgbClr val="FF0000"/>
                </a:solidFill>
                <a:latin typeface="Courier New" panose="02070309020205020404" pitchFamily="49" charset="0"/>
                <a:cs typeface="Courier New" panose="02070309020205020404" pitchFamily="49" charset="0"/>
              </a:rPr>
              <a:t>CATCH</a:t>
            </a:r>
            <a:r>
              <a:rPr lang="vi-VN" sz="1200" b="0">
                <a:solidFill>
                  <a:srgbClr val="FF0000"/>
                </a:solidFill>
                <a:latin typeface="Courier New" panose="02070309020205020404" pitchFamily="49" charset="0"/>
                <a:cs typeface="Courier New" panose="02070309020205020404" pitchFamily="49" charset="0"/>
              </a:rPr>
              <a:t> của </a:t>
            </a:r>
            <a:r>
              <a:rPr lang="en-US" sz="1200" b="0">
                <a:solidFill>
                  <a:srgbClr val="FF0000"/>
                </a:solidFill>
                <a:latin typeface="Courier New" panose="02070309020205020404" pitchFamily="49" charset="0"/>
                <a:cs typeface="Courier New" panose="02070309020205020404" pitchFamily="49" charset="0"/>
              </a:rPr>
              <a:t>cấu trúc </a:t>
            </a:r>
            <a:r>
              <a:rPr lang="vi-VN" sz="1200" b="1">
                <a:solidFill>
                  <a:srgbClr val="FF0000"/>
                </a:solidFill>
                <a:latin typeface="Courier New" panose="02070309020205020404" pitchFamily="49" charset="0"/>
                <a:cs typeface="Courier New" panose="02070309020205020404" pitchFamily="49" charset="0"/>
              </a:rPr>
              <a:t>TRY…CATCH</a:t>
            </a:r>
            <a:r>
              <a:rPr lang="en-US" sz="1200" b="1">
                <a:solidFill>
                  <a:srgbClr val="FF0000"/>
                </a:solidFill>
                <a:latin typeface="Courier New" panose="02070309020205020404" pitchFamily="49" charset="0"/>
                <a:cs typeface="Courier New" panose="02070309020205020404" pitchFamily="49" charset="0"/>
              </a:rPr>
              <a:t> </a:t>
            </a:r>
            <a:r>
              <a:rPr lang="vi-VN" sz="1200" b="0">
                <a:solidFill>
                  <a:srgbClr val="FF0000"/>
                </a:solidFill>
                <a:latin typeface="Courier New" panose="02070309020205020404" pitchFamily="49" charset="0"/>
                <a:cs typeface="Courier New" panose="02070309020205020404" pitchFamily="49" charset="0"/>
              </a:rPr>
              <a:t>để thực thi</a:t>
            </a:r>
            <a:r>
              <a:rPr lang="en-US" sz="1200" b="0">
                <a:solidFill>
                  <a:srgbClr val="FF0000"/>
                </a:solidFill>
                <a:latin typeface="Courier New" panose="02070309020205020404" pitchFamily="49" charset="0"/>
                <a:cs typeface="Courier New" panose="02070309020205020404" pitchFamily="49" charset="0"/>
              </a:rPr>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a:solidFill>
                  <a:srgbClr val="FF0000"/>
                </a:solidFill>
                <a:latin typeface="Courier New" panose="02070309020205020404" pitchFamily="49" charset="0"/>
                <a:cs typeface="Courier New" panose="02070309020205020404" pitchFamily="49" charset="0"/>
              </a:rPr>
              <a:t>Cú pháp:</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a:solidFill>
                  <a:srgbClr val="FF0000"/>
                </a:solidFill>
                <a:latin typeface="Courier New" panose="02070309020205020404" pitchFamily="49" charset="0"/>
                <a:cs typeface="Courier New" panose="02070309020205020404" pitchFamily="49" charset="0"/>
              </a:rPr>
              <a:t>ERROR_STATE</a:t>
            </a:r>
            <a:r>
              <a:rPr lang="en-US" sz="1200" b="1">
                <a:latin typeface="Courier New" panose="02070309020205020404" pitchFamily="49" charset="0"/>
                <a:cs typeface="Courier New" panose="02070309020205020404" pitchFamily="49" charset="0"/>
              </a:rPr>
              <a:t>()</a:t>
            </a:r>
          </a:p>
          <a:p>
            <a:pPr marL="171450" indent="-171450">
              <a:buFont typeface="Arial" panose="020B0604020202020204" pitchFamily="34" charset="0"/>
              <a:buChar char="•"/>
            </a:pPr>
            <a:r>
              <a:rPr lang="en-US" b="0"/>
              <a:t>Đ</a:t>
            </a:r>
            <a:r>
              <a:rPr lang="vi-VN" b="0"/>
              <a:t>ược gọi trong một khối </a:t>
            </a:r>
            <a:r>
              <a:rPr lang="en-US" sz="1200" b="1">
                <a:solidFill>
                  <a:srgbClr val="00B050"/>
                </a:solidFill>
                <a:cs typeface="Courier New" pitchFamily="49" charset="0"/>
              </a:rPr>
              <a:t>CATCH</a:t>
            </a:r>
            <a:r>
              <a:rPr lang="vi-VN" b="0"/>
              <a:t>.</a:t>
            </a:r>
            <a:r>
              <a:rPr lang="en-US" b="0"/>
              <a:t> </a:t>
            </a:r>
            <a:r>
              <a:rPr lang="vi-VN" b="0"/>
              <a:t>Nó trả về số lượng trạng thái của tin nhắn lỗi</a:t>
            </a:r>
            <a:r>
              <a:rPr lang="en-US" b="0"/>
              <a:t> </a:t>
            </a:r>
            <a:r>
              <a:rPr lang="vi-VN" b="0"/>
              <a:t>khiến khối CATCH được chạy</a:t>
            </a:r>
            <a:r>
              <a:rPr lang="en-US" b="0"/>
              <a:t>.</a:t>
            </a:r>
            <a:endParaRPr lang="vi-VN"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solidFill>
                  <a:srgbClr val="FF0000"/>
                </a:solidFill>
                <a:latin typeface="Courier New" panose="02070309020205020404" pitchFamily="49" charset="0"/>
                <a:cs typeface="Courier New" panose="02070309020205020404" pitchFamily="49" charset="0"/>
              </a:rPr>
              <a:t>ERROR_STATE </a:t>
            </a:r>
            <a:r>
              <a:rPr lang="en-US" sz="1200" b="0">
                <a:solidFill>
                  <a:srgbClr val="FF0000"/>
                </a:solidFill>
                <a:latin typeface="Courier New" panose="02070309020205020404" pitchFamily="49" charset="0"/>
                <a:cs typeface="Courier New" panose="02070309020205020404" pitchFamily="49" charset="0"/>
              </a:rPr>
              <a:t>đ</a:t>
            </a:r>
            <a:r>
              <a:rPr lang="vi-VN" b="0"/>
              <a:t>ược gọi từ bất cứ nơi nào trong phạm vi của một khối </a:t>
            </a:r>
            <a:r>
              <a:rPr lang="en-US" sz="1200" b="1">
                <a:solidFill>
                  <a:srgbClr val="00B050"/>
                </a:solidFill>
                <a:cs typeface="Courier New" pitchFamily="49" charset="0"/>
              </a:rPr>
              <a:t>CATCH</a:t>
            </a:r>
            <a:r>
              <a:rPr lang="vi-VN" b="0"/>
              <a:t>.</a:t>
            </a:r>
            <a:r>
              <a:rPr lang="en-US" b="0"/>
              <a:t> </a:t>
            </a:r>
            <a:r>
              <a:rPr lang="vi-VN" sz="1200" b="0">
                <a:solidFill>
                  <a:srgbClr val="FF0000"/>
                </a:solidFill>
                <a:latin typeface="Courier New" panose="02070309020205020404" pitchFamily="49" charset="0"/>
                <a:cs typeface="Courier New" panose="02070309020205020404" pitchFamily="49" charset="0"/>
              </a:rPr>
              <a:t>ERROR_STATE </a:t>
            </a:r>
            <a:r>
              <a:rPr lang="en-US" sz="1200" b="0">
                <a:solidFill>
                  <a:srgbClr val="FF0000"/>
                </a:solidFill>
                <a:latin typeface="Courier New" panose="02070309020205020404" pitchFamily="49" charset="0"/>
                <a:cs typeface="Courier New" panose="02070309020205020404" pitchFamily="49" charset="0"/>
              </a:rPr>
              <a:t>t</a:t>
            </a:r>
            <a:r>
              <a:rPr lang="vi-VN" b="0"/>
              <a:t>rả về trạng thái lỗi bất kể nó được thực thi bao nhiêu lần hoặc liệu nó có được thực thi trong phạm vi của khối </a:t>
            </a:r>
            <a:r>
              <a:rPr lang="en-US" sz="1200" b="1">
                <a:solidFill>
                  <a:srgbClr val="00B050"/>
                </a:solidFill>
                <a:cs typeface="Courier New" pitchFamily="49" charset="0"/>
              </a:rPr>
              <a:t>CATCH</a:t>
            </a:r>
            <a:r>
              <a:rPr lang="vi-VN" b="0"/>
              <a:t>.</a:t>
            </a:r>
            <a:endParaRPr lang="en-US" b="0"/>
          </a:p>
        </p:txBody>
      </p:sp>
      <p:sp>
        <p:nvSpPr>
          <p:cNvPr id="4" name="Slide Number Placeholder 3"/>
          <p:cNvSpPr>
            <a:spLocks noGrp="1"/>
          </p:cNvSpPr>
          <p:nvPr>
            <p:ph type="sldNum" sz="quarter" idx="5"/>
          </p:nvPr>
        </p:nvSpPr>
        <p:spPr/>
        <p:txBody>
          <a:bodyPr/>
          <a:lstStyle/>
          <a:p>
            <a:fld id="{C1CC8803-5939-473F-B8FF-E76A98141DDF}" type="slidenum">
              <a:rPr lang="en-US" smtClean="0"/>
              <a:t>17</a:t>
            </a:fld>
            <a:endParaRPr lang="en-US"/>
          </a:p>
        </p:txBody>
      </p:sp>
    </p:spTree>
    <p:extLst>
      <p:ext uri="{BB962C8B-B14F-4D97-AF65-F5344CB8AC3E}">
        <p14:creationId xmlns:p14="http://schemas.microsoft.com/office/powerpoint/2010/main" val="2136207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_SEVERITY</a:t>
            </a:r>
          </a:p>
          <a:p>
            <a:pPr marL="171450" indent="-171450">
              <a:buFont typeface="Arial" panose="020B0604020202020204" pitchFamily="34" charset="0"/>
              <a:buChar char="•"/>
            </a:pPr>
            <a:r>
              <a:rPr lang="vi-VN" b="0"/>
              <a:t>Hàm ERROR_SEVERITY</a:t>
            </a:r>
            <a:r>
              <a:rPr lang="en-US" b="0"/>
              <a:t> </a:t>
            </a:r>
            <a:r>
              <a:rPr lang="vi-VN" b="0"/>
              <a:t>trả về mức độ nghiêm trọng của lỗi gây ra </a:t>
            </a:r>
            <a:r>
              <a:rPr lang="en-US" b="0"/>
              <a:t>do </a:t>
            </a:r>
            <a:r>
              <a:rPr lang="vi-VN" b="0"/>
              <a:t>khối CATCH</a:t>
            </a:r>
            <a:r>
              <a:rPr lang="en-US" b="0"/>
              <a:t> của kiến trúc TRY…CATCH </a:t>
            </a:r>
            <a:r>
              <a:rPr lang="vi-VN" b="0"/>
              <a:t>được thực thi</a:t>
            </a:r>
            <a:r>
              <a:rPr lang="en-US" b="0"/>
              <a:t>.</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sz="1200" b="0">
                <a:solidFill>
                  <a:srgbClr val="FF0000"/>
                </a:solidFill>
                <a:latin typeface="Courier New" panose="02070309020205020404" pitchFamily="49" charset="0"/>
                <a:cs typeface="Courier New" panose="02070309020205020404" pitchFamily="49" charset="0"/>
              </a:rPr>
              <a:t>Cú pháp:</a:t>
            </a:r>
          </a:p>
          <a:p>
            <a:pPr marL="457200" marR="0" lvl="1"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a:solidFill>
                  <a:srgbClr val="FF0000"/>
                </a:solidFill>
                <a:latin typeface="Courier New" panose="02070309020205020404" pitchFamily="49" charset="0"/>
                <a:cs typeface="Courier New" panose="02070309020205020404" pitchFamily="49" charset="0"/>
              </a:rPr>
              <a:t>	ERROR_SEVERITY()</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solidFill>
                  <a:srgbClr val="FF0000"/>
                </a:solidFill>
                <a:latin typeface="Courier New" panose="02070309020205020404" pitchFamily="49" charset="0"/>
                <a:cs typeface="Courier New" panose="02070309020205020404" pitchFamily="49" charset="0"/>
              </a:rPr>
              <a:t>Nó trả về giá trị NULL nếu được gọi bên ngoài phạm vi của khối CATCH. ERROR_SEVERITY</a:t>
            </a:r>
            <a:r>
              <a:rPr lang="en-US" sz="1200" b="0">
                <a:solidFill>
                  <a:srgbClr val="FF0000"/>
                </a:solidFill>
                <a:latin typeface="Courier New" panose="02070309020205020404" pitchFamily="49" charset="0"/>
                <a:cs typeface="Courier New" panose="02070309020205020404" pitchFamily="49" charset="0"/>
              </a:rPr>
              <a:t> </a:t>
            </a:r>
            <a:r>
              <a:rPr lang="vi-VN" sz="1200" b="0">
                <a:solidFill>
                  <a:srgbClr val="FF0000"/>
                </a:solidFill>
                <a:latin typeface="Courier New" panose="02070309020205020404" pitchFamily="49" charset="0"/>
                <a:cs typeface="Courier New" panose="02070309020205020404" pitchFamily="49" charset="0"/>
              </a:rPr>
              <a:t>có thể được gọi là bất cứ nơi nào trong phạm vi của một khối CATCH</a:t>
            </a:r>
            <a:endParaRPr lang="en-US" sz="1200" b="0">
              <a:solidFill>
                <a:srgbClr val="FF0000"/>
              </a:solidFill>
              <a:latin typeface="Courier New" panose="02070309020205020404" pitchFamily="49" charset="0"/>
              <a:cs typeface="Courier New" panose="02070309020205020404" pitchFamily="49" charset="0"/>
            </a:endParaRP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sz="1200" b="0">
                <a:solidFill>
                  <a:srgbClr val="FF0000"/>
                </a:solidFill>
                <a:latin typeface="Courier New" panose="02070309020205020404" pitchFamily="49" charset="0"/>
                <a:cs typeface="Courier New" panose="02070309020205020404" pitchFamily="49" charset="0"/>
              </a:rPr>
              <a:t>Trong các khối CATCH lồng nhau, ERROR_SEVERITY sẽ trả về mức độ nghiêm trọng lỗi dành riêng cho phạm vi của khối CATCH mà nó được tham chiếu. Người dùng có thể sử dụng chức năng ERROR_SEVERITY trong một khối CATCH</a:t>
            </a:r>
            <a:endParaRPr lang="en-US" sz="1200" b="0">
              <a:solidFill>
                <a:srgbClr val="FF0000"/>
              </a:solidFill>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5"/>
          </p:nvPr>
        </p:nvSpPr>
        <p:spPr/>
        <p:txBody>
          <a:bodyPr/>
          <a:lstStyle/>
          <a:p>
            <a:fld id="{C1CC8803-5939-473F-B8FF-E76A98141DDF}" type="slidenum">
              <a:rPr lang="en-US" smtClean="0"/>
              <a:t>18</a:t>
            </a:fld>
            <a:endParaRPr lang="en-US"/>
          </a:p>
        </p:txBody>
      </p:sp>
    </p:spTree>
    <p:extLst>
      <p:ext uri="{BB962C8B-B14F-4D97-AF65-F5344CB8AC3E}">
        <p14:creationId xmlns:p14="http://schemas.microsoft.com/office/powerpoint/2010/main" val="32542080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_PROCEDURE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Hàm ERROR_PROCEEDURE trả về </a:t>
            </a:r>
            <a:r>
              <a:rPr lang="en-US" b="0"/>
              <a:t>trigger </a:t>
            </a:r>
            <a:r>
              <a:rPr lang="vi-VN" b="0"/>
              <a:t>hoạt hoặc tên thủ tục lưu trữ </a:t>
            </a:r>
            <a:r>
              <a:rPr lang="en-US" b="0"/>
              <a:t>n</a:t>
            </a:r>
            <a:r>
              <a:rPr lang="vi-VN" b="0"/>
              <a:t>ơ</a:t>
            </a:r>
            <a:r>
              <a:rPr lang="en-US" b="0"/>
              <a:t>i</a:t>
            </a:r>
            <a:r>
              <a:rPr lang="vi-VN" b="0"/>
              <a:t> lỗi gây ra </a:t>
            </a:r>
            <a:r>
              <a:rPr lang="en-US" b="0"/>
              <a:t>do </a:t>
            </a:r>
            <a:r>
              <a:rPr lang="vi-VN" b="0"/>
              <a:t>khối CATCH</a:t>
            </a:r>
            <a:r>
              <a:rPr lang="en-US" b="0"/>
              <a:t> của kiến trúc TRY…CATCH </a:t>
            </a:r>
            <a:r>
              <a:rPr lang="vi-VN" b="0"/>
              <a:t>được thực thi</a:t>
            </a:r>
            <a:r>
              <a:rPr lang="en-US"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Nó trả về </a:t>
            </a:r>
            <a:r>
              <a:rPr lang="en-US" b="0"/>
              <a:t>kiểu</a:t>
            </a:r>
            <a:r>
              <a:rPr lang="vi-VN" b="0"/>
              <a:t> dữ liệu </a:t>
            </a:r>
            <a:r>
              <a:rPr lang="en-US" b="1"/>
              <a:t>n</a:t>
            </a:r>
            <a:r>
              <a:rPr lang="vi-VN" b="1"/>
              <a:t>varchar</a:t>
            </a:r>
            <a:r>
              <a:rPr lang="vi-VN" b="0"/>
              <a:t>. Khi hàm được gọi trong </a:t>
            </a:r>
            <a:r>
              <a:rPr lang="en-US" b="0"/>
              <a:t>một </a:t>
            </a:r>
            <a:r>
              <a:rPr lang="vi-VN" b="0"/>
              <a:t>khối CATCH, nó sẽ trả về tên của thủ tục được lưu trữ trong đó lỗi xảy ra lỗi</a:t>
            </a:r>
            <a:r>
              <a:rPr lang="en-US" b="0"/>
              <a:t>.</a:t>
            </a:r>
          </a:p>
          <a:p>
            <a:pPr marL="171450" indent="-171450">
              <a:buFont typeface="Arial" panose="020B0604020202020204" pitchFamily="34" charset="0"/>
              <a:buChar char="•"/>
            </a:pPr>
            <a:r>
              <a:rPr lang="en-US" b="0"/>
              <a:t>Cú pháp:</a:t>
            </a:r>
          </a:p>
          <a:p>
            <a:pPr marL="914400" marR="0" lvl="2"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US" sz="1200" b="1">
                <a:solidFill>
                  <a:srgbClr val="FF0000"/>
                </a:solidFill>
                <a:latin typeface="Courier New" panose="02070309020205020404" pitchFamily="49" charset="0"/>
                <a:cs typeface="Courier New" panose="02070309020205020404" pitchFamily="49" charset="0"/>
              </a:rPr>
              <a:t>ERROR_PROCEDURE</a:t>
            </a:r>
            <a:r>
              <a:rPr lang="en-US" sz="1200" b="1">
                <a:solidFill>
                  <a:schemeClr val="tx1"/>
                </a:solidFill>
                <a:latin typeface="Courier New" panose="02070309020205020404" pitchFamily="49" charset="0"/>
                <a:cs typeface="Courier New" panose="02070309020205020404" pitchFamily="49" charset="0"/>
              </a:rPr>
              <a:t>( )</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ERROR_PROCEDURE có thể được gọi từ bất cứ nơi nào trong phạm vi của một khối CATCH</a:t>
            </a:r>
            <a:endParaRPr lang="en-US" b="0"/>
          </a:p>
        </p:txBody>
      </p:sp>
      <p:sp>
        <p:nvSpPr>
          <p:cNvPr id="4" name="Slide Number Placeholder 3"/>
          <p:cNvSpPr>
            <a:spLocks noGrp="1"/>
          </p:cNvSpPr>
          <p:nvPr>
            <p:ph type="sldNum" sz="quarter" idx="5"/>
          </p:nvPr>
        </p:nvSpPr>
        <p:spPr/>
        <p:txBody>
          <a:bodyPr/>
          <a:lstStyle/>
          <a:p>
            <a:fld id="{C1CC8803-5939-473F-B8FF-E76A98141DDF}" type="slidenum">
              <a:rPr lang="en-US" smtClean="0"/>
              <a:t>19</a:t>
            </a:fld>
            <a:endParaRPr lang="en-US"/>
          </a:p>
        </p:txBody>
      </p:sp>
    </p:spTree>
    <p:extLst>
      <p:ext uri="{BB962C8B-B14F-4D97-AF65-F5344CB8AC3E}">
        <p14:creationId xmlns:p14="http://schemas.microsoft.com/office/powerpoint/2010/main" val="1982577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_PROCEDURE</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20</a:t>
            </a:fld>
            <a:endParaRPr lang="en-US" dirty="0"/>
          </a:p>
        </p:txBody>
      </p:sp>
    </p:spTree>
    <p:extLst>
      <p:ext uri="{BB962C8B-B14F-4D97-AF65-F5344CB8AC3E}">
        <p14:creationId xmlns:p14="http://schemas.microsoft.com/office/powerpoint/2010/main" val="3230530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_NUMBER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Hàm </a:t>
            </a:r>
            <a:r>
              <a:rPr lang="vi-VN" b="0"/>
              <a:t>hệ thống ERROR_NUMBER khi được gọi trong khối CATCH trả về </a:t>
            </a:r>
            <a:r>
              <a:rPr lang="en-US" b="0"/>
              <a:t>mã </a:t>
            </a:r>
            <a:r>
              <a:rPr lang="vi-VN" b="0"/>
              <a:t>số </a:t>
            </a:r>
            <a:r>
              <a:rPr lang="en-US" b="0"/>
              <a:t>của </a:t>
            </a:r>
            <a:r>
              <a:rPr lang="vi-VN" b="0"/>
              <a:t>lỗi gây ra </a:t>
            </a:r>
            <a:r>
              <a:rPr lang="en-US" b="0"/>
              <a:t>do </a:t>
            </a:r>
            <a:r>
              <a:rPr lang="vi-VN" b="0"/>
              <a:t>khối CATCH</a:t>
            </a:r>
            <a:r>
              <a:rPr lang="en-US" b="0"/>
              <a:t> của kiến trúc TRY…CATCH </a:t>
            </a:r>
            <a:r>
              <a:rPr lang="vi-VN" b="0"/>
              <a:t>được thực thi</a:t>
            </a:r>
            <a:r>
              <a:rPr lang="en-US" b="0"/>
              <a:t>.</a:t>
            </a:r>
          </a:p>
          <a:p>
            <a:pPr marL="171450" indent="-171450">
              <a:buFont typeface="Arial" panose="020B0604020202020204" pitchFamily="34" charset="0"/>
              <a:buChar char="•"/>
            </a:pPr>
            <a:r>
              <a:rPr lang="en-US" b="0"/>
              <a:t>Cú pháp:</a:t>
            </a:r>
          </a:p>
          <a:p>
            <a:pPr marL="457200" lvl="1" indent="0">
              <a:buFont typeface="Arial" panose="020B0604020202020204" pitchFamily="34" charset="0"/>
              <a:buNone/>
            </a:pPr>
            <a:r>
              <a:rPr lang="en-US" sz="1200" b="1">
                <a:solidFill>
                  <a:srgbClr val="FF0000"/>
                </a:solidFill>
                <a:latin typeface="Courier New" panose="02070309020205020404" pitchFamily="49" charset="0"/>
                <a:cs typeface="Courier New" panose="02070309020205020404" pitchFamily="49" charset="0"/>
              </a:rPr>
              <a:t>	ERROR_NUMBER </a:t>
            </a:r>
            <a:r>
              <a:rPr lang="en-US" sz="1200" b="1">
                <a:latin typeface="Courier New" panose="02070309020205020404" pitchFamily="49" charset="0"/>
                <a:cs typeface="Courier New" panose="02070309020205020404" pitchFamily="49" charset="0"/>
              </a:rPr>
              <a:t>( )</a:t>
            </a:r>
          </a:p>
          <a:p>
            <a:pPr marL="171450" lvl="0" indent="-171450">
              <a:buFont typeface="Arial" panose="020B0604020202020204" pitchFamily="34" charset="0"/>
              <a:buChar char="•"/>
            </a:pPr>
            <a:r>
              <a:rPr lang="vi-VN" b="0"/>
              <a:t>ERROR_NUMBER </a:t>
            </a:r>
            <a:r>
              <a:rPr lang="en-US" b="0"/>
              <a:t>trả về mã số lỗi bất kể bao nhiêu lần nó thực thi hoặc liệu nó có thực thi trong phạm vi của khối CATCH không.</a:t>
            </a:r>
          </a:p>
        </p:txBody>
      </p:sp>
      <p:sp>
        <p:nvSpPr>
          <p:cNvPr id="4" name="Slide Number Placeholder 3"/>
          <p:cNvSpPr>
            <a:spLocks noGrp="1"/>
          </p:cNvSpPr>
          <p:nvPr>
            <p:ph type="sldNum" sz="quarter" idx="5"/>
          </p:nvPr>
        </p:nvSpPr>
        <p:spPr/>
        <p:txBody>
          <a:bodyPr/>
          <a:lstStyle/>
          <a:p>
            <a:fld id="{C1CC8803-5939-473F-B8FF-E76A98141DDF}" type="slidenum">
              <a:rPr lang="en-US" smtClean="0"/>
              <a:t>21</a:t>
            </a:fld>
            <a:endParaRPr lang="en-US"/>
          </a:p>
        </p:txBody>
      </p:sp>
    </p:spTree>
    <p:extLst>
      <p:ext uri="{BB962C8B-B14F-4D97-AF65-F5344CB8AC3E}">
        <p14:creationId xmlns:p14="http://schemas.microsoft.com/office/powerpoint/2010/main" val="3091278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_MESSAGE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Hàm ERROR_MESSAGE trả về thông điệp văn bản của lỗi </a:t>
            </a:r>
            <a:r>
              <a:rPr lang="vi-VN" b="0"/>
              <a:t>gây ra </a:t>
            </a:r>
            <a:r>
              <a:rPr lang="en-US" b="0"/>
              <a:t>do </a:t>
            </a:r>
            <a:r>
              <a:rPr lang="vi-VN" b="0"/>
              <a:t>khối CATCH</a:t>
            </a:r>
            <a:r>
              <a:rPr lang="en-US" b="0"/>
              <a:t> của kiến trúc TRY…CATCH </a:t>
            </a:r>
            <a:r>
              <a:rPr lang="vi-VN" b="0"/>
              <a:t>được thực thi</a:t>
            </a:r>
            <a:r>
              <a:rPr lang="en-US" b="0"/>
              <a:t>.</a:t>
            </a:r>
          </a:p>
          <a:p>
            <a:pPr marL="171450" indent="-171450">
              <a:buFont typeface="Arial" panose="020B0604020202020204" pitchFamily="34" charset="0"/>
              <a:buChar char="•"/>
            </a:pPr>
            <a:r>
              <a:rPr lang="en-US" b="0"/>
              <a:t>Cú pháp:</a:t>
            </a:r>
          </a:p>
          <a:p>
            <a:pPr marL="914400" lvl="2" indent="0">
              <a:buFont typeface="Arial" panose="020B0604020202020204" pitchFamily="34" charset="0"/>
              <a:buNone/>
            </a:pPr>
            <a:r>
              <a:rPr lang="en-US" sz="1200" b="1">
                <a:solidFill>
                  <a:srgbClr val="FF0000"/>
                </a:solidFill>
                <a:latin typeface="Courier New" panose="02070309020205020404" pitchFamily="49" charset="0"/>
                <a:cs typeface="Courier New" panose="02070309020205020404" pitchFamily="49" charset="0"/>
              </a:rPr>
              <a:t>ERROR_MESSAGE </a:t>
            </a:r>
            <a:r>
              <a:rPr lang="en-US" sz="1200" b="1">
                <a:latin typeface="Courier New" panose="02070309020205020404" pitchFamily="49" charset="0"/>
                <a:cs typeface="Courier New" panose="02070309020205020404" pitchFamily="49" charset="0"/>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Khi </a:t>
            </a:r>
            <a:r>
              <a:rPr lang="en-US" b="0"/>
              <a:t>hàm ERROR_MESSAGE</a:t>
            </a:r>
            <a:r>
              <a:rPr lang="vi-VN" b="0"/>
              <a:t> được gọi trong khối CATCH, nó sẽ trả về </a:t>
            </a:r>
            <a:r>
              <a:rPr lang="en-US" b="0"/>
              <a:t>thông điệp văn bản báo lỗi </a:t>
            </a:r>
            <a:r>
              <a:rPr lang="vi-VN" b="0"/>
              <a:t>gây ra </a:t>
            </a:r>
            <a:r>
              <a:rPr lang="en-US" b="0"/>
              <a:t>do </a:t>
            </a:r>
            <a:r>
              <a:rPr lang="vi-VN" b="0"/>
              <a:t>khối CATCH</a:t>
            </a:r>
            <a:r>
              <a:rPr lang="en-US" b="0"/>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Văn bản bao gồm các giá trị được cung cấp cho bất kỳ tham số nào có thể được thay thế như tên đối tượng, thời gian hoặc độ dài</a:t>
            </a:r>
            <a:r>
              <a:rPr lang="en-US" b="0"/>
              <a:t>.</a:t>
            </a:r>
          </a:p>
        </p:txBody>
      </p:sp>
      <p:sp>
        <p:nvSpPr>
          <p:cNvPr id="4" name="Slide Number Placeholder 3"/>
          <p:cNvSpPr>
            <a:spLocks noGrp="1"/>
          </p:cNvSpPr>
          <p:nvPr>
            <p:ph type="sldNum" sz="quarter" idx="5"/>
          </p:nvPr>
        </p:nvSpPr>
        <p:spPr/>
        <p:txBody>
          <a:bodyPr/>
          <a:lstStyle/>
          <a:p>
            <a:fld id="{C1CC8803-5939-473F-B8FF-E76A98141DDF}" type="slidenum">
              <a:rPr lang="en-US" smtClean="0"/>
              <a:t>22</a:t>
            </a:fld>
            <a:endParaRPr lang="en-US"/>
          </a:p>
        </p:txBody>
      </p:sp>
    </p:spTree>
    <p:extLst>
      <p:ext uri="{BB962C8B-B14F-4D97-AF65-F5344CB8AC3E}">
        <p14:creationId xmlns:p14="http://schemas.microsoft.com/office/powerpoint/2010/main" val="3966994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ERROR</a:t>
            </a:r>
            <a:r>
              <a:rPr lang="en-US" b="1" i="1"/>
              <a:t> </a:t>
            </a:r>
            <a:r>
              <a:rPr lang="en-US" b="1"/>
              <a:t>_LINE</a:t>
            </a:r>
          </a:p>
          <a:p>
            <a:pPr marL="171450" indent="-171450">
              <a:buFont typeface="Arial" panose="020B0604020202020204" pitchFamily="34" charset="0"/>
              <a:buChar char="•"/>
            </a:pPr>
            <a:r>
              <a:rPr lang="en-US" b="0"/>
              <a:t>Hàm ERROR_LINE trả về số dòng mà lỗi xảy ra trong khối  </a:t>
            </a:r>
            <a:r>
              <a:rPr lang="en-US" sz="1200" b="1">
                <a:solidFill>
                  <a:srgbClr val="00B050"/>
                </a:solidFill>
                <a:cs typeface="Courier New" panose="02070309020205020404" pitchFamily="49" charset="0"/>
              </a:rPr>
              <a:t>TRY…CATCH</a:t>
            </a:r>
          </a:p>
          <a:p>
            <a:pPr marL="171450" indent="-171450">
              <a:buFont typeface="Arial" panose="020B0604020202020204" pitchFamily="34" charset="0"/>
              <a:buChar char="•"/>
            </a:pPr>
            <a:r>
              <a:rPr lang="en-US" sz="1200" b="0">
                <a:solidFill>
                  <a:srgbClr val="00B050"/>
                </a:solidFill>
                <a:cs typeface="Courier New" panose="02070309020205020404" pitchFamily="49" charset="0"/>
              </a:rPr>
              <a:t>Cú pháp:</a:t>
            </a:r>
          </a:p>
          <a:p>
            <a:pPr marL="914400" lvl="2" indent="0">
              <a:buFont typeface="Arial" panose="020B0604020202020204" pitchFamily="34" charset="0"/>
              <a:buNone/>
            </a:pPr>
            <a:r>
              <a:rPr lang="en-US" sz="1200" b="1">
                <a:solidFill>
                  <a:srgbClr val="FF0000"/>
                </a:solidFill>
                <a:latin typeface="Courier New" panose="02070309020205020404" pitchFamily="49" charset="0"/>
                <a:cs typeface="Courier New" panose="02070309020205020404" pitchFamily="49" charset="0"/>
              </a:rPr>
              <a:t>ERROR_LINE </a:t>
            </a:r>
            <a:r>
              <a:rPr lang="en-US" sz="1200" b="1">
                <a:latin typeface="Courier New" panose="02070309020205020404" pitchFamily="49" charset="0"/>
                <a:cs typeface="Courier New" panose="02070309020205020404" pitchFamily="49" charset="0"/>
              </a:rPr>
              <a:t>()</a:t>
            </a:r>
          </a:p>
          <a:p>
            <a:pPr marL="171450" lvl="0" indent="-171450">
              <a:buFont typeface="Arial" panose="020B0604020202020204" pitchFamily="34" charset="0"/>
              <a:buChar char="•"/>
            </a:pPr>
            <a:r>
              <a:rPr lang="vi-VN" b="0"/>
              <a:t>Khi hàm này được gọi trong khối CATCH, nó sẽ trả về số dòng trong đó lỗi đã xảy ra</a:t>
            </a:r>
            <a:r>
              <a:rPr lang="en-US" b="0"/>
              <a:t>.</a:t>
            </a:r>
          </a:p>
          <a:p>
            <a:pPr marL="171450" lvl="0" indent="-171450">
              <a:buFont typeface="Arial" panose="020B0604020202020204" pitchFamily="34" charset="0"/>
              <a:buChar char="•"/>
            </a:pPr>
            <a:r>
              <a:rPr lang="vi-VN" b="0"/>
              <a:t>Nếu lỗi xảy ra trong </a:t>
            </a:r>
            <a:r>
              <a:rPr lang="en-US" b="0"/>
              <a:t>một trigger </a:t>
            </a:r>
            <a:r>
              <a:rPr lang="vi-VN" b="0"/>
              <a:t>hoặc </a:t>
            </a:r>
            <a:r>
              <a:rPr lang="en-US" b="0"/>
              <a:t>thủ tục </a:t>
            </a:r>
            <a:r>
              <a:rPr lang="vi-VN" b="0"/>
              <a:t>lưu trữ, nó sẽ trả về số dòng trong </a:t>
            </a:r>
            <a:r>
              <a:rPr lang="en-US" b="0"/>
              <a:t>trigger </a:t>
            </a:r>
            <a:r>
              <a:rPr lang="vi-VN" b="0"/>
              <a:t>hoặc thủ tục lưu trữ</a:t>
            </a:r>
            <a:r>
              <a:rPr lang="en-US" b="0"/>
              <a:t>.</a:t>
            </a:r>
          </a:p>
        </p:txBody>
      </p:sp>
      <p:sp>
        <p:nvSpPr>
          <p:cNvPr id="4" name="Slide Number Placeholder 3"/>
          <p:cNvSpPr>
            <a:spLocks noGrp="1"/>
          </p:cNvSpPr>
          <p:nvPr>
            <p:ph type="sldNum" sz="quarter" idx="5"/>
          </p:nvPr>
        </p:nvSpPr>
        <p:spPr/>
        <p:txBody>
          <a:bodyPr/>
          <a:lstStyle/>
          <a:p>
            <a:fld id="{C1CC8803-5939-473F-B8FF-E76A98141DDF}" type="slidenum">
              <a:rPr lang="en-US" smtClean="0"/>
              <a:t>23</a:t>
            </a:fld>
            <a:endParaRPr lang="en-US"/>
          </a:p>
        </p:txBody>
      </p:sp>
    </p:spTree>
    <p:extLst>
      <p:ext uri="{BB962C8B-B14F-4D97-AF65-F5344CB8AC3E}">
        <p14:creationId xmlns:p14="http://schemas.microsoft.com/office/powerpoint/2010/main" val="3047109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Những l</a:t>
            </a:r>
            <a:r>
              <a:rPr lang="vi-VN" b="1"/>
              <a:t>ỗi không bị ảnh hưởng bởi </a:t>
            </a:r>
            <a:r>
              <a:rPr lang="en-US" b="1"/>
              <a:t>kiến trúc </a:t>
            </a:r>
            <a:r>
              <a:rPr lang="en-US" sz="1200" b="1"/>
              <a:t>TRY...CATCH 1-3</a:t>
            </a:r>
          </a:p>
          <a:p>
            <a:pPr marL="171450" indent="-171450">
              <a:buFont typeface="Arial" panose="020B0604020202020204" pitchFamily="34" charset="0"/>
              <a:buChar char="•"/>
            </a:pPr>
            <a:r>
              <a:rPr lang="en-US" sz="1200" b="1">
                <a:cs typeface="Courier New" pitchFamily="49" charset="0"/>
              </a:rPr>
              <a:t>TRY…CATCH</a:t>
            </a:r>
            <a:r>
              <a:rPr lang="en-US" sz="1200" b="1">
                <a:latin typeface="Calibri" pitchFamily="34" charset="0"/>
                <a:cs typeface="Calibri" pitchFamily="34" charset="0"/>
              </a:rPr>
              <a:t> </a:t>
            </a:r>
            <a:r>
              <a:rPr lang="en-US" b="0"/>
              <a:t>không bẫy các điều kiện sau:</a:t>
            </a:r>
          </a:p>
          <a:p>
            <a:pPr marL="628650" lvl="1" indent="-171450">
              <a:buFont typeface="Arial" panose="020B0604020202020204" pitchFamily="34" charset="0"/>
              <a:buChar char="•"/>
            </a:pPr>
            <a:r>
              <a:rPr lang="vi-VN" b="0"/>
              <a:t>Thông điệp thông tin hoặc cảnh báo có </a:t>
            </a:r>
            <a:r>
              <a:rPr lang="vi-VN" b="0" i="0"/>
              <a:t>mức độ nghiêm trọng từ 10 hoặc thấp hơn</a:t>
            </a:r>
            <a:endParaRPr lang="vi-VN" b="0"/>
          </a:p>
          <a:p>
            <a:pPr marL="628650" lvl="1" indent="-171450">
              <a:buFont typeface="Arial" panose="020B0604020202020204" pitchFamily="34" charset="0"/>
              <a:buChar char="•"/>
            </a:pPr>
            <a:r>
              <a:rPr lang="vi-VN" b="0"/>
              <a:t>Một lỗi có </a:t>
            </a:r>
            <a:r>
              <a:rPr lang="vi-VN" b="0" i="0"/>
              <a:t>mức độ nghiêm trọng từ 20 trở lên </a:t>
            </a:r>
            <a:r>
              <a:rPr lang="vi-VN" b="0"/>
              <a:t>ngăn chặn việc xử lý tác vụ </a:t>
            </a:r>
            <a:r>
              <a:rPr lang="en-US" sz="1200">
                <a:latin typeface="Calibri" pitchFamily="34" charset="0"/>
                <a:cs typeface="Calibri" pitchFamily="34" charset="0"/>
              </a:rPr>
              <a:t>SQL Server DB Engine </a:t>
            </a:r>
            <a:r>
              <a:rPr lang="vi-VN" b="0"/>
              <a:t>cho phiên</a:t>
            </a:r>
            <a:endParaRPr lang="en-US" b="0"/>
          </a:p>
          <a:p>
            <a:pPr marL="628650" lvl="1" indent="-171450">
              <a:buFont typeface="Arial" panose="020B0604020202020204" pitchFamily="34" charset="0"/>
              <a:buChar char="•"/>
            </a:pPr>
            <a:r>
              <a:rPr lang="vi-VN" b="0"/>
              <a:t>Nếu xảy ra lỗi có mức độ nghiêm trọng từ 20 trở lên và kết nối cơ sở dữ liệu không bị gián đoạn,</a:t>
            </a:r>
            <a:r>
              <a:rPr lang="en-US" b="0"/>
              <a:t> </a:t>
            </a:r>
            <a:r>
              <a:rPr lang="vi-VN" b="0"/>
              <a:t>TRY…CATCH sẽ xử lý lỗi</a:t>
            </a:r>
          </a:p>
          <a:p>
            <a:pPr marL="628650" lvl="1" indent="-171450">
              <a:buFont typeface="Arial" panose="020B0604020202020204" pitchFamily="34" charset="0"/>
              <a:buChar char="•"/>
            </a:pPr>
            <a:r>
              <a:rPr lang="vi-VN" b="0"/>
              <a:t>Sự chú ý như kết nối máy khách bị hỏng hoặc yêu cầu khách h</a:t>
            </a:r>
            <a:r>
              <a:rPr lang="en-US" b="0"/>
              <a:t>à</a:t>
            </a:r>
            <a:r>
              <a:rPr lang="vi-VN" b="0"/>
              <a:t>ng</a:t>
            </a:r>
            <a:r>
              <a:rPr lang="en-US" b="0"/>
              <a:t> </a:t>
            </a:r>
            <a:r>
              <a:rPr lang="vi-VN" b="0"/>
              <a:t>bị gián đoạn.</a:t>
            </a:r>
          </a:p>
          <a:p>
            <a:pPr marL="628650" lvl="1" indent="-171450">
              <a:buFont typeface="Arial" panose="020B0604020202020204" pitchFamily="34" charset="0"/>
              <a:buChar char="•"/>
            </a:pPr>
            <a:r>
              <a:rPr lang="vi-VN" b="0"/>
              <a:t>Phiên kết thúc vì các câu lệnh </a:t>
            </a:r>
            <a:r>
              <a:rPr lang="vi-VN" b="1"/>
              <a:t>KILL</a:t>
            </a:r>
            <a:r>
              <a:rPr lang="vi-VN" b="0"/>
              <a:t> được sử dụng bởi </a:t>
            </a:r>
            <a:r>
              <a:rPr lang="en-US" b="1"/>
              <a:t>system administrator</a:t>
            </a:r>
            <a:endParaRPr lang="en-US" b="0"/>
          </a:p>
        </p:txBody>
      </p:sp>
      <p:sp>
        <p:nvSpPr>
          <p:cNvPr id="4" name="Slide Number Placeholder 3"/>
          <p:cNvSpPr>
            <a:spLocks noGrp="1"/>
          </p:cNvSpPr>
          <p:nvPr>
            <p:ph type="sldNum" sz="quarter" idx="5"/>
          </p:nvPr>
        </p:nvSpPr>
        <p:spPr/>
        <p:txBody>
          <a:bodyPr/>
          <a:lstStyle/>
          <a:p>
            <a:fld id="{C1CC8803-5939-473F-B8FF-E76A98141DDF}" type="slidenum">
              <a:rPr lang="en-US" smtClean="0"/>
              <a:t>24</a:t>
            </a:fld>
            <a:endParaRPr lang="en-US"/>
          </a:p>
        </p:txBody>
      </p:sp>
    </p:spTree>
    <p:extLst>
      <p:ext uri="{BB962C8B-B14F-4D97-AF65-F5344CB8AC3E}">
        <p14:creationId xmlns:p14="http://schemas.microsoft.com/office/powerpoint/2010/main" val="519490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Những l</a:t>
            </a:r>
            <a:r>
              <a:rPr lang="vi-VN" b="1"/>
              <a:t>ỗi không bị ảnh hưởng bởi </a:t>
            </a:r>
            <a:r>
              <a:rPr lang="en-US" b="1"/>
              <a:t>kiến trúc </a:t>
            </a:r>
            <a:r>
              <a:rPr lang="en-US" sz="1200" b="1"/>
              <a:t>TRY...CATCH 2-2</a:t>
            </a:r>
          </a:p>
          <a:p>
            <a:pPr marL="171450" indent="-171450">
              <a:buFont typeface="Arial" panose="020B0604020202020204" pitchFamily="34" charset="0"/>
              <a:buChar char="•"/>
            </a:pPr>
            <a:r>
              <a:rPr lang="vi-VN"/>
              <a:t>Các loại lỗi sau đây không được xử lý bởi một khối CATCH xảy ra ở cùng mức thực thi như của</a:t>
            </a:r>
            <a:r>
              <a:rPr lang="en-US"/>
              <a:t> kiến trúc</a:t>
            </a:r>
            <a:r>
              <a:rPr lang="vi-VN"/>
              <a:t> TRY…CATCH</a:t>
            </a:r>
            <a:endParaRPr lang="en-US"/>
          </a:p>
          <a:p>
            <a:pPr marL="171450" indent="-171450">
              <a:buFont typeface="Arial" panose="020B0604020202020204" pitchFamily="34" charset="0"/>
              <a:buChar char="•"/>
            </a:pPr>
            <a:r>
              <a:rPr lang="vi-VN"/>
              <a:t>Biên dịch lỗi như lỗi cú pháp hạn chế một lô chạy</a:t>
            </a:r>
          </a:p>
          <a:p>
            <a:pPr marL="171450" indent="-171450">
              <a:buFont typeface="Arial" panose="020B0604020202020204" pitchFamily="34" charset="0"/>
              <a:buChar char="•"/>
            </a:pPr>
            <a:r>
              <a:rPr lang="vi-VN"/>
              <a:t>Các lỗi phát sinh trong biên dịch lại tuyên bố cấp độ</a:t>
            </a:r>
            <a:r>
              <a:rPr lang="en-US"/>
              <a:t> </a:t>
            </a:r>
            <a:r>
              <a:rPr lang="vi-VN"/>
              <a:t>như lỗi độ phân giải tên đối tượng xảy ra sau khi biên dịch do độ phân giải tên hoãn lại</a:t>
            </a:r>
            <a:endParaRPr lang="en-US"/>
          </a:p>
        </p:txBody>
      </p:sp>
      <p:sp>
        <p:nvSpPr>
          <p:cNvPr id="4" name="Slide Number Placeholder 3"/>
          <p:cNvSpPr>
            <a:spLocks noGrp="1"/>
          </p:cNvSpPr>
          <p:nvPr>
            <p:ph type="sldNum" sz="quarter" idx="5"/>
          </p:nvPr>
        </p:nvSpPr>
        <p:spPr/>
        <p:txBody>
          <a:bodyPr/>
          <a:lstStyle/>
          <a:p>
            <a:fld id="{C1CC8803-5939-473F-B8FF-E76A98141DDF}" type="slidenum">
              <a:rPr lang="en-US" smtClean="0"/>
              <a:t>25</a:t>
            </a:fld>
            <a:endParaRPr lang="en-US"/>
          </a:p>
        </p:txBody>
      </p:sp>
    </p:spTree>
    <p:extLst>
      <p:ext uri="{BB962C8B-B14F-4D97-AF65-F5344CB8AC3E}">
        <p14:creationId xmlns:p14="http://schemas.microsoft.com/office/powerpoint/2010/main" val="15905068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vi-VN"/>
              <a:t>Mã sau đây cho thấy một lỗi phân giải tên đối tượng không bị ảnh hưởng bởi </a:t>
            </a:r>
            <a:r>
              <a:rPr lang="en-US" sz="1200" b="1">
                <a:latin typeface="Calibri" pitchFamily="34" charset="0"/>
                <a:cs typeface="Calibri" pitchFamily="34" charset="0"/>
              </a:rPr>
              <a:t>try… catch</a:t>
            </a:r>
          </a:p>
          <a:p>
            <a:pPr marL="171450" indent="-171450">
              <a:buFont typeface="Arial" panose="020B0604020202020204" pitchFamily="34" charset="0"/>
              <a:buChar char="•"/>
            </a:pPr>
            <a:r>
              <a:rPr lang="vi-VN" b="0"/>
              <a:t>Mã sau đây cho thấy cách thông báo lỗi được hiển thị trong trường hợp như vậy:</a:t>
            </a:r>
            <a:endParaRPr lang="en-US" b="0" dirty="0"/>
          </a:p>
        </p:txBody>
      </p:sp>
      <p:sp>
        <p:nvSpPr>
          <p:cNvPr id="4" name="Slide Number Placeholder 3"/>
          <p:cNvSpPr>
            <a:spLocks noGrp="1"/>
          </p:cNvSpPr>
          <p:nvPr>
            <p:ph type="sldNum" sz="quarter" idx="10"/>
          </p:nvPr>
        </p:nvSpPr>
        <p:spPr/>
        <p:txBody>
          <a:bodyPr/>
          <a:lstStyle/>
          <a:p>
            <a:pPr>
              <a:defRPr/>
            </a:pPr>
            <a:fld id="{6AE1F710-3F4D-4CB2-B8EF-AD2B0CD37885}" type="slidenum">
              <a:rPr lang="en-US" smtClean="0"/>
              <a:pPr>
                <a:defRPr/>
              </a:pPr>
              <a:t>26</a:t>
            </a:fld>
            <a:endParaRPr lang="en-US" dirty="0"/>
          </a:p>
        </p:txBody>
      </p:sp>
    </p:spTree>
    <p:extLst>
      <p:ext uri="{BB962C8B-B14F-4D97-AF65-F5344CB8AC3E}">
        <p14:creationId xmlns:p14="http://schemas.microsoft.com/office/powerpoint/2010/main" val="1707233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THROW</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i="1"/>
              <a:t>Phát biểu </a:t>
            </a:r>
            <a:r>
              <a:rPr lang="en-US" sz="1200" b="1" i="1">
                <a:solidFill>
                  <a:srgbClr val="FF0000"/>
                </a:solidFill>
                <a:latin typeface="Courier New" pitchFamily="49" charset="0"/>
                <a:cs typeface="Courier New" pitchFamily="49" charset="0"/>
              </a:rPr>
              <a:t>THROW</a:t>
            </a:r>
            <a:r>
              <a:rPr lang="en-US" b="0" i="1"/>
              <a:t> gây ra một ngoại lệ </a:t>
            </a:r>
            <a:r>
              <a:rPr lang="en-US" b="0"/>
              <a:t>và chuyển kiểm soát việc thực hiện đến khối </a:t>
            </a:r>
            <a:r>
              <a:rPr lang="en-US" sz="1200" b="1">
                <a:latin typeface="Courier New" pitchFamily="49" charset="0"/>
                <a:cs typeface="Courier New" pitchFamily="49" charset="0"/>
              </a:rPr>
              <a:t>CATCH</a:t>
            </a:r>
            <a:r>
              <a:rPr lang="en-US" sz="1200" b="0">
                <a:latin typeface="Courier New" pitchFamily="49" charset="0"/>
                <a:cs typeface="Courier New" pitchFamily="49" charset="0"/>
              </a:rPr>
              <a:t> của một cấu trúc</a:t>
            </a:r>
            <a:r>
              <a:rPr lang="en-US" b="0"/>
              <a:t> </a:t>
            </a:r>
            <a:r>
              <a:rPr lang="en-US" sz="1200" b="1">
                <a:latin typeface="Courier New" pitchFamily="49" charset="0"/>
                <a:cs typeface="Courier New" pitchFamily="49" charset="0"/>
              </a:rPr>
              <a:t>TRY…CATCH</a:t>
            </a:r>
            <a:r>
              <a:rPr lang="en-US" sz="1200" b="1">
                <a:latin typeface="Calibri" pitchFamily="34" charset="0"/>
                <a:cs typeface="Calibri" pitchFamily="34" charset="0"/>
              </a:rPr>
              <a:t> </a:t>
            </a:r>
            <a:endParaRPr lang="en-US"/>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Cú pháp:</a:t>
            </a:r>
          </a:p>
          <a:p>
            <a:pPr lvl="2">
              <a:lnSpc>
                <a:spcPct val="100000"/>
              </a:lnSpc>
              <a:spcBef>
                <a:spcPts val="0"/>
              </a:spcBef>
            </a:pPr>
            <a:r>
              <a:rPr lang="en-US" sz="1200" b="1">
                <a:solidFill>
                  <a:srgbClr val="FF0000"/>
                </a:solidFill>
                <a:latin typeface="Courier New" panose="02070309020205020404" pitchFamily="49" charset="0"/>
                <a:cs typeface="Courier New" panose="02070309020205020404" pitchFamily="49" charset="0"/>
              </a:rPr>
              <a:t>THROW</a:t>
            </a:r>
            <a:r>
              <a:rPr lang="en-US" sz="1200" b="1">
                <a:latin typeface="Courier New" panose="02070309020205020404" pitchFamily="49" charset="0"/>
                <a:cs typeface="Courier New" panose="02070309020205020404" pitchFamily="49" charset="0"/>
              </a:rPr>
              <a:t> </a:t>
            </a:r>
            <a:r>
              <a:rPr lang="en-US" sz="1200" b="1">
                <a:solidFill>
                  <a:srgbClr val="FF0000"/>
                </a:solidFill>
                <a:latin typeface="Courier New" panose="02070309020205020404" pitchFamily="49" charset="0"/>
                <a:cs typeface="Courier New" panose="02070309020205020404" pitchFamily="49" charset="0"/>
              </a:rPr>
              <a:t>[</a:t>
            </a:r>
            <a:r>
              <a:rPr lang="en-US" sz="1200" b="1">
                <a:latin typeface="Courier New" panose="02070309020205020404" pitchFamily="49" charset="0"/>
                <a:cs typeface="Courier New" panose="02070309020205020404" pitchFamily="49" charset="0"/>
              </a:rPr>
              <a:t> { error_number | @local_variable },</a:t>
            </a:r>
          </a:p>
          <a:p>
            <a:pPr lvl="2" indent="1257300">
              <a:lnSpc>
                <a:spcPct val="100000"/>
              </a:lnSpc>
              <a:spcBef>
                <a:spcPts val="0"/>
              </a:spcBef>
            </a:pPr>
            <a:r>
              <a:rPr lang="en-US" sz="1200" b="1">
                <a:latin typeface="Courier New" panose="02070309020205020404" pitchFamily="49" charset="0"/>
                <a:cs typeface="Courier New" panose="02070309020205020404" pitchFamily="49" charset="0"/>
              </a:rPr>
              <a:t>{ message | @local_variable },</a:t>
            </a:r>
          </a:p>
          <a:p>
            <a:pPr lvl="2" indent="1257300">
              <a:lnSpc>
                <a:spcPct val="100000"/>
              </a:lnSpc>
              <a:spcBef>
                <a:spcPts val="0"/>
              </a:spcBef>
            </a:pPr>
            <a:r>
              <a:rPr lang="en-US" sz="1200" b="1">
                <a:latin typeface="Courier New" panose="02070309020205020404" pitchFamily="49" charset="0"/>
                <a:cs typeface="Courier New" panose="02070309020205020404" pitchFamily="49" charset="0"/>
              </a:rPr>
              <a:t>{ state | @local_variable }</a:t>
            </a:r>
          </a:p>
          <a:p>
            <a:pPr lvl="2">
              <a:lnSpc>
                <a:spcPct val="100000"/>
              </a:lnSpc>
              <a:spcBef>
                <a:spcPts val="0"/>
              </a:spcBef>
            </a:pPr>
            <a:r>
              <a:rPr lang="en-US" sz="1200" b="1">
                <a:solidFill>
                  <a:srgbClr val="FF0000"/>
                </a:solidFill>
                <a:latin typeface="Courier New" panose="02070309020205020404" pitchFamily="49" charset="0"/>
                <a:cs typeface="Courier New" panose="02070309020205020404" pitchFamily="49" charset="0"/>
              </a:rPr>
              <a:t>]</a:t>
            </a:r>
            <a:r>
              <a:rPr lang="en-US" sz="1200" b="1">
                <a:latin typeface="Courier New" panose="02070309020205020404" pitchFamily="49" charset="0"/>
                <a:cs typeface="Courier New" panose="02070309020205020404" pitchFamily="49" charset="0"/>
              </a:rPr>
              <a:t> [;]</a:t>
            </a:r>
          </a:p>
          <a:p>
            <a:pPr marL="171450" lvl="0" indent="-171450">
              <a:lnSpc>
                <a:spcPct val="100000"/>
              </a:lnSpc>
              <a:spcBef>
                <a:spcPts val="0"/>
              </a:spcBef>
              <a:buFont typeface="Arial" panose="020B0604020202020204" pitchFamily="34" charset="0"/>
              <a:buChar char="•"/>
            </a:pPr>
            <a:r>
              <a:rPr lang="vi-VN" b="1"/>
              <a:t>error_number</a:t>
            </a:r>
            <a:r>
              <a:rPr lang="vi-VN" b="0"/>
              <a:t>: Chỉ định hằng số hoặc biến đại diện cho số lỗi như int.</a:t>
            </a:r>
          </a:p>
          <a:p>
            <a:pPr marL="171450" lvl="0" indent="-171450">
              <a:lnSpc>
                <a:spcPct val="100000"/>
              </a:lnSpc>
              <a:spcBef>
                <a:spcPts val="0"/>
              </a:spcBef>
              <a:buFont typeface="Arial" panose="020B0604020202020204" pitchFamily="34" charset="0"/>
              <a:buChar char="•"/>
            </a:pPr>
            <a:r>
              <a:rPr lang="en-US" sz="1200" b="1">
                <a:cs typeface="Courier New" pitchFamily="49" charset="0"/>
              </a:rPr>
              <a:t>message</a:t>
            </a:r>
            <a:r>
              <a:rPr lang="vi-VN" b="0"/>
              <a:t>: Chỉ định một biến hoặc chuỗi xác định thông báo ngoại lệ là </a:t>
            </a:r>
            <a:r>
              <a:rPr lang="vi-VN" b="1"/>
              <a:t>nvarchar (2048)</a:t>
            </a:r>
            <a:r>
              <a:rPr lang="vi-VN" b="0"/>
              <a:t>.</a:t>
            </a:r>
          </a:p>
          <a:p>
            <a:pPr marL="171450" lvl="0" indent="-171450">
              <a:lnSpc>
                <a:spcPct val="100000"/>
              </a:lnSpc>
              <a:spcBef>
                <a:spcPts val="0"/>
              </a:spcBef>
              <a:buFont typeface="Arial" panose="020B0604020202020204" pitchFamily="34" charset="0"/>
              <a:buChar char="•"/>
            </a:pPr>
            <a:r>
              <a:rPr lang="en-US" sz="1200" b="1">
                <a:cs typeface="Courier New" pitchFamily="49" charset="0"/>
              </a:rPr>
              <a:t>state</a:t>
            </a:r>
            <a:r>
              <a:rPr lang="vi-VN" b="0"/>
              <a:t>: Chỉ định một biến hoặc hằng số từ 0 đến 255 chỉ định trạng thái để liên kết với trạng thái tin nhắn dưới dạng </a:t>
            </a:r>
            <a:r>
              <a:rPr lang="en-US" b="1"/>
              <a:t>t</a:t>
            </a:r>
            <a:r>
              <a:rPr lang="vi-VN" b="1"/>
              <a:t>inyint</a:t>
            </a:r>
            <a:r>
              <a:rPr lang="vi-VN" b="0"/>
              <a:t>.</a:t>
            </a:r>
            <a:endParaRPr lang="en-US" b="0"/>
          </a:p>
        </p:txBody>
      </p:sp>
      <p:sp>
        <p:nvSpPr>
          <p:cNvPr id="4" name="Slide Number Placeholder 3"/>
          <p:cNvSpPr>
            <a:spLocks noGrp="1"/>
          </p:cNvSpPr>
          <p:nvPr>
            <p:ph type="sldNum" sz="quarter" idx="5"/>
          </p:nvPr>
        </p:nvSpPr>
        <p:spPr/>
        <p:txBody>
          <a:bodyPr/>
          <a:lstStyle/>
          <a:p>
            <a:fld id="{C1CC8803-5939-473F-B8FF-E76A98141DDF}" type="slidenum">
              <a:rPr lang="en-US" smtClean="0"/>
              <a:t>27</a:t>
            </a:fld>
            <a:endParaRPr lang="en-US"/>
          </a:p>
        </p:txBody>
      </p:sp>
    </p:spTree>
    <p:extLst>
      <p:ext uri="{BB962C8B-B14F-4D97-AF65-F5344CB8AC3E}">
        <p14:creationId xmlns:p14="http://schemas.microsoft.com/office/powerpoint/2010/main" val="14403799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a:t>THROW</a:t>
            </a:r>
          </a:p>
          <a:p>
            <a:pPr marL="171450" indent="-171450">
              <a:buFont typeface="Arial" panose="020B0604020202020204" pitchFamily="34" charset="0"/>
              <a:buChar char="•"/>
            </a:pPr>
            <a:r>
              <a:rPr lang="en-US"/>
              <a:t>Đoạn mã cho thấy việc sử dụng phát biểu </a:t>
            </a:r>
            <a:r>
              <a:rPr lang="en-US" sz="1200" b="1">
                <a:cs typeface="Courier New" pitchFamily="49" charset="0"/>
              </a:rPr>
              <a:t>THROW</a:t>
            </a:r>
            <a:r>
              <a:rPr lang="en-US"/>
              <a:t> để nâng cao một ngoại lệ:</a:t>
            </a:r>
          </a:p>
        </p:txBody>
      </p:sp>
      <p:sp>
        <p:nvSpPr>
          <p:cNvPr id="4" name="Slide Number Placeholder 3"/>
          <p:cNvSpPr>
            <a:spLocks noGrp="1"/>
          </p:cNvSpPr>
          <p:nvPr>
            <p:ph type="sldNum" sz="quarter" idx="5"/>
          </p:nvPr>
        </p:nvSpPr>
        <p:spPr/>
        <p:txBody>
          <a:bodyPr/>
          <a:lstStyle/>
          <a:p>
            <a:pPr>
              <a:defRPr/>
            </a:pPr>
            <a:fld id="{6AE1F710-3F4D-4CB2-B8EF-AD2B0CD37885}" type="slidenum">
              <a:rPr lang="en-US" smtClean="0"/>
              <a:pPr>
                <a:defRPr/>
              </a:pPr>
              <a:t>28</a:t>
            </a:fld>
            <a:endParaRPr lang="en-US" dirty="0"/>
          </a:p>
        </p:txBody>
      </p:sp>
    </p:spTree>
    <p:extLst>
      <p:ext uri="{BB962C8B-B14F-4D97-AF65-F5344CB8AC3E}">
        <p14:creationId xmlns:p14="http://schemas.microsoft.com/office/powerpoint/2010/main" val="832445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a:t>Lỗi cú pháp là các lỗi xảy ra khi mã không thể được phân tích cú pháp bởi SQL Server.</a:t>
            </a:r>
          </a:p>
          <a:p>
            <a:pPr marL="171450" indent="-171450">
              <a:buFont typeface="Arial" panose="020B0604020202020204" pitchFamily="34" charset="0"/>
              <a:buChar char="•"/>
            </a:pPr>
            <a:r>
              <a:rPr lang="vi-VN"/>
              <a:t>Lỗi </a:t>
            </a:r>
            <a:r>
              <a:rPr lang="en-US"/>
              <a:t>thực thi </a:t>
            </a:r>
            <a:r>
              <a:rPr lang="vi-VN"/>
              <a:t>xảy ra khi ứng dụng cố gắng thực hiện một hành động không được hỗ trợ bởi Microsoft SQL Server và hệ điều hành.</a:t>
            </a:r>
          </a:p>
          <a:p>
            <a:pPr marL="171450" indent="-171450">
              <a:buFont typeface="Arial" panose="020B0604020202020204" pitchFamily="34" charset="0"/>
              <a:buChar char="•"/>
            </a:pPr>
            <a:r>
              <a:rPr lang="en-US" sz="1200">
                <a:latin typeface="Calibri" pitchFamily="34" charset="0"/>
                <a:cs typeface="Calibri" pitchFamily="34" charset="0"/>
              </a:rPr>
              <a:t>Phát biểu </a:t>
            </a:r>
            <a:r>
              <a:rPr lang="en-US" sz="1200" b="1">
                <a:latin typeface="Calibri" pitchFamily="34" charset="0"/>
                <a:cs typeface="Calibri" pitchFamily="34" charset="0"/>
              </a:rPr>
              <a:t>TRY…CATCH </a:t>
            </a:r>
            <a:r>
              <a:rPr lang="vi-VN"/>
              <a:t>được sử dụng để xử lý các ngoại lệ trong Transact-SQL.</a:t>
            </a:r>
          </a:p>
          <a:p>
            <a:pPr marL="171450" indent="-171450">
              <a:buFont typeface="Arial" panose="020B0604020202020204" pitchFamily="34" charset="0"/>
              <a:buChar char="•"/>
            </a:pPr>
            <a:r>
              <a:rPr lang="vi-VN"/>
              <a:t>Cấu trúc </a:t>
            </a:r>
            <a:r>
              <a:rPr lang="en-US" sz="1200" b="1">
                <a:latin typeface="Calibri" pitchFamily="34" charset="0"/>
                <a:cs typeface="Calibri" pitchFamily="34" charset="0"/>
              </a:rPr>
              <a:t>TRY…CATCH </a:t>
            </a:r>
            <a:r>
              <a:rPr lang="vi-VN"/>
              <a:t>cũng có thể bắt lỗi chưa được xử lý từ các </a:t>
            </a:r>
            <a:r>
              <a:rPr lang="en-US" sz="1200" b="1">
                <a:latin typeface="Calibri" pitchFamily="34" charset="0"/>
                <a:cs typeface="Calibri" pitchFamily="34" charset="0"/>
              </a:rPr>
              <a:t>triggers</a:t>
            </a:r>
            <a:r>
              <a:rPr lang="en-US" sz="1200">
                <a:latin typeface="Calibri" pitchFamily="34" charset="0"/>
                <a:cs typeface="Calibri" pitchFamily="34" charset="0"/>
              </a:rPr>
              <a:t> </a:t>
            </a:r>
            <a:r>
              <a:rPr lang="vi-VN"/>
              <a:t>hoặc các thủ tục được lưu trữ thực thi thông qua mã trong một khối </a:t>
            </a:r>
            <a:r>
              <a:rPr lang="en-US" sz="1200" b="1">
                <a:latin typeface="Calibri" pitchFamily="34" charset="0"/>
                <a:cs typeface="Calibri" pitchFamily="34" charset="0"/>
              </a:rPr>
              <a:t>TRY</a:t>
            </a:r>
            <a:r>
              <a:rPr lang="vi-VN"/>
              <a:t>.</a:t>
            </a:r>
          </a:p>
          <a:p>
            <a:pPr marL="171450" indent="-171450">
              <a:buFont typeface="Arial" panose="020B0604020202020204" pitchFamily="34" charset="0"/>
              <a:buChar char="•"/>
            </a:pPr>
            <a:r>
              <a:rPr lang="vi-VN"/>
              <a:t>Các câu lệnh </a:t>
            </a:r>
            <a:r>
              <a:rPr lang="en-US" sz="1200" b="1">
                <a:latin typeface="Calibri" pitchFamily="34" charset="0"/>
                <a:cs typeface="Calibri" pitchFamily="34" charset="0"/>
              </a:rPr>
              <a:t>GOTO</a:t>
            </a:r>
            <a:r>
              <a:rPr lang="vi-VN"/>
              <a:t> có thể được sử dụng để chuyển đến một nhãn bên trong cùng một </a:t>
            </a:r>
            <a:r>
              <a:rPr lang="en-US"/>
              <a:t>k</a:t>
            </a:r>
            <a:r>
              <a:rPr lang="vi-VN"/>
              <a:t>hối </a:t>
            </a:r>
            <a:r>
              <a:rPr lang="en-US" sz="1200" b="1">
                <a:latin typeface="Calibri" pitchFamily="34" charset="0"/>
                <a:cs typeface="Calibri" pitchFamily="34" charset="0"/>
              </a:rPr>
              <a:t>TRY…CATCH </a:t>
            </a:r>
            <a:r>
              <a:rPr lang="vi-VN"/>
              <a:t>hoặc để </a:t>
            </a:r>
            <a:r>
              <a:rPr lang="en-US"/>
              <a:t>một k</a:t>
            </a:r>
            <a:r>
              <a:rPr lang="vi-VN"/>
              <a:t>hối </a:t>
            </a:r>
            <a:r>
              <a:rPr lang="en-US" sz="1200" b="1">
                <a:latin typeface="Calibri" pitchFamily="34" charset="0"/>
                <a:cs typeface="Calibri" pitchFamily="34" charset="0"/>
              </a:rPr>
              <a:t>TRY…CATCH</a:t>
            </a:r>
            <a:endParaRPr lang="vi-VN" b="1"/>
          </a:p>
          <a:p>
            <a:pPr marL="171450" indent="-171450">
              <a:buFont typeface="Arial" panose="020B0604020202020204" pitchFamily="34" charset="0"/>
              <a:buChar char="•"/>
            </a:pPr>
            <a:r>
              <a:rPr lang="vi-VN"/>
              <a:t>Các </a:t>
            </a:r>
            <a:r>
              <a:rPr lang="en-US"/>
              <a:t>hàm </a:t>
            </a:r>
            <a:r>
              <a:rPr lang="vi-VN"/>
              <a:t>hệ thống khác nhau có sẵn trong Transact-SQL để in thông tin lỗi về lỗi xảy ra.</a:t>
            </a:r>
          </a:p>
          <a:p>
            <a:pPr marL="171450" indent="-171450">
              <a:buFont typeface="Arial" panose="020B0604020202020204" pitchFamily="34" charset="0"/>
              <a:buChar char="•"/>
            </a:pPr>
            <a:r>
              <a:rPr lang="en-US"/>
              <a:t>Phát biểu </a:t>
            </a:r>
            <a:r>
              <a:rPr lang="en-US" sz="1200" b="1">
                <a:latin typeface="Calibri" pitchFamily="34" charset="0"/>
                <a:cs typeface="Calibri" pitchFamily="34" charset="0"/>
              </a:rPr>
              <a:t>RAISERROR</a:t>
            </a:r>
            <a:r>
              <a:rPr lang="vi-VN"/>
              <a:t> được sử dụng để bắt đầu xử lý lỗi cho một phiên và hiển thị thông báo lỗi.</a:t>
            </a:r>
            <a:endParaRPr lang="en-US"/>
          </a:p>
        </p:txBody>
      </p:sp>
      <p:sp>
        <p:nvSpPr>
          <p:cNvPr id="4" name="Slide Number Placeholder 3"/>
          <p:cNvSpPr>
            <a:spLocks noGrp="1"/>
          </p:cNvSpPr>
          <p:nvPr>
            <p:ph type="sldNum" sz="quarter" idx="5"/>
          </p:nvPr>
        </p:nvSpPr>
        <p:spPr/>
        <p:txBody>
          <a:bodyPr/>
          <a:lstStyle/>
          <a:p>
            <a:fld id="{C1CC8803-5939-473F-B8FF-E76A98141DDF}" type="slidenum">
              <a:rPr lang="en-US" smtClean="0"/>
              <a:t>29</a:t>
            </a:fld>
            <a:endParaRPr lang="en-US"/>
          </a:p>
        </p:txBody>
      </p:sp>
    </p:spTree>
    <p:extLst>
      <p:ext uri="{BB962C8B-B14F-4D97-AF65-F5344CB8AC3E}">
        <p14:creationId xmlns:p14="http://schemas.microsoft.com/office/powerpoint/2010/main" val="381192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a:t>
            </a:fld>
            <a:endParaRPr sz="12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1828860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2469620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3574865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lvl1pPr>
              <a:defRPr smtClean="0">
                <a:solidFill>
                  <a:schemeClr val="tx1"/>
                </a:solidFill>
              </a:defRPr>
            </a:lvl1pPr>
          </a:lstStyle>
          <a:p>
            <a:pPr>
              <a:defRPr/>
            </a:pPr>
            <a:fld id="{00955DD6-A7F2-49FA-B365-0779B3D93175}" type="slidenum">
              <a:rPr lang="en-US"/>
              <a:pPr>
                <a:defRPr/>
              </a:pPr>
              <a:t>‹#›</a:t>
            </a:fld>
            <a:endParaRPr lang="en-US" dirty="0"/>
          </a:p>
        </p:txBody>
      </p:sp>
      <p:sp>
        <p:nvSpPr>
          <p:cNvPr id="14" name="Footer Placeholder 4"/>
          <p:cNvSpPr txBox="1">
            <a:spLocks/>
          </p:cNvSpPr>
          <p:nvPr userDrawn="1"/>
        </p:nvSpPr>
        <p:spPr>
          <a:xfrm>
            <a:off x="0" y="6613525"/>
            <a:ext cx="3048000" cy="244475"/>
          </a:xfrm>
          <a:prstGeom prst="rect">
            <a:avLst/>
          </a:prstGeom>
        </p:spPr>
        <p:txBody>
          <a:bodyPr vert="horz" wrap="square" lIns="91440" tIns="45720" rIns="91440" bIns="45720" numCol="1" anchor="ctr" anchorCtr="0" compatLnSpc="1">
            <a:prstTxWarp prst="textNoShape">
              <a:avLst/>
            </a:prstTxWarp>
          </a:bodyPr>
          <a:lstStyle>
            <a:defPPr>
              <a:defRPr lang="en-US"/>
            </a:defPPr>
            <a:lvl1pPr algn="l" rtl="0" fontAlgn="base">
              <a:lnSpc>
                <a:spcPct val="70000"/>
              </a:lnSpc>
              <a:spcBef>
                <a:spcPct val="50000"/>
              </a:spcBef>
              <a:spcAft>
                <a:spcPct val="0"/>
              </a:spcAft>
              <a:defRPr sz="1400" kern="1200">
                <a:solidFill>
                  <a:schemeClr val="tx1"/>
                </a:solidFill>
                <a:latin typeface="Courier New" pitchFamily="49" charset="0"/>
                <a:ea typeface="+mn-ea"/>
                <a:cs typeface="+mn-cs"/>
              </a:defRPr>
            </a:lvl1pPr>
            <a:lvl2pPr marL="4572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2pPr>
            <a:lvl3pPr marL="9144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3pPr>
            <a:lvl4pPr marL="13716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4pPr>
            <a:lvl5pPr marL="1828800" algn="l" rtl="0" fontAlgn="base">
              <a:lnSpc>
                <a:spcPct val="70000"/>
              </a:lnSpc>
              <a:spcBef>
                <a:spcPct val="50000"/>
              </a:spcBef>
              <a:spcAft>
                <a:spcPct val="0"/>
              </a:spcAft>
              <a:defRPr sz="1400" kern="1200">
                <a:solidFill>
                  <a:schemeClr val="tx1"/>
                </a:solidFill>
                <a:latin typeface="Courier New" pitchFamily="49" charset="0"/>
                <a:ea typeface="+mn-ea"/>
                <a:cs typeface="+mn-cs"/>
              </a:defRPr>
            </a:lvl5pPr>
            <a:lvl6pPr marL="2286000" algn="l" defTabSz="914400" rtl="0" eaLnBrk="1" latinLnBrk="0" hangingPunct="1">
              <a:defRPr sz="1400" kern="1200">
                <a:solidFill>
                  <a:schemeClr val="tx1"/>
                </a:solidFill>
                <a:latin typeface="Courier New" pitchFamily="49" charset="0"/>
                <a:ea typeface="+mn-ea"/>
                <a:cs typeface="+mn-cs"/>
              </a:defRPr>
            </a:lvl6pPr>
            <a:lvl7pPr marL="2743200" algn="l" defTabSz="914400" rtl="0" eaLnBrk="1" latinLnBrk="0" hangingPunct="1">
              <a:defRPr sz="1400" kern="1200">
                <a:solidFill>
                  <a:schemeClr val="tx1"/>
                </a:solidFill>
                <a:latin typeface="Courier New" pitchFamily="49" charset="0"/>
                <a:ea typeface="+mn-ea"/>
                <a:cs typeface="+mn-cs"/>
              </a:defRPr>
            </a:lvl7pPr>
            <a:lvl8pPr marL="3200400" algn="l" defTabSz="914400" rtl="0" eaLnBrk="1" latinLnBrk="0" hangingPunct="1">
              <a:defRPr sz="1400" kern="1200">
                <a:solidFill>
                  <a:schemeClr val="tx1"/>
                </a:solidFill>
                <a:latin typeface="Courier New" pitchFamily="49" charset="0"/>
                <a:ea typeface="+mn-ea"/>
                <a:cs typeface="+mn-cs"/>
              </a:defRPr>
            </a:lvl8pPr>
            <a:lvl9pPr marL="3657600" algn="l" defTabSz="914400" rtl="0" eaLnBrk="1" latinLnBrk="0" hangingPunct="1">
              <a:defRPr sz="1400" kern="1200">
                <a:solidFill>
                  <a:schemeClr val="tx1"/>
                </a:solidFill>
                <a:latin typeface="Courier New" pitchFamily="49"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fr-FR" sz="1200" b="0" i="0" u="none" strike="noStrike" kern="1200" cap="none" spc="0" normalizeH="0" baseline="0" noProof="0" dirty="0">
                <a:ln>
                  <a:noFill/>
                </a:ln>
                <a:solidFill>
                  <a:schemeClr val="tx1"/>
                </a:solidFill>
                <a:effectLst/>
                <a:uLnTx/>
                <a:uFillTx/>
                <a:latin typeface="Calibri" pitchFamily="34" charset="0"/>
                <a:ea typeface="+mn-ea"/>
                <a:cs typeface="+mn-cs"/>
              </a:rPr>
              <a:t>© </a:t>
            </a:r>
            <a:r>
              <a:rPr kumimoji="0" lang="fr-FR" sz="1200" b="0" i="1" u="none" strike="noStrike" kern="1200" cap="none" spc="0" normalizeH="0" baseline="0" noProof="0" dirty="0">
                <a:ln>
                  <a:noFill/>
                </a:ln>
                <a:solidFill>
                  <a:schemeClr val="tx1"/>
                </a:solidFill>
                <a:effectLst/>
                <a:uLnTx/>
                <a:uFillTx/>
                <a:latin typeface="Calibri" pitchFamily="34" charset="0"/>
                <a:ea typeface="+mn-ea"/>
                <a:cs typeface="+mn-cs"/>
              </a:rPr>
              <a:t>Aptech Ltd. </a:t>
            </a:r>
            <a:endParaRPr kumimoji="0" lang="en-US" sz="1200" b="0" i="1" u="none" strike="noStrike" kern="1200" cap="none" spc="0" normalizeH="0" baseline="0" noProof="0" dirty="0">
              <a:ln>
                <a:noFill/>
              </a:ln>
              <a:solidFill>
                <a:schemeClr val="tx1"/>
              </a:solidFill>
              <a:effectLst/>
              <a:uLnTx/>
              <a:uFillTx/>
              <a:latin typeface="Calibri" pitchFamily="34" charset="0"/>
              <a:ea typeface="+mn-ea"/>
              <a:cs typeface="+mn-cs"/>
            </a:endParaRPr>
          </a:p>
        </p:txBody>
      </p:sp>
    </p:spTree>
    <p:extLst>
      <p:ext uri="{BB962C8B-B14F-4D97-AF65-F5344CB8AC3E}">
        <p14:creationId xmlns:p14="http://schemas.microsoft.com/office/powerpoint/2010/main" val="4100421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1"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299593" y="158495"/>
            <a:ext cx="8544813" cy="452755"/>
          </a:xfrm>
          <a:prstGeom prst="rect">
            <a:avLst/>
          </a:prstGeom>
        </p:spPr>
        <p:txBody>
          <a:bodyPr wrap="square" lIns="0" tIns="0" rIns="0" bIns="0">
            <a:spAutoFit/>
          </a:bodyPr>
          <a:lstStyle>
            <a:lvl1pPr>
              <a:defRPr sz="2800" b="0" i="0">
                <a:solidFill>
                  <a:schemeClr val="bg1"/>
                </a:solidFill>
                <a:latin typeface="Arial"/>
                <a:cs typeface="Arial"/>
              </a:defRPr>
            </a:lvl1pPr>
          </a:lstStyle>
          <a:p>
            <a:endParaRPr/>
          </a:p>
        </p:txBody>
      </p:sp>
      <p:sp>
        <p:nvSpPr>
          <p:cNvPr id="3" name="Holder 3"/>
          <p:cNvSpPr>
            <a:spLocks noGrp="1"/>
          </p:cNvSpPr>
          <p:nvPr>
            <p:ph type="body" idx="1"/>
          </p:nvPr>
        </p:nvSpPr>
        <p:spPr>
          <a:xfrm>
            <a:off x="467868" y="2418334"/>
            <a:ext cx="8109584" cy="3267075"/>
          </a:xfrm>
          <a:prstGeom prst="rect">
            <a:avLst/>
          </a:prstGeom>
        </p:spPr>
        <p:txBody>
          <a:bodyPr wrap="square" lIns="0" tIns="0" rIns="0" bIns="0">
            <a:spAutoFit/>
          </a:bodyPr>
          <a:lstStyle>
            <a:lvl1pPr>
              <a:defRPr sz="1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10/29/2021</a:t>
            </a:fld>
            <a:endParaRPr lang="en-US"/>
          </a:p>
        </p:txBody>
      </p:sp>
      <p:sp>
        <p:nvSpPr>
          <p:cNvPr id="6" name="Holder 6"/>
          <p:cNvSpPr>
            <a:spLocks noGrp="1"/>
          </p:cNvSpPr>
          <p:nvPr>
            <p:ph type="sldNum" sz="quarter" idx="7"/>
          </p:nvPr>
        </p:nvSpPr>
        <p:spPr>
          <a:xfrm>
            <a:off x="7882890" y="6569709"/>
            <a:ext cx="914400" cy="256540"/>
          </a:xfrm>
          <a:prstGeom prst="rect">
            <a:avLst/>
          </a:prstGeom>
        </p:spPr>
        <p:txBody>
          <a:bodyPr wrap="square" lIns="0" tIns="0" rIns="0" bIns="0">
            <a:spAutoFit/>
          </a:bodyPr>
          <a:lstStyle>
            <a:lvl1pPr>
              <a:defRPr sz="1200" b="0" i="0">
                <a:solidFill>
                  <a:schemeClr val="tx1"/>
                </a:solidFill>
                <a:latin typeface="Arial"/>
                <a:cs typeface="Arial"/>
              </a:defRPr>
            </a:lvl1p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617725" y="4142902"/>
            <a:ext cx="4916170" cy="1318260"/>
          </a:xfrm>
          <a:prstGeom prst="rect">
            <a:avLst/>
          </a:prstGeom>
        </p:spPr>
        <p:txBody>
          <a:bodyPr vert="horz" wrap="square" lIns="0" tIns="81915" rIns="0" bIns="0" rtlCol="0">
            <a:spAutoFit/>
          </a:bodyPr>
          <a:lstStyle/>
          <a:p>
            <a:pPr marL="12700">
              <a:lnSpc>
                <a:spcPct val="100000"/>
              </a:lnSpc>
              <a:spcBef>
                <a:spcPts val="645"/>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15</a:t>
            </a:r>
            <a:endParaRPr sz="2800">
              <a:latin typeface="Book Antiqua"/>
              <a:cs typeface="Book Antiqua"/>
            </a:endParaRPr>
          </a:p>
          <a:p>
            <a:pPr marL="1029335" algn="ctr">
              <a:lnSpc>
                <a:spcPct val="100000"/>
              </a:lnSpc>
              <a:spcBef>
                <a:spcPts val="869"/>
              </a:spcBef>
            </a:pPr>
            <a:r>
              <a:rPr sz="4500" b="1" i="1" dirty="0">
                <a:latin typeface="Book Antiqua"/>
                <a:cs typeface="Book Antiqua"/>
              </a:rPr>
              <a:t>Error</a:t>
            </a:r>
            <a:r>
              <a:rPr sz="4500" b="1" i="1" spc="-85" dirty="0">
                <a:latin typeface="Book Antiqua"/>
                <a:cs typeface="Book Antiqua"/>
              </a:rPr>
              <a:t> </a:t>
            </a:r>
            <a:r>
              <a:rPr sz="4500" b="1" i="1" dirty="0">
                <a:latin typeface="Book Antiqua"/>
                <a:cs typeface="Book Antiqua"/>
              </a:rPr>
              <a:t>Handling</a:t>
            </a:r>
            <a:endParaRPr sz="4500">
              <a:latin typeface="Book Antiqua"/>
              <a:cs typeface="Book Antiqua"/>
            </a:endParaRPr>
          </a:p>
        </p:txBody>
      </p:sp>
      <p:sp>
        <p:nvSpPr>
          <p:cNvPr id="7" name="object 7"/>
          <p:cNvSpPr txBox="1">
            <a:spLocks noGrp="1"/>
          </p:cNvSpPr>
          <p:nvPr>
            <p:ph type="title"/>
          </p:nvPr>
        </p:nvSpPr>
        <p:spPr>
          <a:xfrm>
            <a:off x="2838957" y="1372361"/>
            <a:ext cx="4550410" cy="1694814"/>
          </a:xfrm>
          <a:prstGeom prst="rect">
            <a:avLst/>
          </a:prstGeom>
        </p:spPr>
        <p:txBody>
          <a:bodyPr vert="horz" wrap="square" lIns="0" tIns="12700" rIns="0" bIns="0" rtlCol="0">
            <a:spAutoFit/>
          </a:bodyPr>
          <a:lstStyle/>
          <a:p>
            <a:pPr algn="ctr">
              <a:lnSpc>
                <a:spcPct val="100000"/>
              </a:lnSpc>
              <a:spcBef>
                <a:spcPts val="100"/>
              </a:spcBef>
            </a:pPr>
            <a:r>
              <a:rPr sz="3600" b="1" spc="-110" dirty="0">
                <a:latin typeface="Arial"/>
                <a:cs typeface="Arial"/>
              </a:rPr>
              <a:t>Intelligent</a:t>
            </a:r>
            <a:endParaRPr sz="3600">
              <a:latin typeface="Arial"/>
              <a:cs typeface="Arial"/>
            </a:endParaRPr>
          </a:p>
          <a:p>
            <a:pPr marL="12065" marR="5080" algn="ctr">
              <a:lnSpc>
                <a:spcPts val="4500"/>
              </a:lnSpc>
            </a:pPr>
            <a:r>
              <a:rPr sz="3600" b="1" spc="-125" dirty="0">
                <a:latin typeface="Arial"/>
                <a:cs typeface="Arial"/>
              </a:rPr>
              <a:t>Data </a:t>
            </a:r>
            <a:r>
              <a:rPr sz="3600" b="1" spc="-215" dirty="0">
                <a:latin typeface="Arial"/>
                <a:cs typeface="Arial"/>
              </a:rPr>
              <a:t>Management</a:t>
            </a:r>
            <a:r>
              <a:rPr sz="3600" b="1" spc="-530" dirty="0">
                <a:latin typeface="Arial"/>
                <a:cs typeface="Arial"/>
              </a:rPr>
              <a:t> </a:t>
            </a:r>
            <a:r>
              <a:rPr sz="3600" b="1" spc="-55" dirty="0">
                <a:latin typeface="Arial"/>
                <a:cs typeface="Arial"/>
              </a:rPr>
              <a:t>with  SQL</a:t>
            </a:r>
            <a:r>
              <a:rPr sz="3600" b="1" spc="-300" dirty="0">
                <a:latin typeface="Arial"/>
                <a:cs typeface="Arial"/>
              </a:rPr>
              <a:t> </a:t>
            </a:r>
            <a:r>
              <a:rPr sz="3600" b="1" spc="-215" dirty="0">
                <a:latin typeface="Arial"/>
                <a:cs typeface="Arial"/>
              </a:rPr>
              <a:t>Server</a:t>
            </a:r>
            <a:endParaRPr sz="36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z="4000" spc="-25" dirty="0"/>
              <a:t>Objectives</a:t>
            </a:r>
            <a:endParaRPr sz="4000"/>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2</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83540" y="1463040"/>
            <a:ext cx="8071484" cy="3317875"/>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10" dirty="0">
                <a:latin typeface="Arial"/>
                <a:cs typeface="Arial"/>
              </a:rPr>
              <a:t>Explain</a:t>
            </a:r>
            <a:r>
              <a:rPr sz="2400" spc="-140" dirty="0">
                <a:latin typeface="Arial"/>
                <a:cs typeface="Arial"/>
              </a:rPr>
              <a:t> </a:t>
            </a:r>
            <a:r>
              <a:rPr sz="2400" spc="10" dirty="0">
                <a:latin typeface="Arial"/>
                <a:cs typeface="Arial"/>
              </a:rPr>
              <a:t>error</a:t>
            </a:r>
            <a:r>
              <a:rPr sz="2400" spc="-165" dirty="0">
                <a:latin typeface="Arial"/>
                <a:cs typeface="Arial"/>
              </a:rPr>
              <a:t> </a:t>
            </a:r>
            <a:r>
              <a:rPr sz="2400" spc="15" dirty="0">
                <a:latin typeface="Arial"/>
                <a:cs typeface="Arial"/>
              </a:rPr>
              <a:t>handling</a:t>
            </a:r>
            <a:r>
              <a:rPr sz="2400" spc="-150" dirty="0">
                <a:latin typeface="Arial"/>
                <a:cs typeface="Arial"/>
              </a:rPr>
              <a:t> </a:t>
            </a:r>
            <a:r>
              <a:rPr sz="2400" spc="-45" dirty="0">
                <a:latin typeface="Arial"/>
                <a:cs typeface="Arial"/>
              </a:rPr>
              <a:t>and</a:t>
            </a:r>
            <a:r>
              <a:rPr sz="2400" spc="-155" dirty="0">
                <a:latin typeface="Arial"/>
                <a:cs typeface="Arial"/>
              </a:rPr>
              <a:t> </a:t>
            </a:r>
            <a:r>
              <a:rPr sz="2400" spc="15" dirty="0">
                <a:latin typeface="Arial"/>
                <a:cs typeface="Arial"/>
              </a:rPr>
              <a:t>its</a:t>
            </a:r>
            <a:r>
              <a:rPr sz="2400" spc="-150" dirty="0">
                <a:latin typeface="Arial"/>
                <a:cs typeface="Arial"/>
              </a:rPr>
              <a:t> </a:t>
            </a:r>
            <a:r>
              <a:rPr sz="2400" spc="10" dirty="0">
                <a:latin typeface="Arial"/>
                <a:cs typeface="Arial"/>
              </a:rPr>
              <a:t>implementation</a:t>
            </a:r>
            <a:endParaRPr sz="2400">
              <a:latin typeface="Arial"/>
              <a:cs typeface="Arial"/>
            </a:endParaRPr>
          </a:p>
          <a:p>
            <a:pPr marL="353695" indent="-341630">
              <a:lnSpc>
                <a:spcPct val="100000"/>
              </a:lnSpc>
              <a:buFont typeface="Calibri"/>
              <a:buChar char="●"/>
              <a:tabLst>
                <a:tab pos="353695" algn="l"/>
                <a:tab pos="354330" algn="l"/>
              </a:tabLst>
            </a:pPr>
            <a:r>
              <a:rPr sz="2400" spc="-55" dirty="0">
                <a:latin typeface="Arial"/>
                <a:cs typeface="Arial"/>
              </a:rPr>
              <a:t>Describe </a:t>
            </a:r>
            <a:r>
              <a:rPr sz="2400" dirty="0">
                <a:latin typeface="Arial"/>
                <a:cs typeface="Arial"/>
              </a:rPr>
              <a:t>the </a:t>
            </a:r>
            <a:r>
              <a:rPr sz="2400" spc="160" dirty="0">
                <a:latin typeface="Arial"/>
                <a:cs typeface="Arial"/>
              </a:rPr>
              <a:t>TRY-CATCH</a:t>
            </a:r>
            <a:r>
              <a:rPr sz="2400" spc="-425" dirty="0">
                <a:latin typeface="Arial"/>
                <a:cs typeface="Arial"/>
              </a:rPr>
              <a:t> </a:t>
            </a:r>
            <a:r>
              <a:rPr sz="2400" spc="15" dirty="0">
                <a:latin typeface="Arial"/>
                <a:cs typeface="Arial"/>
              </a:rPr>
              <a:t>block</a:t>
            </a:r>
            <a:endParaRPr sz="2400">
              <a:latin typeface="Arial"/>
              <a:cs typeface="Arial"/>
            </a:endParaRPr>
          </a:p>
          <a:p>
            <a:pPr marL="353695" indent="-341630">
              <a:lnSpc>
                <a:spcPct val="100000"/>
              </a:lnSpc>
              <a:buFont typeface="Calibri"/>
              <a:buChar char="●"/>
              <a:tabLst>
                <a:tab pos="353695" algn="l"/>
                <a:tab pos="354330" algn="l"/>
              </a:tabLst>
            </a:pPr>
            <a:r>
              <a:rPr sz="2400" spc="10" dirty="0">
                <a:latin typeface="Arial"/>
                <a:cs typeface="Arial"/>
              </a:rPr>
              <a:t>Explain</a:t>
            </a:r>
            <a:r>
              <a:rPr sz="2400" spc="-140" dirty="0">
                <a:latin typeface="Arial"/>
                <a:cs typeface="Arial"/>
              </a:rPr>
              <a:t> </a:t>
            </a:r>
            <a:r>
              <a:rPr sz="2400" dirty="0">
                <a:latin typeface="Arial"/>
                <a:cs typeface="Arial"/>
              </a:rPr>
              <a:t>the</a:t>
            </a:r>
            <a:r>
              <a:rPr sz="2400" spc="-155" dirty="0">
                <a:latin typeface="Arial"/>
                <a:cs typeface="Arial"/>
              </a:rPr>
              <a:t> </a:t>
            </a:r>
            <a:r>
              <a:rPr sz="2400" spc="-35" dirty="0">
                <a:latin typeface="Arial"/>
                <a:cs typeface="Arial"/>
              </a:rPr>
              <a:t>procedure</a:t>
            </a:r>
            <a:r>
              <a:rPr sz="2400" spc="-155" dirty="0">
                <a:latin typeface="Arial"/>
                <a:cs typeface="Arial"/>
              </a:rPr>
              <a:t> </a:t>
            </a:r>
            <a:r>
              <a:rPr sz="2400" spc="65" dirty="0">
                <a:latin typeface="Arial"/>
                <a:cs typeface="Arial"/>
              </a:rPr>
              <a:t>to</a:t>
            </a:r>
            <a:r>
              <a:rPr sz="2400" spc="-150" dirty="0">
                <a:latin typeface="Arial"/>
                <a:cs typeface="Arial"/>
              </a:rPr>
              <a:t> </a:t>
            </a:r>
            <a:r>
              <a:rPr sz="2400" spc="-30" dirty="0">
                <a:latin typeface="Arial"/>
                <a:cs typeface="Arial"/>
              </a:rPr>
              <a:t>display</a:t>
            </a:r>
            <a:r>
              <a:rPr sz="2400" spc="-140" dirty="0">
                <a:latin typeface="Arial"/>
                <a:cs typeface="Arial"/>
              </a:rPr>
              <a:t> </a:t>
            </a:r>
            <a:r>
              <a:rPr sz="2400" spc="10" dirty="0">
                <a:latin typeface="Arial"/>
                <a:cs typeface="Arial"/>
              </a:rPr>
              <a:t>error</a:t>
            </a:r>
            <a:r>
              <a:rPr sz="2400" spc="-160" dirty="0">
                <a:latin typeface="Arial"/>
                <a:cs typeface="Arial"/>
              </a:rPr>
              <a:t> </a:t>
            </a:r>
            <a:r>
              <a:rPr sz="2400" spc="50" dirty="0">
                <a:latin typeface="Arial"/>
                <a:cs typeface="Arial"/>
              </a:rPr>
              <a:t>information</a:t>
            </a:r>
            <a:endParaRPr sz="2400">
              <a:latin typeface="Arial"/>
              <a:cs typeface="Arial"/>
            </a:endParaRPr>
          </a:p>
          <a:p>
            <a:pPr marL="353695" indent="-341630">
              <a:lnSpc>
                <a:spcPct val="100000"/>
              </a:lnSpc>
              <a:buFont typeface="Calibri"/>
              <a:buChar char="●"/>
              <a:tabLst>
                <a:tab pos="353695" algn="l"/>
                <a:tab pos="354330" algn="l"/>
              </a:tabLst>
            </a:pPr>
            <a:r>
              <a:rPr sz="2400" spc="-55" dirty="0">
                <a:latin typeface="Arial"/>
                <a:cs typeface="Arial"/>
              </a:rPr>
              <a:t>Describe</a:t>
            </a:r>
            <a:r>
              <a:rPr sz="2400" spc="-170" dirty="0">
                <a:latin typeface="Arial"/>
                <a:cs typeface="Arial"/>
              </a:rPr>
              <a:t> </a:t>
            </a:r>
            <a:r>
              <a:rPr sz="2400" dirty="0">
                <a:latin typeface="Arial"/>
                <a:cs typeface="Arial"/>
              </a:rPr>
              <a:t>the</a:t>
            </a:r>
            <a:r>
              <a:rPr sz="2400" spc="-155" dirty="0">
                <a:latin typeface="Arial"/>
                <a:cs typeface="Arial"/>
              </a:rPr>
              <a:t> </a:t>
            </a:r>
            <a:r>
              <a:rPr sz="2400" spc="-135" dirty="0">
                <a:latin typeface="Arial"/>
                <a:cs typeface="Arial"/>
              </a:rPr>
              <a:t>@@ERROR</a:t>
            </a:r>
            <a:r>
              <a:rPr sz="2400" spc="-145" dirty="0">
                <a:latin typeface="Arial"/>
                <a:cs typeface="Arial"/>
              </a:rPr>
              <a:t> </a:t>
            </a:r>
            <a:r>
              <a:rPr sz="2400" spc="-45" dirty="0">
                <a:latin typeface="Arial"/>
                <a:cs typeface="Arial"/>
              </a:rPr>
              <a:t>and</a:t>
            </a:r>
            <a:r>
              <a:rPr sz="2400" spc="-160" dirty="0">
                <a:latin typeface="Arial"/>
                <a:cs typeface="Arial"/>
              </a:rPr>
              <a:t> </a:t>
            </a:r>
            <a:r>
              <a:rPr sz="2400" spc="30" dirty="0">
                <a:latin typeface="Arial"/>
                <a:cs typeface="Arial"/>
              </a:rPr>
              <a:t>RAISERROR</a:t>
            </a:r>
            <a:r>
              <a:rPr sz="2400" spc="-145" dirty="0">
                <a:latin typeface="Arial"/>
                <a:cs typeface="Arial"/>
              </a:rPr>
              <a:t> </a:t>
            </a:r>
            <a:r>
              <a:rPr sz="2400" spc="-65" dirty="0">
                <a:latin typeface="Arial"/>
                <a:cs typeface="Arial"/>
              </a:rPr>
              <a:t>statements</a:t>
            </a:r>
            <a:endParaRPr sz="2400">
              <a:latin typeface="Arial"/>
              <a:cs typeface="Arial"/>
            </a:endParaRPr>
          </a:p>
          <a:p>
            <a:pPr marL="353695" marR="5080" indent="-341630">
              <a:lnSpc>
                <a:spcPct val="100000"/>
              </a:lnSpc>
              <a:buFont typeface="Calibri"/>
              <a:buChar char="●"/>
              <a:tabLst>
                <a:tab pos="353695" algn="l"/>
                <a:tab pos="354330" algn="l"/>
              </a:tabLst>
            </a:pPr>
            <a:r>
              <a:rPr sz="2400" spc="15" dirty="0">
                <a:latin typeface="Arial"/>
                <a:cs typeface="Arial"/>
              </a:rPr>
              <a:t>Explain </a:t>
            </a:r>
            <a:r>
              <a:rPr sz="2400" spc="5" dirty="0">
                <a:latin typeface="Arial"/>
                <a:cs typeface="Arial"/>
              </a:rPr>
              <a:t>the </a:t>
            </a:r>
            <a:r>
              <a:rPr sz="2400" spc="-145" dirty="0">
                <a:latin typeface="Arial"/>
                <a:cs typeface="Arial"/>
              </a:rPr>
              <a:t>use </a:t>
            </a:r>
            <a:r>
              <a:rPr sz="2400" spc="70" dirty="0">
                <a:latin typeface="Arial"/>
                <a:cs typeface="Arial"/>
              </a:rPr>
              <a:t>of </a:t>
            </a:r>
            <a:r>
              <a:rPr sz="2400" spc="-35" dirty="0">
                <a:latin typeface="Arial"/>
                <a:cs typeface="Arial"/>
              </a:rPr>
              <a:t>ERROR_STATE, </a:t>
            </a:r>
            <a:r>
              <a:rPr sz="2400" spc="-40" dirty="0">
                <a:latin typeface="Arial"/>
                <a:cs typeface="Arial"/>
              </a:rPr>
              <a:t>ERROR_SEVERITY,  </a:t>
            </a:r>
            <a:r>
              <a:rPr sz="2400" spc="-45" dirty="0">
                <a:latin typeface="Arial"/>
                <a:cs typeface="Arial"/>
              </a:rPr>
              <a:t>and</a:t>
            </a:r>
            <a:r>
              <a:rPr sz="2400" spc="-165" dirty="0">
                <a:latin typeface="Arial"/>
                <a:cs typeface="Arial"/>
              </a:rPr>
              <a:t> </a:t>
            </a:r>
            <a:r>
              <a:rPr sz="2400" spc="-45" dirty="0">
                <a:latin typeface="Arial"/>
                <a:cs typeface="Arial"/>
              </a:rPr>
              <a:t>ERROR_PROCEDURE</a:t>
            </a:r>
            <a:endParaRPr sz="2400">
              <a:latin typeface="Arial"/>
              <a:cs typeface="Arial"/>
            </a:endParaRPr>
          </a:p>
          <a:p>
            <a:pPr marL="353695" marR="6350" indent="-341630">
              <a:lnSpc>
                <a:spcPct val="100000"/>
              </a:lnSpc>
              <a:buFont typeface="Calibri"/>
              <a:buChar char="●"/>
              <a:tabLst>
                <a:tab pos="353695" algn="l"/>
                <a:tab pos="354330" algn="l"/>
                <a:tab pos="2105025" algn="l"/>
                <a:tab pos="3267075" algn="l"/>
                <a:tab pos="4440555" algn="l"/>
                <a:tab pos="5448935" algn="l"/>
              </a:tabLst>
            </a:pPr>
            <a:r>
              <a:rPr sz="2400" spc="25" dirty="0">
                <a:latin typeface="Arial"/>
                <a:cs typeface="Arial"/>
              </a:rPr>
              <a:t>Exp</a:t>
            </a:r>
            <a:r>
              <a:rPr sz="2400" spc="15" dirty="0">
                <a:latin typeface="Arial"/>
                <a:cs typeface="Arial"/>
              </a:rPr>
              <a:t>l</a:t>
            </a:r>
            <a:r>
              <a:rPr sz="2400" dirty="0">
                <a:latin typeface="Arial"/>
                <a:cs typeface="Arial"/>
              </a:rPr>
              <a:t>ain	the	</a:t>
            </a:r>
            <a:r>
              <a:rPr sz="2400" spc="-145" dirty="0">
                <a:latin typeface="Arial"/>
                <a:cs typeface="Arial"/>
              </a:rPr>
              <a:t>use</a:t>
            </a:r>
            <a:r>
              <a:rPr sz="2400" dirty="0">
                <a:latin typeface="Arial"/>
                <a:cs typeface="Arial"/>
              </a:rPr>
              <a:t>	</a:t>
            </a:r>
            <a:r>
              <a:rPr sz="2400" spc="65" dirty="0">
                <a:latin typeface="Arial"/>
                <a:cs typeface="Arial"/>
              </a:rPr>
              <a:t>of</a:t>
            </a:r>
            <a:r>
              <a:rPr sz="2400" dirty="0">
                <a:latin typeface="Arial"/>
                <a:cs typeface="Arial"/>
              </a:rPr>
              <a:t>	ERRO</a:t>
            </a:r>
            <a:r>
              <a:rPr sz="2400" spc="5" dirty="0">
                <a:latin typeface="Arial"/>
                <a:cs typeface="Arial"/>
              </a:rPr>
              <a:t>R</a:t>
            </a:r>
            <a:r>
              <a:rPr sz="2400" spc="-50" dirty="0">
                <a:latin typeface="Arial"/>
                <a:cs typeface="Arial"/>
              </a:rPr>
              <a:t>_NU</a:t>
            </a:r>
            <a:r>
              <a:rPr sz="2400" spc="-80" dirty="0">
                <a:latin typeface="Arial"/>
                <a:cs typeface="Arial"/>
              </a:rPr>
              <a:t>M</a:t>
            </a:r>
            <a:r>
              <a:rPr sz="2400" spc="-70" dirty="0">
                <a:latin typeface="Arial"/>
                <a:cs typeface="Arial"/>
              </a:rPr>
              <a:t>BER,  </a:t>
            </a:r>
            <a:r>
              <a:rPr sz="2400" spc="-65" dirty="0">
                <a:latin typeface="Arial"/>
                <a:cs typeface="Arial"/>
              </a:rPr>
              <a:t>ERROR_MESSAGE, </a:t>
            </a:r>
            <a:r>
              <a:rPr sz="2400" spc="-45" dirty="0">
                <a:latin typeface="Arial"/>
                <a:cs typeface="Arial"/>
              </a:rPr>
              <a:t>and</a:t>
            </a:r>
            <a:r>
              <a:rPr sz="2400" spc="-260" dirty="0">
                <a:latin typeface="Arial"/>
                <a:cs typeface="Arial"/>
              </a:rPr>
              <a:t> </a:t>
            </a:r>
            <a:r>
              <a:rPr sz="2400" spc="-60" dirty="0">
                <a:latin typeface="Arial"/>
                <a:cs typeface="Arial"/>
              </a:rPr>
              <a:t>ERROR_LINE</a:t>
            </a:r>
            <a:endParaRPr sz="2400">
              <a:latin typeface="Arial"/>
              <a:cs typeface="Arial"/>
            </a:endParaRPr>
          </a:p>
          <a:p>
            <a:pPr marL="353695" indent="-341630">
              <a:lnSpc>
                <a:spcPct val="100000"/>
              </a:lnSpc>
              <a:buFont typeface="Calibri"/>
              <a:buChar char="●"/>
              <a:tabLst>
                <a:tab pos="353695" algn="l"/>
                <a:tab pos="354330" algn="l"/>
              </a:tabLst>
            </a:pPr>
            <a:r>
              <a:rPr sz="2400" spc="-55" dirty="0">
                <a:latin typeface="Arial"/>
                <a:cs typeface="Arial"/>
              </a:rPr>
              <a:t>Describe </a:t>
            </a:r>
            <a:r>
              <a:rPr sz="2400" dirty="0">
                <a:latin typeface="Arial"/>
                <a:cs typeface="Arial"/>
              </a:rPr>
              <a:t>the </a:t>
            </a:r>
            <a:r>
              <a:rPr sz="2400" spc="190" dirty="0">
                <a:latin typeface="Arial"/>
                <a:cs typeface="Arial"/>
              </a:rPr>
              <a:t>THROW</a:t>
            </a:r>
            <a:r>
              <a:rPr sz="2400" spc="-425" dirty="0">
                <a:latin typeface="Arial"/>
                <a:cs typeface="Arial"/>
              </a:rPr>
              <a:t> </a:t>
            </a:r>
            <a:r>
              <a:rPr sz="2400" spc="-45" dirty="0">
                <a:latin typeface="Arial"/>
                <a:cs typeface="Arial"/>
              </a:rPr>
              <a:t>statement</a:t>
            </a:r>
            <a:endParaRPr sz="24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z="4000" spc="105" dirty="0"/>
              <a:t>Introduction</a:t>
            </a:r>
            <a:endParaRPr sz="4000"/>
          </a:p>
        </p:txBody>
      </p:sp>
      <p:sp>
        <p:nvSpPr>
          <p:cNvPr id="5" name="object 5"/>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3</a:t>
            </a:fld>
            <a:endParaRPr sz="1200"/>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268731" y="906526"/>
            <a:ext cx="8649970" cy="5146675"/>
          </a:xfrm>
          <a:prstGeom prst="rect">
            <a:avLst/>
          </a:prstGeom>
        </p:spPr>
        <p:txBody>
          <a:bodyPr vert="horz" wrap="square" lIns="0" tIns="12700" rIns="0" bIns="0" rtlCol="0">
            <a:spAutoFit/>
          </a:bodyPr>
          <a:lstStyle/>
          <a:p>
            <a:pPr marL="353695" marR="5080" indent="-341630">
              <a:lnSpc>
                <a:spcPct val="100000"/>
              </a:lnSpc>
              <a:spcBef>
                <a:spcPts val="100"/>
              </a:spcBef>
              <a:buSzPct val="83333"/>
              <a:buFont typeface="Segoe UI Symbol"/>
              <a:buChar char="⮚"/>
              <a:tabLst>
                <a:tab pos="354330" algn="l"/>
              </a:tabLst>
            </a:pPr>
            <a:r>
              <a:rPr sz="2400" spc="25" dirty="0">
                <a:latin typeface="Arial"/>
                <a:cs typeface="Arial"/>
              </a:rPr>
              <a:t>Error </a:t>
            </a:r>
            <a:r>
              <a:rPr sz="2400" spc="15" dirty="0">
                <a:latin typeface="Arial"/>
                <a:cs typeface="Arial"/>
              </a:rPr>
              <a:t>handling </a:t>
            </a:r>
            <a:r>
              <a:rPr sz="2400" spc="114" dirty="0">
                <a:latin typeface="Arial"/>
                <a:cs typeface="Arial"/>
              </a:rPr>
              <a:t>in </a:t>
            </a:r>
            <a:r>
              <a:rPr sz="2400" spc="25" dirty="0">
                <a:latin typeface="Arial"/>
                <a:cs typeface="Arial"/>
              </a:rPr>
              <a:t>SQL </a:t>
            </a:r>
            <a:r>
              <a:rPr sz="2400" spc="-60" dirty="0">
                <a:latin typeface="Arial"/>
                <a:cs typeface="Arial"/>
              </a:rPr>
              <a:t>Server </a:t>
            </a:r>
            <a:r>
              <a:rPr sz="2400" spc="-55" dirty="0">
                <a:latin typeface="Arial"/>
                <a:cs typeface="Arial"/>
              </a:rPr>
              <a:t>is </a:t>
            </a:r>
            <a:r>
              <a:rPr sz="2400" spc="40" dirty="0">
                <a:latin typeface="Arial"/>
                <a:cs typeface="Arial"/>
              </a:rPr>
              <a:t>now </a:t>
            </a:r>
            <a:r>
              <a:rPr sz="2400" spc="-114" dirty="0">
                <a:latin typeface="Arial"/>
                <a:cs typeface="Arial"/>
              </a:rPr>
              <a:t>easier </a:t>
            </a:r>
            <a:r>
              <a:rPr sz="2400" spc="35" dirty="0">
                <a:latin typeface="Arial"/>
                <a:cs typeface="Arial"/>
              </a:rPr>
              <a:t>through </a:t>
            </a:r>
            <a:r>
              <a:rPr sz="2400" spc="40" dirty="0">
                <a:latin typeface="Arial"/>
                <a:cs typeface="Arial"/>
              </a:rPr>
              <a:t>different  </a:t>
            </a:r>
            <a:r>
              <a:rPr sz="2400" spc="-35" dirty="0">
                <a:latin typeface="Arial"/>
                <a:cs typeface="Arial"/>
              </a:rPr>
              <a:t>techniques.</a:t>
            </a:r>
            <a:endParaRPr sz="2400">
              <a:latin typeface="Arial"/>
              <a:cs typeface="Arial"/>
            </a:endParaRPr>
          </a:p>
          <a:p>
            <a:pPr marL="353695" marR="5715" indent="-341630">
              <a:lnSpc>
                <a:spcPct val="100000"/>
              </a:lnSpc>
              <a:spcBef>
                <a:spcPts val="2880"/>
              </a:spcBef>
              <a:buSzPct val="83333"/>
              <a:buFont typeface="Segoe UI Symbol"/>
              <a:buChar char="⮚"/>
              <a:tabLst>
                <a:tab pos="354330" algn="l"/>
              </a:tabLst>
            </a:pPr>
            <a:r>
              <a:rPr sz="2400" spc="25" dirty="0">
                <a:latin typeface="Arial"/>
                <a:cs typeface="Arial"/>
              </a:rPr>
              <a:t>SQL</a:t>
            </a:r>
            <a:r>
              <a:rPr sz="2400" spc="-125" dirty="0">
                <a:latin typeface="Arial"/>
                <a:cs typeface="Arial"/>
              </a:rPr>
              <a:t> </a:t>
            </a:r>
            <a:r>
              <a:rPr sz="2400" spc="-65" dirty="0">
                <a:latin typeface="Arial"/>
                <a:cs typeface="Arial"/>
              </a:rPr>
              <a:t>Server</a:t>
            </a:r>
            <a:r>
              <a:rPr sz="2400" spc="-120" dirty="0">
                <a:latin typeface="Arial"/>
                <a:cs typeface="Arial"/>
              </a:rPr>
              <a:t> </a:t>
            </a:r>
            <a:r>
              <a:rPr sz="2400" spc="-140" dirty="0">
                <a:latin typeface="Arial"/>
                <a:cs typeface="Arial"/>
              </a:rPr>
              <a:t>has</a:t>
            </a:r>
            <a:r>
              <a:rPr sz="2400" spc="-120" dirty="0">
                <a:latin typeface="Arial"/>
                <a:cs typeface="Arial"/>
              </a:rPr>
              <a:t> </a:t>
            </a:r>
            <a:r>
              <a:rPr sz="2400" spc="20" dirty="0">
                <a:latin typeface="Arial"/>
                <a:cs typeface="Arial"/>
              </a:rPr>
              <a:t>introduced</a:t>
            </a:r>
            <a:r>
              <a:rPr sz="2400" spc="-120" dirty="0">
                <a:latin typeface="Arial"/>
                <a:cs typeface="Arial"/>
              </a:rPr>
              <a:t> </a:t>
            </a:r>
            <a:r>
              <a:rPr sz="2400" spc="10" dirty="0">
                <a:latin typeface="Arial"/>
                <a:cs typeface="Arial"/>
              </a:rPr>
              <a:t>options</a:t>
            </a:r>
            <a:r>
              <a:rPr sz="2400" spc="-114" dirty="0">
                <a:latin typeface="Arial"/>
                <a:cs typeface="Arial"/>
              </a:rPr>
              <a:t> </a:t>
            </a:r>
            <a:r>
              <a:rPr sz="2400" spc="35" dirty="0">
                <a:latin typeface="Arial"/>
                <a:cs typeface="Arial"/>
              </a:rPr>
              <a:t>that</a:t>
            </a:r>
            <a:r>
              <a:rPr sz="2400" spc="-110" dirty="0">
                <a:latin typeface="Arial"/>
                <a:cs typeface="Arial"/>
              </a:rPr>
              <a:t> </a:t>
            </a:r>
            <a:r>
              <a:rPr sz="2400" spc="-90" dirty="0">
                <a:latin typeface="Arial"/>
                <a:cs typeface="Arial"/>
              </a:rPr>
              <a:t>can</a:t>
            </a:r>
            <a:r>
              <a:rPr sz="2400" spc="-120" dirty="0">
                <a:latin typeface="Arial"/>
                <a:cs typeface="Arial"/>
              </a:rPr>
              <a:t> </a:t>
            </a:r>
            <a:r>
              <a:rPr sz="2400" spc="-5" dirty="0">
                <a:latin typeface="Arial"/>
                <a:cs typeface="Arial"/>
              </a:rPr>
              <a:t>help</a:t>
            </a:r>
            <a:r>
              <a:rPr sz="2400" spc="-110" dirty="0">
                <a:latin typeface="Arial"/>
                <a:cs typeface="Arial"/>
              </a:rPr>
              <a:t> </a:t>
            </a:r>
            <a:r>
              <a:rPr sz="2400" spc="5" dirty="0">
                <a:latin typeface="Arial"/>
                <a:cs typeface="Arial"/>
              </a:rPr>
              <a:t>you</a:t>
            </a:r>
            <a:r>
              <a:rPr sz="2400" spc="-110" dirty="0">
                <a:latin typeface="Arial"/>
                <a:cs typeface="Arial"/>
              </a:rPr>
              <a:t> </a:t>
            </a:r>
            <a:r>
              <a:rPr sz="2400" spc="65" dirty="0">
                <a:latin typeface="Arial"/>
                <a:cs typeface="Arial"/>
              </a:rPr>
              <a:t>to</a:t>
            </a:r>
            <a:r>
              <a:rPr sz="2400" spc="-114" dirty="0">
                <a:latin typeface="Arial"/>
                <a:cs typeface="Arial"/>
              </a:rPr>
              <a:t> </a:t>
            </a:r>
            <a:r>
              <a:rPr sz="2400" spc="-25" dirty="0">
                <a:latin typeface="Arial"/>
                <a:cs typeface="Arial"/>
              </a:rPr>
              <a:t>handle  </a:t>
            </a:r>
            <a:r>
              <a:rPr sz="2400" spc="-35" dirty="0">
                <a:latin typeface="Arial"/>
                <a:cs typeface="Arial"/>
              </a:rPr>
              <a:t>errors</a:t>
            </a:r>
            <a:r>
              <a:rPr sz="2400" spc="-175" dirty="0">
                <a:latin typeface="Arial"/>
                <a:cs typeface="Arial"/>
              </a:rPr>
              <a:t> </a:t>
            </a:r>
            <a:r>
              <a:rPr sz="2400" spc="30" dirty="0">
                <a:latin typeface="Arial"/>
                <a:cs typeface="Arial"/>
              </a:rPr>
              <a:t>efficiently.</a:t>
            </a:r>
            <a:endParaRPr sz="2400">
              <a:latin typeface="Arial"/>
              <a:cs typeface="Arial"/>
            </a:endParaRPr>
          </a:p>
          <a:p>
            <a:pPr marL="353695" marR="5080" indent="-341630">
              <a:lnSpc>
                <a:spcPct val="100000"/>
              </a:lnSpc>
              <a:spcBef>
                <a:spcPts val="2880"/>
              </a:spcBef>
              <a:buSzPct val="83333"/>
              <a:buFont typeface="Segoe UI Symbol"/>
              <a:buChar char="⮚"/>
              <a:tabLst>
                <a:tab pos="354330" algn="l"/>
              </a:tabLst>
            </a:pPr>
            <a:r>
              <a:rPr sz="2400" spc="45" dirty="0">
                <a:latin typeface="Arial"/>
                <a:cs typeface="Arial"/>
              </a:rPr>
              <a:t>Often,</a:t>
            </a:r>
            <a:r>
              <a:rPr sz="2400" spc="-145" dirty="0">
                <a:latin typeface="Arial"/>
                <a:cs typeface="Arial"/>
              </a:rPr>
              <a:t> </a:t>
            </a:r>
            <a:r>
              <a:rPr sz="2400" spc="150" dirty="0">
                <a:latin typeface="Arial"/>
                <a:cs typeface="Arial"/>
              </a:rPr>
              <a:t>it</a:t>
            </a:r>
            <a:r>
              <a:rPr sz="2400" spc="-140" dirty="0">
                <a:latin typeface="Arial"/>
                <a:cs typeface="Arial"/>
              </a:rPr>
              <a:t> </a:t>
            </a:r>
            <a:r>
              <a:rPr sz="2400" spc="-55" dirty="0">
                <a:latin typeface="Arial"/>
                <a:cs typeface="Arial"/>
              </a:rPr>
              <a:t>is</a:t>
            </a:r>
            <a:r>
              <a:rPr sz="2400" spc="-145" dirty="0">
                <a:latin typeface="Arial"/>
                <a:cs typeface="Arial"/>
              </a:rPr>
              <a:t> </a:t>
            </a:r>
            <a:r>
              <a:rPr sz="2400" spc="70" dirty="0">
                <a:latin typeface="Arial"/>
                <a:cs typeface="Arial"/>
              </a:rPr>
              <a:t>not</a:t>
            </a:r>
            <a:r>
              <a:rPr sz="2400" spc="-150" dirty="0">
                <a:latin typeface="Arial"/>
                <a:cs typeface="Arial"/>
              </a:rPr>
              <a:t> </a:t>
            </a:r>
            <a:r>
              <a:rPr sz="2400" spc="-65" dirty="0">
                <a:latin typeface="Arial"/>
                <a:cs typeface="Arial"/>
              </a:rPr>
              <a:t>possible</a:t>
            </a:r>
            <a:r>
              <a:rPr sz="2400" spc="-140" dirty="0">
                <a:latin typeface="Arial"/>
                <a:cs typeface="Arial"/>
              </a:rPr>
              <a:t> </a:t>
            </a:r>
            <a:r>
              <a:rPr sz="2400" spc="65" dirty="0">
                <a:latin typeface="Arial"/>
                <a:cs typeface="Arial"/>
              </a:rPr>
              <a:t>to</a:t>
            </a:r>
            <a:r>
              <a:rPr sz="2400" spc="-140" dirty="0">
                <a:latin typeface="Arial"/>
                <a:cs typeface="Arial"/>
              </a:rPr>
              <a:t> </a:t>
            </a:r>
            <a:r>
              <a:rPr sz="2400" spc="-40" dirty="0">
                <a:latin typeface="Arial"/>
                <a:cs typeface="Arial"/>
              </a:rPr>
              <a:t>capture</a:t>
            </a:r>
            <a:r>
              <a:rPr sz="2400" spc="-145" dirty="0">
                <a:latin typeface="Arial"/>
                <a:cs typeface="Arial"/>
              </a:rPr>
              <a:t> </a:t>
            </a:r>
            <a:r>
              <a:rPr sz="2400" spc="-35" dirty="0">
                <a:latin typeface="Arial"/>
                <a:cs typeface="Arial"/>
              </a:rPr>
              <a:t>errors</a:t>
            </a:r>
            <a:r>
              <a:rPr sz="2400" spc="-145" dirty="0">
                <a:latin typeface="Arial"/>
                <a:cs typeface="Arial"/>
              </a:rPr>
              <a:t> </a:t>
            </a:r>
            <a:r>
              <a:rPr sz="2400" spc="35" dirty="0">
                <a:latin typeface="Arial"/>
                <a:cs typeface="Arial"/>
              </a:rPr>
              <a:t>that</a:t>
            </a:r>
            <a:r>
              <a:rPr sz="2400" spc="-135" dirty="0">
                <a:latin typeface="Arial"/>
                <a:cs typeface="Arial"/>
              </a:rPr>
              <a:t> </a:t>
            </a:r>
            <a:r>
              <a:rPr sz="2400" spc="-20" dirty="0">
                <a:latin typeface="Arial"/>
                <a:cs typeface="Arial"/>
              </a:rPr>
              <a:t>occur</a:t>
            </a:r>
            <a:r>
              <a:rPr sz="2400" spc="-140" dirty="0">
                <a:latin typeface="Arial"/>
                <a:cs typeface="Arial"/>
              </a:rPr>
              <a:t> </a:t>
            </a:r>
            <a:r>
              <a:rPr sz="2400" spc="-40" dirty="0">
                <a:latin typeface="Arial"/>
                <a:cs typeface="Arial"/>
              </a:rPr>
              <a:t>at</a:t>
            </a:r>
            <a:r>
              <a:rPr sz="2400" spc="-140" dirty="0">
                <a:latin typeface="Arial"/>
                <a:cs typeface="Arial"/>
              </a:rPr>
              <a:t> </a:t>
            </a:r>
            <a:r>
              <a:rPr sz="2400" dirty="0">
                <a:latin typeface="Arial"/>
                <a:cs typeface="Arial"/>
              </a:rPr>
              <a:t>the</a:t>
            </a:r>
            <a:r>
              <a:rPr sz="2400" spc="-140" dirty="0">
                <a:latin typeface="Arial"/>
                <a:cs typeface="Arial"/>
              </a:rPr>
              <a:t> </a:t>
            </a:r>
            <a:r>
              <a:rPr sz="2400" spc="-70" dirty="0">
                <a:latin typeface="Arial"/>
                <a:cs typeface="Arial"/>
              </a:rPr>
              <a:t>user's  </a:t>
            </a:r>
            <a:r>
              <a:rPr sz="2400" spc="-50" dirty="0">
                <a:latin typeface="Arial"/>
                <a:cs typeface="Arial"/>
              </a:rPr>
              <a:t>end.</a:t>
            </a:r>
            <a:endParaRPr sz="2400">
              <a:latin typeface="Arial"/>
              <a:cs typeface="Arial"/>
            </a:endParaRPr>
          </a:p>
          <a:p>
            <a:pPr marL="353695" marR="5715" indent="-341630">
              <a:lnSpc>
                <a:spcPct val="100000"/>
              </a:lnSpc>
              <a:spcBef>
                <a:spcPts val="2880"/>
              </a:spcBef>
              <a:buSzPct val="83333"/>
              <a:buFont typeface="Segoe UI Symbol"/>
              <a:buChar char="⮚"/>
              <a:tabLst>
                <a:tab pos="354330" algn="l"/>
              </a:tabLst>
            </a:pPr>
            <a:r>
              <a:rPr sz="2400" spc="25" dirty="0">
                <a:latin typeface="Arial"/>
                <a:cs typeface="Arial"/>
              </a:rPr>
              <a:t>SQL </a:t>
            </a:r>
            <a:r>
              <a:rPr sz="2400" spc="-65" dirty="0">
                <a:latin typeface="Arial"/>
                <a:cs typeface="Arial"/>
              </a:rPr>
              <a:t>Server </a:t>
            </a:r>
            <a:r>
              <a:rPr sz="2400" spc="-25" dirty="0">
                <a:latin typeface="Arial"/>
                <a:cs typeface="Arial"/>
              </a:rPr>
              <a:t>provides </a:t>
            </a:r>
            <a:r>
              <a:rPr sz="2400" dirty="0">
                <a:latin typeface="Arial"/>
                <a:cs typeface="Arial"/>
              </a:rPr>
              <a:t>the </a:t>
            </a:r>
            <a:r>
              <a:rPr sz="2400" spc="95" dirty="0">
                <a:latin typeface="Arial"/>
                <a:cs typeface="Arial"/>
              </a:rPr>
              <a:t>TRY</a:t>
            </a:r>
            <a:r>
              <a:rPr sz="2400" spc="95" dirty="0">
                <a:latin typeface="Times New Roman"/>
                <a:cs typeface="Times New Roman"/>
              </a:rPr>
              <a:t>…</a:t>
            </a:r>
            <a:r>
              <a:rPr sz="2400" spc="95" dirty="0">
                <a:latin typeface="Arial"/>
                <a:cs typeface="Arial"/>
              </a:rPr>
              <a:t>CATCH </a:t>
            </a:r>
            <a:r>
              <a:rPr sz="2400" spc="-45" dirty="0">
                <a:latin typeface="Arial"/>
                <a:cs typeface="Arial"/>
              </a:rPr>
              <a:t>statement </a:t>
            </a:r>
            <a:r>
              <a:rPr sz="2400" spc="40" dirty="0">
                <a:latin typeface="Arial"/>
                <a:cs typeface="Arial"/>
              </a:rPr>
              <a:t>that </a:t>
            </a:r>
            <a:r>
              <a:rPr sz="2400" spc="-55" dirty="0">
                <a:latin typeface="Arial"/>
                <a:cs typeface="Arial"/>
              </a:rPr>
              <a:t>helps  </a:t>
            </a:r>
            <a:r>
              <a:rPr sz="2400" spc="65" dirty="0">
                <a:latin typeface="Arial"/>
                <a:cs typeface="Arial"/>
              </a:rPr>
              <a:t>to</a:t>
            </a:r>
            <a:r>
              <a:rPr sz="2400" spc="-150" dirty="0">
                <a:latin typeface="Arial"/>
                <a:cs typeface="Arial"/>
              </a:rPr>
              <a:t> </a:t>
            </a:r>
            <a:r>
              <a:rPr sz="2400" spc="-25" dirty="0">
                <a:latin typeface="Arial"/>
                <a:cs typeface="Arial"/>
              </a:rPr>
              <a:t>handle</a:t>
            </a:r>
            <a:r>
              <a:rPr sz="2400" spc="-165" dirty="0">
                <a:latin typeface="Arial"/>
                <a:cs typeface="Arial"/>
              </a:rPr>
              <a:t> </a:t>
            </a:r>
            <a:r>
              <a:rPr sz="2400" spc="-35" dirty="0">
                <a:latin typeface="Arial"/>
                <a:cs typeface="Arial"/>
              </a:rPr>
              <a:t>errors</a:t>
            </a:r>
            <a:r>
              <a:rPr sz="2400" spc="-170" dirty="0">
                <a:latin typeface="Arial"/>
                <a:cs typeface="Arial"/>
              </a:rPr>
              <a:t> </a:t>
            </a:r>
            <a:r>
              <a:rPr sz="2400" dirty="0">
                <a:latin typeface="Arial"/>
                <a:cs typeface="Arial"/>
              </a:rPr>
              <a:t>effectively</a:t>
            </a:r>
            <a:r>
              <a:rPr sz="2400" spc="-160" dirty="0">
                <a:latin typeface="Arial"/>
                <a:cs typeface="Arial"/>
              </a:rPr>
              <a:t> </a:t>
            </a:r>
            <a:r>
              <a:rPr sz="2400" spc="-40" dirty="0">
                <a:latin typeface="Arial"/>
                <a:cs typeface="Arial"/>
              </a:rPr>
              <a:t>at</a:t>
            </a:r>
            <a:r>
              <a:rPr sz="2400" spc="-145" dirty="0">
                <a:latin typeface="Arial"/>
                <a:cs typeface="Arial"/>
              </a:rPr>
              <a:t> </a:t>
            </a:r>
            <a:r>
              <a:rPr sz="2400" dirty="0">
                <a:latin typeface="Arial"/>
                <a:cs typeface="Arial"/>
              </a:rPr>
              <a:t>the</a:t>
            </a:r>
            <a:r>
              <a:rPr sz="2400" spc="-155" dirty="0">
                <a:latin typeface="Arial"/>
                <a:cs typeface="Arial"/>
              </a:rPr>
              <a:t> </a:t>
            </a:r>
            <a:r>
              <a:rPr sz="2400" spc="-65" dirty="0">
                <a:latin typeface="Arial"/>
                <a:cs typeface="Arial"/>
              </a:rPr>
              <a:t>back</a:t>
            </a:r>
            <a:r>
              <a:rPr sz="2400" spc="-140" dirty="0">
                <a:latin typeface="Arial"/>
                <a:cs typeface="Arial"/>
              </a:rPr>
              <a:t> </a:t>
            </a:r>
            <a:r>
              <a:rPr sz="2400" spc="-50" dirty="0">
                <a:latin typeface="Arial"/>
                <a:cs typeface="Arial"/>
              </a:rPr>
              <a:t>end.</a:t>
            </a:r>
            <a:endParaRPr sz="2400">
              <a:latin typeface="Arial"/>
              <a:cs typeface="Arial"/>
            </a:endParaRPr>
          </a:p>
          <a:p>
            <a:pPr marL="353695" marR="5080" indent="-341630">
              <a:lnSpc>
                <a:spcPct val="100000"/>
              </a:lnSpc>
              <a:spcBef>
                <a:spcPts val="2880"/>
              </a:spcBef>
              <a:buSzPct val="83333"/>
              <a:buFont typeface="Segoe UI Symbol"/>
              <a:buChar char="⮚"/>
              <a:tabLst>
                <a:tab pos="354330" algn="l"/>
              </a:tabLst>
            </a:pPr>
            <a:r>
              <a:rPr sz="2400" spc="-85" dirty="0">
                <a:latin typeface="Arial"/>
                <a:cs typeface="Arial"/>
              </a:rPr>
              <a:t>Several </a:t>
            </a:r>
            <a:r>
              <a:rPr sz="2400" spc="-100" dirty="0">
                <a:latin typeface="Arial"/>
                <a:cs typeface="Arial"/>
              </a:rPr>
              <a:t>system </a:t>
            </a:r>
            <a:r>
              <a:rPr sz="2400" spc="30" dirty="0">
                <a:latin typeface="Arial"/>
                <a:cs typeface="Arial"/>
              </a:rPr>
              <a:t>functions </a:t>
            </a:r>
            <a:r>
              <a:rPr sz="2400" spc="-90" dirty="0">
                <a:latin typeface="Arial"/>
                <a:cs typeface="Arial"/>
              </a:rPr>
              <a:t>can </a:t>
            </a:r>
            <a:r>
              <a:rPr sz="2400" spc="95" dirty="0">
                <a:latin typeface="Arial"/>
                <a:cs typeface="Arial"/>
              </a:rPr>
              <a:t>print </a:t>
            </a:r>
            <a:r>
              <a:rPr sz="2400" spc="10" dirty="0">
                <a:latin typeface="Arial"/>
                <a:cs typeface="Arial"/>
              </a:rPr>
              <a:t>error </a:t>
            </a:r>
            <a:r>
              <a:rPr sz="2400" spc="-40" dirty="0">
                <a:latin typeface="Arial"/>
                <a:cs typeface="Arial"/>
              </a:rPr>
              <a:t>related </a:t>
            </a:r>
            <a:r>
              <a:rPr sz="2400" spc="40" dirty="0">
                <a:latin typeface="Arial"/>
                <a:cs typeface="Arial"/>
              </a:rPr>
              <a:t>information,  </a:t>
            </a:r>
            <a:r>
              <a:rPr sz="2400" spc="45" dirty="0">
                <a:latin typeface="Arial"/>
                <a:cs typeface="Arial"/>
              </a:rPr>
              <a:t>which</a:t>
            </a:r>
            <a:r>
              <a:rPr sz="2400" spc="-140" dirty="0">
                <a:latin typeface="Arial"/>
                <a:cs typeface="Arial"/>
              </a:rPr>
              <a:t> </a:t>
            </a:r>
            <a:r>
              <a:rPr sz="2400" spc="-90" dirty="0">
                <a:latin typeface="Arial"/>
                <a:cs typeface="Arial"/>
              </a:rPr>
              <a:t>can</a:t>
            </a:r>
            <a:r>
              <a:rPr sz="2400" spc="-150" dirty="0">
                <a:latin typeface="Arial"/>
                <a:cs typeface="Arial"/>
              </a:rPr>
              <a:t> </a:t>
            </a:r>
            <a:r>
              <a:rPr sz="2400" spc="-5" dirty="0">
                <a:latin typeface="Arial"/>
                <a:cs typeface="Arial"/>
              </a:rPr>
              <a:t>help</a:t>
            </a:r>
            <a:r>
              <a:rPr sz="2400" spc="-150" dirty="0">
                <a:latin typeface="Arial"/>
                <a:cs typeface="Arial"/>
              </a:rPr>
              <a:t> </a:t>
            </a:r>
            <a:r>
              <a:rPr sz="2400" spc="140" dirty="0">
                <a:latin typeface="Arial"/>
                <a:cs typeface="Arial"/>
              </a:rPr>
              <a:t>fix</a:t>
            </a:r>
            <a:r>
              <a:rPr sz="2400" spc="-150" dirty="0">
                <a:latin typeface="Arial"/>
                <a:cs typeface="Arial"/>
              </a:rPr>
              <a:t> </a:t>
            </a:r>
            <a:r>
              <a:rPr sz="2400" spc="-35" dirty="0">
                <a:latin typeface="Arial"/>
                <a:cs typeface="Arial"/>
              </a:rPr>
              <a:t>errors</a:t>
            </a:r>
            <a:r>
              <a:rPr sz="2400" spc="-175" dirty="0">
                <a:latin typeface="Arial"/>
                <a:cs typeface="Arial"/>
              </a:rPr>
              <a:t> </a:t>
            </a:r>
            <a:r>
              <a:rPr sz="2400" spc="-70" dirty="0">
                <a:latin typeface="Arial"/>
                <a:cs typeface="Arial"/>
              </a:rPr>
              <a:t>easily.</a:t>
            </a:r>
            <a:endParaRPr sz="240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7359" y="19558"/>
            <a:ext cx="3606800" cy="574040"/>
          </a:xfrm>
          <a:prstGeom prst="rect">
            <a:avLst/>
          </a:prstGeom>
        </p:spPr>
        <p:txBody>
          <a:bodyPr vert="horz" wrap="square" lIns="0" tIns="12700" rIns="0" bIns="0" rtlCol="0">
            <a:spAutoFit/>
          </a:bodyPr>
          <a:lstStyle/>
          <a:p>
            <a:pPr marL="12700">
              <a:lnSpc>
                <a:spcPct val="100000"/>
              </a:lnSpc>
              <a:spcBef>
                <a:spcPts val="100"/>
              </a:spcBef>
            </a:pPr>
            <a:r>
              <a:rPr sz="3600" spc="-80" dirty="0"/>
              <a:t>Types </a:t>
            </a:r>
            <a:r>
              <a:rPr sz="3600" spc="100" dirty="0"/>
              <a:t>of</a:t>
            </a:r>
            <a:r>
              <a:rPr sz="3600" spc="-665" dirty="0"/>
              <a:t> </a:t>
            </a:r>
            <a:r>
              <a:rPr sz="3600" spc="-35" dirty="0"/>
              <a:t>Errors </a:t>
            </a:r>
            <a:r>
              <a:rPr sz="3600" spc="-509" dirty="0"/>
              <a:t>1-5</a:t>
            </a:r>
            <a:endParaRPr sz="3600"/>
          </a:p>
        </p:txBody>
      </p:sp>
      <p:sp>
        <p:nvSpPr>
          <p:cNvPr id="3" name="object 3"/>
          <p:cNvSpPr/>
          <p:nvPr/>
        </p:nvSpPr>
        <p:spPr>
          <a:xfrm>
            <a:off x="291846" y="1120139"/>
            <a:ext cx="7572375" cy="1918970"/>
          </a:xfrm>
          <a:custGeom>
            <a:avLst/>
            <a:gdLst/>
            <a:ahLst/>
            <a:cxnLst/>
            <a:rect l="l" t="t" r="r" b="b"/>
            <a:pathLst>
              <a:path w="7572375" h="1918970">
                <a:moveTo>
                  <a:pt x="7571994" y="319786"/>
                </a:moveTo>
                <a:lnTo>
                  <a:pt x="7568527" y="272529"/>
                </a:lnTo>
                <a:lnTo>
                  <a:pt x="7558456" y="227418"/>
                </a:lnTo>
                <a:lnTo>
                  <a:pt x="7542276" y="184962"/>
                </a:lnTo>
                <a:lnTo>
                  <a:pt x="7520483" y="145643"/>
                </a:lnTo>
                <a:lnTo>
                  <a:pt x="7493559" y="109969"/>
                </a:lnTo>
                <a:lnTo>
                  <a:pt x="7462025" y="78435"/>
                </a:lnTo>
                <a:lnTo>
                  <a:pt x="7426350" y="51511"/>
                </a:lnTo>
                <a:lnTo>
                  <a:pt x="7387031" y="29718"/>
                </a:lnTo>
                <a:lnTo>
                  <a:pt x="7344575" y="13538"/>
                </a:lnTo>
                <a:lnTo>
                  <a:pt x="7299465" y="3467"/>
                </a:lnTo>
                <a:lnTo>
                  <a:pt x="7252208" y="0"/>
                </a:lnTo>
                <a:lnTo>
                  <a:pt x="319786" y="0"/>
                </a:lnTo>
                <a:lnTo>
                  <a:pt x="272529" y="3467"/>
                </a:lnTo>
                <a:lnTo>
                  <a:pt x="227418" y="13538"/>
                </a:lnTo>
                <a:lnTo>
                  <a:pt x="184962" y="29718"/>
                </a:lnTo>
                <a:lnTo>
                  <a:pt x="145656" y="51511"/>
                </a:lnTo>
                <a:lnTo>
                  <a:pt x="109982" y="78435"/>
                </a:lnTo>
                <a:lnTo>
                  <a:pt x="78435" y="109969"/>
                </a:lnTo>
                <a:lnTo>
                  <a:pt x="51511" y="145643"/>
                </a:lnTo>
                <a:lnTo>
                  <a:pt x="29718" y="184962"/>
                </a:lnTo>
                <a:lnTo>
                  <a:pt x="13538" y="227418"/>
                </a:lnTo>
                <a:lnTo>
                  <a:pt x="3467" y="272529"/>
                </a:lnTo>
                <a:lnTo>
                  <a:pt x="0" y="319786"/>
                </a:lnTo>
                <a:lnTo>
                  <a:pt x="0" y="1598930"/>
                </a:lnTo>
                <a:lnTo>
                  <a:pt x="3467" y="1646199"/>
                </a:lnTo>
                <a:lnTo>
                  <a:pt x="13538" y="1691309"/>
                </a:lnTo>
                <a:lnTo>
                  <a:pt x="29718" y="1733765"/>
                </a:lnTo>
                <a:lnTo>
                  <a:pt x="51511" y="1773085"/>
                </a:lnTo>
                <a:lnTo>
                  <a:pt x="78435" y="1808759"/>
                </a:lnTo>
                <a:lnTo>
                  <a:pt x="109982" y="1840293"/>
                </a:lnTo>
                <a:lnTo>
                  <a:pt x="145656" y="1867217"/>
                </a:lnTo>
                <a:lnTo>
                  <a:pt x="184962" y="1889010"/>
                </a:lnTo>
                <a:lnTo>
                  <a:pt x="227418" y="1905190"/>
                </a:lnTo>
                <a:lnTo>
                  <a:pt x="272529" y="1915261"/>
                </a:lnTo>
                <a:lnTo>
                  <a:pt x="319786" y="1918716"/>
                </a:lnTo>
                <a:lnTo>
                  <a:pt x="7252208" y="1918716"/>
                </a:lnTo>
                <a:lnTo>
                  <a:pt x="7299465" y="1915261"/>
                </a:lnTo>
                <a:lnTo>
                  <a:pt x="7344575" y="1905190"/>
                </a:lnTo>
                <a:lnTo>
                  <a:pt x="7387031" y="1889010"/>
                </a:lnTo>
                <a:lnTo>
                  <a:pt x="7426350" y="1867217"/>
                </a:lnTo>
                <a:lnTo>
                  <a:pt x="7462025" y="1840293"/>
                </a:lnTo>
                <a:lnTo>
                  <a:pt x="7493559" y="1808759"/>
                </a:lnTo>
                <a:lnTo>
                  <a:pt x="7520483" y="1773085"/>
                </a:lnTo>
                <a:lnTo>
                  <a:pt x="7542276" y="1733765"/>
                </a:lnTo>
                <a:lnTo>
                  <a:pt x="7558456" y="1691309"/>
                </a:lnTo>
                <a:lnTo>
                  <a:pt x="7568527" y="1646199"/>
                </a:lnTo>
                <a:lnTo>
                  <a:pt x="7571994" y="1598930"/>
                </a:lnTo>
                <a:lnTo>
                  <a:pt x="7571994" y="319786"/>
                </a:lnTo>
                <a:close/>
              </a:path>
            </a:pathLst>
          </a:custGeom>
          <a:solidFill>
            <a:srgbClr val="4F6128"/>
          </a:solidFill>
        </p:spPr>
        <p:txBody>
          <a:bodyPr wrap="square" lIns="0" tIns="0" rIns="0" bIns="0" rtlCol="0"/>
          <a:lstStyle/>
          <a:p>
            <a:endParaRPr/>
          </a:p>
        </p:txBody>
      </p:sp>
      <p:sp>
        <p:nvSpPr>
          <p:cNvPr id="4" name="object 4"/>
          <p:cNvSpPr txBox="1"/>
          <p:nvPr/>
        </p:nvSpPr>
        <p:spPr>
          <a:xfrm>
            <a:off x="558291" y="1604517"/>
            <a:ext cx="6898640" cy="964565"/>
          </a:xfrm>
          <a:prstGeom prst="rect">
            <a:avLst/>
          </a:prstGeom>
        </p:spPr>
        <p:txBody>
          <a:bodyPr vert="horz" wrap="square" lIns="0" tIns="50165" rIns="0" bIns="0" rtlCol="0">
            <a:spAutoFit/>
          </a:bodyPr>
          <a:lstStyle/>
          <a:p>
            <a:pPr marL="354965" marR="5080" indent="-342900" algn="just">
              <a:lnSpc>
                <a:spcPts val="2380"/>
              </a:lnSpc>
              <a:spcBef>
                <a:spcPts val="395"/>
              </a:spcBef>
              <a:buFont typeface="Wingdings"/>
              <a:buChar char=""/>
              <a:tabLst>
                <a:tab pos="355600" algn="l"/>
              </a:tabLst>
            </a:pPr>
            <a:r>
              <a:rPr sz="2200" spc="40" dirty="0">
                <a:solidFill>
                  <a:srgbClr val="FFFFFF"/>
                </a:solidFill>
                <a:latin typeface="Arial"/>
                <a:cs typeface="Arial"/>
              </a:rPr>
              <a:t>As </a:t>
            </a:r>
            <a:r>
              <a:rPr sz="2200" spc="-210" dirty="0">
                <a:solidFill>
                  <a:srgbClr val="FFFFFF"/>
                </a:solidFill>
                <a:latin typeface="Arial"/>
                <a:cs typeface="Arial"/>
              </a:rPr>
              <a:t>a </a:t>
            </a:r>
            <a:r>
              <a:rPr sz="2200" spc="-15" dirty="0">
                <a:solidFill>
                  <a:srgbClr val="FFFFFF"/>
                </a:solidFill>
                <a:latin typeface="Arial"/>
                <a:cs typeface="Arial"/>
              </a:rPr>
              <a:t>Transact-SQL </a:t>
            </a:r>
            <a:r>
              <a:rPr sz="2200" spc="-35" dirty="0">
                <a:solidFill>
                  <a:srgbClr val="FFFFFF"/>
                </a:solidFill>
                <a:latin typeface="Arial"/>
                <a:cs typeface="Arial"/>
              </a:rPr>
              <a:t>programmer, </a:t>
            </a:r>
            <a:r>
              <a:rPr sz="2200" spc="-50" dirty="0">
                <a:solidFill>
                  <a:srgbClr val="FFFFFF"/>
                </a:solidFill>
                <a:latin typeface="Arial"/>
                <a:cs typeface="Arial"/>
              </a:rPr>
              <a:t>one </a:t>
            </a:r>
            <a:r>
              <a:rPr sz="2200" spc="-20" dirty="0">
                <a:solidFill>
                  <a:srgbClr val="FFFFFF"/>
                </a:solidFill>
                <a:latin typeface="Arial"/>
                <a:cs typeface="Arial"/>
              </a:rPr>
              <a:t>must</a:t>
            </a:r>
            <a:r>
              <a:rPr sz="2200" spc="-430" dirty="0">
                <a:solidFill>
                  <a:srgbClr val="FFFFFF"/>
                </a:solidFill>
                <a:latin typeface="Arial"/>
                <a:cs typeface="Arial"/>
              </a:rPr>
              <a:t> </a:t>
            </a:r>
            <a:r>
              <a:rPr sz="2200" spc="-110" dirty="0">
                <a:solidFill>
                  <a:srgbClr val="FFFFFF"/>
                </a:solidFill>
                <a:latin typeface="Arial"/>
                <a:cs typeface="Arial"/>
              </a:rPr>
              <a:t>be </a:t>
            </a:r>
            <a:r>
              <a:rPr sz="2200" spc="-95" dirty="0">
                <a:solidFill>
                  <a:srgbClr val="FFFFFF"/>
                </a:solidFill>
                <a:latin typeface="Arial"/>
                <a:cs typeface="Arial"/>
              </a:rPr>
              <a:t>aware </a:t>
            </a:r>
            <a:r>
              <a:rPr sz="2200" spc="60" dirty="0">
                <a:solidFill>
                  <a:srgbClr val="FFFFFF"/>
                </a:solidFill>
                <a:latin typeface="Arial"/>
                <a:cs typeface="Arial"/>
              </a:rPr>
              <a:t>of  </a:t>
            </a:r>
            <a:r>
              <a:rPr sz="2200" spc="-25" dirty="0">
                <a:solidFill>
                  <a:srgbClr val="FFFFFF"/>
                </a:solidFill>
                <a:latin typeface="Arial"/>
                <a:cs typeface="Arial"/>
              </a:rPr>
              <a:t>various </a:t>
            </a:r>
            <a:r>
              <a:rPr sz="2200" spc="-60" dirty="0">
                <a:solidFill>
                  <a:srgbClr val="FFFFFF"/>
                </a:solidFill>
                <a:latin typeface="Arial"/>
                <a:cs typeface="Arial"/>
              </a:rPr>
              <a:t>types </a:t>
            </a:r>
            <a:r>
              <a:rPr sz="2200" spc="60" dirty="0">
                <a:solidFill>
                  <a:srgbClr val="FFFFFF"/>
                </a:solidFill>
                <a:latin typeface="Arial"/>
                <a:cs typeface="Arial"/>
              </a:rPr>
              <a:t>of </a:t>
            </a:r>
            <a:r>
              <a:rPr sz="2200" spc="-35" dirty="0">
                <a:solidFill>
                  <a:srgbClr val="FFFFFF"/>
                </a:solidFill>
                <a:latin typeface="Arial"/>
                <a:cs typeface="Arial"/>
              </a:rPr>
              <a:t>errors </a:t>
            </a:r>
            <a:r>
              <a:rPr sz="2200" spc="30" dirty="0">
                <a:solidFill>
                  <a:srgbClr val="FFFFFF"/>
                </a:solidFill>
                <a:latin typeface="Arial"/>
                <a:cs typeface="Arial"/>
              </a:rPr>
              <a:t>that </a:t>
            </a:r>
            <a:r>
              <a:rPr sz="2200" spc="-80" dirty="0">
                <a:solidFill>
                  <a:srgbClr val="FFFFFF"/>
                </a:solidFill>
                <a:latin typeface="Arial"/>
                <a:cs typeface="Arial"/>
              </a:rPr>
              <a:t>can </a:t>
            </a:r>
            <a:r>
              <a:rPr sz="2200" spc="-20" dirty="0">
                <a:solidFill>
                  <a:srgbClr val="FFFFFF"/>
                </a:solidFill>
                <a:latin typeface="Arial"/>
                <a:cs typeface="Arial"/>
              </a:rPr>
              <a:t>occur </a:t>
            </a:r>
            <a:r>
              <a:rPr sz="2200" spc="35" dirty="0">
                <a:solidFill>
                  <a:srgbClr val="FFFFFF"/>
                </a:solidFill>
                <a:latin typeface="Arial"/>
                <a:cs typeface="Arial"/>
              </a:rPr>
              <a:t>while </a:t>
            </a:r>
            <a:r>
              <a:rPr sz="2200" spc="40" dirty="0">
                <a:solidFill>
                  <a:srgbClr val="FFFFFF"/>
                </a:solidFill>
                <a:latin typeface="Arial"/>
                <a:cs typeface="Arial"/>
              </a:rPr>
              <a:t>working  </a:t>
            </a:r>
            <a:r>
              <a:rPr sz="2200" spc="100" dirty="0">
                <a:solidFill>
                  <a:srgbClr val="FFFFFF"/>
                </a:solidFill>
                <a:latin typeface="Arial"/>
                <a:cs typeface="Arial"/>
              </a:rPr>
              <a:t>with</a:t>
            </a:r>
            <a:r>
              <a:rPr sz="2200" spc="-434" dirty="0">
                <a:solidFill>
                  <a:srgbClr val="FFFFFF"/>
                </a:solidFill>
                <a:latin typeface="Arial"/>
                <a:cs typeface="Arial"/>
              </a:rPr>
              <a:t> </a:t>
            </a:r>
            <a:r>
              <a:rPr sz="2200" spc="25" dirty="0">
                <a:solidFill>
                  <a:srgbClr val="FFFFFF"/>
                </a:solidFill>
                <a:latin typeface="Arial"/>
                <a:cs typeface="Arial"/>
              </a:rPr>
              <a:t>SQL </a:t>
            </a:r>
            <a:r>
              <a:rPr sz="2200" spc="-55" dirty="0">
                <a:solidFill>
                  <a:srgbClr val="FFFFFF"/>
                </a:solidFill>
                <a:latin typeface="Arial"/>
                <a:cs typeface="Arial"/>
              </a:rPr>
              <a:t>Server </a:t>
            </a:r>
            <a:r>
              <a:rPr sz="2200" spc="-60" dirty="0">
                <a:solidFill>
                  <a:srgbClr val="FFFFFF"/>
                </a:solidFill>
                <a:latin typeface="Arial"/>
                <a:cs typeface="Arial"/>
              </a:rPr>
              <a:t>statements.</a:t>
            </a:r>
            <a:endParaRPr sz="2200">
              <a:latin typeface="Arial"/>
              <a:cs typeface="Arial"/>
            </a:endParaRPr>
          </a:p>
        </p:txBody>
      </p:sp>
      <p:sp>
        <p:nvSpPr>
          <p:cNvPr id="5" name="object 5"/>
          <p:cNvSpPr/>
          <p:nvPr/>
        </p:nvSpPr>
        <p:spPr>
          <a:xfrm>
            <a:off x="1472184" y="3819144"/>
            <a:ext cx="7287259" cy="1624965"/>
          </a:xfrm>
          <a:custGeom>
            <a:avLst/>
            <a:gdLst/>
            <a:ahLst/>
            <a:cxnLst/>
            <a:rect l="l" t="t" r="r" b="b"/>
            <a:pathLst>
              <a:path w="7287259" h="1624964">
                <a:moveTo>
                  <a:pt x="7287006" y="270764"/>
                </a:moveTo>
                <a:lnTo>
                  <a:pt x="7282637" y="222110"/>
                </a:lnTo>
                <a:lnTo>
                  <a:pt x="7270051" y="176314"/>
                </a:lnTo>
                <a:lnTo>
                  <a:pt x="7250023" y="134137"/>
                </a:lnTo>
                <a:lnTo>
                  <a:pt x="7223303" y="96342"/>
                </a:lnTo>
                <a:lnTo>
                  <a:pt x="7190664" y="63703"/>
                </a:lnTo>
                <a:lnTo>
                  <a:pt x="7152868" y="36982"/>
                </a:lnTo>
                <a:lnTo>
                  <a:pt x="7110692" y="16954"/>
                </a:lnTo>
                <a:lnTo>
                  <a:pt x="7064896" y="4368"/>
                </a:lnTo>
                <a:lnTo>
                  <a:pt x="7016242" y="0"/>
                </a:lnTo>
                <a:lnTo>
                  <a:pt x="270764" y="0"/>
                </a:lnTo>
                <a:lnTo>
                  <a:pt x="222097" y="4368"/>
                </a:lnTo>
                <a:lnTo>
                  <a:pt x="176301" y="16954"/>
                </a:lnTo>
                <a:lnTo>
                  <a:pt x="134124" y="36982"/>
                </a:lnTo>
                <a:lnTo>
                  <a:pt x="96329" y="63703"/>
                </a:lnTo>
                <a:lnTo>
                  <a:pt x="63690" y="96342"/>
                </a:lnTo>
                <a:lnTo>
                  <a:pt x="36969" y="134137"/>
                </a:lnTo>
                <a:lnTo>
                  <a:pt x="16941" y="176314"/>
                </a:lnTo>
                <a:lnTo>
                  <a:pt x="4356" y="222110"/>
                </a:lnTo>
                <a:lnTo>
                  <a:pt x="0" y="270764"/>
                </a:lnTo>
                <a:lnTo>
                  <a:pt x="0" y="1353820"/>
                </a:lnTo>
                <a:lnTo>
                  <a:pt x="4356" y="1402486"/>
                </a:lnTo>
                <a:lnTo>
                  <a:pt x="16941" y="1448282"/>
                </a:lnTo>
                <a:lnTo>
                  <a:pt x="36969" y="1490459"/>
                </a:lnTo>
                <a:lnTo>
                  <a:pt x="63690" y="1528254"/>
                </a:lnTo>
                <a:lnTo>
                  <a:pt x="96329" y="1560893"/>
                </a:lnTo>
                <a:lnTo>
                  <a:pt x="134124" y="1587614"/>
                </a:lnTo>
                <a:lnTo>
                  <a:pt x="176301" y="1607642"/>
                </a:lnTo>
                <a:lnTo>
                  <a:pt x="222097" y="1620227"/>
                </a:lnTo>
                <a:lnTo>
                  <a:pt x="270764" y="1624584"/>
                </a:lnTo>
                <a:lnTo>
                  <a:pt x="7016242" y="1624584"/>
                </a:lnTo>
                <a:lnTo>
                  <a:pt x="7064896" y="1620227"/>
                </a:lnTo>
                <a:lnTo>
                  <a:pt x="7110692" y="1607642"/>
                </a:lnTo>
                <a:lnTo>
                  <a:pt x="7152868" y="1587614"/>
                </a:lnTo>
                <a:lnTo>
                  <a:pt x="7190664" y="1560893"/>
                </a:lnTo>
                <a:lnTo>
                  <a:pt x="7223303" y="1528254"/>
                </a:lnTo>
                <a:lnTo>
                  <a:pt x="7250023" y="1490459"/>
                </a:lnTo>
                <a:lnTo>
                  <a:pt x="7270051" y="1448282"/>
                </a:lnTo>
                <a:lnTo>
                  <a:pt x="7282637" y="1402486"/>
                </a:lnTo>
                <a:lnTo>
                  <a:pt x="7287006" y="1353820"/>
                </a:lnTo>
                <a:lnTo>
                  <a:pt x="7287006" y="270764"/>
                </a:lnTo>
                <a:close/>
              </a:path>
            </a:pathLst>
          </a:custGeom>
          <a:solidFill>
            <a:srgbClr val="C0504D"/>
          </a:solidFill>
        </p:spPr>
        <p:txBody>
          <a:bodyPr wrap="square" lIns="0" tIns="0" rIns="0" bIns="0" rtlCol="0"/>
          <a:lstStyle/>
          <a:p>
            <a:endParaRPr/>
          </a:p>
        </p:txBody>
      </p:sp>
      <p:sp>
        <p:nvSpPr>
          <p:cNvPr id="6" name="object 6"/>
          <p:cNvSpPr txBox="1"/>
          <p:nvPr/>
        </p:nvSpPr>
        <p:spPr>
          <a:xfrm>
            <a:off x="1731010" y="4194555"/>
            <a:ext cx="6631305" cy="878840"/>
          </a:xfrm>
          <a:prstGeom prst="rect">
            <a:avLst/>
          </a:prstGeom>
        </p:spPr>
        <p:txBody>
          <a:bodyPr vert="horz" wrap="square" lIns="0" tIns="46990" rIns="0" bIns="0" rtlCol="0">
            <a:spAutoFit/>
          </a:bodyPr>
          <a:lstStyle/>
          <a:p>
            <a:pPr marL="355600" marR="5080" indent="-342900" algn="just">
              <a:lnSpc>
                <a:spcPts val="2160"/>
              </a:lnSpc>
              <a:spcBef>
                <a:spcPts val="370"/>
              </a:spcBef>
              <a:buFont typeface="Wingdings"/>
              <a:buChar char=""/>
              <a:tabLst>
                <a:tab pos="355600" algn="l"/>
              </a:tabLst>
            </a:pPr>
            <a:r>
              <a:rPr sz="2000" spc="20" dirty="0">
                <a:solidFill>
                  <a:srgbClr val="FFFFFF"/>
                </a:solidFill>
                <a:latin typeface="Arial"/>
                <a:cs typeface="Arial"/>
              </a:rPr>
              <a:t>The </a:t>
            </a:r>
            <a:r>
              <a:rPr sz="2000" spc="50" dirty="0">
                <a:solidFill>
                  <a:srgbClr val="FFFFFF"/>
                </a:solidFill>
                <a:latin typeface="Arial"/>
                <a:cs typeface="Arial"/>
              </a:rPr>
              <a:t>first </a:t>
            </a:r>
            <a:r>
              <a:rPr sz="2000" spc="-70" dirty="0">
                <a:solidFill>
                  <a:srgbClr val="FFFFFF"/>
                </a:solidFill>
                <a:latin typeface="Arial"/>
                <a:cs typeface="Arial"/>
              </a:rPr>
              <a:t>step </a:t>
            </a:r>
            <a:r>
              <a:rPr sz="2000" spc="-45" dirty="0">
                <a:solidFill>
                  <a:srgbClr val="FFFFFF"/>
                </a:solidFill>
                <a:latin typeface="Arial"/>
                <a:cs typeface="Arial"/>
              </a:rPr>
              <a:t>one </a:t>
            </a:r>
            <a:r>
              <a:rPr sz="2000" spc="-75" dirty="0">
                <a:solidFill>
                  <a:srgbClr val="FFFFFF"/>
                </a:solidFill>
                <a:latin typeface="Arial"/>
                <a:cs typeface="Arial"/>
              </a:rPr>
              <a:t>can </a:t>
            </a:r>
            <a:r>
              <a:rPr sz="2000" spc="10" dirty="0">
                <a:solidFill>
                  <a:srgbClr val="FFFFFF"/>
                </a:solidFill>
                <a:latin typeface="Arial"/>
                <a:cs typeface="Arial"/>
              </a:rPr>
              <a:t>perform </a:t>
            </a:r>
            <a:r>
              <a:rPr sz="2000" spc="-50" dirty="0">
                <a:solidFill>
                  <a:srgbClr val="FFFFFF"/>
                </a:solidFill>
                <a:latin typeface="Arial"/>
                <a:cs typeface="Arial"/>
              </a:rPr>
              <a:t>is </a:t>
            </a:r>
            <a:r>
              <a:rPr sz="2000" spc="50" dirty="0">
                <a:solidFill>
                  <a:srgbClr val="FFFFFF"/>
                </a:solidFill>
                <a:latin typeface="Arial"/>
                <a:cs typeface="Arial"/>
              </a:rPr>
              <a:t>to identify </a:t>
            </a:r>
            <a:r>
              <a:rPr sz="2000" dirty="0">
                <a:solidFill>
                  <a:srgbClr val="FFFFFF"/>
                </a:solidFill>
                <a:latin typeface="Arial"/>
                <a:cs typeface="Arial"/>
              </a:rPr>
              <a:t>the </a:t>
            </a:r>
            <a:r>
              <a:rPr sz="2000" spc="-15" dirty="0">
                <a:solidFill>
                  <a:srgbClr val="FFFFFF"/>
                </a:solidFill>
                <a:latin typeface="Arial"/>
                <a:cs typeface="Arial"/>
              </a:rPr>
              <a:t>type </a:t>
            </a:r>
            <a:r>
              <a:rPr sz="2000" spc="50" dirty="0">
                <a:solidFill>
                  <a:srgbClr val="FFFFFF"/>
                </a:solidFill>
                <a:latin typeface="Arial"/>
                <a:cs typeface="Arial"/>
              </a:rPr>
              <a:t>of  </a:t>
            </a:r>
            <a:r>
              <a:rPr sz="2000" dirty="0">
                <a:solidFill>
                  <a:srgbClr val="FFFFFF"/>
                </a:solidFill>
                <a:latin typeface="Arial"/>
                <a:cs typeface="Arial"/>
              </a:rPr>
              <a:t>the</a:t>
            </a:r>
            <a:r>
              <a:rPr sz="2000" spc="-110" dirty="0">
                <a:solidFill>
                  <a:srgbClr val="FFFFFF"/>
                </a:solidFill>
                <a:latin typeface="Arial"/>
                <a:cs typeface="Arial"/>
              </a:rPr>
              <a:t> </a:t>
            </a:r>
            <a:r>
              <a:rPr sz="2000" spc="10" dirty="0">
                <a:solidFill>
                  <a:srgbClr val="FFFFFF"/>
                </a:solidFill>
                <a:latin typeface="Arial"/>
                <a:cs typeface="Arial"/>
              </a:rPr>
              <a:t>error</a:t>
            </a:r>
            <a:r>
              <a:rPr sz="2000" spc="-110" dirty="0">
                <a:solidFill>
                  <a:srgbClr val="FFFFFF"/>
                </a:solidFill>
                <a:latin typeface="Arial"/>
                <a:cs typeface="Arial"/>
              </a:rPr>
              <a:t> </a:t>
            </a:r>
            <a:r>
              <a:rPr sz="2000" spc="-35" dirty="0">
                <a:solidFill>
                  <a:srgbClr val="FFFFFF"/>
                </a:solidFill>
                <a:latin typeface="Arial"/>
                <a:cs typeface="Arial"/>
              </a:rPr>
              <a:t>and</a:t>
            </a:r>
            <a:r>
              <a:rPr sz="2000" spc="-110" dirty="0">
                <a:solidFill>
                  <a:srgbClr val="FFFFFF"/>
                </a:solidFill>
                <a:latin typeface="Arial"/>
                <a:cs typeface="Arial"/>
              </a:rPr>
              <a:t> </a:t>
            </a:r>
            <a:r>
              <a:rPr sz="2000" spc="5" dirty="0">
                <a:solidFill>
                  <a:srgbClr val="FFFFFF"/>
                </a:solidFill>
                <a:latin typeface="Arial"/>
                <a:cs typeface="Arial"/>
              </a:rPr>
              <a:t>then,</a:t>
            </a:r>
            <a:r>
              <a:rPr sz="2000" spc="-114" dirty="0">
                <a:solidFill>
                  <a:srgbClr val="FFFFFF"/>
                </a:solidFill>
                <a:latin typeface="Arial"/>
                <a:cs typeface="Arial"/>
              </a:rPr>
              <a:t> </a:t>
            </a:r>
            <a:r>
              <a:rPr sz="2000" spc="-15" dirty="0">
                <a:solidFill>
                  <a:srgbClr val="FFFFFF"/>
                </a:solidFill>
                <a:latin typeface="Arial"/>
                <a:cs typeface="Arial"/>
              </a:rPr>
              <a:t>determine</a:t>
            </a:r>
            <a:r>
              <a:rPr sz="2000" spc="-105" dirty="0">
                <a:solidFill>
                  <a:srgbClr val="FFFFFF"/>
                </a:solidFill>
                <a:latin typeface="Arial"/>
                <a:cs typeface="Arial"/>
              </a:rPr>
              <a:t> </a:t>
            </a:r>
            <a:r>
              <a:rPr sz="2000" spc="30" dirty="0">
                <a:solidFill>
                  <a:srgbClr val="FFFFFF"/>
                </a:solidFill>
                <a:latin typeface="Arial"/>
                <a:cs typeface="Arial"/>
              </a:rPr>
              <a:t>how</a:t>
            </a:r>
            <a:r>
              <a:rPr sz="2000" spc="-110" dirty="0">
                <a:solidFill>
                  <a:srgbClr val="FFFFFF"/>
                </a:solidFill>
                <a:latin typeface="Arial"/>
                <a:cs typeface="Arial"/>
              </a:rPr>
              <a:t> </a:t>
            </a:r>
            <a:r>
              <a:rPr sz="2000" spc="55" dirty="0">
                <a:solidFill>
                  <a:srgbClr val="FFFFFF"/>
                </a:solidFill>
                <a:latin typeface="Arial"/>
                <a:cs typeface="Arial"/>
              </a:rPr>
              <a:t>to</a:t>
            </a:r>
            <a:r>
              <a:rPr sz="2000" spc="-114" dirty="0">
                <a:solidFill>
                  <a:srgbClr val="FFFFFF"/>
                </a:solidFill>
                <a:latin typeface="Arial"/>
                <a:cs typeface="Arial"/>
              </a:rPr>
              <a:t> </a:t>
            </a:r>
            <a:r>
              <a:rPr sz="2000" spc="-20" dirty="0">
                <a:solidFill>
                  <a:srgbClr val="FFFFFF"/>
                </a:solidFill>
                <a:latin typeface="Arial"/>
                <a:cs typeface="Arial"/>
              </a:rPr>
              <a:t>handle</a:t>
            </a:r>
            <a:r>
              <a:rPr sz="2000" spc="-100" dirty="0">
                <a:solidFill>
                  <a:srgbClr val="FFFFFF"/>
                </a:solidFill>
                <a:latin typeface="Arial"/>
                <a:cs typeface="Arial"/>
              </a:rPr>
              <a:t> </a:t>
            </a:r>
            <a:r>
              <a:rPr sz="2000" spc="25" dirty="0">
                <a:solidFill>
                  <a:srgbClr val="FFFFFF"/>
                </a:solidFill>
                <a:latin typeface="Arial"/>
                <a:cs typeface="Arial"/>
              </a:rPr>
              <a:t>or</a:t>
            </a:r>
            <a:r>
              <a:rPr sz="2000" spc="-105" dirty="0">
                <a:solidFill>
                  <a:srgbClr val="FFFFFF"/>
                </a:solidFill>
                <a:latin typeface="Arial"/>
                <a:cs typeface="Arial"/>
              </a:rPr>
              <a:t> </a:t>
            </a:r>
            <a:r>
              <a:rPr sz="2000" spc="-50" dirty="0">
                <a:solidFill>
                  <a:srgbClr val="FFFFFF"/>
                </a:solidFill>
                <a:latin typeface="Arial"/>
                <a:cs typeface="Arial"/>
              </a:rPr>
              <a:t>overcome  </a:t>
            </a:r>
            <a:r>
              <a:rPr sz="2000" spc="65" dirty="0">
                <a:solidFill>
                  <a:srgbClr val="FFFFFF"/>
                </a:solidFill>
                <a:latin typeface="Arial"/>
                <a:cs typeface="Arial"/>
              </a:rPr>
              <a:t>it.</a:t>
            </a:r>
            <a:endParaRPr sz="20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4</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2777" y="0"/>
            <a:ext cx="4011929" cy="635635"/>
          </a:xfrm>
          <a:prstGeom prst="rect">
            <a:avLst/>
          </a:prstGeom>
        </p:spPr>
        <p:txBody>
          <a:bodyPr vert="horz" wrap="square" lIns="0" tIns="12700" rIns="0" bIns="0" rtlCol="0">
            <a:spAutoFit/>
          </a:bodyPr>
          <a:lstStyle/>
          <a:p>
            <a:pPr marL="12700">
              <a:lnSpc>
                <a:spcPct val="100000"/>
              </a:lnSpc>
              <a:spcBef>
                <a:spcPts val="100"/>
              </a:spcBef>
            </a:pPr>
            <a:r>
              <a:rPr sz="4000" spc="-90" dirty="0"/>
              <a:t>Types </a:t>
            </a:r>
            <a:r>
              <a:rPr sz="4000" spc="114" dirty="0"/>
              <a:t>of</a:t>
            </a:r>
            <a:r>
              <a:rPr sz="4000" spc="-755" dirty="0"/>
              <a:t> </a:t>
            </a:r>
            <a:r>
              <a:rPr sz="4000" spc="-35" dirty="0"/>
              <a:t>Errors </a:t>
            </a:r>
            <a:r>
              <a:rPr sz="3600" spc="-355" dirty="0"/>
              <a:t>2-5</a:t>
            </a:r>
            <a:endParaRPr sz="3600"/>
          </a:p>
        </p:txBody>
      </p:sp>
      <p:sp>
        <p:nvSpPr>
          <p:cNvPr id="3" name="object 3"/>
          <p:cNvSpPr/>
          <p:nvPr/>
        </p:nvSpPr>
        <p:spPr>
          <a:xfrm>
            <a:off x="311658" y="2180843"/>
            <a:ext cx="8719820" cy="1468120"/>
          </a:xfrm>
          <a:custGeom>
            <a:avLst/>
            <a:gdLst/>
            <a:ahLst/>
            <a:cxnLst/>
            <a:rect l="l" t="t" r="r" b="b"/>
            <a:pathLst>
              <a:path w="8719820" h="1468120">
                <a:moveTo>
                  <a:pt x="8719566" y="244602"/>
                </a:moveTo>
                <a:lnTo>
                  <a:pt x="8714588" y="195300"/>
                </a:lnTo>
                <a:lnTo>
                  <a:pt x="8700338" y="149377"/>
                </a:lnTo>
                <a:lnTo>
                  <a:pt x="8677796" y="107835"/>
                </a:lnTo>
                <a:lnTo>
                  <a:pt x="8647938" y="71628"/>
                </a:lnTo>
                <a:lnTo>
                  <a:pt x="8611730" y="41770"/>
                </a:lnTo>
                <a:lnTo>
                  <a:pt x="8570189" y="19227"/>
                </a:lnTo>
                <a:lnTo>
                  <a:pt x="8524265" y="4978"/>
                </a:lnTo>
                <a:lnTo>
                  <a:pt x="8474964" y="0"/>
                </a:lnTo>
                <a:lnTo>
                  <a:pt x="244602" y="0"/>
                </a:lnTo>
                <a:lnTo>
                  <a:pt x="195300" y="4978"/>
                </a:lnTo>
                <a:lnTo>
                  <a:pt x="149390" y="19227"/>
                </a:lnTo>
                <a:lnTo>
                  <a:pt x="107835" y="41770"/>
                </a:lnTo>
                <a:lnTo>
                  <a:pt x="71640" y="71628"/>
                </a:lnTo>
                <a:lnTo>
                  <a:pt x="41770" y="107835"/>
                </a:lnTo>
                <a:lnTo>
                  <a:pt x="19215" y="149377"/>
                </a:lnTo>
                <a:lnTo>
                  <a:pt x="4965" y="195300"/>
                </a:lnTo>
                <a:lnTo>
                  <a:pt x="0" y="244602"/>
                </a:lnTo>
                <a:lnTo>
                  <a:pt x="0" y="1223010"/>
                </a:lnTo>
                <a:lnTo>
                  <a:pt x="4965" y="1272324"/>
                </a:lnTo>
                <a:lnTo>
                  <a:pt x="19215" y="1318247"/>
                </a:lnTo>
                <a:lnTo>
                  <a:pt x="41770" y="1359789"/>
                </a:lnTo>
                <a:lnTo>
                  <a:pt x="71640" y="1395984"/>
                </a:lnTo>
                <a:lnTo>
                  <a:pt x="107835" y="1425854"/>
                </a:lnTo>
                <a:lnTo>
                  <a:pt x="149390" y="1448396"/>
                </a:lnTo>
                <a:lnTo>
                  <a:pt x="195300" y="1462646"/>
                </a:lnTo>
                <a:lnTo>
                  <a:pt x="244602" y="1467612"/>
                </a:lnTo>
                <a:lnTo>
                  <a:pt x="8474964" y="1467612"/>
                </a:lnTo>
                <a:lnTo>
                  <a:pt x="8524265" y="1462646"/>
                </a:lnTo>
                <a:lnTo>
                  <a:pt x="8570189" y="1448396"/>
                </a:lnTo>
                <a:lnTo>
                  <a:pt x="8611730" y="1425854"/>
                </a:lnTo>
                <a:lnTo>
                  <a:pt x="8647925" y="1395984"/>
                </a:lnTo>
                <a:lnTo>
                  <a:pt x="8677796" y="1359789"/>
                </a:lnTo>
                <a:lnTo>
                  <a:pt x="8700338" y="1318247"/>
                </a:lnTo>
                <a:lnTo>
                  <a:pt x="8714588" y="1272324"/>
                </a:lnTo>
                <a:lnTo>
                  <a:pt x="8719566" y="1223010"/>
                </a:lnTo>
                <a:lnTo>
                  <a:pt x="8719566" y="244602"/>
                </a:lnTo>
                <a:close/>
              </a:path>
            </a:pathLst>
          </a:custGeom>
          <a:solidFill>
            <a:srgbClr val="8063A1"/>
          </a:solidFill>
        </p:spPr>
        <p:txBody>
          <a:bodyPr wrap="square" lIns="0" tIns="0" rIns="0" bIns="0" rtlCol="0"/>
          <a:lstStyle/>
          <a:p>
            <a:endParaRPr/>
          </a:p>
        </p:txBody>
      </p:sp>
      <p:sp>
        <p:nvSpPr>
          <p:cNvPr id="4" name="object 4"/>
          <p:cNvSpPr txBox="1"/>
          <p:nvPr/>
        </p:nvSpPr>
        <p:spPr>
          <a:xfrm>
            <a:off x="588518" y="2294636"/>
            <a:ext cx="7962900" cy="1153160"/>
          </a:xfrm>
          <a:prstGeom prst="rect">
            <a:avLst/>
          </a:prstGeom>
        </p:spPr>
        <p:txBody>
          <a:bodyPr vert="horz" wrap="square" lIns="0" tIns="42545" rIns="0" bIns="0" rtlCol="0">
            <a:spAutoFit/>
          </a:bodyPr>
          <a:lstStyle/>
          <a:p>
            <a:pPr marL="355600" marR="5080" indent="-342900" algn="just">
              <a:lnSpc>
                <a:spcPct val="90000"/>
              </a:lnSpc>
              <a:spcBef>
                <a:spcPts val="335"/>
              </a:spcBef>
              <a:buFont typeface="Wingdings"/>
              <a:buChar char=""/>
              <a:tabLst>
                <a:tab pos="355600" algn="l"/>
              </a:tabLst>
            </a:pPr>
            <a:r>
              <a:rPr sz="2000" spc="-10" dirty="0">
                <a:solidFill>
                  <a:srgbClr val="FFFFFF"/>
                </a:solidFill>
                <a:latin typeface="Arial"/>
                <a:cs typeface="Arial"/>
              </a:rPr>
              <a:t>Syntax</a:t>
            </a:r>
            <a:r>
              <a:rPr sz="2000" spc="-105" dirty="0">
                <a:solidFill>
                  <a:srgbClr val="FFFFFF"/>
                </a:solidFill>
                <a:latin typeface="Arial"/>
                <a:cs typeface="Arial"/>
              </a:rPr>
              <a:t> </a:t>
            </a:r>
            <a:r>
              <a:rPr sz="2000" spc="-30" dirty="0">
                <a:solidFill>
                  <a:srgbClr val="FFFFFF"/>
                </a:solidFill>
                <a:latin typeface="Arial"/>
                <a:cs typeface="Arial"/>
              </a:rPr>
              <a:t>errors</a:t>
            </a:r>
            <a:r>
              <a:rPr sz="2000" spc="-110" dirty="0">
                <a:solidFill>
                  <a:srgbClr val="FFFFFF"/>
                </a:solidFill>
                <a:latin typeface="Arial"/>
                <a:cs typeface="Arial"/>
              </a:rPr>
              <a:t> </a:t>
            </a:r>
            <a:r>
              <a:rPr sz="2000" spc="-100" dirty="0">
                <a:solidFill>
                  <a:srgbClr val="FFFFFF"/>
                </a:solidFill>
                <a:latin typeface="Arial"/>
                <a:cs typeface="Arial"/>
              </a:rPr>
              <a:t>are</a:t>
            </a:r>
            <a:r>
              <a:rPr sz="2000" spc="-105" dirty="0">
                <a:solidFill>
                  <a:srgbClr val="FFFFFF"/>
                </a:solidFill>
                <a:latin typeface="Arial"/>
                <a:cs typeface="Arial"/>
              </a:rPr>
              <a:t> </a:t>
            </a:r>
            <a:r>
              <a:rPr sz="2000" dirty="0">
                <a:solidFill>
                  <a:srgbClr val="FFFFFF"/>
                </a:solidFill>
                <a:latin typeface="Arial"/>
                <a:cs typeface="Arial"/>
              </a:rPr>
              <a:t>the</a:t>
            </a:r>
            <a:r>
              <a:rPr sz="2000" spc="-110" dirty="0">
                <a:solidFill>
                  <a:srgbClr val="FFFFFF"/>
                </a:solidFill>
                <a:latin typeface="Arial"/>
                <a:cs typeface="Arial"/>
              </a:rPr>
              <a:t> </a:t>
            </a:r>
            <a:r>
              <a:rPr sz="2000" spc="-30" dirty="0">
                <a:solidFill>
                  <a:srgbClr val="FFFFFF"/>
                </a:solidFill>
                <a:latin typeface="Arial"/>
                <a:cs typeface="Arial"/>
              </a:rPr>
              <a:t>errors</a:t>
            </a:r>
            <a:r>
              <a:rPr sz="2000" spc="-105" dirty="0">
                <a:solidFill>
                  <a:srgbClr val="FFFFFF"/>
                </a:solidFill>
                <a:latin typeface="Arial"/>
                <a:cs typeface="Arial"/>
              </a:rPr>
              <a:t> </a:t>
            </a:r>
            <a:r>
              <a:rPr sz="2000" spc="30" dirty="0">
                <a:solidFill>
                  <a:srgbClr val="FFFFFF"/>
                </a:solidFill>
                <a:latin typeface="Arial"/>
                <a:cs typeface="Arial"/>
              </a:rPr>
              <a:t>that</a:t>
            </a:r>
            <a:r>
              <a:rPr sz="2000" spc="-110" dirty="0">
                <a:solidFill>
                  <a:srgbClr val="FFFFFF"/>
                </a:solidFill>
                <a:latin typeface="Arial"/>
                <a:cs typeface="Arial"/>
              </a:rPr>
              <a:t> </a:t>
            </a:r>
            <a:r>
              <a:rPr sz="2000" spc="-20" dirty="0">
                <a:solidFill>
                  <a:srgbClr val="FFFFFF"/>
                </a:solidFill>
                <a:latin typeface="Arial"/>
                <a:cs typeface="Arial"/>
              </a:rPr>
              <a:t>occur</a:t>
            </a:r>
            <a:r>
              <a:rPr sz="2000" spc="-125" dirty="0">
                <a:solidFill>
                  <a:srgbClr val="FFFFFF"/>
                </a:solidFill>
                <a:latin typeface="Arial"/>
                <a:cs typeface="Arial"/>
              </a:rPr>
              <a:t> </a:t>
            </a:r>
            <a:r>
              <a:rPr sz="2000" dirty="0">
                <a:solidFill>
                  <a:srgbClr val="FFFFFF"/>
                </a:solidFill>
                <a:latin typeface="Arial"/>
                <a:cs typeface="Arial"/>
              </a:rPr>
              <a:t>when</a:t>
            </a:r>
            <a:r>
              <a:rPr sz="2000" spc="-110" dirty="0">
                <a:solidFill>
                  <a:srgbClr val="FFFFFF"/>
                </a:solidFill>
                <a:latin typeface="Arial"/>
                <a:cs typeface="Arial"/>
              </a:rPr>
              <a:t> </a:t>
            </a:r>
            <a:r>
              <a:rPr sz="2000" spc="-70" dirty="0">
                <a:solidFill>
                  <a:srgbClr val="FFFFFF"/>
                </a:solidFill>
                <a:latin typeface="Arial"/>
                <a:cs typeface="Arial"/>
              </a:rPr>
              <a:t>code</a:t>
            </a:r>
            <a:r>
              <a:rPr sz="2000" spc="-120" dirty="0">
                <a:solidFill>
                  <a:srgbClr val="FFFFFF"/>
                </a:solidFill>
                <a:latin typeface="Arial"/>
                <a:cs typeface="Arial"/>
              </a:rPr>
              <a:t> </a:t>
            </a:r>
            <a:r>
              <a:rPr sz="2000" spc="-5" dirty="0">
                <a:solidFill>
                  <a:srgbClr val="FFFFFF"/>
                </a:solidFill>
                <a:latin typeface="Arial"/>
                <a:cs typeface="Arial"/>
              </a:rPr>
              <a:t>cannot</a:t>
            </a:r>
            <a:r>
              <a:rPr sz="2000" spc="-100" dirty="0">
                <a:solidFill>
                  <a:srgbClr val="FFFFFF"/>
                </a:solidFill>
                <a:latin typeface="Arial"/>
                <a:cs typeface="Arial"/>
              </a:rPr>
              <a:t> be</a:t>
            </a:r>
            <a:r>
              <a:rPr sz="2000" spc="-120" dirty="0">
                <a:solidFill>
                  <a:srgbClr val="FFFFFF"/>
                </a:solidFill>
                <a:latin typeface="Arial"/>
                <a:cs typeface="Arial"/>
              </a:rPr>
              <a:t> </a:t>
            </a:r>
            <a:r>
              <a:rPr sz="2000" spc="-85" dirty="0">
                <a:solidFill>
                  <a:srgbClr val="FFFFFF"/>
                </a:solidFill>
                <a:latin typeface="Arial"/>
                <a:cs typeface="Arial"/>
              </a:rPr>
              <a:t>parsed</a:t>
            </a:r>
            <a:r>
              <a:rPr sz="2000" spc="-120" dirty="0">
                <a:solidFill>
                  <a:srgbClr val="FFFFFF"/>
                </a:solidFill>
                <a:latin typeface="Arial"/>
                <a:cs typeface="Arial"/>
              </a:rPr>
              <a:t> </a:t>
            </a:r>
            <a:r>
              <a:rPr sz="2000" spc="-5" dirty="0">
                <a:solidFill>
                  <a:srgbClr val="FFFFFF"/>
                </a:solidFill>
                <a:latin typeface="Arial"/>
                <a:cs typeface="Arial"/>
              </a:rPr>
              <a:t>by  </a:t>
            </a:r>
            <a:r>
              <a:rPr sz="2000" spc="20" dirty="0">
                <a:solidFill>
                  <a:srgbClr val="FFFFFF"/>
                </a:solidFill>
                <a:latin typeface="Arial"/>
                <a:cs typeface="Arial"/>
              </a:rPr>
              <a:t>SQL </a:t>
            </a:r>
            <a:r>
              <a:rPr sz="2000" spc="-50" dirty="0">
                <a:solidFill>
                  <a:srgbClr val="FFFFFF"/>
                </a:solidFill>
                <a:latin typeface="Arial"/>
                <a:cs typeface="Arial"/>
              </a:rPr>
              <a:t>Server. </a:t>
            </a:r>
            <a:r>
              <a:rPr sz="2000" spc="-40" dirty="0">
                <a:solidFill>
                  <a:srgbClr val="FFFFFF"/>
                </a:solidFill>
                <a:latin typeface="Arial"/>
                <a:cs typeface="Arial"/>
              </a:rPr>
              <a:t>Such </a:t>
            </a:r>
            <a:r>
              <a:rPr sz="2000" spc="-30" dirty="0">
                <a:solidFill>
                  <a:srgbClr val="FFFFFF"/>
                </a:solidFill>
                <a:latin typeface="Arial"/>
                <a:cs typeface="Arial"/>
              </a:rPr>
              <a:t>errors </a:t>
            </a:r>
            <a:r>
              <a:rPr sz="2000" spc="-100" dirty="0">
                <a:solidFill>
                  <a:srgbClr val="FFFFFF"/>
                </a:solidFill>
                <a:latin typeface="Arial"/>
                <a:cs typeface="Arial"/>
              </a:rPr>
              <a:t>are </a:t>
            </a:r>
            <a:r>
              <a:rPr sz="2000" spc="-45" dirty="0">
                <a:solidFill>
                  <a:srgbClr val="FFFFFF"/>
                </a:solidFill>
                <a:latin typeface="Arial"/>
                <a:cs typeface="Arial"/>
              </a:rPr>
              <a:t>detected </a:t>
            </a:r>
            <a:r>
              <a:rPr sz="2000" spc="-10" dirty="0">
                <a:solidFill>
                  <a:srgbClr val="FFFFFF"/>
                </a:solidFill>
                <a:latin typeface="Arial"/>
                <a:cs typeface="Arial"/>
              </a:rPr>
              <a:t>by </a:t>
            </a:r>
            <a:r>
              <a:rPr sz="2000" spc="20" dirty="0">
                <a:solidFill>
                  <a:srgbClr val="FFFFFF"/>
                </a:solidFill>
                <a:latin typeface="Arial"/>
                <a:cs typeface="Arial"/>
              </a:rPr>
              <a:t>SQL </a:t>
            </a:r>
            <a:r>
              <a:rPr sz="2000" spc="-50" dirty="0">
                <a:solidFill>
                  <a:srgbClr val="FFFFFF"/>
                </a:solidFill>
                <a:latin typeface="Arial"/>
                <a:cs typeface="Arial"/>
              </a:rPr>
              <a:t>Server </a:t>
            </a:r>
            <a:r>
              <a:rPr sz="2000" spc="-30" dirty="0">
                <a:solidFill>
                  <a:srgbClr val="FFFFFF"/>
                </a:solidFill>
                <a:latin typeface="Arial"/>
                <a:cs typeface="Arial"/>
              </a:rPr>
              <a:t>before  </a:t>
            </a:r>
            <a:r>
              <a:rPr sz="2000" spc="-5" dirty="0">
                <a:solidFill>
                  <a:srgbClr val="FFFFFF"/>
                </a:solidFill>
                <a:latin typeface="Arial"/>
                <a:cs typeface="Arial"/>
              </a:rPr>
              <a:t>beginning </a:t>
            </a:r>
            <a:r>
              <a:rPr sz="2000" dirty="0">
                <a:solidFill>
                  <a:srgbClr val="FFFFFF"/>
                </a:solidFill>
                <a:latin typeface="Arial"/>
                <a:cs typeface="Arial"/>
              </a:rPr>
              <a:t>the </a:t>
            </a:r>
            <a:r>
              <a:rPr sz="2000" spc="-5" dirty="0">
                <a:solidFill>
                  <a:srgbClr val="FFFFFF"/>
                </a:solidFill>
                <a:latin typeface="Arial"/>
                <a:cs typeface="Arial"/>
              </a:rPr>
              <a:t>execution </a:t>
            </a:r>
            <a:r>
              <a:rPr sz="2000" spc="-95" dirty="0">
                <a:solidFill>
                  <a:srgbClr val="FFFFFF"/>
                </a:solidFill>
                <a:latin typeface="Arial"/>
                <a:cs typeface="Arial"/>
              </a:rPr>
              <a:t>process </a:t>
            </a:r>
            <a:r>
              <a:rPr sz="2000" spc="50" dirty="0">
                <a:solidFill>
                  <a:srgbClr val="FFFFFF"/>
                </a:solidFill>
                <a:latin typeface="Arial"/>
                <a:cs typeface="Arial"/>
              </a:rPr>
              <a:t>of </a:t>
            </a:r>
            <a:r>
              <a:rPr sz="2000" spc="-195" dirty="0">
                <a:solidFill>
                  <a:srgbClr val="FFFFFF"/>
                </a:solidFill>
                <a:latin typeface="Arial"/>
                <a:cs typeface="Arial"/>
              </a:rPr>
              <a:t>a </a:t>
            </a:r>
            <a:r>
              <a:rPr sz="2000" spc="-15" dirty="0">
                <a:solidFill>
                  <a:srgbClr val="FFFFFF"/>
                </a:solidFill>
                <a:latin typeface="Arial"/>
                <a:cs typeface="Arial"/>
              </a:rPr>
              <a:t>Transact-SQL </a:t>
            </a:r>
            <a:r>
              <a:rPr sz="2000" spc="15" dirty="0">
                <a:solidFill>
                  <a:srgbClr val="FFFFFF"/>
                </a:solidFill>
                <a:latin typeface="Arial"/>
                <a:cs typeface="Arial"/>
              </a:rPr>
              <a:t>block </a:t>
            </a:r>
            <a:r>
              <a:rPr sz="2000" spc="25" dirty="0">
                <a:solidFill>
                  <a:srgbClr val="FFFFFF"/>
                </a:solidFill>
                <a:latin typeface="Arial"/>
                <a:cs typeface="Arial"/>
              </a:rPr>
              <a:t>or </a:t>
            </a:r>
            <a:r>
              <a:rPr sz="2000" spc="-35" dirty="0">
                <a:solidFill>
                  <a:srgbClr val="FFFFFF"/>
                </a:solidFill>
                <a:latin typeface="Arial"/>
                <a:cs typeface="Arial"/>
              </a:rPr>
              <a:t>stored  procedure.</a:t>
            </a:r>
            <a:endParaRPr sz="2000">
              <a:latin typeface="Arial"/>
              <a:cs typeface="Arial"/>
            </a:endParaRPr>
          </a:p>
        </p:txBody>
      </p:sp>
      <p:sp>
        <p:nvSpPr>
          <p:cNvPr id="5" name="object 5"/>
          <p:cNvSpPr txBox="1"/>
          <p:nvPr/>
        </p:nvSpPr>
        <p:spPr>
          <a:xfrm>
            <a:off x="439673" y="860044"/>
            <a:ext cx="4579620" cy="1028065"/>
          </a:xfrm>
          <a:prstGeom prst="rect">
            <a:avLst/>
          </a:prstGeom>
        </p:spPr>
        <p:txBody>
          <a:bodyPr vert="horz" wrap="square" lIns="0" tIns="12700" rIns="0" bIns="0" rtlCol="0">
            <a:spAutoFit/>
          </a:bodyPr>
          <a:lstStyle/>
          <a:p>
            <a:pPr marL="12700">
              <a:lnSpc>
                <a:spcPct val="100000"/>
              </a:lnSpc>
              <a:spcBef>
                <a:spcPts val="100"/>
              </a:spcBef>
            </a:pPr>
            <a:r>
              <a:rPr sz="2400" spc="-110" dirty="0">
                <a:latin typeface="Arial"/>
                <a:cs typeface="Arial"/>
              </a:rPr>
              <a:t>Some </a:t>
            </a:r>
            <a:r>
              <a:rPr sz="2400" spc="-70" dirty="0">
                <a:latin typeface="Arial"/>
                <a:cs typeface="Arial"/>
              </a:rPr>
              <a:t>types </a:t>
            </a:r>
            <a:r>
              <a:rPr sz="2400" spc="65" dirty="0">
                <a:latin typeface="Arial"/>
                <a:cs typeface="Arial"/>
              </a:rPr>
              <a:t>of </a:t>
            </a:r>
            <a:r>
              <a:rPr sz="2400" spc="-35" dirty="0">
                <a:latin typeface="Arial"/>
                <a:cs typeface="Arial"/>
              </a:rPr>
              <a:t>errors</a:t>
            </a:r>
            <a:r>
              <a:rPr sz="2400" spc="-500" dirty="0">
                <a:latin typeface="Arial"/>
                <a:cs typeface="Arial"/>
              </a:rPr>
              <a:t> </a:t>
            </a:r>
            <a:r>
              <a:rPr sz="2400" spc="-114" dirty="0">
                <a:latin typeface="Arial"/>
                <a:cs typeface="Arial"/>
              </a:rPr>
              <a:t>are </a:t>
            </a:r>
            <a:r>
              <a:rPr sz="2400" spc="-245" dirty="0">
                <a:latin typeface="Arial"/>
                <a:cs typeface="Arial"/>
              </a:rPr>
              <a:t>as </a:t>
            </a:r>
            <a:r>
              <a:rPr sz="2400" spc="15" dirty="0">
                <a:latin typeface="Arial"/>
                <a:cs typeface="Arial"/>
              </a:rPr>
              <a:t>follows:</a:t>
            </a:r>
            <a:endParaRPr sz="2400">
              <a:latin typeface="Arial"/>
              <a:cs typeface="Arial"/>
            </a:endParaRPr>
          </a:p>
          <a:p>
            <a:pPr marL="203835">
              <a:lnSpc>
                <a:spcPct val="100000"/>
              </a:lnSpc>
              <a:spcBef>
                <a:spcPts val="2370"/>
              </a:spcBef>
            </a:pPr>
            <a:r>
              <a:rPr sz="2200" b="1" spc="-105" dirty="0">
                <a:latin typeface="Arial"/>
                <a:cs typeface="Arial"/>
              </a:rPr>
              <a:t>Syntax</a:t>
            </a:r>
            <a:r>
              <a:rPr sz="2200" b="1" spc="-190" dirty="0">
                <a:latin typeface="Arial"/>
                <a:cs typeface="Arial"/>
              </a:rPr>
              <a:t> </a:t>
            </a:r>
            <a:r>
              <a:rPr sz="2200" b="1" spc="-135" dirty="0">
                <a:latin typeface="Arial"/>
                <a:cs typeface="Arial"/>
              </a:rPr>
              <a:t>Errors</a:t>
            </a:r>
            <a:endParaRPr sz="2200">
              <a:latin typeface="Arial"/>
              <a:cs typeface="Arial"/>
            </a:endParaRPr>
          </a:p>
        </p:txBody>
      </p:sp>
      <p:pic>
        <p:nvPicPr>
          <p:cNvPr id="6" name="object 6"/>
          <p:cNvPicPr/>
          <p:nvPr/>
        </p:nvPicPr>
        <p:blipFill>
          <a:blip r:embed="rId3" cstate="print"/>
          <a:stretch>
            <a:fillRect/>
          </a:stretch>
        </p:blipFill>
        <p:spPr>
          <a:xfrm>
            <a:off x="2236470" y="3833621"/>
            <a:ext cx="4530089" cy="1849374"/>
          </a:xfrm>
          <a:prstGeom prst="rect">
            <a:avLst/>
          </a:prstGeom>
        </p:spPr>
      </p:pic>
      <p:sp>
        <p:nvSpPr>
          <p:cNvPr id="7" name="object 7"/>
          <p:cNvSpPr txBox="1"/>
          <p:nvPr/>
        </p:nvSpPr>
        <p:spPr>
          <a:xfrm>
            <a:off x="3965702" y="5643117"/>
            <a:ext cx="996315" cy="238760"/>
          </a:xfrm>
          <a:prstGeom prst="rect">
            <a:avLst/>
          </a:prstGeom>
        </p:spPr>
        <p:txBody>
          <a:bodyPr vert="horz" wrap="square" lIns="0" tIns="12065" rIns="0" bIns="0" rtlCol="0">
            <a:spAutoFit/>
          </a:bodyPr>
          <a:lstStyle/>
          <a:p>
            <a:pPr marL="12700">
              <a:lnSpc>
                <a:spcPct val="100000"/>
              </a:lnSpc>
              <a:spcBef>
                <a:spcPts val="95"/>
              </a:spcBef>
            </a:pPr>
            <a:r>
              <a:rPr sz="1400" b="1" spc="-70" dirty="0">
                <a:latin typeface="Arial"/>
                <a:cs typeface="Arial"/>
              </a:rPr>
              <a:t>Syntax</a:t>
            </a:r>
            <a:r>
              <a:rPr sz="1400" b="1" spc="-150" dirty="0">
                <a:latin typeface="Arial"/>
                <a:cs typeface="Arial"/>
              </a:rPr>
              <a:t> </a:t>
            </a:r>
            <a:r>
              <a:rPr sz="1400" b="1" spc="-60" dirty="0">
                <a:latin typeface="Arial"/>
                <a:cs typeface="Arial"/>
              </a:rPr>
              <a:t>Error</a:t>
            </a:r>
            <a:endParaRPr sz="14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5</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881" y="35813"/>
            <a:ext cx="3634740" cy="574675"/>
          </a:xfrm>
          <a:prstGeom prst="rect">
            <a:avLst/>
          </a:prstGeom>
        </p:spPr>
        <p:txBody>
          <a:bodyPr vert="horz" wrap="square" lIns="0" tIns="12700" rIns="0" bIns="0" rtlCol="0">
            <a:spAutoFit/>
          </a:bodyPr>
          <a:lstStyle/>
          <a:p>
            <a:pPr marL="12700">
              <a:lnSpc>
                <a:spcPct val="100000"/>
              </a:lnSpc>
              <a:spcBef>
                <a:spcPts val="100"/>
              </a:spcBef>
            </a:pPr>
            <a:r>
              <a:rPr sz="3600" spc="-80" dirty="0"/>
              <a:t>Types </a:t>
            </a:r>
            <a:r>
              <a:rPr sz="3600" spc="105" dirty="0"/>
              <a:t>of</a:t>
            </a:r>
            <a:r>
              <a:rPr sz="3600" spc="-665" dirty="0"/>
              <a:t> </a:t>
            </a:r>
            <a:r>
              <a:rPr sz="3600" spc="-35" dirty="0"/>
              <a:t>Errors </a:t>
            </a:r>
            <a:r>
              <a:rPr sz="3600" spc="-440" dirty="0"/>
              <a:t>3-5</a:t>
            </a:r>
            <a:endParaRPr sz="3600"/>
          </a:p>
        </p:txBody>
      </p:sp>
      <p:sp>
        <p:nvSpPr>
          <p:cNvPr id="3" name="object 3"/>
          <p:cNvSpPr txBox="1"/>
          <p:nvPr/>
        </p:nvSpPr>
        <p:spPr>
          <a:xfrm>
            <a:off x="247141" y="946403"/>
            <a:ext cx="8691245" cy="635000"/>
          </a:xfrm>
          <a:prstGeom prst="rect">
            <a:avLst/>
          </a:prstGeom>
        </p:spPr>
        <p:txBody>
          <a:bodyPr vert="horz" wrap="square" lIns="0" tIns="12065" rIns="0" bIns="0" rtlCol="0">
            <a:spAutoFit/>
          </a:bodyPr>
          <a:lstStyle/>
          <a:p>
            <a:pPr marL="12700" marR="5080">
              <a:lnSpc>
                <a:spcPct val="100000"/>
              </a:lnSpc>
              <a:spcBef>
                <a:spcPts val="95"/>
              </a:spcBef>
            </a:pPr>
            <a:r>
              <a:rPr sz="2000" spc="110" dirty="0">
                <a:latin typeface="Arial"/>
                <a:cs typeface="Arial"/>
              </a:rPr>
              <a:t>If </a:t>
            </a:r>
            <a:r>
              <a:rPr sz="2000" spc="-195" dirty="0">
                <a:latin typeface="Arial"/>
                <a:cs typeface="Arial"/>
              </a:rPr>
              <a:t>a </a:t>
            </a:r>
            <a:r>
              <a:rPr sz="2000" spc="-70" dirty="0">
                <a:latin typeface="Arial"/>
                <a:cs typeface="Arial"/>
              </a:rPr>
              <a:t>user </a:t>
            </a:r>
            <a:r>
              <a:rPr sz="2000" spc="-55" dirty="0">
                <a:latin typeface="Arial"/>
                <a:cs typeface="Arial"/>
              </a:rPr>
              <a:t>types </a:t>
            </a:r>
            <a:r>
              <a:rPr sz="2000" spc="-195" dirty="0">
                <a:latin typeface="Arial"/>
                <a:cs typeface="Arial"/>
              </a:rPr>
              <a:t>a </a:t>
            </a:r>
            <a:r>
              <a:rPr sz="2000" spc="5" dirty="0">
                <a:latin typeface="Arial"/>
                <a:cs typeface="Arial"/>
              </a:rPr>
              <a:t>keyword </a:t>
            </a:r>
            <a:r>
              <a:rPr sz="2000" spc="25" dirty="0">
                <a:latin typeface="Arial"/>
                <a:cs typeface="Arial"/>
              </a:rPr>
              <a:t>or </a:t>
            </a:r>
            <a:r>
              <a:rPr sz="2000" spc="-60" dirty="0">
                <a:latin typeface="Arial"/>
                <a:cs typeface="Arial"/>
              </a:rPr>
              <a:t>an </a:t>
            </a:r>
            <a:r>
              <a:rPr sz="2000" spc="-15" dirty="0">
                <a:latin typeface="Arial"/>
                <a:cs typeface="Arial"/>
              </a:rPr>
              <a:t>operator </a:t>
            </a:r>
            <a:r>
              <a:rPr sz="2000" spc="20" dirty="0">
                <a:latin typeface="Arial"/>
                <a:cs typeface="Arial"/>
              </a:rPr>
              <a:t>wrongly </a:t>
            </a:r>
            <a:r>
              <a:rPr sz="2000" spc="-125" dirty="0">
                <a:latin typeface="Arial"/>
                <a:cs typeface="Arial"/>
              </a:rPr>
              <a:t>because </a:t>
            </a:r>
            <a:r>
              <a:rPr sz="2000" dirty="0">
                <a:latin typeface="Arial"/>
                <a:cs typeface="Arial"/>
              </a:rPr>
              <a:t>the </a:t>
            </a:r>
            <a:r>
              <a:rPr sz="2000" spc="-70" dirty="0">
                <a:latin typeface="Arial"/>
                <a:cs typeface="Arial"/>
              </a:rPr>
              <a:t>user </a:t>
            </a:r>
            <a:r>
              <a:rPr sz="2000" spc="-100" dirty="0">
                <a:latin typeface="Arial"/>
                <a:cs typeface="Arial"/>
              </a:rPr>
              <a:t>does </a:t>
            </a:r>
            <a:r>
              <a:rPr sz="2000" spc="60" dirty="0">
                <a:latin typeface="Arial"/>
                <a:cs typeface="Arial"/>
              </a:rPr>
              <a:t>not  </a:t>
            </a:r>
            <a:r>
              <a:rPr sz="2000" spc="-55" dirty="0">
                <a:latin typeface="Arial"/>
                <a:cs typeface="Arial"/>
              </a:rPr>
              <a:t>remember</a:t>
            </a:r>
            <a:r>
              <a:rPr sz="2000" spc="-105" dirty="0">
                <a:latin typeface="Arial"/>
                <a:cs typeface="Arial"/>
              </a:rPr>
              <a:t> </a:t>
            </a:r>
            <a:r>
              <a:rPr sz="2000" dirty="0">
                <a:latin typeface="Arial"/>
                <a:cs typeface="Arial"/>
              </a:rPr>
              <a:t>the</a:t>
            </a:r>
            <a:r>
              <a:rPr sz="2000" spc="-120" dirty="0">
                <a:latin typeface="Arial"/>
                <a:cs typeface="Arial"/>
              </a:rPr>
              <a:t> </a:t>
            </a:r>
            <a:r>
              <a:rPr sz="2000" spc="20" dirty="0">
                <a:latin typeface="Arial"/>
                <a:cs typeface="Arial"/>
              </a:rPr>
              <a:t>valid</a:t>
            </a:r>
            <a:r>
              <a:rPr sz="2000" spc="-130" dirty="0">
                <a:latin typeface="Arial"/>
                <a:cs typeface="Arial"/>
              </a:rPr>
              <a:t> </a:t>
            </a:r>
            <a:r>
              <a:rPr sz="2000" spc="-125" dirty="0">
                <a:latin typeface="Arial"/>
                <a:cs typeface="Arial"/>
              </a:rPr>
              <a:t>usage,</a:t>
            </a:r>
            <a:r>
              <a:rPr sz="2000" spc="-120" dirty="0">
                <a:latin typeface="Arial"/>
                <a:cs typeface="Arial"/>
              </a:rPr>
              <a:t> </a:t>
            </a:r>
            <a:r>
              <a:rPr sz="2000" dirty="0">
                <a:latin typeface="Arial"/>
                <a:cs typeface="Arial"/>
              </a:rPr>
              <a:t>the</a:t>
            </a:r>
            <a:r>
              <a:rPr sz="2000" spc="-114" dirty="0">
                <a:latin typeface="Arial"/>
                <a:cs typeface="Arial"/>
              </a:rPr>
              <a:t> </a:t>
            </a:r>
            <a:r>
              <a:rPr sz="2000" spc="-75" dirty="0">
                <a:latin typeface="Arial"/>
                <a:cs typeface="Arial"/>
              </a:rPr>
              <a:t>code</a:t>
            </a:r>
            <a:r>
              <a:rPr sz="2000" spc="-120" dirty="0">
                <a:latin typeface="Arial"/>
                <a:cs typeface="Arial"/>
              </a:rPr>
              <a:t> </a:t>
            </a:r>
            <a:r>
              <a:rPr sz="2000" spc="25" dirty="0">
                <a:latin typeface="Arial"/>
                <a:cs typeface="Arial"/>
              </a:rPr>
              <a:t>editor</a:t>
            </a:r>
            <a:r>
              <a:rPr sz="2000" spc="-125" dirty="0">
                <a:latin typeface="Arial"/>
                <a:cs typeface="Arial"/>
              </a:rPr>
              <a:t> </a:t>
            </a:r>
            <a:r>
              <a:rPr sz="2000" spc="95" dirty="0">
                <a:latin typeface="Arial"/>
                <a:cs typeface="Arial"/>
              </a:rPr>
              <a:t>will</a:t>
            </a:r>
            <a:r>
              <a:rPr sz="2000" spc="-120" dirty="0">
                <a:latin typeface="Arial"/>
                <a:cs typeface="Arial"/>
              </a:rPr>
              <a:t> </a:t>
            </a:r>
            <a:r>
              <a:rPr sz="2000" spc="-10" dirty="0">
                <a:latin typeface="Arial"/>
                <a:cs typeface="Arial"/>
              </a:rPr>
              <a:t>appropriately</a:t>
            </a:r>
            <a:r>
              <a:rPr sz="2000" spc="-90" dirty="0">
                <a:latin typeface="Arial"/>
                <a:cs typeface="Arial"/>
              </a:rPr>
              <a:t> </a:t>
            </a:r>
            <a:r>
              <a:rPr sz="2000" spc="-5" dirty="0">
                <a:latin typeface="Arial"/>
                <a:cs typeface="Arial"/>
              </a:rPr>
              <a:t>indicate</a:t>
            </a:r>
            <a:r>
              <a:rPr sz="2000" spc="-135" dirty="0">
                <a:latin typeface="Arial"/>
                <a:cs typeface="Arial"/>
              </a:rPr>
              <a:t> </a:t>
            </a:r>
            <a:r>
              <a:rPr sz="2000" spc="65" dirty="0">
                <a:latin typeface="Arial"/>
                <a:cs typeface="Arial"/>
              </a:rPr>
              <a:t>it.</a:t>
            </a:r>
            <a:endParaRPr sz="2000">
              <a:latin typeface="Arial"/>
              <a:cs typeface="Arial"/>
            </a:endParaRPr>
          </a:p>
        </p:txBody>
      </p:sp>
      <p:pic>
        <p:nvPicPr>
          <p:cNvPr id="4" name="object 4"/>
          <p:cNvPicPr/>
          <p:nvPr/>
        </p:nvPicPr>
        <p:blipFill>
          <a:blip r:embed="rId3" cstate="print"/>
          <a:stretch>
            <a:fillRect/>
          </a:stretch>
        </p:blipFill>
        <p:spPr>
          <a:xfrm>
            <a:off x="1758695" y="1840992"/>
            <a:ext cx="5598413" cy="1999487"/>
          </a:xfrm>
          <a:prstGeom prst="rect">
            <a:avLst/>
          </a:prstGeom>
        </p:spPr>
      </p:pic>
      <p:sp>
        <p:nvSpPr>
          <p:cNvPr id="5" name="object 5"/>
          <p:cNvSpPr txBox="1"/>
          <p:nvPr/>
        </p:nvSpPr>
        <p:spPr>
          <a:xfrm>
            <a:off x="398272" y="3814064"/>
            <a:ext cx="8387715" cy="1091565"/>
          </a:xfrm>
          <a:prstGeom prst="rect">
            <a:avLst/>
          </a:prstGeom>
        </p:spPr>
        <p:txBody>
          <a:bodyPr vert="horz" wrap="square" lIns="0" tIns="12065" rIns="0" bIns="0" rtlCol="0">
            <a:spAutoFit/>
          </a:bodyPr>
          <a:lstStyle/>
          <a:p>
            <a:pPr marR="59690" algn="ctr">
              <a:lnSpc>
                <a:spcPct val="100000"/>
              </a:lnSpc>
              <a:spcBef>
                <a:spcPts val="95"/>
              </a:spcBef>
            </a:pPr>
            <a:r>
              <a:rPr sz="1400" b="1" spc="-30" dirty="0">
                <a:latin typeface="Arial"/>
                <a:cs typeface="Arial"/>
              </a:rPr>
              <a:t>Wrong </a:t>
            </a:r>
            <a:r>
              <a:rPr sz="1400" b="1" spc="-75" dirty="0">
                <a:latin typeface="Arial"/>
                <a:cs typeface="Arial"/>
              </a:rPr>
              <a:t>Keyword</a:t>
            </a:r>
            <a:r>
              <a:rPr sz="1400" b="1" spc="-215" dirty="0">
                <a:latin typeface="Arial"/>
                <a:cs typeface="Arial"/>
              </a:rPr>
              <a:t> </a:t>
            </a:r>
            <a:r>
              <a:rPr sz="1400" b="1" spc="-60" dirty="0">
                <a:latin typeface="Arial"/>
                <a:cs typeface="Arial"/>
              </a:rPr>
              <a:t>Error</a:t>
            </a:r>
            <a:endParaRPr sz="1400">
              <a:latin typeface="Arial"/>
              <a:cs typeface="Arial"/>
            </a:endParaRPr>
          </a:p>
          <a:p>
            <a:pPr>
              <a:lnSpc>
                <a:spcPct val="100000"/>
              </a:lnSpc>
              <a:spcBef>
                <a:spcPts val="20"/>
              </a:spcBef>
            </a:pPr>
            <a:endParaRPr sz="1650">
              <a:latin typeface="Arial"/>
              <a:cs typeface="Arial"/>
            </a:endParaRPr>
          </a:p>
          <a:p>
            <a:pPr marL="12700" marR="5080">
              <a:lnSpc>
                <a:spcPct val="100000"/>
              </a:lnSpc>
            </a:pPr>
            <a:r>
              <a:rPr sz="2000" spc="110" dirty="0">
                <a:latin typeface="Arial"/>
                <a:cs typeface="Arial"/>
              </a:rPr>
              <a:t>If </a:t>
            </a:r>
            <a:r>
              <a:rPr sz="2000" dirty="0">
                <a:latin typeface="Arial"/>
                <a:cs typeface="Arial"/>
              </a:rPr>
              <a:t>the </a:t>
            </a:r>
            <a:r>
              <a:rPr sz="2000" spc="-70" dirty="0">
                <a:latin typeface="Arial"/>
                <a:cs typeface="Arial"/>
              </a:rPr>
              <a:t>user </a:t>
            </a:r>
            <a:r>
              <a:rPr sz="2000" spc="-30" dirty="0">
                <a:latin typeface="Arial"/>
                <a:cs typeface="Arial"/>
              </a:rPr>
              <a:t>forgets </a:t>
            </a:r>
            <a:r>
              <a:rPr sz="2000" spc="55" dirty="0">
                <a:latin typeface="Arial"/>
                <a:cs typeface="Arial"/>
              </a:rPr>
              <a:t>to </a:t>
            </a:r>
            <a:r>
              <a:rPr sz="2000" spc="-15" dirty="0">
                <a:latin typeface="Arial"/>
                <a:cs typeface="Arial"/>
              </a:rPr>
              <a:t>type </a:t>
            </a:r>
            <a:r>
              <a:rPr sz="2000" spc="-25" dirty="0">
                <a:latin typeface="Arial"/>
                <a:cs typeface="Arial"/>
              </a:rPr>
              <a:t>something </a:t>
            </a:r>
            <a:r>
              <a:rPr sz="2000" spc="30" dirty="0">
                <a:latin typeface="Arial"/>
                <a:cs typeface="Arial"/>
              </a:rPr>
              <a:t>that </a:t>
            </a:r>
            <a:r>
              <a:rPr sz="2000" spc="-50" dirty="0">
                <a:latin typeface="Arial"/>
                <a:cs typeface="Arial"/>
              </a:rPr>
              <a:t>is </a:t>
            </a:r>
            <a:r>
              <a:rPr sz="2000" spc="-10" dirty="0">
                <a:latin typeface="Arial"/>
                <a:cs typeface="Arial"/>
              </a:rPr>
              <a:t>required, </a:t>
            </a:r>
            <a:r>
              <a:rPr sz="2000" dirty="0">
                <a:latin typeface="Arial"/>
                <a:cs typeface="Arial"/>
              </a:rPr>
              <a:t>the </a:t>
            </a:r>
            <a:r>
              <a:rPr sz="2000" spc="-70" dirty="0">
                <a:latin typeface="Arial"/>
                <a:cs typeface="Arial"/>
              </a:rPr>
              <a:t>code </a:t>
            </a:r>
            <a:r>
              <a:rPr sz="2000" spc="25" dirty="0">
                <a:latin typeface="Arial"/>
                <a:cs typeface="Arial"/>
              </a:rPr>
              <a:t>editor </a:t>
            </a:r>
            <a:r>
              <a:rPr sz="2000" spc="95" dirty="0">
                <a:latin typeface="Arial"/>
                <a:cs typeface="Arial"/>
              </a:rPr>
              <a:t>will  </a:t>
            </a:r>
            <a:r>
              <a:rPr sz="2000" spc="-25" dirty="0">
                <a:latin typeface="Arial"/>
                <a:cs typeface="Arial"/>
              </a:rPr>
              <a:t>display</a:t>
            </a:r>
            <a:r>
              <a:rPr sz="2000" spc="-130" dirty="0">
                <a:latin typeface="Arial"/>
                <a:cs typeface="Arial"/>
              </a:rPr>
              <a:t> </a:t>
            </a:r>
            <a:r>
              <a:rPr sz="2000" spc="-65" dirty="0">
                <a:latin typeface="Arial"/>
                <a:cs typeface="Arial"/>
              </a:rPr>
              <a:t>an</a:t>
            </a:r>
            <a:r>
              <a:rPr sz="2000" spc="-125" dirty="0">
                <a:latin typeface="Arial"/>
                <a:cs typeface="Arial"/>
              </a:rPr>
              <a:t> </a:t>
            </a:r>
            <a:r>
              <a:rPr sz="2000" spc="5" dirty="0">
                <a:latin typeface="Arial"/>
                <a:cs typeface="Arial"/>
              </a:rPr>
              <a:t>error</a:t>
            </a:r>
            <a:r>
              <a:rPr sz="2000" spc="-114" dirty="0">
                <a:latin typeface="Arial"/>
                <a:cs typeface="Arial"/>
              </a:rPr>
              <a:t> </a:t>
            </a:r>
            <a:r>
              <a:rPr sz="2000" spc="-60" dirty="0">
                <a:latin typeface="Arial"/>
                <a:cs typeface="Arial"/>
              </a:rPr>
              <a:t>once</a:t>
            </a:r>
            <a:r>
              <a:rPr sz="2000" spc="-120" dirty="0">
                <a:latin typeface="Arial"/>
                <a:cs typeface="Arial"/>
              </a:rPr>
              <a:t> </a:t>
            </a:r>
            <a:r>
              <a:rPr sz="2000" dirty="0">
                <a:latin typeface="Arial"/>
                <a:cs typeface="Arial"/>
              </a:rPr>
              <a:t>the</a:t>
            </a:r>
            <a:r>
              <a:rPr sz="2000" spc="-114" dirty="0">
                <a:latin typeface="Arial"/>
                <a:cs typeface="Arial"/>
              </a:rPr>
              <a:t> </a:t>
            </a:r>
            <a:r>
              <a:rPr sz="2000" spc="-70" dirty="0">
                <a:latin typeface="Arial"/>
                <a:cs typeface="Arial"/>
              </a:rPr>
              <a:t>user</a:t>
            </a:r>
            <a:r>
              <a:rPr sz="2000" spc="-125" dirty="0">
                <a:latin typeface="Arial"/>
                <a:cs typeface="Arial"/>
              </a:rPr>
              <a:t> </a:t>
            </a:r>
            <a:r>
              <a:rPr sz="2000" spc="-75" dirty="0">
                <a:latin typeface="Arial"/>
                <a:cs typeface="Arial"/>
              </a:rPr>
              <a:t>executes</a:t>
            </a:r>
            <a:r>
              <a:rPr sz="2000" spc="-110" dirty="0">
                <a:latin typeface="Arial"/>
                <a:cs typeface="Arial"/>
              </a:rPr>
              <a:t> </a:t>
            </a:r>
            <a:r>
              <a:rPr sz="2000" spc="30" dirty="0">
                <a:latin typeface="Arial"/>
                <a:cs typeface="Arial"/>
              </a:rPr>
              <a:t>that</a:t>
            </a:r>
            <a:r>
              <a:rPr sz="2000" spc="-114" dirty="0">
                <a:latin typeface="Arial"/>
                <a:cs typeface="Arial"/>
              </a:rPr>
              <a:t> </a:t>
            </a:r>
            <a:r>
              <a:rPr sz="2000" spc="-40" dirty="0">
                <a:latin typeface="Arial"/>
                <a:cs typeface="Arial"/>
              </a:rPr>
              <a:t>statement.</a:t>
            </a:r>
            <a:endParaRPr sz="2000">
              <a:latin typeface="Arial"/>
              <a:cs typeface="Arial"/>
            </a:endParaRPr>
          </a:p>
        </p:txBody>
      </p:sp>
      <p:sp>
        <p:nvSpPr>
          <p:cNvPr id="6" name="object 6"/>
          <p:cNvSpPr/>
          <p:nvPr/>
        </p:nvSpPr>
        <p:spPr>
          <a:xfrm>
            <a:off x="211836" y="5138165"/>
            <a:ext cx="8720455" cy="1276350"/>
          </a:xfrm>
          <a:custGeom>
            <a:avLst/>
            <a:gdLst/>
            <a:ahLst/>
            <a:cxnLst/>
            <a:rect l="l" t="t" r="r" b="b"/>
            <a:pathLst>
              <a:path w="8720455" h="1276350">
                <a:moveTo>
                  <a:pt x="8720328" y="212725"/>
                </a:moveTo>
                <a:lnTo>
                  <a:pt x="8714702" y="163957"/>
                </a:lnTo>
                <a:lnTo>
                  <a:pt x="8698700" y="119189"/>
                </a:lnTo>
                <a:lnTo>
                  <a:pt x="8673579" y="79692"/>
                </a:lnTo>
                <a:lnTo>
                  <a:pt x="8640635" y="46748"/>
                </a:lnTo>
                <a:lnTo>
                  <a:pt x="8601138" y="21628"/>
                </a:lnTo>
                <a:lnTo>
                  <a:pt x="8556371" y="5626"/>
                </a:lnTo>
                <a:lnTo>
                  <a:pt x="8507603" y="0"/>
                </a:lnTo>
                <a:lnTo>
                  <a:pt x="212725" y="0"/>
                </a:lnTo>
                <a:lnTo>
                  <a:pt x="163944" y="5626"/>
                </a:lnTo>
                <a:lnTo>
                  <a:pt x="119164" y="21628"/>
                </a:lnTo>
                <a:lnTo>
                  <a:pt x="79667" y="46748"/>
                </a:lnTo>
                <a:lnTo>
                  <a:pt x="46723" y="79692"/>
                </a:lnTo>
                <a:lnTo>
                  <a:pt x="21615" y="119189"/>
                </a:lnTo>
                <a:lnTo>
                  <a:pt x="5613" y="163957"/>
                </a:lnTo>
                <a:lnTo>
                  <a:pt x="0" y="212725"/>
                </a:lnTo>
                <a:lnTo>
                  <a:pt x="0" y="1063625"/>
                </a:lnTo>
                <a:lnTo>
                  <a:pt x="5613" y="1112405"/>
                </a:lnTo>
                <a:lnTo>
                  <a:pt x="21615" y="1157185"/>
                </a:lnTo>
                <a:lnTo>
                  <a:pt x="46723" y="1196682"/>
                </a:lnTo>
                <a:lnTo>
                  <a:pt x="79667" y="1229626"/>
                </a:lnTo>
                <a:lnTo>
                  <a:pt x="119164" y="1254734"/>
                </a:lnTo>
                <a:lnTo>
                  <a:pt x="163944" y="1270736"/>
                </a:lnTo>
                <a:lnTo>
                  <a:pt x="212725" y="1276350"/>
                </a:lnTo>
                <a:lnTo>
                  <a:pt x="8507603" y="1276350"/>
                </a:lnTo>
                <a:lnTo>
                  <a:pt x="8556371" y="1270736"/>
                </a:lnTo>
                <a:lnTo>
                  <a:pt x="8601138" y="1254734"/>
                </a:lnTo>
                <a:lnTo>
                  <a:pt x="8640635" y="1229626"/>
                </a:lnTo>
                <a:lnTo>
                  <a:pt x="8673579" y="1196682"/>
                </a:lnTo>
                <a:lnTo>
                  <a:pt x="8698700" y="1157185"/>
                </a:lnTo>
                <a:lnTo>
                  <a:pt x="8714702" y="1112405"/>
                </a:lnTo>
                <a:lnTo>
                  <a:pt x="8720328" y="1063625"/>
                </a:lnTo>
                <a:lnTo>
                  <a:pt x="8720328" y="212725"/>
                </a:lnTo>
                <a:close/>
              </a:path>
            </a:pathLst>
          </a:custGeom>
          <a:solidFill>
            <a:srgbClr val="000000"/>
          </a:solidFill>
        </p:spPr>
        <p:txBody>
          <a:bodyPr wrap="square" lIns="0" tIns="0" rIns="0" bIns="0" rtlCol="0"/>
          <a:lstStyle/>
          <a:p>
            <a:endParaRPr/>
          </a:p>
        </p:txBody>
      </p:sp>
      <p:sp>
        <p:nvSpPr>
          <p:cNvPr id="7" name="object 7"/>
          <p:cNvSpPr txBox="1"/>
          <p:nvPr/>
        </p:nvSpPr>
        <p:spPr>
          <a:xfrm>
            <a:off x="489204" y="5339841"/>
            <a:ext cx="7962900" cy="793750"/>
          </a:xfrm>
          <a:prstGeom prst="rect">
            <a:avLst/>
          </a:prstGeom>
        </p:spPr>
        <p:txBody>
          <a:bodyPr vert="horz" wrap="square" lIns="0" tIns="43815" rIns="0" bIns="0" rtlCol="0">
            <a:spAutoFit/>
          </a:bodyPr>
          <a:lstStyle/>
          <a:p>
            <a:pPr marL="354965" marR="5080" indent="-342900" algn="just">
              <a:lnSpc>
                <a:spcPts val="1939"/>
              </a:lnSpc>
              <a:spcBef>
                <a:spcPts val="345"/>
              </a:spcBef>
              <a:buFont typeface="Wingdings"/>
              <a:buChar char=""/>
              <a:tabLst>
                <a:tab pos="355600" algn="l"/>
              </a:tabLst>
            </a:pPr>
            <a:r>
              <a:rPr sz="1800" spc="-10" dirty="0">
                <a:solidFill>
                  <a:srgbClr val="FFFFFF"/>
                </a:solidFill>
                <a:latin typeface="Arial"/>
                <a:cs typeface="Arial"/>
              </a:rPr>
              <a:t>Syntax </a:t>
            </a:r>
            <a:r>
              <a:rPr sz="1800" spc="-25" dirty="0">
                <a:solidFill>
                  <a:srgbClr val="FFFFFF"/>
                </a:solidFill>
                <a:latin typeface="Arial"/>
                <a:cs typeface="Arial"/>
              </a:rPr>
              <a:t>errors </a:t>
            </a:r>
            <a:r>
              <a:rPr sz="1800" spc="-90" dirty="0">
                <a:solidFill>
                  <a:srgbClr val="FFFFFF"/>
                </a:solidFill>
                <a:latin typeface="Arial"/>
                <a:cs typeface="Arial"/>
              </a:rPr>
              <a:t>are </a:t>
            </a:r>
            <a:r>
              <a:rPr sz="1800" spc="-55" dirty="0">
                <a:solidFill>
                  <a:srgbClr val="FFFFFF"/>
                </a:solidFill>
                <a:latin typeface="Arial"/>
                <a:cs typeface="Arial"/>
              </a:rPr>
              <a:t>easily </a:t>
            </a:r>
            <a:r>
              <a:rPr sz="1800" spc="30" dirty="0">
                <a:solidFill>
                  <a:srgbClr val="FFFFFF"/>
                </a:solidFill>
                <a:latin typeface="Arial"/>
                <a:cs typeface="Arial"/>
              </a:rPr>
              <a:t>identified </a:t>
            </a:r>
            <a:r>
              <a:rPr sz="1800" spc="-185" dirty="0">
                <a:solidFill>
                  <a:srgbClr val="FFFFFF"/>
                </a:solidFill>
                <a:latin typeface="Arial"/>
                <a:cs typeface="Arial"/>
              </a:rPr>
              <a:t>as </a:t>
            </a:r>
            <a:r>
              <a:rPr sz="1800" dirty="0">
                <a:solidFill>
                  <a:srgbClr val="FFFFFF"/>
                </a:solidFill>
                <a:latin typeface="Arial"/>
                <a:cs typeface="Arial"/>
              </a:rPr>
              <a:t>the </a:t>
            </a:r>
            <a:r>
              <a:rPr sz="1800" spc="-65" dirty="0">
                <a:solidFill>
                  <a:srgbClr val="FFFFFF"/>
                </a:solidFill>
                <a:latin typeface="Arial"/>
                <a:cs typeface="Arial"/>
              </a:rPr>
              <a:t>code </a:t>
            </a:r>
            <a:r>
              <a:rPr sz="1800" spc="20" dirty="0">
                <a:solidFill>
                  <a:srgbClr val="FFFFFF"/>
                </a:solidFill>
                <a:latin typeface="Arial"/>
                <a:cs typeface="Arial"/>
              </a:rPr>
              <a:t>editor </a:t>
            </a:r>
            <a:r>
              <a:rPr sz="1800" spc="10" dirty="0">
                <a:solidFill>
                  <a:srgbClr val="FFFFFF"/>
                </a:solidFill>
                <a:latin typeface="Arial"/>
                <a:cs typeface="Arial"/>
              </a:rPr>
              <a:t>points </a:t>
            </a:r>
            <a:r>
              <a:rPr sz="1800" spc="-5" dirty="0">
                <a:solidFill>
                  <a:srgbClr val="FFFFFF"/>
                </a:solidFill>
                <a:latin typeface="Arial"/>
                <a:cs typeface="Arial"/>
              </a:rPr>
              <a:t>them </a:t>
            </a:r>
            <a:r>
              <a:rPr sz="1800" spc="20" dirty="0">
                <a:solidFill>
                  <a:srgbClr val="FFFFFF"/>
                </a:solidFill>
                <a:latin typeface="Arial"/>
                <a:cs typeface="Arial"/>
              </a:rPr>
              <a:t>out.  </a:t>
            </a:r>
            <a:r>
              <a:rPr sz="1800" spc="-15" dirty="0">
                <a:solidFill>
                  <a:srgbClr val="FFFFFF"/>
                </a:solidFill>
                <a:latin typeface="Arial"/>
                <a:cs typeface="Arial"/>
              </a:rPr>
              <a:t>However, </a:t>
            </a:r>
            <a:r>
              <a:rPr sz="1800" spc="110" dirty="0">
                <a:solidFill>
                  <a:srgbClr val="FFFFFF"/>
                </a:solidFill>
                <a:latin typeface="Arial"/>
                <a:cs typeface="Arial"/>
              </a:rPr>
              <a:t>if </a:t>
            </a:r>
            <a:r>
              <a:rPr sz="1800" spc="-90" dirty="0">
                <a:solidFill>
                  <a:srgbClr val="FFFFFF"/>
                </a:solidFill>
                <a:latin typeface="Arial"/>
                <a:cs typeface="Arial"/>
              </a:rPr>
              <a:t>users </a:t>
            </a:r>
            <a:r>
              <a:rPr sz="1800" spc="-105" dirty="0">
                <a:solidFill>
                  <a:srgbClr val="FFFFFF"/>
                </a:solidFill>
                <a:latin typeface="Arial"/>
                <a:cs typeface="Arial"/>
              </a:rPr>
              <a:t>use </a:t>
            </a:r>
            <a:r>
              <a:rPr sz="1800" spc="-175" dirty="0">
                <a:solidFill>
                  <a:srgbClr val="FFFFFF"/>
                </a:solidFill>
                <a:latin typeface="Arial"/>
                <a:cs typeface="Arial"/>
              </a:rPr>
              <a:t>a </a:t>
            </a:r>
            <a:r>
              <a:rPr sz="1800" spc="-60" dirty="0">
                <a:solidFill>
                  <a:srgbClr val="FFFFFF"/>
                </a:solidFill>
                <a:latin typeface="Arial"/>
                <a:cs typeface="Arial"/>
              </a:rPr>
              <a:t>command-based </a:t>
            </a:r>
            <a:r>
              <a:rPr sz="1800" dirty="0">
                <a:solidFill>
                  <a:srgbClr val="FFFFFF"/>
                </a:solidFill>
                <a:latin typeface="Arial"/>
                <a:cs typeface="Arial"/>
              </a:rPr>
              <a:t>application </a:t>
            </a:r>
            <a:r>
              <a:rPr sz="1800" spc="-50" dirty="0">
                <a:solidFill>
                  <a:srgbClr val="FFFFFF"/>
                </a:solidFill>
                <a:latin typeface="Arial"/>
                <a:cs typeface="Arial"/>
              </a:rPr>
              <a:t>such </a:t>
            </a:r>
            <a:r>
              <a:rPr sz="1800" spc="-185" dirty="0">
                <a:solidFill>
                  <a:srgbClr val="FFFFFF"/>
                </a:solidFill>
                <a:latin typeface="Arial"/>
                <a:cs typeface="Arial"/>
              </a:rPr>
              <a:t>as </a:t>
            </a:r>
            <a:r>
              <a:rPr sz="1800" spc="-35" dirty="0">
                <a:solidFill>
                  <a:srgbClr val="FFFFFF"/>
                </a:solidFill>
                <a:latin typeface="Arial"/>
                <a:cs typeface="Arial"/>
              </a:rPr>
              <a:t>sqlcmd, </a:t>
            </a:r>
            <a:r>
              <a:rPr sz="1800" dirty="0">
                <a:solidFill>
                  <a:srgbClr val="FFFFFF"/>
                </a:solidFill>
                <a:latin typeface="Arial"/>
                <a:cs typeface="Arial"/>
              </a:rPr>
              <a:t>the </a:t>
            </a:r>
            <a:r>
              <a:rPr sz="1800" spc="10" dirty="0">
                <a:solidFill>
                  <a:srgbClr val="FFFFFF"/>
                </a:solidFill>
                <a:latin typeface="Arial"/>
                <a:cs typeface="Arial"/>
              </a:rPr>
              <a:t>error  </a:t>
            </a:r>
            <a:r>
              <a:rPr sz="1800" spc="-45" dirty="0">
                <a:solidFill>
                  <a:srgbClr val="FFFFFF"/>
                </a:solidFill>
                <a:latin typeface="Arial"/>
                <a:cs typeface="Arial"/>
              </a:rPr>
              <a:t>is</a:t>
            </a:r>
            <a:r>
              <a:rPr sz="1800" spc="-110" dirty="0">
                <a:solidFill>
                  <a:srgbClr val="FFFFFF"/>
                </a:solidFill>
                <a:latin typeface="Arial"/>
                <a:cs typeface="Arial"/>
              </a:rPr>
              <a:t> </a:t>
            </a:r>
            <a:r>
              <a:rPr sz="1800" spc="-10" dirty="0">
                <a:solidFill>
                  <a:srgbClr val="FFFFFF"/>
                </a:solidFill>
                <a:latin typeface="Arial"/>
                <a:cs typeface="Arial"/>
              </a:rPr>
              <a:t>shown</a:t>
            </a:r>
            <a:r>
              <a:rPr sz="1800" spc="-100" dirty="0">
                <a:solidFill>
                  <a:srgbClr val="FFFFFF"/>
                </a:solidFill>
                <a:latin typeface="Arial"/>
                <a:cs typeface="Arial"/>
              </a:rPr>
              <a:t> </a:t>
            </a:r>
            <a:r>
              <a:rPr sz="1800" spc="35" dirty="0">
                <a:solidFill>
                  <a:srgbClr val="FFFFFF"/>
                </a:solidFill>
                <a:latin typeface="Arial"/>
                <a:cs typeface="Arial"/>
              </a:rPr>
              <a:t>only</a:t>
            </a:r>
            <a:r>
              <a:rPr sz="1800" spc="-114" dirty="0">
                <a:solidFill>
                  <a:srgbClr val="FFFFFF"/>
                </a:solidFill>
                <a:latin typeface="Arial"/>
                <a:cs typeface="Arial"/>
              </a:rPr>
              <a:t> </a:t>
            </a:r>
            <a:r>
              <a:rPr sz="1800" spc="-5" dirty="0">
                <a:solidFill>
                  <a:srgbClr val="FFFFFF"/>
                </a:solidFill>
                <a:latin typeface="Arial"/>
                <a:cs typeface="Arial"/>
              </a:rPr>
              <a:t>after</a:t>
            </a:r>
            <a:r>
              <a:rPr sz="1800" spc="-114" dirty="0">
                <a:solidFill>
                  <a:srgbClr val="FFFFFF"/>
                </a:solidFill>
                <a:latin typeface="Arial"/>
                <a:cs typeface="Arial"/>
              </a:rPr>
              <a:t> </a:t>
            </a:r>
            <a:r>
              <a:rPr sz="1800" dirty="0">
                <a:solidFill>
                  <a:srgbClr val="FFFFFF"/>
                </a:solidFill>
                <a:latin typeface="Arial"/>
                <a:cs typeface="Arial"/>
              </a:rPr>
              <a:t>the</a:t>
            </a:r>
            <a:r>
              <a:rPr sz="1800" spc="-114" dirty="0">
                <a:solidFill>
                  <a:srgbClr val="FFFFFF"/>
                </a:solidFill>
                <a:latin typeface="Arial"/>
                <a:cs typeface="Arial"/>
              </a:rPr>
              <a:t> </a:t>
            </a:r>
            <a:r>
              <a:rPr sz="1800" spc="-65" dirty="0">
                <a:solidFill>
                  <a:srgbClr val="FFFFFF"/>
                </a:solidFill>
                <a:latin typeface="Arial"/>
                <a:cs typeface="Arial"/>
              </a:rPr>
              <a:t>code</a:t>
            </a:r>
            <a:r>
              <a:rPr sz="1800" spc="-120" dirty="0">
                <a:solidFill>
                  <a:srgbClr val="FFFFFF"/>
                </a:solidFill>
                <a:latin typeface="Arial"/>
                <a:cs typeface="Arial"/>
              </a:rPr>
              <a:t> </a:t>
            </a:r>
            <a:r>
              <a:rPr sz="1800" spc="-45" dirty="0">
                <a:solidFill>
                  <a:srgbClr val="FFFFFF"/>
                </a:solidFill>
                <a:latin typeface="Arial"/>
                <a:cs typeface="Arial"/>
              </a:rPr>
              <a:t>is</a:t>
            </a:r>
            <a:r>
              <a:rPr sz="1800" spc="-105" dirty="0">
                <a:solidFill>
                  <a:srgbClr val="FFFFFF"/>
                </a:solidFill>
                <a:latin typeface="Arial"/>
                <a:cs typeface="Arial"/>
              </a:rPr>
              <a:t> </a:t>
            </a:r>
            <a:r>
              <a:rPr sz="1800" spc="-45" dirty="0">
                <a:solidFill>
                  <a:srgbClr val="FFFFFF"/>
                </a:solidFill>
                <a:latin typeface="Arial"/>
                <a:cs typeface="Arial"/>
              </a:rPr>
              <a:t>executed.</a:t>
            </a:r>
            <a:endParaRPr sz="18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6</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6090" y="72135"/>
            <a:ext cx="3680460" cy="574040"/>
          </a:xfrm>
          <a:prstGeom prst="rect">
            <a:avLst/>
          </a:prstGeom>
        </p:spPr>
        <p:txBody>
          <a:bodyPr vert="horz" wrap="square" lIns="0" tIns="12700" rIns="0" bIns="0" rtlCol="0">
            <a:spAutoFit/>
          </a:bodyPr>
          <a:lstStyle/>
          <a:p>
            <a:pPr marL="12700">
              <a:lnSpc>
                <a:spcPct val="100000"/>
              </a:lnSpc>
              <a:spcBef>
                <a:spcPts val="100"/>
              </a:spcBef>
            </a:pPr>
            <a:r>
              <a:rPr sz="3600" spc="-80" dirty="0"/>
              <a:t>Types </a:t>
            </a:r>
            <a:r>
              <a:rPr sz="3600" spc="100" dirty="0"/>
              <a:t>of</a:t>
            </a:r>
            <a:r>
              <a:rPr sz="3600" spc="-665" dirty="0"/>
              <a:t> </a:t>
            </a:r>
            <a:r>
              <a:rPr sz="3600" spc="-35" dirty="0"/>
              <a:t>Errors </a:t>
            </a:r>
            <a:r>
              <a:rPr sz="3600" spc="-315" dirty="0"/>
              <a:t>4-5</a:t>
            </a:r>
            <a:endParaRPr sz="3600"/>
          </a:p>
        </p:txBody>
      </p:sp>
      <p:sp>
        <p:nvSpPr>
          <p:cNvPr id="3" name="object 3"/>
          <p:cNvSpPr/>
          <p:nvPr/>
        </p:nvSpPr>
        <p:spPr>
          <a:xfrm>
            <a:off x="483870" y="1405127"/>
            <a:ext cx="8308975" cy="1197610"/>
          </a:xfrm>
          <a:custGeom>
            <a:avLst/>
            <a:gdLst/>
            <a:ahLst/>
            <a:cxnLst/>
            <a:rect l="l" t="t" r="r" b="b"/>
            <a:pathLst>
              <a:path w="8308975" h="1197610">
                <a:moveTo>
                  <a:pt x="8308848" y="199517"/>
                </a:moveTo>
                <a:lnTo>
                  <a:pt x="8303577" y="153758"/>
                </a:lnTo>
                <a:lnTo>
                  <a:pt x="8288566" y="111760"/>
                </a:lnTo>
                <a:lnTo>
                  <a:pt x="8265020" y="74714"/>
                </a:lnTo>
                <a:lnTo>
                  <a:pt x="8234134" y="43827"/>
                </a:lnTo>
                <a:lnTo>
                  <a:pt x="8197088" y="20281"/>
                </a:lnTo>
                <a:lnTo>
                  <a:pt x="8155089" y="5270"/>
                </a:lnTo>
                <a:lnTo>
                  <a:pt x="8109331" y="0"/>
                </a:lnTo>
                <a:lnTo>
                  <a:pt x="199517" y="0"/>
                </a:lnTo>
                <a:lnTo>
                  <a:pt x="153758" y="5270"/>
                </a:lnTo>
                <a:lnTo>
                  <a:pt x="111772" y="20281"/>
                </a:lnTo>
                <a:lnTo>
                  <a:pt x="74726" y="43827"/>
                </a:lnTo>
                <a:lnTo>
                  <a:pt x="43827" y="74714"/>
                </a:lnTo>
                <a:lnTo>
                  <a:pt x="20269" y="111760"/>
                </a:lnTo>
                <a:lnTo>
                  <a:pt x="5257" y="153758"/>
                </a:lnTo>
                <a:lnTo>
                  <a:pt x="0" y="199517"/>
                </a:lnTo>
                <a:lnTo>
                  <a:pt x="0" y="997585"/>
                </a:lnTo>
                <a:lnTo>
                  <a:pt x="5257" y="1043355"/>
                </a:lnTo>
                <a:lnTo>
                  <a:pt x="20269" y="1085354"/>
                </a:lnTo>
                <a:lnTo>
                  <a:pt x="43827" y="1122400"/>
                </a:lnTo>
                <a:lnTo>
                  <a:pt x="74726" y="1153287"/>
                </a:lnTo>
                <a:lnTo>
                  <a:pt x="111772" y="1176832"/>
                </a:lnTo>
                <a:lnTo>
                  <a:pt x="153758" y="1191844"/>
                </a:lnTo>
                <a:lnTo>
                  <a:pt x="199517" y="1197102"/>
                </a:lnTo>
                <a:lnTo>
                  <a:pt x="8109331" y="1197102"/>
                </a:lnTo>
                <a:lnTo>
                  <a:pt x="8155089" y="1191844"/>
                </a:lnTo>
                <a:lnTo>
                  <a:pt x="8197088" y="1176832"/>
                </a:lnTo>
                <a:lnTo>
                  <a:pt x="8234134" y="1153287"/>
                </a:lnTo>
                <a:lnTo>
                  <a:pt x="8265020" y="1122400"/>
                </a:lnTo>
                <a:lnTo>
                  <a:pt x="8288566" y="1085354"/>
                </a:lnTo>
                <a:lnTo>
                  <a:pt x="8303577" y="1043355"/>
                </a:lnTo>
                <a:lnTo>
                  <a:pt x="8308848" y="997585"/>
                </a:lnTo>
                <a:lnTo>
                  <a:pt x="8308848" y="199517"/>
                </a:lnTo>
                <a:close/>
              </a:path>
            </a:pathLst>
          </a:custGeom>
          <a:solidFill>
            <a:srgbClr val="4F6128"/>
          </a:solidFill>
        </p:spPr>
        <p:txBody>
          <a:bodyPr wrap="square" lIns="0" tIns="0" rIns="0" bIns="0" rtlCol="0"/>
          <a:lstStyle/>
          <a:p>
            <a:endParaRPr/>
          </a:p>
        </p:txBody>
      </p:sp>
      <p:sp>
        <p:nvSpPr>
          <p:cNvPr id="4" name="object 4"/>
          <p:cNvSpPr txBox="1"/>
          <p:nvPr/>
        </p:nvSpPr>
        <p:spPr>
          <a:xfrm>
            <a:off x="625601" y="941324"/>
            <a:ext cx="7971790" cy="1443990"/>
          </a:xfrm>
          <a:prstGeom prst="rect">
            <a:avLst/>
          </a:prstGeom>
        </p:spPr>
        <p:txBody>
          <a:bodyPr vert="horz" wrap="square" lIns="0" tIns="12700" rIns="0" bIns="0" rtlCol="0">
            <a:spAutoFit/>
          </a:bodyPr>
          <a:lstStyle/>
          <a:p>
            <a:pPr marL="12700">
              <a:lnSpc>
                <a:spcPct val="100000"/>
              </a:lnSpc>
              <a:spcBef>
                <a:spcPts val="100"/>
              </a:spcBef>
            </a:pPr>
            <a:r>
              <a:rPr sz="2200" b="1" spc="-70" dirty="0">
                <a:latin typeface="Arial"/>
                <a:cs typeface="Arial"/>
              </a:rPr>
              <a:t>Run-time</a:t>
            </a:r>
            <a:r>
              <a:rPr sz="2200" b="1" spc="-185" dirty="0">
                <a:latin typeface="Arial"/>
                <a:cs typeface="Arial"/>
              </a:rPr>
              <a:t> </a:t>
            </a:r>
            <a:r>
              <a:rPr sz="2200" b="1" spc="-135" dirty="0">
                <a:latin typeface="Arial"/>
                <a:cs typeface="Arial"/>
              </a:rPr>
              <a:t>Errors</a:t>
            </a:r>
            <a:endParaRPr sz="2200">
              <a:latin typeface="Arial"/>
              <a:cs typeface="Arial"/>
            </a:endParaRPr>
          </a:p>
          <a:p>
            <a:pPr marL="412115" marR="5080" indent="-342900" algn="just">
              <a:lnSpc>
                <a:spcPts val="2160"/>
              </a:lnSpc>
              <a:spcBef>
                <a:spcPts val="2080"/>
              </a:spcBef>
              <a:buFont typeface="Wingdings"/>
              <a:buChar char=""/>
              <a:tabLst>
                <a:tab pos="412750" algn="l"/>
              </a:tabLst>
            </a:pPr>
            <a:r>
              <a:rPr sz="2000" spc="20" dirty="0">
                <a:solidFill>
                  <a:srgbClr val="FFFFFF"/>
                </a:solidFill>
                <a:latin typeface="Arial"/>
                <a:cs typeface="Arial"/>
              </a:rPr>
              <a:t>Run-time </a:t>
            </a:r>
            <a:r>
              <a:rPr sz="2000" spc="-30" dirty="0">
                <a:solidFill>
                  <a:srgbClr val="FFFFFF"/>
                </a:solidFill>
                <a:latin typeface="Arial"/>
                <a:cs typeface="Arial"/>
              </a:rPr>
              <a:t>errors </a:t>
            </a:r>
            <a:r>
              <a:rPr sz="2000" spc="-95" dirty="0">
                <a:solidFill>
                  <a:srgbClr val="FFFFFF"/>
                </a:solidFill>
                <a:latin typeface="Arial"/>
                <a:cs typeface="Arial"/>
              </a:rPr>
              <a:t>are </a:t>
            </a:r>
            <a:r>
              <a:rPr sz="2000" spc="-30" dirty="0">
                <a:solidFill>
                  <a:srgbClr val="FFFFFF"/>
                </a:solidFill>
                <a:latin typeface="Arial"/>
                <a:cs typeface="Arial"/>
              </a:rPr>
              <a:t>errors </a:t>
            </a:r>
            <a:r>
              <a:rPr sz="2000" spc="30" dirty="0">
                <a:solidFill>
                  <a:srgbClr val="FFFFFF"/>
                </a:solidFill>
                <a:latin typeface="Arial"/>
                <a:cs typeface="Arial"/>
              </a:rPr>
              <a:t>that </a:t>
            </a:r>
            <a:r>
              <a:rPr sz="2000" spc="-20" dirty="0">
                <a:solidFill>
                  <a:srgbClr val="FFFFFF"/>
                </a:solidFill>
                <a:latin typeface="Arial"/>
                <a:cs typeface="Arial"/>
              </a:rPr>
              <a:t>occur </a:t>
            </a:r>
            <a:r>
              <a:rPr sz="2000" dirty="0">
                <a:solidFill>
                  <a:srgbClr val="FFFFFF"/>
                </a:solidFill>
                <a:latin typeface="Arial"/>
                <a:cs typeface="Arial"/>
              </a:rPr>
              <a:t>when the </a:t>
            </a:r>
            <a:r>
              <a:rPr sz="2000" spc="5" dirty="0">
                <a:solidFill>
                  <a:srgbClr val="FFFFFF"/>
                </a:solidFill>
                <a:latin typeface="Arial"/>
                <a:cs typeface="Arial"/>
              </a:rPr>
              <a:t>application </a:t>
            </a:r>
            <a:r>
              <a:rPr sz="2000" spc="-15" dirty="0">
                <a:solidFill>
                  <a:srgbClr val="FFFFFF"/>
                </a:solidFill>
                <a:latin typeface="Arial"/>
                <a:cs typeface="Arial"/>
              </a:rPr>
              <a:t>tries </a:t>
            </a:r>
            <a:r>
              <a:rPr sz="2000" spc="55" dirty="0">
                <a:solidFill>
                  <a:srgbClr val="FFFFFF"/>
                </a:solidFill>
                <a:latin typeface="Arial"/>
                <a:cs typeface="Arial"/>
              </a:rPr>
              <a:t>to  </a:t>
            </a:r>
            <a:r>
              <a:rPr sz="2000" spc="10" dirty="0">
                <a:solidFill>
                  <a:srgbClr val="FFFFFF"/>
                </a:solidFill>
                <a:latin typeface="Arial"/>
                <a:cs typeface="Arial"/>
              </a:rPr>
              <a:t>perform</a:t>
            </a:r>
            <a:r>
              <a:rPr sz="2000" spc="-100" dirty="0">
                <a:solidFill>
                  <a:srgbClr val="FFFFFF"/>
                </a:solidFill>
                <a:latin typeface="Arial"/>
                <a:cs typeface="Arial"/>
              </a:rPr>
              <a:t> </a:t>
            </a:r>
            <a:r>
              <a:rPr sz="2000" spc="-65" dirty="0">
                <a:solidFill>
                  <a:srgbClr val="FFFFFF"/>
                </a:solidFill>
                <a:latin typeface="Arial"/>
                <a:cs typeface="Arial"/>
              </a:rPr>
              <a:t>an</a:t>
            </a:r>
            <a:r>
              <a:rPr sz="2000" spc="-100" dirty="0">
                <a:solidFill>
                  <a:srgbClr val="FFFFFF"/>
                </a:solidFill>
                <a:latin typeface="Arial"/>
                <a:cs typeface="Arial"/>
              </a:rPr>
              <a:t> </a:t>
            </a:r>
            <a:r>
              <a:rPr sz="2000" dirty="0">
                <a:solidFill>
                  <a:srgbClr val="FFFFFF"/>
                </a:solidFill>
                <a:latin typeface="Arial"/>
                <a:cs typeface="Arial"/>
              </a:rPr>
              <a:t>action</a:t>
            </a:r>
            <a:r>
              <a:rPr sz="2000" spc="-100" dirty="0">
                <a:solidFill>
                  <a:srgbClr val="FFFFFF"/>
                </a:solidFill>
                <a:latin typeface="Arial"/>
                <a:cs typeface="Arial"/>
              </a:rPr>
              <a:t> </a:t>
            </a:r>
            <a:r>
              <a:rPr sz="2000" spc="30" dirty="0">
                <a:solidFill>
                  <a:srgbClr val="FFFFFF"/>
                </a:solidFill>
                <a:latin typeface="Arial"/>
                <a:cs typeface="Arial"/>
              </a:rPr>
              <a:t>that</a:t>
            </a:r>
            <a:r>
              <a:rPr sz="2000" spc="-110" dirty="0">
                <a:solidFill>
                  <a:srgbClr val="FFFFFF"/>
                </a:solidFill>
                <a:latin typeface="Arial"/>
                <a:cs typeface="Arial"/>
              </a:rPr>
              <a:t> </a:t>
            </a:r>
            <a:r>
              <a:rPr sz="2000" spc="-50" dirty="0">
                <a:solidFill>
                  <a:srgbClr val="FFFFFF"/>
                </a:solidFill>
                <a:latin typeface="Arial"/>
                <a:cs typeface="Arial"/>
              </a:rPr>
              <a:t>is</a:t>
            </a:r>
            <a:r>
              <a:rPr sz="2000" spc="-105" dirty="0">
                <a:solidFill>
                  <a:srgbClr val="FFFFFF"/>
                </a:solidFill>
                <a:latin typeface="Arial"/>
                <a:cs typeface="Arial"/>
              </a:rPr>
              <a:t> </a:t>
            </a:r>
            <a:r>
              <a:rPr sz="2000" spc="-20" dirty="0">
                <a:solidFill>
                  <a:srgbClr val="FFFFFF"/>
                </a:solidFill>
                <a:latin typeface="Arial"/>
                <a:cs typeface="Arial"/>
              </a:rPr>
              <a:t>supported</a:t>
            </a:r>
            <a:r>
              <a:rPr sz="2000" spc="-100" dirty="0">
                <a:solidFill>
                  <a:srgbClr val="FFFFFF"/>
                </a:solidFill>
                <a:latin typeface="Arial"/>
                <a:cs typeface="Arial"/>
              </a:rPr>
              <a:t> </a:t>
            </a:r>
            <a:r>
              <a:rPr sz="2000" spc="15" dirty="0">
                <a:solidFill>
                  <a:srgbClr val="FFFFFF"/>
                </a:solidFill>
                <a:latin typeface="Arial"/>
                <a:cs typeface="Arial"/>
              </a:rPr>
              <a:t>neither</a:t>
            </a:r>
            <a:r>
              <a:rPr sz="2000" spc="-95" dirty="0">
                <a:solidFill>
                  <a:srgbClr val="FFFFFF"/>
                </a:solidFill>
                <a:latin typeface="Arial"/>
                <a:cs typeface="Arial"/>
              </a:rPr>
              <a:t> </a:t>
            </a:r>
            <a:r>
              <a:rPr sz="2000" spc="-10" dirty="0">
                <a:solidFill>
                  <a:srgbClr val="FFFFFF"/>
                </a:solidFill>
                <a:latin typeface="Arial"/>
                <a:cs typeface="Arial"/>
              </a:rPr>
              <a:t>by</a:t>
            </a:r>
            <a:r>
              <a:rPr sz="2000" spc="-100" dirty="0">
                <a:solidFill>
                  <a:srgbClr val="FFFFFF"/>
                </a:solidFill>
                <a:latin typeface="Arial"/>
                <a:cs typeface="Arial"/>
              </a:rPr>
              <a:t> </a:t>
            </a:r>
            <a:r>
              <a:rPr sz="2000" spc="20" dirty="0">
                <a:solidFill>
                  <a:srgbClr val="FFFFFF"/>
                </a:solidFill>
                <a:latin typeface="Arial"/>
                <a:cs typeface="Arial"/>
              </a:rPr>
              <a:t>SQL</a:t>
            </a:r>
            <a:r>
              <a:rPr sz="2000" spc="-105" dirty="0">
                <a:solidFill>
                  <a:srgbClr val="FFFFFF"/>
                </a:solidFill>
                <a:latin typeface="Arial"/>
                <a:cs typeface="Arial"/>
              </a:rPr>
              <a:t> </a:t>
            </a:r>
            <a:r>
              <a:rPr sz="2000" spc="-50" dirty="0">
                <a:solidFill>
                  <a:srgbClr val="FFFFFF"/>
                </a:solidFill>
                <a:latin typeface="Arial"/>
                <a:cs typeface="Arial"/>
              </a:rPr>
              <a:t>Server</a:t>
            </a:r>
            <a:r>
              <a:rPr sz="2000" spc="-95" dirty="0">
                <a:solidFill>
                  <a:srgbClr val="FFFFFF"/>
                </a:solidFill>
                <a:latin typeface="Arial"/>
                <a:cs typeface="Arial"/>
              </a:rPr>
              <a:t> </a:t>
            </a:r>
            <a:r>
              <a:rPr sz="2000" spc="45" dirty="0">
                <a:solidFill>
                  <a:srgbClr val="FFFFFF"/>
                </a:solidFill>
                <a:latin typeface="Arial"/>
                <a:cs typeface="Arial"/>
              </a:rPr>
              <a:t>nor</a:t>
            </a:r>
            <a:r>
              <a:rPr sz="2000" spc="-95" dirty="0">
                <a:solidFill>
                  <a:srgbClr val="FFFFFF"/>
                </a:solidFill>
                <a:latin typeface="Arial"/>
                <a:cs typeface="Arial"/>
              </a:rPr>
              <a:t> </a:t>
            </a:r>
            <a:r>
              <a:rPr sz="2000" spc="-10" dirty="0">
                <a:solidFill>
                  <a:srgbClr val="FFFFFF"/>
                </a:solidFill>
                <a:latin typeface="Arial"/>
                <a:cs typeface="Arial"/>
              </a:rPr>
              <a:t>by</a:t>
            </a:r>
            <a:r>
              <a:rPr sz="2000" spc="-105" dirty="0">
                <a:solidFill>
                  <a:srgbClr val="FFFFFF"/>
                </a:solidFill>
                <a:latin typeface="Arial"/>
                <a:cs typeface="Arial"/>
              </a:rPr>
              <a:t> </a:t>
            </a:r>
            <a:r>
              <a:rPr sz="2000" dirty="0">
                <a:solidFill>
                  <a:srgbClr val="FFFFFF"/>
                </a:solidFill>
                <a:latin typeface="Arial"/>
                <a:cs typeface="Arial"/>
              </a:rPr>
              <a:t>the  </a:t>
            </a:r>
            <a:r>
              <a:rPr sz="2000" spc="-15" dirty="0">
                <a:solidFill>
                  <a:srgbClr val="FFFFFF"/>
                </a:solidFill>
                <a:latin typeface="Arial"/>
                <a:cs typeface="Arial"/>
              </a:rPr>
              <a:t>operating</a:t>
            </a:r>
            <a:r>
              <a:rPr sz="2000" spc="-110" dirty="0">
                <a:solidFill>
                  <a:srgbClr val="FFFFFF"/>
                </a:solidFill>
                <a:latin typeface="Arial"/>
                <a:cs typeface="Arial"/>
              </a:rPr>
              <a:t> </a:t>
            </a:r>
            <a:r>
              <a:rPr sz="2000" spc="-80" dirty="0">
                <a:solidFill>
                  <a:srgbClr val="FFFFFF"/>
                </a:solidFill>
                <a:latin typeface="Arial"/>
                <a:cs typeface="Arial"/>
              </a:rPr>
              <a:t>system.</a:t>
            </a:r>
            <a:endParaRPr sz="2000">
              <a:latin typeface="Arial"/>
              <a:cs typeface="Arial"/>
            </a:endParaRPr>
          </a:p>
        </p:txBody>
      </p:sp>
      <p:pic>
        <p:nvPicPr>
          <p:cNvPr id="5" name="object 5"/>
          <p:cNvPicPr/>
          <p:nvPr/>
        </p:nvPicPr>
        <p:blipFill>
          <a:blip r:embed="rId3" cstate="print"/>
          <a:stretch>
            <a:fillRect/>
          </a:stretch>
        </p:blipFill>
        <p:spPr>
          <a:xfrm>
            <a:off x="2011679" y="3803141"/>
            <a:ext cx="5458206" cy="2493264"/>
          </a:xfrm>
          <a:prstGeom prst="rect">
            <a:avLst/>
          </a:prstGeom>
        </p:spPr>
      </p:pic>
      <p:sp>
        <p:nvSpPr>
          <p:cNvPr id="6" name="object 6"/>
          <p:cNvSpPr txBox="1"/>
          <p:nvPr/>
        </p:nvSpPr>
        <p:spPr>
          <a:xfrm>
            <a:off x="697737" y="2770377"/>
            <a:ext cx="6828790" cy="828675"/>
          </a:xfrm>
          <a:prstGeom prst="rect">
            <a:avLst/>
          </a:prstGeom>
        </p:spPr>
        <p:txBody>
          <a:bodyPr vert="horz" wrap="square" lIns="0" tIns="12065" rIns="0" bIns="0" rtlCol="0">
            <a:spAutoFit/>
          </a:bodyPr>
          <a:lstStyle/>
          <a:p>
            <a:pPr marL="12700">
              <a:lnSpc>
                <a:spcPct val="100000"/>
              </a:lnSpc>
              <a:spcBef>
                <a:spcPts val="95"/>
              </a:spcBef>
            </a:pPr>
            <a:r>
              <a:rPr sz="2000" spc="-95" dirty="0">
                <a:latin typeface="Arial"/>
                <a:cs typeface="Arial"/>
              </a:rPr>
              <a:t>Some</a:t>
            </a:r>
            <a:r>
              <a:rPr sz="2000" spc="-120" dirty="0">
                <a:latin typeface="Arial"/>
                <a:cs typeface="Arial"/>
              </a:rPr>
              <a:t> </a:t>
            </a:r>
            <a:r>
              <a:rPr sz="2000" spc="-60" dirty="0">
                <a:latin typeface="Arial"/>
                <a:cs typeface="Arial"/>
              </a:rPr>
              <a:t>instances</a:t>
            </a:r>
            <a:r>
              <a:rPr sz="2000" spc="-110" dirty="0">
                <a:latin typeface="Arial"/>
                <a:cs typeface="Arial"/>
              </a:rPr>
              <a:t> </a:t>
            </a:r>
            <a:r>
              <a:rPr sz="2000" spc="-35" dirty="0">
                <a:latin typeface="Arial"/>
                <a:cs typeface="Arial"/>
              </a:rPr>
              <a:t>where</a:t>
            </a:r>
            <a:r>
              <a:rPr sz="2000" spc="-114" dirty="0">
                <a:latin typeface="Arial"/>
                <a:cs typeface="Arial"/>
              </a:rPr>
              <a:t> </a:t>
            </a:r>
            <a:r>
              <a:rPr sz="2000" spc="30" dirty="0">
                <a:latin typeface="Arial"/>
                <a:cs typeface="Arial"/>
              </a:rPr>
              <a:t>run-time</a:t>
            </a:r>
            <a:r>
              <a:rPr sz="2000" spc="-125" dirty="0">
                <a:latin typeface="Arial"/>
                <a:cs typeface="Arial"/>
              </a:rPr>
              <a:t> </a:t>
            </a:r>
            <a:r>
              <a:rPr sz="2000" spc="-30" dirty="0">
                <a:latin typeface="Arial"/>
                <a:cs typeface="Arial"/>
              </a:rPr>
              <a:t>errors</a:t>
            </a:r>
            <a:r>
              <a:rPr sz="2000" spc="-110" dirty="0">
                <a:latin typeface="Arial"/>
                <a:cs typeface="Arial"/>
              </a:rPr>
              <a:t> </a:t>
            </a:r>
            <a:r>
              <a:rPr sz="2000" spc="-75" dirty="0">
                <a:latin typeface="Arial"/>
                <a:cs typeface="Arial"/>
              </a:rPr>
              <a:t>can</a:t>
            </a:r>
            <a:r>
              <a:rPr sz="2000" spc="-130" dirty="0">
                <a:latin typeface="Arial"/>
                <a:cs typeface="Arial"/>
              </a:rPr>
              <a:t> </a:t>
            </a:r>
            <a:r>
              <a:rPr sz="2000" spc="-20" dirty="0">
                <a:latin typeface="Arial"/>
                <a:cs typeface="Arial"/>
              </a:rPr>
              <a:t>occur</a:t>
            </a:r>
            <a:r>
              <a:rPr sz="2000" spc="-140" dirty="0">
                <a:latin typeface="Arial"/>
                <a:cs typeface="Arial"/>
              </a:rPr>
              <a:t> </a:t>
            </a:r>
            <a:r>
              <a:rPr sz="2000" spc="-100" dirty="0">
                <a:latin typeface="Arial"/>
                <a:cs typeface="Arial"/>
              </a:rPr>
              <a:t>are</a:t>
            </a:r>
            <a:r>
              <a:rPr sz="2000" spc="-120" dirty="0">
                <a:latin typeface="Arial"/>
                <a:cs typeface="Arial"/>
              </a:rPr>
              <a:t> </a:t>
            </a:r>
            <a:r>
              <a:rPr sz="2000" spc="-204" dirty="0">
                <a:latin typeface="Arial"/>
                <a:cs typeface="Arial"/>
              </a:rPr>
              <a:t>as</a:t>
            </a:r>
            <a:r>
              <a:rPr sz="2000" spc="-125" dirty="0">
                <a:latin typeface="Arial"/>
                <a:cs typeface="Arial"/>
              </a:rPr>
              <a:t> </a:t>
            </a:r>
            <a:r>
              <a:rPr sz="2000" spc="15" dirty="0">
                <a:latin typeface="Arial"/>
                <a:cs typeface="Arial"/>
              </a:rPr>
              <a:t>follows:</a:t>
            </a:r>
            <a:endParaRPr sz="2000">
              <a:latin typeface="Arial"/>
              <a:cs typeface="Arial"/>
            </a:endParaRPr>
          </a:p>
          <a:p>
            <a:pPr marL="125095" indent="-113030">
              <a:lnSpc>
                <a:spcPct val="100000"/>
              </a:lnSpc>
              <a:spcBef>
                <a:spcPts val="85"/>
              </a:spcBef>
              <a:buChar char="-"/>
              <a:tabLst>
                <a:tab pos="125730" algn="l"/>
              </a:tabLst>
            </a:pPr>
            <a:r>
              <a:rPr sz="1600" spc="-5" dirty="0">
                <a:latin typeface="Arial"/>
                <a:cs typeface="Arial"/>
              </a:rPr>
              <a:t>Performing</a:t>
            </a:r>
            <a:r>
              <a:rPr sz="1600" spc="-130" dirty="0">
                <a:latin typeface="Arial"/>
                <a:cs typeface="Arial"/>
              </a:rPr>
              <a:t> </a:t>
            </a:r>
            <a:r>
              <a:rPr sz="1600" spc="-155" dirty="0">
                <a:latin typeface="Arial"/>
                <a:cs typeface="Arial"/>
              </a:rPr>
              <a:t>a</a:t>
            </a:r>
            <a:r>
              <a:rPr sz="1600" spc="-110" dirty="0">
                <a:latin typeface="Arial"/>
                <a:cs typeface="Arial"/>
              </a:rPr>
              <a:t> </a:t>
            </a:r>
            <a:r>
              <a:rPr sz="1600" dirty="0">
                <a:latin typeface="Arial"/>
                <a:cs typeface="Arial"/>
              </a:rPr>
              <a:t>calculation</a:t>
            </a:r>
            <a:r>
              <a:rPr sz="1600" spc="-110" dirty="0">
                <a:latin typeface="Arial"/>
                <a:cs typeface="Arial"/>
              </a:rPr>
              <a:t> </a:t>
            </a:r>
            <a:r>
              <a:rPr sz="1600" spc="-45" dirty="0">
                <a:latin typeface="Arial"/>
                <a:cs typeface="Arial"/>
              </a:rPr>
              <a:t>such</a:t>
            </a:r>
            <a:r>
              <a:rPr sz="1600" spc="-110" dirty="0">
                <a:latin typeface="Arial"/>
                <a:cs typeface="Arial"/>
              </a:rPr>
              <a:t> </a:t>
            </a:r>
            <a:r>
              <a:rPr sz="1600" spc="-165" dirty="0">
                <a:latin typeface="Arial"/>
                <a:cs typeface="Arial"/>
              </a:rPr>
              <a:t>as</a:t>
            </a:r>
            <a:r>
              <a:rPr sz="1600" spc="-114" dirty="0">
                <a:latin typeface="Arial"/>
                <a:cs typeface="Arial"/>
              </a:rPr>
              <a:t> </a:t>
            </a:r>
            <a:r>
              <a:rPr sz="1600" spc="25" dirty="0">
                <a:latin typeface="Arial"/>
                <a:cs typeface="Arial"/>
              </a:rPr>
              <a:t>division</a:t>
            </a:r>
            <a:r>
              <a:rPr sz="1600" spc="-125" dirty="0">
                <a:latin typeface="Arial"/>
                <a:cs typeface="Arial"/>
              </a:rPr>
              <a:t> </a:t>
            </a:r>
            <a:r>
              <a:rPr sz="1600" spc="-15" dirty="0">
                <a:latin typeface="Arial"/>
                <a:cs typeface="Arial"/>
              </a:rPr>
              <a:t>by</a:t>
            </a:r>
            <a:r>
              <a:rPr sz="1600" spc="-105" dirty="0">
                <a:latin typeface="Arial"/>
                <a:cs typeface="Arial"/>
              </a:rPr>
              <a:t> </a:t>
            </a:r>
            <a:r>
              <a:rPr sz="1600" spc="-80" dirty="0">
                <a:latin typeface="Arial"/>
                <a:cs typeface="Arial"/>
              </a:rPr>
              <a:t>zer0</a:t>
            </a:r>
            <a:endParaRPr sz="1600">
              <a:latin typeface="Arial"/>
              <a:cs typeface="Arial"/>
            </a:endParaRPr>
          </a:p>
          <a:p>
            <a:pPr marL="125095" indent="-113030">
              <a:lnSpc>
                <a:spcPct val="100000"/>
              </a:lnSpc>
              <a:buChar char="-"/>
              <a:tabLst>
                <a:tab pos="125730" algn="l"/>
              </a:tabLst>
            </a:pPr>
            <a:r>
              <a:rPr sz="1600" spc="40" dirty="0">
                <a:latin typeface="Arial"/>
                <a:cs typeface="Arial"/>
              </a:rPr>
              <a:t>Trying</a:t>
            </a:r>
            <a:r>
              <a:rPr sz="1600" spc="-114" dirty="0">
                <a:latin typeface="Arial"/>
                <a:cs typeface="Arial"/>
              </a:rPr>
              <a:t> </a:t>
            </a:r>
            <a:r>
              <a:rPr sz="1600" spc="40" dirty="0">
                <a:latin typeface="Arial"/>
                <a:cs typeface="Arial"/>
              </a:rPr>
              <a:t>to</a:t>
            </a:r>
            <a:r>
              <a:rPr sz="1600" spc="-114" dirty="0">
                <a:latin typeface="Arial"/>
                <a:cs typeface="Arial"/>
              </a:rPr>
              <a:t> </a:t>
            </a:r>
            <a:r>
              <a:rPr sz="1600" spc="-45" dirty="0">
                <a:latin typeface="Arial"/>
                <a:cs typeface="Arial"/>
              </a:rPr>
              <a:t>execute</a:t>
            </a:r>
            <a:r>
              <a:rPr sz="1600" spc="-85" dirty="0">
                <a:latin typeface="Arial"/>
                <a:cs typeface="Arial"/>
              </a:rPr>
              <a:t> </a:t>
            </a:r>
            <a:r>
              <a:rPr sz="1600" spc="-55" dirty="0">
                <a:latin typeface="Arial"/>
                <a:cs typeface="Arial"/>
              </a:rPr>
              <a:t>code</a:t>
            </a:r>
            <a:r>
              <a:rPr sz="1600" spc="-110" dirty="0">
                <a:latin typeface="Arial"/>
                <a:cs typeface="Arial"/>
              </a:rPr>
              <a:t> </a:t>
            </a:r>
            <a:r>
              <a:rPr sz="1600" spc="25" dirty="0">
                <a:latin typeface="Arial"/>
                <a:cs typeface="Arial"/>
              </a:rPr>
              <a:t>that</a:t>
            </a:r>
            <a:r>
              <a:rPr sz="1600" spc="-110" dirty="0">
                <a:latin typeface="Arial"/>
                <a:cs typeface="Arial"/>
              </a:rPr>
              <a:t> </a:t>
            </a:r>
            <a:r>
              <a:rPr sz="1600" spc="-40" dirty="0">
                <a:latin typeface="Arial"/>
                <a:cs typeface="Arial"/>
              </a:rPr>
              <a:t>is</a:t>
            </a:r>
            <a:r>
              <a:rPr sz="1600" spc="-125" dirty="0">
                <a:latin typeface="Arial"/>
                <a:cs typeface="Arial"/>
              </a:rPr>
              <a:t> </a:t>
            </a:r>
            <a:r>
              <a:rPr sz="1600" spc="45" dirty="0">
                <a:latin typeface="Arial"/>
                <a:cs typeface="Arial"/>
              </a:rPr>
              <a:t>not</a:t>
            </a:r>
            <a:r>
              <a:rPr sz="1600" spc="-105" dirty="0">
                <a:latin typeface="Arial"/>
                <a:cs typeface="Arial"/>
              </a:rPr>
              <a:t> </a:t>
            </a:r>
            <a:r>
              <a:rPr sz="1600" dirty="0">
                <a:latin typeface="Arial"/>
                <a:cs typeface="Arial"/>
              </a:rPr>
              <a:t>defined</a:t>
            </a:r>
            <a:r>
              <a:rPr sz="1600" spc="-120" dirty="0">
                <a:latin typeface="Arial"/>
                <a:cs typeface="Arial"/>
              </a:rPr>
              <a:t> </a:t>
            </a:r>
            <a:r>
              <a:rPr sz="1600" spc="-20" dirty="0">
                <a:latin typeface="Arial"/>
                <a:cs typeface="Arial"/>
              </a:rPr>
              <a:t>clearly</a:t>
            </a:r>
            <a:endParaRPr sz="16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7</a:t>
            </a:fld>
            <a:endParaRPr sz="1200"/>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7" name="object 7"/>
          <p:cNvSpPr txBox="1"/>
          <p:nvPr/>
        </p:nvSpPr>
        <p:spPr>
          <a:xfrm>
            <a:off x="3901947" y="6314440"/>
            <a:ext cx="1570355" cy="238760"/>
          </a:xfrm>
          <a:prstGeom prst="rect">
            <a:avLst/>
          </a:prstGeom>
        </p:spPr>
        <p:txBody>
          <a:bodyPr vert="horz" wrap="square" lIns="0" tIns="12065" rIns="0" bIns="0" rtlCol="0">
            <a:spAutoFit/>
          </a:bodyPr>
          <a:lstStyle/>
          <a:p>
            <a:pPr marL="12700">
              <a:lnSpc>
                <a:spcPct val="100000"/>
              </a:lnSpc>
              <a:spcBef>
                <a:spcPts val="95"/>
              </a:spcBef>
            </a:pPr>
            <a:r>
              <a:rPr sz="1400" b="1" spc="-35" dirty="0">
                <a:latin typeface="Arial"/>
                <a:cs typeface="Arial"/>
              </a:rPr>
              <a:t>Divide </a:t>
            </a:r>
            <a:r>
              <a:rPr sz="1400" b="1" spc="-95" dirty="0">
                <a:latin typeface="Arial"/>
                <a:cs typeface="Arial"/>
              </a:rPr>
              <a:t>by </a:t>
            </a:r>
            <a:r>
              <a:rPr sz="1400" b="1" spc="-85" dirty="0">
                <a:latin typeface="Arial"/>
                <a:cs typeface="Arial"/>
              </a:rPr>
              <a:t>Zero</a:t>
            </a:r>
            <a:r>
              <a:rPr sz="1400" b="1" spc="-260" dirty="0">
                <a:latin typeface="Arial"/>
                <a:cs typeface="Arial"/>
              </a:rPr>
              <a:t> </a:t>
            </a:r>
            <a:r>
              <a:rPr sz="1400" b="1" spc="-60" dirty="0">
                <a:latin typeface="Arial"/>
                <a:cs typeface="Arial"/>
              </a:rPr>
              <a:t>Error</a:t>
            </a:r>
            <a:endParaRPr sz="140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7366"/>
            <a:ext cx="4007485" cy="635635"/>
          </a:xfrm>
          <a:prstGeom prst="rect">
            <a:avLst/>
          </a:prstGeom>
        </p:spPr>
        <p:txBody>
          <a:bodyPr vert="horz" wrap="square" lIns="0" tIns="12700" rIns="0" bIns="0" rtlCol="0">
            <a:spAutoFit/>
          </a:bodyPr>
          <a:lstStyle/>
          <a:p>
            <a:pPr marL="12700">
              <a:lnSpc>
                <a:spcPct val="100000"/>
              </a:lnSpc>
              <a:spcBef>
                <a:spcPts val="100"/>
              </a:spcBef>
            </a:pPr>
            <a:r>
              <a:rPr sz="4000" spc="-90" dirty="0"/>
              <a:t>Types </a:t>
            </a:r>
            <a:r>
              <a:rPr sz="4000" spc="114" dirty="0"/>
              <a:t>of</a:t>
            </a:r>
            <a:r>
              <a:rPr sz="4000" spc="-740" dirty="0"/>
              <a:t> </a:t>
            </a:r>
            <a:r>
              <a:rPr sz="4000" spc="-35" dirty="0"/>
              <a:t>Errors </a:t>
            </a:r>
            <a:r>
              <a:rPr sz="4000" spc="-565" dirty="0"/>
              <a:t>5-5</a:t>
            </a:r>
            <a:endParaRPr sz="4000"/>
          </a:p>
        </p:txBody>
      </p:sp>
      <p:pic>
        <p:nvPicPr>
          <p:cNvPr id="3" name="object 3"/>
          <p:cNvPicPr/>
          <p:nvPr/>
        </p:nvPicPr>
        <p:blipFill>
          <a:blip r:embed="rId3" cstate="print"/>
          <a:stretch>
            <a:fillRect/>
          </a:stretch>
        </p:blipFill>
        <p:spPr>
          <a:xfrm>
            <a:off x="1807464" y="1102613"/>
            <a:ext cx="5529072" cy="2574798"/>
          </a:xfrm>
          <a:prstGeom prst="rect">
            <a:avLst/>
          </a:prstGeom>
        </p:spPr>
      </p:pic>
      <p:sp>
        <p:nvSpPr>
          <p:cNvPr id="4" name="object 4"/>
          <p:cNvSpPr txBox="1"/>
          <p:nvPr/>
        </p:nvSpPr>
        <p:spPr>
          <a:xfrm>
            <a:off x="662686" y="3771081"/>
            <a:ext cx="7388859" cy="1649095"/>
          </a:xfrm>
          <a:prstGeom prst="rect">
            <a:avLst/>
          </a:prstGeom>
        </p:spPr>
        <p:txBody>
          <a:bodyPr vert="horz" wrap="square" lIns="0" tIns="40640" rIns="0" bIns="0" rtlCol="0">
            <a:spAutoFit/>
          </a:bodyPr>
          <a:lstStyle/>
          <a:p>
            <a:pPr marL="12700">
              <a:lnSpc>
                <a:spcPct val="100000"/>
              </a:lnSpc>
              <a:spcBef>
                <a:spcPts val="320"/>
              </a:spcBef>
            </a:pPr>
            <a:r>
              <a:rPr sz="2000" spc="20" dirty="0">
                <a:latin typeface="Arial"/>
                <a:cs typeface="Arial"/>
              </a:rPr>
              <a:t>Following</a:t>
            </a:r>
            <a:r>
              <a:rPr sz="2000" spc="-100" dirty="0">
                <a:latin typeface="Arial"/>
                <a:cs typeface="Arial"/>
              </a:rPr>
              <a:t> are</a:t>
            </a:r>
            <a:r>
              <a:rPr sz="2000" spc="-120" dirty="0">
                <a:latin typeface="Arial"/>
                <a:cs typeface="Arial"/>
              </a:rPr>
              <a:t> </a:t>
            </a:r>
            <a:r>
              <a:rPr sz="2000" spc="-110" dirty="0">
                <a:latin typeface="Arial"/>
                <a:cs typeface="Arial"/>
              </a:rPr>
              <a:t>some</a:t>
            </a:r>
            <a:r>
              <a:rPr sz="2000" spc="-114" dirty="0">
                <a:latin typeface="Arial"/>
                <a:cs typeface="Arial"/>
              </a:rPr>
              <a:t> </a:t>
            </a:r>
            <a:r>
              <a:rPr sz="2000" spc="-20" dirty="0">
                <a:latin typeface="Arial"/>
                <a:cs typeface="Arial"/>
              </a:rPr>
              <a:t>common</a:t>
            </a:r>
            <a:r>
              <a:rPr sz="2000" spc="-114" dirty="0">
                <a:latin typeface="Arial"/>
                <a:cs typeface="Arial"/>
              </a:rPr>
              <a:t> </a:t>
            </a:r>
            <a:r>
              <a:rPr sz="2000" spc="-5" dirty="0">
                <a:latin typeface="Arial"/>
                <a:cs typeface="Arial"/>
              </a:rPr>
              <a:t>situations</a:t>
            </a:r>
            <a:r>
              <a:rPr sz="2000" spc="-114" dirty="0">
                <a:latin typeface="Arial"/>
                <a:cs typeface="Arial"/>
              </a:rPr>
              <a:t> </a:t>
            </a:r>
            <a:r>
              <a:rPr sz="2000" spc="-5" dirty="0">
                <a:latin typeface="Arial"/>
                <a:cs typeface="Arial"/>
              </a:rPr>
              <a:t>when</a:t>
            </a:r>
            <a:r>
              <a:rPr sz="2000" spc="-105" dirty="0">
                <a:latin typeface="Arial"/>
                <a:cs typeface="Arial"/>
              </a:rPr>
              <a:t> </a:t>
            </a:r>
            <a:r>
              <a:rPr sz="2000" spc="30" dirty="0">
                <a:latin typeface="Arial"/>
                <a:cs typeface="Arial"/>
              </a:rPr>
              <a:t>run-time</a:t>
            </a:r>
            <a:r>
              <a:rPr sz="2000" spc="-125" dirty="0">
                <a:latin typeface="Arial"/>
                <a:cs typeface="Arial"/>
              </a:rPr>
              <a:t> </a:t>
            </a:r>
            <a:r>
              <a:rPr sz="2000" spc="5" dirty="0">
                <a:latin typeface="Arial"/>
                <a:cs typeface="Arial"/>
              </a:rPr>
              <a:t>error</a:t>
            </a:r>
            <a:r>
              <a:rPr sz="2000" spc="-110" dirty="0">
                <a:latin typeface="Arial"/>
                <a:cs typeface="Arial"/>
              </a:rPr>
              <a:t> </a:t>
            </a:r>
            <a:r>
              <a:rPr sz="2000" spc="-50" dirty="0">
                <a:latin typeface="Arial"/>
                <a:cs typeface="Arial"/>
              </a:rPr>
              <a:t>occurs:</a:t>
            </a:r>
            <a:endParaRPr sz="2000">
              <a:latin typeface="Arial"/>
              <a:cs typeface="Arial"/>
            </a:endParaRPr>
          </a:p>
          <a:p>
            <a:pPr marL="144145" indent="-132080">
              <a:lnSpc>
                <a:spcPct val="100000"/>
              </a:lnSpc>
              <a:spcBef>
                <a:spcPts val="200"/>
              </a:spcBef>
              <a:buSzPct val="112500"/>
              <a:buChar char="-"/>
              <a:tabLst>
                <a:tab pos="144780" algn="l"/>
              </a:tabLst>
            </a:pPr>
            <a:r>
              <a:rPr sz="1600" spc="5" dirty="0">
                <a:latin typeface="Arial"/>
                <a:cs typeface="Arial"/>
              </a:rPr>
              <a:t>Using</a:t>
            </a:r>
            <a:r>
              <a:rPr sz="1600" spc="-130" dirty="0">
                <a:latin typeface="Arial"/>
                <a:cs typeface="Arial"/>
              </a:rPr>
              <a:t> </a:t>
            </a:r>
            <a:r>
              <a:rPr sz="1600" spc="-155" dirty="0">
                <a:latin typeface="Arial"/>
                <a:cs typeface="Arial"/>
              </a:rPr>
              <a:t>a</a:t>
            </a:r>
            <a:r>
              <a:rPr sz="1600" spc="-110" dirty="0">
                <a:latin typeface="Arial"/>
                <a:cs typeface="Arial"/>
              </a:rPr>
              <a:t> </a:t>
            </a:r>
            <a:r>
              <a:rPr sz="1600" spc="-25" dirty="0">
                <a:latin typeface="Arial"/>
                <a:cs typeface="Arial"/>
              </a:rPr>
              <a:t>stored</a:t>
            </a:r>
            <a:r>
              <a:rPr sz="1600" spc="-110" dirty="0">
                <a:latin typeface="Arial"/>
                <a:cs typeface="Arial"/>
              </a:rPr>
              <a:t> </a:t>
            </a:r>
            <a:r>
              <a:rPr sz="1600" spc="-25" dirty="0">
                <a:latin typeface="Arial"/>
                <a:cs typeface="Arial"/>
              </a:rPr>
              <a:t>procedure,</a:t>
            </a:r>
            <a:r>
              <a:rPr sz="1600" spc="-114" dirty="0">
                <a:latin typeface="Arial"/>
                <a:cs typeface="Arial"/>
              </a:rPr>
              <a:t> </a:t>
            </a:r>
            <a:r>
              <a:rPr sz="1600" spc="20" dirty="0">
                <a:latin typeface="Arial"/>
                <a:cs typeface="Arial"/>
              </a:rPr>
              <a:t>or</a:t>
            </a:r>
            <a:r>
              <a:rPr sz="1600" spc="-110" dirty="0">
                <a:latin typeface="Arial"/>
                <a:cs typeface="Arial"/>
              </a:rPr>
              <a:t> </a:t>
            </a:r>
            <a:r>
              <a:rPr sz="1600" spc="-155" dirty="0">
                <a:latin typeface="Arial"/>
                <a:cs typeface="Arial"/>
              </a:rPr>
              <a:t>a</a:t>
            </a:r>
            <a:r>
              <a:rPr sz="1600" spc="-105" dirty="0">
                <a:latin typeface="Arial"/>
                <a:cs typeface="Arial"/>
              </a:rPr>
              <a:t> </a:t>
            </a:r>
            <a:r>
              <a:rPr sz="1600" spc="35" dirty="0">
                <a:latin typeface="Arial"/>
                <a:cs typeface="Arial"/>
              </a:rPr>
              <a:t>function,</a:t>
            </a:r>
            <a:r>
              <a:rPr sz="1600" spc="-110" dirty="0">
                <a:latin typeface="Arial"/>
                <a:cs typeface="Arial"/>
              </a:rPr>
              <a:t> </a:t>
            </a:r>
            <a:r>
              <a:rPr sz="1600" spc="20" dirty="0">
                <a:latin typeface="Arial"/>
                <a:cs typeface="Arial"/>
              </a:rPr>
              <a:t>or</a:t>
            </a:r>
            <a:r>
              <a:rPr sz="1600" spc="-110" dirty="0">
                <a:latin typeface="Arial"/>
                <a:cs typeface="Arial"/>
              </a:rPr>
              <a:t> </a:t>
            </a:r>
            <a:r>
              <a:rPr sz="1600" spc="-155" dirty="0">
                <a:latin typeface="Arial"/>
                <a:cs typeface="Arial"/>
              </a:rPr>
              <a:t>a</a:t>
            </a:r>
            <a:r>
              <a:rPr sz="1600" spc="-105" dirty="0">
                <a:latin typeface="Arial"/>
                <a:cs typeface="Arial"/>
              </a:rPr>
              <a:t> </a:t>
            </a:r>
            <a:r>
              <a:rPr sz="1600" spc="-5" dirty="0">
                <a:latin typeface="Arial"/>
                <a:cs typeface="Arial"/>
              </a:rPr>
              <a:t>trigger</a:t>
            </a:r>
            <a:r>
              <a:rPr sz="1600" spc="-120" dirty="0">
                <a:latin typeface="Arial"/>
                <a:cs typeface="Arial"/>
              </a:rPr>
              <a:t> </a:t>
            </a:r>
            <a:r>
              <a:rPr sz="1600" spc="25" dirty="0">
                <a:latin typeface="Arial"/>
                <a:cs typeface="Arial"/>
              </a:rPr>
              <a:t>that</a:t>
            </a:r>
            <a:r>
              <a:rPr sz="1600" spc="-110" dirty="0">
                <a:latin typeface="Arial"/>
                <a:cs typeface="Arial"/>
              </a:rPr>
              <a:t> </a:t>
            </a:r>
            <a:r>
              <a:rPr sz="1600" spc="-40" dirty="0">
                <a:latin typeface="Arial"/>
                <a:cs typeface="Arial"/>
              </a:rPr>
              <a:t>is</a:t>
            </a:r>
            <a:r>
              <a:rPr sz="1600" spc="-125" dirty="0">
                <a:latin typeface="Arial"/>
                <a:cs typeface="Arial"/>
              </a:rPr>
              <a:t> </a:t>
            </a:r>
            <a:r>
              <a:rPr sz="1600" spc="-20" dirty="0">
                <a:latin typeface="Arial"/>
                <a:cs typeface="Arial"/>
              </a:rPr>
              <a:t>unavailable</a:t>
            </a:r>
            <a:endParaRPr sz="1600">
              <a:latin typeface="Arial"/>
              <a:cs typeface="Arial"/>
            </a:endParaRPr>
          </a:p>
          <a:p>
            <a:pPr marL="125095" indent="-113030">
              <a:lnSpc>
                <a:spcPct val="100000"/>
              </a:lnSpc>
              <a:spcBef>
                <a:spcPts val="120"/>
              </a:spcBef>
              <a:buChar char="-"/>
              <a:tabLst>
                <a:tab pos="125730" algn="l"/>
              </a:tabLst>
            </a:pPr>
            <a:r>
              <a:rPr sz="1600" spc="40" dirty="0">
                <a:latin typeface="Arial"/>
                <a:cs typeface="Arial"/>
              </a:rPr>
              <a:t>Trying</a:t>
            </a:r>
            <a:r>
              <a:rPr sz="1600" spc="-114" dirty="0">
                <a:latin typeface="Arial"/>
                <a:cs typeface="Arial"/>
              </a:rPr>
              <a:t> </a:t>
            </a:r>
            <a:r>
              <a:rPr sz="1600" spc="40" dirty="0">
                <a:latin typeface="Arial"/>
                <a:cs typeface="Arial"/>
              </a:rPr>
              <a:t>to</a:t>
            </a:r>
            <a:r>
              <a:rPr sz="1600" spc="-110" dirty="0">
                <a:latin typeface="Arial"/>
                <a:cs typeface="Arial"/>
              </a:rPr>
              <a:t> </a:t>
            </a:r>
            <a:r>
              <a:rPr sz="1600" spc="10" dirty="0">
                <a:latin typeface="Arial"/>
                <a:cs typeface="Arial"/>
              </a:rPr>
              <a:t>perform</a:t>
            </a:r>
            <a:r>
              <a:rPr sz="1600" spc="-105" dirty="0">
                <a:latin typeface="Arial"/>
                <a:cs typeface="Arial"/>
              </a:rPr>
              <a:t> </a:t>
            </a:r>
            <a:r>
              <a:rPr sz="1600" spc="-50" dirty="0">
                <a:latin typeface="Arial"/>
                <a:cs typeface="Arial"/>
              </a:rPr>
              <a:t>an</a:t>
            </a:r>
            <a:r>
              <a:rPr sz="1600" spc="-110" dirty="0">
                <a:latin typeface="Arial"/>
                <a:cs typeface="Arial"/>
              </a:rPr>
              <a:t> </a:t>
            </a:r>
            <a:r>
              <a:rPr sz="1600" dirty="0">
                <a:latin typeface="Arial"/>
                <a:cs typeface="Arial"/>
              </a:rPr>
              <a:t>action</a:t>
            </a:r>
            <a:r>
              <a:rPr sz="1600" spc="-110" dirty="0">
                <a:latin typeface="Arial"/>
                <a:cs typeface="Arial"/>
              </a:rPr>
              <a:t> </a:t>
            </a:r>
            <a:r>
              <a:rPr sz="1600" spc="25" dirty="0">
                <a:latin typeface="Arial"/>
                <a:cs typeface="Arial"/>
              </a:rPr>
              <a:t>that</a:t>
            </a:r>
            <a:r>
              <a:rPr sz="1600" spc="-105" dirty="0">
                <a:latin typeface="Arial"/>
                <a:cs typeface="Arial"/>
              </a:rPr>
              <a:t> </a:t>
            </a:r>
            <a:r>
              <a:rPr sz="1600" spc="-50" dirty="0">
                <a:latin typeface="Arial"/>
                <a:cs typeface="Arial"/>
              </a:rPr>
              <a:t>an</a:t>
            </a:r>
            <a:r>
              <a:rPr sz="1600" spc="-110" dirty="0">
                <a:latin typeface="Arial"/>
                <a:cs typeface="Arial"/>
              </a:rPr>
              <a:t> </a:t>
            </a:r>
            <a:r>
              <a:rPr sz="1600" spc="-10" dirty="0">
                <a:latin typeface="Arial"/>
                <a:cs typeface="Arial"/>
              </a:rPr>
              <a:t>object</a:t>
            </a:r>
            <a:r>
              <a:rPr sz="1600" spc="-100" dirty="0">
                <a:latin typeface="Arial"/>
                <a:cs typeface="Arial"/>
              </a:rPr>
              <a:t> </a:t>
            </a:r>
            <a:r>
              <a:rPr sz="1600" spc="20" dirty="0">
                <a:latin typeface="Arial"/>
                <a:cs typeface="Arial"/>
              </a:rPr>
              <a:t>or</a:t>
            </a:r>
            <a:r>
              <a:rPr sz="1600" spc="-110" dirty="0">
                <a:latin typeface="Arial"/>
                <a:cs typeface="Arial"/>
              </a:rPr>
              <a:t> </a:t>
            </a:r>
            <a:r>
              <a:rPr sz="1600" spc="-155" dirty="0">
                <a:latin typeface="Arial"/>
                <a:cs typeface="Arial"/>
              </a:rPr>
              <a:t>a</a:t>
            </a:r>
            <a:r>
              <a:rPr sz="1600" spc="-110" dirty="0">
                <a:latin typeface="Arial"/>
                <a:cs typeface="Arial"/>
              </a:rPr>
              <a:t> </a:t>
            </a:r>
            <a:r>
              <a:rPr sz="1600" spc="-25" dirty="0">
                <a:latin typeface="Arial"/>
                <a:cs typeface="Arial"/>
              </a:rPr>
              <a:t>variable</a:t>
            </a:r>
            <a:r>
              <a:rPr sz="1600" spc="-110" dirty="0">
                <a:latin typeface="Arial"/>
                <a:cs typeface="Arial"/>
              </a:rPr>
              <a:t> </a:t>
            </a:r>
            <a:r>
              <a:rPr sz="1600" spc="-5" dirty="0">
                <a:latin typeface="Arial"/>
                <a:cs typeface="Arial"/>
              </a:rPr>
              <a:t>cannot</a:t>
            </a:r>
            <a:r>
              <a:rPr sz="1600" spc="-100" dirty="0">
                <a:latin typeface="Arial"/>
                <a:cs typeface="Arial"/>
              </a:rPr>
              <a:t> </a:t>
            </a:r>
            <a:r>
              <a:rPr sz="1600" spc="-15" dirty="0">
                <a:latin typeface="Arial"/>
                <a:cs typeface="Arial"/>
              </a:rPr>
              <a:t>handle</a:t>
            </a:r>
            <a:endParaRPr sz="1600">
              <a:latin typeface="Arial"/>
              <a:cs typeface="Arial"/>
            </a:endParaRPr>
          </a:p>
          <a:p>
            <a:pPr marL="125095" indent="-113030">
              <a:lnSpc>
                <a:spcPct val="100000"/>
              </a:lnSpc>
              <a:buChar char="-"/>
              <a:tabLst>
                <a:tab pos="125730" algn="l"/>
              </a:tabLst>
            </a:pPr>
            <a:r>
              <a:rPr sz="1600" spc="40" dirty="0">
                <a:latin typeface="Arial"/>
                <a:cs typeface="Arial"/>
              </a:rPr>
              <a:t>Attempting</a:t>
            </a:r>
            <a:r>
              <a:rPr sz="1600" spc="-105" dirty="0">
                <a:latin typeface="Arial"/>
                <a:cs typeface="Arial"/>
              </a:rPr>
              <a:t> </a:t>
            </a:r>
            <a:r>
              <a:rPr sz="1600" spc="40" dirty="0">
                <a:latin typeface="Arial"/>
                <a:cs typeface="Arial"/>
              </a:rPr>
              <a:t>to</a:t>
            </a:r>
            <a:r>
              <a:rPr sz="1600" spc="-105" dirty="0">
                <a:latin typeface="Arial"/>
                <a:cs typeface="Arial"/>
              </a:rPr>
              <a:t> </a:t>
            </a:r>
            <a:r>
              <a:rPr sz="1600" spc="-135" dirty="0">
                <a:latin typeface="Arial"/>
                <a:cs typeface="Arial"/>
              </a:rPr>
              <a:t>access</a:t>
            </a:r>
            <a:r>
              <a:rPr sz="1600" spc="-114" dirty="0">
                <a:latin typeface="Arial"/>
                <a:cs typeface="Arial"/>
              </a:rPr>
              <a:t> </a:t>
            </a:r>
            <a:r>
              <a:rPr sz="1600" spc="20" dirty="0">
                <a:latin typeface="Arial"/>
                <a:cs typeface="Arial"/>
              </a:rPr>
              <a:t>or</a:t>
            </a:r>
            <a:r>
              <a:rPr sz="1600" spc="-110" dirty="0">
                <a:latin typeface="Arial"/>
                <a:cs typeface="Arial"/>
              </a:rPr>
              <a:t> </a:t>
            </a:r>
            <a:r>
              <a:rPr sz="1600" spc="-95" dirty="0">
                <a:latin typeface="Arial"/>
                <a:cs typeface="Arial"/>
              </a:rPr>
              <a:t>use</a:t>
            </a:r>
            <a:r>
              <a:rPr sz="1600" spc="-110" dirty="0">
                <a:latin typeface="Arial"/>
                <a:cs typeface="Arial"/>
              </a:rPr>
              <a:t> </a:t>
            </a:r>
            <a:r>
              <a:rPr sz="1600" spc="-5" dirty="0">
                <a:latin typeface="Arial"/>
                <a:cs typeface="Arial"/>
              </a:rPr>
              <a:t>computer</a:t>
            </a:r>
            <a:r>
              <a:rPr sz="1600" spc="-105" dirty="0">
                <a:latin typeface="Arial"/>
                <a:cs typeface="Arial"/>
              </a:rPr>
              <a:t> </a:t>
            </a:r>
            <a:r>
              <a:rPr sz="1600" spc="-20" dirty="0">
                <a:latin typeface="Arial"/>
                <a:cs typeface="Arial"/>
              </a:rPr>
              <a:t>memory</a:t>
            </a:r>
            <a:r>
              <a:rPr sz="1600" spc="-105" dirty="0">
                <a:latin typeface="Arial"/>
                <a:cs typeface="Arial"/>
              </a:rPr>
              <a:t> </a:t>
            </a:r>
            <a:r>
              <a:rPr sz="1600" spc="25" dirty="0">
                <a:latin typeface="Arial"/>
                <a:cs typeface="Arial"/>
              </a:rPr>
              <a:t>that</a:t>
            </a:r>
            <a:r>
              <a:rPr sz="1600" spc="-110" dirty="0">
                <a:latin typeface="Arial"/>
                <a:cs typeface="Arial"/>
              </a:rPr>
              <a:t> </a:t>
            </a:r>
            <a:r>
              <a:rPr sz="1600" spc="-40" dirty="0">
                <a:latin typeface="Arial"/>
                <a:cs typeface="Arial"/>
              </a:rPr>
              <a:t>is</a:t>
            </a:r>
            <a:r>
              <a:rPr sz="1600" spc="-125" dirty="0">
                <a:latin typeface="Arial"/>
                <a:cs typeface="Arial"/>
              </a:rPr>
              <a:t> </a:t>
            </a:r>
            <a:r>
              <a:rPr sz="1600" spc="30" dirty="0">
                <a:latin typeface="Arial"/>
                <a:cs typeface="Arial"/>
              </a:rPr>
              <a:t>insufficient</a:t>
            </a:r>
            <a:endParaRPr sz="1600">
              <a:latin typeface="Arial"/>
              <a:cs typeface="Arial"/>
            </a:endParaRPr>
          </a:p>
          <a:p>
            <a:pPr marL="125095" indent="-113030">
              <a:lnSpc>
                <a:spcPct val="100000"/>
              </a:lnSpc>
              <a:buChar char="-"/>
              <a:tabLst>
                <a:tab pos="125730" algn="l"/>
              </a:tabLst>
            </a:pPr>
            <a:r>
              <a:rPr sz="1600" spc="40" dirty="0">
                <a:latin typeface="Arial"/>
                <a:cs typeface="Arial"/>
              </a:rPr>
              <a:t>Trying</a:t>
            </a:r>
            <a:r>
              <a:rPr sz="1600" spc="-114" dirty="0">
                <a:latin typeface="Arial"/>
                <a:cs typeface="Arial"/>
              </a:rPr>
              <a:t> </a:t>
            </a:r>
            <a:r>
              <a:rPr sz="1600" spc="40" dirty="0">
                <a:latin typeface="Arial"/>
                <a:cs typeface="Arial"/>
              </a:rPr>
              <a:t>to</a:t>
            </a:r>
            <a:r>
              <a:rPr sz="1600" spc="-110" dirty="0">
                <a:latin typeface="Arial"/>
                <a:cs typeface="Arial"/>
              </a:rPr>
              <a:t> </a:t>
            </a:r>
            <a:r>
              <a:rPr sz="1600" spc="10" dirty="0">
                <a:latin typeface="Arial"/>
                <a:cs typeface="Arial"/>
              </a:rPr>
              <a:t>perform</a:t>
            </a:r>
            <a:r>
              <a:rPr sz="1600" spc="-105" dirty="0">
                <a:latin typeface="Arial"/>
                <a:cs typeface="Arial"/>
              </a:rPr>
              <a:t> </a:t>
            </a:r>
            <a:r>
              <a:rPr sz="1600" spc="-50" dirty="0">
                <a:latin typeface="Arial"/>
                <a:cs typeface="Arial"/>
              </a:rPr>
              <a:t>an</a:t>
            </a:r>
            <a:r>
              <a:rPr sz="1600" spc="-110" dirty="0">
                <a:latin typeface="Arial"/>
                <a:cs typeface="Arial"/>
              </a:rPr>
              <a:t> </a:t>
            </a:r>
            <a:r>
              <a:rPr sz="1600" dirty="0">
                <a:latin typeface="Arial"/>
                <a:cs typeface="Arial"/>
              </a:rPr>
              <a:t>action</a:t>
            </a:r>
            <a:r>
              <a:rPr sz="1600" spc="-110" dirty="0">
                <a:latin typeface="Arial"/>
                <a:cs typeface="Arial"/>
              </a:rPr>
              <a:t> </a:t>
            </a:r>
            <a:r>
              <a:rPr sz="1600" spc="15" dirty="0">
                <a:latin typeface="Arial"/>
                <a:cs typeface="Arial"/>
              </a:rPr>
              <a:t>on</a:t>
            </a:r>
            <a:r>
              <a:rPr sz="1600" spc="-105" dirty="0">
                <a:latin typeface="Arial"/>
                <a:cs typeface="Arial"/>
              </a:rPr>
              <a:t> </a:t>
            </a:r>
            <a:r>
              <a:rPr sz="1600" dirty="0">
                <a:latin typeface="Arial"/>
                <a:cs typeface="Arial"/>
              </a:rPr>
              <a:t>incompatible</a:t>
            </a:r>
            <a:r>
              <a:rPr sz="1600" spc="-114" dirty="0">
                <a:latin typeface="Arial"/>
                <a:cs typeface="Arial"/>
              </a:rPr>
              <a:t> </a:t>
            </a:r>
            <a:r>
              <a:rPr sz="1600" spc="-45" dirty="0">
                <a:latin typeface="Arial"/>
                <a:cs typeface="Arial"/>
              </a:rPr>
              <a:t>types</a:t>
            </a:r>
            <a:endParaRPr sz="1600">
              <a:latin typeface="Arial"/>
              <a:cs typeface="Arial"/>
            </a:endParaRPr>
          </a:p>
          <a:p>
            <a:pPr marL="125095" indent="-113030">
              <a:lnSpc>
                <a:spcPct val="100000"/>
              </a:lnSpc>
              <a:buChar char="-"/>
              <a:tabLst>
                <a:tab pos="125730" algn="l"/>
              </a:tabLst>
            </a:pPr>
            <a:r>
              <a:rPr sz="1600" spc="5" dirty="0">
                <a:latin typeface="Arial"/>
                <a:cs typeface="Arial"/>
              </a:rPr>
              <a:t>Using</a:t>
            </a:r>
            <a:r>
              <a:rPr sz="1600" spc="-130" dirty="0">
                <a:latin typeface="Arial"/>
                <a:cs typeface="Arial"/>
              </a:rPr>
              <a:t> </a:t>
            </a:r>
            <a:r>
              <a:rPr sz="1600" spc="15" dirty="0">
                <a:latin typeface="Arial"/>
                <a:cs typeface="Arial"/>
              </a:rPr>
              <a:t>wrongly</a:t>
            </a:r>
            <a:r>
              <a:rPr sz="1600" spc="-114" dirty="0">
                <a:latin typeface="Arial"/>
                <a:cs typeface="Arial"/>
              </a:rPr>
              <a:t> </a:t>
            </a:r>
            <a:r>
              <a:rPr sz="1600" spc="20" dirty="0">
                <a:latin typeface="Arial"/>
                <a:cs typeface="Arial"/>
              </a:rPr>
              <a:t>conditional</a:t>
            </a:r>
            <a:r>
              <a:rPr sz="1600" spc="-114" dirty="0">
                <a:latin typeface="Arial"/>
                <a:cs typeface="Arial"/>
              </a:rPr>
              <a:t> </a:t>
            </a:r>
            <a:r>
              <a:rPr sz="1600" spc="-45" dirty="0">
                <a:latin typeface="Arial"/>
                <a:cs typeface="Arial"/>
              </a:rPr>
              <a:t>statements</a:t>
            </a:r>
            <a:endParaRPr sz="1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8</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50" y="31242"/>
            <a:ext cx="6525895" cy="635635"/>
          </a:xfrm>
          <a:prstGeom prst="rect">
            <a:avLst/>
          </a:prstGeom>
        </p:spPr>
        <p:txBody>
          <a:bodyPr vert="horz" wrap="square" lIns="0" tIns="12700" rIns="0" bIns="0" rtlCol="0">
            <a:spAutoFit/>
          </a:bodyPr>
          <a:lstStyle/>
          <a:p>
            <a:pPr marL="12700">
              <a:lnSpc>
                <a:spcPct val="100000"/>
              </a:lnSpc>
              <a:spcBef>
                <a:spcPts val="100"/>
              </a:spcBef>
            </a:pPr>
            <a:r>
              <a:rPr sz="4000" spc="10" dirty="0"/>
              <a:t>Implementing </a:t>
            </a:r>
            <a:r>
              <a:rPr sz="4000" spc="40" dirty="0"/>
              <a:t>Error</a:t>
            </a:r>
            <a:r>
              <a:rPr sz="4000" spc="-565" dirty="0"/>
              <a:t> </a:t>
            </a:r>
            <a:r>
              <a:rPr sz="4000" spc="50" dirty="0"/>
              <a:t>Handling</a:t>
            </a:r>
            <a:endParaRPr sz="4000"/>
          </a:p>
        </p:txBody>
      </p:sp>
      <p:sp>
        <p:nvSpPr>
          <p:cNvPr id="3" name="object 3"/>
          <p:cNvSpPr/>
          <p:nvPr/>
        </p:nvSpPr>
        <p:spPr>
          <a:xfrm>
            <a:off x="275082" y="1113281"/>
            <a:ext cx="8594090" cy="2122170"/>
          </a:xfrm>
          <a:custGeom>
            <a:avLst/>
            <a:gdLst/>
            <a:ahLst/>
            <a:cxnLst/>
            <a:rect l="l" t="t" r="r" b="b"/>
            <a:pathLst>
              <a:path w="8594090" h="2122170">
                <a:moveTo>
                  <a:pt x="8593836" y="353695"/>
                </a:moveTo>
                <a:lnTo>
                  <a:pt x="8590597" y="305714"/>
                </a:lnTo>
                <a:lnTo>
                  <a:pt x="8581199" y="259676"/>
                </a:lnTo>
                <a:lnTo>
                  <a:pt x="8566036" y="216027"/>
                </a:lnTo>
                <a:lnTo>
                  <a:pt x="8545538" y="175196"/>
                </a:lnTo>
                <a:lnTo>
                  <a:pt x="8520125" y="137579"/>
                </a:lnTo>
                <a:lnTo>
                  <a:pt x="8490229" y="103606"/>
                </a:lnTo>
                <a:lnTo>
                  <a:pt x="8456257" y="73710"/>
                </a:lnTo>
                <a:lnTo>
                  <a:pt x="8418639" y="48298"/>
                </a:lnTo>
                <a:lnTo>
                  <a:pt x="8377809" y="27800"/>
                </a:lnTo>
                <a:lnTo>
                  <a:pt x="8334159" y="12636"/>
                </a:lnTo>
                <a:lnTo>
                  <a:pt x="8288121" y="3238"/>
                </a:lnTo>
                <a:lnTo>
                  <a:pt x="8240141" y="0"/>
                </a:lnTo>
                <a:lnTo>
                  <a:pt x="353695" y="0"/>
                </a:lnTo>
                <a:lnTo>
                  <a:pt x="305689" y="3238"/>
                </a:lnTo>
                <a:lnTo>
                  <a:pt x="259664" y="12636"/>
                </a:lnTo>
                <a:lnTo>
                  <a:pt x="216014" y="27800"/>
                </a:lnTo>
                <a:lnTo>
                  <a:pt x="175171" y="48298"/>
                </a:lnTo>
                <a:lnTo>
                  <a:pt x="137553" y="73710"/>
                </a:lnTo>
                <a:lnTo>
                  <a:pt x="103593" y="103606"/>
                </a:lnTo>
                <a:lnTo>
                  <a:pt x="73685" y="137579"/>
                </a:lnTo>
                <a:lnTo>
                  <a:pt x="48285" y="175196"/>
                </a:lnTo>
                <a:lnTo>
                  <a:pt x="27787" y="216027"/>
                </a:lnTo>
                <a:lnTo>
                  <a:pt x="12623" y="259676"/>
                </a:lnTo>
                <a:lnTo>
                  <a:pt x="3225" y="305714"/>
                </a:lnTo>
                <a:lnTo>
                  <a:pt x="0" y="353695"/>
                </a:lnTo>
                <a:lnTo>
                  <a:pt x="0" y="1768475"/>
                </a:lnTo>
                <a:lnTo>
                  <a:pt x="3225" y="1816468"/>
                </a:lnTo>
                <a:lnTo>
                  <a:pt x="12623" y="1862505"/>
                </a:lnTo>
                <a:lnTo>
                  <a:pt x="27787" y="1906143"/>
                </a:lnTo>
                <a:lnTo>
                  <a:pt x="48285" y="1946986"/>
                </a:lnTo>
                <a:lnTo>
                  <a:pt x="73685" y="1984603"/>
                </a:lnTo>
                <a:lnTo>
                  <a:pt x="103593" y="2018576"/>
                </a:lnTo>
                <a:lnTo>
                  <a:pt x="137553" y="2048471"/>
                </a:lnTo>
                <a:lnTo>
                  <a:pt x="175171" y="2073884"/>
                </a:lnTo>
                <a:lnTo>
                  <a:pt x="216014" y="2094382"/>
                </a:lnTo>
                <a:lnTo>
                  <a:pt x="259664" y="2109546"/>
                </a:lnTo>
                <a:lnTo>
                  <a:pt x="305689" y="2118944"/>
                </a:lnTo>
                <a:lnTo>
                  <a:pt x="353695" y="2122170"/>
                </a:lnTo>
                <a:lnTo>
                  <a:pt x="8240141" y="2122170"/>
                </a:lnTo>
                <a:lnTo>
                  <a:pt x="8288121" y="2118944"/>
                </a:lnTo>
                <a:lnTo>
                  <a:pt x="8334159" y="2109546"/>
                </a:lnTo>
                <a:lnTo>
                  <a:pt x="8377809" y="2094382"/>
                </a:lnTo>
                <a:lnTo>
                  <a:pt x="8418639" y="2073884"/>
                </a:lnTo>
                <a:lnTo>
                  <a:pt x="8456257" y="2048471"/>
                </a:lnTo>
                <a:lnTo>
                  <a:pt x="8490229" y="2018576"/>
                </a:lnTo>
                <a:lnTo>
                  <a:pt x="8520125" y="1984603"/>
                </a:lnTo>
                <a:lnTo>
                  <a:pt x="8545538" y="1946986"/>
                </a:lnTo>
                <a:lnTo>
                  <a:pt x="8566036" y="1906143"/>
                </a:lnTo>
                <a:lnTo>
                  <a:pt x="8581199" y="1862505"/>
                </a:lnTo>
                <a:lnTo>
                  <a:pt x="8590597" y="1816468"/>
                </a:lnTo>
                <a:lnTo>
                  <a:pt x="8593836" y="1768475"/>
                </a:lnTo>
                <a:lnTo>
                  <a:pt x="8593836" y="353695"/>
                </a:lnTo>
                <a:close/>
              </a:path>
            </a:pathLst>
          </a:custGeom>
          <a:solidFill>
            <a:srgbClr val="30859C"/>
          </a:solidFill>
        </p:spPr>
        <p:txBody>
          <a:bodyPr wrap="square" lIns="0" tIns="0" rIns="0" bIns="0" rtlCol="0"/>
          <a:lstStyle/>
          <a:p>
            <a:endParaRPr/>
          </a:p>
        </p:txBody>
      </p:sp>
      <p:sp>
        <p:nvSpPr>
          <p:cNvPr id="4" name="object 4"/>
          <p:cNvSpPr txBox="1"/>
          <p:nvPr/>
        </p:nvSpPr>
        <p:spPr>
          <a:xfrm>
            <a:off x="485394" y="1508506"/>
            <a:ext cx="8138159" cy="1427480"/>
          </a:xfrm>
          <a:prstGeom prst="rect">
            <a:avLst/>
          </a:prstGeom>
        </p:spPr>
        <p:txBody>
          <a:bodyPr vert="horz" wrap="square" lIns="0" tIns="46990" rIns="0" bIns="0" rtlCol="0">
            <a:spAutoFit/>
          </a:bodyPr>
          <a:lstStyle/>
          <a:p>
            <a:pPr marL="355600" marR="6350" indent="-342900">
              <a:lnSpc>
                <a:spcPts val="2160"/>
              </a:lnSpc>
              <a:spcBef>
                <a:spcPts val="370"/>
              </a:spcBef>
              <a:buFont typeface="Wingdings"/>
              <a:buChar char=""/>
              <a:tabLst>
                <a:tab pos="354965" algn="l"/>
                <a:tab pos="355600" algn="l"/>
              </a:tabLst>
            </a:pPr>
            <a:r>
              <a:rPr sz="2000" spc="90" dirty="0">
                <a:solidFill>
                  <a:srgbClr val="FFFFFF"/>
                </a:solidFill>
                <a:latin typeface="Arial"/>
                <a:cs typeface="Arial"/>
              </a:rPr>
              <a:t>While </a:t>
            </a:r>
            <a:r>
              <a:rPr sz="2000" spc="-20" dirty="0">
                <a:solidFill>
                  <a:srgbClr val="FFFFFF"/>
                </a:solidFill>
                <a:latin typeface="Arial"/>
                <a:cs typeface="Arial"/>
              </a:rPr>
              <a:t>developing </a:t>
            </a:r>
            <a:r>
              <a:rPr sz="2000" spc="-45" dirty="0">
                <a:solidFill>
                  <a:srgbClr val="FFFFFF"/>
                </a:solidFill>
                <a:latin typeface="Arial"/>
                <a:cs typeface="Arial"/>
              </a:rPr>
              <a:t>any </a:t>
            </a:r>
            <a:r>
              <a:rPr sz="2000" dirty="0">
                <a:solidFill>
                  <a:srgbClr val="FFFFFF"/>
                </a:solidFill>
                <a:latin typeface="Arial"/>
                <a:cs typeface="Arial"/>
              </a:rPr>
              <a:t>application, </a:t>
            </a:r>
            <a:r>
              <a:rPr sz="2000" spc="-45" dirty="0">
                <a:solidFill>
                  <a:srgbClr val="FFFFFF"/>
                </a:solidFill>
                <a:latin typeface="Arial"/>
                <a:cs typeface="Arial"/>
              </a:rPr>
              <a:t>one </a:t>
            </a:r>
            <a:r>
              <a:rPr sz="2000" spc="50" dirty="0">
                <a:solidFill>
                  <a:srgbClr val="FFFFFF"/>
                </a:solidFill>
                <a:latin typeface="Arial"/>
                <a:cs typeface="Arial"/>
              </a:rPr>
              <a:t>of </a:t>
            </a:r>
            <a:r>
              <a:rPr sz="2000" dirty="0">
                <a:solidFill>
                  <a:srgbClr val="FFFFFF"/>
                </a:solidFill>
                <a:latin typeface="Arial"/>
                <a:cs typeface="Arial"/>
              </a:rPr>
              <a:t>the </a:t>
            </a:r>
            <a:r>
              <a:rPr sz="2000" spc="-30" dirty="0">
                <a:solidFill>
                  <a:srgbClr val="FFFFFF"/>
                </a:solidFill>
                <a:latin typeface="Arial"/>
                <a:cs typeface="Arial"/>
              </a:rPr>
              <a:t>most </a:t>
            </a:r>
            <a:r>
              <a:rPr sz="2000" spc="30" dirty="0">
                <a:solidFill>
                  <a:srgbClr val="FFFFFF"/>
                </a:solidFill>
                <a:latin typeface="Arial"/>
                <a:cs typeface="Arial"/>
              </a:rPr>
              <a:t>important </a:t>
            </a:r>
            <a:r>
              <a:rPr sz="2000" dirty="0">
                <a:solidFill>
                  <a:srgbClr val="FFFFFF"/>
                </a:solidFill>
                <a:latin typeface="Arial"/>
                <a:cs typeface="Arial"/>
              </a:rPr>
              <a:t>things  </a:t>
            </a:r>
            <a:r>
              <a:rPr sz="2000" spc="30" dirty="0">
                <a:solidFill>
                  <a:srgbClr val="FFFFFF"/>
                </a:solidFill>
                <a:latin typeface="Arial"/>
                <a:cs typeface="Arial"/>
              </a:rPr>
              <a:t>that</a:t>
            </a:r>
            <a:r>
              <a:rPr sz="2000" spc="-120" dirty="0">
                <a:solidFill>
                  <a:srgbClr val="FFFFFF"/>
                </a:solidFill>
                <a:latin typeface="Arial"/>
                <a:cs typeface="Arial"/>
              </a:rPr>
              <a:t> </a:t>
            </a:r>
            <a:r>
              <a:rPr sz="2000" spc="-100" dirty="0">
                <a:solidFill>
                  <a:srgbClr val="FFFFFF"/>
                </a:solidFill>
                <a:latin typeface="Arial"/>
                <a:cs typeface="Arial"/>
              </a:rPr>
              <a:t>users</a:t>
            </a:r>
            <a:r>
              <a:rPr sz="2000" spc="-125" dirty="0">
                <a:solidFill>
                  <a:srgbClr val="FFFFFF"/>
                </a:solidFill>
                <a:latin typeface="Arial"/>
                <a:cs typeface="Arial"/>
              </a:rPr>
              <a:t> </a:t>
            </a:r>
            <a:r>
              <a:rPr sz="2000" spc="-70" dirty="0">
                <a:solidFill>
                  <a:srgbClr val="FFFFFF"/>
                </a:solidFill>
                <a:latin typeface="Arial"/>
                <a:cs typeface="Arial"/>
              </a:rPr>
              <a:t>need</a:t>
            </a:r>
            <a:r>
              <a:rPr sz="2000" spc="-114" dirty="0">
                <a:solidFill>
                  <a:srgbClr val="FFFFFF"/>
                </a:solidFill>
                <a:latin typeface="Arial"/>
                <a:cs typeface="Arial"/>
              </a:rPr>
              <a:t> </a:t>
            </a:r>
            <a:r>
              <a:rPr sz="2000" spc="50" dirty="0">
                <a:solidFill>
                  <a:srgbClr val="FFFFFF"/>
                </a:solidFill>
                <a:latin typeface="Arial"/>
                <a:cs typeface="Arial"/>
              </a:rPr>
              <a:t>to</a:t>
            </a:r>
            <a:r>
              <a:rPr sz="2000" spc="-120" dirty="0">
                <a:solidFill>
                  <a:srgbClr val="FFFFFF"/>
                </a:solidFill>
                <a:latin typeface="Arial"/>
                <a:cs typeface="Arial"/>
              </a:rPr>
              <a:t> </a:t>
            </a:r>
            <a:r>
              <a:rPr sz="2000" spc="-40" dirty="0">
                <a:solidFill>
                  <a:srgbClr val="FFFFFF"/>
                </a:solidFill>
                <a:latin typeface="Arial"/>
                <a:cs typeface="Arial"/>
              </a:rPr>
              <a:t>take</a:t>
            </a:r>
            <a:r>
              <a:rPr sz="2000" spc="-120" dirty="0">
                <a:solidFill>
                  <a:srgbClr val="FFFFFF"/>
                </a:solidFill>
                <a:latin typeface="Arial"/>
                <a:cs typeface="Arial"/>
              </a:rPr>
              <a:t> </a:t>
            </a:r>
            <a:r>
              <a:rPr sz="2000" spc="-100" dirty="0">
                <a:solidFill>
                  <a:srgbClr val="FFFFFF"/>
                </a:solidFill>
                <a:latin typeface="Arial"/>
                <a:cs typeface="Arial"/>
              </a:rPr>
              <a:t>care</a:t>
            </a:r>
            <a:r>
              <a:rPr sz="2000" spc="-135" dirty="0">
                <a:solidFill>
                  <a:srgbClr val="FFFFFF"/>
                </a:solidFill>
                <a:latin typeface="Arial"/>
                <a:cs typeface="Arial"/>
              </a:rPr>
              <a:t> </a:t>
            </a:r>
            <a:r>
              <a:rPr sz="2000" spc="50" dirty="0">
                <a:solidFill>
                  <a:srgbClr val="FFFFFF"/>
                </a:solidFill>
                <a:latin typeface="Arial"/>
                <a:cs typeface="Arial"/>
              </a:rPr>
              <a:t>of</a:t>
            </a:r>
            <a:r>
              <a:rPr sz="2000" spc="-125" dirty="0">
                <a:solidFill>
                  <a:srgbClr val="FFFFFF"/>
                </a:solidFill>
                <a:latin typeface="Arial"/>
                <a:cs typeface="Arial"/>
              </a:rPr>
              <a:t> </a:t>
            </a:r>
            <a:r>
              <a:rPr sz="2000" spc="-50" dirty="0">
                <a:solidFill>
                  <a:srgbClr val="FFFFFF"/>
                </a:solidFill>
                <a:latin typeface="Arial"/>
                <a:cs typeface="Arial"/>
              </a:rPr>
              <a:t>is</a:t>
            </a:r>
            <a:r>
              <a:rPr sz="2000" spc="-135" dirty="0">
                <a:solidFill>
                  <a:srgbClr val="FFFFFF"/>
                </a:solidFill>
                <a:latin typeface="Arial"/>
                <a:cs typeface="Arial"/>
              </a:rPr>
              <a:t> </a:t>
            </a:r>
            <a:r>
              <a:rPr sz="2000" spc="5" dirty="0">
                <a:solidFill>
                  <a:srgbClr val="FFFFFF"/>
                </a:solidFill>
                <a:latin typeface="Arial"/>
                <a:cs typeface="Arial"/>
              </a:rPr>
              <a:t>error</a:t>
            </a:r>
            <a:r>
              <a:rPr sz="2000" spc="-120" dirty="0">
                <a:solidFill>
                  <a:srgbClr val="FFFFFF"/>
                </a:solidFill>
                <a:latin typeface="Arial"/>
                <a:cs typeface="Arial"/>
              </a:rPr>
              <a:t> </a:t>
            </a:r>
            <a:r>
              <a:rPr sz="2000" spc="5" dirty="0">
                <a:solidFill>
                  <a:srgbClr val="FFFFFF"/>
                </a:solidFill>
                <a:latin typeface="Arial"/>
                <a:cs typeface="Arial"/>
              </a:rPr>
              <a:t>handling.</a:t>
            </a:r>
            <a:endParaRPr sz="2000">
              <a:latin typeface="Arial"/>
              <a:cs typeface="Arial"/>
            </a:endParaRPr>
          </a:p>
          <a:p>
            <a:pPr marL="355600" marR="5080" indent="-342900">
              <a:lnSpc>
                <a:spcPts val="2160"/>
              </a:lnSpc>
              <a:buFont typeface="Wingdings"/>
              <a:buChar char=""/>
              <a:tabLst>
                <a:tab pos="354965" algn="l"/>
                <a:tab pos="355600" algn="l"/>
              </a:tabLst>
            </a:pPr>
            <a:r>
              <a:rPr sz="2000" spc="80" dirty="0">
                <a:solidFill>
                  <a:srgbClr val="FFFFFF"/>
                </a:solidFill>
                <a:latin typeface="Arial"/>
                <a:cs typeface="Arial"/>
              </a:rPr>
              <a:t>In</a:t>
            </a:r>
            <a:r>
              <a:rPr sz="2000" spc="-75" dirty="0">
                <a:solidFill>
                  <a:srgbClr val="FFFFFF"/>
                </a:solidFill>
                <a:latin typeface="Arial"/>
                <a:cs typeface="Arial"/>
              </a:rPr>
              <a:t> </a:t>
            </a:r>
            <a:r>
              <a:rPr sz="2000" dirty="0">
                <a:solidFill>
                  <a:srgbClr val="FFFFFF"/>
                </a:solidFill>
                <a:latin typeface="Arial"/>
                <a:cs typeface="Arial"/>
              </a:rPr>
              <a:t>the</a:t>
            </a:r>
            <a:r>
              <a:rPr sz="2000" spc="-65" dirty="0">
                <a:solidFill>
                  <a:srgbClr val="FFFFFF"/>
                </a:solidFill>
                <a:latin typeface="Arial"/>
                <a:cs typeface="Arial"/>
              </a:rPr>
              <a:t> </a:t>
            </a:r>
            <a:r>
              <a:rPr sz="2000" spc="-150" dirty="0">
                <a:solidFill>
                  <a:srgbClr val="FFFFFF"/>
                </a:solidFill>
                <a:latin typeface="Arial"/>
                <a:cs typeface="Arial"/>
              </a:rPr>
              <a:t>same</a:t>
            </a:r>
            <a:r>
              <a:rPr sz="2000" spc="-65" dirty="0">
                <a:solidFill>
                  <a:srgbClr val="FFFFFF"/>
                </a:solidFill>
                <a:latin typeface="Arial"/>
                <a:cs typeface="Arial"/>
              </a:rPr>
              <a:t> </a:t>
            </a:r>
            <a:r>
              <a:rPr sz="2000" spc="-50" dirty="0">
                <a:solidFill>
                  <a:srgbClr val="FFFFFF"/>
                </a:solidFill>
                <a:latin typeface="Arial"/>
                <a:cs typeface="Arial"/>
              </a:rPr>
              <a:t>way,</a:t>
            </a:r>
            <a:r>
              <a:rPr sz="2000" spc="-75" dirty="0">
                <a:solidFill>
                  <a:srgbClr val="FFFFFF"/>
                </a:solidFill>
                <a:latin typeface="Arial"/>
                <a:cs typeface="Arial"/>
              </a:rPr>
              <a:t> </a:t>
            </a:r>
            <a:r>
              <a:rPr sz="2000" spc="-100" dirty="0">
                <a:solidFill>
                  <a:srgbClr val="FFFFFF"/>
                </a:solidFill>
                <a:latin typeface="Arial"/>
                <a:cs typeface="Arial"/>
              </a:rPr>
              <a:t>users</a:t>
            </a:r>
            <a:r>
              <a:rPr sz="2000" spc="-70" dirty="0">
                <a:solidFill>
                  <a:srgbClr val="FFFFFF"/>
                </a:solidFill>
                <a:latin typeface="Arial"/>
                <a:cs typeface="Arial"/>
              </a:rPr>
              <a:t> </a:t>
            </a:r>
            <a:r>
              <a:rPr sz="2000" spc="-80" dirty="0">
                <a:solidFill>
                  <a:srgbClr val="FFFFFF"/>
                </a:solidFill>
                <a:latin typeface="Arial"/>
                <a:cs typeface="Arial"/>
              </a:rPr>
              <a:t>also</a:t>
            </a:r>
            <a:r>
              <a:rPr sz="2000" spc="-70" dirty="0">
                <a:solidFill>
                  <a:srgbClr val="FFFFFF"/>
                </a:solidFill>
                <a:latin typeface="Arial"/>
                <a:cs typeface="Arial"/>
              </a:rPr>
              <a:t> have</a:t>
            </a:r>
            <a:r>
              <a:rPr sz="2000" spc="-60" dirty="0">
                <a:solidFill>
                  <a:srgbClr val="FFFFFF"/>
                </a:solidFill>
                <a:latin typeface="Arial"/>
                <a:cs typeface="Arial"/>
              </a:rPr>
              <a:t> </a:t>
            </a:r>
            <a:r>
              <a:rPr sz="2000" spc="55" dirty="0">
                <a:solidFill>
                  <a:srgbClr val="FFFFFF"/>
                </a:solidFill>
                <a:latin typeface="Arial"/>
                <a:cs typeface="Arial"/>
              </a:rPr>
              <a:t>to</a:t>
            </a:r>
            <a:r>
              <a:rPr sz="2000" spc="-70" dirty="0">
                <a:solidFill>
                  <a:srgbClr val="FFFFFF"/>
                </a:solidFill>
                <a:latin typeface="Arial"/>
                <a:cs typeface="Arial"/>
              </a:rPr>
              <a:t> </a:t>
            </a:r>
            <a:r>
              <a:rPr sz="2000" spc="-40" dirty="0">
                <a:solidFill>
                  <a:srgbClr val="FFFFFF"/>
                </a:solidFill>
                <a:latin typeface="Arial"/>
                <a:cs typeface="Arial"/>
              </a:rPr>
              <a:t>take</a:t>
            </a:r>
            <a:r>
              <a:rPr sz="2000" spc="-75" dirty="0">
                <a:solidFill>
                  <a:srgbClr val="FFFFFF"/>
                </a:solidFill>
                <a:latin typeface="Arial"/>
                <a:cs typeface="Arial"/>
              </a:rPr>
              <a:t> </a:t>
            </a:r>
            <a:r>
              <a:rPr sz="2000" spc="-95" dirty="0">
                <a:solidFill>
                  <a:srgbClr val="FFFFFF"/>
                </a:solidFill>
                <a:latin typeface="Arial"/>
                <a:cs typeface="Arial"/>
              </a:rPr>
              <a:t>care</a:t>
            </a:r>
            <a:r>
              <a:rPr sz="2000" spc="-65" dirty="0">
                <a:solidFill>
                  <a:srgbClr val="FFFFFF"/>
                </a:solidFill>
                <a:latin typeface="Arial"/>
                <a:cs typeface="Arial"/>
              </a:rPr>
              <a:t> </a:t>
            </a:r>
            <a:r>
              <a:rPr sz="2000" spc="50" dirty="0">
                <a:solidFill>
                  <a:srgbClr val="FFFFFF"/>
                </a:solidFill>
                <a:latin typeface="Arial"/>
                <a:cs typeface="Arial"/>
              </a:rPr>
              <a:t>of</a:t>
            </a:r>
            <a:r>
              <a:rPr sz="2000" spc="-70" dirty="0">
                <a:solidFill>
                  <a:srgbClr val="FFFFFF"/>
                </a:solidFill>
                <a:latin typeface="Arial"/>
                <a:cs typeface="Arial"/>
              </a:rPr>
              <a:t> </a:t>
            </a:r>
            <a:r>
              <a:rPr sz="2000" spc="15" dirty="0">
                <a:solidFill>
                  <a:srgbClr val="FFFFFF"/>
                </a:solidFill>
                <a:latin typeface="Arial"/>
                <a:cs typeface="Arial"/>
              </a:rPr>
              <a:t>handling</a:t>
            </a:r>
            <a:r>
              <a:rPr sz="2000" spc="-70" dirty="0">
                <a:solidFill>
                  <a:srgbClr val="FFFFFF"/>
                </a:solidFill>
                <a:latin typeface="Arial"/>
                <a:cs typeface="Arial"/>
              </a:rPr>
              <a:t> </a:t>
            </a:r>
            <a:r>
              <a:rPr sz="2000" spc="-10" dirty="0">
                <a:solidFill>
                  <a:srgbClr val="FFFFFF"/>
                </a:solidFill>
                <a:latin typeface="Arial"/>
                <a:cs typeface="Arial"/>
              </a:rPr>
              <a:t>exception</a:t>
            </a:r>
            <a:r>
              <a:rPr sz="2000" spc="-65" dirty="0">
                <a:solidFill>
                  <a:srgbClr val="FFFFFF"/>
                </a:solidFill>
                <a:latin typeface="Arial"/>
                <a:cs typeface="Arial"/>
              </a:rPr>
              <a:t> </a:t>
            </a:r>
            <a:r>
              <a:rPr sz="2000" spc="-35" dirty="0">
                <a:solidFill>
                  <a:srgbClr val="FFFFFF"/>
                </a:solidFill>
                <a:latin typeface="Arial"/>
                <a:cs typeface="Arial"/>
              </a:rPr>
              <a:t>and  </a:t>
            </a:r>
            <a:r>
              <a:rPr sz="2000" spc="-30" dirty="0">
                <a:solidFill>
                  <a:srgbClr val="FFFFFF"/>
                </a:solidFill>
                <a:latin typeface="Arial"/>
                <a:cs typeface="Arial"/>
              </a:rPr>
              <a:t>errors </a:t>
            </a:r>
            <a:r>
              <a:rPr sz="2000" spc="30" dirty="0">
                <a:solidFill>
                  <a:srgbClr val="FFFFFF"/>
                </a:solidFill>
                <a:latin typeface="Arial"/>
                <a:cs typeface="Arial"/>
              </a:rPr>
              <a:t>while</a:t>
            </a:r>
            <a:r>
              <a:rPr sz="2000" spc="-425" dirty="0">
                <a:solidFill>
                  <a:srgbClr val="FFFFFF"/>
                </a:solidFill>
                <a:latin typeface="Arial"/>
                <a:cs typeface="Arial"/>
              </a:rPr>
              <a:t> </a:t>
            </a:r>
            <a:r>
              <a:rPr sz="2000" spc="-30" dirty="0">
                <a:solidFill>
                  <a:srgbClr val="FFFFFF"/>
                </a:solidFill>
                <a:latin typeface="Arial"/>
                <a:cs typeface="Arial"/>
              </a:rPr>
              <a:t>designing </a:t>
            </a:r>
            <a:r>
              <a:rPr sz="2000" dirty="0">
                <a:solidFill>
                  <a:srgbClr val="FFFFFF"/>
                </a:solidFill>
                <a:latin typeface="Arial"/>
                <a:cs typeface="Arial"/>
              </a:rPr>
              <a:t>the </a:t>
            </a:r>
            <a:r>
              <a:rPr sz="2000" spc="-100" dirty="0">
                <a:solidFill>
                  <a:srgbClr val="FFFFFF"/>
                </a:solidFill>
                <a:latin typeface="Arial"/>
                <a:cs typeface="Arial"/>
              </a:rPr>
              <a:t>database.</a:t>
            </a:r>
            <a:endParaRPr sz="2000">
              <a:latin typeface="Arial"/>
              <a:cs typeface="Arial"/>
            </a:endParaRPr>
          </a:p>
          <a:p>
            <a:pPr marL="355600" indent="-342900">
              <a:lnSpc>
                <a:spcPts val="2130"/>
              </a:lnSpc>
              <a:buFont typeface="Wingdings"/>
              <a:buChar char=""/>
              <a:tabLst>
                <a:tab pos="354965" algn="l"/>
                <a:tab pos="355600" algn="l"/>
              </a:tabLst>
            </a:pPr>
            <a:r>
              <a:rPr sz="2000" spc="10" dirty="0">
                <a:solidFill>
                  <a:srgbClr val="FFFFFF"/>
                </a:solidFill>
                <a:latin typeface="Arial"/>
                <a:cs typeface="Arial"/>
              </a:rPr>
              <a:t>Various</a:t>
            </a:r>
            <a:r>
              <a:rPr sz="2000" spc="-130" dirty="0">
                <a:solidFill>
                  <a:srgbClr val="FFFFFF"/>
                </a:solidFill>
                <a:latin typeface="Arial"/>
                <a:cs typeface="Arial"/>
              </a:rPr>
              <a:t> </a:t>
            </a:r>
            <a:r>
              <a:rPr sz="2000" spc="5" dirty="0">
                <a:solidFill>
                  <a:srgbClr val="FFFFFF"/>
                </a:solidFill>
                <a:latin typeface="Arial"/>
                <a:cs typeface="Arial"/>
              </a:rPr>
              <a:t>error</a:t>
            </a:r>
            <a:r>
              <a:rPr sz="2000" spc="-120" dirty="0">
                <a:solidFill>
                  <a:srgbClr val="FFFFFF"/>
                </a:solidFill>
                <a:latin typeface="Arial"/>
                <a:cs typeface="Arial"/>
              </a:rPr>
              <a:t> </a:t>
            </a:r>
            <a:r>
              <a:rPr sz="2000" spc="15" dirty="0">
                <a:solidFill>
                  <a:srgbClr val="FFFFFF"/>
                </a:solidFill>
                <a:latin typeface="Arial"/>
                <a:cs typeface="Arial"/>
              </a:rPr>
              <a:t>handling</a:t>
            </a:r>
            <a:r>
              <a:rPr sz="2000" spc="-120" dirty="0">
                <a:solidFill>
                  <a:srgbClr val="FFFFFF"/>
                </a:solidFill>
                <a:latin typeface="Arial"/>
                <a:cs typeface="Arial"/>
              </a:rPr>
              <a:t> </a:t>
            </a:r>
            <a:r>
              <a:rPr sz="2000" spc="-70" dirty="0">
                <a:solidFill>
                  <a:srgbClr val="FFFFFF"/>
                </a:solidFill>
                <a:latin typeface="Arial"/>
                <a:cs typeface="Arial"/>
              </a:rPr>
              <a:t>mechanisms</a:t>
            </a:r>
            <a:r>
              <a:rPr sz="2000" spc="-130" dirty="0">
                <a:solidFill>
                  <a:srgbClr val="FFFFFF"/>
                </a:solidFill>
                <a:latin typeface="Arial"/>
                <a:cs typeface="Arial"/>
              </a:rPr>
              <a:t> </a:t>
            </a:r>
            <a:r>
              <a:rPr sz="2000" spc="-75" dirty="0">
                <a:solidFill>
                  <a:srgbClr val="FFFFFF"/>
                </a:solidFill>
                <a:latin typeface="Arial"/>
                <a:cs typeface="Arial"/>
              </a:rPr>
              <a:t>can</a:t>
            </a:r>
            <a:r>
              <a:rPr sz="2000" spc="-130" dirty="0">
                <a:solidFill>
                  <a:srgbClr val="FFFFFF"/>
                </a:solidFill>
                <a:latin typeface="Arial"/>
                <a:cs typeface="Arial"/>
              </a:rPr>
              <a:t> </a:t>
            </a:r>
            <a:r>
              <a:rPr sz="2000" spc="-105" dirty="0">
                <a:solidFill>
                  <a:srgbClr val="FFFFFF"/>
                </a:solidFill>
                <a:latin typeface="Arial"/>
                <a:cs typeface="Arial"/>
              </a:rPr>
              <a:t>be</a:t>
            </a:r>
            <a:r>
              <a:rPr sz="2000" spc="-120" dirty="0">
                <a:solidFill>
                  <a:srgbClr val="FFFFFF"/>
                </a:solidFill>
                <a:latin typeface="Arial"/>
                <a:cs typeface="Arial"/>
              </a:rPr>
              <a:t> </a:t>
            </a:r>
            <a:r>
              <a:rPr sz="2000" spc="-80" dirty="0">
                <a:solidFill>
                  <a:srgbClr val="FFFFFF"/>
                </a:solidFill>
                <a:latin typeface="Arial"/>
                <a:cs typeface="Arial"/>
              </a:rPr>
              <a:t>used.</a:t>
            </a:r>
            <a:endParaRPr sz="2000">
              <a:latin typeface="Arial"/>
              <a:cs typeface="Arial"/>
            </a:endParaRPr>
          </a:p>
        </p:txBody>
      </p:sp>
      <p:sp>
        <p:nvSpPr>
          <p:cNvPr id="5" name="object 5"/>
          <p:cNvSpPr/>
          <p:nvPr/>
        </p:nvSpPr>
        <p:spPr>
          <a:xfrm>
            <a:off x="275082" y="3622547"/>
            <a:ext cx="8594090" cy="2122170"/>
          </a:xfrm>
          <a:custGeom>
            <a:avLst/>
            <a:gdLst/>
            <a:ahLst/>
            <a:cxnLst/>
            <a:rect l="l" t="t" r="r" b="b"/>
            <a:pathLst>
              <a:path w="8594090" h="2122170">
                <a:moveTo>
                  <a:pt x="8593836" y="353695"/>
                </a:moveTo>
                <a:lnTo>
                  <a:pt x="8590597" y="305714"/>
                </a:lnTo>
                <a:lnTo>
                  <a:pt x="8581199" y="259676"/>
                </a:lnTo>
                <a:lnTo>
                  <a:pt x="8566036" y="216027"/>
                </a:lnTo>
                <a:lnTo>
                  <a:pt x="8545538" y="175196"/>
                </a:lnTo>
                <a:lnTo>
                  <a:pt x="8520125" y="137579"/>
                </a:lnTo>
                <a:lnTo>
                  <a:pt x="8490229" y="103606"/>
                </a:lnTo>
                <a:lnTo>
                  <a:pt x="8456257" y="73710"/>
                </a:lnTo>
                <a:lnTo>
                  <a:pt x="8418639" y="48298"/>
                </a:lnTo>
                <a:lnTo>
                  <a:pt x="8377809" y="27800"/>
                </a:lnTo>
                <a:lnTo>
                  <a:pt x="8334159" y="12636"/>
                </a:lnTo>
                <a:lnTo>
                  <a:pt x="8288121" y="3238"/>
                </a:lnTo>
                <a:lnTo>
                  <a:pt x="8240141" y="0"/>
                </a:lnTo>
                <a:lnTo>
                  <a:pt x="353695" y="0"/>
                </a:lnTo>
                <a:lnTo>
                  <a:pt x="305689" y="3238"/>
                </a:lnTo>
                <a:lnTo>
                  <a:pt x="259664" y="12636"/>
                </a:lnTo>
                <a:lnTo>
                  <a:pt x="216014" y="27800"/>
                </a:lnTo>
                <a:lnTo>
                  <a:pt x="175171" y="48298"/>
                </a:lnTo>
                <a:lnTo>
                  <a:pt x="137553" y="73710"/>
                </a:lnTo>
                <a:lnTo>
                  <a:pt x="103593" y="103606"/>
                </a:lnTo>
                <a:lnTo>
                  <a:pt x="73685" y="137579"/>
                </a:lnTo>
                <a:lnTo>
                  <a:pt x="48285" y="175196"/>
                </a:lnTo>
                <a:lnTo>
                  <a:pt x="27787" y="216027"/>
                </a:lnTo>
                <a:lnTo>
                  <a:pt x="12623" y="259676"/>
                </a:lnTo>
                <a:lnTo>
                  <a:pt x="3225" y="305714"/>
                </a:lnTo>
                <a:lnTo>
                  <a:pt x="0" y="353695"/>
                </a:lnTo>
                <a:lnTo>
                  <a:pt x="0" y="1768475"/>
                </a:lnTo>
                <a:lnTo>
                  <a:pt x="3225" y="1816468"/>
                </a:lnTo>
                <a:lnTo>
                  <a:pt x="12623" y="1862505"/>
                </a:lnTo>
                <a:lnTo>
                  <a:pt x="27787" y="1906143"/>
                </a:lnTo>
                <a:lnTo>
                  <a:pt x="48285" y="1946986"/>
                </a:lnTo>
                <a:lnTo>
                  <a:pt x="73685" y="1984603"/>
                </a:lnTo>
                <a:lnTo>
                  <a:pt x="103593" y="2018576"/>
                </a:lnTo>
                <a:lnTo>
                  <a:pt x="137553" y="2048471"/>
                </a:lnTo>
                <a:lnTo>
                  <a:pt x="175171" y="2073884"/>
                </a:lnTo>
                <a:lnTo>
                  <a:pt x="216014" y="2094382"/>
                </a:lnTo>
                <a:lnTo>
                  <a:pt x="259664" y="2109546"/>
                </a:lnTo>
                <a:lnTo>
                  <a:pt x="305689" y="2118944"/>
                </a:lnTo>
                <a:lnTo>
                  <a:pt x="353695" y="2122170"/>
                </a:lnTo>
                <a:lnTo>
                  <a:pt x="8240141" y="2122170"/>
                </a:lnTo>
                <a:lnTo>
                  <a:pt x="8288121" y="2118944"/>
                </a:lnTo>
                <a:lnTo>
                  <a:pt x="8334159" y="2109546"/>
                </a:lnTo>
                <a:lnTo>
                  <a:pt x="8377809" y="2094382"/>
                </a:lnTo>
                <a:lnTo>
                  <a:pt x="8418639" y="2073884"/>
                </a:lnTo>
                <a:lnTo>
                  <a:pt x="8456257" y="2048471"/>
                </a:lnTo>
                <a:lnTo>
                  <a:pt x="8490229" y="2018576"/>
                </a:lnTo>
                <a:lnTo>
                  <a:pt x="8520125" y="1984603"/>
                </a:lnTo>
                <a:lnTo>
                  <a:pt x="8545538" y="1946986"/>
                </a:lnTo>
                <a:lnTo>
                  <a:pt x="8566036" y="1906155"/>
                </a:lnTo>
                <a:lnTo>
                  <a:pt x="8581199" y="1862505"/>
                </a:lnTo>
                <a:lnTo>
                  <a:pt x="8590597" y="1816468"/>
                </a:lnTo>
                <a:lnTo>
                  <a:pt x="8593836" y="1768475"/>
                </a:lnTo>
                <a:lnTo>
                  <a:pt x="8593836" y="353695"/>
                </a:lnTo>
                <a:close/>
              </a:path>
            </a:pathLst>
          </a:custGeom>
          <a:solidFill>
            <a:srgbClr val="943735"/>
          </a:solidFill>
        </p:spPr>
        <p:txBody>
          <a:bodyPr wrap="square" lIns="0" tIns="0" rIns="0" bIns="0" rtlCol="0"/>
          <a:lstStyle/>
          <a:p>
            <a:endParaRPr/>
          </a:p>
        </p:txBody>
      </p:sp>
      <p:sp>
        <p:nvSpPr>
          <p:cNvPr id="6" name="object 6"/>
          <p:cNvSpPr txBox="1"/>
          <p:nvPr/>
        </p:nvSpPr>
        <p:spPr>
          <a:xfrm>
            <a:off x="568451" y="3924300"/>
            <a:ext cx="8007350" cy="1534795"/>
          </a:xfrm>
          <a:prstGeom prst="rect">
            <a:avLst/>
          </a:prstGeom>
        </p:spPr>
        <p:txBody>
          <a:bodyPr vert="horz" wrap="square" lIns="0" tIns="43815" rIns="0" bIns="0" rtlCol="0">
            <a:spAutoFit/>
          </a:bodyPr>
          <a:lstStyle/>
          <a:p>
            <a:pPr marL="355600" marR="5080" indent="-342900">
              <a:lnSpc>
                <a:spcPts val="1939"/>
              </a:lnSpc>
              <a:spcBef>
                <a:spcPts val="345"/>
              </a:spcBef>
              <a:buFont typeface="Wingdings"/>
              <a:buChar char=""/>
              <a:tabLst>
                <a:tab pos="354965" algn="l"/>
                <a:tab pos="355600" algn="l"/>
              </a:tabLst>
            </a:pPr>
            <a:r>
              <a:rPr sz="1800" spc="60" dirty="0">
                <a:solidFill>
                  <a:srgbClr val="FFFFFF"/>
                </a:solidFill>
                <a:latin typeface="Arial"/>
                <a:cs typeface="Arial"/>
              </a:rPr>
              <a:t>When </a:t>
            </a:r>
            <a:r>
              <a:rPr sz="1800" spc="-15" dirty="0">
                <a:solidFill>
                  <a:srgbClr val="FFFFFF"/>
                </a:solidFill>
                <a:latin typeface="Arial"/>
                <a:cs typeface="Arial"/>
              </a:rPr>
              <a:t>executing </a:t>
            </a:r>
            <a:r>
              <a:rPr sz="1800" spc="-100" dirty="0">
                <a:solidFill>
                  <a:srgbClr val="FFFFFF"/>
                </a:solidFill>
                <a:latin typeface="Arial"/>
                <a:cs typeface="Arial"/>
              </a:rPr>
              <a:t>some </a:t>
            </a:r>
            <a:r>
              <a:rPr sz="1800" spc="120" dirty="0">
                <a:solidFill>
                  <a:srgbClr val="FFFFFF"/>
                </a:solidFill>
                <a:latin typeface="Arial"/>
                <a:cs typeface="Arial"/>
              </a:rPr>
              <a:t>DML </a:t>
            </a:r>
            <a:r>
              <a:rPr sz="1800" spc="-50" dirty="0">
                <a:solidFill>
                  <a:srgbClr val="FFFFFF"/>
                </a:solidFill>
                <a:latin typeface="Arial"/>
                <a:cs typeface="Arial"/>
              </a:rPr>
              <a:t>statements such </a:t>
            </a:r>
            <a:r>
              <a:rPr sz="1800" spc="-185" dirty="0">
                <a:solidFill>
                  <a:srgbClr val="FFFFFF"/>
                </a:solidFill>
                <a:latin typeface="Arial"/>
                <a:cs typeface="Arial"/>
              </a:rPr>
              <a:t>as </a:t>
            </a:r>
            <a:r>
              <a:rPr sz="1800" spc="10" dirty="0">
                <a:solidFill>
                  <a:srgbClr val="FFFFFF"/>
                </a:solidFill>
                <a:latin typeface="Arial"/>
                <a:cs typeface="Arial"/>
              </a:rPr>
              <a:t>INSERT, </a:t>
            </a:r>
            <a:r>
              <a:rPr sz="1800" spc="-5" dirty="0">
                <a:solidFill>
                  <a:srgbClr val="FFFFFF"/>
                </a:solidFill>
                <a:latin typeface="Arial"/>
                <a:cs typeface="Arial"/>
              </a:rPr>
              <a:t>DELETE, </a:t>
            </a:r>
            <a:r>
              <a:rPr sz="1800" spc="-35" dirty="0">
                <a:solidFill>
                  <a:srgbClr val="FFFFFF"/>
                </a:solidFill>
                <a:latin typeface="Arial"/>
                <a:cs typeface="Arial"/>
              </a:rPr>
              <a:t>and  </a:t>
            </a:r>
            <a:r>
              <a:rPr sz="1800" spc="50" dirty="0">
                <a:solidFill>
                  <a:srgbClr val="FFFFFF"/>
                </a:solidFill>
                <a:latin typeface="Arial"/>
                <a:cs typeface="Arial"/>
              </a:rPr>
              <a:t>UPDATE,</a:t>
            </a:r>
            <a:r>
              <a:rPr sz="1800" spc="-130" dirty="0">
                <a:solidFill>
                  <a:srgbClr val="FFFFFF"/>
                </a:solidFill>
                <a:latin typeface="Arial"/>
                <a:cs typeface="Arial"/>
              </a:rPr>
              <a:t> </a:t>
            </a:r>
            <a:r>
              <a:rPr sz="1800" spc="-90" dirty="0">
                <a:solidFill>
                  <a:srgbClr val="FFFFFF"/>
                </a:solidFill>
                <a:latin typeface="Arial"/>
                <a:cs typeface="Arial"/>
              </a:rPr>
              <a:t>users</a:t>
            </a:r>
            <a:r>
              <a:rPr sz="1800" spc="-110" dirty="0">
                <a:solidFill>
                  <a:srgbClr val="FFFFFF"/>
                </a:solidFill>
                <a:latin typeface="Arial"/>
                <a:cs typeface="Arial"/>
              </a:rPr>
              <a:t> </a:t>
            </a:r>
            <a:r>
              <a:rPr sz="1800" spc="-65" dirty="0">
                <a:solidFill>
                  <a:srgbClr val="FFFFFF"/>
                </a:solidFill>
                <a:latin typeface="Arial"/>
                <a:cs typeface="Arial"/>
              </a:rPr>
              <a:t>can</a:t>
            </a:r>
            <a:r>
              <a:rPr sz="1800" spc="-120" dirty="0">
                <a:solidFill>
                  <a:srgbClr val="FFFFFF"/>
                </a:solidFill>
                <a:latin typeface="Arial"/>
                <a:cs typeface="Arial"/>
              </a:rPr>
              <a:t> </a:t>
            </a:r>
            <a:r>
              <a:rPr sz="1800" spc="-20" dirty="0">
                <a:solidFill>
                  <a:srgbClr val="FFFFFF"/>
                </a:solidFill>
                <a:latin typeface="Arial"/>
                <a:cs typeface="Arial"/>
              </a:rPr>
              <a:t>handle</a:t>
            </a:r>
            <a:r>
              <a:rPr sz="1800" spc="-125" dirty="0">
                <a:solidFill>
                  <a:srgbClr val="FFFFFF"/>
                </a:solidFill>
                <a:latin typeface="Arial"/>
                <a:cs typeface="Arial"/>
              </a:rPr>
              <a:t> </a:t>
            </a:r>
            <a:r>
              <a:rPr sz="1800" spc="-25" dirty="0">
                <a:solidFill>
                  <a:srgbClr val="FFFFFF"/>
                </a:solidFill>
                <a:latin typeface="Arial"/>
                <a:cs typeface="Arial"/>
              </a:rPr>
              <a:t>errors</a:t>
            </a:r>
            <a:r>
              <a:rPr sz="1800" spc="-110" dirty="0">
                <a:solidFill>
                  <a:srgbClr val="FFFFFF"/>
                </a:solidFill>
                <a:latin typeface="Arial"/>
                <a:cs typeface="Arial"/>
              </a:rPr>
              <a:t> </a:t>
            </a:r>
            <a:r>
              <a:rPr sz="1800" spc="45" dirty="0">
                <a:solidFill>
                  <a:srgbClr val="FFFFFF"/>
                </a:solidFill>
                <a:latin typeface="Arial"/>
                <a:cs typeface="Arial"/>
              </a:rPr>
              <a:t>to</a:t>
            </a:r>
            <a:r>
              <a:rPr sz="1800" spc="-120" dirty="0">
                <a:solidFill>
                  <a:srgbClr val="FFFFFF"/>
                </a:solidFill>
                <a:latin typeface="Arial"/>
                <a:cs typeface="Arial"/>
              </a:rPr>
              <a:t> </a:t>
            </a:r>
            <a:r>
              <a:rPr sz="1800" spc="-60" dirty="0">
                <a:solidFill>
                  <a:srgbClr val="FFFFFF"/>
                </a:solidFill>
                <a:latin typeface="Arial"/>
                <a:cs typeface="Arial"/>
              </a:rPr>
              <a:t>ensure</a:t>
            </a:r>
            <a:r>
              <a:rPr sz="1800" spc="-114" dirty="0">
                <a:solidFill>
                  <a:srgbClr val="FFFFFF"/>
                </a:solidFill>
                <a:latin typeface="Arial"/>
                <a:cs typeface="Arial"/>
              </a:rPr>
              <a:t> </a:t>
            </a:r>
            <a:r>
              <a:rPr sz="1800" spc="-15" dirty="0">
                <a:solidFill>
                  <a:srgbClr val="FFFFFF"/>
                </a:solidFill>
                <a:latin typeface="Arial"/>
                <a:cs typeface="Arial"/>
              </a:rPr>
              <a:t>correct</a:t>
            </a:r>
            <a:r>
              <a:rPr sz="1800" spc="-120" dirty="0">
                <a:solidFill>
                  <a:srgbClr val="FFFFFF"/>
                </a:solidFill>
                <a:latin typeface="Arial"/>
                <a:cs typeface="Arial"/>
              </a:rPr>
              <a:t> </a:t>
            </a:r>
            <a:r>
              <a:rPr sz="1800" spc="30" dirty="0">
                <a:solidFill>
                  <a:srgbClr val="FFFFFF"/>
                </a:solidFill>
                <a:latin typeface="Arial"/>
                <a:cs typeface="Arial"/>
              </a:rPr>
              <a:t>output.</a:t>
            </a:r>
            <a:endParaRPr sz="1800">
              <a:latin typeface="Arial"/>
              <a:cs typeface="Arial"/>
            </a:endParaRPr>
          </a:p>
          <a:p>
            <a:pPr marL="355600" marR="5080" indent="-342900">
              <a:lnSpc>
                <a:spcPts val="1939"/>
              </a:lnSpc>
              <a:spcBef>
                <a:spcPts val="10"/>
              </a:spcBef>
              <a:buFont typeface="Wingdings"/>
              <a:buChar char=""/>
              <a:tabLst>
                <a:tab pos="354965" algn="l"/>
                <a:tab pos="355600" algn="l"/>
              </a:tabLst>
            </a:pPr>
            <a:r>
              <a:rPr sz="1800" spc="60" dirty="0">
                <a:solidFill>
                  <a:srgbClr val="FFFFFF"/>
                </a:solidFill>
                <a:latin typeface="Arial"/>
                <a:cs typeface="Arial"/>
              </a:rPr>
              <a:t>When </a:t>
            </a:r>
            <a:r>
              <a:rPr sz="1800" spc="-175" dirty="0">
                <a:solidFill>
                  <a:srgbClr val="FFFFFF"/>
                </a:solidFill>
                <a:latin typeface="Arial"/>
                <a:cs typeface="Arial"/>
              </a:rPr>
              <a:t>a </a:t>
            </a:r>
            <a:r>
              <a:rPr sz="1800" spc="-10" dirty="0">
                <a:solidFill>
                  <a:srgbClr val="FFFFFF"/>
                </a:solidFill>
                <a:latin typeface="Arial"/>
                <a:cs typeface="Arial"/>
              </a:rPr>
              <a:t>transaction fails </a:t>
            </a:r>
            <a:r>
              <a:rPr sz="1800" spc="-35" dirty="0">
                <a:solidFill>
                  <a:srgbClr val="FFFFFF"/>
                </a:solidFill>
                <a:latin typeface="Arial"/>
                <a:cs typeface="Arial"/>
              </a:rPr>
              <a:t>and </a:t>
            </a:r>
            <a:r>
              <a:rPr sz="1800" dirty="0">
                <a:solidFill>
                  <a:srgbClr val="FFFFFF"/>
                </a:solidFill>
                <a:latin typeface="Arial"/>
                <a:cs typeface="Arial"/>
              </a:rPr>
              <a:t>the </a:t>
            </a:r>
            <a:r>
              <a:rPr sz="1800" spc="-65" dirty="0">
                <a:solidFill>
                  <a:srgbClr val="FFFFFF"/>
                </a:solidFill>
                <a:latin typeface="Arial"/>
                <a:cs typeface="Arial"/>
              </a:rPr>
              <a:t>user </a:t>
            </a:r>
            <a:r>
              <a:rPr sz="1800" spc="-15" dirty="0">
                <a:solidFill>
                  <a:srgbClr val="FFFFFF"/>
                </a:solidFill>
                <a:latin typeface="Arial"/>
                <a:cs typeface="Arial"/>
              </a:rPr>
              <a:t>must </a:t>
            </a:r>
            <a:r>
              <a:rPr sz="1800" spc="65" dirty="0">
                <a:solidFill>
                  <a:srgbClr val="FFFFFF"/>
                </a:solidFill>
                <a:latin typeface="Arial"/>
                <a:cs typeface="Arial"/>
              </a:rPr>
              <a:t>roll </a:t>
            </a:r>
            <a:r>
              <a:rPr sz="1800" spc="-50" dirty="0">
                <a:solidFill>
                  <a:srgbClr val="FFFFFF"/>
                </a:solidFill>
                <a:latin typeface="Arial"/>
                <a:cs typeface="Arial"/>
              </a:rPr>
              <a:t>back </a:t>
            </a:r>
            <a:r>
              <a:rPr sz="1800" dirty="0">
                <a:solidFill>
                  <a:srgbClr val="FFFFFF"/>
                </a:solidFill>
                <a:latin typeface="Arial"/>
                <a:cs typeface="Arial"/>
              </a:rPr>
              <a:t>the </a:t>
            </a:r>
            <a:r>
              <a:rPr sz="1800" spc="-15" dirty="0">
                <a:solidFill>
                  <a:srgbClr val="FFFFFF"/>
                </a:solidFill>
                <a:latin typeface="Arial"/>
                <a:cs typeface="Arial"/>
              </a:rPr>
              <a:t>transaction, </a:t>
            </a:r>
            <a:r>
              <a:rPr sz="1800" spc="-60" dirty="0">
                <a:solidFill>
                  <a:srgbClr val="FFFFFF"/>
                </a:solidFill>
                <a:latin typeface="Arial"/>
                <a:cs typeface="Arial"/>
              </a:rPr>
              <a:t>an  </a:t>
            </a:r>
            <a:r>
              <a:rPr sz="1800" spc="-15" dirty="0">
                <a:solidFill>
                  <a:srgbClr val="FFFFFF"/>
                </a:solidFill>
                <a:latin typeface="Arial"/>
                <a:cs typeface="Arial"/>
              </a:rPr>
              <a:t>appropriate </a:t>
            </a:r>
            <a:r>
              <a:rPr sz="1800" spc="10" dirty="0">
                <a:solidFill>
                  <a:srgbClr val="FFFFFF"/>
                </a:solidFill>
                <a:latin typeface="Arial"/>
                <a:cs typeface="Arial"/>
              </a:rPr>
              <a:t>error </a:t>
            </a:r>
            <a:r>
              <a:rPr sz="1800" spc="-145" dirty="0">
                <a:solidFill>
                  <a:srgbClr val="FFFFFF"/>
                </a:solidFill>
                <a:latin typeface="Arial"/>
                <a:cs typeface="Arial"/>
              </a:rPr>
              <a:t>message </a:t>
            </a:r>
            <a:r>
              <a:rPr sz="1800" spc="-65" dirty="0">
                <a:solidFill>
                  <a:srgbClr val="FFFFFF"/>
                </a:solidFill>
                <a:latin typeface="Arial"/>
                <a:cs typeface="Arial"/>
              </a:rPr>
              <a:t>can </a:t>
            </a:r>
            <a:r>
              <a:rPr sz="1800" spc="-95" dirty="0">
                <a:solidFill>
                  <a:srgbClr val="FFFFFF"/>
                </a:solidFill>
                <a:latin typeface="Arial"/>
                <a:cs typeface="Arial"/>
              </a:rPr>
              <a:t>be</a:t>
            </a:r>
            <a:r>
              <a:rPr sz="1800" spc="-385" dirty="0">
                <a:solidFill>
                  <a:srgbClr val="FFFFFF"/>
                </a:solidFill>
                <a:latin typeface="Arial"/>
                <a:cs typeface="Arial"/>
              </a:rPr>
              <a:t> </a:t>
            </a:r>
            <a:r>
              <a:rPr sz="1800" spc="-35" dirty="0">
                <a:solidFill>
                  <a:srgbClr val="FFFFFF"/>
                </a:solidFill>
                <a:latin typeface="Arial"/>
                <a:cs typeface="Arial"/>
              </a:rPr>
              <a:t>displayed.</a:t>
            </a:r>
            <a:endParaRPr sz="1800">
              <a:latin typeface="Arial"/>
              <a:cs typeface="Arial"/>
            </a:endParaRPr>
          </a:p>
          <a:p>
            <a:pPr marL="355600" marR="5715" indent="-342900">
              <a:lnSpc>
                <a:spcPts val="1950"/>
              </a:lnSpc>
              <a:buFont typeface="Wingdings"/>
              <a:buChar char=""/>
              <a:tabLst>
                <a:tab pos="354965" algn="l"/>
                <a:tab pos="355600" algn="l"/>
              </a:tabLst>
            </a:pPr>
            <a:r>
              <a:rPr sz="1800" spc="60" dirty="0">
                <a:solidFill>
                  <a:srgbClr val="FFFFFF"/>
                </a:solidFill>
                <a:latin typeface="Arial"/>
                <a:cs typeface="Arial"/>
              </a:rPr>
              <a:t>When </a:t>
            </a:r>
            <a:r>
              <a:rPr sz="1800" spc="30" dirty="0">
                <a:solidFill>
                  <a:srgbClr val="FFFFFF"/>
                </a:solidFill>
                <a:latin typeface="Arial"/>
                <a:cs typeface="Arial"/>
              </a:rPr>
              <a:t>working </a:t>
            </a:r>
            <a:r>
              <a:rPr sz="1800" spc="80" dirty="0">
                <a:solidFill>
                  <a:srgbClr val="FFFFFF"/>
                </a:solidFill>
                <a:latin typeface="Arial"/>
                <a:cs typeface="Arial"/>
              </a:rPr>
              <a:t>with </a:t>
            </a:r>
            <a:r>
              <a:rPr sz="1800" spc="-45" dirty="0">
                <a:solidFill>
                  <a:srgbClr val="FFFFFF"/>
                </a:solidFill>
                <a:latin typeface="Arial"/>
                <a:cs typeface="Arial"/>
              </a:rPr>
              <a:t>cursors </a:t>
            </a:r>
            <a:r>
              <a:rPr sz="1800" spc="80" dirty="0">
                <a:solidFill>
                  <a:srgbClr val="FFFFFF"/>
                </a:solidFill>
                <a:latin typeface="Arial"/>
                <a:cs typeface="Arial"/>
              </a:rPr>
              <a:t>in</a:t>
            </a:r>
            <a:r>
              <a:rPr sz="1800" spc="-360" dirty="0">
                <a:solidFill>
                  <a:srgbClr val="FFFFFF"/>
                </a:solidFill>
                <a:latin typeface="Arial"/>
                <a:cs typeface="Arial"/>
              </a:rPr>
              <a:t> </a:t>
            </a:r>
            <a:r>
              <a:rPr sz="1800" spc="20" dirty="0">
                <a:solidFill>
                  <a:srgbClr val="FFFFFF"/>
                </a:solidFill>
                <a:latin typeface="Arial"/>
                <a:cs typeface="Arial"/>
              </a:rPr>
              <a:t>SQL </a:t>
            </a:r>
            <a:r>
              <a:rPr sz="1800" spc="-45" dirty="0">
                <a:solidFill>
                  <a:srgbClr val="FFFFFF"/>
                </a:solidFill>
                <a:latin typeface="Arial"/>
                <a:cs typeface="Arial"/>
              </a:rPr>
              <a:t>Server, </a:t>
            </a:r>
            <a:r>
              <a:rPr sz="1800" spc="-90" dirty="0">
                <a:solidFill>
                  <a:srgbClr val="FFFFFF"/>
                </a:solidFill>
                <a:latin typeface="Arial"/>
                <a:cs typeface="Arial"/>
              </a:rPr>
              <a:t>users </a:t>
            </a:r>
            <a:r>
              <a:rPr sz="1800" spc="-65" dirty="0">
                <a:solidFill>
                  <a:srgbClr val="FFFFFF"/>
                </a:solidFill>
                <a:latin typeface="Arial"/>
                <a:cs typeface="Arial"/>
              </a:rPr>
              <a:t>can </a:t>
            </a:r>
            <a:r>
              <a:rPr sz="1800" spc="-20" dirty="0">
                <a:solidFill>
                  <a:srgbClr val="FFFFFF"/>
                </a:solidFill>
                <a:latin typeface="Arial"/>
                <a:cs typeface="Arial"/>
              </a:rPr>
              <a:t>handle </a:t>
            </a:r>
            <a:r>
              <a:rPr sz="1800" spc="-25" dirty="0">
                <a:solidFill>
                  <a:srgbClr val="FFFFFF"/>
                </a:solidFill>
                <a:latin typeface="Arial"/>
                <a:cs typeface="Arial"/>
              </a:rPr>
              <a:t>errors </a:t>
            </a:r>
            <a:r>
              <a:rPr sz="1800" spc="45" dirty="0">
                <a:solidFill>
                  <a:srgbClr val="FFFFFF"/>
                </a:solidFill>
                <a:latin typeface="Arial"/>
                <a:cs typeface="Arial"/>
              </a:rPr>
              <a:t>to </a:t>
            </a:r>
            <a:r>
              <a:rPr sz="1800" spc="-60" dirty="0">
                <a:solidFill>
                  <a:srgbClr val="FFFFFF"/>
                </a:solidFill>
                <a:latin typeface="Arial"/>
                <a:cs typeface="Arial"/>
              </a:rPr>
              <a:t>ensure  </a:t>
            </a:r>
            <a:r>
              <a:rPr sz="1800" spc="-15" dirty="0">
                <a:solidFill>
                  <a:srgbClr val="FFFFFF"/>
                </a:solidFill>
                <a:latin typeface="Arial"/>
                <a:cs typeface="Arial"/>
              </a:rPr>
              <a:t>correct</a:t>
            </a:r>
            <a:r>
              <a:rPr sz="1800" spc="-125" dirty="0">
                <a:solidFill>
                  <a:srgbClr val="FFFFFF"/>
                </a:solidFill>
                <a:latin typeface="Arial"/>
                <a:cs typeface="Arial"/>
              </a:rPr>
              <a:t> </a:t>
            </a:r>
            <a:r>
              <a:rPr sz="1800" spc="-35" dirty="0">
                <a:solidFill>
                  <a:srgbClr val="FFFFFF"/>
                </a:solidFill>
                <a:latin typeface="Arial"/>
                <a:cs typeface="Arial"/>
              </a:rPr>
              <a:t>results.</a:t>
            </a:r>
            <a:endParaRPr sz="18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9</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5334"/>
            <a:ext cx="3486150" cy="635635"/>
          </a:xfrm>
          <a:prstGeom prst="rect">
            <a:avLst/>
          </a:prstGeom>
        </p:spPr>
        <p:txBody>
          <a:bodyPr vert="horz" wrap="square" lIns="0" tIns="12700" rIns="0" bIns="0" rtlCol="0">
            <a:spAutoFit/>
          </a:bodyPr>
          <a:lstStyle/>
          <a:p>
            <a:pPr marL="12700">
              <a:lnSpc>
                <a:spcPct val="100000"/>
              </a:lnSpc>
              <a:spcBef>
                <a:spcPts val="100"/>
              </a:spcBef>
            </a:pPr>
            <a:r>
              <a:rPr sz="4000" spc="185" dirty="0">
                <a:latin typeface="Times New Roman"/>
                <a:cs typeface="Times New Roman"/>
              </a:rPr>
              <a:t>TRY…CATCH</a:t>
            </a:r>
            <a:endParaRPr sz="4000">
              <a:latin typeface="Times New Roman"/>
              <a:cs typeface="Times New Roman"/>
            </a:endParaRPr>
          </a:p>
        </p:txBody>
      </p:sp>
      <p:pic>
        <p:nvPicPr>
          <p:cNvPr id="3" name="object 3"/>
          <p:cNvPicPr/>
          <p:nvPr/>
        </p:nvPicPr>
        <p:blipFill>
          <a:blip r:embed="rId3" cstate="print"/>
          <a:stretch>
            <a:fillRect/>
          </a:stretch>
        </p:blipFill>
        <p:spPr>
          <a:xfrm>
            <a:off x="1423416" y="990600"/>
            <a:ext cx="6459474" cy="3420617"/>
          </a:xfrm>
          <a:prstGeom prst="rect">
            <a:avLst/>
          </a:prstGeom>
        </p:spPr>
      </p:pic>
      <p:sp>
        <p:nvSpPr>
          <p:cNvPr id="4" name="object 4"/>
          <p:cNvSpPr txBox="1"/>
          <p:nvPr/>
        </p:nvSpPr>
        <p:spPr>
          <a:xfrm>
            <a:off x="3737610" y="4522088"/>
            <a:ext cx="1668780" cy="238760"/>
          </a:xfrm>
          <a:prstGeom prst="rect">
            <a:avLst/>
          </a:prstGeom>
        </p:spPr>
        <p:txBody>
          <a:bodyPr vert="horz" wrap="square" lIns="0" tIns="12065" rIns="0" bIns="0" rtlCol="0">
            <a:spAutoFit/>
          </a:bodyPr>
          <a:lstStyle/>
          <a:p>
            <a:pPr marL="12700">
              <a:lnSpc>
                <a:spcPct val="100000"/>
              </a:lnSpc>
              <a:spcBef>
                <a:spcPts val="95"/>
              </a:spcBef>
            </a:pPr>
            <a:r>
              <a:rPr sz="1400" b="1" spc="30" dirty="0">
                <a:latin typeface="Arial"/>
                <a:cs typeface="Arial"/>
              </a:rPr>
              <a:t>TRY…CATCH</a:t>
            </a:r>
            <a:r>
              <a:rPr sz="1400" b="1" spc="-200" dirty="0">
                <a:latin typeface="Arial"/>
                <a:cs typeface="Arial"/>
              </a:rPr>
              <a:t> </a:t>
            </a:r>
            <a:r>
              <a:rPr sz="1400" b="1" spc="-90" dirty="0">
                <a:latin typeface="Arial"/>
                <a:cs typeface="Arial"/>
              </a:rPr>
              <a:t>Logic</a:t>
            </a:r>
            <a:endParaRPr sz="1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10</a:t>
            </a:fld>
            <a:endParaRPr sz="1200"/>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pic>
        <p:nvPicPr>
          <p:cNvPr id="8" name="Picture 7">
            <a:extLst>
              <a:ext uri="{FF2B5EF4-FFF2-40B4-BE49-F238E27FC236}">
                <a16:creationId xmlns:a16="http://schemas.microsoft.com/office/drawing/2014/main" id="{D9730A5E-D6D4-436A-9764-169B75DA5582}"/>
              </a:ext>
            </a:extLst>
          </p:cNvPr>
          <p:cNvPicPr>
            <a:picLocks noChangeAspect="1"/>
          </p:cNvPicPr>
          <p:nvPr/>
        </p:nvPicPr>
        <p:blipFill>
          <a:blip r:embed="rId4"/>
          <a:stretch>
            <a:fillRect/>
          </a:stretch>
        </p:blipFill>
        <p:spPr>
          <a:xfrm>
            <a:off x="2100453" y="4939522"/>
            <a:ext cx="5105400" cy="1746734"/>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7650" y="2286"/>
            <a:ext cx="3345815" cy="635635"/>
          </a:xfrm>
          <a:prstGeom prst="rect">
            <a:avLst/>
          </a:prstGeom>
        </p:spPr>
        <p:txBody>
          <a:bodyPr vert="horz" wrap="square" lIns="0" tIns="12700" rIns="0" bIns="0" rtlCol="0">
            <a:spAutoFit/>
          </a:bodyPr>
          <a:lstStyle/>
          <a:p>
            <a:pPr marL="12700">
              <a:lnSpc>
                <a:spcPct val="100000"/>
              </a:lnSpc>
              <a:spcBef>
                <a:spcPts val="100"/>
              </a:spcBef>
            </a:pPr>
            <a:r>
              <a:rPr sz="4000" spc="85"/>
              <a:t>Information</a:t>
            </a:r>
            <a:r>
              <a:rPr sz="4000" spc="-340"/>
              <a:t> </a:t>
            </a:r>
            <a:r>
              <a:rPr sz="4000" spc="-484"/>
              <a:t>1-</a:t>
            </a:r>
            <a:r>
              <a:rPr lang="en-US" sz="4000" spc="-484"/>
              <a:t>4</a:t>
            </a:r>
            <a:endParaRPr sz="4000"/>
          </a:p>
        </p:txBody>
      </p:sp>
      <p:sp>
        <p:nvSpPr>
          <p:cNvPr id="3" name="object 3"/>
          <p:cNvSpPr/>
          <p:nvPr/>
        </p:nvSpPr>
        <p:spPr>
          <a:xfrm>
            <a:off x="216408" y="964691"/>
            <a:ext cx="8470900" cy="1055370"/>
          </a:xfrm>
          <a:custGeom>
            <a:avLst/>
            <a:gdLst/>
            <a:ahLst/>
            <a:cxnLst/>
            <a:rect l="l" t="t" r="r" b="b"/>
            <a:pathLst>
              <a:path w="8470900" h="1055370">
                <a:moveTo>
                  <a:pt x="8470392" y="175895"/>
                </a:moveTo>
                <a:lnTo>
                  <a:pt x="8464105" y="129133"/>
                </a:lnTo>
                <a:lnTo>
                  <a:pt x="8446376" y="87122"/>
                </a:lnTo>
                <a:lnTo>
                  <a:pt x="8418868" y="51523"/>
                </a:lnTo>
                <a:lnTo>
                  <a:pt x="8383270" y="24015"/>
                </a:lnTo>
                <a:lnTo>
                  <a:pt x="8341258" y="6286"/>
                </a:lnTo>
                <a:lnTo>
                  <a:pt x="8294497" y="0"/>
                </a:lnTo>
                <a:lnTo>
                  <a:pt x="175907" y="0"/>
                </a:lnTo>
                <a:lnTo>
                  <a:pt x="129133" y="6286"/>
                </a:lnTo>
                <a:lnTo>
                  <a:pt x="87122" y="24015"/>
                </a:lnTo>
                <a:lnTo>
                  <a:pt x="51511" y="51523"/>
                </a:lnTo>
                <a:lnTo>
                  <a:pt x="24015" y="87122"/>
                </a:lnTo>
                <a:lnTo>
                  <a:pt x="6273" y="129133"/>
                </a:lnTo>
                <a:lnTo>
                  <a:pt x="0" y="175895"/>
                </a:lnTo>
                <a:lnTo>
                  <a:pt x="0" y="879475"/>
                </a:lnTo>
                <a:lnTo>
                  <a:pt x="6273" y="926249"/>
                </a:lnTo>
                <a:lnTo>
                  <a:pt x="24015" y="968260"/>
                </a:lnTo>
                <a:lnTo>
                  <a:pt x="51511" y="1003858"/>
                </a:lnTo>
                <a:lnTo>
                  <a:pt x="87122" y="1031367"/>
                </a:lnTo>
                <a:lnTo>
                  <a:pt x="129133" y="1049096"/>
                </a:lnTo>
                <a:lnTo>
                  <a:pt x="175907" y="1055370"/>
                </a:lnTo>
                <a:lnTo>
                  <a:pt x="8294497" y="1055370"/>
                </a:lnTo>
                <a:lnTo>
                  <a:pt x="8341258" y="1049096"/>
                </a:lnTo>
                <a:lnTo>
                  <a:pt x="8383270" y="1031367"/>
                </a:lnTo>
                <a:lnTo>
                  <a:pt x="8418868" y="1003858"/>
                </a:lnTo>
                <a:lnTo>
                  <a:pt x="8446376" y="968260"/>
                </a:lnTo>
                <a:lnTo>
                  <a:pt x="8464105" y="926249"/>
                </a:lnTo>
                <a:lnTo>
                  <a:pt x="8470392" y="879475"/>
                </a:lnTo>
                <a:lnTo>
                  <a:pt x="8470392" y="175895"/>
                </a:lnTo>
                <a:close/>
              </a:path>
            </a:pathLst>
          </a:custGeom>
          <a:solidFill>
            <a:srgbClr val="C0504D"/>
          </a:solidFill>
        </p:spPr>
        <p:txBody>
          <a:bodyPr wrap="square" lIns="0" tIns="0" rIns="0" bIns="0" rtlCol="0"/>
          <a:lstStyle/>
          <a:p>
            <a:endParaRPr/>
          </a:p>
        </p:txBody>
      </p:sp>
      <p:sp>
        <p:nvSpPr>
          <p:cNvPr id="4" name="object 4"/>
          <p:cNvSpPr/>
          <p:nvPr/>
        </p:nvSpPr>
        <p:spPr>
          <a:xfrm>
            <a:off x="238506" y="2348483"/>
            <a:ext cx="8470900" cy="1055370"/>
          </a:xfrm>
          <a:custGeom>
            <a:avLst/>
            <a:gdLst/>
            <a:ahLst/>
            <a:cxnLst/>
            <a:rect l="l" t="t" r="r" b="b"/>
            <a:pathLst>
              <a:path w="8470900" h="1055370">
                <a:moveTo>
                  <a:pt x="8470392" y="175895"/>
                </a:moveTo>
                <a:lnTo>
                  <a:pt x="8464105" y="129133"/>
                </a:lnTo>
                <a:lnTo>
                  <a:pt x="8446376" y="87122"/>
                </a:lnTo>
                <a:lnTo>
                  <a:pt x="8418868" y="51523"/>
                </a:lnTo>
                <a:lnTo>
                  <a:pt x="8383270" y="24015"/>
                </a:lnTo>
                <a:lnTo>
                  <a:pt x="8341258" y="6286"/>
                </a:lnTo>
                <a:lnTo>
                  <a:pt x="8294497" y="0"/>
                </a:lnTo>
                <a:lnTo>
                  <a:pt x="175907" y="0"/>
                </a:lnTo>
                <a:lnTo>
                  <a:pt x="129133" y="6286"/>
                </a:lnTo>
                <a:lnTo>
                  <a:pt x="87122" y="24015"/>
                </a:lnTo>
                <a:lnTo>
                  <a:pt x="51511" y="51523"/>
                </a:lnTo>
                <a:lnTo>
                  <a:pt x="24015" y="87122"/>
                </a:lnTo>
                <a:lnTo>
                  <a:pt x="6273" y="129133"/>
                </a:lnTo>
                <a:lnTo>
                  <a:pt x="0" y="175895"/>
                </a:lnTo>
                <a:lnTo>
                  <a:pt x="0" y="879475"/>
                </a:lnTo>
                <a:lnTo>
                  <a:pt x="6273" y="926249"/>
                </a:lnTo>
                <a:lnTo>
                  <a:pt x="24015" y="968260"/>
                </a:lnTo>
                <a:lnTo>
                  <a:pt x="51511" y="1003858"/>
                </a:lnTo>
                <a:lnTo>
                  <a:pt x="87122" y="1031367"/>
                </a:lnTo>
                <a:lnTo>
                  <a:pt x="129133" y="1049096"/>
                </a:lnTo>
                <a:lnTo>
                  <a:pt x="175907" y="1055370"/>
                </a:lnTo>
                <a:lnTo>
                  <a:pt x="8294497" y="1055370"/>
                </a:lnTo>
                <a:lnTo>
                  <a:pt x="8341258" y="1049096"/>
                </a:lnTo>
                <a:lnTo>
                  <a:pt x="8383270" y="1031367"/>
                </a:lnTo>
                <a:lnTo>
                  <a:pt x="8418868" y="1003858"/>
                </a:lnTo>
                <a:lnTo>
                  <a:pt x="8446376" y="968260"/>
                </a:lnTo>
                <a:lnTo>
                  <a:pt x="8464105" y="926249"/>
                </a:lnTo>
                <a:lnTo>
                  <a:pt x="8470392" y="879475"/>
                </a:lnTo>
                <a:lnTo>
                  <a:pt x="8470392" y="175895"/>
                </a:lnTo>
                <a:close/>
              </a:path>
            </a:pathLst>
          </a:custGeom>
          <a:solidFill>
            <a:srgbClr val="4AACC5"/>
          </a:solidFill>
        </p:spPr>
        <p:txBody>
          <a:bodyPr wrap="square" lIns="0" tIns="0" rIns="0" bIns="0" rtlCol="0"/>
          <a:lstStyle/>
          <a:p>
            <a:endParaRPr/>
          </a:p>
        </p:txBody>
      </p:sp>
      <p:sp>
        <p:nvSpPr>
          <p:cNvPr id="5" name="object 5"/>
          <p:cNvSpPr txBox="1"/>
          <p:nvPr/>
        </p:nvSpPr>
        <p:spPr>
          <a:xfrm>
            <a:off x="626363" y="1115568"/>
            <a:ext cx="7673340" cy="2125980"/>
          </a:xfrm>
          <a:prstGeom prst="rect">
            <a:avLst/>
          </a:prstGeom>
        </p:spPr>
        <p:txBody>
          <a:bodyPr vert="horz" wrap="square" lIns="0" tIns="46990" rIns="0" bIns="0" rtlCol="0">
            <a:spAutoFit/>
          </a:bodyPr>
          <a:lstStyle/>
          <a:p>
            <a:pPr marL="354965" marR="27940" indent="-342900" algn="just">
              <a:lnSpc>
                <a:spcPts val="2160"/>
              </a:lnSpc>
              <a:spcBef>
                <a:spcPts val="370"/>
              </a:spcBef>
              <a:buFont typeface="Wingdings"/>
              <a:buChar char=""/>
              <a:tabLst>
                <a:tab pos="355600" algn="l"/>
              </a:tabLst>
            </a:pPr>
            <a:r>
              <a:rPr sz="2000" spc="110" dirty="0">
                <a:solidFill>
                  <a:srgbClr val="FFFFFF"/>
                </a:solidFill>
                <a:latin typeface="Arial"/>
                <a:cs typeface="Arial"/>
              </a:rPr>
              <a:t>It </a:t>
            </a:r>
            <a:r>
              <a:rPr sz="2000" spc="-50" dirty="0">
                <a:solidFill>
                  <a:srgbClr val="FFFFFF"/>
                </a:solidFill>
                <a:latin typeface="Arial"/>
                <a:cs typeface="Arial"/>
              </a:rPr>
              <a:t>is </a:t>
            </a:r>
            <a:r>
              <a:rPr sz="2000" spc="-195" dirty="0">
                <a:solidFill>
                  <a:srgbClr val="FFFFFF"/>
                </a:solidFill>
                <a:latin typeface="Arial"/>
                <a:cs typeface="Arial"/>
              </a:rPr>
              <a:t>a </a:t>
            </a:r>
            <a:r>
              <a:rPr sz="2000" spc="-40" dirty="0">
                <a:solidFill>
                  <a:srgbClr val="FFFFFF"/>
                </a:solidFill>
                <a:latin typeface="Arial"/>
                <a:cs typeface="Arial"/>
              </a:rPr>
              <a:t>good </a:t>
            </a:r>
            <a:r>
              <a:rPr sz="2000" spc="-30" dirty="0">
                <a:solidFill>
                  <a:srgbClr val="FFFFFF"/>
                </a:solidFill>
                <a:latin typeface="Arial"/>
                <a:cs typeface="Arial"/>
              </a:rPr>
              <a:t>practice </a:t>
            </a:r>
            <a:r>
              <a:rPr sz="2000" spc="55" dirty="0">
                <a:solidFill>
                  <a:srgbClr val="FFFFFF"/>
                </a:solidFill>
                <a:latin typeface="Arial"/>
                <a:cs typeface="Arial"/>
              </a:rPr>
              <a:t>to </a:t>
            </a:r>
            <a:r>
              <a:rPr sz="2000" spc="-25" dirty="0">
                <a:solidFill>
                  <a:srgbClr val="FFFFFF"/>
                </a:solidFill>
                <a:latin typeface="Arial"/>
                <a:cs typeface="Arial"/>
              </a:rPr>
              <a:t>display </a:t>
            </a:r>
            <a:r>
              <a:rPr sz="2000" spc="5" dirty="0">
                <a:solidFill>
                  <a:srgbClr val="FFFFFF"/>
                </a:solidFill>
                <a:latin typeface="Arial"/>
                <a:cs typeface="Arial"/>
              </a:rPr>
              <a:t>error </a:t>
            </a:r>
            <a:r>
              <a:rPr sz="2000" spc="40" dirty="0">
                <a:solidFill>
                  <a:srgbClr val="FFFFFF"/>
                </a:solidFill>
                <a:latin typeface="Arial"/>
                <a:cs typeface="Arial"/>
              </a:rPr>
              <a:t>information </a:t>
            </a:r>
            <a:r>
              <a:rPr sz="2000" spc="-35" dirty="0">
                <a:solidFill>
                  <a:srgbClr val="FFFFFF"/>
                </a:solidFill>
                <a:latin typeface="Arial"/>
                <a:cs typeface="Arial"/>
              </a:rPr>
              <a:t>along </a:t>
            </a:r>
            <a:r>
              <a:rPr sz="2000" spc="90" dirty="0">
                <a:solidFill>
                  <a:srgbClr val="FFFFFF"/>
                </a:solidFill>
                <a:latin typeface="Arial"/>
                <a:cs typeface="Arial"/>
              </a:rPr>
              <a:t>with </a:t>
            </a:r>
            <a:r>
              <a:rPr sz="2000" dirty="0">
                <a:solidFill>
                  <a:srgbClr val="FFFFFF"/>
                </a:solidFill>
                <a:latin typeface="Arial"/>
                <a:cs typeface="Arial"/>
              </a:rPr>
              <a:t>the  </a:t>
            </a:r>
            <a:r>
              <a:rPr sz="2000" spc="-5" dirty="0">
                <a:solidFill>
                  <a:srgbClr val="FFFFFF"/>
                </a:solidFill>
                <a:latin typeface="Arial"/>
                <a:cs typeface="Arial"/>
              </a:rPr>
              <a:t>error,</a:t>
            </a:r>
            <a:r>
              <a:rPr sz="2000" spc="-114" dirty="0">
                <a:solidFill>
                  <a:srgbClr val="FFFFFF"/>
                </a:solidFill>
                <a:latin typeface="Arial"/>
                <a:cs typeface="Arial"/>
              </a:rPr>
              <a:t> </a:t>
            </a:r>
            <a:r>
              <a:rPr sz="2000" spc="-120" dirty="0">
                <a:solidFill>
                  <a:srgbClr val="FFFFFF"/>
                </a:solidFill>
                <a:latin typeface="Arial"/>
                <a:cs typeface="Arial"/>
              </a:rPr>
              <a:t>so </a:t>
            </a:r>
            <a:r>
              <a:rPr sz="2000" spc="30" dirty="0">
                <a:solidFill>
                  <a:srgbClr val="FFFFFF"/>
                </a:solidFill>
                <a:latin typeface="Arial"/>
                <a:cs typeface="Arial"/>
              </a:rPr>
              <a:t>that</a:t>
            </a:r>
            <a:r>
              <a:rPr sz="2000" spc="-114" dirty="0">
                <a:solidFill>
                  <a:srgbClr val="FFFFFF"/>
                </a:solidFill>
                <a:latin typeface="Arial"/>
                <a:cs typeface="Arial"/>
              </a:rPr>
              <a:t> </a:t>
            </a:r>
            <a:r>
              <a:rPr sz="2000" spc="125" dirty="0">
                <a:solidFill>
                  <a:srgbClr val="FFFFFF"/>
                </a:solidFill>
                <a:latin typeface="Arial"/>
                <a:cs typeface="Arial"/>
              </a:rPr>
              <a:t>it</a:t>
            </a:r>
            <a:r>
              <a:rPr sz="2000" spc="-135" dirty="0">
                <a:solidFill>
                  <a:srgbClr val="FFFFFF"/>
                </a:solidFill>
                <a:latin typeface="Arial"/>
                <a:cs typeface="Arial"/>
              </a:rPr>
              <a:t> </a:t>
            </a:r>
            <a:r>
              <a:rPr sz="2000" spc="-75" dirty="0">
                <a:solidFill>
                  <a:srgbClr val="FFFFFF"/>
                </a:solidFill>
                <a:latin typeface="Arial"/>
                <a:cs typeface="Arial"/>
              </a:rPr>
              <a:t>can</a:t>
            </a:r>
            <a:r>
              <a:rPr sz="2000" spc="-125" dirty="0">
                <a:solidFill>
                  <a:srgbClr val="FFFFFF"/>
                </a:solidFill>
                <a:latin typeface="Arial"/>
                <a:cs typeface="Arial"/>
              </a:rPr>
              <a:t> </a:t>
            </a:r>
            <a:r>
              <a:rPr sz="2000" spc="-5" dirty="0">
                <a:solidFill>
                  <a:srgbClr val="FFFFFF"/>
                </a:solidFill>
                <a:latin typeface="Arial"/>
                <a:cs typeface="Arial"/>
              </a:rPr>
              <a:t>help</a:t>
            </a:r>
            <a:r>
              <a:rPr sz="2000" spc="-110" dirty="0">
                <a:solidFill>
                  <a:srgbClr val="FFFFFF"/>
                </a:solidFill>
                <a:latin typeface="Arial"/>
                <a:cs typeface="Arial"/>
              </a:rPr>
              <a:t> </a:t>
            </a:r>
            <a:r>
              <a:rPr sz="2000" spc="50" dirty="0">
                <a:solidFill>
                  <a:srgbClr val="FFFFFF"/>
                </a:solidFill>
                <a:latin typeface="Arial"/>
                <a:cs typeface="Arial"/>
              </a:rPr>
              <a:t>to</a:t>
            </a:r>
            <a:r>
              <a:rPr sz="2000" spc="-120" dirty="0">
                <a:solidFill>
                  <a:srgbClr val="FFFFFF"/>
                </a:solidFill>
                <a:latin typeface="Arial"/>
                <a:cs typeface="Arial"/>
              </a:rPr>
              <a:t> </a:t>
            </a:r>
            <a:r>
              <a:rPr sz="2000" spc="-55" dirty="0">
                <a:solidFill>
                  <a:srgbClr val="FFFFFF"/>
                </a:solidFill>
                <a:latin typeface="Arial"/>
                <a:cs typeface="Arial"/>
              </a:rPr>
              <a:t>solve</a:t>
            </a:r>
            <a:r>
              <a:rPr sz="2000" spc="-100" dirty="0">
                <a:solidFill>
                  <a:srgbClr val="FFFFFF"/>
                </a:solidFill>
                <a:latin typeface="Arial"/>
                <a:cs typeface="Arial"/>
              </a:rPr>
              <a:t> </a:t>
            </a:r>
            <a:r>
              <a:rPr sz="2000" dirty="0">
                <a:solidFill>
                  <a:srgbClr val="FFFFFF"/>
                </a:solidFill>
                <a:latin typeface="Arial"/>
                <a:cs typeface="Arial"/>
              </a:rPr>
              <a:t>the</a:t>
            </a:r>
            <a:r>
              <a:rPr sz="2000" spc="-120" dirty="0">
                <a:solidFill>
                  <a:srgbClr val="FFFFFF"/>
                </a:solidFill>
                <a:latin typeface="Arial"/>
                <a:cs typeface="Arial"/>
              </a:rPr>
              <a:t> </a:t>
            </a:r>
            <a:r>
              <a:rPr sz="2000" spc="5" dirty="0">
                <a:solidFill>
                  <a:srgbClr val="FFFFFF"/>
                </a:solidFill>
                <a:latin typeface="Arial"/>
                <a:cs typeface="Arial"/>
              </a:rPr>
              <a:t>error</a:t>
            </a:r>
            <a:r>
              <a:rPr sz="2000" spc="-120" dirty="0">
                <a:solidFill>
                  <a:srgbClr val="FFFFFF"/>
                </a:solidFill>
                <a:latin typeface="Arial"/>
                <a:cs typeface="Arial"/>
              </a:rPr>
              <a:t> </a:t>
            </a:r>
            <a:r>
              <a:rPr sz="2000" spc="35" dirty="0">
                <a:solidFill>
                  <a:srgbClr val="FFFFFF"/>
                </a:solidFill>
                <a:latin typeface="Arial"/>
                <a:cs typeface="Arial"/>
              </a:rPr>
              <a:t>quickly</a:t>
            </a:r>
            <a:r>
              <a:rPr sz="2000" spc="-130" dirty="0">
                <a:solidFill>
                  <a:srgbClr val="FFFFFF"/>
                </a:solidFill>
                <a:latin typeface="Arial"/>
                <a:cs typeface="Arial"/>
              </a:rPr>
              <a:t> </a:t>
            </a:r>
            <a:r>
              <a:rPr sz="2000" spc="-40" dirty="0">
                <a:solidFill>
                  <a:srgbClr val="FFFFFF"/>
                </a:solidFill>
                <a:latin typeface="Arial"/>
                <a:cs typeface="Arial"/>
              </a:rPr>
              <a:t>and</a:t>
            </a:r>
            <a:r>
              <a:rPr sz="2000" spc="-125" dirty="0">
                <a:solidFill>
                  <a:srgbClr val="FFFFFF"/>
                </a:solidFill>
                <a:latin typeface="Arial"/>
                <a:cs typeface="Arial"/>
              </a:rPr>
              <a:t> </a:t>
            </a:r>
            <a:r>
              <a:rPr sz="2000" spc="25" dirty="0">
                <a:solidFill>
                  <a:srgbClr val="FFFFFF"/>
                </a:solidFill>
                <a:latin typeface="Arial"/>
                <a:cs typeface="Arial"/>
              </a:rPr>
              <a:t>efficiently.</a:t>
            </a:r>
            <a:endParaRPr sz="2000">
              <a:latin typeface="Arial"/>
              <a:cs typeface="Arial"/>
            </a:endParaRPr>
          </a:p>
          <a:p>
            <a:pPr>
              <a:lnSpc>
                <a:spcPct val="100000"/>
              </a:lnSpc>
              <a:buClr>
                <a:srgbClr val="FFFFFF"/>
              </a:buClr>
              <a:buFont typeface="Wingdings"/>
              <a:buChar char=""/>
            </a:pPr>
            <a:endParaRPr sz="2800">
              <a:latin typeface="Arial"/>
              <a:cs typeface="Arial"/>
            </a:endParaRPr>
          </a:p>
          <a:p>
            <a:pPr marL="377190" marR="5080" indent="-342900" algn="just">
              <a:lnSpc>
                <a:spcPts val="2160"/>
              </a:lnSpc>
              <a:spcBef>
                <a:spcPts val="2275"/>
              </a:spcBef>
              <a:buFont typeface="Wingdings"/>
              <a:buChar char=""/>
              <a:tabLst>
                <a:tab pos="377825" algn="l"/>
              </a:tabLst>
            </a:pPr>
            <a:r>
              <a:rPr sz="2000" spc="75" dirty="0">
                <a:solidFill>
                  <a:srgbClr val="FFFFFF"/>
                </a:solidFill>
                <a:latin typeface="Arial"/>
                <a:cs typeface="Arial"/>
              </a:rPr>
              <a:t>To </a:t>
            </a:r>
            <a:r>
              <a:rPr sz="2000" spc="-60" dirty="0">
                <a:solidFill>
                  <a:srgbClr val="FFFFFF"/>
                </a:solidFill>
                <a:latin typeface="Arial"/>
                <a:cs typeface="Arial"/>
              </a:rPr>
              <a:t>achieve </a:t>
            </a:r>
            <a:r>
              <a:rPr sz="2000" spc="5" dirty="0">
                <a:solidFill>
                  <a:srgbClr val="FFFFFF"/>
                </a:solidFill>
                <a:latin typeface="Arial"/>
                <a:cs typeface="Arial"/>
              </a:rPr>
              <a:t>this, </a:t>
            </a:r>
            <a:r>
              <a:rPr sz="2000" spc="-85" dirty="0">
                <a:solidFill>
                  <a:srgbClr val="FFFFFF"/>
                </a:solidFill>
                <a:latin typeface="Arial"/>
                <a:cs typeface="Arial"/>
              </a:rPr>
              <a:t>system </a:t>
            </a:r>
            <a:r>
              <a:rPr sz="2000" spc="25" dirty="0">
                <a:solidFill>
                  <a:srgbClr val="FFFFFF"/>
                </a:solidFill>
                <a:latin typeface="Arial"/>
                <a:cs typeface="Arial"/>
              </a:rPr>
              <a:t>functions </a:t>
            </a:r>
            <a:r>
              <a:rPr sz="2000" spc="-70" dirty="0">
                <a:solidFill>
                  <a:srgbClr val="FFFFFF"/>
                </a:solidFill>
                <a:latin typeface="Arial"/>
                <a:cs typeface="Arial"/>
              </a:rPr>
              <a:t>need </a:t>
            </a:r>
            <a:r>
              <a:rPr sz="2000" spc="55" dirty="0">
                <a:solidFill>
                  <a:srgbClr val="FFFFFF"/>
                </a:solidFill>
                <a:latin typeface="Arial"/>
                <a:cs typeface="Arial"/>
              </a:rPr>
              <a:t>to </a:t>
            </a:r>
            <a:r>
              <a:rPr sz="2000" spc="-100" dirty="0">
                <a:solidFill>
                  <a:srgbClr val="FFFFFF"/>
                </a:solidFill>
                <a:latin typeface="Arial"/>
                <a:cs typeface="Arial"/>
              </a:rPr>
              <a:t>be </a:t>
            </a:r>
            <a:r>
              <a:rPr sz="2000" spc="-85" dirty="0">
                <a:solidFill>
                  <a:srgbClr val="FFFFFF"/>
                </a:solidFill>
                <a:latin typeface="Arial"/>
                <a:cs typeface="Arial"/>
              </a:rPr>
              <a:t>used </a:t>
            </a:r>
            <a:r>
              <a:rPr sz="2000" spc="95" dirty="0">
                <a:solidFill>
                  <a:srgbClr val="FFFFFF"/>
                </a:solidFill>
                <a:latin typeface="Arial"/>
                <a:cs typeface="Arial"/>
              </a:rPr>
              <a:t>in </a:t>
            </a:r>
            <a:r>
              <a:rPr sz="2000" dirty="0">
                <a:solidFill>
                  <a:srgbClr val="FFFFFF"/>
                </a:solidFill>
                <a:latin typeface="Arial"/>
                <a:cs typeface="Arial"/>
              </a:rPr>
              <a:t>the </a:t>
            </a:r>
            <a:r>
              <a:rPr sz="2000" spc="185" dirty="0">
                <a:solidFill>
                  <a:srgbClr val="FFFFFF"/>
                </a:solidFill>
                <a:latin typeface="Arial"/>
                <a:cs typeface="Arial"/>
              </a:rPr>
              <a:t>CATCH  </a:t>
            </a:r>
            <a:r>
              <a:rPr sz="2000" spc="15" dirty="0">
                <a:solidFill>
                  <a:srgbClr val="FFFFFF"/>
                </a:solidFill>
                <a:latin typeface="Arial"/>
                <a:cs typeface="Arial"/>
              </a:rPr>
              <a:t>block </a:t>
            </a:r>
            <a:r>
              <a:rPr sz="2000" spc="55" dirty="0">
                <a:solidFill>
                  <a:srgbClr val="FFFFFF"/>
                </a:solidFill>
                <a:latin typeface="Arial"/>
                <a:cs typeface="Arial"/>
              </a:rPr>
              <a:t>to </a:t>
            </a:r>
            <a:r>
              <a:rPr sz="2000" spc="85" dirty="0">
                <a:solidFill>
                  <a:srgbClr val="FFFFFF"/>
                </a:solidFill>
                <a:latin typeface="Arial"/>
                <a:cs typeface="Arial"/>
              </a:rPr>
              <a:t>find </a:t>
            </a:r>
            <a:r>
              <a:rPr sz="2000" spc="40" dirty="0">
                <a:solidFill>
                  <a:srgbClr val="FFFFFF"/>
                </a:solidFill>
                <a:latin typeface="Arial"/>
                <a:cs typeface="Arial"/>
              </a:rPr>
              <a:t>information </a:t>
            </a:r>
            <a:r>
              <a:rPr sz="2000" spc="-10" dirty="0">
                <a:solidFill>
                  <a:srgbClr val="FFFFFF"/>
                </a:solidFill>
                <a:latin typeface="Arial"/>
                <a:cs typeface="Arial"/>
              </a:rPr>
              <a:t>about </a:t>
            </a:r>
            <a:r>
              <a:rPr sz="2000" dirty="0">
                <a:solidFill>
                  <a:srgbClr val="FFFFFF"/>
                </a:solidFill>
                <a:latin typeface="Arial"/>
                <a:cs typeface="Arial"/>
              </a:rPr>
              <a:t>the </a:t>
            </a:r>
            <a:r>
              <a:rPr sz="2000" spc="5" dirty="0">
                <a:solidFill>
                  <a:srgbClr val="FFFFFF"/>
                </a:solidFill>
                <a:latin typeface="Arial"/>
                <a:cs typeface="Arial"/>
              </a:rPr>
              <a:t>error </a:t>
            </a:r>
            <a:r>
              <a:rPr sz="2000" spc="30" dirty="0">
                <a:solidFill>
                  <a:srgbClr val="FFFFFF"/>
                </a:solidFill>
                <a:latin typeface="Arial"/>
                <a:cs typeface="Arial"/>
              </a:rPr>
              <a:t>that </a:t>
            </a:r>
            <a:r>
              <a:rPr sz="2000" spc="35" dirty="0">
                <a:solidFill>
                  <a:srgbClr val="FFFFFF"/>
                </a:solidFill>
                <a:latin typeface="Arial"/>
                <a:cs typeface="Arial"/>
              </a:rPr>
              <a:t>initiated </a:t>
            </a:r>
            <a:r>
              <a:rPr sz="2000" dirty="0">
                <a:solidFill>
                  <a:srgbClr val="FFFFFF"/>
                </a:solidFill>
                <a:latin typeface="Arial"/>
                <a:cs typeface="Arial"/>
              </a:rPr>
              <a:t>the  </a:t>
            </a:r>
            <a:r>
              <a:rPr sz="2000" spc="185" dirty="0">
                <a:solidFill>
                  <a:srgbClr val="FFFFFF"/>
                </a:solidFill>
                <a:latin typeface="Arial"/>
                <a:cs typeface="Arial"/>
              </a:rPr>
              <a:t>CATCH</a:t>
            </a:r>
            <a:r>
              <a:rPr sz="2000" spc="-130" dirty="0">
                <a:solidFill>
                  <a:srgbClr val="FFFFFF"/>
                </a:solidFill>
                <a:latin typeface="Arial"/>
                <a:cs typeface="Arial"/>
              </a:rPr>
              <a:t> </a:t>
            </a:r>
            <a:r>
              <a:rPr sz="2000" spc="10" dirty="0">
                <a:solidFill>
                  <a:srgbClr val="FFFFFF"/>
                </a:solidFill>
                <a:latin typeface="Arial"/>
                <a:cs typeface="Arial"/>
              </a:rPr>
              <a:t>block</a:t>
            </a:r>
            <a:r>
              <a:rPr sz="2000" spc="-114" dirty="0">
                <a:solidFill>
                  <a:srgbClr val="FFFFFF"/>
                </a:solidFill>
                <a:latin typeface="Arial"/>
                <a:cs typeface="Arial"/>
              </a:rPr>
              <a:t> </a:t>
            </a:r>
            <a:r>
              <a:rPr sz="2000" spc="50" dirty="0">
                <a:solidFill>
                  <a:srgbClr val="FFFFFF"/>
                </a:solidFill>
                <a:latin typeface="Arial"/>
                <a:cs typeface="Arial"/>
              </a:rPr>
              <a:t>to</a:t>
            </a:r>
            <a:r>
              <a:rPr sz="2000" spc="-125" dirty="0">
                <a:solidFill>
                  <a:srgbClr val="FFFFFF"/>
                </a:solidFill>
                <a:latin typeface="Arial"/>
                <a:cs typeface="Arial"/>
              </a:rPr>
              <a:t> </a:t>
            </a:r>
            <a:r>
              <a:rPr sz="2000" spc="-55" dirty="0">
                <a:solidFill>
                  <a:srgbClr val="FFFFFF"/>
                </a:solidFill>
                <a:latin typeface="Arial"/>
                <a:cs typeface="Arial"/>
              </a:rPr>
              <a:t>execute.</a:t>
            </a:r>
            <a:endParaRPr sz="2000">
              <a:latin typeface="Arial"/>
              <a:cs typeface="Arial"/>
            </a:endParaRPr>
          </a:p>
        </p:txBody>
      </p:sp>
      <p:sp>
        <p:nvSpPr>
          <p:cNvPr id="6" name="object 6"/>
          <p:cNvSpPr txBox="1"/>
          <p:nvPr/>
        </p:nvSpPr>
        <p:spPr>
          <a:xfrm>
            <a:off x="387858" y="3791458"/>
            <a:ext cx="4422140" cy="300355"/>
          </a:xfrm>
          <a:prstGeom prst="rect">
            <a:avLst/>
          </a:prstGeom>
        </p:spPr>
        <p:txBody>
          <a:bodyPr vert="horz" wrap="square" lIns="0" tIns="12700" rIns="0" bIns="0" rtlCol="0">
            <a:spAutoFit/>
          </a:bodyPr>
          <a:lstStyle/>
          <a:p>
            <a:pPr marL="12700">
              <a:lnSpc>
                <a:spcPct val="100000"/>
              </a:lnSpc>
              <a:spcBef>
                <a:spcPts val="100"/>
              </a:spcBef>
            </a:pPr>
            <a:r>
              <a:rPr sz="1800" b="1" spc="-85" dirty="0">
                <a:latin typeface="Arial"/>
                <a:cs typeface="Arial"/>
              </a:rPr>
              <a:t>Using</a:t>
            </a:r>
            <a:r>
              <a:rPr sz="1800" b="1" spc="-175" dirty="0">
                <a:latin typeface="Arial"/>
                <a:cs typeface="Arial"/>
              </a:rPr>
              <a:t> </a:t>
            </a:r>
            <a:r>
              <a:rPr sz="1800" b="1" spc="45" dirty="0">
                <a:latin typeface="Arial"/>
                <a:cs typeface="Arial"/>
              </a:rPr>
              <a:t>TRY…CATCH</a:t>
            </a:r>
            <a:r>
              <a:rPr sz="1800" b="1" spc="-180" dirty="0">
                <a:latin typeface="Arial"/>
                <a:cs typeface="Arial"/>
              </a:rPr>
              <a:t> </a:t>
            </a:r>
            <a:r>
              <a:rPr sz="1800" b="1" spc="-25" dirty="0">
                <a:latin typeface="Arial"/>
                <a:cs typeface="Arial"/>
              </a:rPr>
              <a:t>with</a:t>
            </a:r>
            <a:r>
              <a:rPr sz="1800" b="1" spc="-180" dirty="0">
                <a:latin typeface="Arial"/>
                <a:cs typeface="Arial"/>
              </a:rPr>
              <a:t> </a:t>
            </a:r>
            <a:r>
              <a:rPr sz="1800" b="1" spc="-80" dirty="0">
                <a:latin typeface="Arial"/>
                <a:cs typeface="Arial"/>
              </a:rPr>
              <a:t>error</a:t>
            </a:r>
            <a:r>
              <a:rPr sz="1800" b="1" spc="-170" dirty="0">
                <a:latin typeface="Arial"/>
                <a:cs typeface="Arial"/>
              </a:rPr>
              <a:t> </a:t>
            </a:r>
            <a:r>
              <a:rPr sz="1800" b="1" spc="-65" dirty="0">
                <a:latin typeface="Arial"/>
                <a:cs typeface="Arial"/>
              </a:rPr>
              <a:t>information</a:t>
            </a:r>
            <a:endParaRPr sz="1800">
              <a:latin typeface="Arial"/>
              <a:cs typeface="Arial"/>
            </a:endParaRPr>
          </a:p>
        </p:txBody>
      </p:sp>
      <p:pic>
        <p:nvPicPr>
          <p:cNvPr id="7" name="object 7"/>
          <p:cNvPicPr/>
          <p:nvPr/>
        </p:nvPicPr>
        <p:blipFill>
          <a:blip r:embed="rId3" cstate="print"/>
          <a:stretch>
            <a:fillRect/>
          </a:stretch>
        </p:blipFill>
        <p:spPr>
          <a:xfrm>
            <a:off x="1758695" y="4316729"/>
            <a:ext cx="5682996" cy="1788414"/>
          </a:xfrm>
          <a:prstGeom prst="rect">
            <a:avLst/>
          </a:prstGeom>
        </p:spPr>
      </p:pic>
      <p:sp>
        <p:nvSpPr>
          <p:cNvPr id="8" name="object 8"/>
          <p:cNvSpPr txBox="1"/>
          <p:nvPr/>
        </p:nvSpPr>
        <p:spPr>
          <a:xfrm>
            <a:off x="3891026" y="6103873"/>
            <a:ext cx="1378585" cy="238760"/>
          </a:xfrm>
          <a:prstGeom prst="rect">
            <a:avLst/>
          </a:prstGeom>
        </p:spPr>
        <p:txBody>
          <a:bodyPr vert="horz" wrap="square" lIns="0" tIns="12065" rIns="0" bIns="0" rtlCol="0">
            <a:spAutoFit/>
          </a:bodyPr>
          <a:lstStyle/>
          <a:p>
            <a:pPr marL="12700">
              <a:lnSpc>
                <a:spcPct val="100000"/>
              </a:lnSpc>
              <a:spcBef>
                <a:spcPts val="95"/>
              </a:spcBef>
            </a:pPr>
            <a:r>
              <a:rPr sz="1400" b="1" spc="-60" dirty="0">
                <a:latin typeface="Arial"/>
                <a:cs typeface="Arial"/>
              </a:rPr>
              <a:t>Error</a:t>
            </a:r>
            <a:r>
              <a:rPr sz="1400" b="1" spc="-170" dirty="0">
                <a:latin typeface="Arial"/>
                <a:cs typeface="Arial"/>
              </a:rPr>
              <a:t> </a:t>
            </a:r>
            <a:r>
              <a:rPr sz="1400" b="1" spc="-45" dirty="0">
                <a:latin typeface="Arial"/>
                <a:cs typeface="Arial"/>
              </a:rPr>
              <a:t>Information</a:t>
            </a:r>
            <a:endParaRPr sz="1400">
              <a:latin typeface="Arial"/>
              <a:cs typeface="Arial"/>
            </a:endParaRPr>
          </a:p>
        </p:txBody>
      </p:sp>
      <p:sp>
        <p:nvSpPr>
          <p:cNvPr id="10" name="object 10"/>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11</a:t>
            </a:fld>
            <a:endParaRPr sz="1200"/>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2035" y="927446"/>
            <a:ext cx="8314765" cy="40011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2000">
                <a:latin typeface="Calibri" pitchFamily="34" charset="0"/>
                <a:cs typeface="Calibri" pitchFamily="34" charset="0"/>
              </a:rPr>
              <a:t>Code </a:t>
            </a:r>
            <a:r>
              <a:rPr lang="en-US" sz="2000" dirty="0">
                <a:latin typeface="Calibri" pitchFamily="34" charset="0"/>
                <a:cs typeface="Calibri" pitchFamily="34" charset="0"/>
              </a:rPr>
              <a:t>snippet shows a simple example displaying error information: </a:t>
            </a:r>
          </a:p>
        </p:txBody>
      </p:sp>
      <p:sp>
        <p:nvSpPr>
          <p:cNvPr id="11" name="Rounded Rectangle 10"/>
          <p:cNvSpPr/>
          <p:nvPr/>
        </p:nvSpPr>
        <p:spPr>
          <a:xfrm>
            <a:off x="1676400" y="5597431"/>
            <a:ext cx="1219200" cy="4572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r>
              <a:rPr lang="en-US" sz="2000" b="1" dirty="0"/>
              <a:t>Output:</a:t>
            </a:r>
          </a:p>
        </p:txBody>
      </p:sp>
      <p:pic>
        <p:nvPicPr>
          <p:cNvPr id="12" name="Picture 11"/>
          <p:cNvPicPr>
            <a:picLocks noChangeAspect="1"/>
          </p:cNvPicPr>
          <p:nvPr/>
        </p:nvPicPr>
        <p:blipFill>
          <a:blip r:embed="rId3"/>
          <a:stretch>
            <a:fillRect/>
          </a:stretch>
        </p:blipFill>
        <p:spPr>
          <a:xfrm>
            <a:off x="1671637" y="1327556"/>
            <a:ext cx="5800725" cy="4076700"/>
          </a:xfrm>
          <a:prstGeom prst="rect">
            <a:avLst/>
          </a:prstGeom>
        </p:spPr>
      </p:pic>
      <p:pic>
        <p:nvPicPr>
          <p:cNvPr id="13" name="Picture 12"/>
          <p:cNvPicPr>
            <a:picLocks noChangeAspect="1"/>
          </p:cNvPicPr>
          <p:nvPr/>
        </p:nvPicPr>
        <p:blipFill>
          <a:blip r:embed="rId4"/>
          <a:stretch>
            <a:fillRect/>
          </a:stretch>
        </p:blipFill>
        <p:spPr>
          <a:xfrm>
            <a:off x="2971800" y="5572030"/>
            <a:ext cx="5791200" cy="848320"/>
          </a:xfrm>
          <a:prstGeom prst="rect">
            <a:avLst/>
          </a:prstGeom>
        </p:spPr>
      </p:pic>
      <p:sp>
        <p:nvSpPr>
          <p:cNvPr id="9" name="object 2">
            <a:extLst>
              <a:ext uri="{FF2B5EF4-FFF2-40B4-BE49-F238E27FC236}">
                <a16:creationId xmlns:a16="http://schemas.microsoft.com/office/drawing/2014/main" id="{B0FAE8E4-BA2E-42B8-A7BD-754192725AE3}"/>
              </a:ext>
            </a:extLst>
          </p:cNvPr>
          <p:cNvSpPr txBox="1">
            <a:spLocks/>
          </p:cNvSpPr>
          <p:nvPr/>
        </p:nvSpPr>
        <p:spPr>
          <a:xfrm>
            <a:off x="247650" y="2286"/>
            <a:ext cx="3345815" cy="635635"/>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4000" kern="0" spc="85">
                <a:solidFill>
                  <a:schemeClr val="bg1"/>
                </a:solidFill>
                <a:latin typeface="Arial" panose="020B0604020202020204" pitchFamily="34" charset="0"/>
                <a:cs typeface="Arial" panose="020B0604020202020204" pitchFamily="34" charset="0"/>
              </a:rPr>
              <a:t>Information</a:t>
            </a:r>
            <a:r>
              <a:rPr lang="en-US" sz="4000" kern="0" spc="-340">
                <a:solidFill>
                  <a:schemeClr val="bg1"/>
                </a:solidFill>
                <a:latin typeface="Arial" panose="020B0604020202020204" pitchFamily="34" charset="0"/>
                <a:cs typeface="Arial" panose="020B0604020202020204" pitchFamily="34" charset="0"/>
              </a:rPr>
              <a:t> </a:t>
            </a:r>
            <a:r>
              <a:rPr lang="en-US" sz="4000" kern="0" spc="-484">
                <a:solidFill>
                  <a:schemeClr val="bg1"/>
                </a:solidFill>
                <a:latin typeface="Arial" panose="020B0604020202020204" pitchFamily="34" charset="0"/>
                <a:cs typeface="Arial" panose="020B0604020202020204" pitchFamily="34" charset="0"/>
              </a:rPr>
              <a:t>2-4</a:t>
            </a:r>
            <a:endParaRPr lang="en-US" sz="4000" kern="0">
              <a:solidFill>
                <a:schemeClr val="bg1"/>
              </a:solidFill>
              <a:latin typeface="Arial" panose="020B0604020202020204" pitchFamily="34" charset="0"/>
              <a:cs typeface="Arial" panose="020B0604020202020204" pitchFamily="34" charset="0"/>
            </a:endParaRPr>
          </a:p>
        </p:txBody>
      </p:sp>
      <p:sp>
        <p:nvSpPr>
          <p:cNvPr id="10" name="object 10">
            <a:extLst>
              <a:ext uri="{FF2B5EF4-FFF2-40B4-BE49-F238E27FC236}">
                <a16:creationId xmlns:a16="http://schemas.microsoft.com/office/drawing/2014/main" id="{D148BFCA-09A3-4F05-AD49-9F75EB75919E}"/>
              </a:ext>
            </a:extLst>
          </p:cNvPr>
          <p:cNvSpPr txBox="1">
            <a:spLocks/>
          </p:cNvSpPr>
          <p:nvPr/>
        </p:nvSpPr>
        <p:spPr>
          <a:xfrm>
            <a:off x="7882890" y="6569709"/>
            <a:ext cx="914400" cy="256540"/>
          </a:xfrm>
          <a:prstGeom prst="rect">
            <a:avLst/>
          </a:prstGeom>
        </p:spPr>
        <p:txBody>
          <a:bodyPr vert="horz" wrap="square" lIns="0" tIns="1841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45"/>
              </a:spcBef>
            </a:pPr>
            <a:r>
              <a:rPr lang="en-US" spc="-75" baseline="4629"/>
              <a:t>Session </a:t>
            </a:r>
            <a:r>
              <a:rPr lang="en-US" spc="-179" baseline="4629"/>
              <a:t>15/</a:t>
            </a:r>
            <a:r>
              <a:rPr lang="en-US" spc="-240" baseline="4629"/>
              <a:t> </a:t>
            </a:r>
            <a:fld id="{81D60167-4931-47E6-BA6A-407CBD079E47}" type="slidenum">
              <a:rPr sz="1200" spc="-150" smtClean="0"/>
              <a:pPr marL="12700">
                <a:spcBef>
                  <a:spcPts val="145"/>
                </a:spcBef>
              </a:pPr>
              <a:t>12</a:t>
            </a:fld>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0"/>
            <a:ext cx="3410585" cy="635635"/>
          </a:xfrm>
          <a:prstGeom prst="rect">
            <a:avLst/>
          </a:prstGeom>
        </p:spPr>
        <p:txBody>
          <a:bodyPr vert="horz" wrap="square" lIns="0" tIns="12700" rIns="0" bIns="0" rtlCol="0">
            <a:spAutoFit/>
          </a:bodyPr>
          <a:lstStyle/>
          <a:p>
            <a:pPr marL="12700">
              <a:lnSpc>
                <a:spcPct val="100000"/>
              </a:lnSpc>
              <a:spcBef>
                <a:spcPts val="100"/>
              </a:spcBef>
            </a:pPr>
            <a:r>
              <a:rPr sz="4000" spc="85"/>
              <a:t>Information</a:t>
            </a:r>
            <a:r>
              <a:rPr sz="4000" spc="-340"/>
              <a:t> </a:t>
            </a:r>
            <a:r>
              <a:rPr lang="en-US" sz="4000" spc="-315"/>
              <a:t>3</a:t>
            </a:r>
            <a:r>
              <a:rPr sz="4000" spc="-315"/>
              <a:t>-</a:t>
            </a:r>
            <a:r>
              <a:rPr lang="en-US" sz="4000" spc="-315"/>
              <a:t>4</a:t>
            </a:r>
            <a:endParaRPr sz="4000"/>
          </a:p>
        </p:txBody>
      </p:sp>
      <p:sp>
        <p:nvSpPr>
          <p:cNvPr id="3" name="object 3"/>
          <p:cNvSpPr txBox="1"/>
          <p:nvPr/>
        </p:nvSpPr>
        <p:spPr>
          <a:xfrm>
            <a:off x="345693" y="1006094"/>
            <a:ext cx="3893185" cy="299720"/>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Arial"/>
                <a:cs typeface="Arial"/>
              </a:rPr>
              <a:t>Using</a:t>
            </a:r>
            <a:r>
              <a:rPr sz="1800" b="1" spc="-170" dirty="0">
                <a:latin typeface="Arial"/>
                <a:cs typeface="Arial"/>
              </a:rPr>
              <a:t> </a:t>
            </a:r>
            <a:r>
              <a:rPr sz="1800" b="1" spc="40" dirty="0">
                <a:latin typeface="Arial"/>
                <a:cs typeface="Arial"/>
              </a:rPr>
              <a:t>TRY…CATCH</a:t>
            </a:r>
            <a:r>
              <a:rPr sz="1800" b="1" spc="-180" dirty="0">
                <a:latin typeface="Arial"/>
                <a:cs typeface="Arial"/>
              </a:rPr>
              <a:t> </a:t>
            </a:r>
            <a:r>
              <a:rPr sz="1800" b="1" spc="-25" dirty="0">
                <a:latin typeface="Arial"/>
                <a:cs typeface="Arial"/>
              </a:rPr>
              <a:t>with</a:t>
            </a:r>
            <a:r>
              <a:rPr sz="1800" b="1" spc="-180" dirty="0">
                <a:latin typeface="Arial"/>
                <a:cs typeface="Arial"/>
              </a:rPr>
              <a:t> </a:t>
            </a:r>
            <a:r>
              <a:rPr sz="1800" b="1" spc="-90" dirty="0">
                <a:latin typeface="Arial"/>
                <a:cs typeface="Arial"/>
              </a:rPr>
              <a:t>Transaction</a:t>
            </a:r>
            <a:endParaRPr sz="1800">
              <a:latin typeface="Arial"/>
              <a:cs typeface="Arial"/>
            </a:endParaRPr>
          </a:p>
        </p:txBody>
      </p:sp>
      <p:pic>
        <p:nvPicPr>
          <p:cNvPr id="4" name="object 4"/>
          <p:cNvPicPr/>
          <p:nvPr/>
        </p:nvPicPr>
        <p:blipFill>
          <a:blip r:embed="rId3" cstate="print"/>
          <a:stretch>
            <a:fillRect/>
          </a:stretch>
        </p:blipFill>
        <p:spPr>
          <a:xfrm>
            <a:off x="1449324" y="1412747"/>
            <a:ext cx="6442709" cy="4426458"/>
          </a:xfrm>
          <a:prstGeom prst="rect">
            <a:avLst/>
          </a:prstGeom>
        </p:spPr>
      </p:pic>
      <p:sp>
        <p:nvSpPr>
          <p:cNvPr id="5" name="object 5"/>
          <p:cNvSpPr txBox="1"/>
          <p:nvPr/>
        </p:nvSpPr>
        <p:spPr>
          <a:xfrm>
            <a:off x="3772661" y="5837682"/>
            <a:ext cx="2052955" cy="238760"/>
          </a:xfrm>
          <a:prstGeom prst="rect">
            <a:avLst/>
          </a:prstGeom>
        </p:spPr>
        <p:txBody>
          <a:bodyPr vert="horz" wrap="square" lIns="0" tIns="12065" rIns="0" bIns="0" rtlCol="0">
            <a:spAutoFit/>
          </a:bodyPr>
          <a:lstStyle/>
          <a:p>
            <a:pPr marL="12700">
              <a:lnSpc>
                <a:spcPct val="100000"/>
              </a:lnSpc>
              <a:spcBef>
                <a:spcPts val="95"/>
              </a:spcBef>
            </a:pPr>
            <a:r>
              <a:rPr sz="1400" b="1" spc="-50" dirty="0">
                <a:latin typeface="Arial"/>
                <a:cs typeface="Arial"/>
              </a:rPr>
              <a:t>Constraint </a:t>
            </a:r>
            <a:r>
              <a:rPr sz="1400" b="1" spc="-25" dirty="0">
                <a:latin typeface="Arial"/>
                <a:cs typeface="Arial"/>
              </a:rPr>
              <a:t>Violation</a:t>
            </a:r>
            <a:r>
              <a:rPr sz="1400" b="1" spc="-210" dirty="0">
                <a:latin typeface="Arial"/>
                <a:cs typeface="Arial"/>
              </a:rPr>
              <a:t> </a:t>
            </a:r>
            <a:r>
              <a:rPr sz="1400" b="1" spc="-60" dirty="0">
                <a:latin typeface="Arial"/>
                <a:cs typeface="Arial"/>
              </a:rPr>
              <a:t>Error</a:t>
            </a:r>
            <a:endParaRPr sz="1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13</a:t>
            </a:fld>
            <a:endParaRPr sz="1200"/>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4800" y="1466087"/>
            <a:ext cx="7038975" cy="1263015"/>
          </a:xfrm>
          <a:custGeom>
            <a:avLst/>
            <a:gdLst/>
            <a:ahLst/>
            <a:cxnLst/>
            <a:rect l="l" t="t" r="r" b="b"/>
            <a:pathLst>
              <a:path w="7038975" h="1263014">
                <a:moveTo>
                  <a:pt x="7038594" y="210439"/>
                </a:moveTo>
                <a:lnTo>
                  <a:pt x="7033031" y="162204"/>
                </a:lnTo>
                <a:lnTo>
                  <a:pt x="7017194" y="117906"/>
                </a:lnTo>
                <a:lnTo>
                  <a:pt x="6992353" y="78828"/>
                </a:lnTo>
                <a:lnTo>
                  <a:pt x="6959765" y="46240"/>
                </a:lnTo>
                <a:lnTo>
                  <a:pt x="6920687" y="21399"/>
                </a:lnTo>
                <a:lnTo>
                  <a:pt x="6876389" y="5562"/>
                </a:lnTo>
                <a:lnTo>
                  <a:pt x="6828155" y="0"/>
                </a:lnTo>
                <a:lnTo>
                  <a:pt x="210439" y="0"/>
                </a:lnTo>
                <a:lnTo>
                  <a:pt x="162179" y="5562"/>
                </a:lnTo>
                <a:lnTo>
                  <a:pt x="117894" y="21399"/>
                </a:lnTo>
                <a:lnTo>
                  <a:pt x="78816" y="46240"/>
                </a:lnTo>
                <a:lnTo>
                  <a:pt x="46228" y="78828"/>
                </a:lnTo>
                <a:lnTo>
                  <a:pt x="21386" y="117906"/>
                </a:lnTo>
                <a:lnTo>
                  <a:pt x="5549" y="162204"/>
                </a:lnTo>
                <a:lnTo>
                  <a:pt x="0" y="210439"/>
                </a:lnTo>
                <a:lnTo>
                  <a:pt x="0" y="1052195"/>
                </a:lnTo>
                <a:lnTo>
                  <a:pt x="5549" y="1100442"/>
                </a:lnTo>
                <a:lnTo>
                  <a:pt x="21386" y="1144739"/>
                </a:lnTo>
                <a:lnTo>
                  <a:pt x="46228" y="1183817"/>
                </a:lnTo>
                <a:lnTo>
                  <a:pt x="78816" y="1216406"/>
                </a:lnTo>
                <a:lnTo>
                  <a:pt x="117894" y="1241247"/>
                </a:lnTo>
                <a:lnTo>
                  <a:pt x="162179" y="1257084"/>
                </a:lnTo>
                <a:lnTo>
                  <a:pt x="210439" y="1262634"/>
                </a:lnTo>
                <a:lnTo>
                  <a:pt x="6828155" y="1262634"/>
                </a:lnTo>
                <a:lnTo>
                  <a:pt x="6876389" y="1257084"/>
                </a:lnTo>
                <a:lnTo>
                  <a:pt x="6920687" y="1241247"/>
                </a:lnTo>
                <a:lnTo>
                  <a:pt x="6959765" y="1216406"/>
                </a:lnTo>
                <a:lnTo>
                  <a:pt x="6992353" y="1183817"/>
                </a:lnTo>
                <a:lnTo>
                  <a:pt x="7017194" y="1144739"/>
                </a:lnTo>
                <a:lnTo>
                  <a:pt x="7033031" y="1100442"/>
                </a:lnTo>
                <a:lnTo>
                  <a:pt x="7038594" y="1052195"/>
                </a:lnTo>
                <a:lnTo>
                  <a:pt x="7038594" y="210439"/>
                </a:lnTo>
                <a:close/>
              </a:path>
            </a:pathLst>
          </a:custGeom>
          <a:solidFill>
            <a:srgbClr val="F79546"/>
          </a:solidFill>
        </p:spPr>
        <p:txBody>
          <a:bodyPr wrap="square" lIns="0" tIns="0" rIns="0" bIns="0" rtlCol="0"/>
          <a:lstStyle/>
          <a:p>
            <a:endParaRPr/>
          </a:p>
        </p:txBody>
      </p:sp>
      <p:sp>
        <p:nvSpPr>
          <p:cNvPr id="3" name="object 3"/>
          <p:cNvSpPr txBox="1">
            <a:spLocks noGrp="1"/>
          </p:cNvSpPr>
          <p:nvPr>
            <p:ph type="title"/>
          </p:nvPr>
        </p:nvSpPr>
        <p:spPr>
          <a:xfrm>
            <a:off x="383540" y="15493"/>
            <a:ext cx="3377565" cy="635635"/>
          </a:xfrm>
          <a:prstGeom prst="rect">
            <a:avLst/>
          </a:prstGeom>
        </p:spPr>
        <p:txBody>
          <a:bodyPr vert="horz" wrap="square" lIns="0" tIns="12700" rIns="0" bIns="0" rtlCol="0">
            <a:spAutoFit/>
          </a:bodyPr>
          <a:lstStyle/>
          <a:p>
            <a:pPr marL="12700">
              <a:lnSpc>
                <a:spcPct val="100000"/>
              </a:lnSpc>
              <a:spcBef>
                <a:spcPts val="100"/>
              </a:spcBef>
            </a:pPr>
            <a:r>
              <a:rPr sz="4000" spc="85"/>
              <a:t>Information</a:t>
            </a:r>
            <a:r>
              <a:rPr sz="4000" spc="-345"/>
              <a:t> </a:t>
            </a:r>
            <a:r>
              <a:rPr lang="en-US" sz="4000" spc="-400"/>
              <a:t>4</a:t>
            </a:r>
            <a:r>
              <a:rPr sz="4000" spc="-400"/>
              <a:t>-</a:t>
            </a:r>
            <a:r>
              <a:rPr lang="en-US" sz="4000" spc="-400"/>
              <a:t>4</a:t>
            </a:r>
            <a:endParaRPr sz="4000"/>
          </a:p>
        </p:txBody>
      </p:sp>
      <p:sp>
        <p:nvSpPr>
          <p:cNvPr id="4" name="object 4"/>
          <p:cNvSpPr txBox="1"/>
          <p:nvPr/>
        </p:nvSpPr>
        <p:spPr>
          <a:xfrm>
            <a:off x="453898" y="1590294"/>
            <a:ext cx="6654800" cy="939800"/>
          </a:xfrm>
          <a:prstGeom prst="rect">
            <a:avLst/>
          </a:prstGeom>
        </p:spPr>
        <p:txBody>
          <a:bodyPr vert="horz" wrap="square" lIns="0" tIns="12065" rIns="0" bIns="0" rtlCol="0">
            <a:spAutoFit/>
          </a:bodyPr>
          <a:lstStyle/>
          <a:p>
            <a:pPr marL="355600" marR="5080" indent="-342900" algn="just">
              <a:lnSpc>
                <a:spcPct val="100000"/>
              </a:lnSpc>
              <a:spcBef>
                <a:spcPts val="95"/>
              </a:spcBef>
              <a:buFont typeface="Wingdings"/>
              <a:buChar char=""/>
              <a:tabLst>
                <a:tab pos="355600" algn="l"/>
              </a:tabLst>
            </a:pPr>
            <a:r>
              <a:rPr sz="2000" spc="110" dirty="0">
                <a:solidFill>
                  <a:srgbClr val="FFFFFF"/>
                </a:solidFill>
                <a:latin typeface="Arial"/>
                <a:cs typeface="Arial"/>
              </a:rPr>
              <a:t>If </a:t>
            </a:r>
            <a:r>
              <a:rPr sz="2000" spc="-65" dirty="0">
                <a:solidFill>
                  <a:srgbClr val="FFFFFF"/>
                </a:solidFill>
                <a:latin typeface="Arial"/>
                <a:cs typeface="Arial"/>
              </a:rPr>
              <a:t>an </a:t>
            </a:r>
            <a:r>
              <a:rPr sz="2000" spc="5" dirty="0">
                <a:solidFill>
                  <a:srgbClr val="FFFFFF"/>
                </a:solidFill>
                <a:latin typeface="Arial"/>
                <a:cs typeface="Arial"/>
              </a:rPr>
              <a:t>error </a:t>
            </a:r>
            <a:r>
              <a:rPr sz="2000" spc="-50" dirty="0">
                <a:solidFill>
                  <a:srgbClr val="FFFFFF"/>
                </a:solidFill>
                <a:latin typeface="Arial"/>
                <a:cs typeface="Arial"/>
              </a:rPr>
              <a:t>is </a:t>
            </a:r>
            <a:r>
              <a:rPr sz="2000" spc="-65" dirty="0">
                <a:solidFill>
                  <a:srgbClr val="FFFFFF"/>
                </a:solidFill>
                <a:latin typeface="Arial"/>
                <a:cs typeface="Arial"/>
              </a:rPr>
              <a:t>generated </a:t>
            </a:r>
            <a:r>
              <a:rPr sz="2000" spc="95" dirty="0">
                <a:solidFill>
                  <a:srgbClr val="FFFFFF"/>
                </a:solidFill>
                <a:latin typeface="Arial"/>
                <a:cs typeface="Arial"/>
              </a:rPr>
              <a:t>in </a:t>
            </a:r>
            <a:r>
              <a:rPr sz="2000" spc="-195" dirty="0">
                <a:solidFill>
                  <a:srgbClr val="FFFFFF"/>
                </a:solidFill>
                <a:latin typeface="Arial"/>
                <a:cs typeface="Arial"/>
              </a:rPr>
              <a:t>a </a:t>
            </a:r>
            <a:r>
              <a:rPr sz="2000" spc="80" dirty="0">
                <a:solidFill>
                  <a:srgbClr val="FFFFFF"/>
                </a:solidFill>
                <a:latin typeface="Arial"/>
                <a:cs typeface="Arial"/>
              </a:rPr>
              <a:t>TRY </a:t>
            </a:r>
            <a:r>
              <a:rPr sz="2000" dirty="0">
                <a:solidFill>
                  <a:srgbClr val="FFFFFF"/>
                </a:solidFill>
                <a:latin typeface="Arial"/>
                <a:cs typeface="Arial"/>
              </a:rPr>
              <a:t>block, </a:t>
            </a:r>
            <a:r>
              <a:rPr sz="2000" spc="125" dirty="0">
                <a:solidFill>
                  <a:srgbClr val="FFFFFF"/>
                </a:solidFill>
                <a:latin typeface="Arial"/>
                <a:cs typeface="Arial"/>
              </a:rPr>
              <a:t>it </a:t>
            </a:r>
            <a:r>
              <a:rPr sz="2000" spc="-145" dirty="0">
                <a:solidFill>
                  <a:srgbClr val="FFFFFF"/>
                </a:solidFill>
                <a:latin typeface="Arial"/>
                <a:cs typeface="Arial"/>
              </a:rPr>
              <a:t>causes </a:t>
            </a:r>
            <a:r>
              <a:rPr sz="2000" dirty="0">
                <a:solidFill>
                  <a:srgbClr val="FFFFFF"/>
                </a:solidFill>
                <a:latin typeface="Arial"/>
                <a:cs typeface="Arial"/>
              </a:rPr>
              <a:t>the</a:t>
            </a:r>
            <a:r>
              <a:rPr sz="2000" spc="-290" dirty="0">
                <a:solidFill>
                  <a:srgbClr val="FFFFFF"/>
                </a:solidFill>
                <a:latin typeface="Arial"/>
                <a:cs typeface="Arial"/>
              </a:rPr>
              <a:t> </a:t>
            </a:r>
            <a:r>
              <a:rPr sz="2000" spc="-70" dirty="0">
                <a:solidFill>
                  <a:srgbClr val="FFFFFF"/>
                </a:solidFill>
                <a:latin typeface="Arial"/>
                <a:cs typeface="Arial"/>
              </a:rPr>
              <a:t>state  </a:t>
            </a:r>
            <a:r>
              <a:rPr sz="2000" spc="50" dirty="0">
                <a:solidFill>
                  <a:srgbClr val="FFFFFF"/>
                </a:solidFill>
                <a:latin typeface="Arial"/>
                <a:cs typeface="Arial"/>
              </a:rPr>
              <a:t>of </a:t>
            </a:r>
            <a:r>
              <a:rPr sz="2000" dirty="0">
                <a:solidFill>
                  <a:srgbClr val="FFFFFF"/>
                </a:solidFill>
                <a:latin typeface="Arial"/>
                <a:cs typeface="Arial"/>
              </a:rPr>
              <a:t>the </a:t>
            </a:r>
            <a:r>
              <a:rPr sz="2000" spc="15" dirty="0">
                <a:solidFill>
                  <a:srgbClr val="FFFFFF"/>
                </a:solidFill>
                <a:latin typeface="Arial"/>
                <a:cs typeface="Arial"/>
              </a:rPr>
              <a:t>current </a:t>
            </a:r>
            <a:r>
              <a:rPr sz="2000" spc="-10" dirty="0">
                <a:solidFill>
                  <a:srgbClr val="FFFFFF"/>
                </a:solidFill>
                <a:latin typeface="Arial"/>
                <a:cs typeface="Arial"/>
              </a:rPr>
              <a:t>transaction </a:t>
            </a:r>
            <a:r>
              <a:rPr sz="2000" spc="55" dirty="0">
                <a:solidFill>
                  <a:srgbClr val="FFFFFF"/>
                </a:solidFill>
                <a:latin typeface="Arial"/>
                <a:cs typeface="Arial"/>
              </a:rPr>
              <a:t>to </a:t>
            </a:r>
            <a:r>
              <a:rPr sz="2000" spc="-100" dirty="0">
                <a:solidFill>
                  <a:srgbClr val="FFFFFF"/>
                </a:solidFill>
                <a:latin typeface="Arial"/>
                <a:cs typeface="Arial"/>
              </a:rPr>
              <a:t>be </a:t>
            </a:r>
            <a:r>
              <a:rPr sz="2000" spc="40" dirty="0">
                <a:solidFill>
                  <a:srgbClr val="FFFFFF"/>
                </a:solidFill>
                <a:latin typeface="Arial"/>
                <a:cs typeface="Arial"/>
              </a:rPr>
              <a:t>invalid </a:t>
            </a:r>
            <a:r>
              <a:rPr sz="2000" spc="-35" dirty="0">
                <a:solidFill>
                  <a:srgbClr val="FFFFFF"/>
                </a:solidFill>
                <a:latin typeface="Arial"/>
                <a:cs typeface="Arial"/>
              </a:rPr>
              <a:t>and </a:t>
            </a:r>
            <a:r>
              <a:rPr sz="2000" dirty="0">
                <a:solidFill>
                  <a:srgbClr val="FFFFFF"/>
                </a:solidFill>
                <a:latin typeface="Arial"/>
                <a:cs typeface="Arial"/>
              </a:rPr>
              <a:t>the  </a:t>
            </a:r>
            <a:r>
              <a:rPr sz="2000" spc="-15" dirty="0">
                <a:solidFill>
                  <a:srgbClr val="FFFFFF"/>
                </a:solidFill>
                <a:latin typeface="Arial"/>
                <a:cs typeface="Arial"/>
              </a:rPr>
              <a:t>transaction </a:t>
            </a:r>
            <a:r>
              <a:rPr sz="2000" spc="-50" dirty="0">
                <a:solidFill>
                  <a:srgbClr val="FFFFFF"/>
                </a:solidFill>
                <a:latin typeface="Arial"/>
                <a:cs typeface="Arial"/>
              </a:rPr>
              <a:t>is </a:t>
            </a:r>
            <a:r>
              <a:rPr sz="2000" spc="-40" dirty="0">
                <a:solidFill>
                  <a:srgbClr val="FFFFFF"/>
                </a:solidFill>
                <a:latin typeface="Arial"/>
                <a:cs typeface="Arial"/>
              </a:rPr>
              <a:t>considered </a:t>
            </a:r>
            <a:r>
              <a:rPr sz="2000" spc="-204" dirty="0">
                <a:solidFill>
                  <a:srgbClr val="FFFFFF"/>
                </a:solidFill>
                <a:latin typeface="Arial"/>
                <a:cs typeface="Arial"/>
              </a:rPr>
              <a:t>as </a:t>
            </a:r>
            <a:r>
              <a:rPr sz="2000" spc="-65" dirty="0">
                <a:solidFill>
                  <a:srgbClr val="FFFFFF"/>
                </a:solidFill>
                <a:latin typeface="Arial"/>
                <a:cs typeface="Arial"/>
              </a:rPr>
              <a:t>an </a:t>
            </a:r>
            <a:r>
              <a:rPr sz="2000" spc="15" dirty="0">
                <a:solidFill>
                  <a:srgbClr val="FFFFFF"/>
                </a:solidFill>
                <a:latin typeface="Arial"/>
                <a:cs typeface="Arial"/>
              </a:rPr>
              <a:t>uncommitted</a:t>
            </a:r>
            <a:r>
              <a:rPr sz="2000" spc="-365" dirty="0">
                <a:solidFill>
                  <a:srgbClr val="FFFFFF"/>
                </a:solidFill>
                <a:latin typeface="Arial"/>
                <a:cs typeface="Arial"/>
              </a:rPr>
              <a:t> </a:t>
            </a:r>
            <a:r>
              <a:rPr sz="2000" spc="-15" dirty="0">
                <a:solidFill>
                  <a:srgbClr val="FFFFFF"/>
                </a:solidFill>
                <a:latin typeface="Arial"/>
                <a:cs typeface="Arial"/>
              </a:rPr>
              <a:t>transaction.</a:t>
            </a:r>
            <a:endParaRPr sz="2000">
              <a:latin typeface="Arial"/>
              <a:cs typeface="Arial"/>
            </a:endParaRPr>
          </a:p>
        </p:txBody>
      </p:sp>
      <p:sp>
        <p:nvSpPr>
          <p:cNvPr id="5" name="object 5"/>
          <p:cNvSpPr txBox="1"/>
          <p:nvPr/>
        </p:nvSpPr>
        <p:spPr>
          <a:xfrm>
            <a:off x="433069" y="878586"/>
            <a:ext cx="3172460" cy="330200"/>
          </a:xfrm>
          <a:prstGeom prst="rect">
            <a:avLst/>
          </a:prstGeom>
        </p:spPr>
        <p:txBody>
          <a:bodyPr vert="horz" wrap="square" lIns="0" tIns="12065" rIns="0" bIns="0" rtlCol="0">
            <a:spAutoFit/>
          </a:bodyPr>
          <a:lstStyle/>
          <a:p>
            <a:pPr marL="12700">
              <a:lnSpc>
                <a:spcPct val="100000"/>
              </a:lnSpc>
              <a:spcBef>
                <a:spcPts val="95"/>
              </a:spcBef>
            </a:pPr>
            <a:r>
              <a:rPr sz="2000" b="1" spc="-90" dirty="0">
                <a:latin typeface="Arial"/>
                <a:cs typeface="Arial"/>
              </a:rPr>
              <a:t>Uncommittable</a:t>
            </a:r>
            <a:r>
              <a:rPr sz="2000" b="1" spc="-165" dirty="0">
                <a:latin typeface="Arial"/>
                <a:cs typeface="Arial"/>
              </a:rPr>
              <a:t> </a:t>
            </a:r>
            <a:r>
              <a:rPr sz="2000" b="1" spc="-125" dirty="0">
                <a:latin typeface="Arial"/>
                <a:cs typeface="Arial"/>
              </a:rPr>
              <a:t>Transactions</a:t>
            </a:r>
            <a:endParaRPr sz="2000">
              <a:latin typeface="Arial"/>
              <a:cs typeface="Arial"/>
            </a:endParaRPr>
          </a:p>
        </p:txBody>
      </p:sp>
      <p:sp>
        <p:nvSpPr>
          <p:cNvPr id="6" name="object 6"/>
          <p:cNvSpPr/>
          <p:nvPr/>
        </p:nvSpPr>
        <p:spPr>
          <a:xfrm>
            <a:off x="1600962" y="3166871"/>
            <a:ext cx="7359650" cy="1026794"/>
          </a:xfrm>
          <a:custGeom>
            <a:avLst/>
            <a:gdLst/>
            <a:ahLst/>
            <a:cxnLst/>
            <a:rect l="l" t="t" r="r" b="b"/>
            <a:pathLst>
              <a:path w="7359650" h="1026795">
                <a:moveTo>
                  <a:pt x="7359396" y="171069"/>
                </a:moveTo>
                <a:lnTo>
                  <a:pt x="7353274" y="125590"/>
                </a:lnTo>
                <a:lnTo>
                  <a:pt x="7336041" y="84734"/>
                </a:lnTo>
                <a:lnTo>
                  <a:pt x="7309294" y="50101"/>
                </a:lnTo>
                <a:lnTo>
                  <a:pt x="7274661" y="23355"/>
                </a:lnTo>
                <a:lnTo>
                  <a:pt x="7233806" y="6121"/>
                </a:lnTo>
                <a:lnTo>
                  <a:pt x="7188327" y="0"/>
                </a:lnTo>
                <a:lnTo>
                  <a:pt x="171069" y="0"/>
                </a:lnTo>
                <a:lnTo>
                  <a:pt x="125577" y="6121"/>
                </a:lnTo>
                <a:lnTo>
                  <a:pt x="84721" y="23355"/>
                </a:lnTo>
                <a:lnTo>
                  <a:pt x="50101" y="50101"/>
                </a:lnTo>
                <a:lnTo>
                  <a:pt x="23342" y="84734"/>
                </a:lnTo>
                <a:lnTo>
                  <a:pt x="6108" y="125590"/>
                </a:lnTo>
                <a:lnTo>
                  <a:pt x="0" y="171069"/>
                </a:lnTo>
                <a:lnTo>
                  <a:pt x="0" y="855345"/>
                </a:lnTo>
                <a:lnTo>
                  <a:pt x="6108" y="900836"/>
                </a:lnTo>
                <a:lnTo>
                  <a:pt x="23342" y="941692"/>
                </a:lnTo>
                <a:lnTo>
                  <a:pt x="50101" y="976312"/>
                </a:lnTo>
                <a:lnTo>
                  <a:pt x="84721" y="1003071"/>
                </a:lnTo>
                <a:lnTo>
                  <a:pt x="125577" y="1020305"/>
                </a:lnTo>
                <a:lnTo>
                  <a:pt x="171069" y="1026414"/>
                </a:lnTo>
                <a:lnTo>
                  <a:pt x="7188327" y="1026414"/>
                </a:lnTo>
                <a:lnTo>
                  <a:pt x="7233806" y="1020305"/>
                </a:lnTo>
                <a:lnTo>
                  <a:pt x="7274661" y="1003071"/>
                </a:lnTo>
                <a:lnTo>
                  <a:pt x="7309294" y="976312"/>
                </a:lnTo>
                <a:lnTo>
                  <a:pt x="7336041" y="941692"/>
                </a:lnTo>
                <a:lnTo>
                  <a:pt x="7353274" y="900836"/>
                </a:lnTo>
                <a:lnTo>
                  <a:pt x="7359396" y="855345"/>
                </a:lnTo>
                <a:lnTo>
                  <a:pt x="7359396" y="171069"/>
                </a:lnTo>
                <a:close/>
              </a:path>
            </a:pathLst>
          </a:custGeom>
          <a:solidFill>
            <a:srgbClr val="1F487C"/>
          </a:solidFill>
        </p:spPr>
        <p:txBody>
          <a:bodyPr wrap="square" lIns="0" tIns="0" rIns="0" bIns="0" rtlCol="0"/>
          <a:lstStyle/>
          <a:p>
            <a:endParaRPr/>
          </a:p>
        </p:txBody>
      </p:sp>
      <p:sp>
        <p:nvSpPr>
          <p:cNvPr id="7" name="object 7"/>
          <p:cNvSpPr txBox="1"/>
          <p:nvPr/>
        </p:nvSpPr>
        <p:spPr>
          <a:xfrm>
            <a:off x="1800605" y="3283203"/>
            <a:ext cx="6960234" cy="635000"/>
          </a:xfrm>
          <a:prstGeom prst="rect">
            <a:avLst/>
          </a:prstGeom>
        </p:spPr>
        <p:txBody>
          <a:bodyPr vert="horz" wrap="square" lIns="0" tIns="12065" rIns="0" bIns="0" rtlCol="0">
            <a:spAutoFit/>
          </a:bodyPr>
          <a:lstStyle/>
          <a:p>
            <a:pPr marL="355600" marR="5080" indent="-343535">
              <a:lnSpc>
                <a:spcPct val="100000"/>
              </a:lnSpc>
              <a:spcBef>
                <a:spcPts val="95"/>
              </a:spcBef>
              <a:buFont typeface="Wingdings"/>
              <a:buChar char=""/>
              <a:tabLst>
                <a:tab pos="355600" algn="l"/>
                <a:tab pos="356235" algn="l"/>
              </a:tabLst>
            </a:pPr>
            <a:r>
              <a:rPr sz="2000" spc="175" dirty="0">
                <a:solidFill>
                  <a:srgbClr val="FFFFFF"/>
                </a:solidFill>
                <a:latin typeface="Arial"/>
                <a:cs typeface="Arial"/>
              </a:rPr>
              <a:t>An </a:t>
            </a:r>
            <a:r>
              <a:rPr sz="2000" spc="5" dirty="0">
                <a:solidFill>
                  <a:srgbClr val="FFFFFF"/>
                </a:solidFill>
                <a:latin typeface="Arial"/>
                <a:cs typeface="Arial"/>
              </a:rPr>
              <a:t>uncommittable </a:t>
            </a:r>
            <a:r>
              <a:rPr sz="2000" spc="-10" dirty="0">
                <a:solidFill>
                  <a:srgbClr val="FFFFFF"/>
                </a:solidFill>
                <a:latin typeface="Arial"/>
                <a:cs typeface="Arial"/>
              </a:rPr>
              <a:t>transaction </a:t>
            </a:r>
            <a:r>
              <a:rPr sz="2000" spc="-20" dirty="0">
                <a:solidFill>
                  <a:srgbClr val="FFFFFF"/>
                </a:solidFill>
                <a:latin typeface="Arial"/>
                <a:cs typeface="Arial"/>
              </a:rPr>
              <a:t>performs </a:t>
            </a:r>
            <a:r>
              <a:rPr sz="2000" spc="40" dirty="0">
                <a:solidFill>
                  <a:srgbClr val="FFFFFF"/>
                </a:solidFill>
                <a:latin typeface="Arial"/>
                <a:cs typeface="Arial"/>
              </a:rPr>
              <a:t>only </a:t>
            </a:r>
            <a:r>
              <a:rPr sz="2000" spc="100" dirty="0">
                <a:solidFill>
                  <a:srgbClr val="FFFFFF"/>
                </a:solidFill>
                <a:latin typeface="Arial"/>
                <a:cs typeface="Arial"/>
              </a:rPr>
              <a:t>ROLLBACK  </a:t>
            </a:r>
            <a:r>
              <a:rPr sz="2000" spc="135" dirty="0">
                <a:solidFill>
                  <a:srgbClr val="FFFFFF"/>
                </a:solidFill>
                <a:latin typeface="Arial"/>
                <a:cs typeface="Arial"/>
              </a:rPr>
              <a:t>TRANSACTION</a:t>
            </a:r>
            <a:r>
              <a:rPr sz="2000" spc="-350" dirty="0">
                <a:solidFill>
                  <a:srgbClr val="FFFFFF"/>
                </a:solidFill>
                <a:latin typeface="Arial"/>
                <a:cs typeface="Arial"/>
              </a:rPr>
              <a:t> </a:t>
            </a:r>
            <a:r>
              <a:rPr sz="2000" spc="30" dirty="0">
                <a:solidFill>
                  <a:srgbClr val="FFFFFF"/>
                </a:solidFill>
                <a:latin typeface="Arial"/>
                <a:cs typeface="Arial"/>
              </a:rPr>
              <a:t>or </a:t>
            </a:r>
            <a:r>
              <a:rPr sz="2000" spc="-70" dirty="0">
                <a:solidFill>
                  <a:srgbClr val="FFFFFF"/>
                </a:solidFill>
                <a:latin typeface="Arial"/>
                <a:cs typeface="Arial"/>
              </a:rPr>
              <a:t>read </a:t>
            </a:r>
            <a:r>
              <a:rPr sz="2000" spc="-25" dirty="0">
                <a:solidFill>
                  <a:srgbClr val="FFFFFF"/>
                </a:solidFill>
                <a:latin typeface="Arial"/>
                <a:cs typeface="Arial"/>
              </a:rPr>
              <a:t>operations.</a:t>
            </a:r>
            <a:endParaRPr sz="2000">
              <a:latin typeface="Arial"/>
              <a:cs typeface="Arial"/>
            </a:endParaRPr>
          </a:p>
        </p:txBody>
      </p:sp>
      <p:sp>
        <p:nvSpPr>
          <p:cNvPr id="8" name="object 8"/>
          <p:cNvSpPr/>
          <p:nvPr/>
        </p:nvSpPr>
        <p:spPr>
          <a:xfrm>
            <a:off x="425958" y="4719065"/>
            <a:ext cx="7396480" cy="1457325"/>
          </a:xfrm>
          <a:custGeom>
            <a:avLst/>
            <a:gdLst/>
            <a:ahLst/>
            <a:cxnLst/>
            <a:rect l="l" t="t" r="r" b="b"/>
            <a:pathLst>
              <a:path w="7396480" h="1457325">
                <a:moveTo>
                  <a:pt x="7395972" y="242824"/>
                </a:moveTo>
                <a:lnTo>
                  <a:pt x="7391032" y="193890"/>
                </a:lnTo>
                <a:lnTo>
                  <a:pt x="7376884" y="148310"/>
                </a:lnTo>
                <a:lnTo>
                  <a:pt x="7354494" y="107061"/>
                </a:lnTo>
                <a:lnTo>
                  <a:pt x="7324852" y="71120"/>
                </a:lnTo>
                <a:lnTo>
                  <a:pt x="7288911" y="41478"/>
                </a:lnTo>
                <a:lnTo>
                  <a:pt x="7247661" y="19088"/>
                </a:lnTo>
                <a:lnTo>
                  <a:pt x="7202081" y="4940"/>
                </a:lnTo>
                <a:lnTo>
                  <a:pt x="7153148" y="0"/>
                </a:lnTo>
                <a:lnTo>
                  <a:pt x="242824" y="0"/>
                </a:lnTo>
                <a:lnTo>
                  <a:pt x="193878" y="4940"/>
                </a:lnTo>
                <a:lnTo>
                  <a:pt x="148297" y="19088"/>
                </a:lnTo>
                <a:lnTo>
                  <a:pt x="107048" y="41478"/>
                </a:lnTo>
                <a:lnTo>
                  <a:pt x="71120" y="71120"/>
                </a:lnTo>
                <a:lnTo>
                  <a:pt x="41465" y="107061"/>
                </a:lnTo>
                <a:lnTo>
                  <a:pt x="19075" y="148310"/>
                </a:lnTo>
                <a:lnTo>
                  <a:pt x="4927" y="193890"/>
                </a:lnTo>
                <a:lnTo>
                  <a:pt x="0" y="242824"/>
                </a:lnTo>
                <a:lnTo>
                  <a:pt x="0" y="1214120"/>
                </a:lnTo>
                <a:lnTo>
                  <a:pt x="4927" y="1263065"/>
                </a:lnTo>
                <a:lnTo>
                  <a:pt x="19075" y="1308646"/>
                </a:lnTo>
                <a:lnTo>
                  <a:pt x="41465" y="1349895"/>
                </a:lnTo>
                <a:lnTo>
                  <a:pt x="71120" y="1385824"/>
                </a:lnTo>
                <a:lnTo>
                  <a:pt x="107048" y="1415478"/>
                </a:lnTo>
                <a:lnTo>
                  <a:pt x="148297" y="1437868"/>
                </a:lnTo>
                <a:lnTo>
                  <a:pt x="193878" y="1452016"/>
                </a:lnTo>
                <a:lnTo>
                  <a:pt x="242824" y="1456944"/>
                </a:lnTo>
                <a:lnTo>
                  <a:pt x="7153148" y="1456944"/>
                </a:lnTo>
                <a:lnTo>
                  <a:pt x="7202081" y="1452016"/>
                </a:lnTo>
                <a:lnTo>
                  <a:pt x="7247661" y="1437868"/>
                </a:lnTo>
                <a:lnTo>
                  <a:pt x="7288911" y="1415478"/>
                </a:lnTo>
                <a:lnTo>
                  <a:pt x="7324852" y="1385824"/>
                </a:lnTo>
                <a:lnTo>
                  <a:pt x="7354494" y="1349895"/>
                </a:lnTo>
                <a:lnTo>
                  <a:pt x="7376884" y="1308646"/>
                </a:lnTo>
                <a:lnTo>
                  <a:pt x="7391032" y="1263065"/>
                </a:lnTo>
                <a:lnTo>
                  <a:pt x="7395972" y="1214120"/>
                </a:lnTo>
                <a:lnTo>
                  <a:pt x="7395972" y="242824"/>
                </a:lnTo>
                <a:close/>
              </a:path>
            </a:pathLst>
          </a:custGeom>
          <a:solidFill>
            <a:srgbClr val="8063A1"/>
          </a:solidFill>
        </p:spPr>
        <p:txBody>
          <a:bodyPr wrap="square" lIns="0" tIns="0" rIns="0" bIns="0" rtlCol="0"/>
          <a:lstStyle/>
          <a:p>
            <a:endParaRPr/>
          </a:p>
        </p:txBody>
      </p:sp>
      <p:sp>
        <p:nvSpPr>
          <p:cNvPr id="9" name="object 9"/>
          <p:cNvSpPr txBox="1"/>
          <p:nvPr/>
        </p:nvSpPr>
        <p:spPr>
          <a:xfrm>
            <a:off x="683259" y="4934457"/>
            <a:ext cx="6882130" cy="94043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000" spc="15" dirty="0">
                <a:solidFill>
                  <a:srgbClr val="FFFFFF"/>
                </a:solidFill>
                <a:latin typeface="Arial"/>
                <a:cs typeface="Arial"/>
              </a:rPr>
              <a:t>The </a:t>
            </a:r>
            <a:r>
              <a:rPr sz="2000" spc="-10" dirty="0">
                <a:solidFill>
                  <a:srgbClr val="FFFFFF"/>
                </a:solidFill>
                <a:latin typeface="Arial"/>
                <a:cs typeface="Arial"/>
              </a:rPr>
              <a:t>transaction </a:t>
            </a:r>
            <a:r>
              <a:rPr sz="2000" spc="-100" dirty="0">
                <a:solidFill>
                  <a:srgbClr val="FFFFFF"/>
                </a:solidFill>
                <a:latin typeface="Arial"/>
                <a:cs typeface="Arial"/>
              </a:rPr>
              <a:t>does </a:t>
            </a:r>
            <a:r>
              <a:rPr sz="2000" spc="60" dirty="0">
                <a:solidFill>
                  <a:srgbClr val="FFFFFF"/>
                </a:solidFill>
                <a:latin typeface="Arial"/>
                <a:cs typeface="Arial"/>
              </a:rPr>
              <a:t>not </a:t>
            </a:r>
            <a:r>
              <a:rPr sz="2000" spc="-55" dirty="0">
                <a:solidFill>
                  <a:srgbClr val="FFFFFF"/>
                </a:solidFill>
                <a:latin typeface="Arial"/>
                <a:cs typeface="Arial"/>
              </a:rPr>
              <a:t>execute </a:t>
            </a:r>
            <a:r>
              <a:rPr sz="2000" spc="-40" dirty="0">
                <a:solidFill>
                  <a:srgbClr val="FFFFFF"/>
                </a:solidFill>
                <a:latin typeface="Arial"/>
                <a:cs typeface="Arial"/>
              </a:rPr>
              <a:t>any </a:t>
            </a:r>
            <a:r>
              <a:rPr sz="2000" spc="-15" dirty="0">
                <a:solidFill>
                  <a:srgbClr val="FFFFFF"/>
                </a:solidFill>
                <a:latin typeface="Arial"/>
                <a:cs typeface="Arial"/>
              </a:rPr>
              <a:t>Transact-SQL  </a:t>
            </a:r>
            <a:r>
              <a:rPr sz="2000" spc="-40" dirty="0">
                <a:solidFill>
                  <a:srgbClr val="FFFFFF"/>
                </a:solidFill>
                <a:latin typeface="Arial"/>
                <a:cs typeface="Arial"/>
              </a:rPr>
              <a:t>statement </a:t>
            </a:r>
            <a:r>
              <a:rPr sz="2000" spc="30" dirty="0">
                <a:solidFill>
                  <a:srgbClr val="FFFFFF"/>
                </a:solidFill>
                <a:latin typeface="Arial"/>
                <a:cs typeface="Arial"/>
              </a:rPr>
              <a:t>that </a:t>
            </a:r>
            <a:r>
              <a:rPr sz="2000" spc="-20" dirty="0">
                <a:solidFill>
                  <a:srgbClr val="FFFFFF"/>
                </a:solidFill>
                <a:latin typeface="Arial"/>
                <a:cs typeface="Arial"/>
              </a:rPr>
              <a:t>performs </a:t>
            </a:r>
            <a:r>
              <a:rPr sz="2000" spc="-195" dirty="0">
                <a:solidFill>
                  <a:srgbClr val="FFFFFF"/>
                </a:solidFill>
                <a:latin typeface="Arial"/>
                <a:cs typeface="Arial"/>
              </a:rPr>
              <a:t>a </a:t>
            </a:r>
            <a:r>
              <a:rPr sz="2000" spc="150" dirty="0">
                <a:solidFill>
                  <a:srgbClr val="FFFFFF"/>
                </a:solidFill>
                <a:latin typeface="Arial"/>
                <a:cs typeface="Arial"/>
              </a:rPr>
              <a:t>COMMIT </a:t>
            </a:r>
            <a:r>
              <a:rPr sz="2000" spc="135" dirty="0">
                <a:solidFill>
                  <a:srgbClr val="FFFFFF"/>
                </a:solidFill>
                <a:latin typeface="Arial"/>
                <a:cs typeface="Arial"/>
              </a:rPr>
              <a:t>TRANSACTION </a:t>
            </a:r>
            <a:r>
              <a:rPr sz="2000" spc="25" dirty="0">
                <a:solidFill>
                  <a:srgbClr val="FFFFFF"/>
                </a:solidFill>
                <a:latin typeface="Arial"/>
                <a:cs typeface="Arial"/>
              </a:rPr>
              <a:t>or  </a:t>
            </a:r>
            <a:r>
              <a:rPr sz="2000" spc="-195">
                <a:solidFill>
                  <a:srgbClr val="FFFFFF"/>
                </a:solidFill>
                <a:latin typeface="Arial"/>
                <a:cs typeface="Arial"/>
              </a:rPr>
              <a:t>a </a:t>
            </a:r>
            <a:r>
              <a:rPr lang="en-US" sz="2000" spc="-195">
                <a:solidFill>
                  <a:srgbClr val="FFFFFF"/>
                </a:solidFill>
                <a:latin typeface="Arial"/>
                <a:cs typeface="Arial"/>
              </a:rPr>
              <a:t> </a:t>
            </a:r>
            <a:r>
              <a:rPr sz="2000" spc="40">
                <a:solidFill>
                  <a:srgbClr val="FFFFFF"/>
                </a:solidFill>
                <a:latin typeface="Arial"/>
                <a:cs typeface="Arial"/>
              </a:rPr>
              <a:t>write</a:t>
            </a:r>
            <a:r>
              <a:rPr sz="2000" spc="-65">
                <a:solidFill>
                  <a:srgbClr val="FFFFFF"/>
                </a:solidFill>
                <a:latin typeface="Arial"/>
                <a:cs typeface="Arial"/>
              </a:rPr>
              <a:t> </a:t>
            </a:r>
            <a:r>
              <a:rPr sz="2000" spc="-10" dirty="0">
                <a:solidFill>
                  <a:srgbClr val="FFFFFF"/>
                </a:solidFill>
                <a:latin typeface="Arial"/>
                <a:cs typeface="Arial"/>
              </a:rPr>
              <a:t>operation.</a:t>
            </a:r>
            <a:endParaRPr sz="200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14</a:t>
            </a:fld>
            <a:endParaRPr sz="1200"/>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695575" cy="635635"/>
          </a:xfrm>
          <a:prstGeom prst="rect">
            <a:avLst/>
          </a:prstGeom>
        </p:spPr>
        <p:txBody>
          <a:bodyPr vert="horz" wrap="square" lIns="0" tIns="12700" rIns="0" bIns="0" rtlCol="0">
            <a:spAutoFit/>
          </a:bodyPr>
          <a:lstStyle/>
          <a:p>
            <a:pPr marL="12700">
              <a:lnSpc>
                <a:spcPct val="100000"/>
              </a:lnSpc>
              <a:spcBef>
                <a:spcPts val="100"/>
              </a:spcBef>
            </a:pPr>
            <a:r>
              <a:rPr sz="4000" spc="-225" dirty="0"/>
              <a:t>@@ERROR</a:t>
            </a:r>
            <a:endParaRPr sz="4000"/>
          </a:p>
        </p:txBody>
      </p:sp>
      <p:pic>
        <p:nvPicPr>
          <p:cNvPr id="3" name="object 3"/>
          <p:cNvPicPr/>
          <p:nvPr/>
        </p:nvPicPr>
        <p:blipFill>
          <a:blip r:embed="rId3" cstate="print"/>
          <a:stretch>
            <a:fillRect/>
          </a:stretch>
        </p:blipFill>
        <p:spPr>
          <a:xfrm>
            <a:off x="228600" y="905255"/>
            <a:ext cx="8760714" cy="1148334"/>
          </a:xfrm>
          <a:prstGeom prst="rect">
            <a:avLst/>
          </a:prstGeom>
        </p:spPr>
      </p:pic>
      <p:sp>
        <p:nvSpPr>
          <p:cNvPr id="4" name="object 4"/>
          <p:cNvSpPr txBox="1"/>
          <p:nvPr/>
        </p:nvSpPr>
        <p:spPr>
          <a:xfrm>
            <a:off x="590550" y="961644"/>
            <a:ext cx="8037195" cy="1036319"/>
          </a:xfrm>
          <a:prstGeom prst="rect">
            <a:avLst/>
          </a:prstGeom>
        </p:spPr>
        <p:txBody>
          <a:bodyPr vert="horz" wrap="square" lIns="0" tIns="173355" rIns="0" bIns="0" rtlCol="0">
            <a:spAutoFit/>
          </a:bodyPr>
          <a:lstStyle/>
          <a:p>
            <a:pPr marL="76200" marR="67945">
              <a:lnSpc>
                <a:spcPts val="2380"/>
              </a:lnSpc>
              <a:spcBef>
                <a:spcPts val="1365"/>
              </a:spcBef>
            </a:pPr>
            <a:r>
              <a:rPr sz="2200" spc="25" dirty="0">
                <a:solidFill>
                  <a:srgbClr val="FFFFFF"/>
                </a:solidFill>
                <a:latin typeface="Arial"/>
                <a:cs typeface="Arial"/>
              </a:rPr>
              <a:t>The </a:t>
            </a:r>
            <a:r>
              <a:rPr sz="2200" spc="-125" dirty="0">
                <a:solidFill>
                  <a:srgbClr val="FFFFFF"/>
                </a:solidFill>
                <a:latin typeface="Arial"/>
                <a:cs typeface="Arial"/>
              </a:rPr>
              <a:t>@@ERROR </a:t>
            </a:r>
            <a:r>
              <a:rPr sz="2200" spc="60" dirty="0">
                <a:solidFill>
                  <a:srgbClr val="FFFFFF"/>
                </a:solidFill>
                <a:latin typeface="Arial"/>
                <a:cs typeface="Arial"/>
              </a:rPr>
              <a:t>function </a:t>
            </a:r>
            <a:r>
              <a:rPr sz="2200" dirty="0">
                <a:solidFill>
                  <a:srgbClr val="FFFFFF"/>
                </a:solidFill>
                <a:latin typeface="Arial"/>
                <a:cs typeface="Arial"/>
              </a:rPr>
              <a:t>returns the </a:t>
            </a:r>
            <a:r>
              <a:rPr sz="2200" spc="10" dirty="0">
                <a:solidFill>
                  <a:srgbClr val="FFFFFF"/>
                </a:solidFill>
                <a:latin typeface="Arial"/>
                <a:cs typeface="Arial"/>
              </a:rPr>
              <a:t>error </a:t>
            </a:r>
            <a:r>
              <a:rPr sz="2200" spc="-5" dirty="0">
                <a:solidFill>
                  <a:srgbClr val="FFFFFF"/>
                </a:solidFill>
                <a:latin typeface="Arial"/>
                <a:cs typeface="Arial"/>
              </a:rPr>
              <a:t>number </a:t>
            </a:r>
            <a:r>
              <a:rPr sz="2200" spc="70" dirty="0">
                <a:solidFill>
                  <a:srgbClr val="FFFFFF"/>
                </a:solidFill>
                <a:latin typeface="Arial"/>
                <a:cs typeface="Arial"/>
              </a:rPr>
              <a:t>for </a:t>
            </a:r>
            <a:r>
              <a:rPr sz="2200" dirty="0">
                <a:solidFill>
                  <a:srgbClr val="FFFFFF"/>
                </a:solidFill>
                <a:latin typeface="Arial"/>
                <a:cs typeface="Arial"/>
              </a:rPr>
              <a:t>the </a:t>
            </a:r>
            <a:r>
              <a:rPr sz="2200" spc="-50" dirty="0">
                <a:solidFill>
                  <a:srgbClr val="FFFFFF"/>
                </a:solidFill>
                <a:latin typeface="Arial"/>
                <a:cs typeface="Arial"/>
              </a:rPr>
              <a:t>last  </a:t>
            </a:r>
            <a:r>
              <a:rPr sz="2200" spc="-15" dirty="0">
                <a:solidFill>
                  <a:srgbClr val="FFFFFF"/>
                </a:solidFill>
                <a:latin typeface="Arial"/>
                <a:cs typeface="Arial"/>
              </a:rPr>
              <a:t>Transact-SQL </a:t>
            </a:r>
            <a:r>
              <a:rPr sz="2200" spc="-40" dirty="0">
                <a:solidFill>
                  <a:srgbClr val="FFFFFF"/>
                </a:solidFill>
                <a:latin typeface="Arial"/>
                <a:cs typeface="Arial"/>
              </a:rPr>
              <a:t>statement</a:t>
            </a:r>
            <a:r>
              <a:rPr sz="2200" spc="-320" dirty="0">
                <a:solidFill>
                  <a:srgbClr val="FFFFFF"/>
                </a:solidFill>
                <a:latin typeface="Arial"/>
                <a:cs typeface="Arial"/>
              </a:rPr>
              <a:t> </a:t>
            </a:r>
            <a:r>
              <a:rPr sz="2200" spc="-50" dirty="0">
                <a:solidFill>
                  <a:srgbClr val="FFFFFF"/>
                </a:solidFill>
                <a:latin typeface="Arial"/>
                <a:cs typeface="Arial"/>
              </a:rPr>
              <a:t>executed.</a:t>
            </a:r>
            <a:endParaRPr sz="2200">
              <a:latin typeface="Arial"/>
              <a:cs typeface="Arial"/>
            </a:endParaRPr>
          </a:p>
        </p:txBody>
      </p:sp>
      <p:pic>
        <p:nvPicPr>
          <p:cNvPr id="5" name="object 5"/>
          <p:cNvPicPr/>
          <p:nvPr/>
        </p:nvPicPr>
        <p:blipFill>
          <a:blip r:embed="rId4" cstate="print"/>
          <a:stretch>
            <a:fillRect/>
          </a:stretch>
        </p:blipFill>
        <p:spPr>
          <a:xfrm>
            <a:off x="829817" y="2319527"/>
            <a:ext cx="7484364" cy="2123694"/>
          </a:xfrm>
          <a:prstGeom prst="rect">
            <a:avLst/>
          </a:prstGeom>
        </p:spPr>
      </p:pic>
      <p:sp>
        <p:nvSpPr>
          <p:cNvPr id="6" name="object 6"/>
          <p:cNvSpPr txBox="1"/>
          <p:nvPr/>
        </p:nvSpPr>
        <p:spPr>
          <a:xfrm>
            <a:off x="903170" y="5232343"/>
            <a:ext cx="4016375" cy="848360"/>
          </a:xfrm>
          <a:prstGeom prst="rect">
            <a:avLst/>
          </a:prstGeom>
        </p:spPr>
        <p:txBody>
          <a:bodyPr vert="horz" wrap="square" lIns="0" tIns="3175" rIns="0" bIns="0" rtlCol="0">
            <a:spAutoFit/>
          </a:bodyPr>
          <a:lstStyle/>
          <a:p>
            <a:pPr marL="61594" marR="206375" indent="-49530">
              <a:lnSpc>
                <a:spcPct val="103299"/>
              </a:lnSpc>
              <a:spcBef>
                <a:spcPts val="25"/>
              </a:spcBef>
            </a:pPr>
            <a:r>
              <a:rPr sz="1800" spc="100" dirty="0">
                <a:latin typeface="Arial"/>
                <a:cs typeface="Arial"/>
              </a:rPr>
              <a:t>It</a:t>
            </a:r>
            <a:r>
              <a:rPr sz="1800" spc="-120" dirty="0">
                <a:latin typeface="Arial"/>
                <a:cs typeface="Arial"/>
              </a:rPr>
              <a:t> </a:t>
            </a:r>
            <a:r>
              <a:rPr sz="1800" spc="-45" dirty="0">
                <a:latin typeface="Arial"/>
                <a:cs typeface="Arial"/>
              </a:rPr>
              <a:t>displays</a:t>
            </a:r>
            <a:r>
              <a:rPr sz="1800" spc="-120" dirty="0">
                <a:latin typeface="Arial"/>
                <a:cs typeface="Arial"/>
              </a:rPr>
              <a:t> </a:t>
            </a:r>
            <a:r>
              <a:rPr sz="1800" dirty="0">
                <a:latin typeface="Arial"/>
                <a:cs typeface="Arial"/>
              </a:rPr>
              <a:t>the</a:t>
            </a:r>
            <a:r>
              <a:rPr sz="1800" spc="-114" dirty="0">
                <a:latin typeface="Arial"/>
                <a:cs typeface="Arial"/>
              </a:rPr>
              <a:t> </a:t>
            </a:r>
            <a:r>
              <a:rPr sz="1800" spc="40" dirty="0">
                <a:latin typeface="Arial"/>
                <a:cs typeface="Arial"/>
              </a:rPr>
              <a:t>following</a:t>
            </a:r>
            <a:r>
              <a:rPr sz="1800" spc="-105" dirty="0">
                <a:latin typeface="Arial"/>
                <a:cs typeface="Arial"/>
              </a:rPr>
              <a:t> </a:t>
            </a:r>
            <a:r>
              <a:rPr sz="1800" spc="10" dirty="0">
                <a:latin typeface="Arial"/>
                <a:cs typeface="Arial"/>
              </a:rPr>
              <a:t>error</a:t>
            </a:r>
            <a:r>
              <a:rPr sz="1800" spc="-125" dirty="0">
                <a:latin typeface="Arial"/>
                <a:cs typeface="Arial"/>
              </a:rPr>
              <a:t> </a:t>
            </a:r>
            <a:r>
              <a:rPr sz="1800" spc="-135" dirty="0">
                <a:latin typeface="Arial"/>
                <a:cs typeface="Arial"/>
              </a:rPr>
              <a:t>message:  </a:t>
            </a:r>
            <a:r>
              <a:rPr sz="1800" spc="-10" dirty="0">
                <a:latin typeface="Arial"/>
                <a:cs typeface="Arial"/>
              </a:rPr>
              <a:t>(</a:t>
            </a:r>
            <a:r>
              <a:rPr sz="1800" spc="-10" dirty="0">
                <a:latin typeface="Calibri"/>
                <a:cs typeface="Calibri"/>
              </a:rPr>
              <a:t>0 </a:t>
            </a:r>
            <a:r>
              <a:rPr sz="1800" spc="-25" dirty="0">
                <a:latin typeface="Arial"/>
                <a:cs typeface="Arial"/>
              </a:rPr>
              <a:t>rows</a:t>
            </a:r>
            <a:r>
              <a:rPr sz="1800" spc="-120" dirty="0">
                <a:latin typeface="Arial"/>
                <a:cs typeface="Arial"/>
              </a:rPr>
              <a:t> </a:t>
            </a:r>
            <a:r>
              <a:rPr sz="1800" spc="-25" dirty="0">
                <a:latin typeface="Arial"/>
                <a:cs typeface="Arial"/>
              </a:rPr>
              <a:t>affected)</a:t>
            </a:r>
            <a:endParaRPr sz="1800">
              <a:latin typeface="Arial"/>
              <a:cs typeface="Arial"/>
            </a:endParaRPr>
          </a:p>
          <a:p>
            <a:pPr marL="12700">
              <a:lnSpc>
                <a:spcPts val="2090"/>
              </a:lnSpc>
            </a:pPr>
            <a:r>
              <a:rPr sz="1800" spc="5" dirty="0">
                <a:latin typeface="Arial"/>
                <a:cs typeface="Arial"/>
              </a:rPr>
              <a:t>Check constraint </a:t>
            </a:r>
            <a:r>
              <a:rPr sz="1800" spc="35" dirty="0">
                <a:latin typeface="Arial"/>
                <a:cs typeface="Arial"/>
              </a:rPr>
              <a:t>violation</a:t>
            </a:r>
            <a:r>
              <a:rPr sz="1800" spc="-385" dirty="0">
                <a:latin typeface="Arial"/>
                <a:cs typeface="Arial"/>
              </a:rPr>
              <a:t> </a:t>
            </a:r>
            <a:r>
              <a:rPr sz="1800" spc="-105" dirty="0">
                <a:latin typeface="Arial"/>
                <a:cs typeface="Arial"/>
              </a:rPr>
              <a:t>has </a:t>
            </a:r>
            <a:r>
              <a:rPr sz="1800" spc="-25" dirty="0">
                <a:latin typeface="Arial"/>
                <a:cs typeface="Arial"/>
              </a:rPr>
              <a:t>occurred.</a:t>
            </a:r>
            <a:endParaRPr sz="1800">
              <a:latin typeface="Arial"/>
              <a:cs typeface="Arial"/>
            </a:endParaRPr>
          </a:p>
        </p:txBody>
      </p:sp>
      <p:sp>
        <p:nvSpPr>
          <p:cNvPr id="8" name="object 8"/>
          <p:cNvSpPr txBox="1">
            <a:spLocks noGrp="1"/>
          </p:cNvSpPr>
          <p:nvPr>
            <p:ph type="sldNum" sz="quarter" idx="7"/>
          </p:nvPr>
        </p:nvSpPr>
        <p:spPr>
          <a:prstGeom prst="rect">
            <a:avLst/>
          </a:prstGeom>
        </p:spPr>
        <p:txBody>
          <a:bodyPr vert="horz" wrap="square" lIns="0" tIns="18415" rIns="0" bIns="0" rtlCol="0">
            <a:spAutoFit/>
          </a:bodyPr>
          <a:lstStyle/>
          <a:p>
            <a:pPr marL="12700">
              <a:lnSpc>
                <a:spcPct val="100000"/>
              </a:lnSpc>
              <a:spcBef>
                <a:spcPts val="145"/>
              </a:spcBef>
            </a:pPr>
            <a:r>
              <a:rPr sz="1800" spc="-75" baseline="4629" dirty="0"/>
              <a:t>Session </a:t>
            </a:r>
            <a:r>
              <a:rPr sz="1800" spc="-179" baseline="4629" dirty="0"/>
              <a:t>15/</a:t>
            </a:r>
            <a:r>
              <a:rPr sz="1800" spc="-240" baseline="4629" dirty="0"/>
              <a:t> </a:t>
            </a:r>
            <a:fld id="{81D60167-4931-47E6-BA6A-407CBD079E47}" type="slidenum">
              <a:rPr sz="1200" spc="-150" dirty="0"/>
              <a:t>15</a:t>
            </a:fld>
            <a:endParaRPr sz="1200"/>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pic>
        <p:nvPicPr>
          <p:cNvPr id="10" name="Picture 9">
            <a:extLst>
              <a:ext uri="{FF2B5EF4-FFF2-40B4-BE49-F238E27FC236}">
                <a16:creationId xmlns:a16="http://schemas.microsoft.com/office/drawing/2014/main" id="{050F6663-F3EB-463F-8723-6FCDBA181D1B}"/>
              </a:ext>
            </a:extLst>
          </p:cNvPr>
          <p:cNvPicPr>
            <a:picLocks noChangeAspect="1"/>
          </p:cNvPicPr>
          <p:nvPr/>
        </p:nvPicPr>
        <p:blipFill>
          <a:blip r:embed="rId5"/>
          <a:stretch>
            <a:fillRect/>
          </a:stretch>
        </p:blipFill>
        <p:spPr>
          <a:xfrm>
            <a:off x="228600" y="4572000"/>
            <a:ext cx="1371719" cy="6462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108325" cy="635635"/>
          </a:xfrm>
          <a:prstGeom prst="rect">
            <a:avLst/>
          </a:prstGeom>
        </p:spPr>
        <p:txBody>
          <a:bodyPr vert="horz" wrap="square" lIns="0" tIns="12700" rIns="0" bIns="0" rtlCol="0">
            <a:spAutoFit/>
          </a:bodyPr>
          <a:lstStyle/>
          <a:p>
            <a:pPr marL="12700">
              <a:lnSpc>
                <a:spcPct val="100000"/>
              </a:lnSpc>
              <a:spcBef>
                <a:spcPts val="100"/>
              </a:spcBef>
            </a:pPr>
            <a:r>
              <a:rPr sz="4000" spc="50" dirty="0"/>
              <a:t>RAISERROR</a:t>
            </a:r>
            <a:endParaRPr sz="4000"/>
          </a:p>
        </p:txBody>
      </p:sp>
      <p:pic>
        <p:nvPicPr>
          <p:cNvPr id="3" name="object 3"/>
          <p:cNvPicPr/>
          <p:nvPr/>
        </p:nvPicPr>
        <p:blipFill>
          <a:blip r:embed="rId3" cstate="print"/>
          <a:stretch>
            <a:fillRect/>
          </a:stretch>
        </p:blipFill>
        <p:spPr>
          <a:xfrm>
            <a:off x="228600" y="905255"/>
            <a:ext cx="8760714" cy="1564386"/>
          </a:xfrm>
          <a:prstGeom prst="rect">
            <a:avLst/>
          </a:prstGeom>
        </p:spPr>
      </p:pic>
      <p:sp>
        <p:nvSpPr>
          <p:cNvPr id="4" name="object 4"/>
          <p:cNvSpPr txBox="1"/>
          <p:nvPr/>
        </p:nvSpPr>
        <p:spPr>
          <a:xfrm>
            <a:off x="541019" y="992377"/>
            <a:ext cx="7910830" cy="1427480"/>
          </a:xfrm>
          <a:prstGeom prst="rect">
            <a:avLst/>
          </a:prstGeom>
        </p:spPr>
        <p:txBody>
          <a:bodyPr vert="horz" wrap="square" lIns="0" tIns="46990" rIns="0" bIns="0" rtlCol="0">
            <a:spAutoFit/>
          </a:bodyPr>
          <a:lstStyle/>
          <a:p>
            <a:pPr marL="354965" marR="5080" indent="-342900" algn="just">
              <a:lnSpc>
                <a:spcPts val="2160"/>
              </a:lnSpc>
              <a:spcBef>
                <a:spcPts val="370"/>
              </a:spcBef>
              <a:buFont typeface="Wingdings"/>
              <a:buChar char=""/>
              <a:tabLst>
                <a:tab pos="355600" algn="l"/>
              </a:tabLst>
            </a:pPr>
            <a:r>
              <a:rPr sz="2000" spc="20" dirty="0">
                <a:solidFill>
                  <a:srgbClr val="FFFFFF"/>
                </a:solidFill>
                <a:latin typeface="Arial"/>
                <a:cs typeface="Arial"/>
              </a:rPr>
              <a:t>The </a:t>
            </a:r>
            <a:r>
              <a:rPr sz="2000" spc="25" dirty="0">
                <a:solidFill>
                  <a:srgbClr val="FFFFFF"/>
                </a:solidFill>
                <a:latin typeface="Arial"/>
                <a:cs typeface="Arial"/>
              </a:rPr>
              <a:t>RAISERROR </a:t>
            </a:r>
            <a:r>
              <a:rPr sz="2000" spc="-35" dirty="0">
                <a:solidFill>
                  <a:srgbClr val="FFFFFF"/>
                </a:solidFill>
                <a:latin typeface="Arial"/>
                <a:cs typeface="Arial"/>
              </a:rPr>
              <a:t>statement </a:t>
            </a:r>
            <a:r>
              <a:rPr sz="2000" spc="-50" dirty="0">
                <a:solidFill>
                  <a:srgbClr val="FFFFFF"/>
                </a:solidFill>
                <a:latin typeface="Arial"/>
                <a:cs typeface="Arial"/>
              </a:rPr>
              <a:t>starts </a:t>
            </a:r>
            <a:r>
              <a:rPr sz="2000" spc="10" dirty="0">
                <a:solidFill>
                  <a:srgbClr val="FFFFFF"/>
                </a:solidFill>
                <a:latin typeface="Arial"/>
                <a:cs typeface="Arial"/>
              </a:rPr>
              <a:t>error </a:t>
            </a:r>
            <a:r>
              <a:rPr sz="2000" spc="-60" dirty="0">
                <a:solidFill>
                  <a:srgbClr val="FFFFFF"/>
                </a:solidFill>
                <a:latin typeface="Arial"/>
                <a:cs typeface="Arial"/>
              </a:rPr>
              <a:t>processing </a:t>
            </a:r>
            <a:r>
              <a:rPr sz="2000" spc="65" dirty="0">
                <a:solidFill>
                  <a:srgbClr val="FFFFFF"/>
                </a:solidFill>
                <a:latin typeface="Arial"/>
                <a:cs typeface="Arial"/>
              </a:rPr>
              <a:t>for </a:t>
            </a:r>
            <a:r>
              <a:rPr sz="2000" spc="-195" dirty="0">
                <a:solidFill>
                  <a:srgbClr val="FFFFFF"/>
                </a:solidFill>
                <a:latin typeface="Arial"/>
                <a:cs typeface="Arial"/>
              </a:rPr>
              <a:t>a </a:t>
            </a:r>
            <a:r>
              <a:rPr sz="2000" spc="-95" dirty="0">
                <a:solidFill>
                  <a:srgbClr val="FFFFFF"/>
                </a:solidFill>
                <a:latin typeface="Arial"/>
                <a:cs typeface="Arial"/>
              </a:rPr>
              <a:t>session</a:t>
            </a:r>
            <a:r>
              <a:rPr sz="2000" spc="-380" dirty="0">
                <a:solidFill>
                  <a:srgbClr val="FFFFFF"/>
                </a:solidFill>
                <a:latin typeface="Arial"/>
                <a:cs typeface="Arial"/>
              </a:rPr>
              <a:t> </a:t>
            </a:r>
            <a:r>
              <a:rPr sz="2000" spc="-35" dirty="0">
                <a:solidFill>
                  <a:srgbClr val="FFFFFF"/>
                </a:solidFill>
                <a:latin typeface="Arial"/>
                <a:cs typeface="Arial"/>
              </a:rPr>
              <a:t>and  </a:t>
            </a:r>
            <a:r>
              <a:rPr sz="2000" spc="-50" dirty="0">
                <a:solidFill>
                  <a:srgbClr val="FFFFFF"/>
                </a:solidFill>
                <a:latin typeface="Arial"/>
                <a:cs typeface="Arial"/>
              </a:rPr>
              <a:t>displays </a:t>
            </a:r>
            <a:r>
              <a:rPr sz="2000" spc="-65" dirty="0">
                <a:solidFill>
                  <a:srgbClr val="FFFFFF"/>
                </a:solidFill>
                <a:latin typeface="Arial"/>
                <a:cs typeface="Arial"/>
              </a:rPr>
              <a:t>an </a:t>
            </a:r>
            <a:r>
              <a:rPr sz="2000" spc="5" dirty="0">
                <a:solidFill>
                  <a:srgbClr val="FFFFFF"/>
                </a:solidFill>
                <a:latin typeface="Arial"/>
                <a:cs typeface="Arial"/>
              </a:rPr>
              <a:t>error</a:t>
            </a:r>
            <a:r>
              <a:rPr sz="2000" spc="-260" dirty="0">
                <a:solidFill>
                  <a:srgbClr val="FFFFFF"/>
                </a:solidFill>
                <a:latin typeface="Arial"/>
                <a:cs typeface="Arial"/>
              </a:rPr>
              <a:t> </a:t>
            </a:r>
            <a:r>
              <a:rPr sz="2000" spc="-150" dirty="0">
                <a:solidFill>
                  <a:srgbClr val="FFFFFF"/>
                </a:solidFill>
                <a:latin typeface="Arial"/>
                <a:cs typeface="Arial"/>
              </a:rPr>
              <a:t>message.</a:t>
            </a:r>
            <a:endParaRPr sz="2000">
              <a:latin typeface="Arial"/>
              <a:cs typeface="Arial"/>
            </a:endParaRPr>
          </a:p>
          <a:p>
            <a:pPr marL="354965" marR="5080" indent="-342900" algn="just">
              <a:lnSpc>
                <a:spcPts val="2160"/>
              </a:lnSpc>
              <a:buFont typeface="Wingdings"/>
              <a:buChar char=""/>
              <a:tabLst>
                <a:tab pos="355600" algn="l"/>
              </a:tabLst>
            </a:pPr>
            <a:r>
              <a:rPr sz="2000" spc="25" dirty="0">
                <a:solidFill>
                  <a:srgbClr val="FFFFFF"/>
                </a:solidFill>
                <a:latin typeface="Arial"/>
                <a:cs typeface="Arial"/>
              </a:rPr>
              <a:t>RAISERROR </a:t>
            </a:r>
            <a:r>
              <a:rPr sz="2000" spc="-75" dirty="0">
                <a:solidFill>
                  <a:srgbClr val="FFFFFF"/>
                </a:solidFill>
                <a:latin typeface="Arial"/>
                <a:cs typeface="Arial"/>
              </a:rPr>
              <a:t>can </a:t>
            </a:r>
            <a:r>
              <a:rPr sz="2000" spc="-50" dirty="0">
                <a:solidFill>
                  <a:srgbClr val="FFFFFF"/>
                </a:solidFill>
                <a:latin typeface="Arial"/>
                <a:cs typeface="Arial"/>
              </a:rPr>
              <a:t>reference </a:t>
            </a:r>
            <a:r>
              <a:rPr sz="2000" spc="-195" dirty="0">
                <a:solidFill>
                  <a:srgbClr val="FFFFFF"/>
                </a:solidFill>
                <a:latin typeface="Arial"/>
                <a:cs typeface="Arial"/>
              </a:rPr>
              <a:t>a </a:t>
            </a:r>
            <a:r>
              <a:rPr sz="2000" spc="-25" dirty="0">
                <a:solidFill>
                  <a:srgbClr val="FFFFFF"/>
                </a:solidFill>
                <a:latin typeface="Arial"/>
                <a:cs typeface="Arial"/>
              </a:rPr>
              <a:t>user-defined </a:t>
            </a:r>
            <a:r>
              <a:rPr sz="2000" spc="-165" dirty="0">
                <a:solidFill>
                  <a:srgbClr val="FFFFFF"/>
                </a:solidFill>
                <a:latin typeface="Arial"/>
                <a:cs typeface="Arial"/>
              </a:rPr>
              <a:t>message </a:t>
            </a:r>
            <a:r>
              <a:rPr sz="2000" spc="-30" dirty="0">
                <a:solidFill>
                  <a:srgbClr val="FFFFFF"/>
                </a:solidFill>
                <a:latin typeface="Arial"/>
                <a:cs typeface="Arial"/>
              </a:rPr>
              <a:t>stored </a:t>
            </a:r>
            <a:r>
              <a:rPr sz="2000" spc="95" dirty="0">
                <a:solidFill>
                  <a:srgbClr val="FFFFFF"/>
                </a:solidFill>
                <a:latin typeface="Arial"/>
                <a:cs typeface="Arial"/>
              </a:rPr>
              <a:t>in </a:t>
            </a:r>
            <a:r>
              <a:rPr sz="2000" dirty="0">
                <a:solidFill>
                  <a:srgbClr val="FFFFFF"/>
                </a:solidFill>
                <a:latin typeface="Arial"/>
                <a:cs typeface="Arial"/>
              </a:rPr>
              <a:t>the  </a:t>
            </a:r>
            <a:r>
              <a:rPr sz="2000" spc="-155" dirty="0">
                <a:solidFill>
                  <a:srgbClr val="FFFFFF"/>
                </a:solidFill>
                <a:latin typeface="Arial"/>
                <a:cs typeface="Arial"/>
              </a:rPr>
              <a:t>sys.messages </a:t>
            </a:r>
            <a:r>
              <a:rPr sz="2000" spc="-60" dirty="0">
                <a:solidFill>
                  <a:srgbClr val="FFFFFF"/>
                </a:solidFill>
                <a:latin typeface="Arial"/>
                <a:cs typeface="Arial"/>
              </a:rPr>
              <a:t>catalog </a:t>
            </a:r>
            <a:r>
              <a:rPr sz="2000" spc="5" dirty="0">
                <a:solidFill>
                  <a:srgbClr val="FFFFFF"/>
                </a:solidFill>
                <a:latin typeface="Arial"/>
                <a:cs typeface="Arial"/>
              </a:rPr>
              <a:t>view </a:t>
            </a:r>
            <a:r>
              <a:rPr sz="2000" spc="25" dirty="0">
                <a:solidFill>
                  <a:srgbClr val="FFFFFF"/>
                </a:solidFill>
                <a:latin typeface="Arial"/>
                <a:cs typeface="Arial"/>
              </a:rPr>
              <a:t>or </a:t>
            </a:r>
            <a:r>
              <a:rPr sz="2000" spc="55" dirty="0">
                <a:solidFill>
                  <a:srgbClr val="FFFFFF"/>
                </a:solidFill>
                <a:latin typeface="Arial"/>
                <a:cs typeface="Arial"/>
              </a:rPr>
              <a:t>build </a:t>
            </a:r>
            <a:r>
              <a:rPr sz="2000" spc="-15" dirty="0">
                <a:solidFill>
                  <a:srgbClr val="FFFFFF"/>
                </a:solidFill>
                <a:latin typeface="Arial"/>
                <a:cs typeface="Arial"/>
              </a:rPr>
              <a:t>dynamic </a:t>
            </a:r>
            <a:r>
              <a:rPr sz="2000" spc="5" dirty="0">
                <a:solidFill>
                  <a:srgbClr val="FFFFFF"/>
                </a:solidFill>
                <a:latin typeface="Arial"/>
                <a:cs typeface="Arial"/>
              </a:rPr>
              <a:t>error </a:t>
            </a:r>
            <a:r>
              <a:rPr sz="2000" spc="-170" dirty="0">
                <a:solidFill>
                  <a:srgbClr val="FFFFFF"/>
                </a:solidFill>
                <a:latin typeface="Arial"/>
                <a:cs typeface="Arial"/>
              </a:rPr>
              <a:t>messages </a:t>
            </a:r>
            <a:r>
              <a:rPr sz="2000" spc="-35" dirty="0">
                <a:solidFill>
                  <a:srgbClr val="FFFFFF"/>
                </a:solidFill>
                <a:latin typeface="Arial"/>
                <a:cs typeface="Arial"/>
              </a:rPr>
              <a:t>at </a:t>
            </a:r>
            <a:r>
              <a:rPr sz="2000" spc="50" dirty="0">
                <a:solidFill>
                  <a:srgbClr val="FFFFFF"/>
                </a:solidFill>
                <a:latin typeface="Arial"/>
                <a:cs typeface="Arial"/>
              </a:rPr>
              <a:t>run-  </a:t>
            </a:r>
            <a:r>
              <a:rPr sz="2000" spc="-5" dirty="0">
                <a:solidFill>
                  <a:srgbClr val="FFFFFF"/>
                </a:solidFill>
                <a:latin typeface="Arial"/>
                <a:cs typeface="Arial"/>
              </a:rPr>
              <a:t>time.</a:t>
            </a:r>
            <a:endParaRPr sz="2000">
              <a:latin typeface="Arial"/>
              <a:cs typeface="Arial"/>
            </a:endParaRPr>
          </a:p>
        </p:txBody>
      </p:sp>
      <p:pic>
        <p:nvPicPr>
          <p:cNvPr id="5" name="object 5"/>
          <p:cNvPicPr/>
          <p:nvPr/>
        </p:nvPicPr>
        <p:blipFill>
          <a:blip r:embed="rId4" cstate="print"/>
          <a:stretch>
            <a:fillRect/>
          </a:stretch>
        </p:blipFill>
        <p:spPr>
          <a:xfrm>
            <a:off x="1125474" y="2628900"/>
            <a:ext cx="7075932" cy="1829562"/>
          </a:xfrm>
          <a:prstGeom prst="rect">
            <a:avLst/>
          </a:prstGeom>
        </p:spPr>
      </p:pic>
      <p:sp>
        <p:nvSpPr>
          <p:cNvPr id="6" name="object 6"/>
          <p:cNvSpPr txBox="1"/>
          <p:nvPr/>
        </p:nvSpPr>
        <p:spPr>
          <a:xfrm>
            <a:off x="669290" y="4457191"/>
            <a:ext cx="7183120" cy="1477645"/>
          </a:xfrm>
          <a:prstGeom prst="rect">
            <a:avLst/>
          </a:prstGeom>
        </p:spPr>
        <p:txBody>
          <a:bodyPr vert="horz" wrap="square" lIns="0" tIns="12065" rIns="0" bIns="0" rtlCol="0">
            <a:spAutoFit/>
          </a:bodyPr>
          <a:lstStyle/>
          <a:p>
            <a:pPr marL="487045" algn="ctr">
              <a:lnSpc>
                <a:spcPct val="100000"/>
              </a:lnSpc>
              <a:spcBef>
                <a:spcPts val="95"/>
              </a:spcBef>
            </a:pPr>
            <a:r>
              <a:rPr sz="1400" b="1" spc="-55" dirty="0">
                <a:latin typeface="Arial"/>
                <a:cs typeface="Arial"/>
              </a:rPr>
              <a:t>Type </a:t>
            </a:r>
            <a:r>
              <a:rPr sz="1400" b="1" spc="-75" dirty="0">
                <a:latin typeface="Arial"/>
                <a:cs typeface="Arial"/>
              </a:rPr>
              <a:t>Specification</a:t>
            </a:r>
            <a:r>
              <a:rPr sz="1400" b="1" spc="-195" dirty="0">
                <a:latin typeface="Arial"/>
                <a:cs typeface="Arial"/>
              </a:rPr>
              <a:t> </a:t>
            </a:r>
            <a:r>
              <a:rPr sz="1400" b="1" spc="-65" dirty="0">
                <a:latin typeface="Arial"/>
                <a:cs typeface="Arial"/>
              </a:rPr>
              <a:t>Values</a:t>
            </a:r>
            <a:endParaRPr sz="1400">
              <a:latin typeface="Arial"/>
              <a:cs typeface="Arial"/>
            </a:endParaRPr>
          </a:p>
          <a:p>
            <a:pPr marL="12700">
              <a:lnSpc>
                <a:spcPct val="100000"/>
              </a:lnSpc>
              <a:spcBef>
                <a:spcPts val="1635"/>
              </a:spcBef>
            </a:pPr>
            <a:r>
              <a:rPr sz="1800" spc="15" dirty="0">
                <a:latin typeface="Arial"/>
                <a:cs typeface="Arial"/>
              </a:rPr>
              <a:t>Following</a:t>
            </a:r>
            <a:r>
              <a:rPr sz="1800" spc="-110" dirty="0">
                <a:latin typeface="Arial"/>
                <a:cs typeface="Arial"/>
              </a:rPr>
              <a:t> </a:t>
            </a:r>
            <a:r>
              <a:rPr sz="1800" spc="-25" dirty="0">
                <a:latin typeface="Arial"/>
                <a:cs typeface="Arial"/>
              </a:rPr>
              <a:t>errors</a:t>
            </a:r>
            <a:r>
              <a:rPr sz="1800" spc="-105" dirty="0">
                <a:latin typeface="Arial"/>
                <a:cs typeface="Arial"/>
              </a:rPr>
              <a:t> </a:t>
            </a:r>
            <a:r>
              <a:rPr sz="1800" spc="-90" dirty="0">
                <a:latin typeface="Arial"/>
                <a:cs typeface="Arial"/>
              </a:rPr>
              <a:t>are</a:t>
            </a:r>
            <a:r>
              <a:rPr sz="1800" spc="-110" dirty="0">
                <a:latin typeface="Arial"/>
                <a:cs typeface="Arial"/>
              </a:rPr>
              <a:t> </a:t>
            </a:r>
            <a:r>
              <a:rPr sz="1800" spc="5" dirty="0">
                <a:latin typeface="Arial"/>
                <a:cs typeface="Arial"/>
              </a:rPr>
              <a:t>returned</a:t>
            </a:r>
            <a:r>
              <a:rPr sz="1800" spc="-130" dirty="0">
                <a:latin typeface="Arial"/>
                <a:cs typeface="Arial"/>
              </a:rPr>
              <a:t> </a:t>
            </a:r>
            <a:r>
              <a:rPr sz="1800" spc="-50" dirty="0">
                <a:latin typeface="Arial"/>
                <a:cs typeface="Arial"/>
              </a:rPr>
              <a:t>back</a:t>
            </a:r>
            <a:r>
              <a:rPr sz="1800" spc="-120" dirty="0">
                <a:latin typeface="Arial"/>
                <a:cs typeface="Arial"/>
              </a:rPr>
              <a:t> </a:t>
            </a:r>
            <a:r>
              <a:rPr sz="1800" spc="50" dirty="0">
                <a:latin typeface="Arial"/>
                <a:cs typeface="Arial"/>
              </a:rPr>
              <a:t>to</a:t>
            </a:r>
            <a:r>
              <a:rPr sz="1800" spc="-110" dirty="0">
                <a:latin typeface="Arial"/>
                <a:cs typeface="Arial"/>
              </a:rPr>
              <a:t> </a:t>
            </a:r>
            <a:r>
              <a:rPr sz="1800" dirty="0">
                <a:latin typeface="Arial"/>
                <a:cs typeface="Arial"/>
              </a:rPr>
              <a:t>the</a:t>
            </a:r>
            <a:r>
              <a:rPr sz="1800" spc="-110" dirty="0">
                <a:latin typeface="Arial"/>
                <a:cs typeface="Arial"/>
              </a:rPr>
              <a:t> </a:t>
            </a:r>
            <a:r>
              <a:rPr sz="1800" spc="-25" dirty="0">
                <a:latin typeface="Arial"/>
                <a:cs typeface="Arial"/>
              </a:rPr>
              <a:t>caller</a:t>
            </a:r>
            <a:r>
              <a:rPr sz="1800" spc="-114" dirty="0">
                <a:latin typeface="Arial"/>
                <a:cs typeface="Arial"/>
              </a:rPr>
              <a:t> </a:t>
            </a:r>
            <a:r>
              <a:rPr sz="1800" spc="110" dirty="0">
                <a:latin typeface="Arial"/>
                <a:cs typeface="Arial"/>
              </a:rPr>
              <a:t>if</a:t>
            </a:r>
            <a:r>
              <a:rPr sz="1800" spc="-105" dirty="0">
                <a:latin typeface="Arial"/>
                <a:cs typeface="Arial"/>
              </a:rPr>
              <a:t> </a:t>
            </a:r>
            <a:r>
              <a:rPr sz="1800" spc="20" dirty="0">
                <a:latin typeface="Arial"/>
                <a:cs typeface="Arial"/>
              </a:rPr>
              <a:t>RAISERROR</a:t>
            </a:r>
            <a:r>
              <a:rPr sz="1800" spc="-125" dirty="0">
                <a:latin typeface="Arial"/>
                <a:cs typeface="Arial"/>
              </a:rPr>
              <a:t> </a:t>
            </a:r>
            <a:r>
              <a:rPr sz="1800" spc="-65" dirty="0">
                <a:latin typeface="Arial"/>
                <a:cs typeface="Arial"/>
              </a:rPr>
              <a:t>executes:</a:t>
            </a:r>
            <a:endParaRPr sz="1800">
              <a:latin typeface="Arial"/>
              <a:cs typeface="Arial"/>
            </a:endParaRPr>
          </a:p>
          <a:p>
            <a:pPr marL="125095" indent="-113030">
              <a:lnSpc>
                <a:spcPct val="100000"/>
              </a:lnSpc>
              <a:spcBef>
                <a:spcPts val="45"/>
              </a:spcBef>
              <a:buChar char="-"/>
              <a:tabLst>
                <a:tab pos="125730" algn="l"/>
              </a:tabLst>
            </a:pPr>
            <a:r>
              <a:rPr sz="1600" spc="85" dirty="0">
                <a:latin typeface="Arial"/>
                <a:cs typeface="Arial"/>
              </a:rPr>
              <a:t>Out</a:t>
            </a:r>
            <a:r>
              <a:rPr sz="1600" spc="-120" dirty="0">
                <a:latin typeface="Arial"/>
                <a:cs typeface="Arial"/>
              </a:rPr>
              <a:t> </a:t>
            </a:r>
            <a:r>
              <a:rPr sz="1600" spc="40" dirty="0">
                <a:latin typeface="Arial"/>
                <a:cs typeface="Arial"/>
              </a:rPr>
              <a:t>of</a:t>
            </a:r>
            <a:r>
              <a:rPr sz="1600" spc="-110" dirty="0">
                <a:latin typeface="Arial"/>
                <a:cs typeface="Arial"/>
              </a:rPr>
              <a:t> </a:t>
            </a:r>
            <a:r>
              <a:rPr sz="1600" spc="-85" dirty="0">
                <a:latin typeface="Arial"/>
                <a:cs typeface="Arial"/>
              </a:rPr>
              <a:t>scope</a:t>
            </a:r>
            <a:r>
              <a:rPr sz="1600" spc="-114" dirty="0">
                <a:latin typeface="Arial"/>
                <a:cs typeface="Arial"/>
              </a:rPr>
              <a:t> </a:t>
            </a:r>
            <a:r>
              <a:rPr sz="1600" spc="40" dirty="0">
                <a:latin typeface="Arial"/>
                <a:cs typeface="Arial"/>
              </a:rPr>
              <a:t>of</a:t>
            </a:r>
            <a:r>
              <a:rPr sz="1600" spc="-110" dirty="0">
                <a:latin typeface="Arial"/>
                <a:cs typeface="Arial"/>
              </a:rPr>
              <a:t> </a:t>
            </a:r>
            <a:r>
              <a:rPr sz="1600" spc="-35" dirty="0">
                <a:latin typeface="Arial"/>
                <a:cs typeface="Arial"/>
              </a:rPr>
              <a:t>any</a:t>
            </a:r>
            <a:r>
              <a:rPr sz="1600" spc="-110" dirty="0">
                <a:latin typeface="Arial"/>
                <a:cs typeface="Arial"/>
              </a:rPr>
              <a:t> </a:t>
            </a:r>
            <a:r>
              <a:rPr sz="1600" spc="70" dirty="0">
                <a:latin typeface="Arial"/>
                <a:cs typeface="Arial"/>
              </a:rPr>
              <a:t>TRY</a:t>
            </a:r>
            <a:r>
              <a:rPr sz="1600" spc="-120" dirty="0">
                <a:latin typeface="Arial"/>
                <a:cs typeface="Arial"/>
              </a:rPr>
              <a:t> </a:t>
            </a:r>
            <a:r>
              <a:rPr sz="1600" spc="10" dirty="0">
                <a:latin typeface="Arial"/>
                <a:cs typeface="Arial"/>
              </a:rPr>
              <a:t>block</a:t>
            </a:r>
            <a:endParaRPr sz="1600">
              <a:latin typeface="Arial"/>
              <a:cs typeface="Arial"/>
            </a:endParaRPr>
          </a:p>
          <a:p>
            <a:pPr marL="125095" indent="-113030">
              <a:lnSpc>
                <a:spcPct val="100000"/>
              </a:lnSpc>
              <a:buChar char="-"/>
              <a:tabLst>
                <a:tab pos="125730" algn="l"/>
              </a:tabLst>
            </a:pPr>
            <a:r>
              <a:rPr sz="1600" spc="5" dirty="0">
                <a:latin typeface="Arial"/>
                <a:cs typeface="Arial"/>
              </a:rPr>
              <a:t>Having</a:t>
            </a:r>
            <a:r>
              <a:rPr sz="1600" spc="-125" dirty="0">
                <a:latin typeface="Arial"/>
                <a:cs typeface="Arial"/>
              </a:rPr>
              <a:t> </a:t>
            </a:r>
            <a:r>
              <a:rPr sz="1600" spc="-20" dirty="0">
                <a:latin typeface="Arial"/>
                <a:cs typeface="Arial"/>
              </a:rPr>
              <a:t>severity</a:t>
            </a:r>
            <a:r>
              <a:rPr sz="1600" spc="-110" dirty="0">
                <a:latin typeface="Arial"/>
                <a:cs typeface="Arial"/>
              </a:rPr>
              <a:t> </a:t>
            </a:r>
            <a:r>
              <a:rPr sz="1600" spc="40">
                <a:latin typeface="Arial"/>
                <a:cs typeface="Arial"/>
              </a:rPr>
              <a:t>of</a:t>
            </a:r>
            <a:r>
              <a:rPr sz="1600" spc="-120">
                <a:latin typeface="Arial"/>
                <a:cs typeface="Arial"/>
              </a:rPr>
              <a:t> </a:t>
            </a:r>
            <a:r>
              <a:rPr sz="1600" spc="-195">
                <a:latin typeface="Arial"/>
                <a:cs typeface="Arial"/>
              </a:rPr>
              <a:t>10</a:t>
            </a:r>
            <a:r>
              <a:rPr lang="en-US" sz="1600" spc="-195">
                <a:latin typeface="Arial"/>
                <a:cs typeface="Arial"/>
              </a:rPr>
              <a:t> </a:t>
            </a:r>
            <a:r>
              <a:rPr sz="1600" spc="-100">
                <a:latin typeface="Arial"/>
                <a:cs typeface="Arial"/>
              </a:rPr>
              <a:t> </a:t>
            </a:r>
            <a:r>
              <a:rPr sz="1600" spc="20" dirty="0">
                <a:latin typeface="Arial"/>
                <a:cs typeface="Arial"/>
              </a:rPr>
              <a:t>or</a:t>
            </a:r>
            <a:r>
              <a:rPr sz="1600" spc="-110" dirty="0">
                <a:latin typeface="Arial"/>
                <a:cs typeface="Arial"/>
              </a:rPr>
              <a:t> </a:t>
            </a:r>
            <a:r>
              <a:rPr sz="1600" spc="5" dirty="0">
                <a:latin typeface="Arial"/>
                <a:cs typeface="Arial"/>
              </a:rPr>
              <a:t>lower</a:t>
            </a:r>
            <a:r>
              <a:rPr sz="1600" spc="-105" dirty="0">
                <a:latin typeface="Arial"/>
                <a:cs typeface="Arial"/>
              </a:rPr>
              <a:t> </a:t>
            </a:r>
            <a:r>
              <a:rPr sz="1600" spc="75" dirty="0">
                <a:latin typeface="Arial"/>
                <a:cs typeface="Arial"/>
              </a:rPr>
              <a:t>in</a:t>
            </a:r>
            <a:r>
              <a:rPr sz="1600" spc="-110" dirty="0">
                <a:latin typeface="Arial"/>
                <a:cs typeface="Arial"/>
              </a:rPr>
              <a:t> </a:t>
            </a:r>
            <a:r>
              <a:rPr sz="1600" spc="70" dirty="0">
                <a:latin typeface="Arial"/>
                <a:cs typeface="Arial"/>
              </a:rPr>
              <a:t>TRY</a:t>
            </a:r>
            <a:r>
              <a:rPr sz="1600" spc="-120" dirty="0">
                <a:latin typeface="Arial"/>
                <a:cs typeface="Arial"/>
              </a:rPr>
              <a:t> </a:t>
            </a:r>
            <a:r>
              <a:rPr sz="1600" spc="10" dirty="0">
                <a:latin typeface="Arial"/>
                <a:cs typeface="Arial"/>
              </a:rPr>
              <a:t>block</a:t>
            </a:r>
            <a:endParaRPr sz="1600">
              <a:latin typeface="Arial"/>
              <a:cs typeface="Arial"/>
            </a:endParaRPr>
          </a:p>
          <a:p>
            <a:pPr marL="125095" indent="-113030">
              <a:lnSpc>
                <a:spcPct val="100000"/>
              </a:lnSpc>
              <a:spcBef>
                <a:spcPts val="155"/>
              </a:spcBef>
              <a:buChar char="-"/>
              <a:tabLst>
                <a:tab pos="125730" algn="l"/>
              </a:tabLst>
            </a:pPr>
            <a:r>
              <a:rPr sz="1600" spc="5" dirty="0">
                <a:latin typeface="Arial"/>
                <a:cs typeface="Arial"/>
              </a:rPr>
              <a:t>Having</a:t>
            </a:r>
            <a:r>
              <a:rPr sz="1600" spc="-120" dirty="0">
                <a:latin typeface="Arial"/>
                <a:cs typeface="Arial"/>
              </a:rPr>
              <a:t> </a:t>
            </a:r>
            <a:r>
              <a:rPr sz="1600" spc="-20" dirty="0">
                <a:latin typeface="Arial"/>
                <a:cs typeface="Arial"/>
              </a:rPr>
              <a:t>severity</a:t>
            </a:r>
            <a:r>
              <a:rPr sz="1600" spc="-110" dirty="0">
                <a:latin typeface="Arial"/>
                <a:cs typeface="Arial"/>
              </a:rPr>
              <a:t> </a:t>
            </a:r>
            <a:r>
              <a:rPr sz="1600" spc="40" dirty="0">
                <a:latin typeface="Arial"/>
                <a:cs typeface="Arial"/>
              </a:rPr>
              <a:t>of</a:t>
            </a:r>
            <a:r>
              <a:rPr sz="1600" spc="-120" dirty="0">
                <a:latin typeface="Arial"/>
                <a:cs typeface="Arial"/>
              </a:rPr>
              <a:t> </a:t>
            </a:r>
            <a:r>
              <a:rPr sz="1600" spc="-95" dirty="0">
                <a:latin typeface="Arial"/>
                <a:cs typeface="Arial"/>
              </a:rPr>
              <a:t>20</a:t>
            </a:r>
            <a:r>
              <a:rPr sz="1600" spc="-105" dirty="0">
                <a:latin typeface="Arial"/>
                <a:cs typeface="Arial"/>
              </a:rPr>
              <a:t> </a:t>
            </a:r>
            <a:r>
              <a:rPr sz="1600" spc="20" dirty="0">
                <a:latin typeface="Arial"/>
                <a:cs typeface="Arial"/>
              </a:rPr>
              <a:t>or</a:t>
            </a:r>
            <a:r>
              <a:rPr sz="1600" spc="-110" dirty="0">
                <a:latin typeface="Arial"/>
                <a:cs typeface="Arial"/>
              </a:rPr>
              <a:t> </a:t>
            </a:r>
            <a:r>
              <a:rPr sz="1600" dirty="0">
                <a:latin typeface="Arial"/>
                <a:cs typeface="Arial"/>
              </a:rPr>
              <a:t>higher</a:t>
            </a:r>
            <a:r>
              <a:rPr sz="1600" spc="-125" dirty="0">
                <a:latin typeface="Arial"/>
                <a:cs typeface="Arial"/>
              </a:rPr>
              <a:t> </a:t>
            </a:r>
            <a:r>
              <a:rPr sz="1600" spc="25" dirty="0">
                <a:latin typeface="Arial"/>
                <a:cs typeface="Arial"/>
              </a:rPr>
              <a:t>that</a:t>
            </a:r>
            <a:r>
              <a:rPr sz="1600" spc="-110" dirty="0">
                <a:latin typeface="Arial"/>
                <a:cs typeface="Arial"/>
              </a:rPr>
              <a:t> </a:t>
            </a:r>
            <a:r>
              <a:rPr sz="1600" spc="-20" dirty="0">
                <a:latin typeface="Arial"/>
                <a:cs typeface="Arial"/>
              </a:rPr>
              <a:t>terminates</a:t>
            </a:r>
            <a:r>
              <a:rPr sz="1600" spc="-100" dirty="0">
                <a:latin typeface="Arial"/>
                <a:cs typeface="Arial"/>
              </a:rPr>
              <a:t> </a:t>
            </a:r>
            <a:r>
              <a:rPr sz="1600" dirty="0">
                <a:latin typeface="Arial"/>
                <a:cs typeface="Arial"/>
              </a:rPr>
              <a:t>the</a:t>
            </a:r>
            <a:r>
              <a:rPr sz="1600" spc="-105" dirty="0">
                <a:latin typeface="Arial"/>
                <a:cs typeface="Arial"/>
              </a:rPr>
              <a:t> </a:t>
            </a:r>
            <a:r>
              <a:rPr sz="1600" spc="-85" dirty="0">
                <a:latin typeface="Arial"/>
                <a:cs typeface="Arial"/>
              </a:rPr>
              <a:t>database</a:t>
            </a:r>
            <a:r>
              <a:rPr sz="1600" spc="-114" dirty="0">
                <a:latin typeface="Arial"/>
                <a:cs typeface="Arial"/>
              </a:rPr>
              <a:t> </a:t>
            </a:r>
            <a:r>
              <a:rPr sz="1600" spc="5" dirty="0">
                <a:latin typeface="Arial"/>
                <a:cs typeface="Arial"/>
              </a:rPr>
              <a:t>connection</a:t>
            </a:r>
            <a:endParaRPr sz="1600">
              <a:latin typeface="Arial"/>
              <a:cs typeface="Arial"/>
            </a:endParaRPr>
          </a:p>
        </p:txBody>
      </p:sp>
      <p:sp>
        <p:nvSpPr>
          <p:cNvPr id="8" name="object 8"/>
          <p:cNvSpPr txBox="1"/>
          <p:nvPr/>
        </p:nvSpPr>
        <p:spPr>
          <a:xfrm>
            <a:off x="7882890" y="6569709"/>
            <a:ext cx="90995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165" dirty="0">
                <a:latin typeface="Arial"/>
                <a:cs typeface="Arial"/>
              </a:rPr>
              <a:t>16</a:t>
            </a:fld>
            <a:endParaRPr sz="12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9740" y="28194"/>
            <a:ext cx="3708400" cy="635635"/>
          </a:xfrm>
          <a:prstGeom prst="rect">
            <a:avLst/>
          </a:prstGeom>
        </p:spPr>
        <p:txBody>
          <a:bodyPr vert="horz" wrap="square" lIns="0" tIns="12700" rIns="0" bIns="0" rtlCol="0">
            <a:spAutoFit/>
          </a:bodyPr>
          <a:lstStyle/>
          <a:p>
            <a:pPr marL="12700">
              <a:lnSpc>
                <a:spcPct val="100000"/>
              </a:lnSpc>
              <a:spcBef>
                <a:spcPts val="100"/>
              </a:spcBef>
            </a:pPr>
            <a:r>
              <a:rPr sz="4000" spc="-55" dirty="0"/>
              <a:t>ERROR_STATE</a:t>
            </a:r>
            <a:endParaRPr sz="4000"/>
          </a:p>
        </p:txBody>
      </p:sp>
      <p:sp>
        <p:nvSpPr>
          <p:cNvPr id="3" name="object 3"/>
          <p:cNvSpPr/>
          <p:nvPr/>
        </p:nvSpPr>
        <p:spPr>
          <a:xfrm>
            <a:off x="327660" y="838200"/>
            <a:ext cx="8488680" cy="1198245"/>
          </a:xfrm>
          <a:custGeom>
            <a:avLst/>
            <a:gdLst/>
            <a:ahLst/>
            <a:cxnLst/>
            <a:rect l="l" t="t" r="r" b="b"/>
            <a:pathLst>
              <a:path w="8488680" h="1198245">
                <a:moveTo>
                  <a:pt x="8488680" y="199644"/>
                </a:moveTo>
                <a:lnTo>
                  <a:pt x="8483397" y="153885"/>
                </a:lnTo>
                <a:lnTo>
                  <a:pt x="8468373" y="111861"/>
                </a:lnTo>
                <a:lnTo>
                  <a:pt x="8444801" y="74790"/>
                </a:lnTo>
                <a:lnTo>
                  <a:pt x="8413890" y="43878"/>
                </a:lnTo>
                <a:lnTo>
                  <a:pt x="8376818" y="20307"/>
                </a:lnTo>
                <a:lnTo>
                  <a:pt x="8334794" y="5283"/>
                </a:lnTo>
                <a:lnTo>
                  <a:pt x="8289036" y="0"/>
                </a:lnTo>
                <a:lnTo>
                  <a:pt x="199644" y="0"/>
                </a:lnTo>
                <a:lnTo>
                  <a:pt x="153860" y="5283"/>
                </a:lnTo>
                <a:lnTo>
                  <a:pt x="111836" y="20307"/>
                </a:lnTo>
                <a:lnTo>
                  <a:pt x="74764" y="43878"/>
                </a:lnTo>
                <a:lnTo>
                  <a:pt x="43853" y="74790"/>
                </a:lnTo>
                <a:lnTo>
                  <a:pt x="20281" y="111861"/>
                </a:lnTo>
                <a:lnTo>
                  <a:pt x="5270" y="153885"/>
                </a:lnTo>
                <a:lnTo>
                  <a:pt x="0" y="199644"/>
                </a:lnTo>
                <a:lnTo>
                  <a:pt x="0" y="998220"/>
                </a:lnTo>
                <a:lnTo>
                  <a:pt x="5270" y="1043990"/>
                </a:lnTo>
                <a:lnTo>
                  <a:pt x="20281" y="1086015"/>
                </a:lnTo>
                <a:lnTo>
                  <a:pt x="43853" y="1123086"/>
                </a:lnTo>
                <a:lnTo>
                  <a:pt x="74764" y="1153998"/>
                </a:lnTo>
                <a:lnTo>
                  <a:pt x="111836" y="1177569"/>
                </a:lnTo>
                <a:lnTo>
                  <a:pt x="153860" y="1192593"/>
                </a:lnTo>
                <a:lnTo>
                  <a:pt x="199644" y="1197864"/>
                </a:lnTo>
                <a:lnTo>
                  <a:pt x="8289036" y="1197864"/>
                </a:lnTo>
                <a:lnTo>
                  <a:pt x="8334794" y="1192593"/>
                </a:lnTo>
                <a:lnTo>
                  <a:pt x="8376818" y="1177569"/>
                </a:lnTo>
                <a:lnTo>
                  <a:pt x="8413890" y="1153998"/>
                </a:lnTo>
                <a:lnTo>
                  <a:pt x="8444801" y="1123086"/>
                </a:lnTo>
                <a:lnTo>
                  <a:pt x="8468373" y="1086015"/>
                </a:lnTo>
                <a:lnTo>
                  <a:pt x="8483397" y="1043990"/>
                </a:lnTo>
                <a:lnTo>
                  <a:pt x="8488680" y="998220"/>
                </a:lnTo>
                <a:lnTo>
                  <a:pt x="8488680" y="199644"/>
                </a:lnTo>
                <a:close/>
              </a:path>
            </a:pathLst>
          </a:custGeom>
          <a:solidFill>
            <a:srgbClr val="4AACC5"/>
          </a:solidFill>
        </p:spPr>
        <p:txBody>
          <a:bodyPr wrap="square" lIns="0" tIns="0" rIns="0" bIns="0" rtlCol="0"/>
          <a:lstStyle/>
          <a:p>
            <a:endParaRPr/>
          </a:p>
        </p:txBody>
      </p:sp>
      <p:sp>
        <p:nvSpPr>
          <p:cNvPr id="4" name="object 4"/>
          <p:cNvSpPr txBox="1"/>
          <p:nvPr/>
        </p:nvSpPr>
        <p:spPr>
          <a:xfrm>
            <a:off x="657351" y="949960"/>
            <a:ext cx="7829550" cy="878840"/>
          </a:xfrm>
          <a:prstGeom prst="rect">
            <a:avLst/>
          </a:prstGeom>
        </p:spPr>
        <p:txBody>
          <a:bodyPr vert="horz" wrap="square" lIns="0" tIns="46990" rIns="0" bIns="0" rtlCol="0">
            <a:spAutoFit/>
          </a:bodyPr>
          <a:lstStyle/>
          <a:p>
            <a:pPr marL="355600" marR="5080" indent="-343535" algn="just">
              <a:lnSpc>
                <a:spcPts val="2160"/>
              </a:lnSpc>
              <a:spcBef>
                <a:spcPts val="370"/>
              </a:spcBef>
              <a:buFont typeface="Wingdings"/>
              <a:buChar char=""/>
              <a:tabLst>
                <a:tab pos="356235" algn="l"/>
              </a:tabLst>
            </a:pPr>
            <a:r>
              <a:rPr sz="2000" spc="20" dirty="0">
                <a:solidFill>
                  <a:srgbClr val="FFFFFF"/>
                </a:solidFill>
                <a:latin typeface="Arial"/>
                <a:cs typeface="Arial"/>
              </a:rPr>
              <a:t>The </a:t>
            </a:r>
            <a:r>
              <a:rPr sz="2000" spc="-30" dirty="0">
                <a:solidFill>
                  <a:srgbClr val="FFFFFF"/>
                </a:solidFill>
                <a:latin typeface="Arial"/>
                <a:cs typeface="Arial"/>
              </a:rPr>
              <a:t>ERROR_STATE </a:t>
            </a:r>
            <a:r>
              <a:rPr sz="2000" spc="-85" dirty="0">
                <a:solidFill>
                  <a:srgbClr val="FFFFFF"/>
                </a:solidFill>
                <a:latin typeface="Arial"/>
                <a:cs typeface="Arial"/>
              </a:rPr>
              <a:t>system </a:t>
            </a:r>
            <a:r>
              <a:rPr sz="2000" spc="55" dirty="0">
                <a:solidFill>
                  <a:srgbClr val="FFFFFF"/>
                </a:solidFill>
                <a:latin typeface="Arial"/>
                <a:cs typeface="Arial"/>
              </a:rPr>
              <a:t>function </a:t>
            </a:r>
            <a:r>
              <a:rPr sz="2000" dirty="0">
                <a:solidFill>
                  <a:srgbClr val="FFFFFF"/>
                </a:solidFill>
                <a:latin typeface="Arial"/>
                <a:cs typeface="Arial"/>
              </a:rPr>
              <a:t>returns the </a:t>
            </a:r>
            <a:r>
              <a:rPr sz="2000" spc="-65" dirty="0">
                <a:solidFill>
                  <a:srgbClr val="FFFFFF"/>
                </a:solidFill>
                <a:latin typeface="Arial"/>
                <a:cs typeface="Arial"/>
              </a:rPr>
              <a:t>state </a:t>
            </a:r>
            <a:r>
              <a:rPr sz="2000" spc="-5" dirty="0">
                <a:solidFill>
                  <a:srgbClr val="FFFFFF"/>
                </a:solidFill>
                <a:latin typeface="Arial"/>
                <a:cs typeface="Arial"/>
              </a:rPr>
              <a:t>number </a:t>
            </a:r>
            <a:r>
              <a:rPr sz="2000" spc="60" dirty="0">
                <a:solidFill>
                  <a:srgbClr val="FFFFFF"/>
                </a:solidFill>
                <a:latin typeface="Arial"/>
                <a:cs typeface="Arial"/>
              </a:rPr>
              <a:t>of  </a:t>
            </a:r>
            <a:r>
              <a:rPr sz="2000" dirty="0">
                <a:solidFill>
                  <a:srgbClr val="FFFFFF"/>
                </a:solidFill>
                <a:latin typeface="Arial"/>
                <a:cs typeface="Arial"/>
              </a:rPr>
              <a:t>the </a:t>
            </a:r>
            <a:r>
              <a:rPr sz="2000" spc="5" dirty="0">
                <a:solidFill>
                  <a:srgbClr val="FFFFFF"/>
                </a:solidFill>
                <a:latin typeface="Arial"/>
                <a:cs typeface="Arial"/>
              </a:rPr>
              <a:t>error </a:t>
            </a:r>
            <a:r>
              <a:rPr sz="2000" spc="30" dirty="0">
                <a:solidFill>
                  <a:srgbClr val="FFFFFF"/>
                </a:solidFill>
                <a:latin typeface="Arial"/>
                <a:cs typeface="Arial"/>
              </a:rPr>
              <a:t>that </a:t>
            </a:r>
            <a:r>
              <a:rPr sz="2000" spc="-145" dirty="0">
                <a:solidFill>
                  <a:srgbClr val="FFFFFF"/>
                </a:solidFill>
                <a:latin typeface="Arial"/>
                <a:cs typeface="Arial"/>
              </a:rPr>
              <a:t>causes </a:t>
            </a:r>
            <a:r>
              <a:rPr sz="2000" dirty="0">
                <a:solidFill>
                  <a:srgbClr val="FFFFFF"/>
                </a:solidFill>
                <a:latin typeface="Arial"/>
                <a:cs typeface="Arial"/>
              </a:rPr>
              <a:t>the </a:t>
            </a:r>
            <a:r>
              <a:rPr sz="2000" spc="185" dirty="0">
                <a:solidFill>
                  <a:srgbClr val="FFFFFF"/>
                </a:solidFill>
                <a:latin typeface="Arial"/>
                <a:cs typeface="Arial"/>
              </a:rPr>
              <a:t>CATCH </a:t>
            </a:r>
            <a:r>
              <a:rPr sz="2000" spc="15" dirty="0">
                <a:solidFill>
                  <a:srgbClr val="FFFFFF"/>
                </a:solidFill>
                <a:latin typeface="Arial"/>
                <a:cs typeface="Arial"/>
              </a:rPr>
              <a:t>block </a:t>
            </a:r>
            <a:r>
              <a:rPr sz="2000" spc="50" dirty="0">
                <a:solidFill>
                  <a:srgbClr val="FFFFFF"/>
                </a:solidFill>
                <a:latin typeface="Arial"/>
                <a:cs typeface="Arial"/>
              </a:rPr>
              <a:t>of </a:t>
            </a:r>
            <a:r>
              <a:rPr sz="2000" spc="-195" dirty="0">
                <a:solidFill>
                  <a:srgbClr val="FFFFFF"/>
                </a:solidFill>
                <a:latin typeface="Arial"/>
                <a:cs typeface="Arial"/>
              </a:rPr>
              <a:t>a </a:t>
            </a:r>
            <a:r>
              <a:rPr sz="2000" spc="75" dirty="0">
                <a:solidFill>
                  <a:srgbClr val="FFFFFF"/>
                </a:solidFill>
                <a:latin typeface="Arial"/>
                <a:cs typeface="Arial"/>
              </a:rPr>
              <a:t>TRY</a:t>
            </a:r>
            <a:r>
              <a:rPr sz="2000" spc="75" dirty="0">
                <a:solidFill>
                  <a:srgbClr val="FFFFFF"/>
                </a:solidFill>
                <a:latin typeface="Times New Roman"/>
                <a:cs typeface="Times New Roman"/>
              </a:rPr>
              <a:t>…</a:t>
            </a:r>
            <a:r>
              <a:rPr sz="2000" spc="75" dirty="0">
                <a:solidFill>
                  <a:srgbClr val="FFFFFF"/>
                </a:solidFill>
                <a:latin typeface="Arial"/>
                <a:cs typeface="Arial"/>
              </a:rPr>
              <a:t>CATCH  </a:t>
            </a:r>
            <a:r>
              <a:rPr sz="2000" dirty="0">
                <a:solidFill>
                  <a:srgbClr val="FFFFFF"/>
                </a:solidFill>
                <a:latin typeface="Arial"/>
                <a:cs typeface="Arial"/>
              </a:rPr>
              <a:t>construct </a:t>
            </a:r>
            <a:r>
              <a:rPr sz="2000" spc="50" dirty="0">
                <a:solidFill>
                  <a:srgbClr val="FFFFFF"/>
                </a:solidFill>
                <a:latin typeface="Arial"/>
                <a:cs typeface="Arial"/>
              </a:rPr>
              <a:t>to</a:t>
            </a:r>
            <a:r>
              <a:rPr sz="2000" spc="-245" dirty="0">
                <a:solidFill>
                  <a:srgbClr val="FFFFFF"/>
                </a:solidFill>
                <a:latin typeface="Arial"/>
                <a:cs typeface="Arial"/>
              </a:rPr>
              <a:t> </a:t>
            </a:r>
            <a:r>
              <a:rPr sz="2000" spc="-55" dirty="0">
                <a:solidFill>
                  <a:srgbClr val="FFFFFF"/>
                </a:solidFill>
                <a:latin typeface="Arial"/>
                <a:cs typeface="Arial"/>
              </a:rPr>
              <a:t>execute.</a:t>
            </a:r>
            <a:endParaRPr sz="2000">
              <a:latin typeface="Arial"/>
              <a:cs typeface="Arial"/>
            </a:endParaRPr>
          </a:p>
        </p:txBody>
      </p:sp>
      <p:sp>
        <p:nvSpPr>
          <p:cNvPr id="5" name="object 5"/>
          <p:cNvSpPr txBox="1"/>
          <p:nvPr/>
        </p:nvSpPr>
        <p:spPr>
          <a:xfrm>
            <a:off x="390906" y="2133600"/>
            <a:ext cx="7828280" cy="1105431"/>
          </a:xfrm>
          <a:prstGeom prst="rect">
            <a:avLst/>
          </a:prstGeom>
        </p:spPr>
        <p:txBody>
          <a:bodyPr vert="horz" wrap="square" lIns="0" tIns="12700" rIns="0" bIns="0" rtlCol="0">
            <a:spAutoFit/>
          </a:bodyPr>
          <a:lstStyle/>
          <a:p>
            <a:pPr marL="212725">
              <a:lnSpc>
                <a:spcPct val="100000"/>
              </a:lnSpc>
              <a:spcBef>
                <a:spcPts val="100"/>
              </a:spcBef>
            </a:pPr>
            <a:r>
              <a:rPr sz="1800" b="1" spc="-95" dirty="0">
                <a:latin typeface="Arial"/>
                <a:cs typeface="Arial"/>
              </a:rPr>
              <a:t>Syntax:</a:t>
            </a:r>
            <a:endParaRPr sz="1800">
              <a:latin typeface="Arial"/>
              <a:cs typeface="Arial"/>
            </a:endParaRPr>
          </a:p>
          <a:p>
            <a:pPr marL="212725">
              <a:lnSpc>
                <a:spcPct val="100000"/>
              </a:lnSpc>
            </a:pPr>
            <a:r>
              <a:rPr sz="1800" spc="-30" dirty="0">
                <a:latin typeface="Arial"/>
                <a:cs typeface="Arial"/>
              </a:rPr>
              <a:t>ERROR_STATE </a:t>
            </a:r>
            <a:r>
              <a:rPr sz="1800" spc="-15" dirty="0">
                <a:latin typeface="Arial"/>
                <a:cs typeface="Arial"/>
              </a:rPr>
              <a:t>(</a:t>
            </a:r>
            <a:r>
              <a:rPr sz="1800" spc="-210" dirty="0">
                <a:latin typeface="Arial"/>
                <a:cs typeface="Arial"/>
              </a:rPr>
              <a:t> </a:t>
            </a:r>
            <a:r>
              <a:rPr sz="1800" spc="-15" dirty="0">
                <a:latin typeface="Arial"/>
                <a:cs typeface="Arial"/>
              </a:rPr>
              <a:t>)</a:t>
            </a:r>
            <a:endParaRPr sz="1800">
              <a:latin typeface="Arial"/>
              <a:cs typeface="Arial"/>
            </a:endParaRPr>
          </a:p>
          <a:p>
            <a:pPr marL="298450" indent="-285750">
              <a:lnSpc>
                <a:spcPts val="2055"/>
              </a:lnSpc>
              <a:buChar char="•"/>
              <a:tabLst>
                <a:tab pos="297815" algn="l"/>
                <a:tab pos="298450" algn="l"/>
              </a:tabLst>
            </a:pPr>
            <a:r>
              <a:rPr sz="1800" spc="65">
                <a:latin typeface="Arial"/>
                <a:cs typeface="Arial"/>
              </a:rPr>
              <a:t>When </a:t>
            </a:r>
            <a:r>
              <a:rPr sz="1800" spc="-40" dirty="0">
                <a:latin typeface="Arial"/>
                <a:cs typeface="Arial"/>
              </a:rPr>
              <a:t>called </a:t>
            </a:r>
            <a:r>
              <a:rPr sz="1800" spc="85" dirty="0">
                <a:latin typeface="Arial"/>
                <a:cs typeface="Arial"/>
              </a:rPr>
              <a:t>in </a:t>
            </a:r>
            <a:r>
              <a:rPr sz="1800" spc="-175" dirty="0">
                <a:latin typeface="Arial"/>
                <a:cs typeface="Arial"/>
              </a:rPr>
              <a:t>a </a:t>
            </a:r>
            <a:r>
              <a:rPr sz="1800" spc="170" dirty="0">
                <a:latin typeface="Arial"/>
                <a:cs typeface="Arial"/>
              </a:rPr>
              <a:t>CATCH </a:t>
            </a:r>
            <a:r>
              <a:rPr sz="1800" dirty="0">
                <a:latin typeface="Arial"/>
                <a:cs typeface="Arial"/>
              </a:rPr>
              <a:t>block, </a:t>
            </a:r>
            <a:r>
              <a:rPr sz="1800" spc="105" dirty="0">
                <a:latin typeface="Arial"/>
                <a:cs typeface="Arial"/>
              </a:rPr>
              <a:t>it </a:t>
            </a:r>
            <a:r>
              <a:rPr sz="1800" dirty="0">
                <a:latin typeface="Arial"/>
                <a:cs typeface="Arial"/>
              </a:rPr>
              <a:t>returns the </a:t>
            </a:r>
            <a:r>
              <a:rPr sz="1800" spc="-60" dirty="0">
                <a:latin typeface="Arial"/>
                <a:cs typeface="Arial"/>
              </a:rPr>
              <a:t>state </a:t>
            </a:r>
            <a:r>
              <a:rPr sz="1800" spc="-5" dirty="0">
                <a:latin typeface="Arial"/>
                <a:cs typeface="Arial"/>
              </a:rPr>
              <a:t>number </a:t>
            </a:r>
            <a:r>
              <a:rPr sz="1800" spc="50" dirty="0">
                <a:latin typeface="Arial"/>
                <a:cs typeface="Arial"/>
              </a:rPr>
              <a:t>of </a:t>
            </a:r>
            <a:r>
              <a:rPr sz="1800" dirty="0">
                <a:latin typeface="Arial"/>
                <a:cs typeface="Arial"/>
              </a:rPr>
              <a:t>the</a:t>
            </a:r>
            <a:r>
              <a:rPr sz="1800" spc="204" dirty="0">
                <a:latin typeface="Arial"/>
                <a:cs typeface="Arial"/>
              </a:rPr>
              <a:t> </a:t>
            </a:r>
            <a:r>
              <a:rPr sz="1800" spc="10" dirty="0">
                <a:latin typeface="Arial"/>
                <a:cs typeface="Arial"/>
              </a:rPr>
              <a:t>error</a:t>
            </a:r>
            <a:endParaRPr sz="1800">
              <a:latin typeface="Arial"/>
              <a:cs typeface="Arial"/>
            </a:endParaRPr>
          </a:p>
          <a:p>
            <a:pPr marL="298450">
              <a:lnSpc>
                <a:spcPts val="2055"/>
              </a:lnSpc>
            </a:pPr>
            <a:r>
              <a:rPr sz="1800" spc="-145" dirty="0">
                <a:latin typeface="Arial"/>
                <a:cs typeface="Arial"/>
              </a:rPr>
              <a:t>message</a:t>
            </a:r>
            <a:r>
              <a:rPr sz="1800" spc="-120" dirty="0">
                <a:latin typeface="Arial"/>
                <a:cs typeface="Arial"/>
              </a:rPr>
              <a:t> </a:t>
            </a:r>
            <a:r>
              <a:rPr sz="1800" spc="25" dirty="0">
                <a:latin typeface="Arial"/>
                <a:cs typeface="Arial"/>
              </a:rPr>
              <a:t>that</a:t>
            </a:r>
            <a:r>
              <a:rPr sz="1800" spc="-120" dirty="0">
                <a:latin typeface="Arial"/>
                <a:cs typeface="Arial"/>
              </a:rPr>
              <a:t> </a:t>
            </a:r>
            <a:r>
              <a:rPr sz="1800" spc="-95" dirty="0">
                <a:latin typeface="Arial"/>
                <a:cs typeface="Arial"/>
              </a:rPr>
              <a:t>caused</a:t>
            </a:r>
            <a:r>
              <a:rPr sz="1800" spc="-120" dirty="0">
                <a:latin typeface="Arial"/>
                <a:cs typeface="Arial"/>
              </a:rPr>
              <a:t> </a:t>
            </a:r>
            <a:r>
              <a:rPr sz="1800" dirty="0">
                <a:latin typeface="Arial"/>
                <a:cs typeface="Arial"/>
              </a:rPr>
              <a:t>the</a:t>
            </a:r>
            <a:r>
              <a:rPr sz="1800" spc="-110" dirty="0">
                <a:latin typeface="Arial"/>
                <a:cs typeface="Arial"/>
              </a:rPr>
              <a:t> </a:t>
            </a:r>
            <a:r>
              <a:rPr sz="1800" spc="170" dirty="0">
                <a:latin typeface="Arial"/>
                <a:cs typeface="Arial"/>
              </a:rPr>
              <a:t>CATCH</a:t>
            </a:r>
            <a:r>
              <a:rPr sz="1800" spc="-125" dirty="0">
                <a:latin typeface="Arial"/>
                <a:cs typeface="Arial"/>
              </a:rPr>
              <a:t> </a:t>
            </a:r>
            <a:r>
              <a:rPr sz="1800" spc="10" dirty="0">
                <a:latin typeface="Arial"/>
                <a:cs typeface="Arial"/>
              </a:rPr>
              <a:t>block</a:t>
            </a:r>
            <a:r>
              <a:rPr sz="1800" spc="-120" dirty="0">
                <a:latin typeface="Arial"/>
                <a:cs typeface="Arial"/>
              </a:rPr>
              <a:t> </a:t>
            </a:r>
            <a:r>
              <a:rPr sz="1800" spc="45" dirty="0">
                <a:latin typeface="Arial"/>
                <a:cs typeface="Arial"/>
              </a:rPr>
              <a:t>to</a:t>
            </a:r>
            <a:r>
              <a:rPr sz="1800" spc="-114" dirty="0">
                <a:latin typeface="Arial"/>
                <a:cs typeface="Arial"/>
              </a:rPr>
              <a:t> </a:t>
            </a:r>
            <a:r>
              <a:rPr sz="1800" spc="-95" dirty="0">
                <a:latin typeface="Arial"/>
                <a:cs typeface="Arial"/>
              </a:rPr>
              <a:t>be</a:t>
            </a:r>
            <a:r>
              <a:rPr sz="1800" spc="-114" dirty="0">
                <a:latin typeface="Arial"/>
                <a:cs typeface="Arial"/>
              </a:rPr>
              <a:t> </a:t>
            </a:r>
            <a:r>
              <a:rPr sz="1800" spc="30" dirty="0">
                <a:latin typeface="Arial"/>
                <a:cs typeface="Arial"/>
              </a:rPr>
              <a:t>run.</a:t>
            </a:r>
            <a:endParaRPr sz="1800">
              <a:latin typeface="Arial"/>
              <a:cs typeface="Arial"/>
            </a:endParaRPr>
          </a:p>
        </p:txBody>
      </p:sp>
      <p:sp>
        <p:nvSpPr>
          <p:cNvPr id="6" name="object 6"/>
          <p:cNvSpPr/>
          <p:nvPr/>
        </p:nvSpPr>
        <p:spPr>
          <a:xfrm>
            <a:off x="327660" y="3362960"/>
            <a:ext cx="8488680" cy="1437640"/>
          </a:xfrm>
          <a:custGeom>
            <a:avLst/>
            <a:gdLst/>
            <a:ahLst/>
            <a:cxnLst/>
            <a:rect l="l" t="t" r="r" b="b"/>
            <a:pathLst>
              <a:path w="8488680" h="1437639">
                <a:moveTo>
                  <a:pt x="8488680" y="239522"/>
                </a:moveTo>
                <a:lnTo>
                  <a:pt x="8483803" y="191236"/>
                </a:lnTo>
                <a:lnTo>
                  <a:pt x="8469859" y="146278"/>
                </a:lnTo>
                <a:lnTo>
                  <a:pt x="8447786" y="105587"/>
                </a:lnTo>
                <a:lnTo>
                  <a:pt x="8418538" y="70142"/>
                </a:lnTo>
                <a:lnTo>
                  <a:pt x="8383092" y="40894"/>
                </a:lnTo>
                <a:lnTo>
                  <a:pt x="8342401" y="18821"/>
                </a:lnTo>
                <a:lnTo>
                  <a:pt x="8297443" y="4876"/>
                </a:lnTo>
                <a:lnTo>
                  <a:pt x="8249158" y="0"/>
                </a:lnTo>
                <a:lnTo>
                  <a:pt x="239534" y="0"/>
                </a:lnTo>
                <a:lnTo>
                  <a:pt x="191249" y="4876"/>
                </a:lnTo>
                <a:lnTo>
                  <a:pt x="146291" y="18821"/>
                </a:lnTo>
                <a:lnTo>
                  <a:pt x="105600" y="40894"/>
                </a:lnTo>
                <a:lnTo>
                  <a:pt x="70154" y="70142"/>
                </a:lnTo>
                <a:lnTo>
                  <a:pt x="40906" y="105587"/>
                </a:lnTo>
                <a:lnTo>
                  <a:pt x="18821" y="146278"/>
                </a:lnTo>
                <a:lnTo>
                  <a:pt x="4864" y="191236"/>
                </a:lnTo>
                <a:lnTo>
                  <a:pt x="0" y="239522"/>
                </a:lnTo>
                <a:lnTo>
                  <a:pt x="0" y="1197597"/>
                </a:lnTo>
                <a:lnTo>
                  <a:pt x="4864" y="1245882"/>
                </a:lnTo>
                <a:lnTo>
                  <a:pt x="18821" y="1290840"/>
                </a:lnTo>
                <a:lnTo>
                  <a:pt x="40906" y="1331531"/>
                </a:lnTo>
                <a:lnTo>
                  <a:pt x="70154" y="1366977"/>
                </a:lnTo>
                <a:lnTo>
                  <a:pt x="105600" y="1396225"/>
                </a:lnTo>
                <a:lnTo>
                  <a:pt x="146291" y="1418310"/>
                </a:lnTo>
                <a:lnTo>
                  <a:pt x="191249" y="1432267"/>
                </a:lnTo>
                <a:lnTo>
                  <a:pt x="239534" y="1437132"/>
                </a:lnTo>
                <a:lnTo>
                  <a:pt x="8249158" y="1437132"/>
                </a:lnTo>
                <a:lnTo>
                  <a:pt x="8297443" y="1432267"/>
                </a:lnTo>
                <a:lnTo>
                  <a:pt x="8342401" y="1418310"/>
                </a:lnTo>
                <a:lnTo>
                  <a:pt x="8383092" y="1396225"/>
                </a:lnTo>
                <a:lnTo>
                  <a:pt x="8418538" y="1366977"/>
                </a:lnTo>
                <a:lnTo>
                  <a:pt x="8447786" y="1331531"/>
                </a:lnTo>
                <a:lnTo>
                  <a:pt x="8469859" y="1290840"/>
                </a:lnTo>
                <a:lnTo>
                  <a:pt x="8483803" y="1245882"/>
                </a:lnTo>
                <a:lnTo>
                  <a:pt x="8488680" y="1197597"/>
                </a:lnTo>
                <a:lnTo>
                  <a:pt x="8488680" y="239522"/>
                </a:lnTo>
                <a:close/>
              </a:path>
            </a:pathLst>
          </a:custGeom>
          <a:solidFill>
            <a:srgbClr val="000000"/>
          </a:solidFill>
        </p:spPr>
        <p:txBody>
          <a:bodyPr wrap="square" lIns="0" tIns="0" rIns="0" bIns="0" rtlCol="0"/>
          <a:lstStyle/>
          <a:p>
            <a:endParaRPr/>
          </a:p>
        </p:txBody>
      </p:sp>
      <p:sp>
        <p:nvSpPr>
          <p:cNvPr id="7" name="object 7"/>
          <p:cNvSpPr txBox="1"/>
          <p:nvPr/>
        </p:nvSpPr>
        <p:spPr>
          <a:xfrm>
            <a:off x="711200" y="3581400"/>
            <a:ext cx="7829550" cy="1040765"/>
          </a:xfrm>
          <a:prstGeom prst="rect">
            <a:avLst/>
          </a:prstGeom>
        </p:spPr>
        <p:txBody>
          <a:bodyPr vert="horz" wrap="square" lIns="0" tIns="40005" rIns="0" bIns="0" rtlCol="0">
            <a:spAutoFit/>
          </a:bodyPr>
          <a:lstStyle/>
          <a:p>
            <a:pPr marL="298450" marR="5080" indent="-285750" algn="just">
              <a:lnSpc>
                <a:spcPct val="90000"/>
              </a:lnSpc>
              <a:spcBef>
                <a:spcPts val="315"/>
              </a:spcBef>
              <a:buFont typeface="Wingdings"/>
              <a:buChar char=""/>
              <a:tabLst>
                <a:tab pos="298450" algn="l"/>
              </a:tabLst>
            </a:pPr>
            <a:r>
              <a:rPr sz="1800" spc="-30" dirty="0">
                <a:solidFill>
                  <a:srgbClr val="FFFFFF"/>
                </a:solidFill>
                <a:latin typeface="Arial"/>
                <a:cs typeface="Arial"/>
              </a:rPr>
              <a:t>ERROR_STATE </a:t>
            </a:r>
            <a:r>
              <a:rPr sz="1800" spc="-45" dirty="0">
                <a:solidFill>
                  <a:srgbClr val="FFFFFF"/>
                </a:solidFill>
                <a:latin typeface="Arial"/>
                <a:cs typeface="Arial"/>
              </a:rPr>
              <a:t>is </a:t>
            </a:r>
            <a:r>
              <a:rPr sz="1800" spc="-35" dirty="0">
                <a:solidFill>
                  <a:srgbClr val="FFFFFF"/>
                </a:solidFill>
                <a:latin typeface="Arial"/>
                <a:cs typeface="Arial"/>
              </a:rPr>
              <a:t>called </a:t>
            </a:r>
            <a:r>
              <a:rPr sz="1800" spc="40" dirty="0">
                <a:solidFill>
                  <a:srgbClr val="FFFFFF"/>
                </a:solidFill>
                <a:latin typeface="Arial"/>
                <a:cs typeface="Arial"/>
              </a:rPr>
              <a:t>from </a:t>
            </a:r>
            <a:r>
              <a:rPr sz="1800" spc="-35" dirty="0">
                <a:solidFill>
                  <a:srgbClr val="FFFFFF"/>
                </a:solidFill>
                <a:latin typeface="Arial"/>
                <a:cs typeface="Arial"/>
              </a:rPr>
              <a:t>anywhere </a:t>
            </a:r>
            <a:r>
              <a:rPr sz="1800" spc="80" dirty="0">
                <a:solidFill>
                  <a:srgbClr val="FFFFFF"/>
                </a:solidFill>
                <a:latin typeface="Arial"/>
                <a:cs typeface="Arial"/>
              </a:rPr>
              <a:t>within </a:t>
            </a:r>
            <a:r>
              <a:rPr sz="1800" dirty="0">
                <a:solidFill>
                  <a:srgbClr val="FFFFFF"/>
                </a:solidFill>
                <a:latin typeface="Arial"/>
                <a:cs typeface="Arial"/>
              </a:rPr>
              <a:t>the </a:t>
            </a:r>
            <a:r>
              <a:rPr sz="1800" spc="-95" dirty="0">
                <a:solidFill>
                  <a:srgbClr val="FFFFFF"/>
                </a:solidFill>
                <a:latin typeface="Arial"/>
                <a:cs typeface="Arial"/>
              </a:rPr>
              <a:t>scope </a:t>
            </a:r>
            <a:r>
              <a:rPr sz="1800" spc="45" dirty="0">
                <a:solidFill>
                  <a:srgbClr val="FFFFFF"/>
                </a:solidFill>
                <a:latin typeface="Arial"/>
                <a:cs typeface="Arial"/>
              </a:rPr>
              <a:t>of </a:t>
            </a:r>
            <a:r>
              <a:rPr sz="1800" spc="-175" dirty="0">
                <a:solidFill>
                  <a:srgbClr val="FFFFFF"/>
                </a:solidFill>
                <a:latin typeface="Arial"/>
                <a:cs typeface="Arial"/>
              </a:rPr>
              <a:t>a </a:t>
            </a:r>
            <a:r>
              <a:rPr sz="1800" spc="170" dirty="0">
                <a:solidFill>
                  <a:srgbClr val="FFFFFF"/>
                </a:solidFill>
                <a:latin typeface="Arial"/>
                <a:cs typeface="Arial"/>
              </a:rPr>
              <a:t>CATCH  </a:t>
            </a:r>
            <a:r>
              <a:rPr sz="1800" dirty="0">
                <a:solidFill>
                  <a:srgbClr val="FFFFFF"/>
                </a:solidFill>
                <a:latin typeface="Arial"/>
                <a:cs typeface="Arial"/>
              </a:rPr>
              <a:t>block. </a:t>
            </a:r>
            <a:r>
              <a:rPr sz="1800" spc="-30" dirty="0">
                <a:solidFill>
                  <a:srgbClr val="FFFFFF"/>
                </a:solidFill>
                <a:latin typeface="Arial"/>
                <a:cs typeface="Arial"/>
              </a:rPr>
              <a:t>ERROR_STATE </a:t>
            </a:r>
            <a:r>
              <a:rPr sz="1800" dirty="0">
                <a:solidFill>
                  <a:srgbClr val="FFFFFF"/>
                </a:solidFill>
                <a:latin typeface="Arial"/>
                <a:cs typeface="Arial"/>
              </a:rPr>
              <a:t>returns the </a:t>
            </a:r>
            <a:r>
              <a:rPr sz="1800" spc="10" dirty="0">
                <a:solidFill>
                  <a:srgbClr val="FFFFFF"/>
                </a:solidFill>
                <a:latin typeface="Arial"/>
                <a:cs typeface="Arial"/>
              </a:rPr>
              <a:t>error </a:t>
            </a:r>
            <a:r>
              <a:rPr sz="1800" spc="-65" dirty="0">
                <a:solidFill>
                  <a:srgbClr val="FFFFFF"/>
                </a:solidFill>
                <a:latin typeface="Arial"/>
                <a:cs typeface="Arial"/>
              </a:rPr>
              <a:t>state </a:t>
            </a:r>
            <a:r>
              <a:rPr sz="1800" spc="-75" dirty="0">
                <a:solidFill>
                  <a:srgbClr val="FFFFFF"/>
                </a:solidFill>
                <a:latin typeface="Arial"/>
                <a:cs typeface="Arial"/>
              </a:rPr>
              <a:t>regardless </a:t>
            </a:r>
            <a:r>
              <a:rPr sz="1800" spc="50" dirty="0">
                <a:solidFill>
                  <a:srgbClr val="FFFFFF"/>
                </a:solidFill>
                <a:latin typeface="Arial"/>
                <a:cs typeface="Arial"/>
              </a:rPr>
              <a:t>of </a:t>
            </a:r>
            <a:r>
              <a:rPr sz="1800" spc="25" dirty="0">
                <a:solidFill>
                  <a:srgbClr val="FFFFFF"/>
                </a:solidFill>
                <a:latin typeface="Arial"/>
                <a:cs typeface="Arial"/>
              </a:rPr>
              <a:t>how </a:t>
            </a:r>
            <a:r>
              <a:rPr sz="1800" spc="-35" dirty="0">
                <a:solidFill>
                  <a:srgbClr val="FFFFFF"/>
                </a:solidFill>
                <a:latin typeface="Arial"/>
                <a:cs typeface="Arial"/>
              </a:rPr>
              <a:t>many</a:t>
            </a:r>
            <a:r>
              <a:rPr sz="1800" spc="-110" dirty="0">
                <a:solidFill>
                  <a:srgbClr val="FFFFFF"/>
                </a:solidFill>
                <a:latin typeface="Arial"/>
                <a:cs typeface="Arial"/>
              </a:rPr>
              <a:t> </a:t>
            </a:r>
            <a:r>
              <a:rPr sz="1800" spc="-30" dirty="0">
                <a:solidFill>
                  <a:srgbClr val="FFFFFF"/>
                </a:solidFill>
                <a:latin typeface="Arial"/>
                <a:cs typeface="Arial"/>
              </a:rPr>
              <a:t>times  </a:t>
            </a:r>
            <a:r>
              <a:rPr sz="1800" spc="110" dirty="0">
                <a:solidFill>
                  <a:srgbClr val="FFFFFF"/>
                </a:solidFill>
                <a:latin typeface="Arial"/>
                <a:cs typeface="Arial"/>
              </a:rPr>
              <a:t>it </a:t>
            </a:r>
            <a:r>
              <a:rPr sz="1800" spc="-45" dirty="0">
                <a:solidFill>
                  <a:srgbClr val="FFFFFF"/>
                </a:solidFill>
                <a:latin typeface="Arial"/>
                <a:cs typeface="Arial"/>
              </a:rPr>
              <a:t>is </a:t>
            </a:r>
            <a:r>
              <a:rPr sz="1800" spc="-40" dirty="0">
                <a:solidFill>
                  <a:srgbClr val="FFFFFF"/>
                </a:solidFill>
                <a:latin typeface="Arial"/>
                <a:cs typeface="Arial"/>
              </a:rPr>
              <a:t>executed </a:t>
            </a:r>
            <a:r>
              <a:rPr sz="1800" spc="25" dirty="0">
                <a:solidFill>
                  <a:srgbClr val="FFFFFF"/>
                </a:solidFill>
                <a:latin typeface="Arial"/>
                <a:cs typeface="Arial"/>
              </a:rPr>
              <a:t>or </a:t>
            </a:r>
            <a:r>
              <a:rPr sz="1800" dirty="0">
                <a:solidFill>
                  <a:srgbClr val="FFFFFF"/>
                </a:solidFill>
                <a:latin typeface="Arial"/>
                <a:cs typeface="Arial"/>
              </a:rPr>
              <a:t>whether </a:t>
            </a:r>
            <a:r>
              <a:rPr sz="1800" spc="110" dirty="0">
                <a:solidFill>
                  <a:srgbClr val="FFFFFF"/>
                </a:solidFill>
                <a:latin typeface="Arial"/>
                <a:cs typeface="Arial"/>
              </a:rPr>
              <a:t>it </a:t>
            </a:r>
            <a:r>
              <a:rPr sz="1800" spc="-45" dirty="0">
                <a:solidFill>
                  <a:srgbClr val="FFFFFF"/>
                </a:solidFill>
                <a:latin typeface="Arial"/>
                <a:cs typeface="Arial"/>
              </a:rPr>
              <a:t>is </a:t>
            </a:r>
            <a:r>
              <a:rPr sz="1800" spc="-40" dirty="0">
                <a:solidFill>
                  <a:srgbClr val="FFFFFF"/>
                </a:solidFill>
                <a:latin typeface="Arial"/>
                <a:cs typeface="Arial"/>
              </a:rPr>
              <a:t>executed </a:t>
            </a:r>
            <a:r>
              <a:rPr sz="1800" spc="80" dirty="0">
                <a:solidFill>
                  <a:srgbClr val="FFFFFF"/>
                </a:solidFill>
                <a:latin typeface="Arial"/>
                <a:cs typeface="Arial"/>
              </a:rPr>
              <a:t>within </a:t>
            </a:r>
            <a:r>
              <a:rPr sz="1800" dirty="0">
                <a:solidFill>
                  <a:srgbClr val="FFFFFF"/>
                </a:solidFill>
                <a:latin typeface="Arial"/>
                <a:cs typeface="Arial"/>
              </a:rPr>
              <a:t>the </a:t>
            </a:r>
            <a:r>
              <a:rPr sz="1800" spc="-95" dirty="0">
                <a:solidFill>
                  <a:srgbClr val="FFFFFF"/>
                </a:solidFill>
                <a:latin typeface="Arial"/>
                <a:cs typeface="Arial"/>
              </a:rPr>
              <a:t>scope </a:t>
            </a:r>
            <a:r>
              <a:rPr sz="1800" spc="45" dirty="0">
                <a:solidFill>
                  <a:srgbClr val="FFFFFF"/>
                </a:solidFill>
                <a:latin typeface="Arial"/>
                <a:cs typeface="Arial"/>
              </a:rPr>
              <a:t>of </a:t>
            </a:r>
            <a:r>
              <a:rPr sz="1800" dirty="0">
                <a:solidFill>
                  <a:srgbClr val="FFFFFF"/>
                </a:solidFill>
                <a:latin typeface="Arial"/>
                <a:cs typeface="Arial"/>
              </a:rPr>
              <a:t>the </a:t>
            </a:r>
            <a:r>
              <a:rPr sz="1800" spc="170" dirty="0">
                <a:solidFill>
                  <a:srgbClr val="FFFFFF"/>
                </a:solidFill>
                <a:latin typeface="Arial"/>
                <a:cs typeface="Arial"/>
              </a:rPr>
              <a:t>CATCH  </a:t>
            </a:r>
            <a:r>
              <a:rPr sz="1800" dirty="0">
                <a:solidFill>
                  <a:srgbClr val="FFFFFF"/>
                </a:solidFill>
                <a:latin typeface="Arial"/>
                <a:cs typeface="Arial"/>
              </a:rPr>
              <a:t>block.</a:t>
            </a:r>
            <a:endParaRPr sz="1800">
              <a:latin typeface="Arial"/>
              <a:cs typeface="Arial"/>
            </a:endParaRPr>
          </a:p>
        </p:txBody>
      </p:sp>
      <p:sp>
        <p:nvSpPr>
          <p:cNvPr id="9" name="object 9"/>
          <p:cNvSpPr txBox="1"/>
          <p:nvPr/>
        </p:nvSpPr>
        <p:spPr>
          <a:xfrm>
            <a:off x="7882890" y="6569709"/>
            <a:ext cx="90995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165" dirty="0">
                <a:latin typeface="Arial"/>
                <a:cs typeface="Arial"/>
              </a:rPr>
              <a:t>17</a:t>
            </a:fld>
            <a:endParaRPr sz="120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1" name="TextBox 10">
            <a:extLst>
              <a:ext uri="{FF2B5EF4-FFF2-40B4-BE49-F238E27FC236}">
                <a16:creationId xmlns:a16="http://schemas.microsoft.com/office/drawing/2014/main" id="{4F908AB9-9D4F-4E30-834B-BF7B5A3E1AAD}"/>
              </a:ext>
            </a:extLst>
          </p:cNvPr>
          <p:cNvSpPr txBox="1"/>
          <p:nvPr/>
        </p:nvSpPr>
        <p:spPr>
          <a:xfrm>
            <a:off x="1981200" y="4930173"/>
            <a:ext cx="5334000" cy="181588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BEGIN TRY</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  SELECT 217/0;</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END TRY</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BEGIN CATCH</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  SELECT ERROR_STATE() AS ErrorState;</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END CATCH</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GO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1959" y="1778"/>
            <a:ext cx="4547235" cy="635635"/>
          </a:xfrm>
          <a:prstGeom prst="rect">
            <a:avLst/>
          </a:prstGeom>
        </p:spPr>
        <p:txBody>
          <a:bodyPr vert="horz" wrap="square" lIns="0" tIns="12700" rIns="0" bIns="0" rtlCol="0">
            <a:spAutoFit/>
          </a:bodyPr>
          <a:lstStyle/>
          <a:p>
            <a:pPr marL="12700">
              <a:lnSpc>
                <a:spcPct val="100000"/>
              </a:lnSpc>
              <a:spcBef>
                <a:spcPts val="100"/>
              </a:spcBef>
            </a:pPr>
            <a:r>
              <a:rPr sz="4000" spc="-65" dirty="0"/>
              <a:t>ERROR_SEVERITY</a:t>
            </a:r>
            <a:endParaRPr sz="4000"/>
          </a:p>
        </p:txBody>
      </p:sp>
      <p:sp>
        <p:nvSpPr>
          <p:cNvPr id="3" name="object 3"/>
          <p:cNvSpPr/>
          <p:nvPr/>
        </p:nvSpPr>
        <p:spPr>
          <a:xfrm>
            <a:off x="327660" y="859155"/>
            <a:ext cx="8488680" cy="1198245"/>
          </a:xfrm>
          <a:custGeom>
            <a:avLst/>
            <a:gdLst/>
            <a:ahLst/>
            <a:cxnLst/>
            <a:rect l="l" t="t" r="r" b="b"/>
            <a:pathLst>
              <a:path w="8488680" h="1198245">
                <a:moveTo>
                  <a:pt x="8488680" y="199644"/>
                </a:moveTo>
                <a:lnTo>
                  <a:pt x="8483397" y="153885"/>
                </a:lnTo>
                <a:lnTo>
                  <a:pt x="8468373" y="111861"/>
                </a:lnTo>
                <a:lnTo>
                  <a:pt x="8444801" y="74790"/>
                </a:lnTo>
                <a:lnTo>
                  <a:pt x="8413890" y="43878"/>
                </a:lnTo>
                <a:lnTo>
                  <a:pt x="8376818" y="20307"/>
                </a:lnTo>
                <a:lnTo>
                  <a:pt x="8334794" y="5283"/>
                </a:lnTo>
                <a:lnTo>
                  <a:pt x="8289036" y="0"/>
                </a:lnTo>
                <a:lnTo>
                  <a:pt x="199644" y="0"/>
                </a:lnTo>
                <a:lnTo>
                  <a:pt x="153860" y="5283"/>
                </a:lnTo>
                <a:lnTo>
                  <a:pt x="111836" y="20307"/>
                </a:lnTo>
                <a:lnTo>
                  <a:pt x="74764" y="43878"/>
                </a:lnTo>
                <a:lnTo>
                  <a:pt x="43853" y="74790"/>
                </a:lnTo>
                <a:lnTo>
                  <a:pt x="20281" y="111861"/>
                </a:lnTo>
                <a:lnTo>
                  <a:pt x="5270" y="153885"/>
                </a:lnTo>
                <a:lnTo>
                  <a:pt x="0" y="199644"/>
                </a:lnTo>
                <a:lnTo>
                  <a:pt x="0" y="998220"/>
                </a:lnTo>
                <a:lnTo>
                  <a:pt x="5270" y="1043990"/>
                </a:lnTo>
                <a:lnTo>
                  <a:pt x="20281" y="1086015"/>
                </a:lnTo>
                <a:lnTo>
                  <a:pt x="43853" y="1123086"/>
                </a:lnTo>
                <a:lnTo>
                  <a:pt x="74764" y="1153998"/>
                </a:lnTo>
                <a:lnTo>
                  <a:pt x="111836" y="1177569"/>
                </a:lnTo>
                <a:lnTo>
                  <a:pt x="153860" y="1192593"/>
                </a:lnTo>
                <a:lnTo>
                  <a:pt x="199644" y="1197864"/>
                </a:lnTo>
                <a:lnTo>
                  <a:pt x="8289036" y="1197864"/>
                </a:lnTo>
                <a:lnTo>
                  <a:pt x="8334794" y="1192593"/>
                </a:lnTo>
                <a:lnTo>
                  <a:pt x="8376818" y="1177569"/>
                </a:lnTo>
                <a:lnTo>
                  <a:pt x="8413890" y="1153998"/>
                </a:lnTo>
                <a:lnTo>
                  <a:pt x="8444801" y="1123086"/>
                </a:lnTo>
                <a:lnTo>
                  <a:pt x="8468373" y="1086015"/>
                </a:lnTo>
                <a:lnTo>
                  <a:pt x="8483397" y="1043990"/>
                </a:lnTo>
                <a:lnTo>
                  <a:pt x="8488680" y="998220"/>
                </a:lnTo>
                <a:lnTo>
                  <a:pt x="8488680" y="199644"/>
                </a:lnTo>
                <a:close/>
              </a:path>
            </a:pathLst>
          </a:custGeom>
          <a:solidFill>
            <a:srgbClr val="4F6128"/>
          </a:solidFill>
        </p:spPr>
        <p:txBody>
          <a:bodyPr wrap="square" lIns="0" tIns="0" rIns="0" bIns="0" rtlCol="0"/>
          <a:lstStyle/>
          <a:p>
            <a:endParaRPr/>
          </a:p>
        </p:txBody>
      </p:sp>
      <p:sp>
        <p:nvSpPr>
          <p:cNvPr id="4" name="object 4"/>
          <p:cNvSpPr/>
          <p:nvPr/>
        </p:nvSpPr>
        <p:spPr>
          <a:xfrm>
            <a:off x="327660" y="2971800"/>
            <a:ext cx="8488680" cy="1000125"/>
          </a:xfrm>
          <a:custGeom>
            <a:avLst/>
            <a:gdLst/>
            <a:ahLst/>
            <a:cxnLst/>
            <a:rect l="l" t="t" r="r" b="b"/>
            <a:pathLst>
              <a:path w="8488680" h="1000125">
                <a:moveTo>
                  <a:pt x="8488680" y="166624"/>
                </a:moveTo>
                <a:lnTo>
                  <a:pt x="8482724" y="122313"/>
                </a:lnTo>
                <a:lnTo>
                  <a:pt x="8465934" y="82511"/>
                </a:lnTo>
                <a:lnTo>
                  <a:pt x="8439887" y="48793"/>
                </a:lnTo>
                <a:lnTo>
                  <a:pt x="8406168" y="22745"/>
                </a:lnTo>
                <a:lnTo>
                  <a:pt x="8366366" y="5956"/>
                </a:lnTo>
                <a:lnTo>
                  <a:pt x="8322056" y="0"/>
                </a:lnTo>
                <a:lnTo>
                  <a:pt x="166624" y="0"/>
                </a:lnTo>
                <a:lnTo>
                  <a:pt x="122326" y="5956"/>
                </a:lnTo>
                <a:lnTo>
                  <a:pt x="82524" y="22745"/>
                </a:lnTo>
                <a:lnTo>
                  <a:pt x="48793" y="48793"/>
                </a:lnTo>
                <a:lnTo>
                  <a:pt x="22745" y="82511"/>
                </a:lnTo>
                <a:lnTo>
                  <a:pt x="5943" y="122313"/>
                </a:lnTo>
                <a:lnTo>
                  <a:pt x="0" y="166624"/>
                </a:lnTo>
                <a:lnTo>
                  <a:pt x="0" y="833120"/>
                </a:lnTo>
                <a:lnTo>
                  <a:pt x="5943" y="877443"/>
                </a:lnTo>
                <a:lnTo>
                  <a:pt x="22745" y="917244"/>
                </a:lnTo>
                <a:lnTo>
                  <a:pt x="48793" y="950963"/>
                </a:lnTo>
                <a:lnTo>
                  <a:pt x="82524" y="977011"/>
                </a:lnTo>
                <a:lnTo>
                  <a:pt x="122326" y="993800"/>
                </a:lnTo>
                <a:lnTo>
                  <a:pt x="166624" y="999744"/>
                </a:lnTo>
                <a:lnTo>
                  <a:pt x="8322056" y="999744"/>
                </a:lnTo>
                <a:lnTo>
                  <a:pt x="8366366" y="993800"/>
                </a:lnTo>
                <a:lnTo>
                  <a:pt x="8406168" y="977011"/>
                </a:lnTo>
                <a:lnTo>
                  <a:pt x="8439887" y="950963"/>
                </a:lnTo>
                <a:lnTo>
                  <a:pt x="8465934" y="917244"/>
                </a:lnTo>
                <a:lnTo>
                  <a:pt x="8482724" y="877443"/>
                </a:lnTo>
                <a:lnTo>
                  <a:pt x="8488680" y="833120"/>
                </a:lnTo>
                <a:lnTo>
                  <a:pt x="8488680" y="166624"/>
                </a:lnTo>
                <a:close/>
              </a:path>
            </a:pathLst>
          </a:custGeom>
          <a:solidFill>
            <a:srgbClr val="943735"/>
          </a:solidFill>
        </p:spPr>
        <p:txBody>
          <a:bodyPr wrap="square" lIns="0" tIns="0" rIns="0" bIns="0" rtlCol="0"/>
          <a:lstStyle/>
          <a:p>
            <a:endParaRPr/>
          </a:p>
        </p:txBody>
      </p:sp>
      <p:sp>
        <p:nvSpPr>
          <p:cNvPr id="5" name="object 5"/>
          <p:cNvSpPr txBox="1"/>
          <p:nvPr/>
        </p:nvSpPr>
        <p:spPr>
          <a:xfrm>
            <a:off x="449833" y="914400"/>
            <a:ext cx="8089900" cy="2962275"/>
          </a:xfrm>
          <a:prstGeom prst="rect">
            <a:avLst/>
          </a:prstGeom>
        </p:spPr>
        <p:txBody>
          <a:bodyPr vert="horz" wrap="square" lIns="0" tIns="46990" rIns="0" bIns="0" rtlCol="0">
            <a:spAutoFit/>
          </a:bodyPr>
          <a:lstStyle/>
          <a:p>
            <a:pPr marL="563245" marR="57150" indent="-343535" algn="just">
              <a:lnSpc>
                <a:spcPts val="2160"/>
              </a:lnSpc>
              <a:spcBef>
                <a:spcPts val="370"/>
              </a:spcBef>
              <a:buFont typeface="Wingdings"/>
              <a:buChar char=""/>
              <a:tabLst>
                <a:tab pos="563880" algn="l"/>
              </a:tabLst>
            </a:pPr>
            <a:r>
              <a:rPr sz="2000" spc="20" dirty="0">
                <a:solidFill>
                  <a:srgbClr val="FFFFFF"/>
                </a:solidFill>
                <a:latin typeface="Arial"/>
                <a:cs typeface="Arial"/>
              </a:rPr>
              <a:t>The </a:t>
            </a:r>
            <a:r>
              <a:rPr sz="2000" spc="-35" dirty="0">
                <a:solidFill>
                  <a:srgbClr val="FFFFFF"/>
                </a:solidFill>
                <a:latin typeface="Arial"/>
                <a:cs typeface="Arial"/>
              </a:rPr>
              <a:t>ERROR_SEVERITY </a:t>
            </a:r>
            <a:r>
              <a:rPr sz="2000" spc="55" dirty="0">
                <a:solidFill>
                  <a:srgbClr val="FFFFFF"/>
                </a:solidFill>
                <a:latin typeface="Arial"/>
                <a:cs typeface="Arial"/>
              </a:rPr>
              <a:t>function </a:t>
            </a:r>
            <a:r>
              <a:rPr sz="2000" dirty="0">
                <a:solidFill>
                  <a:srgbClr val="FFFFFF"/>
                </a:solidFill>
                <a:latin typeface="Arial"/>
                <a:cs typeface="Arial"/>
              </a:rPr>
              <a:t>returns the </a:t>
            </a:r>
            <a:r>
              <a:rPr sz="2000" spc="-25" dirty="0">
                <a:solidFill>
                  <a:srgbClr val="FFFFFF"/>
                </a:solidFill>
                <a:latin typeface="Arial"/>
                <a:cs typeface="Arial"/>
              </a:rPr>
              <a:t>severity </a:t>
            </a:r>
            <a:r>
              <a:rPr sz="2000" spc="55" dirty="0">
                <a:solidFill>
                  <a:srgbClr val="FFFFFF"/>
                </a:solidFill>
                <a:latin typeface="Arial"/>
                <a:cs typeface="Arial"/>
              </a:rPr>
              <a:t>of </a:t>
            </a:r>
            <a:r>
              <a:rPr sz="2000" dirty="0">
                <a:solidFill>
                  <a:srgbClr val="FFFFFF"/>
                </a:solidFill>
                <a:latin typeface="Arial"/>
                <a:cs typeface="Arial"/>
              </a:rPr>
              <a:t>the </a:t>
            </a:r>
            <a:r>
              <a:rPr sz="2000" spc="5" dirty="0">
                <a:solidFill>
                  <a:srgbClr val="FFFFFF"/>
                </a:solidFill>
                <a:latin typeface="Arial"/>
                <a:cs typeface="Arial"/>
              </a:rPr>
              <a:t>error  </a:t>
            </a:r>
            <a:r>
              <a:rPr sz="2000" spc="30" dirty="0">
                <a:solidFill>
                  <a:srgbClr val="FFFFFF"/>
                </a:solidFill>
                <a:latin typeface="Arial"/>
                <a:cs typeface="Arial"/>
              </a:rPr>
              <a:t>that </a:t>
            </a:r>
            <a:r>
              <a:rPr sz="2000" spc="-145" dirty="0">
                <a:solidFill>
                  <a:srgbClr val="FFFFFF"/>
                </a:solidFill>
                <a:latin typeface="Arial"/>
                <a:cs typeface="Arial"/>
              </a:rPr>
              <a:t>causes </a:t>
            </a:r>
            <a:r>
              <a:rPr sz="2000" dirty="0">
                <a:solidFill>
                  <a:srgbClr val="FFFFFF"/>
                </a:solidFill>
                <a:latin typeface="Arial"/>
                <a:cs typeface="Arial"/>
              </a:rPr>
              <a:t>the </a:t>
            </a:r>
            <a:r>
              <a:rPr sz="2000" spc="185" dirty="0">
                <a:solidFill>
                  <a:srgbClr val="FFFFFF"/>
                </a:solidFill>
                <a:latin typeface="Arial"/>
                <a:cs typeface="Arial"/>
              </a:rPr>
              <a:t>CATCH </a:t>
            </a:r>
            <a:r>
              <a:rPr sz="2000" spc="15" dirty="0">
                <a:solidFill>
                  <a:srgbClr val="FFFFFF"/>
                </a:solidFill>
                <a:latin typeface="Arial"/>
                <a:cs typeface="Arial"/>
              </a:rPr>
              <a:t>block </a:t>
            </a:r>
            <a:r>
              <a:rPr sz="2000" spc="55" dirty="0">
                <a:solidFill>
                  <a:srgbClr val="FFFFFF"/>
                </a:solidFill>
                <a:latin typeface="Arial"/>
                <a:cs typeface="Arial"/>
              </a:rPr>
              <a:t>of </a:t>
            </a:r>
            <a:r>
              <a:rPr sz="2000" spc="-195" dirty="0">
                <a:solidFill>
                  <a:srgbClr val="FFFFFF"/>
                </a:solidFill>
                <a:latin typeface="Arial"/>
                <a:cs typeface="Arial"/>
              </a:rPr>
              <a:t>a </a:t>
            </a:r>
            <a:r>
              <a:rPr sz="2000" spc="75" dirty="0">
                <a:solidFill>
                  <a:srgbClr val="FFFFFF"/>
                </a:solidFill>
                <a:latin typeface="Arial"/>
                <a:cs typeface="Arial"/>
              </a:rPr>
              <a:t>TRY</a:t>
            </a:r>
            <a:r>
              <a:rPr sz="2000" spc="75" dirty="0">
                <a:solidFill>
                  <a:srgbClr val="FFFFFF"/>
                </a:solidFill>
                <a:latin typeface="Times New Roman"/>
                <a:cs typeface="Times New Roman"/>
              </a:rPr>
              <a:t>…</a:t>
            </a:r>
            <a:r>
              <a:rPr sz="2000" spc="75" dirty="0">
                <a:solidFill>
                  <a:srgbClr val="FFFFFF"/>
                </a:solidFill>
                <a:latin typeface="Arial"/>
                <a:cs typeface="Arial"/>
              </a:rPr>
              <a:t>CATCH </a:t>
            </a:r>
            <a:r>
              <a:rPr sz="2000" dirty="0">
                <a:solidFill>
                  <a:srgbClr val="FFFFFF"/>
                </a:solidFill>
                <a:latin typeface="Arial"/>
                <a:cs typeface="Arial"/>
              </a:rPr>
              <a:t>construct </a:t>
            </a:r>
            <a:r>
              <a:rPr sz="2000" spc="55" dirty="0">
                <a:solidFill>
                  <a:srgbClr val="FFFFFF"/>
                </a:solidFill>
                <a:latin typeface="Arial"/>
                <a:cs typeface="Arial"/>
              </a:rPr>
              <a:t>to </a:t>
            </a:r>
            <a:r>
              <a:rPr sz="2000" spc="-95" dirty="0">
                <a:solidFill>
                  <a:srgbClr val="FFFFFF"/>
                </a:solidFill>
                <a:latin typeface="Arial"/>
                <a:cs typeface="Arial"/>
              </a:rPr>
              <a:t>be  </a:t>
            </a:r>
            <a:r>
              <a:rPr sz="2000" spc="-50" dirty="0">
                <a:solidFill>
                  <a:srgbClr val="FFFFFF"/>
                </a:solidFill>
                <a:latin typeface="Arial"/>
                <a:cs typeface="Arial"/>
              </a:rPr>
              <a:t>executed.</a:t>
            </a:r>
            <a:endParaRPr sz="2000">
              <a:latin typeface="Arial"/>
              <a:cs typeface="Arial"/>
            </a:endParaRPr>
          </a:p>
          <a:p>
            <a:pPr>
              <a:lnSpc>
                <a:spcPct val="100000"/>
              </a:lnSpc>
              <a:spcBef>
                <a:spcPts val="30"/>
              </a:spcBef>
              <a:buChar char=""/>
            </a:pPr>
            <a:endParaRPr sz="3000">
              <a:latin typeface="Arial"/>
              <a:cs typeface="Arial"/>
            </a:endParaRPr>
          </a:p>
          <a:p>
            <a:pPr marL="12700">
              <a:lnSpc>
                <a:spcPct val="100000"/>
              </a:lnSpc>
            </a:pPr>
            <a:r>
              <a:rPr sz="1800" b="1" spc="-95" dirty="0">
                <a:latin typeface="Arial"/>
                <a:cs typeface="Arial"/>
              </a:rPr>
              <a:t>Syntax:</a:t>
            </a:r>
            <a:endParaRPr sz="1800">
              <a:latin typeface="Arial"/>
              <a:cs typeface="Arial"/>
            </a:endParaRPr>
          </a:p>
          <a:p>
            <a:pPr marL="12700">
              <a:lnSpc>
                <a:spcPct val="100000"/>
              </a:lnSpc>
            </a:pPr>
            <a:r>
              <a:rPr sz="1800" spc="-30" dirty="0">
                <a:latin typeface="Arial"/>
                <a:cs typeface="Arial"/>
              </a:rPr>
              <a:t>ERROR_SEVERITY </a:t>
            </a:r>
            <a:r>
              <a:rPr sz="1800" spc="-15" dirty="0">
                <a:latin typeface="Arial"/>
                <a:cs typeface="Arial"/>
              </a:rPr>
              <a:t>(</a:t>
            </a:r>
            <a:r>
              <a:rPr sz="1800" spc="-200" dirty="0">
                <a:latin typeface="Arial"/>
                <a:cs typeface="Arial"/>
              </a:rPr>
              <a:t> </a:t>
            </a:r>
            <a:r>
              <a:rPr sz="1800" spc="-15" dirty="0">
                <a:latin typeface="Arial"/>
                <a:cs typeface="Arial"/>
              </a:rPr>
              <a:t>)</a:t>
            </a:r>
            <a:endParaRPr sz="1800">
              <a:latin typeface="Arial"/>
              <a:cs typeface="Arial"/>
            </a:endParaRPr>
          </a:p>
          <a:p>
            <a:pPr>
              <a:lnSpc>
                <a:spcPct val="100000"/>
              </a:lnSpc>
              <a:spcBef>
                <a:spcPts val="10"/>
              </a:spcBef>
            </a:pPr>
            <a:endParaRPr sz="2400">
              <a:latin typeface="Arial"/>
              <a:cs typeface="Arial"/>
            </a:endParaRPr>
          </a:p>
          <a:p>
            <a:pPr marL="559435" marR="5080" indent="-285750" algn="just">
              <a:lnSpc>
                <a:spcPts val="1939"/>
              </a:lnSpc>
              <a:spcBef>
                <a:spcPts val="5"/>
              </a:spcBef>
              <a:buFont typeface="Wingdings"/>
              <a:buChar char=""/>
              <a:tabLst>
                <a:tab pos="560070" algn="l"/>
              </a:tabLst>
            </a:pPr>
            <a:r>
              <a:rPr sz="1800" spc="100" dirty="0">
                <a:solidFill>
                  <a:srgbClr val="FFFFFF"/>
                </a:solidFill>
                <a:latin typeface="Arial"/>
                <a:cs typeface="Arial"/>
              </a:rPr>
              <a:t>It </a:t>
            </a:r>
            <a:r>
              <a:rPr sz="1800" dirty="0">
                <a:solidFill>
                  <a:srgbClr val="FFFFFF"/>
                </a:solidFill>
                <a:latin typeface="Arial"/>
                <a:cs typeface="Arial"/>
              </a:rPr>
              <a:t>returns </a:t>
            </a:r>
            <a:r>
              <a:rPr sz="1800" spc="-175" dirty="0">
                <a:solidFill>
                  <a:srgbClr val="FFFFFF"/>
                </a:solidFill>
                <a:latin typeface="Arial"/>
                <a:cs typeface="Arial"/>
              </a:rPr>
              <a:t>a </a:t>
            </a:r>
            <a:r>
              <a:rPr sz="1800" spc="114" dirty="0">
                <a:solidFill>
                  <a:srgbClr val="FFFFFF"/>
                </a:solidFill>
                <a:latin typeface="Arial"/>
                <a:cs typeface="Arial"/>
              </a:rPr>
              <a:t>NULL </a:t>
            </a:r>
            <a:r>
              <a:rPr sz="1800" spc="-35" dirty="0">
                <a:solidFill>
                  <a:srgbClr val="FFFFFF"/>
                </a:solidFill>
                <a:latin typeface="Arial"/>
                <a:cs typeface="Arial"/>
              </a:rPr>
              <a:t>value </a:t>
            </a:r>
            <a:r>
              <a:rPr sz="1800" spc="110" dirty="0">
                <a:solidFill>
                  <a:srgbClr val="FFFFFF"/>
                </a:solidFill>
                <a:latin typeface="Arial"/>
                <a:cs typeface="Arial"/>
              </a:rPr>
              <a:t>if </a:t>
            </a:r>
            <a:r>
              <a:rPr sz="1800" spc="-35" dirty="0">
                <a:solidFill>
                  <a:srgbClr val="FFFFFF"/>
                </a:solidFill>
                <a:latin typeface="Arial"/>
                <a:cs typeface="Arial"/>
              </a:rPr>
              <a:t>called </a:t>
            </a:r>
            <a:r>
              <a:rPr sz="1800" spc="-15" dirty="0">
                <a:solidFill>
                  <a:srgbClr val="FFFFFF"/>
                </a:solidFill>
                <a:latin typeface="Arial"/>
                <a:cs typeface="Arial"/>
              </a:rPr>
              <a:t>outside </a:t>
            </a:r>
            <a:r>
              <a:rPr sz="1800" dirty="0">
                <a:solidFill>
                  <a:srgbClr val="FFFFFF"/>
                </a:solidFill>
                <a:latin typeface="Arial"/>
                <a:cs typeface="Arial"/>
              </a:rPr>
              <a:t>the </a:t>
            </a:r>
            <a:r>
              <a:rPr sz="1800" spc="-95" dirty="0">
                <a:solidFill>
                  <a:srgbClr val="FFFFFF"/>
                </a:solidFill>
                <a:latin typeface="Arial"/>
                <a:cs typeface="Arial"/>
              </a:rPr>
              <a:t>scope </a:t>
            </a:r>
            <a:r>
              <a:rPr sz="1800" spc="45" dirty="0">
                <a:solidFill>
                  <a:srgbClr val="FFFFFF"/>
                </a:solidFill>
                <a:latin typeface="Arial"/>
                <a:cs typeface="Arial"/>
              </a:rPr>
              <a:t>of </a:t>
            </a:r>
            <a:r>
              <a:rPr sz="1800" dirty="0">
                <a:solidFill>
                  <a:srgbClr val="FFFFFF"/>
                </a:solidFill>
                <a:latin typeface="Arial"/>
                <a:cs typeface="Arial"/>
              </a:rPr>
              <a:t>the </a:t>
            </a:r>
            <a:r>
              <a:rPr sz="1800" spc="170" dirty="0">
                <a:solidFill>
                  <a:srgbClr val="FFFFFF"/>
                </a:solidFill>
                <a:latin typeface="Arial"/>
                <a:cs typeface="Arial"/>
              </a:rPr>
              <a:t>CATCH </a:t>
            </a:r>
            <a:r>
              <a:rPr sz="1800" dirty="0">
                <a:solidFill>
                  <a:srgbClr val="FFFFFF"/>
                </a:solidFill>
                <a:latin typeface="Arial"/>
                <a:cs typeface="Arial"/>
              </a:rPr>
              <a:t>block.  </a:t>
            </a:r>
            <a:r>
              <a:rPr sz="1800" spc="-30" dirty="0">
                <a:solidFill>
                  <a:srgbClr val="FFFFFF"/>
                </a:solidFill>
                <a:latin typeface="Arial"/>
                <a:cs typeface="Arial"/>
              </a:rPr>
              <a:t>ERROR_SEVERITY </a:t>
            </a:r>
            <a:r>
              <a:rPr sz="1800" spc="-65" dirty="0">
                <a:solidFill>
                  <a:srgbClr val="FFFFFF"/>
                </a:solidFill>
                <a:latin typeface="Arial"/>
                <a:cs typeface="Arial"/>
              </a:rPr>
              <a:t>can </a:t>
            </a:r>
            <a:r>
              <a:rPr sz="1800" spc="-95" dirty="0">
                <a:solidFill>
                  <a:srgbClr val="FFFFFF"/>
                </a:solidFill>
                <a:latin typeface="Arial"/>
                <a:cs typeface="Arial"/>
              </a:rPr>
              <a:t>be </a:t>
            </a:r>
            <a:r>
              <a:rPr sz="1800" spc="-40" dirty="0">
                <a:solidFill>
                  <a:srgbClr val="FFFFFF"/>
                </a:solidFill>
                <a:latin typeface="Arial"/>
                <a:cs typeface="Arial"/>
              </a:rPr>
              <a:t>called </a:t>
            </a:r>
            <a:r>
              <a:rPr sz="1800" spc="-35" dirty="0">
                <a:solidFill>
                  <a:srgbClr val="FFFFFF"/>
                </a:solidFill>
                <a:latin typeface="Arial"/>
                <a:cs typeface="Arial"/>
              </a:rPr>
              <a:t>anywhere </a:t>
            </a:r>
            <a:r>
              <a:rPr sz="1800" spc="80" dirty="0">
                <a:solidFill>
                  <a:srgbClr val="FFFFFF"/>
                </a:solidFill>
                <a:latin typeface="Arial"/>
                <a:cs typeface="Arial"/>
              </a:rPr>
              <a:t>within </a:t>
            </a:r>
            <a:r>
              <a:rPr sz="1800" dirty="0">
                <a:solidFill>
                  <a:srgbClr val="FFFFFF"/>
                </a:solidFill>
                <a:latin typeface="Arial"/>
                <a:cs typeface="Arial"/>
              </a:rPr>
              <a:t>the </a:t>
            </a:r>
            <a:r>
              <a:rPr sz="1800" spc="-95" dirty="0">
                <a:solidFill>
                  <a:srgbClr val="FFFFFF"/>
                </a:solidFill>
                <a:latin typeface="Arial"/>
                <a:cs typeface="Arial"/>
              </a:rPr>
              <a:t>scope </a:t>
            </a:r>
            <a:r>
              <a:rPr sz="1800" spc="45" dirty="0">
                <a:solidFill>
                  <a:srgbClr val="FFFFFF"/>
                </a:solidFill>
                <a:latin typeface="Arial"/>
                <a:cs typeface="Arial"/>
              </a:rPr>
              <a:t>of </a:t>
            </a:r>
            <a:r>
              <a:rPr sz="1800" spc="-175" dirty="0">
                <a:solidFill>
                  <a:srgbClr val="FFFFFF"/>
                </a:solidFill>
                <a:latin typeface="Arial"/>
                <a:cs typeface="Arial"/>
              </a:rPr>
              <a:t>a </a:t>
            </a:r>
            <a:r>
              <a:rPr sz="1800" spc="165" dirty="0">
                <a:solidFill>
                  <a:srgbClr val="FFFFFF"/>
                </a:solidFill>
                <a:latin typeface="Arial"/>
                <a:cs typeface="Arial"/>
              </a:rPr>
              <a:t>CATCH  </a:t>
            </a:r>
            <a:r>
              <a:rPr sz="1800" dirty="0">
                <a:solidFill>
                  <a:srgbClr val="FFFFFF"/>
                </a:solidFill>
                <a:latin typeface="Arial"/>
                <a:cs typeface="Arial"/>
              </a:rPr>
              <a:t>block.</a:t>
            </a:r>
            <a:endParaRPr sz="1800">
              <a:latin typeface="Arial"/>
              <a:cs typeface="Arial"/>
            </a:endParaRPr>
          </a:p>
        </p:txBody>
      </p:sp>
      <p:sp>
        <p:nvSpPr>
          <p:cNvPr id="6" name="object 6"/>
          <p:cNvSpPr/>
          <p:nvPr/>
        </p:nvSpPr>
        <p:spPr>
          <a:xfrm>
            <a:off x="307086" y="4038600"/>
            <a:ext cx="8489950" cy="847725"/>
          </a:xfrm>
          <a:custGeom>
            <a:avLst/>
            <a:gdLst/>
            <a:ahLst/>
            <a:cxnLst/>
            <a:rect l="l" t="t" r="r" b="b"/>
            <a:pathLst>
              <a:path w="8489950" h="1357629">
                <a:moveTo>
                  <a:pt x="8489442" y="226187"/>
                </a:moveTo>
                <a:lnTo>
                  <a:pt x="8484845" y="180594"/>
                </a:lnTo>
                <a:lnTo>
                  <a:pt x="8471662" y="138125"/>
                </a:lnTo>
                <a:lnTo>
                  <a:pt x="8450821" y="99707"/>
                </a:lnTo>
                <a:lnTo>
                  <a:pt x="8423199" y="66230"/>
                </a:lnTo>
                <a:lnTo>
                  <a:pt x="8389734" y="38620"/>
                </a:lnTo>
                <a:lnTo>
                  <a:pt x="8351317" y="17780"/>
                </a:lnTo>
                <a:lnTo>
                  <a:pt x="8308848" y="4597"/>
                </a:lnTo>
                <a:lnTo>
                  <a:pt x="8263255" y="0"/>
                </a:lnTo>
                <a:lnTo>
                  <a:pt x="226187" y="0"/>
                </a:lnTo>
                <a:lnTo>
                  <a:pt x="180594" y="4597"/>
                </a:lnTo>
                <a:lnTo>
                  <a:pt x="138137" y="17780"/>
                </a:lnTo>
                <a:lnTo>
                  <a:pt x="99720" y="38620"/>
                </a:lnTo>
                <a:lnTo>
                  <a:pt x="66243" y="66230"/>
                </a:lnTo>
                <a:lnTo>
                  <a:pt x="38620" y="99707"/>
                </a:lnTo>
                <a:lnTo>
                  <a:pt x="17767" y="138125"/>
                </a:lnTo>
                <a:lnTo>
                  <a:pt x="4584" y="180594"/>
                </a:lnTo>
                <a:lnTo>
                  <a:pt x="0" y="226187"/>
                </a:lnTo>
                <a:lnTo>
                  <a:pt x="0" y="1130935"/>
                </a:lnTo>
                <a:lnTo>
                  <a:pt x="4584" y="1176528"/>
                </a:lnTo>
                <a:lnTo>
                  <a:pt x="17767" y="1218984"/>
                </a:lnTo>
                <a:lnTo>
                  <a:pt x="38620" y="1257401"/>
                </a:lnTo>
                <a:lnTo>
                  <a:pt x="66243" y="1290878"/>
                </a:lnTo>
                <a:lnTo>
                  <a:pt x="99720" y="1318501"/>
                </a:lnTo>
                <a:lnTo>
                  <a:pt x="138137" y="1339354"/>
                </a:lnTo>
                <a:lnTo>
                  <a:pt x="180594" y="1352537"/>
                </a:lnTo>
                <a:lnTo>
                  <a:pt x="226187" y="1357122"/>
                </a:lnTo>
                <a:lnTo>
                  <a:pt x="8263255" y="1357122"/>
                </a:lnTo>
                <a:lnTo>
                  <a:pt x="8308848" y="1352537"/>
                </a:lnTo>
                <a:lnTo>
                  <a:pt x="8351317" y="1339354"/>
                </a:lnTo>
                <a:lnTo>
                  <a:pt x="8389734" y="1318501"/>
                </a:lnTo>
                <a:lnTo>
                  <a:pt x="8423211" y="1290878"/>
                </a:lnTo>
                <a:lnTo>
                  <a:pt x="8450821" y="1257401"/>
                </a:lnTo>
                <a:lnTo>
                  <a:pt x="8471662" y="1218984"/>
                </a:lnTo>
                <a:lnTo>
                  <a:pt x="8484845" y="1176528"/>
                </a:lnTo>
                <a:lnTo>
                  <a:pt x="8489442" y="1130935"/>
                </a:lnTo>
                <a:lnTo>
                  <a:pt x="8489442" y="226187"/>
                </a:lnTo>
                <a:close/>
              </a:path>
            </a:pathLst>
          </a:custGeom>
          <a:solidFill>
            <a:srgbClr val="6F2F9F"/>
          </a:solidFill>
        </p:spPr>
        <p:txBody>
          <a:bodyPr wrap="square" lIns="0" tIns="0" rIns="0" bIns="0" rtlCol="0"/>
          <a:lstStyle/>
          <a:p>
            <a:endParaRPr sz="1400"/>
          </a:p>
        </p:txBody>
      </p:sp>
      <p:sp>
        <p:nvSpPr>
          <p:cNvPr id="7" name="object 7"/>
          <p:cNvSpPr txBox="1"/>
          <p:nvPr/>
        </p:nvSpPr>
        <p:spPr>
          <a:xfrm>
            <a:off x="691133" y="4038600"/>
            <a:ext cx="7829550" cy="775212"/>
          </a:xfrm>
          <a:prstGeom prst="rect">
            <a:avLst/>
          </a:prstGeom>
        </p:spPr>
        <p:txBody>
          <a:bodyPr vert="horz" wrap="square" lIns="0" tIns="43815" rIns="0" bIns="0" rtlCol="0">
            <a:spAutoFit/>
          </a:bodyPr>
          <a:lstStyle/>
          <a:p>
            <a:pPr marL="298450" marR="5080" indent="-285750" algn="just">
              <a:lnSpc>
                <a:spcPts val="1939"/>
              </a:lnSpc>
              <a:spcBef>
                <a:spcPts val="345"/>
              </a:spcBef>
              <a:buClr>
                <a:srgbClr val="FFFFFF"/>
              </a:buClr>
              <a:buFont typeface="Wingdings"/>
              <a:buChar char=""/>
              <a:tabLst>
                <a:tab pos="347345" algn="l"/>
              </a:tabLst>
            </a:pPr>
            <a:r>
              <a:rPr sz="1600" dirty="0"/>
              <a:t>	</a:t>
            </a:r>
            <a:r>
              <a:rPr sz="1600" spc="70" dirty="0">
                <a:solidFill>
                  <a:srgbClr val="FFFFFF"/>
                </a:solidFill>
                <a:latin typeface="Arial"/>
                <a:cs typeface="Arial"/>
              </a:rPr>
              <a:t>In </a:t>
            </a:r>
            <a:r>
              <a:rPr sz="1600" spc="-55" dirty="0">
                <a:solidFill>
                  <a:srgbClr val="FFFFFF"/>
                </a:solidFill>
                <a:latin typeface="Arial"/>
                <a:cs typeface="Arial"/>
              </a:rPr>
              <a:t>nested </a:t>
            </a:r>
            <a:r>
              <a:rPr sz="1600" spc="165" dirty="0">
                <a:solidFill>
                  <a:srgbClr val="FFFFFF"/>
                </a:solidFill>
                <a:latin typeface="Arial"/>
                <a:cs typeface="Arial"/>
              </a:rPr>
              <a:t>CATCH </a:t>
            </a:r>
            <a:r>
              <a:rPr sz="1600" spc="-30" dirty="0">
                <a:solidFill>
                  <a:srgbClr val="FFFFFF"/>
                </a:solidFill>
                <a:latin typeface="Arial"/>
                <a:cs typeface="Arial"/>
              </a:rPr>
              <a:t>blocks, ERROR_SEVERITY </a:t>
            </a:r>
            <a:r>
              <a:rPr sz="1600" spc="90" dirty="0">
                <a:solidFill>
                  <a:srgbClr val="FFFFFF"/>
                </a:solidFill>
                <a:latin typeface="Arial"/>
                <a:cs typeface="Arial"/>
              </a:rPr>
              <a:t>will </a:t>
            </a:r>
            <a:r>
              <a:rPr sz="1600" spc="30" dirty="0">
                <a:solidFill>
                  <a:srgbClr val="FFFFFF"/>
                </a:solidFill>
                <a:latin typeface="Arial"/>
                <a:cs typeface="Arial"/>
              </a:rPr>
              <a:t>return </a:t>
            </a:r>
            <a:r>
              <a:rPr sz="1600" dirty="0">
                <a:solidFill>
                  <a:srgbClr val="FFFFFF"/>
                </a:solidFill>
                <a:latin typeface="Arial"/>
                <a:cs typeface="Arial"/>
              </a:rPr>
              <a:t>the </a:t>
            </a:r>
            <a:r>
              <a:rPr sz="1600" spc="10" dirty="0">
                <a:solidFill>
                  <a:srgbClr val="FFFFFF"/>
                </a:solidFill>
                <a:latin typeface="Arial"/>
                <a:cs typeface="Arial"/>
              </a:rPr>
              <a:t>error  </a:t>
            </a:r>
            <a:r>
              <a:rPr sz="1600" spc="-25" dirty="0">
                <a:solidFill>
                  <a:srgbClr val="FFFFFF"/>
                </a:solidFill>
                <a:latin typeface="Arial"/>
                <a:cs typeface="Arial"/>
              </a:rPr>
              <a:t>severity </a:t>
            </a:r>
            <a:r>
              <a:rPr sz="1600" spc="25" dirty="0">
                <a:solidFill>
                  <a:srgbClr val="FFFFFF"/>
                </a:solidFill>
                <a:latin typeface="Arial"/>
                <a:cs typeface="Arial"/>
              </a:rPr>
              <a:t>that </a:t>
            </a:r>
            <a:r>
              <a:rPr sz="1600" spc="-45" dirty="0">
                <a:solidFill>
                  <a:srgbClr val="FFFFFF"/>
                </a:solidFill>
                <a:latin typeface="Arial"/>
                <a:cs typeface="Arial"/>
              </a:rPr>
              <a:t>is </a:t>
            </a:r>
            <a:r>
              <a:rPr sz="1600" spc="-25" dirty="0">
                <a:solidFill>
                  <a:srgbClr val="FFFFFF"/>
                </a:solidFill>
                <a:latin typeface="Arial"/>
                <a:cs typeface="Arial"/>
              </a:rPr>
              <a:t>specific </a:t>
            </a:r>
            <a:r>
              <a:rPr sz="1600" spc="45" dirty="0">
                <a:solidFill>
                  <a:srgbClr val="FFFFFF"/>
                </a:solidFill>
                <a:latin typeface="Arial"/>
                <a:cs typeface="Arial"/>
              </a:rPr>
              <a:t>to </a:t>
            </a:r>
            <a:r>
              <a:rPr sz="1600" dirty="0">
                <a:solidFill>
                  <a:srgbClr val="FFFFFF"/>
                </a:solidFill>
                <a:latin typeface="Arial"/>
                <a:cs typeface="Arial"/>
              </a:rPr>
              <a:t>the </a:t>
            </a:r>
            <a:r>
              <a:rPr sz="1600" spc="-95" dirty="0">
                <a:solidFill>
                  <a:srgbClr val="FFFFFF"/>
                </a:solidFill>
                <a:latin typeface="Arial"/>
                <a:cs typeface="Arial"/>
              </a:rPr>
              <a:t>scope </a:t>
            </a:r>
            <a:r>
              <a:rPr sz="1600" spc="45" dirty="0">
                <a:solidFill>
                  <a:srgbClr val="FFFFFF"/>
                </a:solidFill>
                <a:latin typeface="Arial"/>
                <a:cs typeface="Arial"/>
              </a:rPr>
              <a:t>of </a:t>
            </a:r>
            <a:r>
              <a:rPr sz="1600" dirty="0">
                <a:solidFill>
                  <a:srgbClr val="FFFFFF"/>
                </a:solidFill>
                <a:latin typeface="Arial"/>
                <a:cs typeface="Arial"/>
              </a:rPr>
              <a:t>the </a:t>
            </a:r>
            <a:r>
              <a:rPr sz="1600" spc="170" dirty="0">
                <a:solidFill>
                  <a:srgbClr val="FFFFFF"/>
                </a:solidFill>
                <a:latin typeface="Arial"/>
                <a:cs typeface="Arial"/>
              </a:rPr>
              <a:t>CATCH </a:t>
            </a:r>
            <a:r>
              <a:rPr sz="1600" spc="10" dirty="0">
                <a:solidFill>
                  <a:srgbClr val="FFFFFF"/>
                </a:solidFill>
                <a:latin typeface="Arial"/>
                <a:cs typeface="Arial"/>
              </a:rPr>
              <a:t>block </a:t>
            </a:r>
            <a:r>
              <a:rPr sz="1600" spc="-30" dirty="0">
                <a:solidFill>
                  <a:srgbClr val="FFFFFF"/>
                </a:solidFill>
                <a:latin typeface="Arial"/>
                <a:cs typeface="Arial"/>
              </a:rPr>
              <a:t>where </a:t>
            </a:r>
            <a:r>
              <a:rPr sz="1600" spc="110" dirty="0">
                <a:solidFill>
                  <a:srgbClr val="FFFFFF"/>
                </a:solidFill>
                <a:latin typeface="Arial"/>
                <a:cs typeface="Arial"/>
              </a:rPr>
              <a:t>it </a:t>
            </a:r>
            <a:r>
              <a:rPr sz="1600" spc="-45" dirty="0">
                <a:solidFill>
                  <a:srgbClr val="FFFFFF"/>
                </a:solidFill>
                <a:latin typeface="Arial"/>
                <a:cs typeface="Arial"/>
              </a:rPr>
              <a:t>is  referenced. </a:t>
            </a:r>
            <a:r>
              <a:rPr sz="1600" spc="-65" dirty="0">
                <a:solidFill>
                  <a:srgbClr val="FFFFFF"/>
                </a:solidFill>
                <a:latin typeface="Arial"/>
                <a:cs typeface="Arial"/>
              </a:rPr>
              <a:t>Users can </a:t>
            </a:r>
            <a:r>
              <a:rPr sz="1600" spc="-110" dirty="0">
                <a:solidFill>
                  <a:srgbClr val="FFFFFF"/>
                </a:solidFill>
                <a:latin typeface="Arial"/>
                <a:cs typeface="Arial"/>
              </a:rPr>
              <a:t>use </a:t>
            </a:r>
            <a:r>
              <a:rPr sz="1600" dirty="0">
                <a:solidFill>
                  <a:srgbClr val="FFFFFF"/>
                </a:solidFill>
                <a:latin typeface="Arial"/>
                <a:cs typeface="Arial"/>
              </a:rPr>
              <a:t>the </a:t>
            </a:r>
            <a:r>
              <a:rPr sz="1600" spc="-30" dirty="0">
                <a:solidFill>
                  <a:srgbClr val="FFFFFF"/>
                </a:solidFill>
                <a:latin typeface="Arial"/>
                <a:cs typeface="Arial"/>
              </a:rPr>
              <a:t>ERROR_SEVERITY </a:t>
            </a:r>
            <a:r>
              <a:rPr sz="1600" spc="50" dirty="0">
                <a:solidFill>
                  <a:srgbClr val="FFFFFF"/>
                </a:solidFill>
                <a:latin typeface="Arial"/>
                <a:cs typeface="Arial"/>
              </a:rPr>
              <a:t>function </a:t>
            </a:r>
            <a:r>
              <a:rPr sz="1600" spc="80" dirty="0">
                <a:solidFill>
                  <a:srgbClr val="FFFFFF"/>
                </a:solidFill>
                <a:latin typeface="Arial"/>
                <a:cs typeface="Arial"/>
              </a:rPr>
              <a:t>in </a:t>
            </a:r>
            <a:r>
              <a:rPr sz="1600" spc="-175" dirty="0">
                <a:solidFill>
                  <a:srgbClr val="FFFFFF"/>
                </a:solidFill>
                <a:latin typeface="Arial"/>
                <a:cs typeface="Arial"/>
              </a:rPr>
              <a:t>a </a:t>
            </a:r>
            <a:r>
              <a:rPr sz="1600" spc="170" dirty="0">
                <a:solidFill>
                  <a:srgbClr val="FFFFFF"/>
                </a:solidFill>
                <a:latin typeface="Arial"/>
                <a:cs typeface="Arial"/>
              </a:rPr>
              <a:t>CATCH  </a:t>
            </a:r>
            <a:r>
              <a:rPr sz="1600" dirty="0">
                <a:solidFill>
                  <a:srgbClr val="FFFFFF"/>
                </a:solidFill>
                <a:latin typeface="Arial"/>
                <a:cs typeface="Arial"/>
              </a:rPr>
              <a:t>block.</a:t>
            </a:r>
            <a:endParaRPr sz="1600">
              <a:latin typeface="Arial"/>
              <a:cs typeface="Arial"/>
            </a:endParaRPr>
          </a:p>
        </p:txBody>
      </p:sp>
      <p:sp>
        <p:nvSpPr>
          <p:cNvPr id="9" name="object 9"/>
          <p:cNvSpPr txBox="1"/>
          <p:nvPr/>
        </p:nvSpPr>
        <p:spPr>
          <a:xfrm>
            <a:off x="7882890" y="6569709"/>
            <a:ext cx="909955"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165" dirty="0">
                <a:latin typeface="Arial"/>
                <a:cs typeface="Arial"/>
              </a:rPr>
              <a:t>18</a:t>
            </a:fld>
            <a:endParaRPr sz="1200">
              <a:latin typeface="Arial"/>
              <a:cs typeface="Arial"/>
            </a:endParaRPr>
          </a:p>
        </p:txBody>
      </p:sp>
      <p:sp>
        <p:nvSpPr>
          <p:cNvPr id="10" name="object 1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1" name="TextBox 10">
            <a:extLst>
              <a:ext uri="{FF2B5EF4-FFF2-40B4-BE49-F238E27FC236}">
                <a16:creationId xmlns:a16="http://schemas.microsoft.com/office/drawing/2014/main" id="{AA9D015B-4385-4F90-A687-12F730D7A661}"/>
              </a:ext>
            </a:extLst>
          </p:cNvPr>
          <p:cNvSpPr txBox="1"/>
          <p:nvPr/>
        </p:nvSpPr>
        <p:spPr>
          <a:xfrm>
            <a:off x="1967673" y="5097541"/>
            <a:ext cx="4919092" cy="160043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BEGIN TRY</a:t>
            </a:r>
          </a:p>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  SELECT 217/0;</a:t>
            </a:r>
          </a:p>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END TRY</a:t>
            </a:r>
          </a:p>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BEGIN CATCH</a:t>
            </a:r>
          </a:p>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  SELECT </a:t>
            </a:r>
            <a:r>
              <a:rPr lang="en-US" sz="1400" b="1" dirty="0">
                <a:solidFill>
                  <a:srgbClr val="FF0000"/>
                </a:solidFill>
                <a:latin typeface="Courier New" panose="02070309020205020404" pitchFamily="49" charset="0"/>
                <a:cs typeface="Courier New" panose="02070309020205020404" pitchFamily="49" charset="0"/>
              </a:rPr>
              <a:t>ERROR_SEVERITY(</a:t>
            </a:r>
            <a:r>
              <a:rPr lang="en-US" sz="1400" b="1" dirty="0">
                <a:latin typeface="Courier New" panose="02070309020205020404" pitchFamily="49" charset="0"/>
                <a:cs typeface="Courier New" panose="02070309020205020404" pitchFamily="49" charset="0"/>
              </a:rPr>
              <a:t>) AS ErrorSeverity;</a:t>
            </a:r>
          </a:p>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END CATCH;</a:t>
            </a:r>
          </a:p>
          <a:p>
            <a:pPr marL="341313" indent="-341313">
              <a:lnSpc>
                <a:spcPct val="100000"/>
              </a:lnSpc>
              <a:spcBef>
                <a:spcPts val="0"/>
              </a:spcBef>
            </a:pPr>
            <a:r>
              <a:rPr lang="en-US" sz="1400" b="1" dirty="0">
                <a:latin typeface="Courier New" panose="02070309020205020404" pitchFamily="49" charset="0"/>
                <a:cs typeface="Courier New" panose="02070309020205020404" pitchFamily="49" charset="0"/>
              </a:rPr>
              <a:t>GO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651"/>
            <a:ext cx="5260340" cy="635635"/>
          </a:xfrm>
          <a:prstGeom prst="rect">
            <a:avLst/>
          </a:prstGeom>
        </p:spPr>
        <p:txBody>
          <a:bodyPr vert="horz" wrap="square" lIns="0" tIns="12700" rIns="0" bIns="0" rtlCol="0">
            <a:spAutoFit/>
          </a:bodyPr>
          <a:lstStyle/>
          <a:p>
            <a:pPr marL="12700">
              <a:lnSpc>
                <a:spcPct val="100000"/>
              </a:lnSpc>
              <a:spcBef>
                <a:spcPts val="100"/>
              </a:spcBef>
            </a:pPr>
            <a:r>
              <a:rPr sz="4000" spc="-70" dirty="0"/>
              <a:t>ERROR_PROCEDURE</a:t>
            </a:r>
            <a:endParaRPr sz="4000"/>
          </a:p>
        </p:txBody>
      </p:sp>
      <p:sp>
        <p:nvSpPr>
          <p:cNvPr id="3" name="object 3"/>
          <p:cNvSpPr/>
          <p:nvPr/>
        </p:nvSpPr>
        <p:spPr>
          <a:xfrm>
            <a:off x="327660" y="940307"/>
            <a:ext cx="8488680" cy="1198245"/>
          </a:xfrm>
          <a:custGeom>
            <a:avLst/>
            <a:gdLst/>
            <a:ahLst/>
            <a:cxnLst/>
            <a:rect l="l" t="t" r="r" b="b"/>
            <a:pathLst>
              <a:path w="8488680" h="1198245">
                <a:moveTo>
                  <a:pt x="8488680" y="199644"/>
                </a:moveTo>
                <a:lnTo>
                  <a:pt x="8483397" y="153885"/>
                </a:lnTo>
                <a:lnTo>
                  <a:pt x="8468373" y="111861"/>
                </a:lnTo>
                <a:lnTo>
                  <a:pt x="8444801" y="74790"/>
                </a:lnTo>
                <a:lnTo>
                  <a:pt x="8413890" y="43878"/>
                </a:lnTo>
                <a:lnTo>
                  <a:pt x="8376818" y="20307"/>
                </a:lnTo>
                <a:lnTo>
                  <a:pt x="8334794" y="5283"/>
                </a:lnTo>
                <a:lnTo>
                  <a:pt x="8289036" y="0"/>
                </a:lnTo>
                <a:lnTo>
                  <a:pt x="199644" y="0"/>
                </a:lnTo>
                <a:lnTo>
                  <a:pt x="153860" y="5283"/>
                </a:lnTo>
                <a:lnTo>
                  <a:pt x="111836" y="20307"/>
                </a:lnTo>
                <a:lnTo>
                  <a:pt x="74764" y="43878"/>
                </a:lnTo>
                <a:lnTo>
                  <a:pt x="43853" y="74790"/>
                </a:lnTo>
                <a:lnTo>
                  <a:pt x="20281" y="111861"/>
                </a:lnTo>
                <a:lnTo>
                  <a:pt x="5270" y="153885"/>
                </a:lnTo>
                <a:lnTo>
                  <a:pt x="0" y="199644"/>
                </a:lnTo>
                <a:lnTo>
                  <a:pt x="0" y="998220"/>
                </a:lnTo>
                <a:lnTo>
                  <a:pt x="5270" y="1043990"/>
                </a:lnTo>
                <a:lnTo>
                  <a:pt x="20281" y="1086015"/>
                </a:lnTo>
                <a:lnTo>
                  <a:pt x="43853" y="1123086"/>
                </a:lnTo>
                <a:lnTo>
                  <a:pt x="74764" y="1153998"/>
                </a:lnTo>
                <a:lnTo>
                  <a:pt x="111836" y="1177569"/>
                </a:lnTo>
                <a:lnTo>
                  <a:pt x="153860" y="1192593"/>
                </a:lnTo>
                <a:lnTo>
                  <a:pt x="199644" y="1197864"/>
                </a:lnTo>
                <a:lnTo>
                  <a:pt x="8289036" y="1197864"/>
                </a:lnTo>
                <a:lnTo>
                  <a:pt x="8334794" y="1192593"/>
                </a:lnTo>
                <a:lnTo>
                  <a:pt x="8376818" y="1177569"/>
                </a:lnTo>
                <a:lnTo>
                  <a:pt x="8413890" y="1153998"/>
                </a:lnTo>
                <a:lnTo>
                  <a:pt x="8444801" y="1123086"/>
                </a:lnTo>
                <a:lnTo>
                  <a:pt x="8468373" y="1086015"/>
                </a:lnTo>
                <a:lnTo>
                  <a:pt x="8483397" y="1043990"/>
                </a:lnTo>
                <a:lnTo>
                  <a:pt x="8488680" y="998220"/>
                </a:lnTo>
                <a:lnTo>
                  <a:pt x="8488680" y="199644"/>
                </a:lnTo>
                <a:close/>
              </a:path>
            </a:pathLst>
          </a:custGeom>
          <a:solidFill>
            <a:srgbClr val="000000"/>
          </a:solidFill>
        </p:spPr>
        <p:txBody>
          <a:bodyPr wrap="square" lIns="0" tIns="0" rIns="0" bIns="0" rtlCol="0"/>
          <a:lstStyle/>
          <a:p>
            <a:endParaRPr/>
          </a:p>
        </p:txBody>
      </p:sp>
      <p:sp>
        <p:nvSpPr>
          <p:cNvPr id="4" name="object 4"/>
          <p:cNvSpPr txBox="1"/>
          <p:nvPr/>
        </p:nvSpPr>
        <p:spPr>
          <a:xfrm>
            <a:off x="657351" y="1090421"/>
            <a:ext cx="7828280" cy="878840"/>
          </a:xfrm>
          <a:prstGeom prst="rect">
            <a:avLst/>
          </a:prstGeom>
        </p:spPr>
        <p:txBody>
          <a:bodyPr vert="horz" wrap="square" lIns="0" tIns="46990" rIns="0" bIns="0" rtlCol="0">
            <a:spAutoFit/>
          </a:bodyPr>
          <a:lstStyle/>
          <a:p>
            <a:pPr marL="355600" marR="5080" indent="-343535" algn="just">
              <a:lnSpc>
                <a:spcPts val="2160"/>
              </a:lnSpc>
              <a:spcBef>
                <a:spcPts val="370"/>
              </a:spcBef>
              <a:buFont typeface="Wingdings"/>
              <a:buChar char=""/>
              <a:tabLst>
                <a:tab pos="356235" algn="l"/>
              </a:tabLst>
            </a:pPr>
            <a:r>
              <a:rPr sz="2000" spc="20" dirty="0">
                <a:solidFill>
                  <a:srgbClr val="FFFFFF"/>
                </a:solidFill>
                <a:latin typeface="Arial"/>
                <a:cs typeface="Arial"/>
              </a:rPr>
              <a:t>The </a:t>
            </a:r>
            <a:r>
              <a:rPr sz="2000" spc="-40" dirty="0">
                <a:solidFill>
                  <a:srgbClr val="FFFFFF"/>
                </a:solidFill>
                <a:latin typeface="Arial"/>
                <a:cs typeface="Arial"/>
              </a:rPr>
              <a:t>ERROR_PROCEDURE </a:t>
            </a:r>
            <a:r>
              <a:rPr sz="2000" spc="55" dirty="0">
                <a:solidFill>
                  <a:srgbClr val="FFFFFF"/>
                </a:solidFill>
                <a:latin typeface="Arial"/>
                <a:cs typeface="Arial"/>
              </a:rPr>
              <a:t>function </a:t>
            </a:r>
            <a:r>
              <a:rPr sz="2000" dirty="0">
                <a:solidFill>
                  <a:srgbClr val="FFFFFF"/>
                </a:solidFill>
                <a:latin typeface="Arial"/>
                <a:cs typeface="Arial"/>
              </a:rPr>
              <a:t>returns the </a:t>
            </a:r>
            <a:r>
              <a:rPr sz="2000" spc="-5" dirty="0">
                <a:solidFill>
                  <a:srgbClr val="FFFFFF"/>
                </a:solidFill>
                <a:latin typeface="Arial"/>
                <a:cs typeface="Arial"/>
              </a:rPr>
              <a:t>trigger </a:t>
            </a:r>
            <a:r>
              <a:rPr sz="2000" spc="30" dirty="0">
                <a:solidFill>
                  <a:srgbClr val="FFFFFF"/>
                </a:solidFill>
                <a:latin typeface="Arial"/>
                <a:cs typeface="Arial"/>
              </a:rPr>
              <a:t>or </a:t>
            </a:r>
            <a:r>
              <a:rPr sz="2000" spc="-195" dirty="0">
                <a:solidFill>
                  <a:srgbClr val="FFFFFF"/>
                </a:solidFill>
                <a:latin typeface="Arial"/>
                <a:cs typeface="Arial"/>
              </a:rPr>
              <a:t>a </a:t>
            </a:r>
            <a:r>
              <a:rPr sz="2000" spc="-30" dirty="0">
                <a:solidFill>
                  <a:srgbClr val="FFFFFF"/>
                </a:solidFill>
                <a:latin typeface="Arial"/>
                <a:cs typeface="Arial"/>
              </a:rPr>
              <a:t>stored  procedure </a:t>
            </a:r>
            <a:r>
              <a:rPr sz="2000" spc="-80" dirty="0">
                <a:solidFill>
                  <a:srgbClr val="FFFFFF"/>
                </a:solidFill>
                <a:latin typeface="Arial"/>
                <a:cs typeface="Arial"/>
              </a:rPr>
              <a:t>name </a:t>
            </a:r>
            <a:r>
              <a:rPr sz="2000" spc="-35" dirty="0">
                <a:solidFill>
                  <a:srgbClr val="FFFFFF"/>
                </a:solidFill>
                <a:latin typeface="Arial"/>
                <a:cs typeface="Arial"/>
              </a:rPr>
              <a:t>where </a:t>
            </a:r>
            <a:r>
              <a:rPr sz="2000" dirty="0">
                <a:solidFill>
                  <a:srgbClr val="FFFFFF"/>
                </a:solidFill>
                <a:latin typeface="Arial"/>
                <a:cs typeface="Arial"/>
              </a:rPr>
              <a:t>the </a:t>
            </a:r>
            <a:r>
              <a:rPr sz="2000" spc="5" dirty="0">
                <a:solidFill>
                  <a:srgbClr val="FFFFFF"/>
                </a:solidFill>
                <a:latin typeface="Arial"/>
                <a:cs typeface="Arial"/>
              </a:rPr>
              <a:t>error </a:t>
            </a:r>
            <a:r>
              <a:rPr sz="2000" spc="-120" dirty="0">
                <a:solidFill>
                  <a:srgbClr val="FFFFFF"/>
                </a:solidFill>
                <a:latin typeface="Arial"/>
                <a:cs typeface="Arial"/>
              </a:rPr>
              <a:t>has </a:t>
            </a:r>
            <a:r>
              <a:rPr sz="2000" spc="-25" dirty="0">
                <a:solidFill>
                  <a:srgbClr val="FFFFFF"/>
                </a:solidFill>
                <a:latin typeface="Arial"/>
                <a:cs typeface="Arial"/>
              </a:rPr>
              <a:t>occurred </a:t>
            </a:r>
            <a:r>
              <a:rPr sz="2000" spc="30" dirty="0">
                <a:solidFill>
                  <a:srgbClr val="FFFFFF"/>
                </a:solidFill>
                <a:latin typeface="Arial"/>
                <a:cs typeface="Arial"/>
              </a:rPr>
              <a:t>that </a:t>
            </a:r>
            <a:r>
              <a:rPr sz="2000" spc="-120" dirty="0">
                <a:solidFill>
                  <a:srgbClr val="FFFFFF"/>
                </a:solidFill>
                <a:latin typeface="Arial"/>
                <a:cs typeface="Arial"/>
              </a:rPr>
              <a:t>has </a:t>
            </a:r>
            <a:r>
              <a:rPr sz="2000" spc="-105" dirty="0">
                <a:solidFill>
                  <a:srgbClr val="FFFFFF"/>
                </a:solidFill>
                <a:latin typeface="Arial"/>
                <a:cs typeface="Arial"/>
              </a:rPr>
              <a:t>caused </a:t>
            </a:r>
            <a:r>
              <a:rPr sz="2000" spc="5" dirty="0">
                <a:solidFill>
                  <a:srgbClr val="FFFFFF"/>
                </a:solidFill>
                <a:latin typeface="Arial"/>
                <a:cs typeface="Arial"/>
              </a:rPr>
              <a:t>the  </a:t>
            </a:r>
            <a:r>
              <a:rPr sz="2000" spc="185" dirty="0">
                <a:solidFill>
                  <a:srgbClr val="FFFFFF"/>
                </a:solidFill>
                <a:latin typeface="Arial"/>
                <a:cs typeface="Arial"/>
              </a:rPr>
              <a:t>CATCH</a:t>
            </a:r>
            <a:r>
              <a:rPr sz="2000" spc="-130" dirty="0">
                <a:solidFill>
                  <a:srgbClr val="FFFFFF"/>
                </a:solidFill>
                <a:latin typeface="Arial"/>
                <a:cs typeface="Arial"/>
              </a:rPr>
              <a:t> </a:t>
            </a:r>
            <a:r>
              <a:rPr sz="2000" spc="10" dirty="0">
                <a:solidFill>
                  <a:srgbClr val="FFFFFF"/>
                </a:solidFill>
                <a:latin typeface="Arial"/>
                <a:cs typeface="Arial"/>
              </a:rPr>
              <a:t>block</a:t>
            </a:r>
            <a:r>
              <a:rPr sz="2000" spc="-114" dirty="0">
                <a:solidFill>
                  <a:srgbClr val="FFFFFF"/>
                </a:solidFill>
                <a:latin typeface="Arial"/>
                <a:cs typeface="Arial"/>
              </a:rPr>
              <a:t> </a:t>
            </a:r>
            <a:r>
              <a:rPr sz="2000" spc="50" dirty="0">
                <a:solidFill>
                  <a:srgbClr val="FFFFFF"/>
                </a:solidFill>
                <a:latin typeface="Arial"/>
                <a:cs typeface="Arial"/>
              </a:rPr>
              <a:t>of</a:t>
            </a:r>
            <a:r>
              <a:rPr sz="2000" spc="-130" dirty="0">
                <a:solidFill>
                  <a:srgbClr val="FFFFFF"/>
                </a:solidFill>
                <a:latin typeface="Arial"/>
                <a:cs typeface="Arial"/>
              </a:rPr>
              <a:t> </a:t>
            </a:r>
            <a:r>
              <a:rPr sz="2000" spc="-195" dirty="0">
                <a:solidFill>
                  <a:srgbClr val="FFFFFF"/>
                </a:solidFill>
                <a:latin typeface="Arial"/>
                <a:cs typeface="Arial"/>
              </a:rPr>
              <a:t>a</a:t>
            </a:r>
            <a:r>
              <a:rPr sz="2000" spc="-125" dirty="0">
                <a:solidFill>
                  <a:srgbClr val="FFFFFF"/>
                </a:solidFill>
                <a:latin typeface="Arial"/>
                <a:cs typeface="Arial"/>
              </a:rPr>
              <a:t> </a:t>
            </a:r>
            <a:r>
              <a:rPr sz="2000" spc="75" dirty="0">
                <a:solidFill>
                  <a:srgbClr val="FFFFFF"/>
                </a:solidFill>
                <a:latin typeface="Arial"/>
                <a:cs typeface="Arial"/>
              </a:rPr>
              <a:t>TRY</a:t>
            </a:r>
            <a:r>
              <a:rPr sz="2000" spc="75" dirty="0">
                <a:solidFill>
                  <a:srgbClr val="FFFFFF"/>
                </a:solidFill>
                <a:latin typeface="Times New Roman"/>
                <a:cs typeface="Times New Roman"/>
              </a:rPr>
              <a:t>…</a:t>
            </a:r>
            <a:r>
              <a:rPr sz="2000" spc="75" dirty="0">
                <a:solidFill>
                  <a:srgbClr val="FFFFFF"/>
                </a:solidFill>
                <a:latin typeface="Arial"/>
                <a:cs typeface="Arial"/>
              </a:rPr>
              <a:t>CATCH</a:t>
            </a:r>
            <a:r>
              <a:rPr sz="2000" spc="-120" dirty="0">
                <a:solidFill>
                  <a:srgbClr val="FFFFFF"/>
                </a:solidFill>
                <a:latin typeface="Arial"/>
                <a:cs typeface="Arial"/>
              </a:rPr>
              <a:t> </a:t>
            </a:r>
            <a:r>
              <a:rPr sz="2000" dirty="0">
                <a:solidFill>
                  <a:srgbClr val="FFFFFF"/>
                </a:solidFill>
                <a:latin typeface="Arial"/>
                <a:cs typeface="Arial"/>
              </a:rPr>
              <a:t>construct</a:t>
            </a:r>
            <a:r>
              <a:rPr sz="2000" spc="-120" dirty="0">
                <a:solidFill>
                  <a:srgbClr val="FFFFFF"/>
                </a:solidFill>
                <a:latin typeface="Arial"/>
                <a:cs typeface="Arial"/>
              </a:rPr>
              <a:t> </a:t>
            </a:r>
            <a:r>
              <a:rPr sz="2000" spc="50" dirty="0">
                <a:solidFill>
                  <a:srgbClr val="FFFFFF"/>
                </a:solidFill>
                <a:latin typeface="Arial"/>
                <a:cs typeface="Arial"/>
              </a:rPr>
              <a:t>to</a:t>
            </a:r>
            <a:r>
              <a:rPr sz="2000" spc="-114" dirty="0">
                <a:solidFill>
                  <a:srgbClr val="FFFFFF"/>
                </a:solidFill>
                <a:latin typeface="Arial"/>
                <a:cs typeface="Arial"/>
              </a:rPr>
              <a:t> </a:t>
            </a:r>
            <a:r>
              <a:rPr sz="2000" spc="-105" dirty="0">
                <a:solidFill>
                  <a:srgbClr val="FFFFFF"/>
                </a:solidFill>
                <a:latin typeface="Arial"/>
                <a:cs typeface="Arial"/>
              </a:rPr>
              <a:t>be</a:t>
            </a:r>
            <a:r>
              <a:rPr sz="2000" spc="-120" dirty="0">
                <a:solidFill>
                  <a:srgbClr val="FFFFFF"/>
                </a:solidFill>
                <a:latin typeface="Arial"/>
                <a:cs typeface="Arial"/>
              </a:rPr>
              <a:t> </a:t>
            </a:r>
            <a:r>
              <a:rPr sz="2000" spc="-50" dirty="0">
                <a:solidFill>
                  <a:srgbClr val="FFFFFF"/>
                </a:solidFill>
                <a:latin typeface="Arial"/>
                <a:cs typeface="Arial"/>
              </a:rPr>
              <a:t>executed.</a:t>
            </a:r>
            <a:endParaRPr sz="2000">
              <a:latin typeface="Arial"/>
              <a:cs typeface="Arial"/>
            </a:endParaRPr>
          </a:p>
        </p:txBody>
      </p:sp>
      <p:sp>
        <p:nvSpPr>
          <p:cNvPr id="5" name="object 5"/>
          <p:cNvSpPr txBox="1"/>
          <p:nvPr/>
        </p:nvSpPr>
        <p:spPr>
          <a:xfrm>
            <a:off x="672591" y="2397505"/>
            <a:ext cx="2574925" cy="574040"/>
          </a:xfrm>
          <a:prstGeom prst="rect">
            <a:avLst/>
          </a:prstGeom>
        </p:spPr>
        <p:txBody>
          <a:bodyPr vert="horz" wrap="square" lIns="0" tIns="12700" rIns="0" bIns="0" rtlCol="0">
            <a:spAutoFit/>
          </a:bodyPr>
          <a:lstStyle/>
          <a:p>
            <a:pPr marL="12700" marR="5080">
              <a:lnSpc>
                <a:spcPct val="100000"/>
              </a:lnSpc>
              <a:spcBef>
                <a:spcPts val="100"/>
              </a:spcBef>
            </a:pPr>
            <a:r>
              <a:rPr sz="1800" b="1" spc="-95" dirty="0">
                <a:latin typeface="Arial"/>
                <a:cs typeface="Arial"/>
              </a:rPr>
              <a:t>Syntax:  </a:t>
            </a:r>
            <a:r>
              <a:rPr sz="1800" spc="-35" dirty="0">
                <a:latin typeface="Arial"/>
                <a:cs typeface="Arial"/>
              </a:rPr>
              <a:t>ERROR_PROCEDURE(</a:t>
            </a:r>
            <a:r>
              <a:rPr sz="1800" spc="-170" dirty="0">
                <a:latin typeface="Arial"/>
                <a:cs typeface="Arial"/>
              </a:rPr>
              <a:t> </a:t>
            </a:r>
            <a:r>
              <a:rPr sz="1800" spc="-15" dirty="0">
                <a:latin typeface="Arial"/>
                <a:cs typeface="Arial"/>
              </a:rPr>
              <a:t>)</a:t>
            </a:r>
            <a:endParaRPr sz="1800">
              <a:latin typeface="Arial"/>
              <a:cs typeface="Arial"/>
            </a:endParaRPr>
          </a:p>
        </p:txBody>
      </p:sp>
      <p:sp>
        <p:nvSpPr>
          <p:cNvPr id="6" name="object 6"/>
          <p:cNvSpPr/>
          <p:nvPr/>
        </p:nvSpPr>
        <p:spPr>
          <a:xfrm>
            <a:off x="304800" y="3429000"/>
            <a:ext cx="8489950" cy="1198245"/>
          </a:xfrm>
          <a:custGeom>
            <a:avLst/>
            <a:gdLst/>
            <a:ahLst/>
            <a:cxnLst/>
            <a:rect l="l" t="t" r="r" b="b"/>
            <a:pathLst>
              <a:path w="8489950" h="1198245">
                <a:moveTo>
                  <a:pt x="8489442" y="199644"/>
                </a:moveTo>
                <a:lnTo>
                  <a:pt x="8484159" y="153885"/>
                </a:lnTo>
                <a:lnTo>
                  <a:pt x="8469135" y="111861"/>
                </a:lnTo>
                <a:lnTo>
                  <a:pt x="8445563" y="74790"/>
                </a:lnTo>
                <a:lnTo>
                  <a:pt x="8414652" y="43878"/>
                </a:lnTo>
                <a:lnTo>
                  <a:pt x="8377580" y="20307"/>
                </a:lnTo>
                <a:lnTo>
                  <a:pt x="8335556" y="5283"/>
                </a:lnTo>
                <a:lnTo>
                  <a:pt x="8289798" y="0"/>
                </a:lnTo>
                <a:lnTo>
                  <a:pt x="199644" y="0"/>
                </a:lnTo>
                <a:lnTo>
                  <a:pt x="153860" y="5283"/>
                </a:lnTo>
                <a:lnTo>
                  <a:pt x="111836" y="20307"/>
                </a:lnTo>
                <a:lnTo>
                  <a:pt x="74764" y="43878"/>
                </a:lnTo>
                <a:lnTo>
                  <a:pt x="43853" y="74790"/>
                </a:lnTo>
                <a:lnTo>
                  <a:pt x="20281" y="111861"/>
                </a:lnTo>
                <a:lnTo>
                  <a:pt x="5270" y="153885"/>
                </a:lnTo>
                <a:lnTo>
                  <a:pt x="0" y="199644"/>
                </a:lnTo>
                <a:lnTo>
                  <a:pt x="0" y="998220"/>
                </a:lnTo>
                <a:lnTo>
                  <a:pt x="5270" y="1043990"/>
                </a:lnTo>
                <a:lnTo>
                  <a:pt x="20281" y="1086015"/>
                </a:lnTo>
                <a:lnTo>
                  <a:pt x="43853" y="1123086"/>
                </a:lnTo>
                <a:lnTo>
                  <a:pt x="74764" y="1153998"/>
                </a:lnTo>
                <a:lnTo>
                  <a:pt x="111836" y="1177569"/>
                </a:lnTo>
                <a:lnTo>
                  <a:pt x="153860" y="1192593"/>
                </a:lnTo>
                <a:lnTo>
                  <a:pt x="199644" y="1197864"/>
                </a:lnTo>
                <a:lnTo>
                  <a:pt x="8289798" y="1197864"/>
                </a:lnTo>
                <a:lnTo>
                  <a:pt x="8335556" y="1192593"/>
                </a:lnTo>
                <a:lnTo>
                  <a:pt x="8377580" y="1177569"/>
                </a:lnTo>
                <a:lnTo>
                  <a:pt x="8414652" y="1153998"/>
                </a:lnTo>
                <a:lnTo>
                  <a:pt x="8445563" y="1123086"/>
                </a:lnTo>
                <a:lnTo>
                  <a:pt x="8469135" y="1086015"/>
                </a:lnTo>
                <a:lnTo>
                  <a:pt x="8484159" y="1043990"/>
                </a:lnTo>
                <a:lnTo>
                  <a:pt x="8489442" y="998220"/>
                </a:lnTo>
                <a:lnTo>
                  <a:pt x="8489442" y="199644"/>
                </a:lnTo>
                <a:close/>
              </a:path>
            </a:pathLst>
          </a:custGeom>
          <a:solidFill>
            <a:srgbClr val="1F487C"/>
          </a:solidFill>
        </p:spPr>
        <p:txBody>
          <a:bodyPr wrap="square" lIns="0" tIns="0" rIns="0" bIns="0" rtlCol="0"/>
          <a:lstStyle/>
          <a:p>
            <a:endParaRPr/>
          </a:p>
        </p:txBody>
      </p:sp>
      <p:sp>
        <p:nvSpPr>
          <p:cNvPr id="7" name="object 7"/>
          <p:cNvSpPr txBox="1"/>
          <p:nvPr/>
        </p:nvSpPr>
        <p:spPr>
          <a:xfrm>
            <a:off x="635000" y="3627120"/>
            <a:ext cx="7830820" cy="793750"/>
          </a:xfrm>
          <a:prstGeom prst="rect">
            <a:avLst/>
          </a:prstGeom>
        </p:spPr>
        <p:txBody>
          <a:bodyPr vert="horz" wrap="square" lIns="0" tIns="43815" rIns="0" bIns="0" rtlCol="0">
            <a:spAutoFit/>
          </a:bodyPr>
          <a:lstStyle/>
          <a:p>
            <a:pPr marL="355600" marR="5080" indent="-342900" algn="just">
              <a:lnSpc>
                <a:spcPts val="1939"/>
              </a:lnSpc>
              <a:spcBef>
                <a:spcPts val="345"/>
              </a:spcBef>
              <a:buFont typeface="Wingdings"/>
              <a:buChar char=""/>
              <a:tabLst>
                <a:tab pos="355600" algn="l"/>
              </a:tabLst>
            </a:pPr>
            <a:r>
              <a:rPr sz="1800" spc="100" dirty="0">
                <a:solidFill>
                  <a:srgbClr val="FFFFFF"/>
                </a:solidFill>
                <a:latin typeface="Arial"/>
                <a:cs typeface="Arial"/>
              </a:rPr>
              <a:t>It </a:t>
            </a:r>
            <a:r>
              <a:rPr sz="1800" dirty="0">
                <a:solidFill>
                  <a:srgbClr val="FFFFFF"/>
                </a:solidFill>
                <a:latin typeface="Arial"/>
                <a:cs typeface="Arial"/>
              </a:rPr>
              <a:t>returns the </a:t>
            </a:r>
            <a:r>
              <a:rPr sz="1800" spc="-20" dirty="0">
                <a:solidFill>
                  <a:srgbClr val="FFFFFF"/>
                </a:solidFill>
                <a:latin typeface="Arial"/>
                <a:cs typeface="Arial"/>
              </a:rPr>
              <a:t>nvarchar </a:t>
            </a:r>
            <a:r>
              <a:rPr sz="1800" spc="-60" dirty="0">
                <a:solidFill>
                  <a:srgbClr val="FFFFFF"/>
                </a:solidFill>
                <a:latin typeface="Arial"/>
                <a:cs typeface="Arial"/>
              </a:rPr>
              <a:t>data </a:t>
            </a:r>
            <a:r>
              <a:rPr sz="1800" spc="-20" dirty="0">
                <a:solidFill>
                  <a:srgbClr val="FFFFFF"/>
                </a:solidFill>
                <a:latin typeface="Arial"/>
                <a:cs typeface="Arial"/>
              </a:rPr>
              <a:t>type. </a:t>
            </a:r>
            <a:r>
              <a:rPr sz="1800" spc="60" dirty="0">
                <a:solidFill>
                  <a:srgbClr val="FFFFFF"/>
                </a:solidFill>
                <a:latin typeface="Arial"/>
                <a:cs typeface="Arial"/>
              </a:rPr>
              <a:t>When </a:t>
            </a:r>
            <a:r>
              <a:rPr sz="1800" dirty="0">
                <a:solidFill>
                  <a:srgbClr val="FFFFFF"/>
                </a:solidFill>
                <a:latin typeface="Arial"/>
                <a:cs typeface="Arial"/>
              </a:rPr>
              <a:t>the </a:t>
            </a:r>
            <a:r>
              <a:rPr sz="1800" spc="50" dirty="0">
                <a:solidFill>
                  <a:srgbClr val="FFFFFF"/>
                </a:solidFill>
                <a:latin typeface="Arial"/>
                <a:cs typeface="Arial"/>
              </a:rPr>
              <a:t>function </a:t>
            </a:r>
            <a:r>
              <a:rPr sz="1800" spc="-45" dirty="0">
                <a:solidFill>
                  <a:srgbClr val="FFFFFF"/>
                </a:solidFill>
                <a:latin typeface="Arial"/>
                <a:cs typeface="Arial"/>
              </a:rPr>
              <a:t>is </a:t>
            </a:r>
            <a:r>
              <a:rPr sz="1800" spc="-40" dirty="0">
                <a:solidFill>
                  <a:srgbClr val="FFFFFF"/>
                </a:solidFill>
                <a:latin typeface="Arial"/>
                <a:cs typeface="Arial"/>
              </a:rPr>
              <a:t>called </a:t>
            </a:r>
            <a:r>
              <a:rPr sz="1800" spc="80" dirty="0">
                <a:solidFill>
                  <a:srgbClr val="FFFFFF"/>
                </a:solidFill>
                <a:latin typeface="Arial"/>
                <a:cs typeface="Arial"/>
              </a:rPr>
              <a:t>in</a:t>
            </a:r>
            <a:r>
              <a:rPr sz="1800" spc="-235" dirty="0">
                <a:solidFill>
                  <a:srgbClr val="FFFFFF"/>
                </a:solidFill>
                <a:latin typeface="Arial"/>
                <a:cs typeface="Arial"/>
              </a:rPr>
              <a:t> </a:t>
            </a:r>
            <a:r>
              <a:rPr sz="1800" spc="-175" dirty="0">
                <a:solidFill>
                  <a:srgbClr val="FFFFFF"/>
                </a:solidFill>
                <a:latin typeface="Arial"/>
                <a:cs typeface="Arial"/>
              </a:rPr>
              <a:t>a </a:t>
            </a:r>
            <a:r>
              <a:rPr sz="1800" spc="170" dirty="0">
                <a:solidFill>
                  <a:srgbClr val="FFFFFF"/>
                </a:solidFill>
                <a:latin typeface="Arial"/>
                <a:cs typeface="Arial"/>
              </a:rPr>
              <a:t>CATCH  </a:t>
            </a:r>
            <a:r>
              <a:rPr sz="1800" dirty="0">
                <a:solidFill>
                  <a:srgbClr val="FFFFFF"/>
                </a:solidFill>
                <a:latin typeface="Arial"/>
                <a:cs typeface="Arial"/>
              </a:rPr>
              <a:t>block, </a:t>
            </a:r>
            <a:r>
              <a:rPr sz="1800" spc="110" dirty="0">
                <a:solidFill>
                  <a:srgbClr val="FFFFFF"/>
                </a:solidFill>
                <a:latin typeface="Arial"/>
                <a:cs typeface="Arial"/>
              </a:rPr>
              <a:t>it </a:t>
            </a:r>
            <a:r>
              <a:rPr sz="1800" spc="90" dirty="0">
                <a:solidFill>
                  <a:srgbClr val="FFFFFF"/>
                </a:solidFill>
                <a:latin typeface="Arial"/>
                <a:cs typeface="Arial"/>
              </a:rPr>
              <a:t>will </a:t>
            </a:r>
            <a:r>
              <a:rPr sz="1800" spc="30" dirty="0">
                <a:solidFill>
                  <a:srgbClr val="FFFFFF"/>
                </a:solidFill>
                <a:latin typeface="Arial"/>
                <a:cs typeface="Arial"/>
              </a:rPr>
              <a:t>return </a:t>
            </a:r>
            <a:r>
              <a:rPr sz="1800" dirty="0">
                <a:solidFill>
                  <a:srgbClr val="FFFFFF"/>
                </a:solidFill>
                <a:latin typeface="Arial"/>
                <a:cs typeface="Arial"/>
              </a:rPr>
              <a:t>the </a:t>
            </a:r>
            <a:r>
              <a:rPr sz="1800" spc="-75" dirty="0">
                <a:solidFill>
                  <a:srgbClr val="FFFFFF"/>
                </a:solidFill>
                <a:latin typeface="Arial"/>
                <a:cs typeface="Arial"/>
              </a:rPr>
              <a:t>name </a:t>
            </a:r>
            <a:r>
              <a:rPr sz="1800" spc="45" dirty="0">
                <a:solidFill>
                  <a:srgbClr val="FFFFFF"/>
                </a:solidFill>
                <a:latin typeface="Arial"/>
                <a:cs typeface="Arial"/>
              </a:rPr>
              <a:t>of </a:t>
            </a:r>
            <a:r>
              <a:rPr sz="1800" dirty="0">
                <a:solidFill>
                  <a:srgbClr val="FFFFFF"/>
                </a:solidFill>
                <a:latin typeface="Arial"/>
                <a:cs typeface="Arial"/>
              </a:rPr>
              <a:t>the </a:t>
            </a:r>
            <a:r>
              <a:rPr sz="1800" spc="-30" dirty="0">
                <a:solidFill>
                  <a:srgbClr val="FFFFFF"/>
                </a:solidFill>
                <a:latin typeface="Arial"/>
                <a:cs typeface="Arial"/>
              </a:rPr>
              <a:t>stored procedure where </a:t>
            </a:r>
            <a:r>
              <a:rPr sz="1800" dirty="0">
                <a:solidFill>
                  <a:srgbClr val="FFFFFF"/>
                </a:solidFill>
                <a:latin typeface="Arial"/>
                <a:cs typeface="Arial"/>
              </a:rPr>
              <a:t>the </a:t>
            </a:r>
            <a:r>
              <a:rPr sz="1800" spc="5" dirty="0">
                <a:solidFill>
                  <a:srgbClr val="FFFFFF"/>
                </a:solidFill>
                <a:latin typeface="Arial"/>
                <a:cs typeface="Arial"/>
              </a:rPr>
              <a:t>error  </a:t>
            </a:r>
            <a:r>
              <a:rPr sz="1800" spc="-25" dirty="0">
                <a:solidFill>
                  <a:srgbClr val="FFFFFF"/>
                </a:solidFill>
                <a:latin typeface="Arial"/>
                <a:cs typeface="Arial"/>
              </a:rPr>
              <a:t>occurred.</a:t>
            </a:r>
            <a:endParaRPr sz="1800">
              <a:latin typeface="Arial"/>
              <a:cs typeface="Arial"/>
            </a:endParaRPr>
          </a:p>
        </p:txBody>
      </p:sp>
      <p:sp>
        <p:nvSpPr>
          <p:cNvPr id="8" name="object 8"/>
          <p:cNvSpPr/>
          <p:nvPr/>
        </p:nvSpPr>
        <p:spPr>
          <a:xfrm>
            <a:off x="304800" y="4933188"/>
            <a:ext cx="8489950" cy="984885"/>
          </a:xfrm>
          <a:custGeom>
            <a:avLst/>
            <a:gdLst/>
            <a:ahLst/>
            <a:cxnLst/>
            <a:rect l="l" t="t" r="r" b="b"/>
            <a:pathLst>
              <a:path w="8489950" h="984885">
                <a:moveTo>
                  <a:pt x="8489442" y="164084"/>
                </a:moveTo>
                <a:lnTo>
                  <a:pt x="8483575" y="120446"/>
                </a:lnTo>
                <a:lnTo>
                  <a:pt x="8467052" y="81254"/>
                </a:lnTo>
                <a:lnTo>
                  <a:pt x="8441398" y="48044"/>
                </a:lnTo>
                <a:lnTo>
                  <a:pt x="8408187" y="22390"/>
                </a:lnTo>
                <a:lnTo>
                  <a:pt x="8368995" y="5867"/>
                </a:lnTo>
                <a:lnTo>
                  <a:pt x="8325358" y="0"/>
                </a:lnTo>
                <a:lnTo>
                  <a:pt x="164084" y="0"/>
                </a:lnTo>
                <a:lnTo>
                  <a:pt x="120459" y="5867"/>
                </a:lnTo>
                <a:lnTo>
                  <a:pt x="81267" y="22390"/>
                </a:lnTo>
                <a:lnTo>
                  <a:pt x="48056" y="48044"/>
                </a:lnTo>
                <a:lnTo>
                  <a:pt x="22402" y="81254"/>
                </a:lnTo>
                <a:lnTo>
                  <a:pt x="5854" y="120446"/>
                </a:lnTo>
                <a:lnTo>
                  <a:pt x="0" y="164084"/>
                </a:lnTo>
                <a:lnTo>
                  <a:pt x="0" y="820420"/>
                </a:lnTo>
                <a:lnTo>
                  <a:pt x="5854" y="864044"/>
                </a:lnTo>
                <a:lnTo>
                  <a:pt x="22402" y="903236"/>
                </a:lnTo>
                <a:lnTo>
                  <a:pt x="48056" y="936447"/>
                </a:lnTo>
                <a:lnTo>
                  <a:pt x="81267" y="962101"/>
                </a:lnTo>
                <a:lnTo>
                  <a:pt x="120459" y="978649"/>
                </a:lnTo>
                <a:lnTo>
                  <a:pt x="164084" y="984504"/>
                </a:lnTo>
                <a:lnTo>
                  <a:pt x="8325358" y="984504"/>
                </a:lnTo>
                <a:lnTo>
                  <a:pt x="8368995" y="978649"/>
                </a:lnTo>
                <a:lnTo>
                  <a:pt x="8408187" y="962101"/>
                </a:lnTo>
                <a:lnTo>
                  <a:pt x="8441398" y="936447"/>
                </a:lnTo>
                <a:lnTo>
                  <a:pt x="8467052" y="903236"/>
                </a:lnTo>
                <a:lnTo>
                  <a:pt x="8483575" y="864044"/>
                </a:lnTo>
                <a:lnTo>
                  <a:pt x="8489442" y="820420"/>
                </a:lnTo>
                <a:lnTo>
                  <a:pt x="8489442" y="164084"/>
                </a:lnTo>
                <a:close/>
              </a:path>
            </a:pathLst>
          </a:custGeom>
          <a:solidFill>
            <a:srgbClr val="C0504D"/>
          </a:solidFill>
        </p:spPr>
        <p:txBody>
          <a:bodyPr wrap="square" lIns="0" tIns="0" rIns="0" bIns="0" rtlCol="0"/>
          <a:lstStyle/>
          <a:p>
            <a:endParaRPr/>
          </a:p>
        </p:txBody>
      </p:sp>
      <p:sp>
        <p:nvSpPr>
          <p:cNvPr id="9" name="object 9"/>
          <p:cNvSpPr txBox="1"/>
          <p:nvPr/>
        </p:nvSpPr>
        <p:spPr>
          <a:xfrm>
            <a:off x="635000" y="5164073"/>
            <a:ext cx="7829550" cy="546735"/>
          </a:xfrm>
          <a:prstGeom prst="rect">
            <a:avLst/>
          </a:prstGeom>
        </p:spPr>
        <p:txBody>
          <a:bodyPr vert="horz" wrap="square" lIns="0" tIns="43815" rIns="0" bIns="0" rtlCol="0">
            <a:spAutoFit/>
          </a:bodyPr>
          <a:lstStyle/>
          <a:p>
            <a:pPr marL="355600" marR="5080" indent="-342900">
              <a:lnSpc>
                <a:spcPts val="1939"/>
              </a:lnSpc>
              <a:spcBef>
                <a:spcPts val="345"/>
              </a:spcBef>
              <a:buFont typeface="Wingdings"/>
              <a:buChar char=""/>
              <a:tabLst>
                <a:tab pos="354965" algn="l"/>
                <a:tab pos="355600" algn="l"/>
              </a:tabLst>
            </a:pPr>
            <a:r>
              <a:rPr sz="1800" spc="-35" dirty="0">
                <a:solidFill>
                  <a:srgbClr val="FFFFFF"/>
                </a:solidFill>
                <a:latin typeface="Arial"/>
                <a:cs typeface="Arial"/>
              </a:rPr>
              <a:t>ERROR_PROCEDURE </a:t>
            </a:r>
            <a:r>
              <a:rPr sz="1800" spc="-65" dirty="0">
                <a:solidFill>
                  <a:srgbClr val="FFFFFF"/>
                </a:solidFill>
                <a:latin typeface="Arial"/>
                <a:cs typeface="Arial"/>
              </a:rPr>
              <a:t>can </a:t>
            </a:r>
            <a:r>
              <a:rPr sz="1800" spc="-95" dirty="0">
                <a:solidFill>
                  <a:srgbClr val="FFFFFF"/>
                </a:solidFill>
                <a:latin typeface="Arial"/>
                <a:cs typeface="Arial"/>
              </a:rPr>
              <a:t>be </a:t>
            </a:r>
            <a:r>
              <a:rPr sz="1800" spc="-35" dirty="0">
                <a:solidFill>
                  <a:srgbClr val="FFFFFF"/>
                </a:solidFill>
                <a:latin typeface="Arial"/>
                <a:cs typeface="Arial"/>
              </a:rPr>
              <a:t>called </a:t>
            </a:r>
            <a:r>
              <a:rPr sz="1800" spc="35" dirty="0">
                <a:solidFill>
                  <a:srgbClr val="FFFFFF"/>
                </a:solidFill>
                <a:latin typeface="Arial"/>
                <a:cs typeface="Arial"/>
              </a:rPr>
              <a:t>from </a:t>
            </a:r>
            <a:r>
              <a:rPr sz="1800" spc="-35" dirty="0">
                <a:solidFill>
                  <a:srgbClr val="FFFFFF"/>
                </a:solidFill>
                <a:latin typeface="Arial"/>
                <a:cs typeface="Arial"/>
              </a:rPr>
              <a:t>anywhere </a:t>
            </a:r>
            <a:r>
              <a:rPr sz="1800" spc="80" dirty="0">
                <a:solidFill>
                  <a:srgbClr val="FFFFFF"/>
                </a:solidFill>
                <a:latin typeface="Arial"/>
                <a:cs typeface="Arial"/>
              </a:rPr>
              <a:t>in </a:t>
            </a:r>
            <a:r>
              <a:rPr sz="1800" dirty="0">
                <a:solidFill>
                  <a:srgbClr val="FFFFFF"/>
                </a:solidFill>
                <a:latin typeface="Arial"/>
                <a:cs typeface="Arial"/>
              </a:rPr>
              <a:t>the </a:t>
            </a:r>
            <a:r>
              <a:rPr sz="1800" spc="-95" dirty="0">
                <a:solidFill>
                  <a:srgbClr val="FFFFFF"/>
                </a:solidFill>
                <a:latin typeface="Arial"/>
                <a:cs typeface="Arial"/>
              </a:rPr>
              <a:t>scope </a:t>
            </a:r>
            <a:r>
              <a:rPr sz="1800" spc="45" dirty="0">
                <a:solidFill>
                  <a:srgbClr val="FFFFFF"/>
                </a:solidFill>
                <a:latin typeface="Arial"/>
                <a:cs typeface="Arial"/>
              </a:rPr>
              <a:t>of </a:t>
            </a:r>
            <a:r>
              <a:rPr sz="1800" spc="-175" dirty="0">
                <a:solidFill>
                  <a:srgbClr val="FFFFFF"/>
                </a:solidFill>
                <a:latin typeface="Arial"/>
                <a:cs typeface="Arial"/>
              </a:rPr>
              <a:t>a  </a:t>
            </a:r>
            <a:r>
              <a:rPr sz="1800" spc="170" dirty="0">
                <a:solidFill>
                  <a:srgbClr val="FFFFFF"/>
                </a:solidFill>
                <a:latin typeface="Arial"/>
                <a:cs typeface="Arial"/>
              </a:rPr>
              <a:t>CATCH</a:t>
            </a:r>
            <a:r>
              <a:rPr sz="1800" spc="-125" dirty="0">
                <a:solidFill>
                  <a:srgbClr val="FFFFFF"/>
                </a:solidFill>
                <a:latin typeface="Arial"/>
                <a:cs typeface="Arial"/>
              </a:rPr>
              <a:t> </a:t>
            </a:r>
            <a:r>
              <a:rPr sz="1800" dirty="0">
                <a:solidFill>
                  <a:srgbClr val="FFFFFF"/>
                </a:solidFill>
                <a:latin typeface="Arial"/>
                <a:cs typeface="Arial"/>
              </a:rPr>
              <a:t>block.</a:t>
            </a:r>
            <a:endParaRPr sz="1800">
              <a:latin typeface="Arial"/>
              <a:cs typeface="Arial"/>
            </a:endParaRPr>
          </a:p>
        </p:txBody>
      </p:sp>
      <p:sp>
        <p:nvSpPr>
          <p:cNvPr id="11" name="object 11"/>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19</a:t>
            </a:fld>
            <a:endParaRPr sz="1200">
              <a:latin typeface="Arial"/>
              <a:cs typeface="Arial"/>
            </a:endParaRPr>
          </a:p>
        </p:txBody>
      </p:sp>
      <p:sp>
        <p:nvSpPr>
          <p:cNvPr id="12" name="object 1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681723" y="3443598"/>
            <a:ext cx="6025262" cy="181588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BEGIN TRY</a:t>
            </a:r>
          </a:p>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	EXECUTE </a:t>
            </a:r>
            <a:r>
              <a:rPr lang="en-US" sz="1600" b="1" dirty="0">
                <a:solidFill>
                  <a:srgbClr val="00B050"/>
                </a:solidFill>
                <a:latin typeface="Courier New" panose="02070309020205020404" pitchFamily="49" charset="0"/>
                <a:cs typeface="Courier New" panose="02070309020205020404" pitchFamily="49" charset="0"/>
              </a:rPr>
              <a:t>usp_Example</a:t>
            </a:r>
            <a:r>
              <a:rPr lang="en-US" sz="1600" b="1" dirty="0">
                <a:solidFill>
                  <a:srgbClr val="0036A2"/>
                </a:solidFill>
                <a:latin typeface="Courier New" panose="02070309020205020404" pitchFamily="49" charset="0"/>
                <a:cs typeface="Courier New" panose="02070309020205020404" pitchFamily="49" charset="0"/>
              </a:rPr>
              <a:t>;</a:t>
            </a:r>
          </a:p>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END TRY</a:t>
            </a:r>
          </a:p>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BEGIN CATCH</a:t>
            </a:r>
          </a:p>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	SELECT </a:t>
            </a:r>
            <a:r>
              <a:rPr lang="en-US" sz="1600" b="1" dirty="0">
                <a:solidFill>
                  <a:srgbClr val="FF0000"/>
                </a:solidFill>
                <a:latin typeface="Courier New" panose="02070309020205020404" pitchFamily="49" charset="0"/>
                <a:cs typeface="Courier New" panose="02070309020205020404" pitchFamily="49" charset="0"/>
              </a:rPr>
              <a:t>ERROR_PROCEDURE() </a:t>
            </a:r>
            <a:r>
              <a:rPr lang="en-US" sz="1600" b="1" dirty="0">
                <a:solidFill>
                  <a:srgbClr val="0036A2"/>
                </a:solidFill>
                <a:latin typeface="Courier New" panose="02070309020205020404" pitchFamily="49" charset="0"/>
                <a:cs typeface="Courier New" panose="02070309020205020404" pitchFamily="49" charset="0"/>
              </a:rPr>
              <a:t>AS ErrorProcedure;</a:t>
            </a:r>
          </a:p>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END CATCH;</a:t>
            </a:r>
          </a:p>
          <a:p>
            <a:pPr>
              <a:lnSpc>
                <a:spcPct val="100000"/>
              </a:lnSpc>
              <a:spcBef>
                <a:spcPts val="0"/>
              </a:spcBef>
              <a:tabLst>
                <a:tab pos="342900" algn="l"/>
              </a:tabLst>
            </a:pPr>
            <a:r>
              <a:rPr lang="en-US" sz="1600" b="1" dirty="0">
                <a:solidFill>
                  <a:srgbClr val="0036A2"/>
                </a:solidFill>
                <a:latin typeface="Courier New" panose="02070309020205020404" pitchFamily="49" charset="0"/>
                <a:cs typeface="Courier New" panose="02070309020205020404" pitchFamily="49" charset="0"/>
              </a:rPr>
              <a:t>GO</a:t>
            </a:r>
          </a:p>
        </p:txBody>
      </p:sp>
      <p:sp>
        <p:nvSpPr>
          <p:cNvPr id="6" name="TextBox 5"/>
          <p:cNvSpPr txBox="1"/>
          <p:nvPr/>
        </p:nvSpPr>
        <p:spPr>
          <a:xfrm>
            <a:off x="236865" y="987201"/>
            <a:ext cx="8711873" cy="461665"/>
          </a:xfrm>
          <a:prstGeom prst="rect">
            <a:avLst/>
          </a:prstGeom>
          <a:noFill/>
        </p:spPr>
        <p:txBody>
          <a:bodyPr wrap="square" rtlCol="0">
            <a:spAutoFit/>
          </a:bodyPr>
          <a:lstStyle/>
          <a:p>
            <a:pPr marL="342900" indent="-342900">
              <a:lnSpc>
                <a:spcPct val="100000"/>
              </a:lnSpc>
              <a:spcBef>
                <a:spcPts val="1200"/>
              </a:spcBef>
              <a:buFont typeface="Arial" panose="020B0604020202020204" pitchFamily="34" charset="0"/>
              <a:buChar char="•"/>
            </a:pPr>
            <a:r>
              <a:rPr lang="en-US" sz="2400">
                <a:latin typeface="Calibri" pitchFamily="34" charset="0"/>
                <a:cs typeface="Calibri" pitchFamily="34" charset="0"/>
              </a:rPr>
              <a:t>Example </a:t>
            </a:r>
            <a:endParaRPr lang="en-US" sz="2400" dirty="0"/>
          </a:p>
        </p:txBody>
      </p:sp>
      <p:sp>
        <p:nvSpPr>
          <p:cNvPr id="13" name="TextBox 12"/>
          <p:cNvSpPr txBox="1"/>
          <p:nvPr/>
        </p:nvSpPr>
        <p:spPr>
          <a:xfrm>
            <a:off x="1676400" y="1600200"/>
            <a:ext cx="6030585" cy="15696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IF OBJECT_ID (</a:t>
            </a:r>
            <a:r>
              <a:rPr lang="en-US" sz="1600" b="1" dirty="0">
                <a:solidFill>
                  <a:srgbClr val="00B050"/>
                </a:solidFill>
                <a:latin typeface="Courier New" panose="02070309020205020404" pitchFamily="49" charset="0"/>
                <a:cs typeface="Courier New" panose="02070309020205020404" pitchFamily="49" charset="0"/>
              </a:rPr>
              <a:t>'</a:t>
            </a:r>
            <a:r>
              <a:rPr lang="en-US" sz="1600" b="1" dirty="0" err="1">
                <a:solidFill>
                  <a:srgbClr val="00B050"/>
                </a:solidFill>
                <a:latin typeface="Courier New" panose="02070309020205020404" pitchFamily="49" charset="0"/>
                <a:cs typeface="Courier New" panose="02070309020205020404" pitchFamily="49" charset="0"/>
              </a:rPr>
              <a:t>usp_Example</a:t>
            </a:r>
            <a:r>
              <a:rPr lang="en-US" sz="1600" b="1" dirty="0">
                <a:latin typeface="Courier New" panose="02070309020205020404" pitchFamily="49" charset="0"/>
                <a:cs typeface="Courier New" panose="02070309020205020404" pitchFamily="49" charset="0"/>
              </a:rPr>
              <a:t>', 'P') IS NOT NULL</a:t>
            </a:r>
          </a:p>
          <a:p>
            <a:pPr>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	DROP PROCEDURE </a:t>
            </a:r>
            <a:r>
              <a:rPr lang="en-US" sz="1600" b="1" dirty="0">
                <a:solidFill>
                  <a:srgbClr val="00B050"/>
                </a:solidFill>
                <a:latin typeface="Courier New" panose="02070309020205020404" pitchFamily="49" charset="0"/>
                <a:cs typeface="Courier New" panose="02070309020205020404" pitchFamily="49" charset="0"/>
              </a:rPr>
              <a:t>usp_Example</a:t>
            </a:r>
            <a:r>
              <a:rPr lang="en-US" sz="1600" b="1" dirty="0">
                <a:latin typeface="Courier New" panose="02070309020205020404" pitchFamily="49" charset="0"/>
                <a:cs typeface="Courier New" panose="02070309020205020404" pitchFamily="49" charset="0"/>
              </a:rPr>
              <a:t>;</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GO</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CREATE PROCEDURE </a:t>
            </a:r>
            <a:r>
              <a:rPr lang="en-US" sz="1600" b="1" dirty="0" err="1">
                <a:solidFill>
                  <a:srgbClr val="00B050"/>
                </a:solidFill>
                <a:latin typeface="Courier New" panose="02070309020205020404" pitchFamily="49" charset="0"/>
                <a:cs typeface="Courier New" panose="02070309020205020404" pitchFamily="49" charset="0"/>
              </a:rPr>
              <a:t>usp_Example</a:t>
            </a:r>
            <a:r>
              <a:rPr lang="en-US" sz="1600" b="1" dirty="0">
                <a:solidFill>
                  <a:srgbClr val="00B050"/>
                </a:solidFill>
                <a:latin typeface="Courier New" panose="02070309020205020404" pitchFamily="49" charset="0"/>
                <a:cs typeface="Courier New" panose="02070309020205020404" pitchFamily="49" charset="0"/>
              </a:rPr>
              <a:t> </a:t>
            </a:r>
          </a:p>
          <a:p>
            <a:pPr>
              <a:lnSpc>
                <a:spcPct val="100000"/>
              </a:lnSpc>
              <a:spcBef>
                <a:spcPts val="0"/>
              </a:spcBef>
              <a:tabLst>
                <a:tab pos="342900" algn="l"/>
              </a:tabLst>
            </a:pPr>
            <a:r>
              <a:rPr lang="en-US" sz="1600" b="1" dirty="0">
                <a:latin typeface="Courier New" panose="02070309020205020404" pitchFamily="49" charset="0"/>
                <a:cs typeface="Courier New" panose="02070309020205020404" pitchFamily="49" charset="0"/>
              </a:rPr>
              <a:t>	AS SELECT 217/0;</a:t>
            </a:r>
          </a:p>
          <a:p>
            <a:pPr marL="341313" indent="-341313">
              <a:lnSpc>
                <a:spcPct val="100000"/>
              </a:lnSpc>
              <a:spcBef>
                <a:spcPts val="0"/>
              </a:spcBef>
            </a:pPr>
            <a:r>
              <a:rPr lang="en-US" sz="1600" b="1" dirty="0">
                <a:latin typeface="Courier New" panose="02070309020205020404" pitchFamily="49" charset="0"/>
                <a:cs typeface="Courier New" panose="02070309020205020404" pitchFamily="49" charset="0"/>
              </a:rPr>
              <a:t>GO</a:t>
            </a:r>
          </a:p>
        </p:txBody>
      </p:sp>
      <p:sp>
        <p:nvSpPr>
          <p:cNvPr id="9" name="object 11">
            <a:extLst>
              <a:ext uri="{FF2B5EF4-FFF2-40B4-BE49-F238E27FC236}">
                <a16:creationId xmlns:a16="http://schemas.microsoft.com/office/drawing/2014/main" id="{846623A9-53FC-400C-9DD0-C1814E2610E4}"/>
              </a:ext>
            </a:extLst>
          </p:cNvPr>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20</a:t>
            </a:fld>
            <a:endParaRPr sz="1200">
              <a:latin typeface="Arial"/>
              <a:cs typeface="Arial"/>
            </a:endParaRPr>
          </a:p>
        </p:txBody>
      </p:sp>
      <p:sp>
        <p:nvSpPr>
          <p:cNvPr id="10" name="object 2">
            <a:extLst>
              <a:ext uri="{FF2B5EF4-FFF2-40B4-BE49-F238E27FC236}">
                <a16:creationId xmlns:a16="http://schemas.microsoft.com/office/drawing/2014/main" id="{756DC06F-0080-4B6C-B122-3653ECB588E3}"/>
              </a:ext>
            </a:extLst>
          </p:cNvPr>
          <p:cNvSpPr txBox="1">
            <a:spLocks/>
          </p:cNvSpPr>
          <p:nvPr/>
        </p:nvSpPr>
        <p:spPr>
          <a:xfrm>
            <a:off x="383540" y="9651"/>
            <a:ext cx="5260340" cy="635635"/>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4000" kern="0" spc="-70">
                <a:solidFill>
                  <a:schemeClr val="bg1"/>
                </a:solidFill>
                <a:latin typeface="Arial" panose="020B0604020202020204" pitchFamily="34" charset="0"/>
                <a:cs typeface="Arial" panose="020B0604020202020204" pitchFamily="34" charset="0"/>
              </a:rPr>
              <a:t>ERROR_PROCEDURE</a:t>
            </a:r>
            <a:endParaRPr lang="en-US" sz="4000" kern="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4248150" cy="635635"/>
          </a:xfrm>
          <a:prstGeom prst="rect">
            <a:avLst/>
          </a:prstGeom>
        </p:spPr>
        <p:txBody>
          <a:bodyPr vert="horz" wrap="square" lIns="0" tIns="12700" rIns="0" bIns="0" rtlCol="0">
            <a:spAutoFit/>
          </a:bodyPr>
          <a:lstStyle/>
          <a:p>
            <a:pPr marL="12700">
              <a:lnSpc>
                <a:spcPct val="100000"/>
              </a:lnSpc>
              <a:spcBef>
                <a:spcPts val="100"/>
              </a:spcBef>
            </a:pPr>
            <a:r>
              <a:rPr sz="4000" spc="-65" dirty="0"/>
              <a:t>ERROR_NUMBER</a:t>
            </a:r>
            <a:endParaRPr sz="4000"/>
          </a:p>
        </p:txBody>
      </p:sp>
      <p:sp>
        <p:nvSpPr>
          <p:cNvPr id="3" name="object 3"/>
          <p:cNvSpPr txBox="1"/>
          <p:nvPr/>
        </p:nvSpPr>
        <p:spPr>
          <a:xfrm>
            <a:off x="561594" y="838200"/>
            <a:ext cx="8163559" cy="1939289"/>
          </a:xfrm>
          <a:prstGeom prst="rect">
            <a:avLst/>
          </a:prstGeom>
        </p:spPr>
        <p:txBody>
          <a:bodyPr vert="horz" wrap="square" lIns="0" tIns="46990" rIns="0" bIns="0" rtlCol="0">
            <a:spAutoFit/>
          </a:bodyPr>
          <a:lstStyle/>
          <a:p>
            <a:pPr marL="355600" marR="5080" indent="-342900" algn="just">
              <a:lnSpc>
                <a:spcPts val="2160"/>
              </a:lnSpc>
              <a:spcBef>
                <a:spcPts val="370"/>
              </a:spcBef>
              <a:buFont typeface="Wingdings"/>
              <a:buChar char=""/>
              <a:tabLst>
                <a:tab pos="355600" algn="l"/>
              </a:tabLst>
            </a:pPr>
            <a:r>
              <a:rPr sz="2000" spc="15" dirty="0">
                <a:latin typeface="Arial"/>
                <a:cs typeface="Arial"/>
              </a:rPr>
              <a:t>The </a:t>
            </a:r>
            <a:r>
              <a:rPr sz="2000" spc="-35" dirty="0">
                <a:latin typeface="Arial"/>
                <a:cs typeface="Arial"/>
              </a:rPr>
              <a:t>ERROR_NUMBER </a:t>
            </a:r>
            <a:r>
              <a:rPr sz="2000" spc="-85" dirty="0">
                <a:latin typeface="Arial"/>
                <a:cs typeface="Arial"/>
              </a:rPr>
              <a:t>system </a:t>
            </a:r>
            <a:r>
              <a:rPr sz="2000" spc="55" dirty="0">
                <a:latin typeface="Arial"/>
                <a:cs typeface="Arial"/>
              </a:rPr>
              <a:t>function </a:t>
            </a:r>
            <a:r>
              <a:rPr sz="2000" dirty="0">
                <a:latin typeface="Arial"/>
                <a:cs typeface="Arial"/>
              </a:rPr>
              <a:t>when </a:t>
            </a:r>
            <a:r>
              <a:rPr sz="2000" spc="-40" dirty="0">
                <a:latin typeface="Arial"/>
                <a:cs typeface="Arial"/>
              </a:rPr>
              <a:t>called </a:t>
            </a:r>
            <a:r>
              <a:rPr sz="2000" spc="95" dirty="0">
                <a:latin typeface="Arial"/>
                <a:cs typeface="Arial"/>
              </a:rPr>
              <a:t>in </a:t>
            </a:r>
            <a:r>
              <a:rPr sz="2000" spc="-195" dirty="0">
                <a:latin typeface="Arial"/>
                <a:cs typeface="Arial"/>
              </a:rPr>
              <a:t>a</a:t>
            </a:r>
            <a:r>
              <a:rPr sz="2000" spc="165" dirty="0">
                <a:latin typeface="Arial"/>
                <a:cs typeface="Arial"/>
              </a:rPr>
              <a:t> </a:t>
            </a:r>
            <a:r>
              <a:rPr sz="2000" spc="190" dirty="0">
                <a:latin typeface="Arial"/>
                <a:cs typeface="Arial"/>
              </a:rPr>
              <a:t>CATCH  </a:t>
            </a:r>
            <a:r>
              <a:rPr sz="2000" spc="15" dirty="0">
                <a:latin typeface="Arial"/>
                <a:cs typeface="Arial"/>
              </a:rPr>
              <a:t>block </a:t>
            </a:r>
            <a:r>
              <a:rPr sz="2000" dirty="0">
                <a:latin typeface="Arial"/>
                <a:cs typeface="Arial"/>
              </a:rPr>
              <a:t>returns the </a:t>
            </a:r>
            <a:r>
              <a:rPr sz="2000" spc="5" dirty="0">
                <a:latin typeface="Arial"/>
                <a:cs typeface="Arial"/>
              </a:rPr>
              <a:t>error </a:t>
            </a:r>
            <a:r>
              <a:rPr sz="2000" spc="-5" dirty="0">
                <a:latin typeface="Arial"/>
                <a:cs typeface="Arial"/>
              </a:rPr>
              <a:t>number </a:t>
            </a:r>
            <a:r>
              <a:rPr sz="2000" spc="50" dirty="0">
                <a:latin typeface="Arial"/>
                <a:cs typeface="Arial"/>
              </a:rPr>
              <a:t>of </a:t>
            </a:r>
            <a:r>
              <a:rPr sz="2000" dirty="0">
                <a:latin typeface="Arial"/>
                <a:cs typeface="Arial"/>
              </a:rPr>
              <a:t>the </a:t>
            </a:r>
            <a:r>
              <a:rPr sz="2000" spc="5" dirty="0">
                <a:latin typeface="Arial"/>
                <a:cs typeface="Arial"/>
              </a:rPr>
              <a:t>error </a:t>
            </a:r>
            <a:r>
              <a:rPr sz="2000" spc="30" dirty="0">
                <a:latin typeface="Arial"/>
                <a:cs typeface="Arial"/>
              </a:rPr>
              <a:t>that </a:t>
            </a:r>
            <a:r>
              <a:rPr sz="2000" spc="-145" dirty="0">
                <a:latin typeface="Arial"/>
                <a:cs typeface="Arial"/>
              </a:rPr>
              <a:t>causes </a:t>
            </a:r>
            <a:r>
              <a:rPr sz="2000" dirty="0">
                <a:latin typeface="Arial"/>
                <a:cs typeface="Arial"/>
              </a:rPr>
              <a:t>the </a:t>
            </a:r>
            <a:r>
              <a:rPr sz="2000" spc="185" dirty="0">
                <a:latin typeface="Arial"/>
                <a:cs typeface="Arial"/>
              </a:rPr>
              <a:t>CATCH  </a:t>
            </a:r>
            <a:r>
              <a:rPr sz="2000" spc="10" dirty="0">
                <a:latin typeface="Arial"/>
                <a:cs typeface="Arial"/>
              </a:rPr>
              <a:t>block</a:t>
            </a:r>
            <a:r>
              <a:rPr sz="2000" spc="-114" dirty="0">
                <a:latin typeface="Arial"/>
                <a:cs typeface="Arial"/>
              </a:rPr>
              <a:t> </a:t>
            </a:r>
            <a:r>
              <a:rPr sz="2000" spc="50" dirty="0">
                <a:latin typeface="Arial"/>
                <a:cs typeface="Arial"/>
              </a:rPr>
              <a:t>of</a:t>
            </a:r>
            <a:r>
              <a:rPr sz="2000" spc="-130" dirty="0">
                <a:latin typeface="Arial"/>
                <a:cs typeface="Arial"/>
              </a:rPr>
              <a:t> </a:t>
            </a:r>
            <a:r>
              <a:rPr sz="2000" spc="-195" dirty="0">
                <a:latin typeface="Arial"/>
                <a:cs typeface="Arial"/>
              </a:rPr>
              <a:t>a</a:t>
            </a:r>
            <a:r>
              <a:rPr sz="2000" spc="-130" dirty="0">
                <a:latin typeface="Arial"/>
                <a:cs typeface="Arial"/>
              </a:rPr>
              <a:t> </a:t>
            </a:r>
            <a:r>
              <a:rPr sz="2000" spc="75" dirty="0">
                <a:latin typeface="Arial"/>
                <a:cs typeface="Arial"/>
              </a:rPr>
              <a:t>TRY</a:t>
            </a:r>
            <a:r>
              <a:rPr sz="2000" spc="75" dirty="0">
                <a:latin typeface="Times New Roman"/>
                <a:cs typeface="Times New Roman"/>
              </a:rPr>
              <a:t>…</a:t>
            </a:r>
            <a:r>
              <a:rPr sz="2000" spc="75" dirty="0">
                <a:latin typeface="Arial"/>
                <a:cs typeface="Arial"/>
              </a:rPr>
              <a:t>CATCH</a:t>
            </a:r>
            <a:r>
              <a:rPr sz="2000" spc="-120" dirty="0">
                <a:latin typeface="Arial"/>
                <a:cs typeface="Arial"/>
              </a:rPr>
              <a:t> </a:t>
            </a:r>
            <a:r>
              <a:rPr sz="2000" dirty="0">
                <a:latin typeface="Arial"/>
                <a:cs typeface="Arial"/>
              </a:rPr>
              <a:t>construct</a:t>
            </a:r>
            <a:r>
              <a:rPr sz="2000" spc="-120" dirty="0">
                <a:latin typeface="Arial"/>
                <a:cs typeface="Arial"/>
              </a:rPr>
              <a:t> </a:t>
            </a:r>
            <a:r>
              <a:rPr sz="2000" spc="50" dirty="0">
                <a:latin typeface="Arial"/>
                <a:cs typeface="Arial"/>
              </a:rPr>
              <a:t>to</a:t>
            </a:r>
            <a:r>
              <a:rPr sz="2000" spc="-120" dirty="0">
                <a:latin typeface="Arial"/>
                <a:cs typeface="Arial"/>
              </a:rPr>
              <a:t> </a:t>
            </a:r>
            <a:r>
              <a:rPr sz="2000" spc="-105" dirty="0">
                <a:latin typeface="Arial"/>
                <a:cs typeface="Arial"/>
              </a:rPr>
              <a:t>be</a:t>
            </a:r>
            <a:r>
              <a:rPr sz="2000" spc="-120" dirty="0">
                <a:latin typeface="Arial"/>
                <a:cs typeface="Arial"/>
              </a:rPr>
              <a:t> </a:t>
            </a:r>
            <a:r>
              <a:rPr sz="2000" spc="-50" dirty="0">
                <a:latin typeface="Arial"/>
                <a:cs typeface="Arial"/>
              </a:rPr>
              <a:t>executed.</a:t>
            </a:r>
            <a:endParaRPr sz="2000">
              <a:latin typeface="Arial"/>
              <a:cs typeface="Arial"/>
            </a:endParaRPr>
          </a:p>
          <a:p>
            <a:pPr>
              <a:lnSpc>
                <a:spcPct val="100000"/>
              </a:lnSpc>
              <a:spcBef>
                <a:spcPts val="30"/>
              </a:spcBef>
            </a:pPr>
            <a:endParaRPr sz="3450">
              <a:latin typeface="Arial"/>
              <a:cs typeface="Arial"/>
            </a:endParaRPr>
          </a:p>
          <a:p>
            <a:pPr marL="27940" marR="6031865">
              <a:lnSpc>
                <a:spcPct val="100000"/>
              </a:lnSpc>
            </a:pPr>
            <a:r>
              <a:rPr sz="1800" b="1" spc="-95" dirty="0">
                <a:latin typeface="Arial"/>
                <a:cs typeface="Arial"/>
              </a:rPr>
              <a:t>Syntax:  </a:t>
            </a:r>
            <a:r>
              <a:rPr sz="1800" spc="-30" dirty="0">
                <a:latin typeface="Arial"/>
                <a:cs typeface="Arial"/>
              </a:rPr>
              <a:t>ERROR_NUMBER(</a:t>
            </a:r>
            <a:r>
              <a:rPr sz="1800" spc="-200" dirty="0">
                <a:latin typeface="Arial"/>
                <a:cs typeface="Arial"/>
              </a:rPr>
              <a:t> </a:t>
            </a:r>
            <a:r>
              <a:rPr sz="1800" spc="-15" dirty="0">
                <a:latin typeface="Arial"/>
                <a:cs typeface="Arial"/>
              </a:rPr>
              <a:t>)</a:t>
            </a:r>
            <a:endParaRPr sz="1800">
              <a:latin typeface="Arial"/>
              <a:cs typeface="Arial"/>
            </a:endParaRPr>
          </a:p>
        </p:txBody>
      </p:sp>
      <p:pic>
        <p:nvPicPr>
          <p:cNvPr id="4" name="object 4"/>
          <p:cNvPicPr/>
          <p:nvPr/>
        </p:nvPicPr>
        <p:blipFill>
          <a:blip r:embed="rId3" cstate="print"/>
          <a:stretch>
            <a:fillRect/>
          </a:stretch>
        </p:blipFill>
        <p:spPr>
          <a:xfrm>
            <a:off x="364997" y="2895600"/>
            <a:ext cx="8646414" cy="1314450"/>
          </a:xfrm>
          <a:prstGeom prst="rect">
            <a:avLst/>
          </a:prstGeom>
        </p:spPr>
      </p:pic>
      <p:sp>
        <p:nvSpPr>
          <p:cNvPr id="5" name="object 5"/>
          <p:cNvSpPr txBox="1"/>
          <p:nvPr/>
        </p:nvSpPr>
        <p:spPr>
          <a:xfrm>
            <a:off x="505968" y="3004185"/>
            <a:ext cx="8289290" cy="1186815"/>
          </a:xfrm>
          <a:prstGeom prst="rect">
            <a:avLst/>
          </a:prstGeom>
        </p:spPr>
        <p:txBody>
          <a:bodyPr vert="horz" wrap="square" lIns="0" tIns="139065" rIns="0" bIns="0" rtlCol="0">
            <a:spAutoFit/>
          </a:bodyPr>
          <a:lstStyle/>
          <a:p>
            <a:pPr marL="419100" marR="68580" indent="-342900" algn="just">
              <a:lnSpc>
                <a:spcPct val="90000"/>
              </a:lnSpc>
              <a:spcBef>
                <a:spcPts val="1095"/>
              </a:spcBef>
              <a:buFont typeface="Wingdings"/>
              <a:buChar char=""/>
              <a:tabLst>
                <a:tab pos="419734" algn="l"/>
              </a:tabLst>
            </a:pPr>
            <a:r>
              <a:rPr sz="2000" spc="-35" dirty="0">
                <a:solidFill>
                  <a:srgbClr val="FFFFFF"/>
                </a:solidFill>
                <a:latin typeface="Arial"/>
                <a:cs typeface="Arial"/>
              </a:rPr>
              <a:t>ERROR_NUMBER </a:t>
            </a:r>
            <a:r>
              <a:rPr sz="2000" dirty="0">
                <a:solidFill>
                  <a:srgbClr val="FFFFFF"/>
                </a:solidFill>
                <a:latin typeface="Arial"/>
                <a:cs typeface="Arial"/>
              </a:rPr>
              <a:t>returns the </a:t>
            </a:r>
            <a:r>
              <a:rPr sz="2000" spc="5" dirty="0">
                <a:solidFill>
                  <a:srgbClr val="FFFFFF"/>
                </a:solidFill>
                <a:latin typeface="Arial"/>
                <a:cs typeface="Arial"/>
              </a:rPr>
              <a:t>error </a:t>
            </a:r>
            <a:r>
              <a:rPr sz="2000" spc="-5" dirty="0">
                <a:solidFill>
                  <a:srgbClr val="FFFFFF"/>
                </a:solidFill>
                <a:latin typeface="Arial"/>
                <a:cs typeface="Arial"/>
              </a:rPr>
              <a:t>number </a:t>
            </a:r>
            <a:r>
              <a:rPr sz="2000" spc="-25" dirty="0">
                <a:solidFill>
                  <a:srgbClr val="FFFFFF"/>
                </a:solidFill>
                <a:latin typeface="Arial"/>
                <a:cs typeface="Arial"/>
              </a:rPr>
              <a:t>irrespective </a:t>
            </a:r>
            <a:r>
              <a:rPr sz="2000" spc="55" dirty="0">
                <a:solidFill>
                  <a:srgbClr val="FFFFFF"/>
                </a:solidFill>
                <a:latin typeface="Arial"/>
                <a:cs typeface="Arial"/>
              </a:rPr>
              <a:t>of </a:t>
            </a:r>
            <a:r>
              <a:rPr sz="2000" spc="30" dirty="0">
                <a:solidFill>
                  <a:srgbClr val="FFFFFF"/>
                </a:solidFill>
                <a:latin typeface="Arial"/>
                <a:cs typeface="Arial"/>
              </a:rPr>
              <a:t>how </a:t>
            </a:r>
            <a:r>
              <a:rPr sz="2000" spc="-35" dirty="0">
                <a:solidFill>
                  <a:srgbClr val="FFFFFF"/>
                </a:solidFill>
                <a:latin typeface="Arial"/>
                <a:cs typeface="Arial"/>
              </a:rPr>
              <a:t>many  times </a:t>
            </a:r>
            <a:r>
              <a:rPr sz="2000" spc="125" dirty="0">
                <a:solidFill>
                  <a:srgbClr val="FFFFFF"/>
                </a:solidFill>
                <a:latin typeface="Arial"/>
                <a:cs typeface="Arial"/>
              </a:rPr>
              <a:t>it </a:t>
            </a:r>
            <a:r>
              <a:rPr sz="2000" spc="-75" dirty="0">
                <a:solidFill>
                  <a:srgbClr val="FFFFFF"/>
                </a:solidFill>
                <a:latin typeface="Arial"/>
                <a:cs typeface="Arial"/>
              </a:rPr>
              <a:t>executes </a:t>
            </a:r>
            <a:r>
              <a:rPr sz="2000" spc="25" dirty="0">
                <a:solidFill>
                  <a:srgbClr val="FFFFFF"/>
                </a:solidFill>
                <a:latin typeface="Arial"/>
                <a:cs typeface="Arial"/>
              </a:rPr>
              <a:t>or </a:t>
            </a:r>
            <a:r>
              <a:rPr sz="2000" dirty="0">
                <a:solidFill>
                  <a:srgbClr val="FFFFFF"/>
                </a:solidFill>
                <a:latin typeface="Arial"/>
                <a:cs typeface="Arial"/>
              </a:rPr>
              <a:t>whether </a:t>
            </a:r>
            <a:r>
              <a:rPr sz="2000" spc="125" dirty="0">
                <a:solidFill>
                  <a:srgbClr val="FFFFFF"/>
                </a:solidFill>
                <a:latin typeface="Arial"/>
                <a:cs typeface="Arial"/>
              </a:rPr>
              <a:t>it </a:t>
            </a:r>
            <a:r>
              <a:rPr sz="2000" spc="-75" dirty="0">
                <a:solidFill>
                  <a:srgbClr val="FFFFFF"/>
                </a:solidFill>
                <a:latin typeface="Arial"/>
                <a:cs typeface="Arial"/>
              </a:rPr>
              <a:t>executes </a:t>
            </a:r>
            <a:r>
              <a:rPr sz="2000" spc="90" dirty="0">
                <a:solidFill>
                  <a:srgbClr val="FFFFFF"/>
                </a:solidFill>
                <a:latin typeface="Arial"/>
                <a:cs typeface="Arial"/>
              </a:rPr>
              <a:t>within </a:t>
            </a:r>
            <a:r>
              <a:rPr sz="2000" dirty="0">
                <a:solidFill>
                  <a:srgbClr val="FFFFFF"/>
                </a:solidFill>
                <a:latin typeface="Arial"/>
                <a:cs typeface="Arial"/>
              </a:rPr>
              <a:t>the </a:t>
            </a:r>
            <a:r>
              <a:rPr sz="2000" spc="-105" dirty="0">
                <a:solidFill>
                  <a:srgbClr val="FFFFFF"/>
                </a:solidFill>
                <a:latin typeface="Arial"/>
                <a:cs typeface="Arial"/>
              </a:rPr>
              <a:t>scope </a:t>
            </a:r>
            <a:r>
              <a:rPr sz="2000" spc="50" dirty="0">
                <a:solidFill>
                  <a:srgbClr val="FFFFFF"/>
                </a:solidFill>
                <a:latin typeface="Arial"/>
                <a:cs typeface="Arial"/>
              </a:rPr>
              <a:t>of </a:t>
            </a:r>
            <a:r>
              <a:rPr sz="2000" spc="-195" dirty="0">
                <a:solidFill>
                  <a:srgbClr val="FFFFFF"/>
                </a:solidFill>
                <a:latin typeface="Arial"/>
                <a:cs typeface="Arial"/>
              </a:rPr>
              <a:t>a </a:t>
            </a:r>
            <a:r>
              <a:rPr sz="2000" spc="185" dirty="0">
                <a:solidFill>
                  <a:srgbClr val="FFFFFF"/>
                </a:solidFill>
                <a:latin typeface="Arial"/>
                <a:cs typeface="Arial"/>
              </a:rPr>
              <a:t>CATCH  </a:t>
            </a:r>
            <a:r>
              <a:rPr sz="2000" dirty="0">
                <a:solidFill>
                  <a:srgbClr val="FFFFFF"/>
                </a:solidFill>
                <a:latin typeface="Arial"/>
                <a:cs typeface="Arial"/>
              </a:rPr>
              <a:t>block.</a:t>
            </a:r>
            <a:endParaRPr sz="2000">
              <a:latin typeface="Arial"/>
              <a:cs typeface="Arial"/>
            </a:endParaRPr>
          </a:p>
        </p:txBody>
      </p:sp>
      <p:sp>
        <p:nvSpPr>
          <p:cNvPr id="7" name="object 7"/>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21</a:t>
            </a:fld>
            <a:endParaRPr sz="1200">
              <a:latin typeface="Arial"/>
              <a:cs typeface="Arial"/>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9" name="TextBox 8">
            <a:extLst>
              <a:ext uri="{FF2B5EF4-FFF2-40B4-BE49-F238E27FC236}">
                <a16:creationId xmlns:a16="http://schemas.microsoft.com/office/drawing/2014/main" id="{ECADD1E2-B6DC-4A4E-B203-4FC26A6BE6FA}"/>
              </a:ext>
            </a:extLst>
          </p:cNvPr>
          <p:cNvSpPr txBox="1"/>
          <p:nvPr/>
        </p:nvSpPr>
        <p:spPr>
          <a:xfrm>
            <a:off x="1371600" y="4369475"/>
            <a:ext cx="6477000"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BEGIN TRY</a:t>
            </a:r>
          </a:p>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	SELECT 217/0;</a:t>
            </a:r>
          </a:p>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END TRY</a:t>
            </a:r>
          </a:p>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BEGIN CATCH</a:t>
            </a:r>
          </a:p>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	SELECT </a:t>
            </a:r>
            <a:r>
              <a:rPr lang="en-US" sz="1800" b="1" dirty="0">
                <a:solidFill>
                  <a:srgbClr val="FF0000"/>
                </a:solidFill>
                <a:latin typeface="Courier New" panose="02070309020205020404" pitchFamily="49" charset="0"/>
                <a:cs typeface="Courier New" panose="02070309020205020404" pitchFamily="49" charset="0"/>
              </a:rPr>
              <a:t>ERROR_NUMBER() </a:t>
            </a:r>
            <a:r>
              <a:rPr lang="en-US" sz="1800" b="1" dirty="0">
                <a:latin typeface="Courier New" panose="02070309020205020404" pitchFamily="49" charset="0"/>
                <a:cs typeface="Courier New" panose="02070309020205020404" pitchFamily="49" charset="0"/>
              </a:rPr>
              <a:t>AS ErrorNumber;</a:t>
            </a:r>
          </a:p>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END CATCH;</a:t>
            </a:r>
          </a:p>
          <a:p>
            <a:pPr indent="114300">
              <a:lnSpc>
                <a:spcPct val="100000"/>
              </a:lnSpc>
              <a:spcBef>
                <a:spcPts val="0"/>
              </a:spcBef>
              <a:tabLst>
                <a:tab pos="457200" algn="l"/>
              </a:tabLst>
            </a:pPr>
            <a:r>
              <a:rPr lang="en-US" sz="1800" b="1" dirty="0">
                <a:latin typeface="Courier New" panose="02070309020205020404" pitchFamily="49" charset="0"/>
                <a:cs typeface="Courier New" panose="02070309020205020404" pitchFamily="49" charset="0"/>
              </a:rPr>
              <a:t>GO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987" y="0"/>
            <a:ext cx="4485640" cy="635635"/>
          </a:xfrm>
          <a:prstGeom prst="rect">
            <a:avLst/>
          </a:prstGeom>
        </p:spPr>
        <p:txBody>
          <a:bodyPr vert="horz" wrap="square" lIns="0" tIns="12700" rIns="0" bIns="0" rtlCol="0">
            <a:spAutoFit/>
          </a:bodyPr>
          <a:lstStyle/>
          <a:p>
            <a:pPr marL="12700">
              <a:lnSpc>
                <a:spcPct val="100000"/>
              </a:lnSpc>
              <a:spcBef>
                <a:spcPts val="100"/>
              </a:spcBef>
            </a:pPr>
            <a:r>
              <a:rPr sz="4000" spc="-95" dirty="0"/>
              <a:t>ERROR_MESSA</a:t>
            </a:r>
            <a:r>
              <a:rPr sz="4000" spc="-100" dirty="0"/>
              <a:t>G</a:t>
            </a:r>
            <a:r>
              <a:rPr sz="4000" spc="-254" dirty="0"/>
              <a:t>E</a:t>
            </a:r>
            <a:endParaRPr sz="4000"/>
          </a:p>
        </p:txBody>
      </p:sp>
      <p:sp>
        <p:nvSpPr>
          <p:cNvPr id="3" name="object 3"/>
          <p:cNvSpPr txBox="1"/>
          <p:nvPr/>
        </p:nvSpPr>
        <p:spPr>
          <a:xfrm>
            <a:off x="413004" y="1069847"/>
            <a:ext cx="8124825" cy="1758314"/>
          </a:xfrm>
          <a:prstGeom prst="rect">
            <a:avLst/>
          </a:prstGeom>
        </p:spPr>
        <p:txBody>
          <a:bodyPr vert="horz" wrap="square" lIns="0" tIns="46990" rIns="0" bIns="0" rtlCol="0">
            <a:spAutoFit/>
          </a:bodyPr>
          <a:lstStyle/>
          <a:p>
            <a:pPr marL="355600" marR="5080" indent="-342900" algn="just">
              <a:lnSpc>
                <a:spcPts val="2160"/>
              </a:lnSpc>
              <a:spcBef>
                <a:spcPts val="370"/>
              </a:spcBef>
              <a:buFont typeface="Wingdings"/>
              <a:buChar char=""/>
              <a:tabLst>
                <a:tab pos="355600" algn="l"/>
              </a:tabLst>
            </a:pPr>
            <a:r>
              <a:rPr sz="2000" spc="20" dirty="0">
                <a:latin typeface="Arial"/>
                <a:cs typeface="Arial"/>
              </a:rPr>
              <a:t>The</a:t>
            </a:r>
            <a:r>
              <a:rPr sz="2000" spc="-90" dirty="0">
                <a:latin typeface="Arial"/>
                <a:cs typeface="Arial"/>
              </a:rPr>
              <a:t> </a:t>
            </a:r>
            <a:r>
              <a:rPr sz="2000" spc="-55" dirty="0">
                <a:latin typeface="Arial"/>
                <a:cs typeface="Arial"/>
              </a:rPr>
              <a:t>ERROR_MESSAGE</a:t>
            </a:r>
            <a:r>
              <a:rPr sz="2000" spc="-85" dirty="0">
                <a:latin typeface="Arial"/>
                <a:cs typeface="Arial"/>
              </a:rPr>
              <a:t> </a:t>
            </a:r>
            <a:r>
              <a:rPr sz="2000" spc="55" dirty="0">
                <a:latin typeface="Arial"/>
                <a:cs typeface="Arial"/>
              </a:rPr>
              <a:t>function</a:t>
            </a:r>
            <a:r>
              <a:rPr sz="2000" spc="-90" dirty="0">
                <a:latin typeface="Arial"/>
                <a:cs typeface="Arial"/>
              </a:rPr>
              <a:t> </a:t>
            </a:r>
            <a:r>
              <a:rPr sz="2000" dirty="0">
                <a:latin typeface="Arial"/>
                <a:cs typeface="Arial"/>
              </a:rPr>
              <a:t>returns</a:t>
            </a:r>
            <a:r>
              <a:rPr sz="2000" spc="-75" dirty="0">
                <a:latin typeface="Arial"/>
                <a:cs typeface="Arial"/>
              </a:rPr>
              <a:t> </a:t>
            </a:r>
            <a:r>
              <a:rPr sz="2000" dirty="0">
                <a:latin typeface="Arial"/>
                <a:cs typeface="Arial"/>
              </a:rPr>
              <a:t>the</a:t>
            </a:r>
            <a:r>
              <a:rPr sz="2000" spc="-80" dirty="0">
                <a:latin typeface="Arial"/>
                <a:cs typeface="Arial"/>
              </a:rPr>
              <a:t> </a:t>
            </a:r>
            <a:r>
              <a:rPr sz="2000" spc="40" dirty="0">
                <a:latin typeface="Arial"/>
                <a:cs typeface="Arial"/>
              </a:rPr>
              <a:t>text</a:t>
            </a:r>
            <a:r>
              <a:rPr sz="2000" spc="-85" dirty="0">
                <a:latin typeface="Arial"/>
                <a:cs typeface="Arial"/>
              </a:rPr>
              <a:t> </a:t>
            </a:r>
            <a:r>
              <a:rPr sz="2000" spc="-160" dirty="0">
                <a:latin typeface="Arial"/>
                <a:cs typeface="Arial"/>
              </a:rPr>
              <a:t>message</a:t>
            </a:r>
            <a:r>
              <a:rPr sz="2000" spc="-80" dirty="0">
                <a:latin typeface="Arial"/>
                <a:cs typeface="Arial"/>
              </a:rPr>
              <a:t> </a:t>
            </a:r>
            <a:r>
              <a:rPr sz="2000" spc="50" dirty="0">
                <a:latin typeface="Arial"/>
                <a:cs typeface="Arial"/>
              </a:rPr>
              <a:t>of</a:t>
            </a:r>
            <a:r>
              <a:rPr sz="2000" spc="-90" dirty="0">
                <a:latin typeface="Arial"/>
                <a:cs typeface="Arial"/>
              </a:rPr>
              <a:t> </a:t>
            </a:r>
            <a:r>
              <a:rPr sz="2000" dirty="0">
                <a:latin typeface="Arial"/>
                <a:cs typeface="Arial"/>
              </a:rPr>
              <a:t>the</a:t>
            </a:r>
            <a:r>
              <a:rPr sz="2000" spc="-80" dirty="0">
                <a:latin typeface="Arial"/>
                <a:cs typeface="Arial"/>
              </a:rPr>
              <a:t> </a:t>
            </a:r>
            <a:r>
              <a:rPr sz="2000" spc="5" dirty="0">
                <a:latin typeface="Arial"/>
                <a:cs typeface="Arial"/>
              </a:rPr>
              <a:t>error  </a:t>
            </a:r>
            <a:r>
              <a:rPr sz="2000" spc="30" dirty="0">
                <a:latin typeface="Arial"/>
                <a:cs typeface="Arial"/>
              </a:rPr>
              <a:t>that </a:t>
            </a:r>
            <a:r>
              <a:rPr sz="2000" spc="-145" dirty="0">
                <a:latin typeface="Arial"/>
                <a:cs typeface="Arial"/>
              </a:rPr>
              <a:t>causes </a:t>
            </a:r>
            <a:r>
              <a:rPr sz="2000" dirty="0">
                <a:latin typeface="Arial"/>
                <a:cs typeface="Arial"/>
              </a:rPr>
              <a:t>the </a:t>
            </a:r>
            <a:r>
              <a:rPr sz="2000" spc="185" dirty="0">
                <a:latin typeface="Arial"/>
                <a:cs typeface="Arial"/>
              </a:rPr>
              <a:t>CATCH </a:t>
            </a:r>
            <a:r>
              <a:rPr sz="2000" spc="15" dirty="0">
                <a:latin typeface="Arial"/>
                <a:cs typeface="Arial"/>
              </a:rPr>
              <a:t>block </a:t>
            </a:r>
            <a:r>
              <a:rPr sz="2000" spc="50" dirty="0">
                <a:latin typeface="Arial"/>
                <a:cs typeface="Arial"/>
              </a:rPr>
              <a:t>of </a:t>
            </a:r>
            <a:r>
              <a:rPr sz="2000" spc="-195" dirty="0">
                <a:latin typeface="Arial"/>
                <a:cs typeface="Arial"/>
              </a:rPr>
              <a:t>a</a:t>
            </a:r>
            <a:r>
              <a:rPr sz="2000" spc="165" dirty="0">
                <a:latin typeface="Arial"/>
                <a:cs typeface="Arial"/>
              </a:rPr>
              <a:t> </a:t>
            </a:r>
            <a:r>
              <a:rPr sz="2000" spc="75" dirty="0">
                <a:latin typeface="Arial"/>
                <a:cs typeface="Arial"/>
              </a:rPr>
              <a:t>TRY</a:t>
            </a:r>
            <a:r>
              <a:rPr sz="2000" spc="75" dirty="0">
                <a:latin typeface="Times New Roman"/>
                <a:cs typeface="Times New Roman"/>
              </a:rPr>
              <a:t>…</a:t>
            </a:r>
            <a:r>
              <a:rPr sz="2000" spc="75" dirty="0">
                <a:latin typeface="Arial"/>
                <a:cs typeface="Arial"/>
              </a:rPr>
              <a:t>CATCH </a:t>
            </a:r>
            <a:r>
              <a:rPr sz="2000" dirty="0">
                <a:latin typeface="Arial"/>
                <a:cs typeface="Arial"/>
              </a:rPr>
              <a:t>construct </a:t>
            </a:r>
            <a:r>
              <a:rPr sz="2000" spc="55" dirty="0">
                <a:latin typeface="Arial"/>
                <a:cs typeface="Arial"/>
              </a:rPr>
              <a:t>to  </a:t>
            </a:r>
            <a:r>
              <a:rPr sz="2000" spc="-55" dirty="0">
                <a:latin typeface="Arial"/>
                <a:cs typeface="Arial"/>
              </a:rPr>
              <a:t>execute.</a:t>
            </a:r>
            <a:endParaRPr sz="2000">
              <a:latin typeface="Arial"/>
              <a:cs typeface="Arial"/>
            </a:endParaRPr>
          </a:p>
          <a:p>
            <a:pPr marL="59055" marR="5854065">
              <a:lnSpc>
                <a:spcPct val="100000"/>
              </a:lnSpc>
              <a:spcBef>
                <a:spcPts val="2570"/>
              </a:spcBef>
            </a:pPr>
            <a:r>
              <a:rPr sz="1800" b="1" spc="-95" dirty="0">
                <a:latin typeface="Arial"/>
                <a:cs typeface="Arial"/>
              </a:rPr>
              <a:t>Syntax:  </a:t>
            </a:r>
            <a:r>
              <a:rPr sz="1800" spc="-50" dirty="0">
                <a:latin typeface="Arial"/>
                <a:cs typeface="Arial"/>
              </a:rPr>
              <a:t>ERROR_MESSAGE(</a:t>
            </a:r>
            <a:r>
              <a:rPr sz="1800" spc="-145" dirty="0">
                <a:latin typeface="Arial"/>
                <a:cs typeface="Arial"/>
              </a:rPr>
              <a:t> </a:t>
            </a:r>
            <a:r>
              <a:rPr sz="1800" spc="-15" dirty="0">
                <a:latin typeface="Arial"/>
                <a:cs typeface="Arial"/>
              </a:rPr>
              <a:t>)</a:t>
            </a:r>
            <a:endParaRPr sz="1800">
              <a:latin typeface="Arial"/>
              <a:cs typeface="Arial"/>
            </a:endParaRPr>
          </a:p>
        </p:txBody>
      </p:sp>
      <p:grpSp>
        <p:nvGrpSpPr>
          <p:cNvPr id="4" name="object 4"/>
          <p:cNvGrpSpPr/>
          <p:nvPr/>
        </p:nvGrpSpPr>
        <p:grpSpPr>
          <a:xfrm>
            <a:off x="3134882" y="1872932"/>
            <a:ext cx="2748915" cy="3112135"/>
            <a:chOff x="1637538" y="3331464"/>
            <a:chExt cx="2748915" cy="3112135"/>
          </a:xfrm>
        </p:grpSpPr>
        <p:sp>
          <p:nvSpPr>
            <p:cNvPr id="5" name="object 5"/>
            <p:cNvSpPr/>
            <p:nvPr/>
          </p:nvSpPr>
          <p:spPr>
            <a:xfrm>
              <a:off x="1650111" y="3344037"/>
              <a:ext cx="2723515" cy="3087370"/>
            </a:xfrm>
            <a:custGeom>
              <a:avLst/>
              <a:gdLst/>
              <a:ahLst/>
              <a:cxnLst/>
              <a:rect l="l" t="t" r="r" b="b"/>
              <a:pathLst>
                <a:path w="2723515" h="3087370">
                  <a:moveTo>
                    <a:pt x="0" y="0"/>
                  </a:moveTo>
                  <a:lnTo>
                    <a:pt x="0" y="3086862"/>
                  </a:lnTo>
                  <a:lnTo>
                    <a:pt x="2723388" y="2469489"/>
                  </a:lnTo>
                  <a:lnTo>
                    <a:pt x="2723388" y="617347"/>
                  </a:lnTo>
                  <a:lnTo>
                    <a:pt x="0" y="0"/>
                  </a:lnTo>
                  <a:close/>
                </a:path>
              </a:pathLst>
            </a:custGeom>
            <a:solidFill>
              <a:srgbClr val="4AACC5"/>
            </a:solidFill>
          </p:spPr>
          <p:txBody>
            <a:bodyPr wrap="square" lIns="0" tIns="0" rIns="0" bIns="0" rtlCol="0"/>
            <a:lstStyle/>
            <a:p>
              <a:endParaRPr/>
            </a:p>
          </p:txBody>
        </p:sp>
        <p:sp>
          <p:nvSpPr>
            <p:cNvPr id="6" name="object 6"/>
            <p:cNvSpPr/>
            <p:nvPr/>
          </p:nvSpPr>
          <p:spPr>
            <a:xfrm>
              <a:off x="1650111" y="3344037"/>
              <a:ext cx="2723515" cy="3087370"/>
            </a:xfrm>
            <a:custGeom>
              <a:avLst/>
              <a:gdLst/>
              <a:ahLst/>
              <a:cxnLst/>
              <a:rect l="l" t="t" r="r" b="b"/>
              <a:pathLst>
                <a:path w="2723515" h="3087370">
                  <a:moveTo>
                    <a:pt x="0" y="3086862"/>
                  </a:moveTo>
                  <a:lnTo>
                    <a:pt x="0" y="0"/>
                  </a:lnTo>
                  <a:lnTo>
                    <a:pt x="2723388" y="617347"/>
                  </a:lnTo>
                  <a:lnTo>
                    <a:pt x="2723388" y="2469489"/>
                  </a:lnTo>
                  <a:lnTo>
                    <a:pt x="0" y="3086862"/>
                  </a:lnTo>
                  <a:close/>
                </a:path>
              </a:pathLst>
            </a:custGeom>
            <a:ln w="25146">
              <a:solidFill>
                <a:srgbClr val="FFFFFF"/>
              </a:solidFill>
            </a:ln>
          </p:spPr>
          <p:txBody>
            <a:bodyPr wrap="square" lIns="0" tIns="0" rIns="0" bIns="0" rtlCol="0"/>
            <a:lstStyle/>
            <a:p>
              <a:endParaRPr/>
            </a:p>
          </p:txBody>
        </p:sp>
      </p:grpSp>
      <p:sp>
        <p:nvSpPr>
          <p:cNvPr id="7" name="object 7"/>
          <p:cNvSpPr txBox="1"/>
          <p:nvPr/>
        </p:nvSpPr>
        <p:spPr>
          <a:xfrm>
            <a:off x="3304794" y="2409190"/>
            <a:ext cx="2319020" cy="2039620"/>
          </a:xfrm>
          <a:prstGeom prst="rect">
            <a:avLst/>
          </a:prstGeom>
        </p:spPr>
        <p:txBody>
          <a:bodyPr vert="horz" wrap="square" lIns="0" tIns="43815" rIns="0" bIns="0" rtlCol="0">
            <a:spAutoFit/>
          </a:bodyPr>
          <a:lstStyle/>
          <a:p>
            <a:pPr marL="156845" marR="148590" indent="-1270" algn="ctr">
              <a:lnSpc>
                <a:spcPts val="1939"/>
              </a:lnSpc>
              <a:spcBef>
                <a:spcPts val="345"/>
              </a:spcBef>
            </a:pPr>
            <a:r>
              <a:rPr sz="1800" spc="60" dirty="0">
                <a:latin typeface="Arial"/>
                <a:cs typeface="Arial"/>
              </a:rPr>
              <a:t>When </a:t>
            </a:r>
            <a:r>
              <a:rPr sz="1800" dirty="0">
                <a:latin typeface="Arial"/>
                <a:cs typeface="Arial"/>
              </a:rPr>
              <a:t>the  </a:t>
            </a:r>
            <a:r>
              <a:rPr sz="1800" spc="-45" dirty="0">
                <a:latin typeface="Arial"/>
                <a:cs typeface="Arial"/>
              </a:rPr>
              <a:t>ER</a:t>
            </a:r>
            <a:r>
              <a:rPr sz="1800" spc="-55" dirty="0">
                <a:latin typeface="Arial"/>
                <a:cs typeface="Arial"/>
              </a:rPr>
              <a:t>R</a:t>
            </a:r>
            <a:r>
              <a:rPr sz="1800" spc="-50" dirty="0">
                <a:latin typeface="Arial"/>
                <a:cs typeface="Arial"/>
              </a:rPr>
              <a:t>OR_MESSAGE</a:t>
            </a:r>
            <a:endParaRPr sz="1800">
              <a:latin typeface="Arial"/>
              <a:cs typeface="Arial"/>
            </a:endParaRPr>
          </a:p>
          <a:p>
            <a:pPr marL="12700" marR="5080" algn="ctr">
              <a:lnSpc>
                <a:spcPts val="1939"/>
              </a:lnSpc>
              <a:spcBef>
                <a:spcPts val="10"/>
              </a:spcBef>
            </a:pPr>
            <a:r>
              <a:rPr sz="1800" spc="50" dirty="0">
                <a:latin typeface="Arial"/>
                <a:cs typeface="Arial"/>
              </a:rPr>
              <a:t>function</a:t>
            </a:r>
            <a:r>
              <a:rPr sz="1800" spc="-135" dirty="0">
                <a:latin typeface="Arial"/>
                <a:cs typeface="Arial"/>
              </a:rPr>
              <a:t> </a:t>
            </a:r>
            <a:r>
              <a:rPr sz="1800" spc="-45" dirty="0">
                <a:latin typeface="Arial"/>
                <a:cs typeface="Arial"/>
              </a:rPr>
              <a:t>is</a:t>
            </a:r>
            <a:r>
              <a:rPr sz="1800" spc="-125" dirty="0">
                <a:latin typeface="Arial"/>
                <a:cs typeface="Arial"/>
              </a:rPr>
              <a:t> </a:t>
            </a:r>
            <a:r>
              <a:rPr sz="1800" spc="-35" dirty="0">
                <a:latin typeface="Arial"/>
                <a:cs typeface="Arial"/>
              </a:rPr>
              <a:t>called</a:t>
            </a:r>
            <a:r>
              <a:rPr sz="1800" spc="-135" dirty="0">
                <a:latin typeface="Arial"/>
                <a:cs typeface="Arial"/>
              </a:rPr>
              <a:t> </a:t>
            </a:r>
            <a:r>
              <a:rPr sz="1800" spc="85" dirty="0">
                <a:latin typeface="Arial"/>
                <a:cs typeface="Arial"/>
              </a:rPr>
              <a:t>in</a:t>
            </a:r>
            <a:r>
              <a:rPr sz="1800" spc="-140" dirty="0">
                <a:latin typeface="Arial"/>
                <a:cs typeface="Arial"/>
              </a:rPr>
              <a:t> </a:t>
            </a:r>
            <a:r>
              <a:rPr sz="1800" dirty="0">
                <a:latin typeface="Arial"/>
                <a:cs typeface="Arial"/>
              </a:rPr>
              <a:t>the  </a:t>
            </a:r>
            <a:r>
              <a:rPr sz="1800" spc="170" dirty="0">
                <a:latin typeface="Arial"/>
                <a:cs typeface="Arial"/>
              </a:rPr>
              <a:t>CATCH </a:t>
            </a:r>
            <a:r>
              <a:rPr sz="1800" dirty="0">
                <a:latin typeface="Arial"/>
                <a:cs typeface="Arial"/>
              </a:rPr>
              <a:t>block, </a:t>
            </a:r>
            <a:r>
              <a:rPr sz="1800" spc="110" dirty="0">
                <a:latin typeface="Arial"/>
                <a:cs typeface="Arial"/>
              </a:rPr>
              <a:t>it  </a:t>
            </a:r>
            <a:r>
              <a:rPr sz="1800" dirty="0">
                <a:latin typeface="Arial"/>
                <a:cs typeface="Arial"/>
              </a:rPr>
              <a:t>returns the </a:t>
            </a:r>
            <a:r>
              <a:rPr sz="1800" spc="90" dirty="0">
                <a:latin typeface="Arial"/>
                <a:cs typeface="Arial"/>
              </a:rPr>
              <a:t>full </a:t>
            </a:r>
            <a:r>
              <a:rPr sz="1800" spc="35" dirty="0">
                <a:latin typeface="Arial"/>
                <a:cs typeface="Arial"/>
              </a:rPr>
              <a:t>text </a:t>
            </a:r>
            <a:r>
              <a:rPr sz="1800" spc="45" dirty="0">
                <a:latin typeface="Arial"/>
                <a:cs typeface="Arial"/>
              </a:rPr>
              <a:t>of  </a:t>
            </a:r>
            <a:r>
              <a:rPr sz="1800" dirty="0">
                <a:latin typeface="Arial"/>
                <a:cs typeface="Arial"/>
              </a:rPr>
              <a:t>the </a:t>
            </a:r>
            <a:r>
              <a:rPr sz="1800" spc="10" dirty="0">
                <a:latin typeface="Arial"/>
                <a:cs typeface="Arial"/>
              </a:rPr>
              <a:t>error </a:t>
            </a:r>
            <a:r>
              <a:rPr sz="1800" spc="-145" dirty="0">
                <a:latin typeface="Arial"/>
                <a:cs typeface="Arial"/>
              </a:rPr>
              <a:t>message </a:t>
            </a:r>
            <a:r>
              <a:rPr sz="1800" spc="25" dirty="0">
                <a:latin typeface="Arial"/>
                <a:cs typeface="Arial"/>
              </a:rPr>
              <a:t>that  </a:t>
            </a:r>
            <a:r>
              <a:rPr sz="1800" spc="-130" dirty="0">
                <a:latin typeface="Arial"/>
                <a:cs typeface="Arial"/>
              </a:rPr>
              <a:t>causes </a:t>
            </a:r>
            <a:r>
              <a:rPr sz="1800" dirty="0">
                <a:latin typeface="Arial"/>
                <a:cs typeface="Arial"/>
              </a:rPr>
              <a:t>the</a:t>
            </a:r>
            <a:r>
              <a:rPr sz="1800" spc="-120" dirty="0">
                <a:latin typeface="Arial"/>
                <a:cs typeface="Arial"/>
              </a:rPr>
              <a:t> </a:t>
            </a:r>
            <a:r>
              <a:rPr sz="1800" spc="170" dirty="0">
                <a:latin typeface="Arial"/>
                <a:cs typeface="Arial"/>
              </a:rPr>
              <a:t>CATCH</a:t>
            </a:r>
            <a:endParaRPr sz="1800">
              <a:latin typeface="Arial"/>
              <a:cs typeface="Arial"/>
            </a:endParaRPr>
          </a:p>
          <a:p>
            <a:pPr algn="ctr">
              <a:lnSpc>
                <a:spcPts val="2020"/>
              </a:lnSpc>
            </a:pPr>
            <a:r>
              <a:rPr sz="1800" spc="10" dirty="0">
                <a:latin typeface="Arial"/>
                <a:cs typeface="Arial"/>
              </a:rPr>
              <a:t>block </a:t>
            </a:r>
            <a:r>
              <a:rPr sz="1800" spc="45" dirty="0">
                <a:latin typeface="Arial"/>
                <a:cs typeface="Arial"/>
              </a:rPr>
              <a:t>to</a:t>
            </a:r>
            <a:r>
              <a:rPr sz="1800" spc="-260" dirty="0">
                <a:latin typeface="Arial"/>
                <a:cs typeface="Arial"/>
              </a:rPr>
              <a:t> </a:t>
            </a:r>
            <a:r>
              <a:rPr sz="1800" spc="-50" dirty="0">
                <a:latin typeface="Arial"/>
                <a:cs typeface="Arial"/>
              </a:rPr>
              <a:t>execute.</a:t>
            </a:r>
            <a:endParaRPr sz="1800">
              <a:latin typeface="Arial"/>
              <a:cs typeface="Arial"/>
            </a:endParaRPr>
          </a:p>
        </p:txBody>
      </p:sp>
      <p:grpSp>
        <p:nvGrpSpPr>
          <p:cNvPr id="8" name="object 8"/>
          <p:cNvGrpSpPr/>
          <p:nvPr/>
        </p:nvGrpSpPr>
        <p:grpSpPr>
          <a:xfrm>
            <a:off x="6172200" y="1802284"/>
            <a:ext cx="2748915" cy="3112135"/>
            <a:chOff x="4564379" y="3331464"/>
            <a:chExt cx="2748915" cy="3112135"/>
          </a:xfrm>
        </p:grpSpPr>
        <p:sp>
          <p:nvSpPr>
            <p:cNvPr id="9" name="object 9"/>
            <p:cNvSpPr/>
            <p:nvPr/>
          </p:nvSpPr>
          <p:spPr>
            <a:xfrm>
              <a:off x="4576952" y="3344037"/>
              <a:ext cx="2723515" cy="3087370"/>
            </a:xfrm>
            <a:custGeom>
              <a:avLst/>
              <a:gdLst/>
              <a:ahLst/>
              <a:cxnLst/>
              <a:rect l="l" t="t" r="r" b="b"/>
              <a:pathLst>
                <a:path w="2723515" h="3087370">
                  <a:moveTo>
                    <a:pt x="0" y="0"/>
                  </a:moveTo>
                  <a:lnTo>
                    <a:pt x="0" y="3086862"/>
                  </a:lnTo>
                  <a:lnTo>
                    <a:pt x="2723388" y="2469489"/>
                  </a:lnTo>
                  <a:lnTo>
                    <a:pt x="2723388" y="617347"/>
                  </a:lnTo>
                  <a:lnTo>
                    <a:pt x="0" y="0"/>
                  </a:lnTo>
                  <a:close/>
                </a:path>
              </a:pathLst>
            </a:custGeom>
            <a:solidFill>
              <a:srgbClr val="F79546"/>
            </a:solidFill>
          </p:spPr>
          <p:txBody>
            <a:bodyPr wrap="square" lIns="0" tIns="0" rIns="0" bIns="0" rtlCol="0"/>
            <a:lstStyle/>
            <a:p>
              <a:endParaRPr/>
            </a:p>
          </p:txBody>
        </p:sp>
        <p:sp>
          <p:nvSpPr>
            <p:cNvPr id="10" name="object 10"/>
            <p:cNvSpPr/>
            <p:nvPr/>
          </p:nvSpPr>
          <p:spPr>
            <a:xfrm>
              <a:off x="4576952" y="3344037"/>
              <a:ext cx="2723515" cy="3087370"/>
            </a:xfrm>
            <a:custGeom>
              <a:avLst/>
              <a:gdLst/>
              <a:ahLst/>
              <a:cxnLst/>
              <a:rect l="l" t="t" r="r" b="b"/>
              <a:pathLst>
                <a:path w="2723515" h="3087370">
                  <a:moveTo>
                    <a:pt x="0" y="3086862"/>
                  </a:moveTo>
                  <a:lnTo>
                    <a:pt x="0" y="0"/>
                  </a:lnTo>
                  <a:lnTo>
                    <a:pt x="2723388" y="617347"/>
                  </a:lnTo>
                  <a:lnTo>
                    <a:pt x="2723388" y="2469489"/>
                  </a:lnTo>
                  <a:lnTo>
                    <a:pt x="0" y="3086862"/>
                  </a:lnTo>
                  <a:close/>
                </a:path>
              </a:pathLst>
            </a:custGeom>
            <a:ln w="25146">
              <a:solidFill>
                <a:srgbClr val="FFFFFF"/>
              </a:solidFill>
            </a:ln>
          </p:spPr>
          <p:txBody>
            <a:bodyPr wrap="square" lIns="0" tIns="0" rIns="0" bIns="0" rtlCol="0"/>
            <a:lstStyle/>
            <a:p>
              <a:endParaRPr/>
            </a:p>
          </p:txBody>
        </p:sp>
      </p:grpSp>
      <p:sp>
        <p:nvSpPr>
          <p:cNvPr id="11" name="object 11"/>
          <p:cNvSpPr txBox="1"/>
          <p:nvPr/>
        </p:nvSpPr>
        <p:spPr>
          <a:xfrm>
            <a:off x="6264600" y="2591462"/>
            <a:ext cx="2498725" cy="1534160"/>
          </a:xfrm>
          <a:prstGeom prst="rect">
            <a:avLst/>
          </a:prstGeom>
        </p:spPr>
        <p:txBody>
          <a:bodyPr vert="horz" wrap="square" lIns="0" tIns="43815" rIns="0" bIns="0" rtlCol="0">
            <a:spAutoFit/>
          </a:bodyPr>
          <a:lstStyle/>
          <a:p>
            <a:pPr marL="12700" marR="5080" indent="635" algn="ctr">
              <a:lnSpc>
                <a:spcPts val="1939"/>
              </a:lnSpc>
              <a:spcBef>
                <a:spcPts val="345"/>
              </a:spcBef>
            </a:pPr>
            <a:r>
              <a:rPr sz="1800" spc="15" dirty="0">
                <a:latin typeface="Arial"/>
                <a:cs typeface="Arial"/>
              </a:rPr>
              <a:t>The </a:t>
            </a:r>
            <a:r>
              <a:rPr sz="1800" spc="35" dirty="0">
                <a:latin typeface="Arial"/>
                <a:cs typeface="Arial"/>
              </a:rPr>
              <a:t>text </a:t>
            </a:r>
            <a:r>
              <a:rPr sz="1800" spc="-15" dirty="0">
                <a:latin typeface="Arial"/>
                <a:cs typeface="Arial"/>
              </a:rPr>
              <a:t>includes </a:t>
            </a:r>
            <a:r>
              <a:rPr sz="1800" dirty="0">
                <a:latin typeface="Arial"/>
                <a:cs typeface="Arial"/>
              </a:rPr>
              <a:t>the  </a:t>
            </a:r>
            <a:r>
              <a:rPr sz="1800" spc="-60" dirty="0">
                <a:latin typeface="Arial"/>
                <a:cs typeface="Arial"/>
              </a:rPr>
              <a:t>values </a:t>
            </a:r>
            <a:r>
              <a:rPr sz="1800" spc="25" dirty="0">
                <a:latin typeface="Arial"/>
                <a:cs typeface="Arial"/>
              </a:rPr>
              <a:t>that </a:t>
            </a:r>
            <a:r>
              <a:rPr sz="1800" spc="-90" dirty="0">
                <a:latin typeface="Arial"/>
                <a:cs typeface="Arial"/>
              </a:rPr>
              <a:t>are </a:t>
            </a:r>
            <a:r>
              <a:rPr sz="1800" spc="-15" dirty="0">
                <a:latin typeface="Arial"/>
                <a:cs typeface="Arial"/>
              </a:rPr>
              <a:t>supplied  </a:t>
            </a:r>
            <a:r>
              <a:rPr sz="1800" spc="60" dirty="0">
                <a:latin typeface="Arial"/>
                <a:cs typeface="Arial"/>
              </a:rPr>
              <a:t>for </a:t>
            </a:r>
            <a:r>
              <a:rPr sz="1800" spc="-40" dirty="0">
                <a:latin typeface="Arial"/>
                <a:cs typeface="Arial"/>
              </a:rPr>
              <a:t>any </a:t>
            </a:r>
            <a:r>
              <a:rPr sz="1800" spc="-50" dirty="0">
                <a:latin typeface="Arial"/>
                <a:cs typeface="Arial"/>
              </a:rPr>
              <a:t>parameter </a:t>
            </a:r>
            <a:r>
              <a:rPr sz="1800" spc="25" dirty="0">
                <a:latin typeface="Arial"/>
                <a:cs typeface="Arial"/>
              </a:rPr>
              <a:t>that  </a:t>
            </a:r>
            <a:r>
              <a:rPr sz="1800" spc="-65" dirty="0">
                <a:latin typeface="Arial"/>
                <a:cs typeface="Arial"/>
              </a:rPr>
              <a:t>can </a:t>
            </a:r>
            <a:r>
              <a:rPr sz="1800" spc="-90" dirty="0">
                <a:latin typeface="Arial"/>
                <a:cs typeface="Arial"/>
              </a:rPr>
              <a:t>be </a:t>
            </a:r>
            <a:r>
              <a:rPr sz="1800" spc="-5" dirty="0">
                <a:latin typeface="Arial"/>
                <a:cs typeface="Arial"/>
              </a:rPr>
              <a:t>substituted </a:t>
            </a:r>
            <a:r>
              <a:rPr sz="1800" spc="-50" dirty="0">
                <a:latin typeface="Arial"/>
                <a:cs typeface="Arial"/>
              </a:rPr>
              <a:t>such  </a:t>
            </a:r>
            <a:r>
              <a:rPr sz="1800" spc="-185" dirty="0">
                <a:latin typeface="Arial"/>
                <a:cs typeface="Arial"/>
              </a:rPr>
              <a:t>as </a:t>
            </a:r>
            <a:r>
              <a:rPr sz="1800" spc="-10" dirty="0">
                <a:latin typeface="Arial"/>
                <a:cs typeface="Arial"/>
              </a:rPr>
              <a:t>object </a:t>
            </a:r>
            <a:r>
              <a:rPr sz="1800" spc="-90" dirty="0">
                <a:latin typeface="Arial"/>
                <a:cs typeface="Arial"/>
              </a:rPr>
              <a:t>names, </a:t>
            </a:r>
            <a:r>
              <a:rPr sz="1800" spc="-35" dirty="0">
                <a:latin typeface="Arial"/>
                <a:cs typeface="Arial"/>
              </a:rPr>
              <a:t>times,</a:t>
            </a:r>
            <a:r>
              <a:rPr sz="1800" spc="-240" dirty="0">
                <a:latin typeface="Arial"/>
                <a:cs typeface="Arial"/>
              </a:rPr>
              <a:t> </a:t>
            </a:r>
            <a:r>
              <a:rPr sz="1800" spc="25" dirty="0">
                <a:latin typeface="Arial"/>
                <a:cs typeface="Arial"/>
              </a:rPr>
              <a:t>or  </a:t>
            </a:r>
            <a:r>
              <a:rPr sz="1800" spc="-25" dirty="0">
                <a:latin typeface="Arial"/>
                <a:cs typeface="Arial"/>
              </a:rPr>
              <a:t>lengths.</a:t>
            </a:r>
            <a:endParaRPr sz="1800">
              <a:latin typeface="Arial"/>
              <a:cs typeface="Arial"/>
            </a:endParaRPr>
          </a:p>
        </p:txBody>
      </p:sp>
      <p:sp>
        <p:nvSpPr>
          <p:cNvPr id="13" name="object 13"/>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22</a:t>
            </a:fld>
            <a:endParaRPr sz="1200">
              <a:latin typeface="Arial"/>
              <a:cs typeface="Arial"/>
            </a:endParaRPr>
          </a:p>
        </p:txBody>
      </p:sp>
      <p:sp>
        <p:nvSpPr>
          <p:cNvPr id="14" name="object 1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5" name="TextBox 14">
            <a:extLst>
              <a:ext uri="{FF2B5EF4-FFF2-40B4-BE49-F238E27FC236}">
                <a16:creationId xmlns:a16="http://schemas.microsoft.com/office/drawing/2014/main" id="{C5B82159-C804-4623-A3AF-5E3F277C9C8E}"/>
              </a:ext>
            </a:extLst>
          </p:cNvPr>
          <p:cNvSpPr txBox="1"/>
          <p:nvPr/>
        </p:nvSpPr>
        <p:spPr>
          <a:xfrm>
            <a:off x="1524000" y="5112731"/>
            <a:ext cx="6096000" cy="1600438"/>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BEGIN TRY</a:t>
            </a:r>
          </a:p>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	SELECT 217/0;</a:t>
            </a:r>
          </a:p>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END TRY</a:t>
            </a:r>
          </a:p>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BEGIN CATCH</a:t>
            </a:r>
          </a:p>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	SELECT </a:t>
            </a:r>
            <a:r>
              <a:rPr lang="en-US" sz="1400" b="1" dirty="0">
                <a:solidFill>
                  <a:srgbClr val="FF0000"/>
                </a:solidFill>
                <a:latin typeface="Courier New" panose="02070309020205020404" pitchFamily="49" charset="0"/>
                <a:cs typeface="Courier New" panose="02070309020205020404" pitchFamily="49" charset="0"/>
              </a:rPr>
              <a:t>ERROR_MESSAGE() </a:t>
            </a:r>
            <a:r>
              <a:rPr lang="en-US" sz="1400" b="1" dirty="0">
                <a:latin typeface="Courier New" panose="02070309020205020404" pitchFamily="49" charset="0"/>
                <a:cs typeface="Courier New" panose="02070309020205020404" pitchFamily="49" charset="0"/>
              </a:rPr>
              <a:t>AS ErrorMessage;</a:t>
            </a:r>
          </a:p>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END CATCH;</a:t>
            </a:r>
          </a:p>
          <a:p>
            <a:pPr marL="114300">
              <a:lnSpc>
                <a:spcPct val="100000"/>
              </a:lnSpc>
              <a:spcBef>
                <a:spcPts val="0"/>
              </a:spcBef>
              <a:tabLst>
                <a:tab pos="457200" algn="l"/>
              </a:tabLst>
            </a:pPr>
            <a:r>
              <a:rPr lang="en-US" sz="1400" b="1" dirty="0">
                <a:latin typeface="Courier New" panose="02070309020205020404" pitchFamily="49" charset="0"/>
                <a:cs typeface="Courier New" panose="02070309020205020404" pitchFamily="49" charset="0"/>
              </a:rPr>
              <a:t>GO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6936" y="21590"/>
            <a:ext cx="3155315" cy="635635"/>
          </a:xfrm>
          <a:prstGeom prst="rect">
            <a:avLst/>
          </a:prstGeom>
        </p:spPr>
        <p:txBody>
          <a:bodyPr vert="horz" wrap="square" lIns="0" tIns="12700" rIns="0" bIns="0" rtlCol="0">
            <a:spAutoFit/>
          </a:bodyPr>
          <a:lstStyle/>
          <a:p>
            <a:pPr marL="12700">
              <a:lnSpc>
                <a:spcPct val="100000"/>
              </a:lnSpc>
              <a:spcBef>
                <a:spcPts val="100"/>
              </a:spcBef>
            </a:pPr>
            <a:r>
              <a:rPr sz="4000" spc="-95" dirty="0"/>
              <a:t>ERROR_LINE</a:t>
            </a:r>
            <a:endParaRPr sz="4000"/>
          </a:p>
        </p:txBody>
      </p:sp>
      <p:pic>
        <p:nvPicPr>
          <p:cNvPr id="3" name="object 3"/>
          <p:cNvPicPr/>
          <p:nvPr/>
        </p:nvPicPr>
        <p:blipFill>
          <a:blip r:embed="rId3" cstate="print"/>
          <a:stretch>
            <a:fillRect/>
          </a:stretch>
        </p:blipFill>
        <p:spPr>
          <a:xfrm>
            <a:off x="297941" y="905256"/>
            <a:ext cx="8536686" cy="799465"/>
          </a:xfrm>
          <a:prstGeom prst="rect">
            <a:avLst/>
          </a:prstGeom>
        </p:spPr>
      </p:pic>
      <p:sp>
        <p:nvSpPr>
          <p:cNvPr id="4" name="object 4"/>
          <p:cNvSpPr txBox="1"/>
          <p:nvPr/>
        </p:nvSpPr>
        <p:spPr>
          <a:xfrm>
            <a:off x="650748" y="789306"/>
            <a:ext cx="7831455" cy="1039494"/>
          </a:xfrm>
          <a:prstGeom prst="rect">
            <a:avLst/>
          </a:prstGeom>
        </p:spPr>
        <p:txBody>
          <a:bodyPr vert="horz" wrap="square" lIns="0" tIns="207010" rIns="0" bIns="0" rtlCol="0">
            <a:spAutoFit/>
          </a:bodyPr>
          <a:lstStyle/>
          <a:p>
            <a:pPr marL="419100" marR="69215" indent="-342900">
              <a:lnSpc>
                <a:spcPts val="2160"/>
              </a:lnSpc>
              <a:spcBef>
                <a:spcPts val="1630"/>
              </a:spcBef>
              <a:buFont typeface="Wingdings"/>
              <a:buChar char=""/>
              <a:tabLst>
                <a:tab pos="419100" algn="l"/>
                <a:tab pos="419734" algn="l"/>
              </a:tabLst>
            </a:pPr>
            <a:r>
              <a:rPr sz="2000" spc="20" dirty="0">
                <a:solidFill>
                  <a:srgbClr val="FFFFFF"/>
                </a:solidFill>
                <a:latin typeface="Arial"/>
                <a:cs typeface="Arial"/>
              </a:rPr>
              <a:t>The </a:t>
            </a:r>
            <a:r>
              <a:rPr sz="2000" spc="-50" dirty="0">
                <a:solidFill>
                  <a:srgbClr val="FFFFFF"/>
                </a:solidFill>
                <a:latin typeface="Arial"/>
                <a:cs typeface="Arial"/>
              </a:rPr>
              <a:t>ERROR_LINE </a:t>
            </a:r>
            <a:r>
              <a:rPr sz="2000" spc="55" dirty="0">
                <a:solidFill>
                  <a:srgbClr val="FFFFFF"/>
                </a:solidFill>
                <a:latin typeface="Arial"/>
                <a:cs typeface="Arial"/>
              </a:rPr>
              <a:t>function </a:t>
            </a:r>
            <a:r>
              <a:rPr sz="2000" dirty="0">
                <a:solidFill>
                  <a:srgbClr val="FFFFFF"/>
                </a:solidFill>
                <a:latin typeface="Arial"/>
                <a:cs typeface="Arial"/>
              </a:rPr>
              <a:t>returns the </a:t>
            </a:r>
            <a:r>
              <a:rPr sz="2000" spc="30" dirty="0">
                <a:solidFill>
                  <a:srgbClr val="FFFFFF"/>
                </a:solidFill>
                <a:latin typeface="Arial"/>
                <a:cs typeface="Arial"/>
              </a:rPr>
              <a:t>line </a:t>
            </a:r>
            <a:r>
              <a:rPr sz="2000" spc="-5" dirty="0">
                <a:solidFill>
                  <a:srgbClr val="FFFFFF"/>
                </a:solidFill>
                <a:latin typeface="Arial"/>
                <a:cs typeface="Arial"/>
              </a:rPr>
              <a:t>number </a:t>
            </a:r>
            <a:r>
              <a:rPr sz="2000" spc="-30" dirty="0">
                <a:solidFill>
                  <a:srgbClr val="FFFFFF"/>
                </a:solidFill>
                <a:latin typeface="Arial"/>
                <a:cs typeface="Arial"/>
              </a:rPr>
              <a:t>at </a:t>
            </a:r>
            <a:r>
              <a:rPr sz="2000" spc="40" dirty="0">
                <a:solidFill>
                  <a:srgbClr val="FFFFFF"/>
                </a:solidFill>
                <a:latin typeface="Arial"/>
                <a:cs typeface="Arial"/>
              </a:rPr>
              <a:t>which </a:t>
            </a:r>
            <a:r>
              <a:rPr sz="2000" dirty="0">
                <a:solidFill>
                  <a:srgbClr val="FFFFFF"/>
                </a:solidFill>
                <a:latin typeface="Arial"/>
                <a:cs typeface="Arial"/>
              </a:rPr>
              <a:t>the  </a:t>
            </a:r>
            <a:r>
              <a:rPr sz="2000" spc="5" dirty="0">
                <a:solidFill>
                  <a:srgbClr val="FFFFFF"/>
                </a:solidFill>
                <a:latin typeface="Arial"/>
                <a:cs typeface="Arial"/>
              </a:rPr>
              <a:t>error</a:t>
            </a:r>
            <a:r>
              <a:rPr sz="2000" spc="-125" dirty="0">
                <a:solidFill>
                  <a:srgbClr val="FFFFFF"/>
                </a:solidFill>
                <a:latin typeface="Arial"/>
                <a:cs typeface="Arial"/>
              </a:rPr>
              <a:t> </a:t>
            </a:r>
            <a:r>
              <a:rPr sz="2000" spc="-25" dirty="0">
                <a:solidFill>
                  <a:srgbClr val="FFFFFF"/>
                </a:solidFill>
                <a:latin typeface="Arial"/>
                <a:cs typeface="Arial"/>
              </a:rPr>
              <a:t>occurred</a:t>
            </a:r>
            <a:r>
              <a:rPr sz="2000" spc="-130" dirty="0">
                <a:solidFill>
                  <a:srgbClr val="FFFFFF"/>
                </a:solidFill>
                <a:latin typeface="Arial"/>
                <a:cs typeface="Arial"/>
              </a:rPr>
              <a:t> </a:t>
            </a:r>
            <a:r>
              <a:rPr sz="2000" spc="95" dirty="0">
                <a:solidFill>
                  <a:srgbClr val="FFFFFF"/>
                </a:solidFill>
                <a:latin typeface="Arial"/>
                <a:cs typeface="Arial"/>
              </a:rPr>
              <a:t>in</a:t>
            </a:r>
            <a:r>
              <a:rPr sz="2000" spc="-130" dirty="0">
                <a:solidFill>
                  <a:srgbClr val="FFFFFF"/>
                </a:solidFill>
                <a:latin typeface="Arial"/>
                <a:cs typeface="Arial"/>
              </a:rPr>
              <a:t> </a:t>
            </a:r>
            <a:r>
              <a:rPr sz="2000" dirty="0">
                <a:solidFill>
                  <a:srgbClr val="FFFFFF"/>
                </a:solidFill>
                <a:latin typeface="Arial"/>
                <a:cs typeface="Arial"/>
              </a:rPr>
              <a:t>the</a:t>
            </a:r>
            <a:r>
              <a:rPr sz="2000" spc="-120" dirty="0">
                <a:solidFill>
                  <a:srgbClr val="FFFFFF"/>
                </a:solidFill>
                <a:latin typeface="Arial"/>
                <a:cs typeface="Arial"/>
              </a:rPr>
              <a:t> </a:t>
            </a:r>
            <a:r>
              <a:rPr sz="2000" spc="75" dirty="0">
                <a:solidFill>
                  <a:srgbClr val="FFFFFF"/>
                </a:solidFill>
                <a:latin typeface="Arial"/>
                <a:cs typeface="Arial"/>
              </a:rPr>
              <a:t>TRY</a:t>
            </a:r>
            <a:r>
              <a:rPr sz="2000" spc="75" dirty="0">
                <a:solidFill>
                  <a:srgbClr val="FFFFFF"/>
                </a:solidFill>
                <a:latin typeface="Times New Roman"/>
                <a:cs typeface="Times New Roman"/>
              </a:rPr>
              <a:t>…</a:t>
            </a:r>
            <a:r>
              <a:rPr sz="2000" spc="75" dirty="0">
                <a:solidFill>
                  <a:srgbClr val="FFFFFF"/>
                </a:solidFill>
                <a:latin typeface="Arial"/>
                <a:cs typeface="Arial"/>
              </a:rPr>
              <a:t>CATCH</a:t>
            </a:r>
            <a:r>
              <a:rPr sz="2000" spc="-120" dirty="0">
                <a:solidFill>
                  <a:srgbClr val="FFFFFF"/>
                </a:solidFill>
                <a:latin typeface="Arial"/>
                <a:cs typeface="Arial"/>
              </a:rPr>
              <a:t> </a:t>
            </a:r>
            <a:r>
              <a:rPr sz="2000" dirty="0">
                <a:solidFill>
                  <a:srgbClr val="FFFFFF"/>
                </a:solidFill>
                <a:latin typeface="Arial"/>
                <a:cs typeface="Arial"/>
              </a:rPr>
              <a:t>block.</a:t>
            </a:r>
            <a:endParaRPr sz="2000">
              <a:latin typeface="Arial"/>
              <a:cs typeface="Arial"/>
            </a:endParaRPr>
          </a:p>
        </p:txBody>
      </p:sp>
      <p:sp>
        <p:nvSpPr>
          <p:cNvPr id="5" name="object 5"/>
          <p:cNvSpPr txBox="1"/>
          <p:nvPr/>
        </p:nvSpPr>
        <p:spPr>
          <a:xfrm>
            <a:off x="525144" y="1836547"/>
            <a:ext cx="1630045" cy="574040"/>
          </a:xfrm>
          <a:prstGeom prst="rect">
            <a:avLst/>
          </a:prstGeom>
        </p:spPr>
        <p:txBody>
          <a:bodyPr vert="horz" wrap="square" lIns="0" tIns="12700" rIns="0" bIns="0" rtlCol="0">
            <a:spAutoFit/>
          </a:bodyPr>
          <a:lstStyle/>
          <a:p>
            <a:pPr marL="12700" marR="5080">
              <a:lnSpc>
                <a:spcPct val="100000"/>
              </a:lnSpc>
              <a:spcBef>
                <a:spcPts val="100"/>
              </a:spcBef>
            </a:pPr>
            <a:r>
              <a:rPr sz="1800" b="1" spc="-95" dirty="0">
                <a:latin typeface="Arial"/>
                <a:cs typeface="Arial"/>
              </a:rPr>
              <a:t>Syntax:  </a:t>
            </a:r>
            <a:r>
              <a:rPr sz="1800" spc="-45" dirty="0">
                <a:latin typeface="Arial"/>
                <a:cs typeface="Arial"/>
              </a:rPr>
              <a:t>ERROR_LINE(</a:t>
            </a:r>
            <a:r>
              <a:rPr sz="1800" spc="-170" dirty="0">
                <a:latin typeface="Arial"/>
                <a:cs typeface="Arial"/>
              </a:rPr>
              <a:t> </a:t>
            </a:r>
            <a:r>
              <a:rPr sz="1800" spc="-15" dirty="0">
                <a:latin typeface="Arial"/>
                <a:cs typeface="Arial"/>
              </a:rPr>
              <a:t>)</a:t>
            </a:r>
            <a:endParaRPr sz="1800">
              <a:latin typeface="Arial"/>
              <a:cs typeface="Arial"/>
            </a:endParaRPr>
          </a:p>
        </p:txBody>
      </p:sp>
      <p:grpSp>
        <p:nvGrpSpPr>
          <p:cNvPr id="6" name="object 6"/>
          <p:cNvGrpSpPr/>
          <p:nvPr/>
        </p:nvGrpSpPr>
        <p:grpSpPr>
          <a:xfrm>
            <a:off x="-12191" y="2583815"/>
            <a:ext cx="4365625" cy="2094230"/>
            <a:chOff x="-12191" y="3201923"/>
            <a:chExt cx="4365625" cy="2094230"/>
          </a:xfrm>
        </p:grpSpPr>
        <p:sp>
          <p:nvSpPr>
            <p:cNvPr id="7" name="object 7"/>
            <p:cNvSpPr/>
            <p:nvPr/>
          </p:nvSpPr>
          <p:spPr>
            <a:xfrm>
              <a:off x="381" y="3214496"/>
              <a:ext cx="4340860" cy="2068830"/>
            </a:xfrm>
            <a:custGeom>
              <a:avLst/>
              <a:gdLst/>
              <a:ahLst/>
              <a:cxnLst/>
              <a:rect l="l" t="t" r="r" b="b"/>
              <a:pathLst>
                <a:path w="4340860" h="2068829">
                  <a:moveTo>
                    <a:pt x="2170176" y="0"/>
                  </a:moveTo>
                  <a:lnTo>
                    <a:pt x="2106189" y="441"/>
                  </a:lnTo>
                  <a:lnTo>
                    <a:pt x="2042662" y="1756"/>
                  </a:lnTo>
                  <a:lnTo>
                    <a:pt x="1979620" y="3933"/>
                  </a:lnTo>
                  <a:lnTo>
                    <a:pt x="1917088" y="6959"/>
                  </a:lnTo>
                  <a:lnTo>
                    <a:pt x="1855093" y="10824"/>
                  </a:lnTo>
                  <a:lnTo>
                    <a:pt x="1793658" y="15514"/>
                  </a:lnTo>
                  <a:lnTo>
                    <a:pt x="1732811" y="21017"/>
                  </a:lnTo>
                  <a:lnTo>
                    <a:pt x="1672576" y="27322"/>
                  </a:lnTo>
                  <a:lnTo>
                    <a:pt x="1612978" y="34415"/>
                  </a:lnTo>
                  <a:lnTo>
                    <a:pt x="1554044" y="42286"/>
                  </a:lnTo>
                  <a:lnTo>
                    <a:pt x="1495798" y="50921"/>
                  </a:lnTo>
                  <a:lnTo>
                    <a:pt x="1438267" y="60309"/>
                  </a:lnTo>
                  <a:lnTo>
                    <a:pt x="1381475" y="70438"/>
                  </a:lnTo>
                  <a:lnTo>
                    <a:pt x="1325447" y="81295"/>
                  </a:lnTo>
                  <a:lnTo>
                    <a:pt x="1270210" y="92869"/>
                  </a:lnTo>
                  <a:lnTo>
                    <a:pt x="1215789" y="105147"/>
                  </a:lnTo>
                  <a:lnTo>
                    <a:pt x="1162210" y="118116"/>
                  </a:lnTo>
                  <a:lnTo>
                    <a:pt x="1109496" y="131766"/>
                  </a:lnTo>
                  <a:lnTo>
                    <a:pt x="1057676" y="146084"/>
                  </a:lnTo>
                  <a:lnTo>
                    <a:pt x="1006772" y="161057"/>
                  </a:lnTo>
                  <a:lnTo>
                    <a:pt x="956812" y="176673"/>
                  </a:lnTo>
                  <a:lnTo>
                    <a:pt x="907820" y="192921"/>
                  </a:lnTo>
                  <a:lnTo>
                    <a:pt x="859822" y="209789"/>
                  </a:lnTo>
                  <a:lnTo>
                    <a:pt x="812843" y="227263"/>
                  </a:lnTo>
                  <a:lnTo>
                    <a:pt x="766910" y="245333"/>
                  </a:lnTo>
                  <a:lnTo>
                    <a:pt x="722046" y="263985"/>
                  </a:lnTo>
                  <a:lnTo>
                    <a:pt x="678278" y="283208"/>
                  </a:lnTo>
                  <a:lnTo>
                    <a:pt x="635631" y="302990"/>
                  </a:lnTo>
                  <a:lnTo>
                    <a:pt x="594131" y="323318"/>
                  </a:lnTo>
                  <a:lnTo>
                    <a:pt x="553803" y="344180"/>
                  </a:lnTo>
                  <a:lnTo>
                    <a:pt x="514672" y="365565"/>
                  </a:lnTo>
                  <a:lnTo>
                    <a:pt x="476764" y="387460"/>
                  </a:lnTo>
                  <a:lnTo>
                    <a:pt x="440105" y="409853"/>
                  </a:lnTo>
                  <a:lnTo>
                    <a:pt x="404719" y="432731"/>
                  </a:lnTo>
                  <a:lnTo>
                    <a:pt x="370633" y="456083"/>
                  </a:lnTo>
                  <a:lnTo>
                    <a:pt x="337871" y="479897"/>
                  </a:lnTo>
                  <a:lnTo>
                    <a:pt x="306459" y="504160"/>
                  </a:lnTo>
                  <a:lnTo>
                    <a:pt x="276423" y="528861"/>
                  </a:lnTo>
                  <a:lnTo>
                    <a:pt x="220580" y="579525"/>
                  </a:lnTo>
                  <a:lnTo>
                    <a:pt x="170543" y="631793"/>
                  </a:lnTo>
                  <a:lnTo>
                    <a:pt x="126518" y="685567"/>
                  </a:lnTo>
                  <a:lnTo>
                    <a:pt x="88708" y="740751"/>
                  </a:lnTo>
                  <a:lnTo>
                    <a:pt x="57316" y="797247"/>
                  </a:lnTo>
                  <a:lnTo>
                    <a:pt x="32545" y="854959"/>
                  </a:lnTo>
                  <a:lnTo>
                    <a:pt x="14600" y="913788"/>
                  </a:lnTo>
                  <a:lnTo>
                    <a:pt x="3684" y="973639"/>
                  </a:lnTo>
                  <a:lnTo>
                    <a:pt x="0" y="1034414"/>
                  </a:lnTo>
                  <a:lnTo>
                    <a:pt x="925" y="1064912"/>
                  </a:lnTo>
                  <a:lnTo>
                    <a:pt x="8250" y="1125237"/>
                  </a:lnTo>
                  <a:lnTo>
                    <a:pt x="22707" y="1184589"/>
                  </a:lnTo>
                  <a:lnTo>
                    <a:pt x="44090" y="1242872"/>
                  </a:lnTo>
                  <a:lnTo>
                    <a:pt x="72197" y="1299988"/>
                  </a:lnTo>
                  <a:lnTo>
                    <a:pt x="106824" y="1355840"/>
                  </a:lnTo>
                  <a:lnTo>
                    <a:pt x="147767" y="1410331"/>
                  </a:lnTo>
                  <a:lnTo>
                    <a:pt x="194823" y="1463365"/>
                  </a:lnTo>
                  <a:lnTo>
                    <a:pt x="247788" y="1514843"/>
                  </a:lnTo>
                  <a:lnTo>
                    <a:pt x="306459" y="1564669"/>
                  </a:lnTo>
                  <a:lnTo>
                    <a:pt x="337871" y="1588932"/>
                  </a:lnTo>
                  <a:lnTo>
                    <a:pt x="370633" y="1612746"/>
                  </a:lnTo>
                  <a:lnTo>
                    <a:pt x="404719" y="1636098"/>
                  </a:lnTo>
                  <a:lnTo>
                    <a:pt x="440105" y="1658976"/>
                  </a:lnTo>
                  <a:lnTo>
                    <a:pt x="476764" y="1681369"/>
                  </a:lnTo>
                  <a:lnTo>
                    <a:pt x="514672" y="1703264"/>
                  </a:lnTo>
                  <a:lnTo>
                    <a:pt x="553803" y="1724649"/>
                  </a:lnTo>
                  <a:lnTo>
                    <a:pt x="594131" y="1745511"/>
                  </a:lnTo>
                  <a:lnTo>
                    <a:pt x="635631" y="1765839"/>
                  </a:lnTo>
                  <a:lnTo>
                    <a:pt x="678278" y="1785621"/>
                  </a:lnTo>
                  <a:lnTo>
                    <a:pt x="722046" y="1804844"/>
                  </a:lnTo>
                  <a:lnTo>
                    <a:pt x="766910" y="1823496"/>
                  </a:lnTo>
                  <a:lnTo>
                    <a:pt x="812843" y="1841566"/>
                  </a:lnTo>
                  <a:lnTo>
                    <a:pt x="859822" y="1859040"/>
                  </a:lnTo>
                  <a:lnTo>
                    <a:pt x="907820" y="1875908"/>
                  </a:lnTo>
                  <a:lnTo>
                    <a:pt x="956812" y="1892156"/>
                  </a:lnTo>
                  <a:lnTo>
                    <a:pt x="1006772" y="1907772"/>
                  </a:lnTo>
                  <a:lnTo>
                    <a:pt x="1057676" y="1922745"/>
                  </a:lnTo>
                  <a:lnTo>
                    <a:pt x="1109496" y="1937063"/>
                  </a:lnTo>
                  <a:lnTo>
                    <a:pt x="1162210" y="1950713"/>
                  </a:lnTo>
                  <a:lnTo>
                    <a:pt x="1215789" y="1963682"/>
                  </a:lnTo>
                  <a:lnTo>
                    <a:pt x="1270210" y="1975960"/>
                  </a:lnTo>
                  <a:lnTo>
                    <a:pt x="1325447" y="1987534"/>
                  </a:lnTo>
                  <a:lnTo>
                    <a:pt x="1381475" y="1998391"/>
                  </a:lnTo>
                  <a:lnTo>
                    <a:pt x="1438267" y="2008520"/>
                  </a:lnTo>
                  <a:lnTo>
                    <a:pt x="1495798" y="2017908"/>
                  </a:lnTo>
                  <a:lnTo>
                    <a:pt x="1554044" y="2026543"/>
                  </a:lnTo>
                  <a:lnTo>
                    <a:pt x="1612978" y="2034414"/>
                  </a:lnTo>
                  <a:lnTo>
                    <a:pt x="1672576" y="2041507"/>
                  </a:lnTo>
                  <a:lnTo>
                    <a:pt x="1732811" y="2047812"/>
                  </a:lnTo>
                  <a:lnTo>
                    <a:pt x="1793658" y="2053315"/>
                  </a:lnTo>
                  <a:lnTo>
                    <a:pt x="1855093" y="2058005"/>
                  </a:lnTo>
                  <a:lnTo>
                    <a:pt x="1917088" y="2061870"/>
                  </a:lnTo>
                  <a:lnTo>
                    <a:pt x="1979620" y="2064896"/>
                  </a:lnTo>
                  <a:lnTo>
                    <a:pt x="2042662" y="2067073"/>
                  </a:lnTo>
                  <a:lnTo>
                    <a:pt x="2106189" y="2068388"/>
                  </a:lnTo>
                  <a:lnTo>
                    <a:pt x="2170176" y="2068829"/>
                  </a:lnTo>
                  <a:lnTo>
                    <a:pt x="2234160" y="2068388"/>
                  </a:lnTo>
                  <a:lnTo>
                    <a:pt x="2297684" y="2067073"/>
                  </a:lnTo>
                  <a:lnTo>
                    <a:pt x="2360724" y="2064896"/>
                  </a:lnTo>
                  <a:lnTo>
                    <a:pt x="2423254" y="2061870"/>
                  </a:lnTo>
                  <a:lnTo>
                    <a:pt x="2485247" y="2058005"/>
                  </a:lnTo>
                  <a:lnTo>
                    <a:pt x="2546680" y="2053315"/>
                  </a:lnTo>
                  <a:lnTo>
                    <a:pt x="2607526" y="2047812"/>
                  </a:lnTo>
                  <a:lnTo>
                    <a:pt x="2667759" y="2041507"/>
                  </a:lnTo>
                  <a:lnTo>
                    <a:pt x="2727355" y="2034414"/>
                  </a:lnTo>
                  <a:lnTo>
                    <a:pt x="2786289" y="2026543"/>
                  </a:lnTo>
                  <a:lnTo>
                    <a:pt x="2844533" y="2017908"/>
                  </a:lnTo>
                  <a:lnTo>
                    <a:pt x="2902064" y="2008520"/>
                  </a:lnTo>
                  <a:lnTo>
                    <a:pt x="2958856" y="1998391"/>
                  </a:lnTo>
                  <a:lnTo>
                    <a:pt x="3014882" y="1987534"/>
                  </a:lnTo>
                  <a:lnTo>
                    <a:pt x="3070119" y="1975960"/>
                  </a:lnTo>
                  <a:lnTo>
                    <a:pt x="3124539" y="1963682"/>
                  </a:lnTo>
                  <a:lnTo>
                    <a:pt x="3178119" y="1950713"/>
                  </a:lnTo>
                  <a:lnTo>
                    <a:pt x="3230832" y="1937063"/>
                  </a:lnTo>
                  <a:lnTo>
                    <a:pt x="3282653" y="1922745"/>
                  </a:lnTo>
                  <a:lnTo>
                    <a:pt x="3333556" y="1907772"/>
                  </a:lnTo>
                  <a:lnTo>
                    <a:pt x="3383517" y="1892156"/>
                  </a:lnTo>
                  <a:lnTo>
                    <a:pt x="3432509" y="1875908"/>
                  </a:lnTo>
                  <a:lnTo>
                    <a:pt x="3480507" y="1859040"/>
                  </a:lnTo>
                  <a:lnTo>
                    <a:pt x="3527486" y="1841566"/>
                  </a:lnTo>
                  <a:lnTo>
                    <a:pt x="3573421" y="1823496"/>
                  </a:lnTo>
                  <a:lnTo>
                    <a:pt x="3618285" y="1804844"/>
                  </a:lnTo>
                  <a:lnTo>
                    <a:pt x="3662053" y="1785621"/>
                  </a:lnTo>
                  <a:lnTo>
                    <a:pt x="3704701" y="1765839"/>
                  </a:lnTo>
                  <a:lnTo>
                    <a:pt x="3746202" y="1745511"/>
                  </a:lnTo>
                  <a:lnTo>
                    <a:pt x="3786530" y="1724649"/>
                  </a:lnTo>
                  <a:lnTo>
                    <a:pt x="3825662" y="1703264"/>
                  </a:lnTo>
                  <a:lnTo>
                    <a:pt x="3863571" y="1681369"/>
                  </a:lnTo>
                  <a:lnTo>
                    <a:pt x="3900231" y="1658976"/>
                  </a:lnTo>
                  <a:lnTo>
                    <a:pt x="3935617" y="1636098"/>
                  </a:lnTo>
                  <a:lnTo>
                    <a:pt x="3969705" y="1612746"/>
                  </a:lnTo>
                  <a:lnTo>
                    <a:pt x="4002467" y="1588932"/>
                  </a:lnTo>
                  <a:lnTo>
                    <a:pt x="4033880" y="1564669"/>
                  </a:lnTo>
                  <a:lnTo>
                    <a:pt x="4063917" y="1539968"/>
                  </a:lnTo>
                  <a:lnTo>
                    <a:pt x="4119762" y="1489304"/>
                  </a:lnTo>
                  <a:lnTo>
                    <a:pt x="4169800" y="1437036"/>
                  </a:lnTo>
                  <a:lnTo>
                    <a:pt x="4213827" y="1383262"/>
                  </a:lnTo>
                  <a:lnTo>
                    <a:pt x="4251639" y="1328078"/>
                  </a:lnTo>
                  <a:lnTo>
                    <a:pt x="4283033" y="1271582"/>
                  </a:lnTo>
                  <a:lnTo>
                    <a:pt x="4307804" y="1213870"/>
                  </a:lnTo>
                  <a:lnTo>
                    <a:pt x="4325750" y="1155041"/>
                  </a:lnTo>
                  <a:lnTo>
                    <a:pt x="4336667" y="1095190"/>
                  </a:lnTo>
                  <a:lnTo>
                    <a:pt x="4340352" y="1034414"/>
                  </a:lnTo>
                  <a:lnTo>
                    <a:pt x="4339426" y="1003917"/>
                  </a:lnTo>
                  <a:lnTo>
                    <a:pt x="4332100" y="943592"/>
                  </a:lnTo>
                  <a:lnTo>
                    <a:pt x="4317643" y="884240"/>
                  </a:lnTo>
                  <a:lnTo>
                    <a:pt x="4296259" y="825957"/>
                  </a:lnTo>
                  <a:lnTo>
                    <a:pt x="4268151" y="768841"/>
                  </a:lnTo>
                  <a:lnTo>
                    <a:pt x="4233523" y="712989"/>
                  </a:lnTo>
                  <a:lnTo>
                    <a:pt x="4192578" y="658498"/>
                  </a:lnTo>
                  <a:lnTo>
                    <a:pt x="4145520" y="605464"/>
                  </a:lnTo>
                  <a:lnTo>
                    <a:pt x="4092553" y="553986"/>
                  </a:lnTo>
                  <a:lnTo>
                    <a:pt x="4033880" y="504160"/>
                  </a:lnTo>
                  <a:lnTo>
                    <a:pt x="4002467" y="479897"/>
                  </a:lnTo>
                  <a:lnTo>
                    <a:pt x="3969705" y="456083"/>
                  </a:lnTo>
                  <a:lnTo>
                    <a:pt x="3935617" y="432731"/>
                  </a:lnTo>
                  <a:lnTo>
                    <a:pt x="3900231" y="409853"/>
                  </a:lnTo>
                  <a:lnTo>
                    <a:pt x="3863571" y="387460"/>
                  </a:lnTo>
                  <a:lnTo>
                    <a:pt x="3825662" y="365565"/>
                  </a:lnTo>
                  <a:lnTo>
                    <a:pt x="3786530" y="344180"/>
                  </a:lnTo>
                  <a:lnTo>
                    <a:pt x="3746202" y="323318"/>
                  </a:lnTo>
                  <a:lnTo>
                    <a:pt x="3704701" y="302990"/>
                  </a:lnTo>
                  <a:lnTo>
                    <a:pt x="3662053" y="283208"/>
                  </a:lnTo>
                  <a:lnTo>
                    <a:pt x="3618285" y="263985"/>
                  </a:lnTo>
                  <a:lnTo>
                    <a:pt x="3573421" y="245333"/>
                  </a:lnTo>
                  <a:lnTo>
                    <a:pt x="3527486" y="227263"/>
                  </a:lnTo>
                  <a:lnTo>
                    <a:pt x="3480507" y="209789"/>
                  </a:lnTo>
                  <a:lnTo>
                    <a:pt x="3432509" y="192921"/>
                  </a:lnTo>
                  <a:lnTo>
                    <a:pt x="3383517" y="176673"/>
                  </a:lnTo>
                  <a:lnTo>
                    <a:pt x="3333556" y="161057"/>
                  </a:lnTo>
                  <a:lnTo>
                    <a:pt x="3282653" y="146084"/>
                  </a:lnTo>
                  <a:lnTo>
                    <a:pt x="3230832" y="131766"/>
                  </a:lnTo>
                  <a:lnTo>
                    <a:pt x="3178119" y="118116"/>
                  </a:lnTo>
                  <a:lnTo>
                    <a:pt x="3124539" y="105147"/>
                  </a:lnTo>
                  <a:lnTo>
                    <a:pt x="3070119" y="92869"/>
                  </a:lnTo>
                  <a:lnTo>
                    <a:pt x="3014882" y="81295"/>
                  </a:lnTo>
                  <a:lnTo>
                    <a:pt x="2958856" y="70438"/>
                  </a:lnTo>
                  <a:lnTo>
                    <a:pt x="2902064" y="60309"/>
                  </a:lnTo>
                  <a:lnTo>
                    <a:pt x="2844533" y="50921"/>
                  </a:lnTo>
                  <a:lnTo>
                    <a:pt x="2786289" y="42286"/>
                  </a:lnTo>
                  <a:lnTo>
                    <a:pt x="2727355" y="34415"/>
                  </a:lnTo>
                  <a:lnTo>
                    <a:pt x="2667759" y="27322"/>
                  </a:lnTo>
                  <a:lnTo>
                    <a:pt x="2607526" y="21017"/>
                  </a:lnTo>
                  <a:lnTo>
                    <a:pt x="2546680" y="15514"/>
                  </a:lnTo>
                  <a:lnTo>
                    <a:pt x="2485247" y="10824"/>
                  </a:lnTo>
                  <a:lnTo>
                    <a:pt x="2423254" y="6959"/>
                  </a:lnTo>
                  <a:lnTo>
                    <a:pt x="2360724" y="3933"/>
                  </a:lnTo>
                  <a:lnTo>
                    <a:pt x="2297684" y="1756"/>
                  </a:lnTo>
                  <a:lnTo>
                    <a:pt x="2234160" y="441"/>
                  </a:lnTo>
                  <a:lnTo>
                    <a:pt x="2170176" y="0"/>
                  </a:lnTo>
                  <a:close/>
                </a:path>
              </a:pathLst>
            </a:custGeom>
            <a:solidFill>
              <a:srgbClr val="4AACC5"/>
            </a:solidFill>
          </p:spPr>
          <p:txBody>
            <a:bodyPr wrap="square" lIns="0" tIns="0" rIns="0" bIns="0" rtlCol="0"/>
            <a:lstStyle/>
            <a:p>
              <a:endParaRPr/>
            </a:p>
          </p:txBody>
        </p:sp>
        <p:sp>
          <p:nvSpPr>
            <p:cNvPr id="8" name="object 8"/>
            <p:cNvSpPr/>
            <p:nvPr/>
          </p:nvSpPr>
          <p:spPr>
            <a:xfrm>
              <a:off x="381" y="3214496"/>
              <a:ext cx="4340860" cy="2068830"/>
            </a:xfrm>
            <a:custGeom>
              <a:avLst/>
              <a:gdLst/>
              <a:ahLst/>
              <a:cxnLst/>
              <a:rect l="l" t="t" r="r" b="b"/>
              <a:pathLst>
                <a:path w="4340860" h="2068829">
                  <a:moveTo>
                    <a:pt x="0" y="1034414"/>
                  </a:moveTo>
                  <a:lnTo>
                    <a:pt x="3684" y="973639"/>
                  </a:lnTo>
                  <a:lnTo>
                    <a:pt x="14600" y="913788"/>
                  </a:lnTo>
                  <a:lnTo>
                    <a:pt x="32545" y="854959"/>
                  </a:lnTo>
                  <a:lnTo>
                    <a:pt x="57316" y="797247"/>
                  </a:lnTo>
                  <a:lnTo>
                    <a:pt x="88708" y="740751"/>
                  </a:lnTo>
                  <a:lnTo>
                    <a:pt x="126518" y="685567"/>
                  </a:lnTo>
                  <a:lnTo>
                    <a:pt x="170543" y="631793"/>
                  </a:lnTo>
                  <a:lnTo>
                    <a:pt x="220580" y="579525"/>
                  </a:lnTo>
                  <a:lnTo>
                    <a:pt x="276423" y="528861"/>
                  </a:lnTo>
                  <a:lnTo>
                    <a:pt x="306459" y="504160"/>
                  </a:lnTo>
                  <a:lnTo>
                    <a:pt x="337871" y="479897"/>
                  </a:lnTo>
                  <a:lnTo>
                    <a:pt x="370633" y="456083"/>
                  </a:lnTo>
                  <a:lnTo>
                    <a:pt x="404719" y="432731"/>
                  </a:lnTo>
                  <a:lnTo>
                    <a:pt x="440105" y="409853"/>
                  </a:lnTo>
                  <a:lnTo>
                    <a:pt x="476764" y="387460"/>
                  </a:lnTo>
                  <a:lnTo>
                    <a:pt x="514672" y="365565"/>
                  </a:lnTo>
                  <a:lnTo>
                    <a:pt x="553803" y="344180"/>
                  </a:lnTo>
                  <a:lnTo>
                    <a:pt x="594131" y="323318"/>
                  </a:lnTo>
                  <a:lnTo>
                    <a:pt x="635631" y="302990"/>
                  </a:lnTo>
                  <a:lnTo>
                    <a:pt x="678278" y="283208"/>
                  </a:lnTo>
                  <a:lnTo>
                    <a:pt x="722046" y="263985"/>
                  </a:lnTo>
                  <a:lnTo>
                    <a:pt x="766910" y="245333"/>
                  </a:lnTo>
                  <a:lnTo>
                    <a:pt x="812843" y="227263"/>
                  </a:lnTo>
                  <a:lnTo>
                    <a:pt x="859822" y="209789"/>
                  </a:lnTo>
                  <a:lnTo>
                    <a:pt x="907820" y="192921"/>
                  </a:lnTo>
                  <a:lnTo>
                    <a:pt x="956812" y="176673"/>
                  </a:lnTo>
                  <a:lnTo>
                    <a:pt x="1006772" y="161057"/>
                  </a:lnTo>
                  <a:lnTo>
                    <a:pt x="1057676" y="146084"/>
                  </a:lnTo>
                  <a:lnTo>
                    <a:pt x="1109496" y="131766"/>
                  </a:lnTo>
                  <a:lnTo>
                    <a:pt x="1162210" y="118116"/>
                  </a:lnTo>
                  <a:lnTo>
                    <a:pt x="1215789" y="105147"/>
                  </a:lnTo>
                  <a:lnTo>
                    <a:pt x="1270210" y="92869"/>
                  </a:lnTo>
                  <a:lnTo>
                    <a:pt x="1325447" y="81295"/>
                  </a:lnTo>
                  <a:lnTo>
                    <a:pt x="1381475" y="70438"/>
                  </a:lnTo>
                  <a:lnTo>
                    <a:pt x="1438267" y="60309"/>
                  </a:lnTo>
                  <a:lnTo>
                    <a:pt x="1495798" y="50921"/>
                  </a:lnTo>
                  <a:lnTo>
                    <a:pt x="1554044" y="42286"/>
                  </a:lnTo>
                  <a:lnTo>
                    <a:pt x="1612978" y="34415"/>
                  </a:lnTo>
                  <a:lnTo>
                    <a:pt x="1672576" y="27322"/>
                  </a:lnTo>
                  <a:lnTo>
                    <a:pt x="1732811" y="21017"/>
                  </a:lnTo>
                  <a:lnTo>
                    <a:pt x="1793658" y="15514"/>
                  </a:lnTo>
                  <a:lnTo>
                    <a:pt x="1855093" y="10824"/>
                  </a:lnTo>
                  <a:lnTo>
                    <a:pt x="1917088" y="6959"/>
                  </a:lnTo>
                  <a:lnTo>
                    <a:pt x="1979620" y="3933"/>
                  </a:lnTo>
                  <a:lnTo>
                    <a:pt x="2042662" y="1756"/>
                  </a:lnTo>
                  <a:lnTo>
                    <a:pt x="2106189" y="441"/>
                  </a:lnTo>
                  <a:lnTo>
                    <a:pt x="2170176" y="0"/>
                  </a:lnTo>
                  <a:lnTo>
                    <a:pt x="2234160" y="441"/>
                  </a:lnTo>
                  <a:lnTo>
                    <a:pt x="2297684" y="1756"/>
                  </a:lnTo>
                  <a:lnTo>
                    <a:pt x="2360724" y="3933"/>
                  </a:lnTo>
                  <a:lnTo>
                    <a:pt x="2423254" y="6959"/>
                  </a:lnTo>
                  <a:lnTo>
                    <a:pt x="2485247" y="10824"/>
                  </a:lnTo>
                  <a:lnTo>
                    <a:pt x="2546680" y="15514"/>
                  </a:lnTo>
                  <a:lnTo>
                    <a:pt x="2607526" y="21017"/>
                  </a:lnTo>
                  <a:lnTo>
                    <a:pt x="2667759" y="27322"/>
                  </a:lnTo>
                  <a:lnTo>
                    <a:pt x="2727355" y="34415"/>
                  </a:lnTo>
                  <a:lnTo>
                    <a:pt x="2786289" y="42286"/>
                  </a:lnTo>
                  <a:lnTo>
                    <a:pt x="2844533" y="50921"/>
                  </a:lnTo>
                  <a:lnTo>
                    <a:pt x="2902064" y="60309"/>
                  </a:lnTo>
                  <a:lnTo>
                    <a:pt x="2958856" y="70438"/>
                  </a:lnTo>
                  <a:lnTo>
                    <a:pt x="3014882" y="81295"/>
                  </a:lnTo>
                  <a:lnTo>
                    <a:pt x="3070119" y="92869"/>
                  </a:lnTo>
                  <a:lnTo>
                    <a:pt x="3124539" y="105147"/>
                  </a:lnTo>
                  <a:lnTo>
                    <a:pt x="3178119" y="118116"/>
                  </a:lnTo>
                  <a:lnTo>
                    <a:pt x="3230832" y="131766"/>
                  </a:lnTo>
                  <a:lnTo>
                    <a:pt x="3282653" y="146084"/>
                  </a:lnTo>
                  <a:lnTo>
                    <a:pt x="3333556" y="161057"/>
                  </a:lnTo>
                  <a:lnTo>
                    <a:pt x="3383517" y="176673"/>
                  </a:lnTo>
                  <a:lnTo>
                    <a:pt x="3432509" y="192921"/>
                  </a:lnTo>
                  <a:lnTo>
                    <a:pt x="3480507" y="209789"/>
                  </a:lnTo>
                  <a:lnTo>
                    <a:pt x="3527486" y="227263"/>
                  </a:lnTo>
                  <a:lnTo>
                    <a:pt x="3573421" y="245333"/>
                  </a:lnTo>
                  <a:lnTo>
                    <a:pt x="3618285" y="263985"/>
                  </a:lnTo>
                  <a:lnTo>
                    <a:pt x="3662053" y="283208"/>
                  </a:lnTo>
                  <a:lnTo>
                    <a:pt x="3704701" y="302990"/>
                  </a:lnTo>
                  <a:lnTo>
                    <a:pt x="3746202" y="323318"/>
                  </a:lnTo>
                  <a:lnTo>
                    <a:pt x="3786530" y="344180"/>
                  </a:lnTo>
                  <a:lnTo>
                    <a:pt x="3825662" y="365565"/>
                  </a:lnTo>
                  <a:lnTo>
                    <a:pt x="3863571" y="387460"/>
                  </a:lnTo>
                  <a:lnTo>
                    <a:pt x="3900231" y="409853"/>
                  </a:lnTo>
                  <a:lnTo>
                    <a:pt x="3935617" y="432731"/>
                  </a:lnTo>
                  <a:lnTo>
                    <a:pt x="3969705" y="456083"/>
                  </a:lnTo>
                  <a:lnTo>
                    <a:pt x="4002467" y="479897"/>
                  </a:lnTo>
                  <a:lnTo>
                    <a:pt x="4033880" y="504160"/>
                  </a:lnTo>
                  <a:lnTo>
                    <a:pt x="4063917" y="528861"/>
                  </a:lnTo>
                  <a:lnTo>
                    <a:pt x="4119762" y="579525"/>
                  </a:lnTo>
                  <a:lnTo>
                    <a:pt x="4169800" y="631793"/>
                  </a:lnTo>
                  <a:lnTo>
                    <a:pt x="4213827" y="685567"/>
                  </a:lnTo>
                  <a:lnTo>
                    <a:pt x="4251639" y="740751"/>
                  </a:lnTo>
                  <a:lnTo>
                    <a:pt x="4283033" y="797247"/>
                  </a:lnTo>
                  <a:lnTo>
                    <a:pt x="4307804" y="854959"/>
                  </a:lnTo>
                  <a:lnTo>
                    <a:pt x="4325750" y="913788"/>
                  </a:lnTo>
                  <a:lnTo>
                    <a:pt x="4336667" y="973639"/>
                  </a:lnTo>
                  <a:lnTo>
                    <a:pt x="4340352" y="1034414"/>
                  </a:lnTo>
                  <a:lnTo>
                    <a:pt x="4339426" y="1064912"/>
                  </a:lnTo>
                  <a:lnTo>
                    <a:pt x="4332100" y="1125237"/>
                  </a:lnTo>
                  <a:lnTo>
                    <a:pt x="4317643" y="1184589"/>
                  </a:lnTo>
                  <a:lnTo>
                    <a:pt x="4296259" y="1242872"/>
                  </a:lnTo>
                  <a:lnTo>
                    <a:pt x="4268151" y="1299988"/>
                  </a:lnTo>
                  <a:lnTo>
                    <a:pt x="4233523" y="1355840"/>
                  </a:lnTo>
                  <a:lnTo>
                    <a:pt x="4192578" y="1410331"/>
                  </a:lnTo>
                  <a:lnTo>
                    <a:pt x="4145520" y="1463365"/>
                  </a:lnTo>
                  <a:lnTo>
                    <a:pt x="4092553" y="1514843"/>
                  </a:lnTo>
                  <a:lnTo>
                    <a:pt x="4033880" y="1564669"/>
                  </a:lnTo>
                  <a:lnTo>
                    <a:pt x="4002467" y="1588932"/>
                  </a:lnTo>
                  <a:lnTo>
                    <a:pt x="3969705" y="1612746"/>
                  </a:lnTo>
                  <a:lnTo>
                    <a:pt x="3935617" y="1636098"/>
                  </a:lnTo>
                  <a:lnTo>
                    <a:pt x="3900231" y="1658976"/>
                  </a:lnTo>
                  <a:lnTo>
                    <a:pt x="3863571" y="1681369"/>
                  </a:lnTo>
                  <a:lnTo>
                    <a:pt x="3825662" y="1703264"/>
                  </a:lnTo>
                  <a:lnTo>
                    <a:pt x="3786530" y="1724649"/>
                  </a:lnTo>
                  <a:lnTo>
                    <a:pt x="3746202" y="1745511"/>
                  </a:lnTo>
                  <a:lnTo>
                    <a:pt x="3704701" y="1765839"/>
                  </a:lnTo>
                  <a:lnTo>
                    <a:pt x="3662053" y="1785621"/>
                  </a:lnTo>
                  <a:lnTo>
                    <a:pt x="3618285" y="1804844"/>
                  </a:lnTo>
                  <a:lnTo>
                    <a:pt x="3573421" y="1823496"/>
                  </a:lnTo>
                  <a:lnTo>
                    <a:pt x="3527486" y="1841566"/>
                  </a:lnTo>
                  <a:lnTo>
                    <a:pt x="3480507" y="1859040"/>
                  </a:lnTo>
                  <a:lnTo>
                    <a:pt x="3432509" y="1875908"/>
                  </a:lnTo>
                  <a:lnTo>
                    <a:pt x="3383517" y="1892156"/>
                  </a:lnTo>
                  <a:lnTo>
                    <a:pt x="3333556" y="1907772"/>
                  </a:lnTo>
                  <a:lnTo>
                    <a:pt x="3282653" y="1922745"/>
                  </a:lnTo>
                  <a:lnTo>
                    <a:pt x="3230832" y="1937063"/>
                  </a:lnTo>
                  <a:lnTo>
                    <a:pt x="3178119" y="1950713"/>
                  </a:lnTo>
                  <a:lnTo>
                    <a:pt x="3124539" y="1963682"/>
                  </a:lnTo>
                  <a:lnTo>
                    <a:pt x="3070119" y="1975960"/>
                  </a:lnTo>
                  <a:lnTo>
                    <a:pt x="3014882" y="1987534"/>
                  </a:lnTo>
                  <a:lnTo>
                    <a:pt x="2958856" y="1998391"/>
                  </a:lnTo>
                  <a:lnTo>
                    <a:pt x="2902064" y="2008520"/>
                  </a:lnTo>
                  <a:lnTo>
                    <a:pt x="2844533" y="2017908"/>
                  </a:lnTo>
                  <a:lnTo>
                    <a:pt x="2786289" y="2026543"/>
                  </a:lnTo>
                  <a:lnTo>
                    <a:pt x="2727355" y="2034414"/>
                  </a:lnTo>
                  <a:lnTo>
                    <a:pt x="2667759" y="2041507"/>
                  </a:lnTo>
                  <a:lnTo>
                    <a:pt x="2607526" y="2047812"/>
                  </a:lnTo>
                  <a:lnTo>
                    <a:pt x="2546680" y="2053315"/>
                  </a:lnTo>
                  <a:lnTo>
                    <a:pt x="2485247" y="2058005"/>
                  </a:lnTo>
                  <a:lnTo>
                    <a:pt x="2423254" y="2061870"/>
                  </a:lnTo>
                  <a:lnTo>
                    <a:pt x="2360724" y="2064896"/>
                  </a:lnTo>
                  <a:lnTo>
                    <a:pt x="2297684" y="2067073"/>
                  </a:lnTo>
                  <a:lnTo>
                    <a:pt x="2234160" y="2068388"/>
                  </a:lnTo>
                  <a:lnTo>
                    <a:pt x="2170176" y="2068829"/>
                  </a:lnTo>
                  <a:lnTo>
                    <a:pt x="2106189" y="2068388"/>
                  </a:lnTo>
                  <a:lnTo>
                    <a:pt x="2042662" y="2067073"/>
                  </a:lnTo>
                  <a:lnTo>
                    <a:pt x="1979620" y="2064896"/>
                  </a:lnTo>
                  <a:lnTo>
                    <a:pt x="1917088" y="2061870"/>
                  </a:lnTo>
                  <a:lnTo>
                    <a:pt x="1855093" y="2058005"/>
                  </a:lnTo>
                  <a:lnTo>
                    <a:pt x="1793658" y="2053315"/>
                  </a:lnTo>
                  <a:lnTo>
                    <a:pt x="1732811" y="2047812"/>
                  </a:lnTo>
                  <a:lnTo>
                    <a:pt x="1672576" y="2041507"/>
                  </a:lnTo>
                  <a:lnTo>
                    <a:pt x="1612978" y="2034414"/>
                  </a:lnTo>
                  <a:lnTo>
                    <a:pt x="1554044" y="2026543"/>
                  </a:lnTo>
                  <a:lnTo>
                    <a:pt x="1495798" y="2017908"/>
                  </a:lnTo>
                  <a:lnTo>
                    <a:pt x="1438267" y="2008520"/>
                  </a:lnTo>
                  <a:lnTo>
                    <a:pt x="1381475" y="1998391"/>
                  </a:lnTo>
                  <a:lnTo>
                    <a:pt x="1325447" y="1987534"/>
                  </a:lnTo>
                  <a:lnTo>
                    <a:pt x="1270210" y="1975960"/>
                  </a:lnTo>
                  <a:lnTo>
                    <a:pt x="1215789" y="1963682"/>
                  </a:lnTo>
                  <a:lnTo>
                    <a:pt x="1162210" y="1950713"/>
                  </a:lnTo>
                  <a:lnTo>
                    <a:pt x="1109496" y="1937063"/>
                  </a:lnTo>
                  <a:lnTo>
                    <a:pt x="1057676" y="1922745"/>
                  </a:lnTo>
                  <a:lnTo>
                    <a:pt x="1006772" y="1907772"/>
                  </a:lnTo>
                  <a:lnTo>
                    <a:pt x="956812" y="1892156"/>
                  </a:lnTo>
                  <a:lnTo>
                    <a:pt x="907820" y="1875908"/>
                  </a:lnTo>
                  <a:lnTo>
                    <a:pt x="859822" y="1859040"/>
                  </a:lnTo>
                  <a:lnTo>
                    <a:pt x="812843" y="1841566"/>
                  </a:lnTo>
                  <a:lnTo>
                    <a:pt x="766910" y="1823496"/>
                  </a:lnTo>
                  <a:lnTo>
                    <a:pt x="722046" y="1804844"/>
                  </a:lnTo>
                  <a:lnTo>
                    <a:pt x="678278" y="1785621"/>
                  </a:lnTo>
                  <a:lnTo>
                    <a:pt x="635631" y="1765839"/>
                  </a:lnTo>
                  <a:lnTo>
                    <a:pt x="594131" y="1745511"/>
                  </a:lnTo>
                  <a:lnTo>
                    <a:pt x="553803" y="1724649"/>
                  </a:lnTo>
                  <a:lnTo>
                    <a:pt x="514672" y="1703264"/>
                  </a:lnTo>
                  <a:lnTo>
                    <a:pt x="476764" y="1681369"/>
                  </a:lnTo>
                  <a:lnTo>
                    <a:pt x="440105" y="1658976"/>
                  </a:lnTo>
                  <a:lnTo>
                    <a:pt x="404719" y="1636098"/>
                  </a:lnTo>
                  <a:lnTo>
                    <a:pt x="370633" y="1612746"/>
                  </a:lnTo>
                  <a:lnTo>
                    <a:pt x="337871" y="1588932"/>
                  </a:lnTo>
                  <a:lnTo>
                    <a:pt x="306459" y="1564669"/>
                  </a:lnTo>
                  <a:lnTo>
                    <a:pt x="276423" y="1539968"/>
                  </a:lnTo>
                  <a:lnTo>
                    <a:pt x="220580" y="1489304"/>
                  </a:lnTo>
                  <a:lnTo>
                    <a:pt x="170543" y="1437036"/>
                  </a:lnTo>
                  <a:lnTo>
                    <a:pt x="126518" y="1383262"/>
                  </a:lnTo>
                  <a:lnTo>
                    <a:pt x="88708" y="1328078"/>
                  </a:lnTo>
                  <a:lnTo>
                    <a:pt x="57316" y="1271582"/>
                  </a:lnTo>
                  <a:lnTo>
                    <a:pt x="32545" y="1213870"/>
                  </a:lnTo>
                  <a:lnTo>
                    <a:pt x="14600" y="1155041"/>
                  </a:lnTo>
                  <a:lnTo>
                    <a:pt x="3684" y="1095190"/>
                  </a:lnTo>
                  <a:lnTo>
                    <a:pt x="0" y="1034414"/>
                  </a:lnTo>
                  <a:close/>
                </a:path>
              </a:pathLst>
            </a:custGeom>
            <a:ln w="25145">
              <a:solidFill>
                <a:srgbClr val="FFFFFF"/>
              </a:solidFill>
            </a:ln>
          </p:spPr>
          <p:txBody>
            <a:bodyPr wrap="square" lIns="0" tIns="0" rIns="0" bIns="0" rtlCol="0"/>
            <a:lstStyle/>
            <a:p>
              <a:endParaRPr/>
            </a:p>
          </p:txBody>
        </p:sp>
      </p:grpSp>
      <p:sp>
        <p:nvSpPr>
          <p:cNvPr id="9" name="object 9"/>
          <p:cNvSpPr txBox="1"/>
          <p:nvPr/>
        </p:nvSpPr>
        <p:spPr>
          <a:xfrm>
            <a:off x="311658" y="3178175"/>
            <a:ext cx="3716020" cy="805180"/>
          </a:xfrm>
          <a:prstGeom prst="rect">
            <a:avLst/>
          </a:prstGeom>
        </p:spPr>
        <p:txBody>
          <a:bodyPr vert="horz" wrap="square" lIns="0" tIns="34290" rIns="0" bIns="0" rtlCol="0">
            <a:spAutoFit/>
          </a:bodyPr>
          <a:lstStyle/>
          <a:p>
            <a:pPr marL="12700" marR="5080" indent="-635" algn="ctr">
              <a:lnSpc>
                <a:spcPct val="92100"/>
              </a:lnSpc>
              <a:spcBef>
                <a:spcPts val="270"/>
              </a:spcBef>
            </a:pPr>
            <a:r>
              <a:rPr sz="1800" spc="60" dirty="0">
                <a:latin typeface="Arial"/>
                <a:cs typeface="Arial"/>
              </a:rPr>
              <a:t>When </a:t>
            </a:r>
            <a:r>
              <a:rPr sz="1800" spc="20" dirty="0">
                <a:latin typeface="Arial"/>
                <a:cs typeface="Arial"/>
              </a:rPr>
              <a:t>this </a:t>
            </a:r>
            <a:r>
              <a:rPr sz="1800" spc="50" dirty="0">
                <a:latin typeface="Arial"/>
                <a:cs typeface="Arial"/>
              </a:rPr>
              <a:t>function </a:t>
            </a:r>
            <a:r>
              <a:rPr sz="1800" spc="-45" dirty="0">
                <a:latin typeface="Arial"/>
                <a:cs typeface="Arial"/>
              </a:rPr>
              <a:t>is </a:t>
            </a:r>
            <a:r>
              <a:rPr sz="1800" spc="-35" dirty="0">
                <a:latin typeface="Arial"/>
                <a:cs typeface="Arial"/>
              </a:rPr>
              <a:t>called </a:t>
            </a:r>
            <a:r>
              <a:rPr sz="1800" spc="85" dirty="0">
                <a:latin typeface="Arial"/>
                <a:cs typeface="Arial"/>
              </a:rPr>
              <a:t>in </a:t>
            </a:r>
            <a:r>
              <a:rPr sz="1800" dirty="0">
                <a:latin typeface="Arial"/>
                <a:cs typeface="Arial"/>
              </a:rPr>
              <a:t>the  </a:t>
            </a:r>
            <a:r>
              <a:rPr sz="1800" spc="170" dirty="0">
                <a:latin typeface="Arial"/>
                <a:cs typeface="Arial"/>
              </a:rPr>
              <a:t>CATCH </a:t>
            </a:r>
            <a:r>
              <a:rPr sz="1800" dirty="0">
                <a:latin typeface="Arial"/>
                <a:cs typeface="Arial"/>
              </a:rPr>
              <a:t>block, </a:t>
            </a:r>
            <a:r>
              <a:rPr sz="1800" spc="110" dirty="0">
                <a:latin typeface="Arial"/>
                <a:cs typeface="Arial"/>
              </a:rPr>
              <a:t>it </a:t>
            </a:r>
            <a:r>
              <a:rPr sz="1800" dirty="0">
                <a:latin typeface="Arial"/>
                <a:cs typeface="Arial"/>
              </a:rPr>
              <a:t>returns the </a:t>
            </a:r>
            <a:r>
              <a:rPr sz="1800" spc="25" dirty="0">
                <a:latin typeface="Arial"/>
                <a:cs typeface="Arial"/>
              </a:rPr>
              <a:t>line  </a:t>
            </a:r>
            <a:r>
              <a:rPr sz="1800" spc="-5" dirty="0">
                <a:latin typeface="Arial"/>
                <a:cs typeface="Arial"/>
              </a:rPr>
              <a:t>number</a:t>
            </a:r>
            <a:r>
              <a:rPr sz="1800" spc="-130" dirty="0">
                <a:latin typeface="Arial"/>
                <a:cs typeface="Arial"/>
              </a:rPr>
              <a:t> </a:t>
            </a:r>
            <a:r>
              <a:rPr sz="1800" spc="-30" dirty="0">
                <a:latin typeface="Arial"/>
                <a:cs typeface="Arial"/>
              </a:rPr>
              <a:t>where</a:t>
            </a:r>
            <a:r>
              <a:rPr sz="1800" spc="-110" dirty="0">
                <a:latin typeface="Arial"/>
                <a:cs typeface="Arial"/>
              </a:rPr>
              <a:t> </a:t>
            </a:r>
            <a:r>
              <a:rPr sz="1800" dirty="0">
                <a:latin typeface="Arial"/>
                <a:cs typeface="Arial"/>
              </a:rPr>
              <a:t>the</a:t>
            </a:r>
            <a:r>
              <a:rPr sz="1800" spc="-130" dirty="0">
                <a:latin typeface="Arial"/>
                <a:cs typeface="Arial"/>
              </a:rPr>
              <a:t> </a:t>
            </a:r>
            <a:r>
              <a:rPr sz="1800" spc="10" dirty="0">
                <a:latin typeface="Arial"/>
                <a:cs typeface="Arial"/>
              </a:rPr>
              <a:t>error</a:t>
            </a:r>
            <a:r>
              <a:rPr sz="1800" spc="-125" dirty="0">
                <a:latin typeface="Arial"/>
                <a:cs typeface="Arial"/>
              </a:rPr>
              <a:t> </a:t>
            </a:r>
            <a:r>
              <a:rPr sz="1800" spc="-105" dirty="0">
                <a:latin typeface="Arial"/>
                <a:cs typeface="Arial"/>
              </a:rPr>
              <a:t>has</a:t>
            </a:r>
            <a:r>
              <a:rPr sz="1800" spc="-114" dirty="0">
                <a:latin typeface="Arial"/>
                <a:cs typeface="Arial"/>
              </a:rPr>
              <a:t> </a:t>
            </a:r>
            <a:r>
              <a:rPr sz="1800" spc="-25" dirty="0">
                <a:latin typeface="Arial"/>
                <a:cs typeface="Arial"/>
              </a:rPr>
              <a:t>occurred.</a:t>
            </a:r>
            <a:endParaRPr sz="1800">
              <a:latin typeface="Arial"/>
              <a:cs typeface="Arial"/>
            </a:endParaRPr>
          </a:p>
        </p:txBody>
      </p:sp>
      <p:grpSp>
        <p:nvGrpSpPr>
          <p:cNvPr id="10" name="object 10"/>
          <p:cNvGrpSpPr/>
          <p:nvPr/>
        </p:nvGrpSpPr>
        <p:grpSpPr>
          <a:xfrm>
            <a:off x="4412741" y="2629536"/>
            <a:ext cx="4587240" cy="2094864"/>
            <a:chOff x="4412741" y="3247644"/>
            <a:chExt cx="4587240" cy="2094864"/>
          </a:xfrm>
        </p:grpSpPr>
        <p:sp>
          <p:nvSpPr>
            <p:cNvPr id="11" name="object 11"/>
            <p:cNvSpPr/>
            <p:nvPr/>
          </p:nvSpPr>
          <p:spPr>
            <a:xfrm>
              <a:off x="4425314" y="3260217"/>
              <a:ext cx="4562475" cy="2070100"/>
            </a:xfrm>
            <a:custGeom>
              <a:avLst/>
              <a:gdLst/>
              <a:ahLst/>
              <a:cxnLst/>
              <a:rect l="l" t="t" r="r" b="b"/>
              <a:pathLst>
                <a:path w="4562475" h="2070100">
                  <a:moveTo>
                    <a:pt x="2281047" y="0"/>
                  </a:moveTo>
                  <a:lnTo>
                    <a:pt x="2216099" y="411"/>
                  </a:lnTo>
                  <a:lnTo>
                    <a:pt x="2151602" y="1638"/>
                  </a:lnTo>
                  <a:lnTo>
                    <a:pt x="2087578" y="3669"/>
                  </a:lnTo>
                  <a:lnTo>
                    <a:pt x="2024052" y="6494"/>
                  </a:lnTo>
                  <a:lnTo>
                    <a:pt x="1961047" y="10101"/>
                  </a:lnTo>
                  <a:lnTo>
                    <a:pt x="1898589" y="14480"/>
                  </a:lnTo>
                  <a:lnTo>
                    <a:pt x="1836701" y="19620"/>
                  </a:lnTo>
                  <a:lnTo>
                    <a:pt x="1775407" y="25510"/>
                  </a:lnTo>
                  <a:lnTo>
                    <a:pt x="1714731" y="32139"/>
                  </a:lnTo>
                  <a:lnTo>
                    <a:pt x="1654697" y="39496"/>
                  </a:lnTo>
                  <a:lnTo>
                    <a:pt x="1595330" y="47570"/>
                  </a:lnTo>
                  <a:lnTo>
                    <a:pt x="1536653" y="56350"/>
                  </a:lnTo>
                  <a:lnTo>
                    <a:pt x="1478690" y="65826"/>
                  </a:lnTo>
                  <a:lnTo>
                    <a:pt x="1421466" y="75986"/>
                  </a:lnTo>
                  <a:lnTo>
                    <a:pt x="1365004" y="86819"/>
                  </a:lnTo>
                  <a:lnTo>
                    <a:pt x="1309329" y="98315"/>
                  </a:lnTo>
                  <a:lnTo>
                    <a:pt x="1254464" y="110463"/>
                  </a:lnTo>
                  <a:lnTo>
                    <a:pt x="1200435" y="123251"/>
                  </a:lnTo>
                  <a:lnTo>
                    <a:pt x="1147264" y="136669"/>
                  </a:lnTo>
                  <a:lnTo>
                    <a:pt x="1094976" y="150706"/>
                  </a:lnTo>
                  <a:lnTo>
                    <a:pt x="1043595" y="165351"/>
                  </a:lnTo>
                  <a:lnTo>
                    <a:pt x="993144" y="180593"/>
                  </a:lnTo>
                  <a:lnTo>
                    <a:pt x="943649" y="196421"/>
                  </a:lnTo>
                  <a:lnTo>
                    <a:pt x="895133" y="212824"/>
                  </a:lnTo>
                  <a:lnTo>
                    <a:pt x="847621" y="229791"/>
                  </a:lnTo>
                  <a:lnTo>
                    <a:pt x="801135" y="247312"/>
                  </a:lnTo>
                  <a:lnTo>
                    <a:pt x="755701" y="265375"/>
                  </a:lnTo>
                  <a:lnTo>
                    <a:pt x="711342" y="283970"/>
                  </a:lnTo>
                  <a:lnTo>
                    <a:pt x="668083" y="303085"/>
                  </a:lnTo>
                  <a:lnTo>
                    <a:pt x="625947" y="322710"/>
                  </a:lnTo>
                  <a:lnTo>
                    <a:pt x="584959" y="342834"/>
                  </a:lnTo>
                  <a:lnTo>
                    <a:pt x="545142" y="363445"/>
                  </a:lnTo>
                  <a:lnTo>
                    <a:pt x="506522" y="384533"/>
                  </a:lnTo>
                  <a:lnTo>
                    <a:pt x="469121" y="406088"/>
                  </a:lnTo>
                  <a:lnTo>
                    <a:pt x="432963" y="428097"/>
                  </a:lnTo>
                  <a:lnTo>
                    <a:pt x="398074" y="450551"/>
                  </a:lnTo>
                  <a:lnTo>
                    <a:pt x="364477" y="473437"/>
                  </a:lnTo>
                  <a:lnTo>
                    <a:pt x="332195" y="496746"/>
                  </a:lnTo>
                  <a:lnTo>
                    <a:pt x="301254" y="520467"/>
                  </a:lnTo>
                  <a:lnTo>
                    <a:pt x="271677" y="544588"/>
                  </a:lnTo>
                  <a:lnTo>
                    <a:pt x="216712" y="593987"/>
                  </a:lnTo>
                  <a:lnTo>
                    <a:pt x="167492" y="644858"/>
                  </a:lnTo>
                  <a:lnTo>
                    <a:pt x="124211" y="697112"/>
                  </a:lnTo>
                  <a:lnTo>
                    <a:pt x="87059" y="750662"/>
                  </a:lnTo>
                  <a:lnTo>
                    <a:pt x="56231" y="805420"/>
                  </a:lnTo>
                  <a:lnTo>
                    <a:pt x="31919" y="861300"/>
                  </a:lnTo>
                  <a:lnTo>
                    <a:pt x="14314" y="918215"/>
                  </a:lnTo>
                  <a:lnTo>
                    <a:pt x="3610" y="976075"/>
                  </a:lnTo>
                  <a:lnTo>
                    <a:pt x="0" y="1034796"/>
                  </a:lnTo>
                  <a:lnTo>
                    <a:pt x="906" y="1064258"/>
                  </a:lnTo>
                  <a:lnTo>
                    <a:pt x="8088" y="1122559"/>
                  </a:lnTo>
                  <a:lnTo>
                    <a:pt x="22266" y="1179957"/>
                  </a:lnTo>
                  <a:lnTo>
                    <a:pt x="43248" y="1236365"/>
                  </a:lnTo>
                  <a:lnTo>
                    <a:pt x="70843" y="1291696"/>
                  </a:lnTo>
                  <a:lnTo>
                    <a:pt x="104857" y="1345861"/>
                  </a:lnTo>
                  <a:lnTo>
                    <a:pt x="145097" y="1398774"/>
                  </a:lnTo>
                  <a:lnTo>
                    <a:pt x="191372" y="1450347"/>
                  </a:lnTo>
                  <a:lnTo>
                    <a:pt x="243489" y="1500493"/>
                  </a:lnTo>
                  <a:lnTo>
                    <a:pt x="301254" y="1549124"/>
                  </a:lnTo>
                  <a:lnTo>
                    <a:pt x="332195" y="1572845"/>
                  </a:lnTo>
                  <a:lnTo>
                    <a:pt x="364477" y="1596154"/>
                  </a:lnTo>
                  <a:lnTo>
                    <a:pt x="398074" y="1619040"/>
                  </a:lnTo>
                  <a:lnTo>
                    <a:pt x="432963" y="1641494"/>
                  </a:lnTo>
                  <a:lnTo>
                    <a:pt x="469121" y="1663503"/>
                  </a:lnTo>
                  <a:lnTo>
                    <a:pt x="506522" y="1685058"/>
                  </a:lnTo>
                  <a:lnTo>
                    <a:pt x="545142" y="1706146"/>
                  </a:lnTo>
                  <a:lnTo>
                    <a:pt x="584959" y="1726757"/>
                  </a:lnTo>
                  <a:lnTo>
                    <a:pt x="625947" y="1746881"/>
                  </a:lnTo>
                  <a:lnTo>
                    <a:pt x="668083" y="1766506"/>
                  </a:lnTo>
                  <a:lnTo>
                    <a:pt x="711342" y="1785621"/>
                  </a:lnTo>
                  <a:lnTo>
                    <a:pt x="755701" y="1804216"/>
                  </a:lnTo>
                  <a:lnTo>
                    <a:pt x="801135" y="1822279"/>
                  </a:lnTo>
                  <a:lnTo>
                    <a:pt x="847621" y="1839800"/>
                  </a:lnTo>
                  <a:lnTo>
                    <a:pt x="895133" y="1856767"/>
                  </a:lnTo>
                  <a:lnTo>
                    <a:pt x="943649" y="1873170"/>
                  </a:lnTo>
                  <a:lnTo>
                    <a:pt x="993144" y="1888998"/>
                  </a:lnTo>
                  <a:lnTo>
                    <a:pt x="1043595" y="1904240"/>
                  </a:lnTo>
                  <a:lnTo>
                    <a:pt x="1094976" y="1918885"/>
                  </a:lnTo>
                  <a:lnTo>
                    <a:pt x="1147264" y="1932922"/>
                  </a:lnTo>
                  <a:lnTo>
                    <a:pt x="1200435" y="1946340"/>
                  </a:lnTo>
                  <a:lnTo>
                    <a:pt x="1254464" y="1959128"/>
                  </a:lnTo>
                  <a:lnTo>
                    <a:pt x="1309329" y="1971276"/>
                  </a:lnTo>
                  <a:lnTo>
                    <a:pt x="1365004" y="1982772"/>
                  </a:lnTo>
                  <a:lnTo>
                    <a:pt x="1421466" y="1993605"/>
                  </a:lnTo>
                  <a:lnTo>
                    <a:pt x="1478690" y="2003765"/>
                  </a:lnTo>
                  <a:lnTo>
                    <a:pt x="1536653" y="2013241"/>
                  </a:lnTo>
                  <a:lnTo>
                    <a:pt x="1595330" y="2022021"/>
                  </a:lnTo>
                  <a:lnTo>
                    <a:pt x="1654697" y="2030095"/>
                  </a:lnTo>
                  <a:lnTo>
                    <a:pt x="1714731" y="2037452"/>
                  </a:lnTo>
                  <a:lnTo>
                    <a:pt x="1775407" y="2044081"/>
                  </a:lnTo>
                  <a:lnTo>
                    <a:pt x="1836701" y="2049971"/>
                  </a:lnTo>
                  <a:lnTo>
                    <a:pt x="1898589" y="2055111"/>
                  </a:lnTo>
                  <a:lnTo>
                    <a:pt x="1961047" y="2059490"/>
                  </a:lnTo>
                  <a:lnTo>
                    <a:pt x="2024052" y="2063097"/>
                  </a:lnTo>
                  <a:lnTo>
                    <a:pt x="2087578" y="2065922"/>
                  </a:lnTo>
                  <a:lnTo>
                    <a:pt x="2151602" y="2067953"/>
                  </a:lnTo>
                  <a:lnTo>
                    <a:pt x="2216099" y="2069180"/>
                  </a:lnTo>
                  <a:lnTo>
                    <a:pt x="2281047" y="2069592"/>
                  </a:lnTo>
                  <a:lnTo>
                    <a:pt x="2345994" y="2069180"/>
                  </a:lnTo>
                  <a:lnTo>
                    <a:pt x="2410491" y="2067953"/>
                  </a:lnTo>
                  <a:lnTo>
                    <a:pt x="2474515" y="2065922"/>
                  </a:lnTo>
                  <a:lnTo>
                    <a:pt x="2538041" y="2063097"/>
                  </a:lnTo>
                  <a:lnTo>
                    <a:pt x="2601046" y="2059490"/>
                  </a:lnTo>
                  <a:lnTo>
                    <a:pt x="2663504" y="2055111"/>
                  </a:lnTo>
                  <a:lnTo>
                    <a:pt x="2725392" y="2049971"/>
                  </a:lnTo>
                  <a:lnTo>
                    <a:pt x="2786686" y="2044081"/>
                  </a:lnTo>
                  <a:lnTo>
                    <a:pt x="2847362" y="2037452"/>
                  </a:lnTo>
                  <a:lnTo>
                    <a:pt x="2907396" y="2030095"/>
                  </a:lnTo>
                  <a:lnTo>
                    <a:pt x="2966763" y="2022021"/>
                  </a:lnTo>
                  <a:lnTo>
                    <a:pt x="3025440" y="2013241"/>
                  </a:lnTo>
                  <a:lnTo>
                    <a:pt x="3083403" y="2003765"/>
                  </a:lnTo>
                  <a:lnTo>
                    <a:pt x="3140627" y="1993605"/>
                  </a:lnTo>
                  <a:lnTo>
                    <a:pt x="3197089" y="1982772"/>
                  </a:lnTo>
                  <a:lnTo>
                    <a:pt x="3252764" y="1971276"/>
                  </a:lnTo>
                  <a:lnTo>
                    <a:pt x="3307629" y="1959128"/>
                  </a:lnTo>
                  <a:lnTo>
                    <a:pt x="3361658" y="1946340"/>
                  </a:lnTo>
                  <a:lnTo>
                    <a:pt x="3414829" y="1932922"/>
                  </a:lnTo>
                  <a:lnTo>
                    <a:pt x="3467117" y="1918885"/>
                  </a:lnTo>
                  <a:lnTo>
                    <a:pt x="3518498" y="1904240"/>
                  </a:lnTo>
                  <a:lnTo>
                    <a:pt x="3568949" y="1888998"/>
                  </a:lnTo>
                  <a:lnTo>
                    <a:pt x="3618444" y="1873170"/>
                  </a:lnTo>
                  <a:lnTo>
                    <a:pt x="3666960" y="1856767"/>
                  </a:lnTo>
                  <a:lnTo>
                    <a:pt x="3714472" y="1839800"/>
                  </a:lnTo>
                  <a:lnTo>
                    <a:pt x="3760958" y="1822279"/>
                  </a:lnTo>
                  <a:lnTo>
                    <a:pt x="3806392" y="1804216"/>
                  </a:lnTo>
                  <a:lnTo>
                    <a:pt x="3850751" y="1785621"/>
                  </a:lnTo>
                  <a:lnTo>
                    <a:pt x="3894010" y="1766506"/>
                  </a:lnTo>
                  <a:lnTo>
                    <a:pt x="3936146" y="1746881"/>
                  </a:lnTo>
                  <a:lnTo>
                    <a:pt x="3977134" y="1726757"/>
                  </a:lnTo>
                  <a:lnTo>
                    <a:pt x="4016951" y="1706146"/>
                  </a:lnTo>
                  <a:lnTo>
                    <a:pt x="4055571" y="1685058"/>
                  </a:lnTo>
                  <a:lnTo>
                    <a:pt x="4092972" y="1663503"/>
                  </a:lnTo>
                  <a:lnTo>
                    <a:pt x="4129130" y="1641494"/>
                  </a:lnTo>
                  <a:lnTo>
                    <a:pt x="4164019" y="1619040"/>
                  </a:lnTo>
                  <a:lnTo>
                    <a:pt x="4197616" y="1596154"/>
                  </a:lnTo>
                  <a:lnTo>
                    <a:pt x="4229898" y="1572845"/>
                  </a:lnTo>
                  <a:lnTo>
                    <a:pt x="4260839" y="1549124"/>
                  </a:lnTo>
                  <a:lnTo>
                    <a:pt x="4290416" y="1525003"/>
                  </a:lnTo>
                  <a:lnTo>
                    <a:pt x="4345381" y="1475604"/>
                  </a:lnTo>
                  <a:lnTo>
                    <a:pt x="4394601" y="1424733"/>
                  </a:lnTo>
                  <a:lnTo>
                    <a:pt x="4437882" y="1372479"/>
                  </a:lnTo>
                  <a:lnTo>
                    <a:pt x="4475034" y="1318929"/>
                  </a:lnTo>
                  <a:lnTo>
                    <a:pt x="4505862" y="1264171"/>
                  </a:lnTo>
                  <a:lnTo>
                    <a:pt x="4530174" y="1208291"/>
                  </a:lnTo>
                  <a:lnTo>
                    <a:pt x="4547779" y="1151376"/>
                  </a:lnTo>
                  <a:lnTo>
                    <a:pt x="4558483" y="1093516"/>
                  </a:lnTo>
                  <a:lnTo>
                    <a:pt x="4562094" y="1034796"/>
                  </a:lnTo>
                  <a:lnTo>
                    <a:pt x="4561187" y="1005333"/>
                  </a:lnTo>
                  <a:lnTo>
                    <a:pt x="4554005" y="947032"/>
                  </a:lnTo>
                  <a:lnTo>
                    <a:pt x="4539827" y="889634"/>
                  </a:lnTo>
                  <a:lnTo>
                    <a:pt x="4518845" y="833226"/>
                  </a:lnTo>
                  <a:lnTo>
                    <a:pt x="4491250" y="777895"/>
                  </a:lnTo>
                  <a:lnTo>
                    <a:pt x="4457236" y="723730"/>
                  </a:lnTo>
                  <a:lnTo>
                    <a:pt x="4416996" y="670817"/>
                  </a:lnTo>
                  <a:lnTo>
                    <a:pt x="4370721" y="619244"/>
                  </a:lnTo>
                  <a:lnTo>
                    <a:pt x="4318604" y="569098"/>
                  </a:lnTo>
                  <a:lnTo>
                    <a:pt x="4260839" y="520467"/>
                  </a:lnTo>
                  <a:lnTo>
                    <a:pt x="4229898" y="496746"/>
                  </a:lnTo>
                  <a:lnTo>
                    <a:pt x="4197616" y="473437"/>
                  </a:lnTo>
                  <a:lnTo>
                    <a:pt x="4164019" y="450551"/>
                  </a:lnTo>
                  <a:lnTo>
                    <a:pt x="4129130" y="428097"/>
                  </a:lnTo>
                  <a:lnTo>
                    <a:pt x="4092972" y="406088"/>
                  </a:lnTo>
                  <a:lnTo>
                    <a:pt x="4055571" y="384533"/>
                  </a:lnTo>
                  <a:lnTo>
                    <a:pt x="4016951" y="363445"/>
                  </a:lnTo>
                  <a:lnTo>
                    <a:pt x="3977134" y="342834"/>
                  </a:lnTo>
                  <a:lnTo>
                    <a:pt x="3936146" y="322710"/>
                  </a:lnTo>
                  <a:lnTo>
                    <a:pt x="3894010" y="303085"/>
                  </a:lnTo>
                  <a:lnTo>
                    <a:pt x="3850751" y="283970"/>
                  </a:lnTo>
                  <a:lnTo>
                    <a:pt x="3806392" y="265375"/>
                  </a:lnTo>
                  <a:lnTo>
                    <a:pt x="3760958" y="247312"/>
                  </a:lnTo>
                  <a:lnTo>
                    <a:pt x="3714472" y="229791"/>
                  </a:lnTo>
                  <a:lnTo>
                    <a:pt x="3666960" y="212824"/>
                  </a:lnTo>
                  <a:lnTo>
                    <a:pt x="3618444" y="196421"/>
                  </a:lnTo>
                  <a:lnTo>
                    <a:pt x="3568949" y="180593"/>
                  </a:lnTo>
                  <a:lnTo>
                    <a:pt x="3518498" y="165351"/>
                  </a:lnTo>
                  <a:lnTo>
                    <a:pt x="3467117" y="150706"/>
                  </a:lnTo>
                  <a:lnTo>
                    <a:pt x="3414829" y="136669"/>
                  </a:lnTo>
                  <a:lnTo>
                    <a:pt x="3361658" y="123251"/>
                  </a:lnTo>
                  <a:lnTo>
                    <a:pt x="3307629" y="110463"/>
                  </a:lnTo>
                  <a:lnTo>
                    <a:pt x="3252764" y="98315"/>
                  </a:lnTo>
                  <a:lnTo>
                    <a:pt x="3197089" y="86819"/>
                  </a:lnTo>
                  <a:lnTo>
                    <a:pt x="3140627" y="75986"/>
                  </a:lnTo>
                  <a:lnTo>
                    <a:pt x="3083403" y="65826"/>
                  </a:lnTo>
                  <a:lnTo>
                    <a:pt x="3025440" y="56350"/>
                  </a:lnTo>
                  <a:lnTo>
                    <a:pt x="2966763" y="47570"/>
                  </a:lnTo>
                  <a:lnTo>
                    <a:pt x="2907396" y="39496"/>
                  </a:lnTo>
                  <a:lnTo>
                    <a:pt x="2847362" y="32139"/>
                  </a:lnTo>
                  <a:lnTo>
                    <a:pt x="2786686" y="25510"/>
                  </a:lnTo>
                  <a:lnTo>
                    <a:pt x="2725392" y="19620"/>
                  </a:lnTo>
                  <a:lnTo>
                    <a:pt x="2663504" y="14480"/>
                  </a:lnTo>
                  <a:lnTo>
                    <a:pt x="2601046" y="10101"/>
                  </a:lnTo>
                  <a:lnTo>
                    <a:pt x="2538041" y="6494"/>
                  </a:lnTo>
                  <a:lnTo>
                    <a:pt x="2474515" y="3669"/>
                  </a:lnTo>
                  <a:lnTo>
                    <a:pt x="2410491" y="1638"/>
                  </a:lnTo>
                  <a:lnTo>
                    <a:pt x="2345994" y="411"/>
                  </a:lnTo>
                  <a:lnTo>
                    <a:pt x="2281047" y="0"/>
                  </a:lnTo>
                  <a:close/>
                </a:path>
              </a:pathLst>
            </a:custGeom>
            <a:solidFill>
              <a:srgbClr val="5FE046"/>
            </a:solidFill>
          </p:spPr>
          <p:txBody>
            <a:bodyPr wrap="square" lIns="0" tIns="0" rIns="0" bIns="0" rtlCol="0"/>
            <a:lstStyle/>
            <a:p>
              <a:endParaRPr/>
            </a:p>
          </p:txBody>
        </p:sp>
        <p:sp>
          <p:nvSpPr>
            <p:cNvPr id="12" name="object 12"/>
            <p:cNvSpPr/>
            <p:nvPr/>
          </p:nvSpPr>
          <p:spPr>
            <a:xfrm>
              <a:off x="4425314" y="3260217"/>
              <a:ext cx="4562475" cy="2070100"/>
            </a:xfrm>
            <a:custGeom>
              <a:avLst/>
              <a:gdLst/>
              <a:ahLst/>
              <a:cxnLst/>
              <a:rect l="l" t="t" r="r" b="b"/>
              <a:pathLst>
                <a:path w="4562475" h="2070100">
                  <a:moveTo>
                    <a:pt x="0" y="1034796"/>
                  </a:moveTo>
                  <a:lnTo>
                    <a:pt x="3610" y="976075"/>
                  </a:lnTo>
                  <a:lnTo>
                    <a:pt x="14314" y="918215"/>
                  </a:lnTo>
                  <a:lnTo>
                    <a:pt x="31919" y="861300"/>
                  </a:lnTo>
                  <a:lnTo>
                    <a:pt x="56231" y="805420"/>
                  </a:lnTo>
                  <a:lnTo>
                    <a:pt x="87059" y="750662"/>
                  </a:lnTo>
                  <a:lnTo>
                    <a:pt x="124211" y="697112"/>
                  </a:lnTo>
                  <a:lnTo>
                    <a:pt x="167492" y="644858"/>
                  </a:lnTo>
                  <a:lnTo>
                    <a:pt x="216712" y="593987"/>
                  </a:lnTo>
                  <a:lnTo>
                    <a:pt x="271677" y="544588"/>
                  </a:lnTo>
                  <a:lnTo>
                    <a:pt x="301254" y="520467"/>
                  </a:lnTo>
                  <a:lnTo>
                    <a:pt x="332195" y="496746"/>
                  </a:lnTo>
                  <a:lnTo>
                    <a:pt x="364477" y="473437"/>
                  </a:lnTo>
                  <a:lnTo>
                    <a:pt x="398074" y="450551"/>
                  </a:lnTo>
                  <a:lnTo>
                    <a:pt x="432963" y="428097"/>
                  </a:lnTo>
                  <a:lnTo>
                    <a:pt x="469121" y="406088"/>
                  </a:lnTo>
                  <a:lnTo>
                    <a:pt x="506522" y="384533"/>
                  </a:lnTo>
                  <a:lnTo>
                    <a:pt x="545142" y="363445"/>
                  </a:lnTo>
                  <a:lnTo>
                    <a:pt x="584959" y="342834"/>
                  </a:lnTo>
                  <a:lnTo>
                    <a:pt x="625947" y="322710"/>
                  </a:lnTo>
                  <a:lnTo>
                    <a:pt x="668083" y="303085"/>
                  </a:lnTo>
                  <a:lnTo>
                    <a:pt x="711342" y="283970"/>
                  </a:lnTo>
                  <a:lnTo>
                    <a:pt x="755701" y="265375"/>
                  </a:lnTo>
                  <a:lnTo>
                    <a:pt x="801135" y="247312"/>
                  </a:lnTo>
                  <a:lnTo>
                    <a:pt x="847621" y="229791"/>
                  </a:lnTo>
                  <a:lnTo>
                    <a:pt x="895133" y="212824"/>
                  </a:lnTo>
                  <a:lnTo>
                    <a:pt x="943649" y="196421"/>
                  </a:lnTo>
                  <a:lnTo>
                    <a:pt x="993144" y="180593"/>
                  </a:lnTo>
                  <a:lnTo>
                    <a:pt x="1043595" y="165351"/>
                  </a:lnTo>
                  <a:lnTo>
                    <a:pt x="1094976" y="150706"/>
                  </a:lnTo>
                  <a:lnTo>
                    <a:pt x="1147264" y="136669"/>
                  </a:lnTo>
                  <a:lnTo>
                    <a:pt x="1200435" y="123251"/>
                  </a:lnTo>
                  <a:lnTo>
                    <a:pt x="1254464" y="110463"/>
                  </a:lnTo>
                  <a:lnTo>
                    <a:pt x="1309329" y="98315"/>
                  </a:lnTo>
                  <a:lnTo>
                    <a:pt x="1365004" y="86819"/>
                  </a:lnTo>
                  <a:lnTo>
                    <a:pt x="1421466" y="75986"/>
                  </a:lnTo>
                  <a:lnTo>
                    <a:pt x="1478690" y="65826"/>
                  </a:lnTo>
                  <a:lnTo>
                    <a:pt x="1536653" y="56350"/>
                  </a:lnTo>
                  <a:lnTo>
                    <a:pt x="1595330" y="47570"/>
                  </a:lnTo>
                  <a:lnTo>
                    <a:pt x="1654697" y="39496"/>
                  </a:lnTo>
                  <a:lnTo>
                    <a:pt x="1714731" y="32139"/>
                  </a:lnTo>
                  <a:lnTo>
                    <a:pt x="1775407" y="25510"/>
                  </a:lnTo>
                  <a:lnTo>
                    <a:pt x="1836701" y="19620"/>
                  </a:lnTo>
                  <a:lnTo>
                    <a:pt x="1898589" y="14480"/>
                  </a:lnTo>
                  <a:lnTo>
                    <a:pt x="1961047" y="10101"/>
                  </a:lnTo>
                  <a:lnTo>
                    <a:pt x="2024052" y="6494"/>
                  </a:lnTo>
                  <a:lnTo>
                    <a:pt x="2087578" y="3669"/>
                  </a:lnTo>
                  <a:lnTo>
                    <a:pt x="2151602" y="1638"/>
                  </a:lnTo>
                  <a:lnTo>
                    <a:pt x="2216099" y="411"/>
                  </a:lnTo>
                  <a:lnTo>
                    <a:pt x="2281047" y="0"/>
                  </a:lnTo>
                  <a:lnTo>
                    <a:pt x="2345994" y="411"/>
                  </a:lnTo>
                  <a:lnTo>
                    <a:pt x="2410491" y="1638"/>
                  </a:lnTo>
                  <a:lnTo>
                    <a:pt x="2474515" y="3669"/>
                  </a:lnTo>
                  <a:lnTo>
                    <a:pt x="2538041" y="6494"/>
                  </a:lnTo>
                  <a:lnTo>
                    <a:pt x="2601046" y="10101"/>
                  </a:lnTo>
                  <a:lnTo>
                    <a:pt x="2663504" y="14480"/>
                  </a:lnTo>
                  <a:lnTo>
                    <a:pt x="2725392" y="19620"/>
                  </a:lnTo>
                  <a:lnTo>
                    <a:pt x="2786686" y="25510"/>
                  </a:lnTo>
                  <a:lnTo>
                    <a:pt x="2847362" y="32139"/>
                  </a:lnTo>
                  <a:lnTo>
                    <a:pt x="2907396" y="39496"/>
                  </a:lnTo>
                  <a:lnTo>
                    <a:pt x="2966763" y="47570"/>
                  </a:lnTo>
                  <a:lnTo>
                    <a:pt x="3025440" y="56350"/>
                  </a:lnTo>
                  <a:lnTo>
                    <a:pt x="3083403" y="65826"/>
                  </a:lnTo>
                  <a:lnTo>
                    <a:pt x="3140627" y="75986"/>
                  </a:lnTo>
                  <a:lnTo>
                    <a:pt x="3197089" y="86819"/>
                  </a:lnTo>
                  <a:lnTo>
                    <a:pt x="3252764" y="98315"/>
                  </a:lnTo>
                  <a:lnTo>
                    <a:pt x="3307629" y="110463"/>
                  </a:lnTo>
                  <a:lnTo>
                    <a:pt x="3361658" y="123251"/>
                  </a:lnTo>
                  <a:lnTo>
                    <a:pt x="3414829" y="136669"/>
                  </a:lnTo>
                  <a:lnTo>
                    <a:pt x="3467117" y="150706"/>
                  </a:lnTo>
                  <a:lnTo>
                    <a:pt x="3518498" y="165351"/>
                  </a:lnTo>
                  <a:lnTo>
                    <a:pt x="3568949" y="180593"/>
                  </a:lnTo>
                  <a:lnTo>
                    <a:pt x="3618444" y="196421"/>
                  </a:lnTo>
                  <a:lnTo>
                    <a:pt x="3666960" y="212824"/>
                  </a:lnTo>
                  <a:lnTo>
                    <a:pt x="3714472" y="229791"/>
                  </a:lnTo>
                  <a:lnTo>
                    <a:pt x="3760958" y="247312"/>
                  </a:lnTo>
                  <a:lnTo>
                    <a:pt x="3806392" y="265375"/>
                  </a:lnTo>
                  <a:lnTo>
                    <a:pt x="3850751" y="283970"/>
                  </a:lnTo>
                  <a:lnTo>
                    <a:pt x="3894010" y="303085"/>
                  </a:lnTo>
                  <a:lnTo>
                    <a:pt x="3936146" y="322710"/>
                  </a:lnTo>
                  <a:lnTo>
                    <a:pt x="3977134" y="342834"/>
                  </a:lnTo>
                  <a:lnTo>
                    <a:pt x="4016951" y="363445"/>
                  </a:lnTo>
                  <a:lnTo>
                    <a:pt x="4055571" y="384533"/>
                  </a:lnTo>
                  <a:lnTo>
                    <a:pt x="4092972" y="406088"/>
                  </a:lnTo>
                  <a:lnTo>
                    <a:pt x="4129130" y="428097"/>
                  </a:lnTo>
                  <a:lnTo>
                    <a:pt x="4164019" y="450551"/>
                  </a:lnTo>
                  <a:lnTo>
                    <a:pt x="4197616" y="473437"/>
                  </a:lnTo>
                  <a:lnTo>
                    <a:pt x="4229898" y="496746"/>
                  </a:lnTo>
                  <a:lnTo>
                    <a:pt x="4260839" y="520467"/>
                  </a:lnTo>
                  <a:lnTo>
                    <a:pt x="4290416" y="544588"/>
                  </a:lnTo>
                  <a:lnTo>
                    <a:pt x="4345381" y="593987"/>
                  </a:lnTo>
                  <a:lnTo>
                    <a:pt x="4394601" y="644858"/>
                  </a:lnTo>
                  <a:lnTo>
                    <a:pt x="4437882" y="697112"/>
                  </a:lnTo>
                  <a:lnTo>
                    <a:pt x="4475034" y="750662"/>
                  </a:lnTo>
                  <a:lnTo>
                    <a:pt x="4505862" y="805420"/>
                  </a:lnTo>
                  <a:lnTo>
                    <a:pt x="4530174" y="861300"/>
                  </a:lnTo>
                  <a:lnTo>
                    <a:pt x="4547779" y="918215"/>
                  </a:lnTo>
                  <a:lnTo>
                    <a:pt x="4558483" y="976075"/>
                  </a:lnTo>
                  <a:lnTo>
                    <a:pt x="4562094" y="1034796"/>
                  </a:lnTo>
                  <a:lnTo>
                    <a:pt x="4561187" y="1064258"/>
                  </a:lnTo>
                  <a:lnTo>
                    <a:pt x="4554005" y="1122559"/>
                  </a:lnTo>
                  <a:lnTo>
                    <a:pt x="4539827" y="1179957"/>
                  </a:lnTo>
                  <a:lnTo>
                    <a:pt x="4518845" y="1236365"/>
                  </a:lnTo>
                  <a:lnTo>
                    <a:pt x="4491250" y="1291696"/>
                  </a:lnTo>
                  <a:lnTo>
                    <a:pt x="4457236" y="1345861"/>
                  </a:lnTo>
                  <a:lnTo>
                    <a:pt x="4416996" y="1398774"/>
                  </a:lnTo>
                  <a:lnTo>
                    <a:pt x="4370721" y="1450347"/>
                  </a:lnTo>
                  <a:lnTo>
                    <a:pt x="4318604" y="1500493"/>
                  </a:lnTo>
                  <a:lnTo>
                    <a:pt x="4260839" y="1549124"/>
                  </a:lnTo>
                  <a:lnTo>
                    <a:pt x="4229898" y="1572845"/>
                  </a:lnTo>
                  <a:lnTo>
                    <a:pt x="4197616" y="1596154"/>
                  </a:lnTo>
                  <a:lnTo>
                    <a:pt x="4164019" y="1619040"/>
                  </a:lnTo>
                  <a:lnTo>
                    <a:pt x="4129130" y="1641494"/>
                  </a:lnTo>
                  <a:lnTo>
                    <a:pt x="4092972" y="1663503"/>
                  </a:lnTo>
                  <a:lnTo>
                    <a:pt x="4055571" y="1685058"/>
                  </a:lnTo>
                  <a:lnTo>
                    <a:pt x="4016951" y="1706146"/>
                  </a:lnTo>
                  <a:lnTo>
                    <a:pt x="3977134" y="1726757"/>
                  </a:lnTo>
                  <a:lnTo>
                    <a:pt x="3936146" y="1746881"/>
                  </a:lnTo>
                  <a:lnTo>
                    <a:pt x="3894010" y="1766506"/>
                  </a:lnTo>
                  <a:lnTo>
                    <a:pt x="3850751" y="1785621"/>
                  </a:lnTo>
                  <a:lnTo>
                    <a:pt x="3806392" y="1804216"/>
                  </a:lnTo>
                  <a:lnTo>
                    <a:pt x="3760958" y="1822279"/>
                  </a:lnTo>
                  <a:lnTo>
                    <a:pt x="3714472" y="1839800"/>
                  </a:lnTo>
                  <a:lnTo>
                    <a:pt x="3666960" y="1856767"/>
                  </a:lnTo>
                  <a:lnTo>
                    <a:pt x="3618444" y="1873170"/>
                  </a:lnTo>
                  <a:lnTo>
                    <a:pt x="3568949" y="1888998"/>
                  </a:lnTo>
                  <a:lnTo>
                    <a:pt x="3518498" y="1904240"/>
                  </a:lnTo>
                  <a:lnTo>
                    <a:pt x="3467117" y="1918885"/>
                  </a:lnTo>
                  <a:lnTo>
                    <a:pt x="3414829" y="1932922"/>
                  </a:lnTo>
                  <a:lnTo>
                    <a:pt x="3361658" y="1946340"/>
                  </a:lnTo>
                  <a:lnTo>
                    <a:pt x="3307629" y="1959128"/>
                  </a:lnTo>
                  <a:lnTo>
                    <a:pt x="3252764" y="1971276"/>
                  </a:lnTo>
                  <a:lnTo>
                    <a:pt x="3197089" y="1982772"/>
                  </a:lnTo>
                  <a:lnTo>
                    <a:pt x="3140627" y="1993605"/>
                  </a:lnTo>
                  <a:lnTo>
                    <a:pt x="3083403" y="2003765"/>
                  </a:lnTo>
                  <a:lnTo>
                    <a:pt x="3025440" y="2013241"/>
                  </a:lnTo>
                  <a:lnTo>
                    <a:pt x="2966763" y="2022021"/>
                  </a:lnTo>
                  <a:lnTo>
                    <a:pt x="2907396" y="2030095"/>
                  </a:lnTo>
                  <a:lnTo>
                    <a:pt x="2847362" y="2037452"/>
                  </a:lnTo>
                  <a:lnTo>
                    <a:pt x="2786686" y="2044081"/>
                  </a:lnTo>
                  <a:lnTo>
                    <a:pt x="2725392" y="2049971"/>
                  </a:lnTo>
                  <a:lnTo>
                    <a:pt x="2663504" y="2055111"/>
                  </a:lnTo>
                  <a:lnTo>
                    <a:pt x="2601046" y="2059490"/>
                  </a:lnTo>
                  <a:lnTo>
                    <a:pt x="2538041" y="2063097"/>
                  </a:lnTo>
                  <a:lnTo>
                    <a:pt x="2474515" y="2065922"/>
                  </a:lnTo>
                  <a:lnTo>
                    <a:pt x="2410491" y="2067953"/>
                  </a:lnTo>
                  <a:lnTo>
                    <a:pt x="2345994" y="2069180"/>
                  </a:lnTo>
                  <a:lnTo>
                    <a:pt x="2281047" y="2069592"/>
                  </a:lnTo>
                  <a:lnTo>
                    <a:pt x="2216099" y="2069180"/>
                  </a:lnTo>
                  <a:lnTo>
                    <a:pt x="2151602" y="2067953"/>
                  </a:lnTo>
                  <a:lnTo>
                    <a:pt x="2087578" y="2065922"/>
                  </a:lnTo>
                  <a:lnTo>
                    <a:pt x="2024052" y="2063097"/>
                  </a:lnTo>
                  <a:lnTo>
                    <a:pt x="1961047" y="2059490"/>
                  </a:lnTo>
                  <a:lnTo>
                    <a:pt x="1898589" y="2055111"/>
                  </a:lnTo>
                  <a:lnTo>
                    <a:pt x="1836701" y="2049971"/>
                  </a:lnTo>
                  <a:lnTo>
                    <a:pt x="1775407" y="2044081"/>
                  </a:lnTo>
                  <a:lnTo>
                    <a:pt x="1714731" y="2037452"/>
                  </a:lnTo>
                  <a:lnTo>
                    <a:pt x="1654697" y="2030095"/>
                  </a:lnTo>
                  <a:lnTo>
                    <a:pt x="1595330" y="2022021"/>
                  </a:lnTo>
                  <a:lnTo>
                    <a:pt x="1536653" y="2013241"/>
                  </a:lnTo>
                  <a:lnTo>
                    <a:pt x="1478690" y="2003765"/>
                  </a:lnTo>
                  <a:lnTo>
                    <a:pt x="1421466" y="1993605"/>
                  </a:lnTo>
                  <a:lnTo>
                    <a:pt x="1365004" y="1982772"/>
                  </a:lnTo>
                  <a:lnTo>
                    <a:pt x="1309329" y="1971276"/>
                  </a:lnTo>
                  <a:lnTo>
                    <a:pt x="1254464" y="1959128"/>
                  </a:lnTo>
                  <a:lnTo>
                    <a:pt x="1200435" y="1946340"/>
                  </a:lnTo>
                  <a:lnTo>
                    <a:pt x="1147264" y="1932922"/>
                  </a:lnTo>
                  <a:lnTo>
                    <a:pt x="1094976" y="1918885"/>
                  </a:lnTo>
                  <a:lnTo>
                    <a:pt x="1043595" y="1904240"/>
                  </a:lnTo>
                  <a:lnTo>
                    <a:pt x="993144" y="1888998"/>
                  </a:lnTo>
                  <a:lnTo>
                    <a:pt x="943649" y="1873170"/>
                  </a:lnTo>
                  <a:lnTo>
                    <a:pt x="895133" y="1856767"/>
                  </a:lnTo>
                  <a:lnTo>
                    <a:pt x="847621" y="1839800"/>
                  </a:lnTo>
                  <a:lnTo>
                    <a:pt x="801135" y="1822279"/>
                  </a:lnTo>
                  <a:lnTo>
                    <a:pt x="755701" y="1804216"/>
                  </a:lnTo>
                  <a:lnTo>
                    <a:pt x="711342" y="1785621"/>
                  </a:lnTo>
                  <a:lnTo>
                    <a:pt x="668083" y="1766506"/>
                  </a:lnTo>
                  <a:lnTo>
                    <a:pt x="625947" y="1746881"/>
                  </a:lnTo>
                  <a:lnTo>
                    <a:pt x="584959" y="1726757"/>
                  </a:lnTo>
                  <a:lnTo>
                    <a:pt x="545142" y="1706146"/>
                  </a:lnTo>
                  <a:lnTo>
                    <a:pt x="506522" y="1685058"/>
                  </a:lnTo>
                  <a:lnTo>
                    <a:pt x="469121" y="1663503"/>
                  </a:lnTo>
                  <a:lnTo>
                    <a:pt x="432963" y="1641494"/>
                  </a:lnTo>
                  <a:lnTo>
                    <a:pt x="398074" y="1619040"/>
                  </a:lnTo>
                  <a:lnTo>
                    <a:pt x="364477" y="1596154"/>
                  </a:lnTo>
                  <a:lnTo>
                    <a:pt x="332195" y="1572845"/>
                  </a:lnTo>
                  <a:lnTo>
                    <a:pt x="301254" y="1549124"/>
                  </a:lnTo>
                  <a:lnTo>
                    <a:pt x="271677" y="1525003"/>
                  </a:lnTo>
                  <a:lnTo>
                    <a:pt x="216712" y="1475604"/>
                  </a:lnTo>
                  <a:lnTo>
                    <a:pt x="167492" y="1424733"/>
                  </a:lnTo>
                  <a:lnTo>
                    <a:pt x="124211" y="1372479"/>
                  </a:lnTo>
                  <a:lnTo>
                    <a:pt x="87059" y="1318929"/>
                  </a:lnTo>
                  <a:lnTo>
                    <a:pt x="56231" y="1264171"/>
                  </a:lnTo>
                  <a:lnTo>
                    <a:pt x="31919" y="1208291"/>
                  </a:lnTo>
                  <a:lnTo>
                    <a:pt x="14314" y="1151376"/>
                  </a:lnTo>
                  <a:lnTo>
                    <a:pt x="3610" y="1093516"/>
                  </a:lnTo>
                  <a:lnTo>
                    <a:pt x="0" y="1034796"/>
                  </a:lnTo>
                  <a:close/>
                </a:path>
              </a:pathLst>
            </a:custGeom>
            <a:ln w="25146">
              <a:solidFill>
                <a:srgbClr val="FFFFFF"/>
              </a:solidFill>
            </a:ln>
          </p:spPr>
          <p:txBody>
            <a:bodyPr wrap="square" lIns="0" tIns="0" rIns="0" bIns="0" rtlCol="0"/>
            <a:lstStyle/>
            <a:p>
              <a:endParaRPr/>
            </a:p>
          </p:txBody>
        </p:sp>
      </p:grpSp>
      <p:sp>
        <p:nvSpPr>
          <p:cNvPr id="13" name="object 13"/>
          <p:cNvSpPr txBox="1"/>
          <p:nvPr/>
        </p:nvSpPr>
        <p:spPr>
          <a:xfrm>
            <a:off x="4597908" y="3224149"/>
            <a:ext cx="4216400" cy="793750"/>
          </a:xfrm>
          <a:prstGeom prst="rect">
            <a:avLst/>
          </a:prstGeom>
        </p:spPr>
        <p:txBody>
          <a:bodyPr vert="horz" wrap="square" lIns="0" tIns="43815" rIns="0" bIns="0" rtlCol="0">
            <a:spAutoFit/>
          </a:bodyPr>
          <a:lstStyle/>
          <a:p>
            <a:pPr marL="12700" marR="5080" indent="-635" algn="ctr">
              <a:lnSpc>
                <a:spcPts val="1939"/>
              </a:lnSpc>
              <a:spcBef>
                <a:spcPts val="345"/>
              </a:spcBef>
            </a:pPr>
            <a:r>
              <a:rPr sz="1800" spc="105" dirty="0">
                <a:latin typeface="Arial"/>
                <a:cs typeface="Arial"/>
              </a:rPr>
              <a:t>If</a:t>
            </a:r>
            <a:r>
              <a:rPr sz="1800" spc="-120" dirty="0">
                <a:latin typeface="Arial"/>
                <a:cs typeface="Arial"/>
              </a:rPr>
              <a:t> </a:t>
            </a:r>
            <a:r>
              <a:rPr sz="1800" dirty="0">
                <a:latin typeface="Arial"/>
                <a:cs typeface="Arial"/>
              </a:rPr>
              <a:t>the</a:t>
            </a:r>
            <a:r>
              <a:rPr sz="1800" spc="-125" dirty="0">
                <a:latin typeface="Arial"/>
                <a:cs typeface="Arial"/>
              </a:rPr>
              <a:t> </a:t>
            </a:r>
            <a:r>
              <a:rPr sz="1800" spc="10" dirty="0">
                <a:latin typeface="Arial"/>
                <a:cs typeface="Arial"/>
              </a:rPr>
              <a:t>error</a:t>
            </a:r>
            <a:r>
              <a:rPr sz="1800" spc="-120" dirty="0">
                <a:latin typeface="Arial"/>
                <a:cs typeface="Arial"/>
              </a:rPr>
              <a:t> </a:t>
            </a:r>
            <a:r>
              <a:rPr sz="1800" spc="-105" dirty="0">
                <a:latin typeface="Arial"/>
                <a:cs typeface="Arial"/>
              </a:rPr>
              <a:t>has</a:t>
            </a:r>
            <a:r>
              <a:rPr sz="1800" spc="-114" dirty="0">
                <a:latin typeface="Arial"/>
                <a:cs typeface="Arial"/>
              </a:rPr>
              <a:t> </a:t>
            </a:r>
            <a:r>
              <a:rPr sz="1800" spc="-20" dirty="0">
                <a:latin typeface="Arial"/>
                <a:cs typeface="Arial"/>
              </a:rPr>
              <a:t>occurred</a:t>
            </a:r>
            <a:r>
              <a:rPr sz="1800" spc="-135" dirty="0">
                <a:latin typeface="Arial"/>
                <a:cs typeface="Arial"/>
              </a:rPr>
              <a:t> </a:t>
            </a:r>
            <a:r>
              <a:rPr sz="1800" spc="80" dirty="0">
                <a:latin typeface="Arial"/>
                <a:cs typeface="Arial"/>
              </a:rPr>
              <a:t>within</a:t>
            </a:r>
            <a:r>
              <a:rPr sz="1800" spc="-105" dirty="0">
                <a:latin typeface="Arial"/>
                <a:cs typeface="Arial"/>
              </a:rPr>
              <a:t> </a:t>
            </a:r>
            <a:r>
              <a:rPr sz="1800" spc="-175" dirty="0">
                <a:latin typeface="Arial"/>
                <a:cs typeface="Arial"/>
              </a:rPr>
              <a:t>a</a:t>
            </a:r>
            <a:r>
              <a:rPr sz="1800" spc="-125" dirty="0">
                <a:latin typeface="Arial"/>
                <a:cs typeface="Arial"/>
              </a:rPr>
              <a:t> </a:t>
            </a:r>
            <a:r>
              <a:rPr sz="1800" spc="-5" dirty="0">
                <a:latin typeface="Arial"/>
                <a:cs typeface="Arial"/>
              </a:rPr>
              <a:t>trigger</a:t>
            </a:r>
            <a:r>
              <a:rPr sz="1800" spc="-125" dirty="0">
                <a:latin typeface="Arial"/>
                <a:cs typeface="Arial"/>
              </a:rPr>
              <a:t> </a:t>
            </a:r>
            <a:r>
              <a:rPr sz="1800" spc="25" dirty="0">
                <a:latin typeface="Arial"/>
                <a:cs typeface="Arial"/>
              </a:rPr>
              <a:t>or  </a:t>
            </a:r>
            <a:r>
              <a:rPr sz="1800" spc="-175" dirty="0">
                <a:latin typeface="Arial"/>
                <a:cs typeface="Arial"/>
              </a:rPr>
              <a:t>a </a:t>
            </a:r>
            <a:r>
              <a:rPr sz="1800" spc="-30" dirty="0">
                <a:latin typeface="Arial"/>
                <a:cs typeface="Arial"/>
              </a:rPr>
              <a:t>stored procedure, </a:t>
            </a:r>
            <a:r>
              <a:rPr sz="1800" spc="110" dirty="0">
                <a:latin typeface="Arial"/>
                <a:cs typeface="Arial"/>
              </a:rPr>
              <a:t>it </a:t>
            </a:r>
            <a:r>
              <a:rPr sz="1800" dirty="0">
                <a:latin typeface="Arial"/>
                <a:cs typeface="Arial"/>
              </a:rPr>
              <a:t>returns the </a:t>
            </a:r>
            <a:r>
              <a:rPr sz="1800" spc="25" dirty="0">
                <a:latin typeface="Arial"/>
                <a:cs typeface="Arial"/>
              </a:rPr>
              <a:t>line  </a:t>
            </a:r>
            <a:r>
              <a:rPr sz="1800" spc="-5" dirty="0">
                <a:latin typeface="Arial"/>
                <a:cs typeface="Arial"/>
              </a:rPr>
              <a:t>number</a:t>
            </a:r>
            <a:r>
              <a:rPr sz="1800" spc="-125" dirty="0">
                <a:latin typeface="Arial"/>
                <a:cs typeface="Arial"/>
              </a:rPr>
              <a:t> </a:t>
            </a:r>
            <a:r>
              <a:rPr sz="1800" spc="85" dirty="0">
                <a:latin typeface="Arial"/>
                <a:cs typeface="Arial"/>
              </a:rPr>
              <a:t>in</a:t>
            </a:r>
            <a:r>
              <a:rPr sz="1800" spc="-114" dirty="0">
                <a:latin typeface="Arial"/>
                <a:cs typeface="Arial"/>
              </a:rPr>
              <a:t> </a:t>
            </a:r>
            <a:r>
              <a:rPr sz="1800" spc="25" dirty="0">
                <a:latin typeface="Arial"/>
                <a:cs typeface="Arial"/>
              </a:rPr>
              <a:t>that</a:t>
            </a:r>
            <a:r>
              <a:rPr sz="1800" spc="-120" dirty="0">
                <a:latin typeface="Arial"/>
                <a:cs typeface="Arial"/>
              </a:rPr>
              <a:t> </a:t>
            </a:r>
            <a:r>
              <a:rPr sz="1800" spc="-5" dirty="0">
                <a:latin typeface="Arial"/>
                <a:cs typeface="Arial"/>
              </a:rPr>
              <a:t>trigger</a:t>
            </a:r>
            <a:r>
              <a:rPr sz="1800" spc="-130" dirty="0">
                <a:latin typeface="Arial"/>
                <a:cs typeface="Arial"/>
              </a:rPr>
              <a:t> </a:t>
            </a:r>
            <a:r>
              <a:rPr sz="1800" spc="25" dirty="0">
                <a:latin typeface="Arial"/>
                <a:cs typeface="Arial"/>
              </a:rPr>
              <a:t>or</a:t>
            </a:r>
            <a:r>
              <a:rPr sz="1800" spc="-110" dirty="0">
                <a:latin typeface="Arial"/>
                <a:cs typeface="Arial"/>
              </a:rPr>
              <a:t> </a:t>
            </a:r>
            <a:r>
              <a:rPr sz="1800" spc="-30" dirty="0">
                <a:latin typeface="Arial"/>
                <a:cs typeface="Arial"/>
              </a:rPr>
              <a:t>stored</a:t>
            </a:r>
            <a:r>
              <a:rPr sz="1800" spc="-130" dirty="0">
                <a:latin typeface="Arial"/>
                <a:cs typeface="Arial"/>
              </a:rPr>
              <a:t> </a:t>
            </a:r>
            <a:r>
              <a:rPr sz="1800" spc="-30" dirty="0">
                <a:latin typeface="Arial"/>
                <a:cs typeface="Arial"/>
              </a:rPr>
              <a:t>procedure.</a:t>
            </a:r>
            <a:endParaRPr sz="1800">
              <a:latin typeface="Arial"/>
              <a:cs typeface="Arial"/>
            </a:endParaRPr>
          </a:p>
        </p:txBody>
      </p:sp>
      <p:sp>
        <p:nvSpPr>
          <p:cNvPr id="15" name="object 15"/>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23</a:t>
            </a:fld>
            <a:endParaRPr sz="1200">
              <a:latin typeface="Arial"/>
              <a:cs typeface="Arial"/>
            </a:endParaRPr>
          </a:p>
        </p:txBody>
      </p:sp>
      <p:sp>
        <p:nvSpPr>
          <p:cNvPr id="16" name="object 1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17" name="TextBox 16">
            <a:extLst>
              <a:ext uri="{FF2B5EF4-FFF2-40B4-BE49-F238E27FC236}">
                <a16:creationId xmlns:a16="http://schemas.microsoft.com/office/drawing/2014/main" id="{C4005D32-0A47-47EE-8624-BFB18611892C}"/>
              </a:ext>
            </a:extLst>
          </p:cNvPr>
          <p:cNvSpPr txBox="1"/>
          <p:nvPr/>
        </p:nvSpPr>
        <p:spPr>
          <a:xfrm>
            <a:off x="1864741" y="4851019"/>
            <a:ext cx="4953000" cy="184665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BEGIN TRY</a:t>
            </a:r>
          </a:p>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	SELECT 217/0;</a:t>
            </a:r>
          </a:p>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END TRY</a:t>
            </a:r>
          </a:p>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BEGIN CATCH</a:t>
            </a:r>
          </a:p>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	SELECT </a:t>
            </a:r>
            <a:r>
              <a:rPr lang="en-US" sz="1600" b="1" dirty="0">
                <a:solidFill>
                  <a:srgbClr val="FF0000"/>
                </a:solidFill>
                <a:latin typeface="Courier New" panose="02070309020205020404" pitchFamily="49" charset="0"/>
                <a:cs typeface="Courier New" panose="02070309020205020404" pitchFamily="49" charset="0"/>
              </a:rPr>
              <a:t>ERROR_LINE() </a:t>
            </a:r>
            <a:r>
              <a:rPr lang="en-US" sz="1600" b="1" dirty="0">
                <a:latin typeface="Courier New" panose="02070309020205020404" pitchFamily="49" charset="0"/>
                <a:cs typeface="Courier New" panose="02070309020205020404" pitchFamily="49" charset="0"/>
              </a:rPr>
              <a:t>AS ErrorLine;</a:t>
            </a:r>
          </a:p>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END CATCH;</a:t>
            </a:r>
          </a:p>
          <a:p>
            <a:pPr marL="114300">
              <a:lnSpc>
                <a:spcPct val="100000"/>
              </a:lnSpc>
              <a:spcBef>
                <a:spcPts val="0"/>
              </a:spcBef>
              <a:tabLst>
                <a:tab pos="457200" algn="l"/>
              </a:tabLst>
            </a:pPr>
            <a:r>
              <a:rPr lang="en-US" sz="1600" b="1" dirty="0">
                <a:latin typeface="Courier New" panose="02070309020205020404" pitchFamily="49" charset="0"/>
                <a:cs typeface="Courier New" panose="02070309020205020404" pitchFamily="49" charset="0"/>
              </a:rPr>
              <a:t>GO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6202" y="169163"/>
            <a:ext cx="8424545" cy="452755"/>
          </a:xfrm>
          <a:prstGeom prst="rect">
            <a:avLst/>
          </a:prstGeom>
        </p:spPr>
        <p:txBody>
          <a:bodyPr vert="horz" wrap="square" lIns="0" tIns="12700" rIns="0" bIns="0" rtlCol="0">
            <a:spAutoFit/>
          </a:bodyPr>
          <a:lstStyle/>
          <a:p>
            <a:pPr marL="12700">
              <a:lnSpc>
                <a:spcPct val="100000"/>
              </a:lnSpc>
              <a:spcBef>
                <a:spcPts val="100"/>
              </a:spcBef>
            </a:pPr>
            <a:r>
              <a:rPr spc="-25" dirty="0"/>
              <a:t>Errors</a:t>
            </a:r>
            <a:r>
              <a:rPr spc="-185" dirty="0"/>
              <a:t> </a:t>
            </a:r>
            <a:r>
              <a:rPr dirty="0"/>
              <a:t>Unaffected</a:t>
            </a:r>
            <a:r>
              <a:rPr spc="-200" dirty="0"/>
              <a:t> </a:t>
            </a:r>
            <a:r>
              <a:rPr spc="-15" dirty="0"/>
              <a:t>by</a:t>
            </a:r>
            <a:r>
              <a:rPr spc="-165" dirty="0"/>
              <a:t> </a:t>
            </a:r>
            <a:r>
              <a:rPr spc="5" dirty="0"/>
              <a:t>the</a:t>
            </a:r>
            <a:r>
              <a:rPr spc="-180" dirty="0"/>
              <a:t> </a:t>
            </a:r>
            <a:r>
              <a:rPr spc="130" dirty="0"/>
              <a:t>TRY...CATCH</a:t>
            </a:r>
            <a:r>
              <a:rPr spc="-204" dirty="0"/>
              <a:t> </a:t>
            </a:r>
            <a:r>
              <a:rPr spc="45"/>
              <a:t>Construct</a:t>
            </a:r>
            <a:r>
              <a:rPr spc="-180"/>
              <a:t> </a:t>
            </a:r>
            <a:r>
              <a:rPr spc="-280"/>
              <a:t>1-</a:t>
            </a:r>
            <a:r>
              <a:rPr lang="en-US" spc="-280"/>
              <a:t>3</a:t>
            </a:r>
            <a:endParaRPr spc="-280" dirty="0"/>
          </a:p>
        </p:txBody>
      </p:sp>
      <p:sp>
        <p:nvSpPr>
          <p:cNvPr id="3" name="object 3"/>
          <p:cNvSpPr txBox="1"/>
          <p:nvPr/>
        </p:nvSpPr>
        <p:spPr>
          <a:xfrm>
            <a:off x="497077" y="1049781"/>
            <a:ext cx="8373109" cy="361315"/>
          </a:xfrm>
          <a:prstGeom prst="rect">
            <a:avLst/>
          </a:prstGeom>
        </p:spPr>
        <p:txBody>
          <a:bodyPr vert="horz" wrap="square" lIns="0" tIns="12700" rIns="0" bIns="0" rtlCol="0">
            <a:spAutoFit/>
          </a:bodyPr>
          <a:lstStyle/>
          <a:p>
            <a:pPr marL="12700">
              <a:lnSpc>
                <a:spcPct val="100000"/>
              </a:lnSpc>
              <a:spcBef>
                <a:spcPts val="100"/>
              </a:spcBef>
            </a:pPr>
            <a:r>
              <a:rPr sz="2200" spc="145" dirty="0">
                <a:latin typeface="Times New Roman"/>
                <a:cs typeface="Times New Roman"/>
              </a:rPr>
              <a:t>The</a:t>
            </a:r>
            <a:r>
              <a:rPr sz="2200" spc="-85" dirty="0">
                <a:latin typeface="Times New Roman"/>
                <a:cs typeface="Times New Roman"/>
              </a:rPr>
              <a:t> </a:t>
            </a:r>
            <a:r>
              <a:rPr sz="2200" spc="100" dirty="0">
                <a:latin typeface="Times New Roman"/>
                <a:cs typeface="Times New Roman"/>
              </a:rPr>
              <a:t>TRY…CATCH</a:t>
            </a:r>
            <a:r>
              <a:rPr sz="2200" spc="-95" dirty="0">
                <a:latin typeface="Times New Roman"/>
                <a:cs typeface="Times New Roman"/>
              </a:rPr>
              <a:t> </a:t>
            </a:r>
            <a:r>
              <a:rPr sz="2200" spc="100" dirty="0">
                <a:latin typeface="Times New Roman"/>
                <a:cs typeface="Times New Roman"/>
              </a:rPr>
              <a:t>construct</a:t>
            </a:r>
            <a:r>
              <a:rPr sz="2200" spc="-95" dirty="0">
                <a:latin typeface="Times New Roman"/>
                <a:cs typeface="Times New Roman"/>
              </a:rPr>
              <a:t> </a:t>
            </a:r>
            <a:r>
              <a:rPr sz="2200" spc="75" dirty="0">
                <a:latin typeface="Times New Roman"/>
                <a:cs typeface="Times New Roman"/>
              </a:rPr>
              <a:t>does</a:t>
            </a:r>
            <a:r>
              <a:rPr sz="2200" spc="-100" dirty="0">
                <a:latin typeface="Times New Roman"/>
                <a:cs typeface="Times New Roman"/>
              </a:rPr>
              <a:t> </a:t>
            </a:r>
            <a:r>
              <a:rPr sz="2200" spc="145" dirty="0">
                <a:latin typeface="Times New Roman"/>
                <a:cs typeface="Times New Roman"/>
              </a:rPr>
              <a:t>not</a:t>
            </a:r>
            <a:r>
              <a:rPr sz="2200" spc="-90" dirty="0">
                <a:latin typeface="Times New Roman"/>
                <a:cs typeface="Times New Roman"/>
              </a:rPr>
              <a:t> </a:t>
            </a:r>
            <a:r>
              <a:rPr sz="2200" spc="95" dirty="0">
                <a:latin typeface="Times New Roman"/>
                <a:cs typeface="Times New Roman"/>
              </a:rPr>
              <a:t>trap</a:t>
            </a:r>
            <a:r>
              <a:rPr sz="2200" spc="-85" dirty="0">
                <a:latin typeface="Times New Roman"/>
                <a:cs typeface="Times New Roman"/>
              </a:rPr>
              <a:t> </a:t>
            </a:r>
            <a:r>
              <a:rPr sz="2200" spc="125" dirty="0">
                <a:latin typeface="Times New Roman"/>
                <a:cs typeface="Times New Roman"/>
              </a:rPr>
              <a:t>the</a:t>
            </a:r>
            <a:r>
              <a:rPr sz="2200" spc="-95" dirty="0">
                <a:latin typeface="Times New Roman"/>
                <a:cs typeface="Times New Roman"/>
              </a:rPr>
              <a:t> </a:t>
            </a:r>
            <a:r>
              <a:rPr sz="2200" spc="55" dirty="0">
                <a:latin typeface="Times New Roman"/>
                <a:cs typeface="Times New Roman"/>
              </a:rPr>
              <a:t>following</a:t>
            </a:r>
            <a:r>
              <a:rPr sz="2200" spc="-90" dirty="0">
                <a:latin typeface="Times New Roman"/>
                <a:cs typeface="Times New Roman"/>
              </a:rPr>
              <a:t> </a:t>
            </a:r>
            <a:r>
              <a:rPr sz="2200" spc="80" dirty="0">
                <a:latin typeface="Times New Roman"/>
                <a:cs typeface="Times New Roman"/>
              </a:rPr>
              <a:t>conditions:</a:t>
            </a:r>
            <a:endParaRPr sz="2200">
              <a:latin typeface="Times New Roman"/>
              <a:cs typeface="Times New Roman"/>
            </a:endParaRPr>
          </a:p>
        </p:txBody>
      </p:sp>
      <p:sp>
        <p:nvSpPr>
          <p:cNvPr id="4" name="object 4"/>
          <p:cNvSpPr/>
          <p:nvPr/>
        </p:nvSpPr>
        <p:spPr>
          <a:xfrm>
            <a:off x="400050" y="1503425"/>
            <a:ext cx="7783830" cy="4554220"/>
          </a:xfrm>
          <a:custGeom>
            <a:avLst/>
            <a:gdLst/>
            <a:ahLst/>
            <a:cxnLst/>
            <a:rect l="l" t="t" r="r" b="b"/>
            <a:pathLst>
              <a:path w="7783830" h="4554220">
                <a:moveTo>
                  <a:pt x="6645402" y="0"/>
                </a:moveTo>
                <a:lnTo>
                  <a:pt x="1138428" y="0"/>
                </a:lnTo>
                <a:lnTo>
                  <a:pt x="0" y="2276856"/>
                </a:lnTo>
                <a:lnTo>
                  <a:pt x="1138428" y="4553712"/>
                </a:lnTo>
                <a:lnTo>
                  <a:pt x="6645402" y="4553712"/>
                </a:lnTo>
                <a:lnTo>
                  <a:pt x="7783830" y="2276856"/>
                </a:lnTo>
                <a:lnTo>
                  <a:pt x="6645402" y="0"/>
                </a:lnTo>
                <a:close/>
              </a:path>
            </a:pathLst>
          </a:custGeom>
          <a:solidFill>
            <a:srgbClr val="205868"/>
          </a:solidFill>
        </p:spPr>
        <p:txBody>
          <a:bodyPr wrap="square" lIns="0" tIns="0" rIns="0" bIns="0" rtlCol="0"/>
          <a:lstStyle/>
          <a:p>
            <a:endParaRPr/>
          </a:p>
        </p:txBody>
      </p:sp>
      <p:sp>
        <p:nvSpPr>
          <p:cNvPr id="5" name="object 5"/>
          <p:cNvSpPr txBox="1"/>
          <p:nvPr/>
        </p:nvSpPr>
        <p:spPr>
          <a:xfrm>
            <a:off x="1507489" y="1941830"/>
            <a:ext cx="5570220" cy="3347720"/>
          </a:xfrm>
          <a:prstGeom prst="rect">
            <a:avLst/>
          </a:prstGeom>
        </p:spPr>
        <p:txBody>
          <a:bodyPr vert="horz" wrap="square" lIns="0" tIns="46990" rIns="0" bIns="0" rtlCol="0">
            <a:spAutoFit/>
          </a:bodyPr>
          <a:lstStyle/>
          <a:p>
            <a:pPr marL="354965" marR="5715" indent="-342900" algn="just">
              <a:lnSpc>
                <a:spcPts val="2160"/>
              </a:lnSpc>
              <a:spcBef>
                <a:spcPts val="370"/>
              </a:spcBef>
              <a:buFont typeface="Wingdings"/>
              <a:buChar char=""/>
              <a:tabLst>
                <a:tab pos="355600" algn="l"/>
              </a:tabLst>
            </a:pPr>
            <a:r>
              <a:rPr sz="2000" spc="30" dirty="0">
                <a:solidFill>
                  <a:srgbClr val="FFFFFF"/>
                </a:solidFill>
                <a:latin typeface="Arial"/>
                <a:cs typeface="Arial"/>
              </a:rPr>
              <a:t>Informational </a:t>
            </a:r>
            <a:r>
              <a:rPr sz="2000" spc="-170" dirty="0">
                <a:solidFill>
                  <a:srgbClr val="FFFFFF"/>
                </a:solidFill>
                <a:latin typeface="Arial"/>
                <a:cs typeface="Arial"/>
              </a:rPr>
              <a:t>messages </a:t>
            </a:r>
            <a:r>
              <a:rPr sz="2000" spc="25" dirty="0">
                <a:solidFill>
                  <a:srgbClr val="FFFFFF"/>
                </a:solidFill>
                <a:latin typeface="Arial"/>
                <a:cs typeface="Arial"/>
              </a:rPr>
              <a:t>or </a:t>
            </a:r>
            <a:r>
              <a:rPr sz="2000" spc="-20" dirty="0">
                <a:solidFill>
                  <a:srgbClr val="FFFFFF"/>
                </a:solidFill>
                <a:latin typeface="Arial"/>
                <a:cs typeface="Arial"/>
              </a:rPr>
              <a:t>warnings </a:t>
            </a:r>
            <a:r>
              <a:rPr sz="2000" spc="-10" dirty="0">
                <a:solidFill>
                  <a:srgbClr val="FFFFFF"/>
                </a:solidFill>
                <a:latin typeface="Arial"/>
                <a:cs typeface="Arial"/>
              </a:rPr>
              <a:t>having </a:t>
            </a:r>
            <a:r>
              <a:rPr sz="2000" spc="-195" dirty="0">
                <a:solidFill>
                  <a:srgbClr val="FFFFFF"/>
                </a:solidFill>
                <a:latin typeface="Arial"/>
                <a:cs typeface="Arial"/>
              </a:rPr>
              <a:t>a  </a:t>
            </a:r>
            <a:r>
              <a:rPr sz="2000" spc="-30" dirty="0">
                <a:solidFill>
                  <a:srgbClr val="FFFFFF"/>
                </a:solidFill>
                <a:latin typeface="Arial"/>
                <a:cs typeface="Arial"/>
              </a:rPr>
              <a:t>severity </a:t>
            </a:r>
            <a:r>
              <a:rPr sz="2000" spc="50" dirty="0">
                <a:solidFill>
                  <a:srgbClr val="FFFFFF"/>
                </a:solidFill>
                <a:latin typeface="Arial"/>
                <a:cs typeface="Arial"/>
              </a:rPr>
              <a:t>of </a:t>
            </a:r>
            <a:r>
              <a:rPr sz="2000" spc="-250" dirty="0">
                <a:solidFill>
                  <a:srgbClr val="FFFFFF"/>
                </a:solidFill>
                <a:latin typeface="Arial"/>
                <a:cs typeface="Arial"/>
              </a:rPr>
              <a:t>10 </a:t>
            </a:r>
            <a:r>
              <a:rPr sz="2000" spc="25" dirty="0">
                <a:solidFill>
                  <a:srgbClr val="FFFFFF"/>
                </a:solidFill>
                <a:latin typeface="Arial"/>
                <a:cs typeface="Arial"/>
              </a:rPr>
              <a:t>or</a:t>
            </a:r>
            <a:r>
              <a:rPr sz="2000" spc="-260" dirty="0">
                <a:solidFill>
                  <a:srgbClr val="FFFFFF"/>
                </a:solidFill>
                <a:latin typeface="Arial"/>
                <a:cs typeface="Arial"/>
              </a:rPr>
              <a:t> </a:t>
            </a:r>
            <a:r>
              <a:rPr sz="2000" spc="5" dirty="0">
                <a:solidFill>
                  <a:srgbClr val="FFFFFF"/>
                </a:solidFill>
                <a:latin typeface="Arial"/>
                <a:cs typeface="Arial"/>
              </a:rPr>
              <a:t>lower</a:t>
            </a:r>
            <a:endParaRPr sz="2000">
              <a:latin typeface="Arial"/>
              <a:cs typeface="Arial"/>
            </a:endParaRPr>
          </a:p>
          <a:p>
            <a:pPr marL="354965" marR="6350" indent="-342900" algn="just">
              <a:lnSpc>
                <a:spcPts val="2160"/>
              </a:lnSpc>
              <a:buFont typeface="Wingdings"/>
              <a:buChar char=""/>
              <a:tabLst>
                <a:tab pos="355600" algn="l"/>
              </a:tabLst>
            </a:pPr>
            <a:r>
              <a:rPr sz="2000" spc="175" dirty="0">
                <a:solidFill>
                  <a:srgbClr val="FFFFFF"/>
                </a:solidFill>
                <a:latin typeface="Arial"/>
                <a:cs typeface="Arial"/>
              </a:rPr>
              <a:t>An </a:t>
            </a:r>
            <a:r>
              <a:rPr sz="2000" spc="5" dirty="0">
                <a:solidFill>
                  <a:srgbClr val="FFFFFF"/>
                </a:solidFill>
                <a:latin typeface="Arial"/>
                <a:cs typeface="Arial"/>
              </a:rPr>
              <a:t>error </a:t>
            </a:r>
            <a:r>
              <a:rPr sz="2000" spc="30" dirty="0">
                <a:solidFill>
                  <a:srgbClr val="FFFFFF"/>
                </a:solidFill>
                <a:latin typeface="Arial"/>
                <a:cs typeface="Arial"/>
              </a:rPr>
              <a:t>that </a:t>
            </a:r>
            <a:r>
              <a:rPr sz="2000" spc="-120" dirty="0">
                <a:solidFill>
                  <a:srgbClr val="FFFFFF"/>
                </a:solidFill>
                <a:latin typeface="Arial"/>
                <a:cs typeface="Arial"/>
              </a:rPr>
              <a:t>has </a:t>
            </a:r>
            <a:r>
              <a:rPr sz="2000" spc="-195" dirty="0">
                <a:solidFill>
                  <a:srgbClr val="FFFFFF"/>
                </a:solidFill>
                <a:latin typeface="Arial"/>
                <a:cs typeface="Arial"/>
              </a:rPr>
              <a:t>a </a:t>
            </a:r>
            <a:r>
              <a:rPr sz="2000" spc="-25" dirty="0">
                <a:solidFill>
                  <a:srgbClr val="FFFFFF"/>
                </a:solidFill>
                <a:latin typeface="Arial"/>
                <a:cs typeface="Arial"/>
              </a:rPr>
              <a:t>severity </a:t>
            </a:r>
            <a:r>
              <a:rPr sz="2000" spc="55" dirty="0">
                <a:solidFill>
                  <a:srgbClr val="FFFFFF"/>
                </a:solidFill>
                <a:latin typeface="Arial"/>
                <a:cs typeface="Arial"/>
              </a:rPr>
              <a:t>of </a:t>
            </a:r>
            <a:r>
              <a:rPr sz="2000" spc="-114" dirty="0">
                <a:solidFill>
                  <a:srgbClr val="FFFFFF"/>
                </a:solidFill>
                <a:latin typeface="Arial"/>
                <a:cs typeface="Arial"/>
              </a:rPr>
              <a:t>20 </a:t>
            </a:r>
            <a:r>
              <a:rPr sz="2000" spc="25" dirty="0">
                <a:solidFill>
                  <a:srgbClr val="FFFFFF"/>
                </a:solidFill>
                <a:latin typeface="Arial"/>
                <a:cs typeface="Arial"/>
              </a:rPr>
              <a:t>or </a:t>
            </a:r>
            <a:r>
              <a:rPr sz="2000" dirty="0">
                <a:solidFill>
                  <a:srgbClr val="FFFFFF"/>
                </a:solidFill>
                <a:latin typeface="Arial"/>
                <a:cs typeface="Arial"/>
              </a:rPr>
              <a:t>higher</a:t>
            </a:r>
            <a:r>
              <a:rPr sz="2000" spc="-195" dirty="0">
                <a:solidFill>
                  <a:srgbClr val="FFFFFF"/>
                </a:solidFill>
                <a:latin typeface="Arial"/>
                <a:cs typeface="Arial"/>
              </a:rPr>
              <a:t> </a:t>
            </a:r>
            <a:r>
              <a:rPr sz="2000" spc="30" dirty="0">
                <a:solidFill>
                  <a:srgbClr val="FFFFFF"/>
                </a:solidFill>
                <a:latin typeface="Arial"/>
                <a:cs typeface="Arial"/>
              </a:rPr>
              <a:t>that  </a:t>
            </a:r>
            <a:r>
              <a:rPr sz="2000" spc="-65" dirty="0">
                <a:solidFill>
                  <a:srgbClr val="FFFFFF"/>
                </a:solidFill>
                <a:latin typeface="Arial"/>
                <a:cs typeface="Arial"/>
              </a:rPr>
              <a:t>stops </a:t>
            </a:r>
            <a:r>
              <a:rPr sz="2000" dirty="0">
                <a:solidFill>
                  <a:srgbClr val="FFFFFF"/>
                </a:solidFill>
                <a:latin typeface="Arial"/>
                <a:cs typeface="Arial"/>
              </a:rPr>
              <a:t>the </a:t>
            </a:r>
            <a:r>
              <a:rPr sz="2000" spc="20" dirty="0">
                <a:solidFill>
                  <a:srgbClr val="FFFFFF"/>
                </a:solidFill>
                <a:latin typeface="Arial"/>
                <a:cs typeface="Arial"/>
              </a:rPr>
              <a:t>SQL </a:t>
            </a:r>
            <a:r>
              <a:rPr sz="2000" spc="-50" dirty="0">
                <a:solidFill>
                  <a:srgbClr val="FFFFFF"/>
                </a:solidFill>
                <a:latin typeface="Arial"/>
                <a:cs typeface="Arial"/>
              </a:rPr>
              <a:t>Server </a:t>
            </a:r>
            <a:r>
              <a:rPr sz="2000" spc="-90" dirty="0">
                <a:solidFill>
                  <a:srgbClr val="FFFFFF"/>
                </a:solidFill>
                <a:latin typeface="Arial"/>
                <a:cs typeface="Arial"/>
              </a:rPr>
              <a:t>Database </a:t>
            </a:r>
            <a:r>
              <a:rPr sz="2000" spc="-35" dirty="0">
                <a:solidFill>
                  <a:srgbClr val="FFFFFF"/>
                </a:solidFill>
                <a:latin typeface="Arial"/>
                <a:cs typeface="Arial"/>
              </a:rPr>
              <a:t>Engine </a:t>
            </a:r>
            <a:r>
              <a:rPr sz="2000" spc="-50" dirty="0">
                <a:solidFill>
                  <a:srgbClr val="FFFFFF"/>
                </a:solidFill>
                <a:latin typeface="Arial"/>
                <a:cs typeface="Arial"/>
              </a:rPr>
              <a:t>task  </a:t>
            </a:r>
            <a:r>
              <a:rPr sz="2000" spc="-60" dirty="0">
                <a:solidFill>
                  <a:srgbClr val="FFFFFF"/>
                </a:solidFill>
                <a:latin typeface="Arial"/>
                <a:cs typeface="Arial"/>
              </a:rPr>
              <a:t>processing </a:t>
            </a:r>
            <a:r>
              <a:rPr sz="2000" spc="65" dirty="0">
                <a:solidFill>
                  <a:srgbClr val="FFFFFF"/>
                </a:solidFill>
                <a:latin typeface="Arial"/>
                <a:cs typeface="Arial"/>
              </a:rPr>
              <a:t>for </a:t>
            </a:r>
            <a:r>
              <a:rPr sz="2000" dirty="0">
                <a:solidFill>
                  <a:srgbClr val="FFFFFF"/>
                </a:solidFill>
                <a:latin typeface="Arial"/>
                <a:cs typeface="Arial"/>
              </a:rPr>
              <a:t>the</a:t>
            </a:r>
            <a:r>
              <a:rPr sz="2000" spc="-370" dirty="0">
                <a:solidFill>
                  <a:srgbClr val="FFFFFF"/>
                </a:solidFill>
                <a:latin typeface="Arial"/>
                <a:cs typeface="Arial"/>
              </a:rPr>
              <a:t> </a:t>
            </a:r>
            <a:r>
              <a:rPr sz="2000" spc="-95" dirty="0">
                <a:solidFill>
                  <a:srgbClr val="FFFFFF"/>
                </a:solidFill>
                <a:latin typeface="Arial"/>
                <a:cs typeface="Arial"/>
              </a:rPr>
              <a:t>session</a:t>
            </a:r>
            <a:endParaRPr sz="2000">
              <a:latin typeface="Arial"/>
              <a:cs typeface="Arial"/>
            </a:endParaRPr>
          </a:p>
          <a:p>
            <a:pPr marL="354965" marR="5715" indent="-342900" algn="just">
              <a:lnSpc>
                <a:spcPts val="2160"/>
              </a:lnSpc>
              <a:buFont typeface="Wingdings"/>
              <a:buChar char=""/>
              <a:tabLst>
                <a:tab pos="355600" algn="l"/>
              </a:tabLst>
            </a:pPr>
            <a:r>
              <a:rPr sz="2000" spc="110" dirty="0">
                <a:solidFill>
                  <a:srgbClr val="FFFFFF"/>
                </a:solidFill>
                <a:latin typeface="Arial"/>
                <a:cs typeface="Arial"/>
              </a:rPr>
              <a:t>If</a:t>
            </a:r>
            <a:r>
              <a:rPr sz="2000" spc="-90" dirty="0">
                <a:solidFill>
                  <a:srgbClr val="FFFFFF"/>
                </a:solidFill>
                <a:latin typeface="Arial"/>
                <a:cs typeface="Arial"/>
              </a:rPr>
              <a:t> </a:t>
            </a:r>
            <a:r>
              <a:rPr sz="2000" spc="-30" dirty="0">
                <a:solidFill>
                  <a:srgbClr val="FFFFFF"/>
                </a:solidFill>
                <a:latin typeface="Arial"/>
                <a:cs typeface="Arial"/>
              </a:rPr>
              <a:t>errors</a:t>
            </a:r>
            <a:r>
              <a:rPr sz="2000" spc="-80" dirty="0">
                <a:solidFill>
                  <a:srgbClr val="FFFFFF"/>
                </a:solidFill>
                <a:latin typeface="Arial"/>
                <a:cs typeface="Arial"/>
              </a:rPr>
              <a:t> </a:t>
            </a:r>
            <a:r>
              <a:rPr sz="2000" spc="-20" dirty="0">
                <a:solidFill>
                  <a:srgbClr val="FFFFFF"/>
                </a:solidFill>
                <a:latin typeface="Arial"/>
                <a:cs typeface="Arial"/>
              </a:rPr>
              <a:t>occur</a:t>
            </a:r>
            <a:r>
              <a:rPr sz="2000" spc="-85" dirty="0">
                <a:solidFill>
                  <a:srgbClr val="FFFFFF"/>
                </a:solidFill>
                <a:latin typeface="Arial"/>
                <a:cs typeface="Arial"/>
              </a:rPr>
              <a:t> </a:t>
            </a:r>
            <a:r>
              <a:rPr sz="2000" spc="30" dirty="0">
                <a:solidFill>
                  <a:srgbClr val="FFFFFF"/>
                </a:solidFill>
                <a:latin typeface="Arial"/>
                <a:cs typeface="Arial"/>
              </a:rPr>
              <a:t>that</a:t>
            </a:r>
            <a:r>
              <a:rPr sz="2000" spc="-85" dirty="0">
                <a:solidFill>
                  <a:srgbClr val="FFFFFF"/>
                </a:solidFill>
                <a:latin typeface="Arial"/>
                <a:cs typeface="Arial"/>
              </a:rPr>
              <a:t> </a:t>
            </a:r>
            <a:r>
              <a:rPr sz="2000" spc="-70" dirty="0">
                <a:solidFill>
                  <a:srgbClr val="FFFFFF"/>
                </a:solidFill>
                <a:latin typeface="Arial"/>
                <a:cs typeface="Arial"/>
              </a:rPr>
              <a:t>have</a:t>
            </a:r>
            <a:r>
              <a:rPr sz="2000" spc="-80" dirty="0">
                <a:solidFill>
                  <a:srgbClr val="FFFFFF"/>
                </a:solidFill>
                <a:latin typeface="Arial"/>
                <a:cs typeface="Arial"/>
              </a:rPr>
              <a:t> </a:t>
            </a:r>
            <a:r>
              <a:rPr sz="2000" spc="-25" dirty="0">
                <a:solidFill>
                  <a:srgbClr val="FFFFFF"/>
                </a:solidFill>
                <a:latin typeface="Arial"/>
                <a:cs typeface="Arial"/>
              </a:rPr>
              <a:t>severity</a:t>
            </a:r>
            <a:r>
              <a:rPr sz="2000" spc="-65" dirty="0">
                <a:solidFill>
                  <a:srgbClr val="FFFFFF"/>
                </a:solidFill>
                <a:latin typeface="Arial"/>
                <a:cs typeface="Arial"/>
              </a:rPr>
              <a:t> </a:t>
            </a:r>
            <a:r>
              <a:rPr sz="2000" spc="50" dirty="0">
                <a:solidFill>
                  <a:srgbClr val="FFFFFF"/>
                </a:solidFill>
                <a:latin typeface="Arial"/>
                <a:cs typeface="Arial"/>
              </a:rPr>
              <a:t>of</a:t>
            </a:r>
            <a:r>
              <a:rPr sz="2000" spc="-90" dirty="0">
                <a:solidFill>
                  <a:srgbClr val="FFFFFF"/>
                </a:solidFill>
                <a:latin typeface="Arial"/>
                <a:cs typeface="Arial"/>
              </a:rPr>
              <a:t> </a:t>
            </a:r>
            <a:r>
              <a:rPr sz="2000" spc="-114" dirty="0">
                <a:solidFill>
                  <a:srgbClr val="FFFFFF"/>
                </a:solidFill>
                <a:latin typeface="Arial"/>
                <a:cs typeface="Arial"/>
              </a:rPr>
              <a:t>20</a:t>
            </a:r>
            <a:r>
              <a:rPr sz="2000" spc="-80" dirty="0">
                <a:solidFill>
                  <a:srgbClr val="FFFFFF"/>
                </a:solidFill>
                <a:latin typeface="Arial"/>
                <a:cs typeface="Arial"/>
              </a:rPr>
              <a:t> </a:t>
            </a:r>
            <a:r>
              <a:rPr sz="2000" spc="30" dirty="0">
                <a:solidFill>
                  <a:srgbClr val="FFFFFF"/>
                </a:solidFill>
                <a:latin typeface="Arial"/>
                <a:cs typeface="Arial"/>
              </a:rPr>
              <a:t>or</a:t>
            </a:r>
            <a:r>
              <a:rPr sz="2000" spc="-85" dirty="0">
                <a:solidFill>
                  <a:srgbClr val="FFFFFF"/>
                </a:solidFill>
                <a:latin typeface="Arial"/>
                <a:cs typeface="Arial"/>
              </a:rPr>
              <a:t> </a:t>
            </a:r>
            <a:r>
              <a:rPr sz="2000" dirty="0">
                <a:solidFill>
                  <a:srgbClr val="FFFFFF"/>
                </a:solidFill>
                <a:latin typeface="Arial"/>
                <a:cs typeface="Arial"/>
              </a:rPr>
              <a:t>higher  </a:t>
            </a:r>
            <a:r>
              <a:rPr sz="2000" spc="-35" dirty="0">
                <a:solidFill>
                  <a:srgbClr val="FFFFFF"/>
                </a:solidFill>
                <a:latin typeface="Arial"/>
                <a:cs typeface="Arial"/>
              </a:rPr>
              <a:t>and </a:t>
            </a:r>
            <a:r>
              <a:rPr sz="2000" dirty="0">
                <a:solidFill>
                  <a:srgbClr val="FFFFFF"/>
                </a:solidFill>
                <a:latin typeface="Arial"/>
                <a:cs typeface="Arial"/>
              </a:rPr>
              <a:t>the </a:t>
            </a:r>
            <a:r>
              <a:rPr sz="2000" spc="-105" dirty="0">
                <a:solidFill>
                  <a:srgbClr val="FFFFFF"/>
                </a:solidFill>
                <a:latin typeface="Arial"/>
                <a:cs typeface="Arial"/>
              </a:rPr>
              <a:t>database </a:t>
            </a:r>
            <a:r>
              <a:rPr sz="2000" spc="5" dirty="0">
                <a:solidFill>
                  <a:srgbClr val="FFFFFF"/>
                </a:solidFill>
                <a:latin typeface="Arial"/>
                <a:cs typeface="Arial"/>
              </a:rPr>
              <a:t>connection </a:t>
            </a:r>
            <a:r>
              <a:rPr sz="2000" spc="-50" dirty="0">
                <a:solidFill>
                  <a:srgbClr val="FFFFFF"/>
                </a:solidFill>
                <a:latin typeface="Arial"/>
                <a:cs typeface="Arial"/>
              </a:rPr>
              <a:t>is </a:t>
            </a:r>
            <a:r>
              <a:rPr sz="2000" spc="60" dirty="0">
                <a:solidFill>
                  <a:srgbClr val="FFFFFF"/>
                </a:solidFill>
                <a:latin typeface="Arial"/>
                <a:cs typeface="Arial"/>
              </a:rPr>
              <a:t>not</a:t>
            </a:r>
            <a:r>
              <a:rPr sz="2000" spc="-125" dirty="0">
                <a:solidFill>
                  <a:srgbClr val="FFFFFF"/>
                </a:solidFill>
                <a:latin typeface="Arial"/>
                <a:cs typeface="Arial"/>
              </a:rPr>
              <a:t> </a:t>
            </a:r>
            <a:r>
              <a:rPr sz="2000" spc="20" dirty="0">
                <a:solidFill>
                  <a:srgbClr val="FFFFFF"/>
                </a:solidFill>
                <a:latin typeface="Arial"/>
                <a:cs typeface="Arial"/>
              </a:rPr>
              <a:t>interrupted,</a:t>
            </a:r>
            <a:endParaRPr sz="2000">
              <a:latin typeface="Arial"/>
              <a:cs typeface="Arial"/>
            </a:endParaRPr>
          </a:p>
          <a:p>
            <a:pPr marL="354965" algn="just">
              <a:lnSpc>
                <a:spcPts val="2010"/>
              </a:lnSpc>
            </a:pPr>
            <a:r>
              <a:rPr sz="2000" dirty="0">
                <a:solidFill>
                  <a:srgbClr val="FFFFFF"/>
                </a:solidFill>
                <a:latin typeface="Arial"/>
                <a:cs typeface="Arial"/>
              </a:rPr>
              <a:t>the</a:t>
            </a:r>
            <a:r>
              <a:rPr sz="2000" spc="-120" dirty="0">
                <a:solidFill>
                  <a:srgbClr val="FFFFFF"/>
                </a:solidFill>
                <a:latin typeface="Arial"/>
                <a:cs typeface="Arial"/>
              </a:rPr>
              <a:t> </a:t>
            </a:r>
            <a:r>
              <a:rPr sz="2000" spc="75" dirty="0">
                <a:solidFill>
                  <a:srgbClr val="FFFFFF"/>
                </a:solidFill>
                <a:latin typeface="Arial"/>
                <a:cs typeface="Arial"/>
              </a:rPr>
              <a:t>TRY</a:t>
            </a:r>
            <a:r>
              <a:rPr sz="2000" spc="75" dirty="0">
                <a:solidFill>
                  <a:srgbClr val="FFFFFF"/>
                </a:solidFill>
                <a:latin typeface="Times New Roman"/>
                <a:cs typeface="Times New Roman"/>
              </a:rPr>
              <a:t>…</a:t>
            </a:r>
            <a:r>
              <a:rPr sz="2000" spc="75" dirty="0">
                <a:solidFill>
                  <a:srgbClr val="FFFFFF"/>
                </a:solidFill>
                <a:latin typeface="Arial"/>
                <a:cs typeface="Arial"/>
              </a:rPr>
              <a:t>CATCH</a:t>
            </a:r>
            <a:r>
              <a:rPr sz="2000" spc="-130" dirty="0">
                <a:solidFill>
                  <a:srgbClr val="FFFFFF"/>
                </a:solidFill>
                <a:latin typeface="Arial"/>
                <a:cs typeface="Arial"/>
              </a:rPr>
              <a:t> </a:t>
            </a:r>
            <a:r>
              <a:rPr sz="2000" spc="95" dirty="0">
                <a:solidFill>
                  <a:srgbClr val="FFFFFF"/>
                </a:solidFill>
                <a:latin typeface="Arial"/>
                <a:cs typeface="Arial"/>
              </a:rPr>
              <a:t>will</a:t>
            </a:r>
            <a:r>
              <a:rPr sz="2000" spc="-125" dirty="0">
                <a:solidFill>
                  <a:srgbClr val="FFFFFF"/>
                </a:solidFill>
                <a:latin typeface="Arial"/>
                <a:cs typeface="Arial"/>
              </a:rPr>
              <a:t> </a:t>
            </a:r>
            <a:r>
              <a:rPr sz="2000" spc="-20" dirty="0">
                <a:solidFill>
                  <a:srgbClr val="FFFFFF"/>
                </a:solidFill>
                <a:latin typeface="Arial"/>
                <a:cs typeface="Arial"/>
              </a:rPr>
              <a:t>handle</a:t>
            </a:r>
            <a:r>
              <a:rPr sz="2000" spc="-110" dirty="0">
                <a:solidFill>
                  <a:srgbClr val="FFFFFF"/>
                </a:solidFill>
                <a:latin typeface="Arial"/>
                <a:cs typeface="Arial"/>
              </a:rPr>
              <a:t> </a:t>
            </a:r>
            <a:r>
              <a:rPr sz="2000" dirty="0">
                <a:solidFill>
                  <a:srgbClr val="FFFFFF"/>
                </a:solidFill>
                <a:latin typeface="Arial"/>
                <a:cs typeface="Arial"/>
              </a:rPr>
              <a:t>the</a:t>
            </a:r>
            <a:r>
              <a:rPr sz="2000" spc="-114" dirty="0">
                <a:solidFill>
                  <a:srgbClr val="FFFFFF"/>
                </a:solidFill>
                <a:latin typeface="Arial"/>
                <a:cs typeface="Arial"/>
              </a:rPr>
              <a:t> </a:t>
            </a:r>
            <a:r>
              <a:rPr sz="2000" spc="5" dirty="0">
                <a:solidFill>
                  <a:srgbClr val="FFFFFF"/>
                </a:solidFill>
                <a:latin typeface="Arial"/>
                <a:cs typeface="Arial"/>
              </a:rPr>
              <a:t>error</a:t>
            </a:r>
            <a:endParaRPr sz="2000">
              <a:latin typeface="Arial"/>
              <a:cs typeface="Arial"/>
            </a:endParaRPr>
          </a:p>
          <a:p>
            <a:pPr marL="354965" marR="5080" indent="-342900" algn="just">
              <a:lnSpc>
                <a:spcPts val="2160"/>
              </a:lnSpc>
              <a:spcBef>
                <a:spcPts val="150"/>
              </a:spcBef>
              <a:buFont typeface="Wingdings"/>
              <a:buChar char=""/>
              <a:tabLst>
                <a:tab pos="355600" algn="l"/>
              </a:tabLst>
            </a:pPr>
            <a:r>
              <a:rPr sz="2000" spc="50" dirty="0">
                <a:solidFill>
                  <a:srgbClr val="FFFFFF"/>
                </a:solidFill>
                <a:latin typeface="Arial"/>
                <a:cs typeface="Arial"/>
              </a:rPr>
              <a:t>Attentions </a:t>
            </a:r>
            <a:r>
              <a:rPr sz="2000" spc="-55" dirty="0">
                <a:solidFill>
                  <a:srgbClr val="FFFFFF"/>
                </a:solidFill>
                <a:latin typeface="Arial"/>
                <a:cs typeface="Arial"/>
              </a:rPr>
              <a:t>such </a:t>
            </a:r>
            <a:r>
              <a:rPr sz="2000" spc="-204" dirty="0">
                <a:solidFill>
                  <a:srgbClr val="FFFFFF"/>
                </a:solidFill>
                <a:latin typeface="Arial"/>
                <a:cs typeface="Arial"/>
              </a:rPr>
              <a:t>as </a:t>
            </a:r>
            <a:r>
              <a:rPr sz="2000" spc="5" dirty="0">
                <a:solidFill>
                  <a:srgbClr val="FFFFFF"/>
                </a:solidFill>
                <a:latin typeface="Arial"/>
                <a:cs typeface="Arial"/>
              </a:rPr>
              <a:t>broken </a:t>
            </a:r>
            <a:r>
              <a:rPr sz="2000" spc="25" dirty="0">
                <a:solidFill>
                  <a:srgbClr val="FFFFFF"/>
                </a:solidFill>
                <a:latin typeface="Arial"/>
                <a:cs typeface="Arial"/>
              </a:rPr>
              <a:t>client </a:t>
            </a:r>
            <a:r>
              <a:rPr sz="2000" spc="5" dirty="0">
                <a:solidFill>
                  <a:srgbClr val="FFFFFF"/>
                </a:solidFill>
                <a:latin typeface="Arial"/>
                <a:cs typeface="Arial"/>
              </a:rPr>
              <a:t>connection </a:t>
            </a:r>
            <a:r>
              <a:rPr sz="2000" spc="35" dirty="0">
                <a:solidFill>
                  <a:srgbClr val="FFFFFF"/>
                </a:solidFill>
                <a:latin typeface="Arial"/>
                <a:cs typeface="Arial"/>
              </a:rPr>
              <a:t>or  </a:t>
            </a:r>
            <a:r>
              <a:rPr sz="2000" spc="25" dirty="0">
                <a:solidFill>
                  <a:srgbClr val="FFFFFF"/>
                </a:solidFill>
                <a:latin typeface="Arial"/>
                <a:cs typeface="Arial"/>
              </a:rPr>
              <a:t>client-interrupted</a:t>
            </a:r>
            <a:r>
              <a:rPr sz="2000" spc="-110" dirty="0">
                <a:solidFill>
                  <a:srgbClr val="FFFFFF"/>
                </a:solidFill>
                <a:latin typeface="Arial"/>
                <a:cs typeface="Arial"/>
              </a:rPr>
              <a:t> </a:t>
            </a:r>
            <a:r>
              <a:rPr sz="2000" spc="-70" dirty="0">
                <a:solidFill>
                  <a:srgbClr val="FFFFFF"/>
                </a:solidFill>
                <a:latin typeface="Arial"/>
                <a:cs typeface="Arial"/>
              </a:rPr>
              <a:t>requests</a:t>
            </a:r>
            <a:endParaRPr sz="2000">
              <a:latin typeface="Arial"/>
              <a:cs typeface="Arial"/>
            </a:endParaRPr>
          </a:p>
          <a:p>
            <a:pPr marL="354965" marR="5080" indent="-342900" algn="just">
              <a:lnSpc>
                <a:spcPts val="2160"/>
              </a:lnSpc>
              <a:buFont typeface="Wingdings"/>
              <a:buChar char=""/>
              <a:tabLst>
                <a:tab pos="355600" algn="l"/>
              </a:tabLst>
            </a:pPr>
            <a:r>
              <a:rPr sz="2000" spc="70" dirty="0">
                <a:solidFill>
                  <a:srgbClr val="FFFFFF"/>
                </a:solidFill>
                <a:latin typeface="Arial"/>
                <a:cs typeface="Arial"/>
              </a:rPr>
              <a:t>When </a:t>
            </a:r>
            <a:r>
              <a:rPr sz="2000" dirty="0">
                <a:solidFill>
                  <a:srgbClr val="FFFFFF"/>
                </a:solidFill>
                <a:latin typeface="Arial"/>
                <a:cs typeface="Arial"/>
              </a:rPr>
              <a:t>the </a:t>
            </a:r>
            <a:r>
              <a:rPr sz="2000" spc="-95" dirty="0">
                <a:solidFill>
                  <a:srgbClr val="FFFFFF"/>
                </a:solidFill>
                <a:latin typeface="Arial"/>
                <a:cs typeface="Arial"/>
              </a:rPr>
              <a:t>session </a:t>
            </a:r>
            <a:r>
              <a:rPr sz="2000" spc="-80" dirty="0">
                <a:solidFill>
                  <a:srgbClr val="FFFFFF"/>
                </a:solidFill>
                <a:latin typeface="Arial"/>
                <a:cs typeface="Arial"/>
              </a:rPr>
              <a:t>ends </a:t>
            </a:r>
            <a:r>
              <a:rPr sz="2000" spc="-125" dirty="0">
                <a:solidFill>
                  <a:srgbClr val="FFFFFF"/>
                </a:solidFill>
                <a:latin typeface="Arial"/>
                <a:cs typeface="Arial"/>
              </a:rPr>
              <a:t>because </a:t>
            </a:r>
            <a:r>
              <a:rPr sz="2000" spc="50" dirty="0">
                <a:solidFill>
                  <a:srgbClr val="FFFFFF"/>
                </a:solidFill>
                <a:latin typeface="Arial"/>
                <a:cs typeface="Arial"/>
              </a:rPr>
              <a:t>of </a:t>
            </a:r>
            <a:r>
              <a:rPr sz="2000" dirty="0">
                <a:solidFill>
                  <a:srgbClr val="FFFFFF"/>
                </a:solidFill>
                <a:latin typeface="Arial"/>
                <a:cs typeface="Arial"/>
              </a:rPr>
              <a:t>the </a:t>
            </a:r>
            <a:r>
              <a:rPr sz="2000" spc="90" dirty="0">
                <a:solidFill>
                  <a:srgbClr val="FFFFFF"/>
                </a:solidFill>
                <a:latin typeface="Arial"/>
                <a:cs typeface="Arial"/>
              </a:rPr>
              <a:t>KILL  </a:t>
            </a:r>
            <a:r>
              <a:rPr sz="2000" spc="-55" dirty="0">
                <a:solidFill>
                  <a:srgbClr val="FFFFFF"/>
                </a:solidFill>
                <a:latin typeface="Arial"/>
                <a:cs typeface="Arial"/>
              </a:rPr>
              <a:t>statements </a:t>
            </a:r>
            <a:r>
              <a:rPr sz="2000" spc="-90" dirty="0">
                <a:solidFill>
                  <a:srgbClr val="FFFFFF"/>
                </a:solidFill>
                <a:latin typeface="Arial"/>
                <a:cs typeface="Arial"/>
              </a:rPr>
              <a:t>used </a:t>
            </a:r>
            <a:r>
              <a:rPr sz="2000" spc="-15" dirty="0">
                <a:solidFill>
                  <a:srgbClr val="FFFFFF"/>
                </a:solidFill>
                <a:latin typeface="Arial"/>
                <a:cs typeface="Arial"/>
              </a:rPr>
              <a:t>by </a:t>
            </a:r>
            <a:r>
              <a:rPr sz="2000" dirty="0">
                <a:solidFill>
                  <a:srgbClr val="FFFFFF"/>
                </a:solidFill>
                <a:latin typeface="Arial"/>
                <a:cs typeface="Arial"/>
              </a:rPr>
              <a:t>the </a:t>
            </a:r>
            <a:r>
              <a:rPr sz="2000" spc="-85" dirty="0">
                <a:solidFill>
                  <a:srgbClr val="FFFFFF"/>
                </a:solidFill>
                <a:latin typeface="Arial"/>
                <a:cs typeface="Arial"/>
              </a:rPr>
              <a:t>system</a:t>
            </a:r>
            <a:r>
              <a:rPr sz="2000" spc="-425" dirty="0">
                <a:solidFill>
                  <a:srgbClr val="FFFFFF"/>
                </a:solidFill>
                <a:latin typeface="Arial"/>
                <a:cs typeface="Arial"/>
              </a:rPr>
              <a:t> </a:t>
            </a:r>
            <a:r>
              <a:rPr sz="2000" spc="5" dirty="0">
                <a:solidFill>
                  <a:srgbClr val="FFFFFF"/>
                </a:solidFill>
                <a:latin typeface="Arial"/>
                <a:cs typeface="Arial"/>
              </a:rPr>
              <a:t>administrator</a:t>
            </a:r>
            <a:endParaRPr sz="2000">
              <a:latin typeface="Arial"/>
              <a:cs typeface="Arial"/>
            </a:endParaRPr>
          </a:p>
        </p:txBody>
      </p:sp>
      <p:sp>
        <p:nvSpPr>
          <p:cNvPr id="7" name="object 7"/>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24</a:t>
            </a:fld>
            <a:endParaRPr sz="1200">
              <a:latin typeface="Arial"/>
              <a:cs typeface="Arial"/>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86995">
              <a:lnSpc>
                <a:spcPct val="100000"/>
              </a:lnSpc>
              <a:spcBef>
                <a:spcPts val="100"/>
              </a:spcBef>
            </a:pPr>
            <a:r>
              <a:rPr spc="-25" dirty="0"/>
              <a:t>Errors</a:t>
            </a:r>
            <a:r>
              <a:rPr spc="-185" dirty="0"/>
              <a:t> </a:t>
            </a:r>
            <a:r>
              <a:rPr dirty="0"/>
              <a:t>Unaffected</a:t>
            </a:r>
            <a:r>
              <a:rPr spc="-200" dirty="0"/>
              <a:t> </a:t>
            </a:r>
            <a:r>
              <a:rPr spc="-15" dirty="0"/>
              <a:t>by</a:t>
            </a:r>
            <a:r>
              <a:rPr spc="-165" dirty="0"/>
              <a:t> </a:t>
            </a:r>
            <a:r>
              <a:rPr spc="5" dirty="0"/>
              <a:t>the</a:t>
            </a:r>
            <a:r>
              <a:rPr spc="-180" dirty="0"/>
              <a:t> </a:t>
            </a:r>
            <a:r>
              <a:rPr spc="130" dirty="0"/>
              <a:t>TRY...CATCH</a:t>
            </a:r>
            <a:r>
              <a:rPr spc="-204" dirty="0"/>
              <a:t> </a:t>
            </a:r>
            <a:r>
              <a:rPr spc="45"/>
              <a:t>Construct</a:t>
            </a:r>
            <a:r>
              <a:rPr spc="-180"/>
              <a:t> </a:t>
            </a:r>
            <a:r>
              <a:rPr spc="-160"/>
              <a:t>2-</a:t>
            </a:r>
            <a:r>
              <a:rPr lang="en-US" spc="-160"/>
              <a:t>3</a:t>
            </a:r>
            <a:endParaRPr spc="-160" dirty="0"/>
          </a:p>
        </p:txBody>
      </p:sp>
      <p:sp>
        <p:nvSpPr>
          <p:cNvPr id="3" name="object 3"/>
          <p:cNvSpPr/>
          <p:nvPr/>
        </p:nvSpPr>
        <p:spPr>
          <a:xfrm>
            <a:off x="760476" y="1932431"/>
            <a:ext cx="7623175" cy="3492500"/>
          </a:xfrm>
          <a:custGeom>
            <a:avLst/>
            <a:gdLst/>
            <a:ahLst/>
            <a:cxnLst/>
            <a:rect l="l" t="t" r="r" b="b"/>
            <a:pathLst>
              <a:path w="7623175" h="3492500">
                <a:moveTo>
                  <a:pt x="7623048" y="582041"/>
                </a:moveTo>
                <a:lnTo>
                  <a:pt x="7621117" y="534314"/>
                </a:lnTo>
                <a:lnTo>
                  <a:pt x="7615428" y="487641"/>
                </a:lnTo>
                <a:lnTo>
                  <a:pt x="7606119" y="442175"/>
                </a:lnTo>
                <a:lnTo>
                  <a:pt x="7593368" y="398081"/>
                </a:lnTo>
                <a:lnTo>
                  <a:pt x="7577302" y="355498"/>
                </a:lnTo>
                <a:lnTo>
                  <a:pt x="7558075" y="314579"/>
                </a:lnTo>
                <a:lnTo>
                  <a:pt x="7535837" y="275463"/>
                </a:lnTo>
                <a:lnTo>
                  <a:pt x="7510742" y="238302"/>
                </a:lnTo>
                <a:lnTo>
                  <a:pt x="7482929" y="203263"/>
                </a:lnTo>
                <a:lnTo>
                  <a:pt x="7452563" y="170484"/>
                </a:lnTo>
                <a:lnTo>
                  <a:pt x="7419784" y="140119"/>
                </a:lnTo>
                <a:lnTo>
                  <a:pt x="7384745" y="112306"/>
                </a:lnTo>
                <a:lnTo>
                  <a:pt x="7347585" y="87210"/>
                </a:lnTo>
                <a:lnTo>
                  <a:pt x="7308469" y="64973"/>
                </a:lnTo>
                <a:lnTo>
                  <a:pt x="7267549" y="45745"/>
                </a:lnTo>
                <a:lnTo>
                  <a:pt x="7224966" y="29679"/>
                </a:lnTo>
                <a:lnTo>
                  <a:pt x="7180872" y="16929"/>
                </a:lnTo>
                <a:lnTo>
                  <a:pt x="7135406" y="7620"/>
                </a:lnTo>
                <a:lnTo>
                  <a:pt x="7088733" y="1930"/>
                </a:lnTo>
                <a:lnTo>
                  <a:pt x="7041007" y="0"/>
                </a:lnTo>
                <a:lnTo>
                  <a:pt x="582041" y="0"/>
                </a:lnTo>
                <a:lnTo>
                  <a:pt x="534301" y="1930"/>
                </a:lnTo>
                <a:lnTo>
                  <a:pt x="487629" y="7620"/>
                </a:lnTo>
                <a:lnTo>
                  <a:pt x="442163" y="16929"/>
                </a:lnTo>
                <a:lnTo>
                  <a:pt x="398068" y="29679"/>
                </a:lnTo>
                <a:lnTo>
                  <a:pt x="355473" y="45745"/>
                </a:lnTo>
                <a:lnTo>
                  <a:pt x="314553" y="64973"/>
                </a:lnTo>
                <a:lnTo>
                  <a:pt x="275437" y="87210"/>
                </a:lnTo>
                <a:lnTo>
                  <a:pt x="238290" y="112306"/>
                </a:lnTo>
                <a:lnTo>
                  <a:pt x="203250" y="140119"/>
                </a:lnTo>
                <a:lnTo>
                  <a:pt x="170472" y="170484"/>
                </a:lnTo>
                <a:lnTo>
                  <a:pt x="140106" y="203263"/>
                </a:lnTo>
                <a:lnTo>
                  <a:pt x="112293" y="238302"/>
                </a:lnTo>
                <a:lnTo>
                  <a:pt x="87198" y="275463"/>
                </a:lnTo>
                <a:lnTo>
                  <a:pt x="64960" y="314579"/>
                </a:lnTo>
                <a:lnTo>
                  <a:pt x="45732" y="355498"/>
                </a:lnTo>
                <a:lnTo>
                  <a:pt x="29667" y="398081"/>
                </a:lnTo>
                <a:lnTo>
                  <a:pt x="16903" y="442175"/>
                </a:lnTo>
                <a:lnTo>
                  <a:pt x="7607" y="487641"/>
                </a:lnTo>
                <a:lnTo>
                  <a:pt x="1917" y="534314"/>
                </a:lnTo>
                <a:lnTo>
                  <a:pt x="0" y="582041"/>
                </a:lnTo>
                <a:lnTo>
                  <a:pt x="0" y="2910205"/>
                </a:lnTo>
                <a:lnTo>
                  <a:pt x="1917" y="2957944"/>
                </a:lnTo>
                <a:lnTo>
                  <a:pt x="7607" y="3004616"/>
                </a:lnTo>
                <a:lnTo>
                  <a:pt x="16903" y="3050082"/>
                </a:lnTo>
                <a:lnTo>
                  <a:pt x="29667" y="3094177"/>
                </a:lnTo>
                <a:lnTo>
                  <a:pt x="45732" y="3136760"/>
                </a:lnTo>
                <a:lnTo>
                  <a:pt x="64960" y="3177679"/>
                </a:lnTo>
                <a:lnTo>
                  <a:pt x="87198" y="3216795"/>
                </a:lnTo>
                <a:lnTo>
                  <a:pt x="112293" y="3253956"/>
                </a:lnTo>
                <a:lnTo>
                  <a:pt x="140106" y="3288995"/>
                </a:lnTo>
                <a:lnTo>
                  <a:pt x="170472" y="3321774"/>
                </a:lnTo>
                <a:lnTo>
                  <a:pt x="203250" y="3352139"/>
                </a:lnTo>
                <a:lnTo>
                  <a:pt x="238290" y="3379952"/>
                </a:lnTo>
                <a:lnTo>
                  <a:pt x="275437" y="3405047"/>
                </a:lnTo>
                <a:lnTo>
                  <a:pt x="314553" y="3427285"/>
                </a:lnTo>
                <a:lnTo>
                  <a:pt x="355473" y="3446513"/>
                </a:lnTo>
                <a:lnTo>
                  <a:pt x="398068" y="3462578"/>
                </a:lnTo>
                <a:lnTo>
                  <a:pt x="442163" y="3475329"/>
                </a:lnTo>
                <a:lnTo>
                  <a:pt x="487629" y="3484638"/>
                </a:lnTo>
                <a:lnTo>
                  <a:pt x="534301" y="3490328"/>
                </a:lnTo>
                <a:lnTo>
                  <a:pt x="582041" y="3492246"/>
                </a:lnTo>
                <a:lnTo>
                  <a:pt x="7041007" y="3492246"/>
                </a:lnTo>
                <a:lnTo>
                  <a:pt x="7088733" y="3490328"/>
                </a:lnTo>
                <a:lnTo>
                  <a:pt x="7135406" y="3484638"/>
                </a:lnTo>
                <a:lnTo>
                  <a:pt x="7180872" y="3475329"/>
                </a:lnTo>
                <a:lnTo>
                  <a:pt x="7224966" y="3462578"/>
                </a:lnTo>
                <a:lnTo>
                  <a:pt x="7267549" y="3446513"/>
                </a:lnTo>
                <a:lnTo>
                  <a:pt x="7308469" y="3427285"/>
                </a:lnTo>
                <a:lnTo>
                  <a:pt x="7347585" y="3405047"/>
                </a:lnTo>
                <a:lnTo>
                  <a:pt x="7384745" y="3379952"/>
                </a:lnTo>
                <a:lnTo>
                  <a:pt x="7419784" y="3352139"/>
                </a:lnTo>
                <a:lnTo>
                  <a:pt x="7452563" y="3321774"/>
                </a:lnTo>
                <a:lnTo>
                  <a:pt x="7482929" y="3288995"/>
                </a:lnTo>
                <a:lnTo>
                  <a:pt x="7510742" y="3253956"/>
                </a:lnTo>
                <a:lnTo>
                  <a:pt x="7535837" y="3216795"/>
                </a:lnTo>
                <a:lnTo>
                  <a:pt x="7558075" y="3177679"/>
                </a:lnTo>
                <a:lnTo>
                  <a:pt x="7577302" y="3136760"/>
                </a:lnTo>
                <a:lnTo>
                  <a:pt x="7593368" y="3094177"/>
                </a:lnTo>
                <a:lnTo>
                  <a:pt x="7606119" y="3050082"/>
                </a:lnTo>
                <a:lnTo>
                  <a:pt x="7615428" y="3004616"/>
                </a:lnTo>
                <a:lnTo>
                  <a:pt x="7621117" y="2957944"/>
                </a:lnTo>
                <a:lnTo>
                  <a:pt x="7623048" y="2910205"/>
                </a:lnTo>
                <a:lnTo>
                  <a:pt x="7623048" y="582041"/>
                </a:lnTo>
                <a:close/>
              </a:path>
            </a:pathLst>
          </a:custGeom>
          <a:solidFill>
            <a:srgbClr val="8063A1"/>
          </a:solidFill>
        </p:spPr>
        <p:txBody>
          <a:bodyPr wrap="square" lIns="0" tIns="0" rIns="0" bIns="0" rtlCol="0"/>
          <a:lstStyle/>
          <a:p>
            <a:endParaRPr/>
          </a:p>
        </p:txBody>
      </p:sp>
      <p:sp>
        <p:nvSpPr>
          <p:cNvPr id="4" name="object 4"/>
          <p:cNvSpPr txBox="1"/>
          <p:nvPr/>
        </p:nvSpPr>
        <p:spPr>
          <a:xfrm>
            <a:off x="904239" y="2594355"/>
            <a:ext cx="7131050" cy="1702435"/>
          </a:xfrm>
          <a:prstGeom prst="rect">
            <a:avLst/>
          </a:prstGeom>
        </p:spPr>
        <p:txBody>
          <a:bodyPr vert="horz" wrap="square" lIns="0" tIns="12700" rIns="0" bIns="0" rtlCol="0">
            <a:spAutoFit/>
          </a:bodyPr>
          <a:lstStyle/>
          <a:p>
            <a:pPr marL="355600" marR="5080" indent="-342900" algn="just">
              <a:lnSpc>
                <a:spcPct val="100000"/>
              </a:lnSpc>
              <a:spcBef>
                <a:spcPts val="100"/>
              </a:spcBef>
              <a:buFont typeface="Wingdings"/>
              <a:buChar char=""/>
              <a:tabLst>
                <a:tab pos="355600" algn="l"/>
              </a:tabLst>
            </a:pPr>
            <a:r>
              <a:rPr sz="2200" spc="30" dirty="0">
                <a:solidFill>
                  <a:srgbClr val="FFFFFF"/>
                </a:solidFill>
                <a:latin typeface="Arial"/>
                <a:cs typeface="Arial"/>
              </a:rPr>
              <a:t>Compile </a:t>
            </a:r>
            <a:r>
              <a:rPr sz="2200" spc="-35" dirty="0">
                <a:solidFill>
                  <a:srgbClr val="FFFFFF"/>
                </a:solidFill>
                <a:latin typeface="Arial"/>
                <a:cs typeface="Arial"/>
              </a:rPr>
              <a:t>errors </a:t>
            </a:r>
            <a:r>
              <a:rPr sz="2200" spc="-65" dirty="0">
                <a:solidFill>
                  <a:srgbClr val="FFFFFF"/>
                </a:solidFill>
                <a:latin typeface="Arial"/>
                <a:cs typeface="Arial"/>
              </a:rPr>
              <a:t>such </a:t>
            </a:r>
            <a:r>
              <a:rPr sz="2200" spc="-225" dirty="0">
                <a:solidFill>
                  <a:srgbClr val="FFFFFF"/>
                </a:solidFill>
                <a:latin typeface="Arial"/>
                <a:cs typeface="Arial"/>
              </a:rPr>
              <a:t>as </a:t>
            </a:r>
            <a:r>
              <a:rPr sz="2200" spc="-25" dirty="0">
                <a:solidFill>
                  <a:srgbClr val="FFFFFF"/>
                </a:solidFill>
                <a:latin typeface="Arial"/>
                <a:cs typeface="Arial"/>
              </a:rPr>
              <a:t>syntax </a:t>
            </a:r>
            <a:r>
              <a:rPr sz="2200" spc="-30" dirty="0">
                <a:solidFill>
                  <a:srgbClr val="FFFFFF"/>
                </a:solidFill>
                <a:latin typeface="Arial"/>
                <a:cs typeface="Arial"/>
              </a:rPr>
              <a:t>errors </a:t>
            </a:r>
            <a:r>
              <a:rPr sz="2200" spc="30" dirty="0">
                <a:solidFill>
                  <a:srgbClr val="FFFFFF"/>
                </a:solidFill>
                <a:latin typeface="Arial"/>
                <a:cs typeface="Arial"/>
              </a:rPr>
              <a:t>that </a:t>
            </a:r>
            <a:r>
              <a:rPr sz="2200" spc="5" dirty="0">
                <a:solidFill>
                  <a:srgbClr val="FFFFFF"/>
                </a:solidFill>
                <a:latin typeface="Arial"/>
                <a:cs typeface="Arial"/>
              </a:rPr>
              <a:t>restrict</a:t>
            </a:r>
            <a:r>
              <a:rPr sz="2200" spc="-400" dirty="0">
                <a:solidFill>
                  <a:srgbClr val="FFFFFF"/>
                </a:solidFill>
                <a:latin typeface="Arial"/>
                <a:cs typeface="Arial"/>
              </a:rPr>
              <a:t> </a:t>
            </a:r>
            <a:r>
              <a:rPr sz="2200" spc="-210" dirty="0">
                <a:solidFill>
                  <a:srgbClr val="FFFFFF"/>
                </a:solidFill>
                <a:latin typeface="Arial"/>
                <a:cs typeface="Arial"/>
              </a:rPr>
              <a:t>a </a:t>
            </a:r>
            <a:r>
              <a:rPr sz="2200" spc="-30" dirty="0">
                <a:solidFill>
                  <a:srgbClr val="FFFFFF"/>
                </a:solidFill>
                <a:latin typeface="Arial"/>
                <a:cs typeface="Arial"/>
              </a:rPr>
              <a:t>batch  </a:t>
            </a:r>
            <a:r>
              <a:rPr sz="2200" spc="50" dirty="0">
                <a:solidFill>
                  <a:srgbClr val="FFFFFF"/>
                </a:solidFill>
                <a:latin typeface="Arial"/>
                <a:cs typeface="Arial"/>
              </a:rPr>
              <a:t>from</a:t>
            </a:r>
            <a:r>
              <a:rPr sz="2200" spc="-160" dirty="0">
                <a:solidFill>
                  <a:srgbClr val="FFFFFF"/>
                </a:solidFill>
                <a:latin typeface="Arial"/>
                <a:cs typeface="Arial"/>
              </a:rPr>
              <a:t> </a:t>
            </a:r>
            <a:r>
              <a:rPr sz="2200" spc="50" dirty="0">
                <a:solidFill>
                  <a:srgbClr val="FFFFFF"/>
                </a:solidFill>
                <a:latin typeface="Arial"/>
                <a:cs typeface="Arial"/>
              </a:rPr>
              <a:t>running</a:t>
            </a:r>
            <a:endParaRPr sz="2200">
              <a:latin typeface="Arial"/>
              <a:cs typeface="Arial"/>
            </a:endParaRPr>
          </a:p>
          <a:p>
            <a:pPr marL="355600" marR="5080" indent="-342900" algn="just">
              <a:lnSpc>
                <a:spcPct val="100000"/>
              </a:lnSpc>
              <a:spcBef>
                <a:spcPts val="5"/>
              </a:spcBef>
              <a:buFont typeface="Wingdings"/>
              <a:buChar char=""/>
              <a:tabLst>
                <a:tab pos="355600" algn="l"/>
              </a:tabLst>
            </a:pPr>
            <a:r>
              <a:rPr sz="2200" spc="-25" dirty="0">
                <a:solidFill>
                  <a:srgbClr val="FFFFFF"/>
                </a:solidFill>
                <a:latin typeface="Arial"/>
                <a:cs typeface="Arial"/>
              </a:rPr>
              <a:t>Errors </a:t>
            </a:r>
            <a:r>
              <a:rPr sz="2200" spc="30" dirty="0">
                <a:solidFill>
                  <a:srgbClr val="FFFFFF"/>
                </a:solidFill>
                <a:latin typeface="Arial"/>
                <a:cs typeface="Arial"/>
              </a:rPr>
              <a:t>that </a:t>
            </a:r>
            <a:r>
              <a:rPr sz="2200" spc="-85" dirty="0">
                <a:solidFill>
                  <a:srgbClr val="FFFFFF"/>
                </a:solidFill>
                <a:latin typeface="Arial"/>
                <a:cs typeface="Arial"/>
              </a:rPr>
              <a:t>arise </a:t>
            </a:r>
            <a:r>
              <a:rPr sz="2200" spc="100" dirty="0">
                <a:solidFill>
                  <a:srgbClr val="FFFFFF"/>
                </a:solidFill>
                <a:latin typeface="Arial"/>
                <a:cs typeface="Arial"/>
              </a:rPr>
              <a:t>in </a:t>
            </a:r>
            <a:r>
              <a:rPr sz="2200" dirty="0">
                <a:solidFill>
                  <a:srgbClr val="FFFFFF"/>
                </a:solidFill>
                <a:latin typeface="Arial"/>
                <a:cs typeface="Arial"/>
              </a:rPr>
              <a:t>the </a:t>
            </a:r>
            <a:r>
              <a:rPr sz="2200" spc="-30" dirty="0">
                <a:solidFill>
                  <a:srgbClr val="FFFFFF"/>
                </a:solidFill>
                <a:latin typeface="Arial"/>
                <a:cs typeface="Arial"/>
              </a:rPr>
              <a:t>statement-level </a:t>
            </a:r>
            <a:r>
              <a:rPr sz="2200" spc="10" dirty="0">
                <a:solidFill>
                  <a:srgbClr val="FFFFFF"/>
                </a:solidFill>
                <a:latin typeface="Arial"/>
                <a:cs typeface="Arial"/>
              </a:rPr>
              <a:t>recompilation  </a:t>
            </a:r>
            <a:r>
              <a:rPr sz="2200" spc="-60" dirty="0">
                <a:solidFill>
                  <a:srgbClr val="FFFFFF"/>
                </a:solidFill>
                <a:latin typeface="Arial"/>
                <a:cs typeface="Arial"/>
              </a:rPr>
              <a:t>such </a:t>
            </a:r>
            <a:r>
              <a:rPr sz="2200" spc="-225" dirty="0">
                <a:solidFill>
                  <a:srgbClr val="FFFFFF"/>
                </a:solidFill>
                <a:latin typeface="Arial"/>
                <a:cs typeface="Arial"/>
              </a:rPr>
              <a:t>as </a:t>
            </a:r>
            <a:r>
              <a:rPr sz="2200" spc="-15" dirty="0">
                <a:solidFill>
                  <a:srgbClr val="FFFFFF"/>
                </a:solidFill>
                <a:latin typeface="Arial"/>
                <a:cs typeface="Arial"/>
              </a:rPr>
              <a:t>object </a:t>
            </a:r>
            <a:r>
              <a:rPr sz="2200" spc="-90" dirty="0">
                <a:solidFill>
                  <a:srgbClr val="FFFFFF"/>
                </a:solidFill>
                <a:latin typeface="Arial"/>
                <a:cs typeface="Arial"/>
              </a:rPr>
              <a:t>name </a:t>
            </a:r>
            <a:r>
              <a:rPr sz="2200" spc="10" dirty="0">
                <a:solidFill>
                  <a:srgbClr val="FFFFFF"/>
                </a:solidFill>
                <a:latin typeface="Arial"/>
                <a:cs typeface="Arial"/>
              </a:rPr>
              <a:t>resolution </a:t>
            </a:r>
            <a:r>
              <a:rPr sz="2200" spc="-30" dirty="0">
                <a:solidFill>
                  <a:srgbClr val="FFFFFF"/>
                </a:solidFill>
                <a:latin typeface="Arial"/>
                <a:cs typeface="Arial"/>
              </a:rPr>
              <a:t>errors </a:t>
            </a:r>
            <a:r>
              <a:rPr sz="2200" spc="5" dirty="0">
                <a:solidFill>
                  <a:srgbClr val="FFFFFF"/>
                </a:solidFill>
                <a:latin typeface="Arial"/>
                <a:cs typeface="Arial"/>
              </a:rPr>
              <a:t>occurring </a:t>
            </a:r>
            <a:r>
              <a:rPr sz="2200" spc="-10" dirty="0">
                <a:solidFill>
                  <a:srgbClr val="FFFFFF"/>
                </a:solidFill>
                <a:latin typeface="Arial"/>
                <a:cs typeface="Arial"/>
              </a:rPr>
              <a:t>after  </a:t>
            </a:r>
            <a:r>
              <a:rPr sz="2200" spc="20" dirty="0">
                <a:solidFill>
                  <a:srgbClr val="FFFFFF"/>
                </a:solidFill>
                <a:latin typeface="Arial"/>
                <a:cs typeface="Arial"/>
              </a:rPr>
              <a:t>compiling</a:t>
            </a:r>
            <a:r>
              <a:rPr sz="2200" spc="-155" dirty="0">
                <a:solidFill>
                  <a:srgbClr val="FFFFFF"/>
                </a:solidFill>
                <a:latin typeface="Arial"/>
                <a:cs typeface="Arial"/>
              </a:rPr>
              <a:t> </a:t>
            </a:r>
            <a:r>
              <a:rPr sz="2200" spc="-50" dirty="0">
                <a:solidFill>
                  <a:srgbClr val="FFFFFF"/>
                </a:solidFill>
                <a:latin typeface="Arial"/>
                <a:cs typeface="Arial"/>
              </a:rPr>
              <a:t>due</a:t>
            </a:r>
            <a:r>
              <a:rPr sz="2200" spc="-160" dirty="0">
                <a:solidFill>
                  <a:srgbClr val="FFFFFF"/>
                </a:solidFill>
                <a:latin typeface="Arial"/>
                <a:cs typeface="Arial"/>
              </a:rPr>
              <a:t> </a:t>
            </a:r>
            <a:r>
              <a:rPr sz="2200" spc="60" dirty="0">
                <a:solidFill>
                  <a:srgbClr val="FFFFFF"/>
                </a:solidFill>
                <a:latin typeface="Arial"/>
                <a:cs typeface="Arial"/>
              </a:rPr>
              <a:t>to</a:t>
            </a:r>
            <a:r>
              <a:rPr sz="2200" spc="-160" dirty="0">
                <a:solidFill>
                  <a:srgbClr val="FFFFFF"/>
                </a:solidFill>
                <a:latin typeface="Arial"/>
                <a:cs typeface="Arial"/>
              </a:rPr>
              <a:t> </a:t>
            </a:r>
            <a:r>
              <a:rPr sz="2200" spc="-30" dirty="0">
                <a:solidFill>
                  <a:srgbClr val="FFFFFF"/>
                </a:solidFill>
                <a:latin typeface="Arial"/>
                <a:cs typeface="Arial"/>
              </a:rPr>
              <a:t>deferred</a:t>
            </a:r>
            <a:r>
              <a:rPr sz="2200" spc="-170" dirty="0">
                <a:solidFill>
                  <a:srgbClr val="FFFFFF"/>
                </a:solidFill>
                <a:latin typeface="Arial"/>
                <a:cs typeface="Arial"/>
              </a:rPr>
              <a:t> </a:t>
            </a:r>
            <a:r>
              <a:rPr sz="2200" spc="-85" dirty="0">
                <a:solidFill>
                  <a:srgbClr val="FFFFFF"/>
                </a:solidFill>
                <a:latin typeface="Arial"/>
                <a:cs typeface="Arial"/>
              </a:rPr>
              <a:t>name</a:t>
            </a:r>
            <a:r>
              <a:rPr sz="2200" spc="-150" dirty="0">
                <a:solidFill>
                  <a:srgbClr val="FFFFFF"/>
                </a:solidFill>
                <a:latin typeface="Arial"/>
                <a:cs typeface="Arial"/>
              </a:rPr>
              <a:t> </a:t>
            </a:r>
            <a:r>
              <a:rPr sz="2200" spc="5" dirty="0">
                <a:solidFill>
                  <a:srgbClr val="FFFFFF"/>
                </a:solidFill>
                <a:latin typeface="Arial"/>
                <a:cs typeface="Arial"/>
              </a:rPr>
              <a:t>resolution.</a:t>
            </a:r>
            <a:endParaRPr sz="2200">
              <a:latin typeface="Arial"/>
              <a:cs typeface="Arial"/>
            </a:endParaRPr>
          </a:p>
        </p:txBody>
      </p:sp>
      <p:sp>
        <p:nvSpPr>
          <p:cNvPr id="7" name="object 7"/>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25</a:t>
            </a:fld>
            <a:endParaRPr sz="1200">
              <a:latin typeface="Arial"/>
              <a:cs typeface="Arial"/>
            </a:endParaRPr>
          </a:p>
        </p:txBody>
      </p:sp>
      <p:sp>
        <p:nvSpPr>
          <p:cNvPr id="8" name="object 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5" name="object 5"/>
          <p:cNvSpPr txBox="1"/>
          <p:nvPr/>
        </p:nvSpPr>
        <p:spPr>
          <a:xfrm>
            <a:off x="374141" y="910336"/>
            <a:ext cx="8481695" cy="635000"/>
          </a:xfrm>
          <a:prstGeom prst="rect">
            <a:avLst/>
          </a:prstGeom>
        </p:spPr>
        <p:txBody>
          <a:bodyPr vert="horz" wrap="square" lIns="0" tIns="12065" rIns="0" bIns="0" rtlCol="0">
            <a:spAutoFit/>
          </a:bodyPr>
          <a:lstStyle/>
          <a:p>
            <a:pPr marL="12700" marR="5080">
              <a:lnSpc>
                <a:spcPct val="100000"/>
              </a:lnSpc>
              <a:spcBef>
                <a:spcPts val="95"/>
              </a:spcBef>
            </a:pPr>
            <a:r>
              <a:rPr sz="2000" spc="20" dirty="0">
                <a:latin typeface="Arial"/>
                <a:cs typeface="Arial"/>
              </a:rPr>
              <a:t>Following </a:t>
            </a:r>
            <a:r>
              <a:rPr sz="2000" spc="-55" dirty="0">
                <a:latin typeface="Arial"/>
                <a:cs typeface="Arial"/>
              </a:rPr>
              <a:t>types </a:t>
            </a:r>
            <a:r>
              <a:rPr sz="2000" spc="50" dirty="0">
                <a:latin typeface="Arial"/>
                <a:cs typeface="Arial"/>
              </a:rPr>
              <a:t>of </a:t>
            </a:r>
            <a:r>
              <a:rPr sz="2000" spc="-30" dirty="0">
                <a:latin typeface="Arial"/>
                <a:cs typeface="Arial"/>
              </a:rPr>
              <a:t>errors </a:t>
            </a:r>
            <a:r>
              <a:rPr sz="2000" spc="-100" dirty="0">
                <a:latin typeface="Arial"/>
                <a:cs typeface="Arial"/>
              </a:rPr>
              <a:t>are </a:t>
            </a:r>
            <a:r>
              <a:rPr sz="2000" spc="60" dirty="0">
                <a:latin typeface="Arial"/>
                <a:cs typeface="Arial"/>
              </a:rPr>
              <a:t>not </a:t>
            </a:r>
            <a:r>
              <a:rPr sz="2000" spc="-15" dirty="0">
                <a:latin typeface="Arial"/>
                <a:cs typeface="Arial"/>
              </a:rPr>
              <a:t>handled </a:t>
            </a:r>
            <a:r>
              <a:rPr sz="2000" spc="-10" dirty="0">
                <a:latin typeface="Arial"/>
                <a:cs typeface="Arial"/>
              </a:rPr>
              <a:t>by </a:t>
            </a:r>
            <a:r>
              <a:rPr sz="2000" spc="-195" dirty="0">
                <a:latin typeface="Arial"/>
                <a:cs typeface="Arial"/>
              </a:rPr>
              <a:t>a </a:t>
            </a:r>
            <a:r>
              <a:rPr sz="2000" spc="185" dirty="0">
                <a:latin typeface="Arial"/>
                <a:cs typeface="Arial"/>
              </a:rPr>
              <a:t>CATCH </a:t>
            </a:r>
            <a:r>
              <a:rPr sz="2000" spc="15" dirty="0">
                <a:latin typeface="Arial"/>
                <a:cs typeface="Arial"/>
              </a:rPr>
              <a:t>block </a:t>
            </a:r>
            <a:r>
              <a:rPr sz="2000" spc="30" dirty="0">
                <a:latin typeface="Arial"/>
                <a:cs typeface="Arial"/>
              </a:rPr>
              <a:t>that </a:t>
            </a:r>
            <a:r>
              <a:rPr sz="2000" spc="-20" dirty="0">
                <a:latin typeface="Arial"/>
                <a:cs typeface="Arial"/>
              </a:rPr>
              <a:t>occur </a:t>
            </a:r>
            <a:r>
              <a:rPr sz="2000" spc="-35" dirty="0">
                <a:latin typeface="Arial"/>
                <a:cs typeface="Arial"/>
              </a:rPr>
              <a:t>at  </a:t>
            </a:r>
            <a:r>
              <a:rPr sz="2000" dirty="0">
                <a:latin typeface="Arial"/>
                <a:cs typeface="Arial"/>
              </a:rPr>
              <a:t>the</a:t>
            </a:r>
            <a:r>
              <a:rPr sz="2000" spc="-114" dirty="0">
                <a:latin typeface="Arial"/>
                <a:cs typeface="Arial"/>
              </a:rPr>
              <a:t> </a:t>
            </a:r>
            <a:r>
              <a:rPr sz="2000" spc="-155" dirty="0">
                <a:latin typeface="Arial"/>
                <a:cs typeface="Arial"/>
              </a:rPr>
              <a:t>same</a:t>
            </a:r>
            <a:r>
              <a:rPr sz="2000" spc="-125" dirty="0">
                <a:latin typeface="Arial"/>
                <a:cs typeface="Arial"/>
              </a:rPr>
              <a:t> </a:t>
            </a:r>
            <a:r>
              <a:rPr sz="2000" spc="-5" dirty="0">
                <a:latin typeface="Arial"/>
                <a:cs typeface="Arial"/>
              </a:rPr>
              <a:t>execution</a:t>
            </a:r>
            <a:r>
              <a:rPr sz="2000" spc="-110" dirty="0">
                <a:latin typeface="Arial"/>
                <a:cs typeface="Arial"/>
              </a:rPr>
              <a:t> </a:t>
            </a:r>
            <a:r>
              <a:rPr sz="2000" spc="-20" dirty="0">
                <a:latin typeface="Arial"/>
                <a:cs typeface="Arial"/>
              </a:rPr>
              <a:t>level</a:t>
            </a:r>
            <a:r>
              <a:rPr sz="2000" spc="-100" dirty="0">
                <a:latin typeface="Arial"/>
                <a:cs typeface="Arial"/>
              </a:rPr>
              <a:t> </a:t>
            </a:r>
            <a:r>
              <a:rPr sz="2000" spc="-204" dirty="0">
                <a:latin typeface="Arial"/>
                <a:cs typeface="Arial"/>
              </a:rPr>
              <a:t>as</a:t>
            </a:r>
            <a:r>
              <a:rPr sz="2000" spc="-130" dirty="0">
                <a:latin typeface="Arial"/>
                <a:cs typeface="Arial"/>
              </a:rPr>
              <a:t> </a:t>
            </a:r>
            <a:r>
              <a:rPr sz="2000" spc="30" dirty="0">
                <a:latin typeface="Arial"/>
                <a:cs typeface="Arial"/>
              </a:rPr>
              <a:t>that</a:t>
            </a:r>
            <a:r>
              <a:rPr sz="2000" spc="-120" dirty="0">
                <a:latin typeface="Arial"/>
                <a:cs typeface="Arial"/>
              </a:rPr>
              <a:t> </a:t>
            </a:r>
            <a:r>
              <a:rPr sz="2000" spc="50" dirty="0">
                <a:latin typeface="Arial"/>
                <a:cs typeface="Arial"/>
              </a:rPr>
              <a:t>of</a:t>
            </a:r>
            <a:r>
              <a:rPr sz="2000" spc="-120" dirty="0">
                <a:latin typeface="Arial"/>
                <a:cs typeface="Arial"/>
              </a:rPr>
              <a:t> </a:t>
            </a:r>
            <a:r>
              <a:rPr sz="2000" dirty="0">
                <a:latin typeface="Arial"/>
                <a:cs typeface="Arial"/>
              </a:rPr>
              <a:t>the</a:t>
            </a:r>
            <a:r>
              <a:rPr sz="2000" spc="-125" dirty="0">
                <a:latin typeface="Arial"/>
                <a:cs typeface="Arial"/>
              </a:rPr>
              <a:t> </a:t>
            </a:r>
            <a:r>
              <a:rPr sz="2000" spc="75" dirty="0">
                <a:latin typeface="Arial"/>
                <a:cs typeface="Arial"/>
              </a:rPr>
              <a:t>TRY</a:t>
            </a:r>
            <a:r>
              <a:rPr sz="2000" spc="75" dirty="0">
                <a:latin typeface="Times New Roman"/>
                <a:cs typeface="Times New Roman"/>
              </a:rPr>
              <a:t>…</a:t>
            </a:r>
            <a:r>
              <a:rPr sz="2000" spc="75" dirty="0">
                <a:latin typeface="Arial"/>
                <a:cs typeface="Arial"/>
              </a:rPr>
              <a:t>CATCH</a:t>
            </a:r>
            <a:r>
              <a:rPr sz="2000" spc="-120" dirty="0">
                <a:latin typeface="Arial"/>
                <a:cs typeface="Arial"/>
              </a:rPr>
              <a:t> </a:t>
            </a:r>
            <a:r>
              <a:rPr sz="2000" spc="-5" dirty="0">
                <a:latin typeface="Arial"/>
                <a:cs typeface="Arial"/>
              </a:rPr>
              <a:t>construct:</a:t>
            </a:r>
            <a:endParaRPr sz="20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62206" y="997370"/>
            <a:ext cx="8767482" cy="40011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2000" dirty="0">
                <a:latin typeface="Calibri" pitchFamily="34" charset="0"/>
                <a:cs typeface="Calibri" pitchFamily="34" charset="0"/>
              </a:rPr>
              <a:t>Following code shows an object name resolution error unaffected by try… catch  </a:t>
            </a:r>
          </a:p>
        </p:txBody>
      </p:sp>
      <p:sp>
        <p:nvSpPr>
          <p:cNvPr id="10" name="TextBox 9"/>
          <p:cNvSpPr txBox="1"/>
          <p:nvPr/>
        </p:nvSpPr>
        <p:spPr>
          <a:xfrm>
            <a:off x="162206" y="3162865"/>
            <a:ext cx="8229600" cy="400110"/>
          </a:xfrm>
          <a:prstGeom prst="rect">
            <a:avLst/>
          </a:prstGeom>
          <a:noFill/>
        </p:spPr>
        <p:txBody>
          <a:bodyPr wrap="square" rtlCol="0">
            <a:spAutoFit/>
          </a:bodyPr>
          <a:lstStyle/>
          <a:p>
            <a:pPr marL="341313" indent="-341313">
              <a:lnSpc>
                <a:spcPct val="100000"/>
              </a:lnSpc>
              <a:spcBef>
                <a:spcPts val="0"/>
              </a:spcBef>
              <a:buFont typeface="Wingdings" pitchFamily="2" charset="2"/>
              <a:buChar char="Ø"/>
            </a:pPr>
            <a:r>
              <a:rPr lang="en-US" sz="2000" dirty="0">
                <a:latin typeface="Calibri" pitchFamily="34" charset="0"/>
                <a:cs typeface="Calibri" pitchFamily="34" charset="0"/>
              </a:rPr>
              <a:t>Following code shows how the error message is displayed in such a case:</a:t>
            </a:r>
          </a:p>
        </p:txBody>
      </p:sp>
      <p:pic>
        <p:nvPicPr>
          <p:cNvPr id="11" name="Picture 10"/>
          <p:cNvPicPr>
            <a:picLocks noChangeAspect="1"/>
          </p:cNvPicPr>
          <p:nvPr/>
        </p:nvPicPr>
        <p:blipFill>
          <a:blip r:embed="rId3"/>
          <a:stretch>
            <a:fillRect/>
          </a:stretch>
        </p:blipFill>
        <p:spPr>
          <a:xfrm>
            <a:off x="1026459" y="3563600"/>
            <a:ext cx="6974541" cy="2990225"/>
          </a:xfrm>
          <a:prstGeom prst="rect">
            <a:avLst/>
          </a:prstGeom>
        </p:spPr>
      </p:pic>
      <p:pic>
        <p:nvPicPr>
          <p:cNvPr id="12" name="Picture 11"/>
          <p:cNvPicPr>
            <a:picLocks noChangeAspect="1"/>
          </p:cNvPicPr>
          <p:nvPr/>
        </p:nvPicPr>
        <p:blipFill>
          <a:blip r:embed="rId4"/>
          <a:stretch>
            <a:fillRect/>
          </a:stretch>
        </p:blipFill>
        <p:spPr>
          <a:xfrm>
            <a:off x="1035424" y="1397480"/>
            <a:ext cx="6965576" cy="1482731"/>
          </a:xfrm>
          <a:prstGeom prst="rect">
            <a:avLst/>
          </a:prstGeom>
        </p:spPr>
      </p:pic>
      <p:sp>
        <p:nvSpPr>
          <p:cNvPr id="9" name="object 7">
            <a:extLst>
              <a:ext uri="{FF2B5EF4-FFF2-40B4-BE49-F238E27FC236}">
                <a16:creationId xmlns:a16="http://schemas.microsoft.com/office/drawing/2014/main" id="{67254505-E9CF-4763-88BE-AAEC03742865}"/>
              </a:ext>
            </a:extLst>
          </p:cNvPr>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26</a:t>
            </a:fld>
            <a:endParaRPr sz="1200">
              <a:latin typeface="Arial"/>
              <a:cs typeface="Arial"/>
            </a:endParaRPr>
          </a:p>
        </p:txBody>
      </p:sp>
      <p:sp>
        <p:nvSpPr>
          <p:cNvPr id="13" name="object 2">
            <a:extLst>
              <a:ext uri="{FF2B5EF4-FFF2-40B4-BE49-F238E27FC236}">
                <a16:creationId xmlns:a16="http://schemas.microsoft.com/office/drawing/2014/main" id="{CABA62C0-DA4F-47A0-8A28-E53BF5F643B9}"/>
              </a:ext>
            </a:extLst>
          </p:cNvPr>
          <p:cNvSpPr txBox="1">
            <a:spLocks/>
          </p:cNvSpPr>
          <p:nvPr/>
        </p:nvSpPr>
        <p:spPr>
          <a:xfrm>
            <a:off x="299593" y="158495"/>
            <a:ext cx="8544813" cy="452755"/>
          </a:xfrm>
          <a:prstGeom prst="rect">
            <a:avLst/>
          </a:prstGeom>
        </p:spPr>
        <p:txBody>
          <a:bodyPr vert="horz" wrap="square" lIns="0" tIns="12700" rIns="0" bIns="0" rtlCol="0">
            <a:spAutoFit/>
          </a:bodyPr>
          <a:lstStyle>
            <a:lvl1pPr>
              <a:defRPr>
                <a:latin typeface="+mj-lt"/>
                <a:ea typeface="+mj-ea"/>
                <a:cs typeface="+mj-cs"/>
              </a:defRPr>
            </a:lvl1pPr>
          </a:lstStyle>
          <a:p>
            <a:pPr marL="86995">
              <a:spcBef>
                <a:spcPts val="100"/>
              </a:spcBef>
            </a:pPr>
            <a:r>
              <a:rPr lang="en-US" sz="2800" kern="0" spc="-25">
                <a:solidFill>
                  <a:schemeClr val="bg1"/>
                </a:solidFill>
                <a:latin typeface="Arial" panose="020B0604020202020204" pitchFamily="34" charset="0"/>
                <a:cs typeface="Arial" panose="020B0604020202020204" pitchFamily="34" charset="0"/>
              </a:rPr>
              <a:t>Errors</a:t>
            </a:r>
            <a:r>
              <a:rPr lang="en-US" sz="2800" kern="0" spc="-185">
                <a:solidFill>
                  <a:schemeClr val="bg1"/>
                </a:solidFill>
                <a:latin typeface="Arial" panose="020B0604020202020204" pitchFamily="34" charset="0"/>
                <a:cs typeface="Arial" panose="020B0604020202020204" pitchFamily="34" charset="0"/>
              </a:rPr>
              <a:t> </a:t>
            </a:r>
            <a:r>
              <a:rPr lang="en-US" sz="2800" kern="0">
                <a:solidFill>
                  <a:schemeClr val="bg1"/>
                </a:solidFill>
                <a:latin typeface="Arial" panose="020B0604020202020204" pitchFamily="34" charset="0"/>
                <a:cs typeface="Arial" panose="020B0604020202020204" pitchFamily="34" charset="0"/>
              </a:rPr>
              <a:t>Unaffected</a:t>
            </a:r>
            <a:r>
              <a:rPr lang="en-US" sz="2800" kern="0" spc="-200">
                <a:solidFill>
                  <a:schemeClr val="bg1"/>
                </a:solidFill>
                <a:latin typeface="Arial" panose="020B0604020202020204" pitchFamily="34" charset="0"/>
                <a:cs typeface="Arial" panose="020B0604020202020204" pitchFamily="34" charset="0"/>
              </a:rPr>
              <a:t> </a:t>
            </a:r>
            <a:r>
              <a:rPr lang="en-US" sz="2800" kern="0" spc="-15">
                <a:solidFill>
                  <a:schemeClr val="bg1"/>
                </a:solidFill>
                <a:latin typeface="Arial" panose="020B0604020202020204" pitchFamily="34" charset="0"/>
                <a:cs typeface="Arial" panose="020B0604020202020204" pitchFamily="34" charset="0"/>
              </a:rPr>
              <a:t>by</a:t>
            </a:r>
            <a:r>
              <a:rPr lang="en-US" sz="2800" kern="0" spc="-165">
                <a:solidFill>
                  <a:schemeClr val="bg1"/>
                </a:solidFill>
                <a:latin typeface="Arial" panose="020B0604020202020204" pitchFamily="34" charset="0"/>
                <a:cs typeface="Arial" panose="020B0604020202020204" pitchFamily="34" charset="0"/>
              </a:rPr>
              <a:t> </a:t>
            </a:r>
            <a:r>
              <a:rPr lang="en-US" sz="2800" kern="0" spc="5">
                <a:solidFill>
                  <a:schemeClr val="bg1"/>
                </a:solidFill>
                <a:latin typeface="Arial" panose="020B0604020202020204" pitchFamily="34" charset="0"/>
                <a:cs typeface="Arial" panose="020B0604020202020204" pitchFamily="34" charset="0"/>
              </a:rPr>
              <a:t>the</a:t>
            </a:r>
            <a:r>
              <a:rPr lang="en-US" sz="2800" kern="0" spc="-180">
                <a:solidFill>
                  <a:schemeClr val="bg1"/>
                </a:solidFill>
                <a:latin typeface="Arial" panose="020B0604020202020204" pitchFamily="34" charset="0"/>
                <a:cs typeface="Arial" panose="020B0604020202020204" pitchFamily="34" charset="0"/>
              </a:rPr>
              <a:t> </a:t>
            </a:r>
            <a:r>
              <a:rPr lang="en-US" sz="2800" kern="0" spc="130">
                <a:solidFill>
                  <a:schemeClr val="bg1"/>
                </a:solidFill>
                <a:latin typeface="Arial" panose="020B0604020202020204" pitchFamily="34" charset="0"/>
                <a:cs typeface="Arial" panose="020B0604020202020204" pitchFamily="34" charset="0"/>
              </a:rPr>
              <a:t>TRY...CATCH</a:t>
            </a:r>
            <a:r>
              <a:rPr lang="en-US" sz="2800" kern="0" spc="-204">
                <a:solidFill>
                  <a:schemeClr val="bg1"/>
                </a:solidFill>
                <a:latin typeface="Arial" panose="020B0604020202020204" pitchFamily="34" charset="0"/>
                <a:cs typeface="Arial" panose="020B0604020202020204" pitchFamily="34" charset="0"/>
              </a:rPr>
              <a:t> </a:t>
            </a:r>
            <a:r>
              <a:rPr lang="en-US" sz="2800" kern="0" spc="45">
                <a:solidFill>
                  <a:schemeClr val="bg1"/>
                </a:solidFill>
                <a:latin typeface="Arial" panose="020B0604020202020204" pitchFamily="34" charset="0"/>
                <a:cs typeface="Arial" panose="020B0604020202020204" pitchFamily="34" charset="0"/>
              </a:rPr>
              <a:t>Construct</a:t>
            </a:r>
            <a:r>
              <a:rPr lang="en-US" sz="2800" kern="0" spc="-180">
                <a:solidFill>
                  <a:schemeClr val="bg1"/>
                </a:solidFill>
                <a:latin typeface="Arial" panose="020B0604020202020204" pitchFamily="34" charset="0"/>
                <a:cs typeface="Arial" panose="020B0604020202020204" pitchFamily="34" charset="0"/>
              </a:rPr>
              <a:t> </a:t>
            </a:r>
            <a:r>
              <a:rPr lang="en-US" sz="2800" kern="0" spc="-160">
                <a:solidFill>
                  <a:schemeClr val="bg1"/>
                </a:solidFill>
                <a:latin typeface="Arial" panose="020B0604020202020204" pitchFamily="34" charset="0"/>
                <a:cs typeface="Arial" panose="020B0604020202020204" pitchFamily="34" charset="0"/>
              </a:rPr>
              <a:t>3-3</a:t>
            </a:r>
            <a:endParaRPr lang="en-US" sz="2800" kern="0" spc="-16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1934210" cy="574040"/>
          </a:xfrm>
          <a:prstGeom prst="rect">
            <a:avLst/>
          </a:prstGeom>
        </p:spPr>
        <p:txBody>
          <a:bodyPr vert="horz" wrap="square" lIns="0" tIns="12700" rIns="0" bIns="0" rtlCol="0">
            <a:spAutoFit/>
          </a:bodyPr>
          <a:lstStyle/>
          <a:p>
            <a:pPr marL="12700">
              <a:lnSpc>
                <a:spcPct val="100000"/>
              </a:lnSpc>
              <a:spcBef>
                <a:spcPts val="100"/>
              </a:spcBef>
            </a:pPr>
            <a:r>
              <a:rPr sz="3600" spc="285" dirty="0"/>
              <a:t>THROW</a:t>
            </a:r>
            <a:endParaRPr sz="3600"/>
          </a:p>
        </p:txBody>
      </p:sp>
      <p:sp>
        <p:nvSpPr>
          <p:cNvPr id="3" name="object 3"/>
          <p:cNvSpPr/>
          <p:nvPr/>
        </p:nvSpPr>
        <p:spPr>
          <a:xfrm>
            <a:off x="239268" y="870965"/>
            <a:ext cx="8778240" cy="1384300"/>
          </a:xfrm>
          <a:custGeom>
            <a:avLst/>
            <a:gdLst/>
            <a:ahLst/>
            <a:cxnLst/>
            <a:rect l="l" t="t" r="r" b="b"/>
            <a:pathLst>
              <a:path w="8778240" h="1384300">
                <a:moveTo>
                  <a:pt x="8778240" y="230632"/>
                </a:moveTo>
                <a:lnTo>
                  <a:pt x="8773554" y="184150"/>
                </a:lnTo>
                <a:lnTo>
                  <a:pt x="8760104" y="140868"/>
                </a:lnTo>
                <a:lnTo>
                  <a:pt x="8738845" y="101688"/>
                </a:lnTo>
                <a:lnTo>
                  <a:pt x="8710689" y="67551"/>
                </a:lnTo>
                <a:lnTo>
                  <a:pt x="8676551" y="39395"/>
                </a:lnTo>
                <a:lnTo>
                  <a:pt x="8637372" y="18135"/>
                </a:lnTo>
                <a:lnTo>
                  <a:pt x="8594090" y="4686"/>
                </a:lnTo>
                <a:lnTo>
                  <a:pt x="8547608" y="0"/>
                </a:lnTo>
                <a:lnTo>
                  <a:pt x="230644" y="0"/>
                </a:lnTo>
                <a:lnTo>
                  <a:pt x="184150" y="4686"/>
                </a:lnTo>
                <a:lnTo>
                  <a:pt x="140855" y="18135"/>
                </a:lnTo>
                <a:lnTo>
                  <a:pt x="101688" y="39395"/>
                </a:lnTo>
                <a:lnTo>
                  <a:pt x="67551" y="67551"/>
                </a:lnTo>
                <a:lnTo>
                  <a:pt x="39382" y="101688"/>
                </a:lnTo>
                <a:lnTo>
                  <a:pt x="18122" y="140868"/>
                </a:lnTo>
                <a:lnTo>
                  <a:pt x="4673" y="184150"/>
                </a:lnTo>
                <a:lnTo>
                  <a:pt x="0" y="230632"/>
                </a:lnTo>
                <a:lnTo>
                  <a:pt x="0" y="1153160"/>
                </a:lnTo>
                <a:lnTo>
                  <a:pt x="4673" y="1199654"/>
                </a:lnTo>
                <a:lnTo>
                  <a:pt x="18122" y="1242936"/>
                </a:lnTo>
                <a:lnTo>
                  <a:pt x="39382" y="1282115"/>
                </a:lnTo>
                <a:lnTo>
                  <a:pt x="67551" y="1316253"/>
                </a:lnTo>
                <a:lnTo>
                  <a:pt x="101688" y="1344409"/>
                </a:lnTo>
                <a:lnTo>
                  <a:pt x="140855" y="1365669"/>
                </a:lnTo>
                <a:lnTo>
                  <a:pt x="184150" y="1379118"/>
                </a:lnTo>
                <a:lnTo>
                  <a:pt x="230644" y="1383792"/>
                </a:lnTo>
                <a:lnTo>
                  <a:pt x="8547608" y="1383792"/>
                </a:lnTo>
                <a:lnTo>
                  <a:pt x="8594090" y="1379118"/>
                </a:lnTo>
                <a:lnTo>
                  <a:pt x="8637372" y="1365669"/>
                </a:lnTo>
                <a:lnTo>
                  <a:pt x="8676551" y="1344409"/>
                </a:lnTo>
                <a:lnTo>
                  <a:pt x="8710689" y="1316253"/>
                </a:lnTo>
                <a:lnTo>
                  <a:pt x="8738845" y="1282115"/>
                </a:lnTo>
                <a:lnTo>
                  <a:pt x="8760104" y="1242936"/>
                </a:lnTo>
                <a:lnTo>
                  <a:pt x="8773554" y="1199654"/>
                </a:lnTo>
                <a:lnTo>
                  <a:pt x="8778240" y="1153160"/>
                </a:lnTo>
                <a:lnTo>
                  <a:pt x="8778240" y="230632"/>
                </a:lnTo>
                <a:close/>
              </a:path>
            </a:pathLst>
          </a:custGeom>
          <a:solidFill>
            <a:srgbClr val="9BBA58"/>
          </a:solidFill>
        </p:spPr>
        <p:txBody>
          <a:bodyPr wrap="square" lIns="0" tIns="0" rIns="0" bIns="0" rtlCol="0"/>
          <a:lstStyle/>
          <a:p>
            <a:endParaRPr/>
          </a:p>
        </p:txBody>
      </p:sp>
      <p:sp>
        <p:nvSpPr>
          <p:cNvPr id="4" name="object 4"/>
          <p:cNvSpPr txBox="1"/>
          <p:nvPr/>
        </p:nvSpPr>
        <p:spPr>
          <a:xfrm>
            <a:off x="392938" y="1107693"/>
            <a:ext cx="8507730" cy="696595"/>
          </a:xfrm>
          <a:prstGeom prst="rect">
            <a:avLst/>
          </a:prstGeom>
        </p:spPr>
        <p:txBody>
          <a:bodyPr vert="horz" wrap="square" lIns="0" tIns="12700" rIns="0" bIns="0" rtlCol="0">
            <a:spAutoFit/>
          </a:bodyPr>
          <a:lstStyle/>
          <a:p>
            <a:pPr marL="354965" marR="5080" indent="-342900">
              <a:lnSpc>
                <a:spcPct val="100000"/>
              </a:lnSpc>
              <a:spcBef>
                <a:spcPts val="100"/>
              </a:spcBef>
              <a:buFont typeface="Wingdings"/>
              <a:buChar char=""/>
              <a:tabLst>
                <a:tab pos="355600" algn="l"/>
              </a:tabLst>
            </a:pPr>
            <a:r>
              <a:rPr sz="2200" spc="25" dirty="0">
                <a:solidFill>
                  <a:srgbClr val="FFFFFF"/>
                </a:solidFill>
                <a:latin typeface="Arial"/>
                <a:cs typeface="Arial"/>
              </a:rPr>
              <a:t>The</a:t>
            </a:r>
            <a:r>
              <a:rPr sz="2200" spc="-135" dirty="0">
                <a:solidFill>
                  <a:srgbClr val="FFFFFF"/>
                </a:solidFill>
                <a:latin typeface="Arial"/>
                <a:cs typeface="Arial"/>
              </a:rPr>
              <a:t> </a:t>
            </a:r>
            <a:r>
              <a:rPr sz="2200" spc="170" dirty="0">
                <a:solidFill>
                  <a:srgbClr val="FFFFFF"/>
                </a:solidFill>
                <a:latin typeface="Arial"/>
                <a:cs typeface="Arial"/>
              </a:rPr>
              <a:t>THROW</a:t>
            </a:r>
            <a:r>
              <a:rPr sz="2200" spc="-130" dirty="0">
                <a:solidFill>
                  <a:srgbClr val="FFFFFF"/>
                </a:solidFill>
                <a:latin typeface="Arial"/>
                <a:cs typeface="Arial"/>
              </a:rPr>
              <a:t> </a:t>
            </a:r>
            <a:r>
              <a:rPr sz="2200" spc="-45" dirty="0">
                <a:solidFill>
                  <a:srgbClr val="FFFFFF"/>
                </a:solidFill>
                <a:latin typeface="Arial"/>
                <a:cs typeface="Arial"/>
              </a:rPr>
              <a:t>statement</a:t>
            </a:r>
            <a:r>
              <a:rPr sz="2200" spc="-140" dirty="0">
                <a:solidFill>
                  <a:srgbClr val="FFFFFF"/>
                </a:solidFill>
                <a:latin typeface="Arial"/>
                <a:cs typeface="Arial"/>
              </a:rPr>
              <a:t> </a:t>
            </a:r>
            <a:r>
              <a:rPr sz="2200" spc="-110" dirty="0">
                <a:solidFill>
                  <a:srgbClr val="FFFFFF"/>
                </a:solidFill>
                <a:latin typeface="Arial"/>
                <a:cs typeface="Arial"/>
              </a:rPr>
              <a:t>raises</a:t>
            </a:r>
            <a:r>
              <a:rPr sz="2200" spc="-130" dirty="0">
                <a:solidFill>
                  <a:srgbClr val="FFFFFF"/>
                </a:solidFill>
                <a:latin typeface="Arial"/>
                <a:cs typeface="Arial"/>
              </a:rPr>
              <a:t> </a:t>
            </a:r>
            <a:r>
              <a:rPr sz="2200" spc="-70" dirty="0">
                <a:solidFill>
                  <a:srgbClr val="FFFFFF"/>
                </a:solidFill>
                <a:latin typeface="Arial"/>
                <a:cs typeface="Arial"/>
              </a:rPr>
              <a:t>an</a:t>
            </a:r>
            <a:r>
              <a:rPr sz="2200" spc="-140" dirty="0">
                <a:solidFill>
                  <a:srgbClr val="FFFFFF"/>
                </a:solidFill>
                <a:latin typeface="Arial"/>
                <a:cs typeface="Arial"/>
              </a:rPr>
              <a:t> </a:t>
            </a:r>
            <a:r>
              <a:rPr sz="2200" spc="-10" dirty="0">
                <a:solidFill>
                  <a:srgbClr val="FFFFFF"/>
                </a:solidFill>
                <a:latin typeface="Arial"/>
                <a:cs typeface="Arial"/>
              </a:rPr>
              <a:t>exception</a:t>
            </a:r>
            <a:r>
              <a:rPr sz="2200" spc="-135" dirty="0">
                <a:solidFill>
                  <a:srgbClr val="FFFFFF"/>
                </a:solidFill>
                <a:latin typeface="Arial"/>
                <a:cs typeface="Arial"/>
              </a:rPr>
              <a:t> </a:t>
            </a:r>
            <a:r>
              <a:rPr sz="2200" spc="-40" dirty="0">
                <a:solidFill>
                  <a:srgbClr val="FFFFFF"/>
                </a:solidFill>
                <a:latin typeface="Arial"/>
                <a:cs typeface="Arial"/>
              </a:rPr>
              <a:t>and</a:t>
            </a:r>
            <a:r>
              <a:rPr sz="2200" spc="-150" dirty="0">
                <a:solidFill>
                  <a:srgbClr val="FFFFFF"/>
                </a:solidFill>
                <a:latin typeface="Arial"/>
                <a:cs typeface="Arial"/>
              </a:rPr>
              <a:t> </a:t>
            </a:r>
            <a:r>
              <a:rPr sz="2200" spc="-40" dirty="0">
                <a:solidFill>
                  <a:srgbClr val="FFFFFF"/>
                </a:solidFill>
                <a:latin typeface="Arial"/>
                <a:cs typeface="Arial"/>
              </a:rPr>
              <a:t>transfers</a:t>
            </a:r>
            <a:r>
              <a:rPr sz="2200" spc="-130" dirty="0">
                <a:solidFill>
                  <a:srgbClr val="FFFFFF"/>
                </a:solidFill>
                <a:latin typeface="Arial"/>
                <a:cs typeface="Arial"/>
              </a:rPr>
              <a:t> </a:t>
            </a:r>
            <a:r>
              <a:rPr sz="2200" spc="35" dirty="0">
                <a:solidFill>
                  <a:srgbClr val="FFFFFF"/>
                </a:solidFill>
                <a:latin typeface="Arial"/>
                <a:cs typeface="Arial"/>
              </a:rPr>
              <a:t>control</a:t>
            </a:r>
            <a:r>
              <a:rPr sz="2200" spc="-140" dirty="0">
                <a:solidFill>
                  <a:srgbClr val="FFFFFF"/>
                </a:solidFill>
                <a:latin typeface="Arial"/>
                <a:cs typeface="Arial"/>
              </a:rPr>
              <a:t> </a:t>
            </a:r>
            <a:r>
              <a:rPr sz="2200" spc="55" dirty="0">
                <a:solidFill>
                  <a:srgbClr val="FFFFFF"/>
                </a:solidFill>
                <a:latin typeface="Arial"/>
                <a:cs typeface="Arial"/>
              </a:rPr>
              <a:t>of  </a:t>
            </a:r>
            <a:r>
              <a:rPr sz="2200" spc="5" dirty="0">
                <a:solidFill>
                  <a:srgbClr val="FFFFFF"/>
                </a:solidFill>
                <a:latin typeface="Arial"/>
                <a:cs typeface="Arial"/>
              </a:rPr>
              <a:t>the</a:t>
            </a:r>
            <a:r>
              <a:rPr sz="2200" spc="-160" dirty="0">
                <a:solidFill>
                  <a:srgbClr val="FFFFFF"/>
                </a:solidFill>
                <a:latin typeface="Arial"/>
                <a:cs typeface="Arial"/>
              </a:rPr>
              <a:t> </a:t>
            </a:r>
            <a:r>
              <a:rPr sz="2200" spc="-5" dirty="0">
                <a:solidFill>
                  <a:srgbClr val="FFFFFF"/>
                </a:solidFill>
                <a:latin typeface="Arial"/>
                <a:cs typeface="Arial"/>
              </a:rPr>
              <a:t>execution</a:t>
            </a:r>
            <a:r>
              <a:rPr sz="2200" spc="-175" dirty="0">
                <a:solidFill>
                  <a:srgbClr val="FFFFFF"/>
                </a:solidFill>
                <a:latin typeface="Arial"/>
                <a:cs typeface="Arial"/>
              </a:rPr>
              <a:t> </a:t>
            </a:r>
            <a:r>
              <a:rPr sz="2200" spc="60" dirty="0">
                <a:solidFill>
                  <a:srgbClr val="FFFFFF"/>
                </a:solidFill>
                <a:latin typeface="Arial"/>
                <a:cs typeface="Arial"/>
              </a:rPr>
              <a:t>to</a:t>
            </a:r>
            <a:r>
              <a:rPr sz="2200" spc="-160" dirty="0">
                <a:solidFill>
                  <a:srgbClr val="FFFFFF"/>
                </a:solidFill>
                <a:latin typeface="Arial"/>
                <a:cs typeface="Arial"/>
              </a:rPr>
              <a:t> </a:t>
            </a:r>
            <a:r>
              <a:rPr sz="2200" spc="-210" dirty="0">
                <a:solidFill>
                  <a:srgbClr val="FFFFFF"/>
                </a:solidFill>
                <a:latin typeface="Arial"/>
                <a:cs typeface="Arial"/>
              </a:rPr>
              <a:t>a</a:t>
            </a:r>
            <a:r>
              <a:rPr sz="2200" spc="-155" dirty="0">
                <a:solidFill>
                  <a:srgbClr val="FFFFFF"/>
                </a:solidFill>
                <a:latin typeface="Arial"/>
                <a:cs typeface="Arial"/>
              </a:rPr>
              <a:t> </a:t>
            </a:r>
            <a:r>
              <a:rPr sz="2200" spc="210" dirty="0">
                <a:solidFill>
                  <a:srgbClr val="FFFFFF"/>
                </a:solidFill>
                <a:latin typeface="Arial"/>
                <a:cs typeface="Arial"/>
              </a:rPr>
              <a:t>CATCH</a:t>
            </a:r>
            <a:r>
              <a:rPr sz="2200" spc="-150" dirty="0">
                <a:solidFill>
                  <a:srgbClr val="FFFFFF"/>
                </a:solidFill>
                <a:latin typeface="Arial"/>
                <a:cs typeface="Arial"/>
              </a:rPr>
              <a:t> </a:t>
            </a:r>
            <a:r>
              <a:rPr sz="2200" spc="15" dirty="0">
                <a:solidFill>
                  <a:srgbClr val="FFFFFF"/>
                </a:solidFill>
                <a:latin typeface="Arial"/>
                <a:cs typeface="Arial"/>
              </a:rPr>
              <a:t>block</a:t>
            </a:r>
            <a:r>
              <a:rPr sz="2200" spc="-160" dirty="0">
                <a:solidFill>
                  <a:srgbClr val="FFFFFF"/>
                </a:solidFill>
                <a:latin typeface="Arial"/>
                <a:cs typeface="Arial"/>
              </a:rPr>
              <a:t> </a:t>
            </a:r>
            <a:r>
              <a:rPr sz="2200" spc="65" dirty="0">
                <a:solidFill>
                  <a:srgbClr val="FFFFFF"/>
                </a:solidFill>
                <a:latin typeface="Arial"/>
                <a:cs typeface="Arial"/>
              </a:rPr>
              <a:t>of</a:t>
            </a:r>
            <a:r>
              <a:rPr sz="2200" spc="-150" dirty="0">
                <a:solidFill>
                  <a:srgbClr val="FFFFFF"/>
                </a:solidFill>
                <a:latin typeface="Arial"/>
                <a:cs typeface="Arial"/>
              </a:rPr>
              <a:t> </a:t>
            </a:r>
            <a:r>
              <a:rPr sz="2200" spc="-210" dirty="0">
                <a:solidFill>
                  <a:srgbClr val="FFFFFF"/>
                </a:solidFill>
                <a:latin typeface="Arial"/>
                <a:cs typeface="Arial"/>
              </a:rPr>
              <a:t>a</a:t>
            </a:r>
            <a:r>
              <a:rPr sz="2200" spc="-155" dirty="0">
                <a:solidFill>
                  <a:srgbClr val="FFFFFF"/>
                </a:solidFill>
                <a:latin typeface="Arial"/>
                <a:cs typeface="Arial"/>
              </a:rPr>
              <a:t> </a:t>
            </a:r>
            <a:r>
              <a:rPr sz="2200" spc="85" dirty="0">
                <a:solidFill>
                  <a:srgbClr val="FFFFFF"/>
                </a:solidFill>
                <a:latin typeface="Arial"/>
                <a:cs typeface="Arial"/>
              </a:rPr>
              <a:t>TRY</a:t>
            </a:r>
            <a:r>
              <a:rPr sz="2200" spc="85" dirty="0">
                <a:solidFill>
                  <a:srgbClr val="FFFFFF"/>
                </a:solidFill>
                <a:latin typeface="Times New Roman"/>
                <a:cs typeface="Times New Roman"/>
              </a:rPr>
              <a:t>…</a:t>
            </a:r>
            <a:r>
              <a:rPr sz="2200" spc="85" dirty="0">
                <a:solidFill>
                  <a:srgbClr val="FFFFFF"/>
                </a:solidFill>
                <a:latin typeface="Arial"/>
                <a:cs typeface="Arial"/>
              </a:rPr>
              <a:t>CATCH</a:t>
            </a:r>
            <a:r>
              <a:rPr sz="2200" spc="-170" dirty="0">
                <a:solidFill>
                  <a:srgbClr val="FFFFFF"/>
                </a:solidFill>
                <a:latin typeface="Arial"/>
                <a:cs typeface="Arial"/>
              </a:rPr>
              <a:t> </a:t>
            </a:r>
            <a:r>
              <a:rPr sz="2200" spc="-5" dirty="0">
                <a:solidFill>
                  <a:srgbClr val="FFFFFF"/>
                </a:solidFill>
                <a:latin typeface="Arial"/>
                <a:cs typeface="Arial"/>
              </a:rPr>
              <a:t>construct.</a:t>
            </a:r>
            <a:endParaRPr sz="2200">
              <a:latin typeface="Arial"/>
              <a:cs typeface="Arial"/>
            </a:endParaRPr>
          </a:p>
        </p:txBody>
      </p:sp>
      <p:pic>
        <p:nvPicPr>
          <p:cNvPr id="5" name="object 5"/>
          <p:cNvPicPr/>
          <p:nvPr/>
        </p:nvPicPr>
        <p:blipFill>
          <a:blip r:embed="rId3" cstate="print"/>
          <a:stretch>
            <a:fillRect/>
          </a:stretch>
        </p:blipFill>
        <p:spPr>
          <a:xfrm>
            <a:off x="349758" y="2800350"/>
            <a:ext cx="8444484" cy="1413510"/>
          </a:xfrm>
          <a:prstGeom prst="rect">
            <a:avLst/>
          </a:prstGeom>
        </p:spPr>
      </p:pic>
      <p:sp>
        <p:nvSpPr>
          <p:cNvPr id="6" name="object 6"/>
          <p:cNvSpPr txBox="1">
            <a:spLocks noGrp="1"/>
          </p:cNvSpPr>
          <p:nvPr>
            <p:ph type="body" idx="1"/>
          </p:nvPr>
        </p:nvSpPr>
        <p:spPr>
          <a:prstGeom prst="rect">
            <a:avLst/>
          </a:prstGeom>
        </p:spPr>
        <p:txBody>
          <a:bodyPr vert="horz" wrap="square" lIns="0" tIns="12700" rIns="0" bIns="0" rtlCol="0">
            <a:spAutoFit/>
          </a:bodyPr>
          <a:lstStyle/>
          <a:p>
            <a:pPr marL="12700">
              <a:lnSpc>
                <a:spcPct val="100000"/>
              </a:lnSpc>
              <a:spcBef>
                <a:spcPts val="100"/>
              </a:spcBef>
            </a:pPr>
            <a:r>
              <a:rPr spc="15" dirty="0"/>
              <a:t>Following</a:t>
            </a:r>
            <a:r>
              <a:rPr spc="-114" dirty="0"/>
              <a:t> </a:t>
            </a:r>
            <a:r>
              <a:rPr spc="-45" dirty="0"/>
              <a:t>is</a:t>
            </a:r>
            <a:r>
              <a:rPr spc="-105" dirty="0"/>
              <a:t> </a:t>
            </a:r>
            <a:r>
              <a:rPr dirty="0"/>
              <a:t>the</a:t>
            </a:r>
            <a:r>
              <a:rPr spc="-110" dirty="0"/>
              <a:t> </a:t>
            </a:r>
            <a:r>
              <a:rPr spc="-20" dirty="0"/>
              <a:t>syntax</a:t>
            </a:r>
            <a:r>
              <a:rPr spc="-120" dirty="0"/>
              <a:t> </a:t>
            </a:r>
            <a:r>
              <a:rPr spc="45" dirty="0"/>
              <a:t>of</a:t>
            </a:r>
            <a:r>
              <a:rPr spc="-110" dirty="0"/>
              <a:t> </a:t>
            </a:r>
            <a:r>
              <a:rPr dirty="0"/>
              <a:t>the</a:t>
            </a:r>
            <a:r>
              <a:rPr spc="-110" dirty="0"/>
              <a:t> </a:t>
            </a:r>
            <a:r>
              <a:rPr spc="140" dirty="0"/>
              <a:t>THROW</a:t>
            </a:r>
            <a:r>
              <a:rPr spc="-120" dirty="0"/>
              <a:t> </a:t>
            </a:r>
            <a:r>
              <a:rPr spc="-35" dirty="0"/>
              <a:t>statement:</a:t>
            </a:r>
          </a:p>
          <a:p>
            <a:pPr marL="252729">
              <a:lnSpc>
                <a:spcPct val="100000"/>
              </a:lnSpc>
              <a:spcBef>
                <a:spcPts val="2180"/>
              </a:spcBef>
            </a:pPr>
            <a:r>
              <a:rPr sz="1600" spc="125" dirty="0"/>
              <a:t>THROW</a:t>
            </a:r>
            <a:r>
              <a:rPr sz="1600" spc="-120" dirty="0"/>
              <a:t> </a:t>
            </a:r>
            <a:r>
              <a:rPr sz="1600" spc="15" dirty="0"/>
              <a:t>[</a:t>
            </a:r>
            <a:r>
              <a:rPr sz="1600" spc="-110" dirty="0"/>
              <a:t> </a:t>
            </a:r>
            <a:r>
              <a:rPr sz="1600" spc="-100" dirty="0"/>
              <a:t>{</a:t>
            </a:r>
            <a:r>
              <a:rPr sz="1600" spc="-110" dirty="0"/>
              <a:t> </a:t>
            </a:r>
            <a:r>
              <a:rPr sz="1600" spc="-45" dirty="0"/>
              <a:t>error_number</a:t>
            </a:r>
            <a:r>
              <a:rPr sz="1600" spc="-95" dirty="0"/>
              <a:t> </a:t>
            </a:r>
            <a:r>
              <a:rPr sz="1600" spc="-85" dirty="0"/>
              <a:t>|</a:t>
            </a:r>
            <a:r>
              <a:rPr sz="1600" spc="-110" dirty="0"/>
              <a:t> </a:t>
            </a:r>
            <a:r>
              <a:rPr sz="1600" spc="-75" dirty="0"/>
              <a:t>@local_variable</a:t>
            </a:r>
            <a:r>
              <a:rPr sz="1600" spc="-120" dirty="0"/>
              <a:t> </a:t>
            </a:r>
            <a:r>
              <a:rPr sz="1600" spc="-75" dirty="0"/>
              <a:t>},</a:t>
            </a:r>
            <a:endParaRPr sz="1600"/>
          </a:p>
          <a:p>
            <a:pPr marL="295275">
              <a:lnSpc>
                <a:spcPct val="100000"/>
              </a:lnSpc>
            </a:pPr>
            <a:r>
              <a:rPr sz="1600" spc="-100" dirty="0"/>
              <a:t>{ </a:t>
            </a:r>
            <a:r>
              <a:rPr sz="1600" spc="-130" dirty="0"/>
              <a:t>message </a:t>
            </a:r>
            <a:r>
              <a:rPr sz="1600" spc="-85" dirty="0"/>
              <a:t>| </a:t>
            </a:r>
            <a:r>
              <a:rPr sz="1600" spc="-75" dirty="0"/>
              <a:t>@local_variable</a:t>
            </a:r>
            <a:r>
              <a:rPr sz="1600" spc="-140" dirty="0"/>
              <a:t> </a:t>
            </a:r>
            <a:r>
              <a:rPr sz="1600" spc="-75" dirty="0"/>
              <a:t>},</a:t>
            </a:r>
            <a:endParaRPr sz="1600"/>
          </a:p>
          <a:p>
            <a:pPr marL="252729" marR="5701665">
              <a:lnSpc>
                <a:spcPct val="100000"/>
              </a:lnSpc>
            </a:pPr>
            <a:r>
              <a:rPr sz="1600" spc="-100" dirty="0"/>
              <a:t>{ </a:t>
            </a:r>
            <a:r>
              <a:rPr sz="1600" spc="-55" dirty="0"/>
              <a:t>state </a:t>
            </a:r>
            <a:r>
              <a:rPr sz="1600" spc="-85" dirty="0"/>
              <a:t>| </a:t>
            </a:r>
            <a:r>
              <a:rPr sz="1600" spc="-75" dirty="0"/>
              <a:t>@local_variable </a:t>
            </a:r>
            <a:r>
              <a:rPr sz="1600" spc="-100" dirty="0"/>
              <a:t>}</a:t>
            </a:r>
            <a:r>
              <a:rPr sz="1600" spc="-270" dirty="0"/>
              <a:t> </a:t>
            </a:r>
            <a:r>
              <a:rPr sz="1600" spc="15" dirty="0"/>
              <a:t>]  [ </a:t>
            </a:r>
            <a:r>
              <a:rPr sz="1600" spc="-25" dirty="0"/>
              <a:t>;</a:t>
            </a:r>
            <a:r>
              <a:rPr sz="1600" spc="-235" dirty="0"/>
              <a:t> </a:t>
            </a:r>
            <a:r>
              <a:rPr sz="1600" spc="15" dirty="0"/>
              <a:t>]</a:t>
            </a:r>
            <a:endParaRPr sz="1600"/>
          </a:p>
          <a:p>
            <a:pPr>
              <a:lnSpc>
                <a:spcPct val="100000"/>
              </a:lnSpc>
              <a:spcBef>
                <a:spcPts val="45"/>
              </a:spcBef>
            </a:pPr>
            <a:endParaRPr sz="3350"/>
          </a:p>
          <a:p>
            <a:pPr marL="45720">
              <a:lnSpc>
                <a:spcPct val="100000"/>
              </a:lnSpc>
              <a:spcBef>
                <a:spcPts val="5"/>
              </a:spcBef>
            </a:pPr>
            <a:r>
              <a:rPr sz="1600" spc="-30" dirty="0"/>
              <a:t>where,</a:t>
            </a:r>
            <a:endParaRPr sz="1600"/>
          </a:p>
          <a:p>
            <a:pPr marL="221615" marR="5080">
              <a:lnSpc>
                <a:spcPct val="100000"/>
              </a:lnSpc>
            </a:pPr>
            <a:r>
              <a:rPr sz="1600" spc="-45" dirty="0"/>
              <a:t>error_number: specifies </a:t>
            </a:r>
            <a:r>
              <a:rPr sz="1600" spc="-155" dirty="0"/>
              <a:t>a </a:t>
            </a:r>
            <a:r>
              <a:rPr sz="1600" spc="-15" dirty="0"/>
              <a:t>constant </a:t>
            </a:r>
            <a:r>
              <a:rPr sz="1600" spc="20" dirty="0"/>
              <a:t>or </a:t>
            </a:r>
            <a:r>
              <a:rPr sz="1600" spc="-25" dirty="0"/>
              <a:t>variable </a:t>
            </a:r>
            <a:r>
              <a:rPr sz="1600" spc="25" dirty="0"/>
              <a:t>that </a:t>
            </a:r>
            <a:r>
              <a:rPr sz="1600" spc="-50" dirty="0"/>
              <a:t>represents </a:t>
            </a:r>
            <a:r>
              <a:rPr sz="1600" dirty="0"/>
              <a:t>the </a:t>
            </a:r>
            <a:r>
              <a:rPr sz="1600" spc="-45" dirty="0"/>
              <a:t>error_number </a:t>
            </a:r>
            <a:r>
              <a:rPr sz="1600" spc="-165" dirty="0"/>
              <a:t>as </a:t>
            </a:r>
            <a:r>
              <a:rPr sz="1600" spc="50" dirty="0"/>
              <a:t>int.  </a:t>
            </a:r>
            <a:r>
              <a:rPr sz="1600" spc="-120" dirty="0"/>
              <a:t>message:</a:t>
            </a:r>
            <a:r>
              <a:rPr sz="1600" spc="-110" dirty="0"/>
              <a:t> </a:t>
            </a:r>
            <a:r>
              <a:rPr sz="1600" spc="-45" dirty="0"/>
              <a:t>specifies</a:t>
            </a:r>
            <a:r>
              <a:rPr sz="1600" spc="-114" dirty="0"/>
              <a:t> </a:t>
            </a:r>
            <a:r>
              <a:rPr sz="1600" spc="-155" dirty="0"/>
              <a:t>a</a:t>
            </a:r>
            <a:r>
              <a:rPr sz="1600" spc="-95" dirty="0"/>
              <a:t> </a:t>
            </a:r>
            <a:r>
              <a:rPr sz="1600" spc="-25" dirty="0"/>
              <a:t>variable</a:t>
            </a:r>
            <a:r>
              <a:rPr sz="1600" spc="-100" dirty="0"/>
              <a:t> </a:t>
            </a:r>
            <a:r>
              <a:rPr sz="1600" spc="20" dirty="0"/>
              <a:t>or</a:t>
            </a:r>
            <a:r>
              <a:rPr sz="1600" spc="-100" dirty="0"/>
              <a:t> </a:t>
            </a:r>
            <a:r>
              <a:rPr sz="1600" spc="5" dirty="0"/>
              <a:t>string</a:t>
            </a:r>
            <a:r>
              <a:rPr sz="1600" spc="-100" dirty="0"/>
              <a:t> </a:t>
            </a:r>
            <a:r>
              <a:rPr sz="1600" spc="25" dirty="0"/>
              <a:t>that</a:t>
            </a:r>
            <a:r>
              <a:rPr sz="1600" spc="-105" dirty="0"/>
              <a:t> </a:t>
            </a:r>
            <a:r>
              <a:rPr sz="1600" spc="-30" dirty="0"/>
              <a:t>defines</a:t>
            </a:r>
            <a:r>
              <a:rPr sz="1600" spc="-105" dirty="0"/>
              <a:t> </a:t>
            </a:r>
            <a:r>
              <a:rPr sz="1600" dirty="0"/>
              <a:t>the</a:t>
            </a:r>
            <a:r>
              <a:rPr sz="1600" spc="-95" dirty="0"/>
              <a:t> </a:t>
            </a:r>
            <a:r>
              <a:rPr sz="1600" spc="-5" dirty="0"/>
              <a:t>exception</a:t>
            </a:r>
            <a:r>
              <a:rPr sz="1600" spc="-90" dirty="0"/>
              <a:t> </a:t>
            </a:r>
            <a:r>
              <a:rPr sz="1600" spc="-130" dirty="0"/>
              <a:t>message</a:t>
            </a:r>
            <a:r>
              <a:rPr sz="1600" spc="-105" dirty="0"/>
              <a:t> </a:t>
            </a:r>
            <a:r>
              <a:rPr sz="1600" spc="-165" dirty="0"/>
              <a:t>as</a:t>
            </a:r>
            <a:r>
              <a:rPr sz="1600" spc="-105" dirty="0"/>
              <a:t> </a:t>
            </a:r>
            <a:r>
              <a:rPr sz="1600" spc="-40" dirty="0"/>
              <a:t>nvarchar(2048).  </a:t>
            </a:r>
            <a:r>
              <a:rPr sz="1600" spc="-50" dirty="0"/>
              <a:t>state:</a:t>
            </a:r>
            <a:r>
              <a:rPr sz="1600" spc="-105" dirty="0"/>
              <a:t> </a:t>
            </a:r>
            <a:r>
              <a:rPr sz="1600" spc="-45" dirty="0"/>
              <a:t>specifies</a:t>
            </a:r>
            <a:r>
              <a:rPr sz="1600" spc="-120" dirty="0"/>
              <a:t> </a:t>
            </a:r>
            <a:r>
              <a:rPr sz="1600" spc="-155" dirty="0"/>
              <a:t>a</a:t>
            </a:r>
            <a:r>
              <a:rPr sz="1600" spc="-100" dirty="0"/>
              <a:t> </a:t>
            </a:r>
            <a:r>
              <a:rPr sz="1600" spc="-25" dirty="0"/>
              <a:t>variable</a:t>
            </a:r>
            <a:r>
              <a:rPr sz="1600" spc="-110" dirty="0"/>
              <a:t> </a:t>
            </a:r>
            <a:r>
              <a:rPr sz="1600" spc="20" dirty="0"/>
              <a:t>or</a:t>
            </a:r>
            <a:r>
              <a:rPr sz="1600" spc="-105" dirty="0"/>
              <a:t> </a:t>
            </a:r>
            <a:r>
              <a:rPr sz="1600" spc="-155" dirty="0"/>
              <a:t>a</a:t>
            </a:r>
            <a:r>
              <a:rPr sz="1600" spc="-105" dirty="0"/>
              <a:t> </a:t>
            </a:r>
            <a:r>
              <a:rPr sz="1600" spc="-15" dirty="0"/>
              <a:t>constant</a:t>
            </a:r>
            <a:r>
              <a:rPr sz="1600" spc="-100" dirty="0"/>
              <a:t> </a:t>
            </a:r>
            <a:r>
              <a:rPr sz="1600" spc="-40" dirty="0"/>
              <a:t>between</a:t>
            </a:r>
            <a:r>
              <a:rPr sz="1600" spc="-85" dirty="0"/>
              <a:t> </a:t>
            </a:r>
            <a:r>
              <a:rPr sz="1600" spc="-45" dirty="0"/>
              <a:t>0</a:t>
            </a:r>
            <a:r>
              <a:rPr sz="1600" spc="-100" dirty="0"/>
              <a:t> </a:t>
            </a:r>
            <a:r>
              <a:rPr sz="1600" spc="-30" dirty="0"/>
              <a:t>and</a:t>
            </a:r>
            <a:r>
              <a:rPr sz="1600" spc="-100" dirty="0"/>
              <a:t> </a:t>
            </a:r>
            <a:r>
              <a:rPr sz="1600" spc="-275" dirty="0"/>
              <a:t>255 </a:t>
            </a:r>
            <a:r>
              <a:rPr sz="1600" spc="25" dirty="0"/>
              <a:t>that</a:t>
            </a:r>
            <a:r>
              <a:rPr sz="1600" spc="-105" dirty="0"/>
              <a:t> </a:t>
            </a:r>
            <a:r>
              <a:rPr sz="1600" spc="-45" dirty="0"/>
              <a:t>specifies</a:t>
            </a:r>
            <a:r>
              <a:rPr sz="1600" spc="-120" dirty="0"/>
              <a:t> </a:t>
            </a:r>
            <a:r>
              <a:rPr sz="1600" dirty="0"/>
              <a:t>the</a:t>
            </a:r>
            <a:r>
              <a:rPr sz="1600" spc="-105" dirty="0"/>
              <a:t> </a:t>
            </a:r>
            <a:r>
              <a:rPr sz="1600" spc="-55" dirty="0"/>
              <a:t>state</a:t>
            </a:r>
            <a:r>
              <a:rPr sz="1600" spc="-100" dirty="0"/>
              <a:t> </a:t>
            </a:r>
            <a:r>
              <a:rPr sz="1600" spc="40" dirty="0"/>
              <a:t>to</a:t>
            </a:r>
            <a:r>
              <a:rPr sz="1600" spc="-100" dirty="0"/>
              <a:t> </a:t>
            </a:r>
            <a:r>
              <a:rPr sz="1600" spc="-75" dirty="0"/>
              <a:t>associate  </a:t>
            </a:r>
            <a:r>
              <a:rPr sz="1600" spc="70" dirty="0"/>
              <a:t>with </a:t>
            </a:r>
            <a:r>
              <a:rPr sz="1600" spc="-55" dirty="0"/>
              <a:t>state </a:t>
            </a:r>
            <a:r>
              <a:rPr sz="1600" spc="40" dirty="0"/>
              <a:t>of</a:t>
            </a:r>
            <a:r>
              <a:rPr sz="1600" spc="-290" dirty="0"/>
              <a:t> </a:t>
            </a:r>
            <a:r>
              <a:rPr sz="1600" spc="-130" dirty="0"/>
              <a:t>message </a:t>
            </a:r>
            <a:r>
              <a:rPr sz="1600" spc="-165" dirty="0"/>
              <a:t>as </a:t>
            </a:r>
            <a:r>
              <a:rPr sz="1600" spc="55" dirty="0"/>
              <a:t>tinyint.</a:t>
            </a:r>
            <a:endParaRPr sz="1600"/>
          </a:p>
        </p:txBody>
      </p:sp>
      <p:sp>
        <p:nvSpPr>
          <p:cNvPr id="8" name="object 8"/>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27</a:t>
            </a:fld>
            <a:endParaRPr sz="1200">
              <a:latin typeface="Arial"/>
              <a:cs typeface="Arial"/>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81000" y="990600"/>
            <a:ext cx="8610600" cy="400110"/>
          </a:xfrm>
          <a:prstGeom prst="rect">
            <a:avLst/>
          </a:prstGeom>
          <a:noFill/>
        </p:spPr>
        <p:txBody>
          <a:bodyPr wrap="square" rtlCol="0">
            <a:spAutoFit/>
          </a:bodyPr>
          <a:lstStyle/>
          <a:p>
            <a:pPr>
              <a:lnSpc>
                <a:spcPct val="100000"/>
              </a:lnSpc>
              <a:spcBef>
                <a:spcPts val="0"/>
              </a:spcBef>
            </a:pPr>
            <a:r>
              <a:rPr lang="en-US" sz="2000" dirty="0">
                <a:latin typeface="Calibri" pitchFamily="34" charset="0"/>
                <a:cs typeface="Calibri" pitchFamily="34" charset="0"/>
              </a:rPr>
              <a:t>Code snippet shows the use of </a:t>
            </a:r>
            <a:r>
              <a:rPr lang="en-US" sz="2000" b="1" dirty="0">
                <a:cs typeface="Courier New" pitchFamily="49" charset="0"/>
              </a:rPr>
              <a:t>THROW</a:t>
            </a:r>
            <a:r>
              <a:rPr lang="en-US" sz="2000" dirty="0">
                <a:latin typeface="Calibri" pitchFamily="34" charset="0"/>
                <a:cs typeface="Calibri" pitchFamily="34" charset="0"/>
              </a:rPr>
              <a:t> statement to raise an exception again:</a:t>
            </a:r>
          </a:p>
        </p:txBody>
      </p:sp>
      <p:sp>
        <p:nvSpPr>
          <p:cNvPr id="7" name="TextBox 6"/>
          <p:cNvSpPr txBox="1"/>
          <p:nvPr/>
        </p:nvSpPr>
        <p:spPr>
          <a:xfrm>
            <a:off x="457200" y="1427425"/>
            <a:ext cx="8001000" cy="286232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marL="341313" indent="-341313">
              <a:lnSpc>
                <a:spcPct val="100000"/>
              </a:lnSpc>
              <a:spcBef>
                <a:spcPts val="0"/>
              </a:spcBef>
            </a:pPr>
            <a:r>
              <a:rPr lang="en-US" sz="2000" b="1" dirty="0">
                <a:latin typeface="Courier New" panose="02070309020205020404" pitchFamily="49" charset="0"/>
                <a:cs typeface="Courier New" panose="02070309020205020404" pitchFamily="49" charset="0"/>
              </a:rPr>
              <a:t>CREATE TABLE </a:t>
            </a:r>
            <a:r>
              <a:rPr lang="en-US" sz="2000" b="1" dirty="0" err="1">
                <a:latin typeface="Courier New" panose="02070309020205020404" pitchFamily="49" charset="0"/>
                <a:cs typeface="Courier New" panose="02070309020205020404" pitchFamily="49" charset="0"/>
              </a:rPr>
              <a:t>TestRethrow</a:t>
            </a:r>
            <a:r>
              <a:rPr lang="en-US" sz="2000" b="1" dirty="0">
                <a:latin typeface="Courier New" panose="02070309020205020404" pitchFamily="49" charset="0"/>
                <a:cs typeface="Courier New" panose="02070309020205020404" pitchFamily="49" charset="0"/>
              </a:rPr>
              <a:t> ( ID INT PRIMARY KEY );</a:t>
            </a:r>
          </a:p>
          <a:p>
            <a:pPr marL="341313" indent="-341313">
              <a:lnSpc>
                <a:spcPct val="100000"/>
              </a:lnSpc>
              <a:spcBef>
                <a:spcPts val="0"/>
              </a:spcBef>
            </a:pPr>
            <a:r>
              <a:rPr lang="en-US" sz="2000" b="1" dirty="0">
                <a:solidFill>
                  <a:srgbClr val="00B050"/>
                </a:solidFill>
                <a:latin typeface="Courier New" panose="02070309020205020404" pitchFamily="49" charset="0"/>
                <a:cs typeface="Courier New" panose="02070309020205020404" pitchFamily="49" charset="0"/>
              </a:rPr>
              <a:t>BEGIN TRY</a:t>
            </a:r>
          </a:p>
          <a:p>
            <a:pPr marL="341313" indent="-341313">
              <a:lnSpc>
                <a:spcPct val="100000"/>
              </a:lnSpc>
              <a:spcBef>
                <a:spcPts val="0"/>
              </a:spcBef>
            </a:pPr>
            <a:r>
              <a:rPr lang="en-US" sz="2000" b="1" dirty="0">
                <a:latin typeface="Courier New" panose="02070309020205020404" pitchFamily="49" charset="0"/>
                <a:cs typeface="Courier New" panose="02070309020205020404" pitchFamily="49" charset="0"/>
              </a:rPr>
              <a:t>  INSERT dbo.TestRethrow(ID) VALUES(1);</a:t>
            </a:r>
          </a:p>
          <a:p>
            <a:pPr marL="341313" indent="-341313">
              <a:lnSpc>
                <a:spcPct val="100000"/>
              </a:lnSpc>
              <a:spcBef>
                <a:spcPts val="0"/>
              </a:spcBef>
            </a:pPr>
            <a:r>
              <a:rPr lang="en-US" sz="2000" b="1" dirty="0">
                <a:latin typeface="Courier New" panose="02070309020205020404" pitchFamily="49" charset="0"/>
                <a:cs typeface="Courier New" panose="02070309020205020404" pitchFamily="49" charset="0"/>
              </a:rPr>
              <a:t>  INSERT dbo.TestRethrow(ID) VALUES(</a:t>
            </a:r>
            <a:r>
              <a:rPr lang="en-US" sz="2000" b="1" dirty="0">
                <a:solidFill>
                  <a:srgbClr val="FF0000"/>
                </a:solidFill>
                <a:latin typeface="Courier New" panose="02070309020205020404" pitchFamily="49" charset="0"/>
                <a:cs typeface="Courier New" panose="02070309020205020404" pitchFamily="49" charset="0"/>
              </a:rPr>
              <a:t>1</a:t>
            </a:r>
            <a:r>
              <a:rPr lang="en-US" sz="2000" b="1" dirty="0">
                <a:latin typeface="Courier New" panose="02070309020205020404" pitchFamily="49" charset="0"/>
                <a:cs typeface="Courier New" panose="02070309020205020404" pitchFamily="49" charset="0"/>
              </a:rPr>
              <a:t>);</a:t>
            </a:r>
          </a:p>
          <a:p>
            <a:pPr marL="341313" indent="-341313">
              <a:lnSpc>
                <a:spcPct val="100000"/>
              </a:lnSpc>
              <a:spcBef>
                <a:spcPts val="0"/>
              </a:spcBef>
            </a:pPr>
            <a:r>
              <a:rPr lang="en-US" sz="2000" b="1" dirty="0">
                <a:solidFill>
                  <a:srgbClr val="00B050"/>
                </a:solidFill>
                <a:latin typeface="Courier New" panose="02070309020205020404" pitchFamily="49" charset="0"/>
                <a:cs typeface="Courier New" panose="02070309020205020404" pitchFamily="49" charset="0"/>
              </a:rPr>
              <a:t>END TRY</a:t>
            </a:r>
          </a:p>
          <a:p>
            <a:pPr marL="341313" indent="-341313">
              <a:lnSpc>
                <a:spcPct val="100000"/>
              </a:lnSpc>
              <a:spcBef>
                <a:spcPts val="0"/>
              </a:spcBef>
            </a:pPr>
            <a:r>
              <a:rPr lang="en-US" sz="2000" b="1" dirty="0">
                <a:solidFill>
                  <a:srgbClr val="00B050"/>
                </a:solidFill>
                <a:latin typeface="Courier New" panose="02070309020205020404" pitchFamily="49" charset="0"/>
                <a:cs typeface="Courier New" panose="02070309020205020404" pitchFamily="49" charset="0"/>
              </a:rPr>
              <a:t>BEGIN CATCH</a:t>
            </a:r>
          </a:p>
          <a:p>
            <a:pPr marL="341313" indent="-341313">
              <a:lnSpc>
                <a:spcPct val="100000"/>
              </a:lnSpc>
              <a:spcBef>
                <a:spcPts val="0"/>
              </a:spcBef>
            </a:pPr>
            <a:r>
              <a:rPr lang="en-US" sz="2000" b="1" dirty="0">
                <a:latin typeface="Courier New" panose="02070309020205020404" pitchFamily="49" charset="0"/>
                <a:cs typeface="Courier New" panose="02070309020205020404" pitchFamily="49" charset="0"/>
              </a:rPr>
              <a:t>   PRINT 'In catch block.';</a:t>
            </a:r>
          </a:p>
          <a:p>
            <a:pPr marL="341313" indent="-341313">
              <a:lnSpc>
                <a:spcPct val="100000"/>
              </a:lnSpc>
              <a:spcBef>
                <a:spcPts val="0"/>
              </a:spcBef>
            </a:pPr>
            <a:r>
              <a:rPr lang="en-US" sz="2000" b="1" dirty="0">
                <a:latin typeface="Courier New" panose="02070309020205020404" pitchFamily="49" charset="0"/>
                <a:cs typeface="Courier New" panose="02070309020205020404" pitchFamily="49" charset="0"/>
              </a:rPr>
              <a:t>   </a:t>
            </a:r>
            <a:r>
              <a:rPr lang="en-US" sz="2000" b="1" dirty="0">
                <a:solidFill>
                  <a:srgbClr val="FF0000"/>
                </a:solidFill>
                <a:latin typeface="Courier New" panose="02070309020205020404" pitchFamily="49" charset="0"/>
                <a:cs typeface="Courier New" panose="02070309020205020404" pitchFamily="49" charset="0"/>
              </a:rPr>
              <a:t>THROW;</a:t>
            </a:r>
          </a:p>
          <a:p>
            <a:pPr marL="341313" indent="-341313">
              <a:lnSpc>
                <a:spcPct val="100000"/>
              </a:lnSpc>
              <a:spcBef>
                <a:spcPts val="0"/>
              </a:spcBef>
            </a:pPr>
            <a:r>
              <a:rPr lang="en-US" sz="2000" b="1" dirty="0">
                <a:solidFill>
                  <a:srgbClr val="00B050"/>
                </a:solidFill>
                <a:latin typeface="Courier New" panose="02070309020205020404" pitchFamily="49" charset="0"/>
                <a:cs typeface="Courier New" panose="02070309020205020404" pitchFamily="49" charset="0"/>
              </a:rPr>
              <a:t>END CATCH;</a:t>
            </a:r>
          </a:p>
        </p:txBody>
      </p:sp>
      <p:sp>
        <p:nvSpPr>
          <p:cNvPr id="10" name="TextBox 9"/>
          <p:cNvSpPr txBox="1"/>
          <p:nvPr/>
        </p:nvSpPr>
        <p:spPr>
          <a:xfrm>
            <a:off x="1752600" y="4648200"/>
            <a:ext cx="6705600" cy="181588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nSpc>
                <a:spcPct val="100000"/>
              </a:lnSpc>
              <a:spcBef>
                <a:spcPts val="0"/>
              </a:spcBef>
            </a:pPr>
            <a:r>
              <a:rPr lang="en-US" sz="1600" dirty="0"/>
              <a:t>(1 row(s) affected)</a:t>
            </a:r>
          </a:p>
          <a:p>
            <a:pPr>
              <a:lnSpc>
                <a:spcPct val="100000"/>
              </a:lnSpc>
              <a:spcBef>
                <a:spcPts val="0"/>
              </a:spcBef>
            </a:pPr>
            <a:r>
              <a:rPr lang="en-US" sz="1600" dirty="0"/>
              <a:t>(0 row(s) affected)</a:t>
            </a:r>
          </a:p>
          <a:p>
            <a:pPr>
              <a:lnSpc>
                <a:spcPct val="100000"/>
              </a:lnSpc>
              <a:spcBef>
                <a:spcPts val="0"/>
              </a:spcBef>
            </a:pPr>
            <a:r>
              <a:rPr lang="en-US" sz="1600" dirty="0"/>
              <a:t>In catch block.</a:t>
            </a:r>
          </a:p>
          <a:p>
            <a:pPr>
              <a:lnSpc>
                <a:spcPct val="100000"/>
              </a:lnSpc>
              <a:spcBef>
                <a:spcPts val="0"/>
              </a:spcBef>
            </a:pPr>
            <a:r>
              <a:rPr lang="en-US" sz="1600" dirty="0"/>
              <a:t>Msg 2627, Level 14, State 1, Line 6</a:t>
            </a:r>
          </a:p>
          <a:p>
            <a:pPr>
              <a:lnSpc>
                <a:spcPct val="100000"/>
              </a:lnSpc>
              <a:spcBef>
                <a:spcPts val="0"/>
              </a:spcBef>
            </a:pPr>
            <a:r>
              <a:rPr lang="en-US" sz="1600" dirty="0">
                <a:solidFill>
                  <a:srgbClr val="FF0000"/>
                </a:solidFill>
              </a:rPr>
              <a:t>Violation of PRIMARY KEY constraint 'PK__TestReth__3214EC27AAB15FEE'. Cannot insert duplicate key in object 'dbo.TestRethrow'. The duplicate key value is (1).</a:t>
            </a:r>
            <a:r>
              <a:rPr lang="en-US" sz="1600" dirty="0"/>
              <a:t>	</a:t>
            </a:r>
          </a:p>
        </p:txBody>
      </p:sp>
      <p:sp>
        <p:nvSpPr>
          <p:cNvPr id="11" name="TextBox 10"/>
          <p:cNvSpPr txBox="1"/>
          <p:nvPr/>
        </p:nvSpPr>
        <p:spPr>
          <a:xfrm>
            <a:off x="457200" y="4800600"/>
            <a:ext cx="1066800" cy="400110"/>
          </a:xfrm>
          <a:prstGeom prst="rect">
            <a:avLst/>
          </a:prstGeom>
          <a:noFill/>
        </p:spPr>
        <p:txBody>
          <a:bodyPr wrap="square" rtlCol="0">
            <a:spAutoFit/>
          </a:bodyPr>
          <a:lstStyle/>
          <a:p>
            <a:pPr>
              <a:lnSpc>
                <a:spcPct val="100000"/>
              </a:lnSpc>
              <a:spcBef>
                <a:spcPts val="0"/>
              </a:spcBef>
            </a:pPr>
            <a:r>
              <a:rPr lang="en-US" sz="2000" dirty="0">
                <a:latin typeface="Calibri" pitchFamily="34" charset="0"/>
                <a:cs typeface="Calibri" pitchFamily="34" charset="0"/>
              </a:rPr>
              <a:t>Output</a:t>
            </a:r>
          </a:p>
        </p:txBody>
      </p:sp>
      <p:sp>
        <p:nvSpPr>
          <p:cNvPr id="9" name="object 2">
            <a:extLst>
              <a:ext uri="{FF2B5EF4-FFF2-40B4-BE49-F238E27FC236}">
                <a16:creationId xmlns:a16="http://schemas.microsoft.com/office/drawing/2014/main" id="{2377D4D5-98FD-4098-9431-6F1373C0E52E}"/>
              </a:ext>
            </a:extLst>
          </p:cNvPr>
          <p:cNvSpPr txBox="1">
            <a:spLocks/>
          </p:cNvSpPr>
          <p:nvPr/>
        </p:nvSpPr>
        <p:spPr>
          <a:xfrm>
            <a:off x="383540" y="56641"/>
            <a:ext cx="1934210" cy="574040"/>
          </a:xfrm>
          <a:prstGeom prst="rect">
            <a:avLst/>
          </a:prstGeom>
        </p:spPr>
        <p:txBody>
          <a:bodyPr vert="horz" wrap="square" lIns="0" tIns="12700" rIns="0" bIns="0" rtlCol="0">
            <a:spAutoFit/>
          </a:bodyPr>
          <a:lstStyle>
            <a:lvl1pPr>
              <a:defRPr>
                <a:latin typeface="+mj-lt"/>
                <a:ea typeface="+mj-ea"/>
                <a:cs typeface="+mj-cs"/>
              </a:defRPr>
            </a:lvl1pPr>
          </a:lstStyle>
          <a:p>
            <a:pPr marL="12700">
              <a:spcBef>
                <a:spcPts val="100"/>
              </a:spcBef>
            </a:pPr>
            <a:r>
              <a:rPr lang="en-US" sz="3600" kern="0" spc="285">
                <a:solidFill>
                  <a:schemeClr val="bg1"/>
                </a:solidFill>
                <a:latin typeface="Arial" panose="020B0604020202020204" pitchFamily="34" charset="0"/>
                <a:cs typeface="Arial" panose="020B0604020202020204" pitchFamily="34" charset="0"/>
              </a:rPr>
              <a:t>THROW</a:t>
            </a:r>
            <a:endParaRPr lang="en-US" sz="3600" kern="0">
              <a:solidFill>
                <a:schemeClr val="bg1"/>
              </a:solidFill>
              <a:latin typeface="Arial" panose="020B0604020202020204" pitchFamily="34" charset="0"/>
              <a:cs typeface="Arial" panose="020B0604020202020204" pitchFamily="34" charset="0"/>
            </a:endParaRPr>
          </a:p>
        </p:txBody>
      </p:sp>
      <p:sp>
        <p:nvSpPr>
          <p:cNvPr id="12" name="object 8">
            <a:extLst>
              <a:ext uri="{FF2B5EF4-FFF2-40B4-BE49-F238E27FC236}">
                <a16:creationId xmlns:a16="http://schemas.microsoft.com/office/drawing/2014/main" id="{96FD8768-13C5-477F-A515-EFC65E35E8E8}"/>
              </a:ext>
            </a:extLst>
          </p:cNvPr>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28</a:t>
            </a:fld>
            <a:endParaRPr sz="120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z="4000" spc="-70" dirty="0"/>
              <a:t>Summary</a:t>
            </a:r>
            <a:endParaRPr sz="4000"/>
          </a:p>
        </p:txBody>
      </p:sp>
      <p:sp>
        <p:nvSpPr>
          <p:cNvPr id="5" name="object 5"/>
          <p:cNvSpPr txBox="1"/>
          <p:nvPr/>
        </p:nvSpPr>
        <p:spPr>
          <a:xfrm>
            <a:off x="7882890" y="6569709"/>
            <a:ext cx="934719" cy="256540"/>
          </a:xfrm>
          <a:prstGeom prst="rect">
            <a:avLst/>
          </a:prstGeom>
        </p:spPr>
        <p:txBody>
          <a:bodyPr vert="horz" wrap="square" lIns="0" tIns="18415" rIns="0" bIns="0" rtlCol="0">
            <a:spAutoFit/>
          </a:bodyPr>
          <a:lstStyle/>
          <a:p>
            <a:pPr marL="12700">
              <a:lnSpc>
                <a:spcPct val="100000"/>
              </a:lnSpc>
              <a:spcBef>
                <a:spcPts val="145"/>
              </a:spcBef>
            </a:pPr>
            <a:r>
              <a:rPr sz="1800" spc="-75" baseline="4629" dirty="0">
                <a:latin typeface="Arial"/>
                <a:cs typeface="Arial"/>
              </a:rPr>
              <a:t>Session </a:t>
            </a:r>
            <a:r>
              <a:rPr sz="1800" spc="-179" baseline="4629" dirty="0">
                <a:latin typeface="Arial"/>
                <a:cs typeface="Arial"/>
              </a:rPr>
              <a:t>15/</a:t>
            </a:r>
            <a:r>
              <a:rPr sz="1800" spc="-247" baseline="4629" dirty="0">
                <a:latin typeface="Arial"/>
                <a:cs typeface="Arial"/>
              </a:rPr>
              <a:t> </a:t>
            </a:r>
            <a:fld id="{81D60167-4931-47E6-BA6A-407CBD079E47}" type="slidenum">
              <a:rPr sz="1200" spc="-70" dirty="0">
                <a:latin typeface="Arial"/>
                <a:cs typeface="Arial"/>
              </a:rPr>
              <a:t>29</a:t>
            </a:fld>
            <a:endParaRPr sz="1200">
              <a:latin typeface="Arial"/>
              <a:cs typeface="Arial"/>
            </a:endParaRPr>
          </a:p>
        </p:txBody>
      </p:sp>
      <p:sp>
        <p:nvSpPr>
          <p:cNvPr id="6" name="object 6"/>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40" dirty="0">
                <a:latin typeface="Times New Roman"/>
                <a:cs typeface="Times New Roman"/>
              </a:rPr>
              <a:t>© </a:t>
            </a:r>
            <a:r>
              <a:rPr dirty="0"/>
              <a:t>Aptech</a:t>
            </a:r>
            <a:r>
              <a:rPr spc="-190" dirty="0"/>
              <a:t> </a:t>
            </a:r>
            <a:r>
              <a:rPr spc="-15" dirty="0"/>
              <a:t>Ltd.</a:t>
            </a:r>
          </a:p>
        </p:txBody>
      </p:sp>
      <p:sp>
        <p:nvSpPr>
          <p:cNvPr id="3" name="object 3"/>
          <p:cNvSpPr txBox="1"/>
          <p:nvPr/>
        </p:nvSpPr>
        <p:spPr>
          <a:xfrm>
            <a:off x="345440" y="759205"/>
            <a:ext cx="8454390" cy="5391150"/>
          </a:xfrm>
          <a:prstGeom prst="rect">
            <a:avLst/>
          </a:prstGeom>
        </p:spPr>
        <p:txBody>
          <a:bodyPr vert="horz" wrap="square" lIns="0" tIns="12700" rIns="0" bIns="0" rtlCol="0">
            <a:spAutoFit/>
          </a:bodyPr>
          <a:lstStyle/>
          <a:p>
            <a:pPr marL="353695" marR="5080" indent="-341630" algn="just">
              <a:lnSpc>
                <a:spcPct val="100000"/>
              </a:lnSpc>
              <a:spcBef>
                <a:spcPts val="100"/>
              </a:spcBef>
              <a:buSzPct val="90909"/>
              <a:buFont typeface="Calibri"/>
              <a:buChar char="●"/>
              <a:tabLst>
                <a:tab pos="354330" algn="l"/>
              </a:tabLst>
            </a:pPr>
            <a:r>
              <a:rPr sz="2200" spc="-10" dirty="0">
                <a:latin typeface="Arial"/>
                <a:cs typeface="Arial"/>
              </a:rPr>
              <a:t>Syntax </a:t>
            </a:r>
            <a:r>
              <a:rPr sz="2200" spc="-35" dirty="0">
                <a:latin typeface="Arial"/>
                <a:cs typeface="Arial"/>
              </a:rPr>
              <a:t>errors </a:t>
            </a:r>
            <a:r>
              <a:rPr sz="2200" spc="-105" dirty="0">
                <a:latin typeface="Arial"/>
                <a:cs typeface="Arial"/>
              </a:rPr>
              <a:t>are </a:t>
            </a:r>
            <a:r>
              <a:rPr sz="2200" dirty="0">
                <a:latin typeface="Arial"/>
                <a:cs typeface="Arial"/>
              </a:rPr>
              <a:t>the </a:t>
            </a:r>
            <a:r>
              <a:rPr sz="2200" spc="-30" dirty="0">
                <a:latin typeface="Arial"/>
                <a:cs typeface="Arial"/>
              </a:rPr>
              <a:t>errors </a:t>
            </a:r>
            <a:r>
              <a:rPr sz="2200" spc="30" dirty="0">
                <a:latin typeface="Arial"/>
                <a:cs typeface="Arial"/>
              </a:rPr>
              <a:t>that </a:t>
            </a:r>
            <a:r>
              <a:rPr sz="2200" spc="-20" dirty="0">
                <a:latin typeface="Arial"/>
                <a:cs typeface="Arial"/>
              </a:rPr>
              <a:t>occur </a:t>
            </a:r>
            <a:r>
              <a:rPr sz="2200" dirty="0">
                <a:latin typeface="Arial"/>
                <a:cs typeface="Arial"/>
              </a:rPr>
              <a:t>when </a:t>
            </a:r>
            <a:r>
              <a:rPr sz="2200" spc="-80" dirty="0">
                <a:latin typeface="Arial"/>
                <a:cs typeface="Arial"/>
              </a:rPr>
              <a:t>code </a:t>
            </a:r>
            <a:r>
              <a:rPr sz="2200" spc="-10" dirty="0">
                <a:latin typeface="Arial"/>
                <a:cs typeface="Arial"/>
              </a:rPr>
              <a:t>cannot </a:t>
            </a:r>
            <a:r>
              <a:rPr sz="2200" spc="-110" dirty="0">
                <a:latin typeface="Arial"/>
                <a:cs typeface="Arial"/>
              </a:rPr>
              <a:t>be</a:t>
            </a:r>
            <a:r>
              <a:rPr sz="2200" spc="-320" dirty="0">
                <a:latin typeface="Arial"/>
                <a:cs typeface="Arial"/>
              </a:rPr>
              <a:t> </a:t>
            </a:r>
            <a:r>
              <a:rPr sz="2200" spc="-95" dirty="0">
                <a:latin typeface="Arial"/>
                <a:cs typeface="Arial"/>
              </a:rPr>
              <a:t>parsed  </a:t>
            </a:r>
            <a:r>
              <a:rPr sz="2200" spc="-15" dirty="0">
                <a:latin typeface="Arial"/>
                <a:cs typeface="Arial"/>
              </a:rPr>
              <a:t>by </a:t>
            </a:r>
            <a:r>
              <a:rPr sz="2200" spc="25" dirty="0">
                <a:latin typeface="Arial"/>
                <a:cs typeface="Arial"/>
              </a:rPr>
              <a:t>SQL</a:t>
            </a:r>
            <a:r>
              <a:rPr sz="2200" spc="-295" dirty="0">
                <a:latin typeface="Arial"/>
                <a:cs typeface="Arial"/>
              </a:rPr>
              <a:t> </a:t>
            </a:r>
            <a:r>
              <a:rPr sz="2200" spc="-55" dirty="0">
                <a:latin typeface="Arial"/>
                <a:cs typeface="Arial"/>
              </a:rPr>
              <a:t>Server.</a:t>
            </a:r>
            <a:endParaRPr sz="2200">
              <a:latin typeface="Arial"/>
              <a:cs typeface="Arial"/>
            </a:endParaRPr>
          </a:p>
          <a:p>
            <a:pPr marL="353695" marR="5715" indent="-341630" algn="just">
              <a:lnSpc>
                <a:spcPct val="100000"/>
              </a:lnSpc>
              <a:buSzPct val="90909"/>
              <a:buFont typeface="Calibri"/>
              <a:buChar char="●"/>
              <a:tabLst>
                <a:tab pos="354330" algn="l"/>
              </a:tabLst>
            </a:pPr>
            <a:r>
              <a:rPr sz="2200" spc="20" dirty="0">
                <a:latin typeface="Arial"/>
                <a:cs typeface="Arial"/>
              </a:rPr>
              <a:t>Run-time </a:t>
            </a:r>
            <a:r>
              <a:rPr sz="2200" spc="-35" dirty="0">
                <a:latin typeface="Arial"/>
                <a:cs typeface="Arial"/>
              </a:rPr>
              <a:t>errors </a:t>
            </a:r>
            <a:r>
              <a:rPr sz="2200" spc="-20" dirty="0">
                <a:latin typeface="Arial"/>
                <a:cs typeface="Arial"/>
              </a:rPr>
              <a:t>occur </a:t>
            </a:r>
            <a:r>
              <a:rPr sz="2200" spc="-5" dirty="0">
                <a:latin typeface="Arial"/>
                <a:cs typeface="Arial"/>
              </a:rPr>
              <a:t>when </a:t>
            </a:r>
            <a:r>
              <a:rPr sz="2200" dirty="0">
                <a:latin typeface="Arial"/>
                <a:cs typeface="Arial"/>
              </a:rPr>
              <a:t>the </a:t>
            </a:r>
            <a:r>
              <a:rPr sz="2200" spc="5" dirty="0">
                <a:latin typeface="Arial"/>
                <a:cs typeface="Arial"/>
              </a:rPr>
              <a:t>application </a:t>
            </a:r>
            <a:r>
              <a:rPr sz="2200" spc="-15" dirty="0">
                <a:latin typeface="Arial"/>
                <a:cs typeface="Arial"/>
              </a:rPr>
              <a:t>tries </a:t>
            </a:r>
            <a:r>
              <a:rPr sz="2200" spc="55" dirty="0">
                <a:latin typeface="Arial"/>
                <a:cs typeface="Arial"/>
              </a:rPr>
              <a:t>to </a:t>
            </a:r>
            <a:r>
              <a:rPr sz="2200" spc="15" dirty="0">
                <a:latin typeface="Arial"/>
                <a:cs typeface="Arial"/>
              </a:rPr>
              <a:t>perform </a:t>
            </a:r>
            <a:r>
              <a:rPr sz="2200" spc="-75" dirty="0">
                <a:latin typeface="Arial"/>
                <a:cs typeface="Arial"/>
              </a:rPr>
              <a:t>an  </a:t>
            </a:r>
            <a:r>
              <a:rPr sz="2200" dirty="0">
                <a:latin typeface="Arial"/>
                <a:cs typeface="Arial"/>
              </a:rPr>
              <a:t>action</a:t>
            </a:r>
            <a:r>
              <a:rPr sz="2200" spc="-155" dirty="0">
                <a:latin typeface="Arial"/>
                <a:cs typeface="Arial"/>
              </a:rPr>
              <a:t> </a:t>
            </a:r>
            <a:r>
              <a:rPr sz="2200" spc="30" dirty="0">
                <a:latin typeface="Arial"/>
                <a:cs typeface="Arial"/>
              </a:rPr>
              <a:t>that</a:t>
            </a:r>
            <a:r>
              <a:rPr sz="2200" spc="-135" dirty="0">
                <a:latin typeface="Arial"/>
                <a:cs typeface="Arial"/>
              </a:rPr>
              <a:t> </a:t>
            </a:r>
            <a:r>
              <a:rPr sz="2200" spc="-55" dirty="0">
                <a:latin typeface="Arial"/>
                <a:cs typeface="Arial"/>
              </a:rPr>
              <a:t>is</a:t>
            </a:r>
            <a:r>
              <a:rPr sz="2200" spc="-135" dirty="0">
                <a:latin typeface="Arial"/>
                <a:cs typeface="Arial"/>
              </a:rPr>
              <a:t> </a:t>
            </a:r>
            <a:r>
              <a:rPr sz="2200" spc="-20" dirty="0">
                <a:latin typeface="Arial"/>
                <a:cs typeface="Arial"/>
              </a:rPr>
              <a:t>supported</a:t>
            </a:r>
            <a:r>
              <a:rPr sz="2200" spc="-160" dirty="0">
                <a:latin typeface="Arial"/>
                <a:cs typeface="Arial"/>
              </a:rPr>
              <a:t> </a:t>
            </a:r>
            <a:r>
              <a:rPr sz="2200" spc="15" dirty="0">
                <a:latin typeface="Arial"/>
                <a:cs typeface="Arial"/>
              </a:rPr>
              <a:t>neither</a:t>
            </a:r>
            <a:r>
              <a:rPr sz="2200" spc="-140" dirty="0">
                <a:latin typeface="Arial"/>
                <a:cs typeface="Arial"/>
              </a:rPr>
              <a:t> </a:t>
            </a:r>
            <a:r>
              <a:rPr sz="2200" spc="-15" dirty="0">
                <a:latin typeface="Arial"/>
                <a:cs typeface="Arial"/>
              </a:rPr>
              <a:t>by</a:t>
            </a:r>
            <a:r>
              <a:rPr sz="2200" spc="-140" dirty="0">
                <a:latin typeface="Arial"/>
                <a:cs typeface="Arial"/>
              </a:rPr>
              <a:t> </a:t>
            </a:r>
            <a:r>
              <a:rPr sz="2200" spc="30" dirty="0">
                <a:latin typeface="Arial"/>
                <a:cs typeface="Arial"/>
              </a:rPr>
              <a:t>Microsoft</a:t>
            </a:r>
            <a:r>
              <a:rPr sz="2200" spc="-140" dirty="0">
                <a:latin typeface="Arial"/>
                <a:cs typeface="Arial"/>
              </a:rPr>
              <a:t> </a:t>
            </a:r>
            <a:r>
              <a:rPr sz="2200" spc="25" dirty="0">
                <a:latin typeface="Arial"/>
                <a:cs typeface="Arial"/>
              </a:rPr>
              <a:t>SQL</a:t>
            </a:r>
            <a:r>
              <a:rPr sz="2200" spc="-140" dirty="0">
                <a:latin typeface="Arial"/>
                <a:cs typeface="Arial"/>
              </a:rPr>
              <a:t> </a:t>
            </a:r>
            <a:r>
              <a:rPr sz="2200" spc="-55" dirty="0">
                <a:latin typeface="Arial"/>
                <a:cs typeface="Arial"/>
              </a:rPr>
              <a:t>Server</a:t>
            </a:r>
            <a:r>
              <a:rPr sz="2200" spc="-140" dirty="0">
                <a:latin typeface="Arial"/>
                <a:cs typeface="Arial"/>
              </a:rPr>
              <a:t> </a:t>
            </a:r>
            <a:r>
              <a:rPr sz="2200" spc="50" dirty="0">
                <a:latin typeface="Arial"/>
                <a:cs typeface="Arial"/>
              </a:rPr>
              <a:t>nor</a:t>
            </a:r>
            <a:r>
              <a:rPr sz="2200" spc="-155" dirty="0">
                <a:latin typeface="Arial"/>
                <a:cs typeface="Arial"/>
              </a:rPr>
              <a:t> </a:t>
            </a:r>
            <a:r>
              <a:rPr sz="2200" spc="-15" dirty="0">
                <a:latin typeface="Arial"/>
                <a:cs typeface="Arial"/>
              </a:rPr>
              <a:t>by</a:t>
            </a:r>
            <a:r>
              <a:rPr sz="2200" spc="-145" dirty="0">
                <a:latin typeface="Arial"/>
                <a:cs typeface="Arial"/>
              </a:rPr>
              <a:t> </a:t>
            </a:r>
            <a:r>
              <a:rPr sz="2200" dirty="0">
                <a:latin typeface="Arial"/>
                <a:cs typeface="Arial"/>
              </a:rPr>
              <a:t>the  </a:t>
            </a:r>
            <a:r>
              <a:rPr sz="2200" spc="-15" dirty="0">
                <a:latin typeface="Arial"/>
                <a:cs typeface="Arial"/>
              </a:rPr>
              <a:t>operating</a:t>
            </a:r>
            <a:r>
              <a:rPr sz="2200" spc="-175" dirty="0">
                <a:latin typeface="Arial"/>
                <a:cs typeface="Arial"/>
              </a:rPr>
              <a:t> </a:t>
            </a:r>
            <a:r>
              <a:rPr sz="2200" spc="-85" dirty="0">
                <a:latin typeface="Arial"/>
                <a:cs typeface="Arial"/>
              </a:rPr>
              <a:t>system.</a:t>
            </a:r>
            <a:endParaRPr sz="2200">
              <a:latin typeface="Arial"/>
              <a:cs typeface="Arial"/>
            </a:endParaRPr>
          </a:p>
          <a:p>
            <a:pPr marL="353695" marR="6350" indent="-341630" algn="just">
              <a:lnSpc>
                <a:spcPct val="100000"/>
              </a:lnSpc>
              <a:buSzPct val="90909"/>
              <a:buFont typeface="Calibri"/>
              <a:buChar char="●"/>
              <a:tabLst>
                <a:tab pos="354330" algn="l"/>
              </a:tabLst>
            </a:pPr>
            <a:r>
              <a:rPr sz="2200" spc="85" dirty="0">
                <a:latin typeface="Arial"/>
                <a:cs typeface="Arial"/>
              </a:rPr>
              <a:t>TRY</a:t>
            </a:r>
            <a:r>
              <a:rPr sz="2200" spc="85" dirty="0">
                <a:latin typeface="Times New Roman"/>
                <a:cs typeface="Times New Roman"/>
              </a:rPr>
              <a:t>…</a:t>
            </a:r>
            <a:r>
              <a:rPr sz="2200" spc="85" dirty="0">
                <a:latin typeface="Arial"/>
                <a:cs typeface="Arial"/>
              </a:rPr>
              <a:t>CATCH </a:t>
            </a:r>
            <a:r>
              <a:rPr sz="2200" spc="-65" dirty="0">
                <a:latin typeface="Arial"/>
                <a:cs typeface="Arial"/>
              </a:rPr>
              <a:t>statements</a:t>
            </a:r>
            <a:r>
              <a:rPr sz="2200" spc="480" dirty="0">
                <a:latin typeface="Arial"/>
                <a:cs typeface="Arial"/>
              </a:rPr>
              <a:t> </a:t>
            </a:r>
            <a:r>
              <a:rPr sz="2200" spc="-110" dirty="0">
                <a:latin typeface="Arial"/>
                <a:cs typeface="Arial"/>
              </a:rPr>
              <a:t>are </a:t>
            </a:r>
            <a:r>
              <a:rPr sz="2200" spc="-95" dirty="0">
                <a:latin typeface="Arial"/>
                <a:cs typeface="Arial"/>
              </a:rPr>
              <a:t>used </a:t>
            </a:r>
            <a:r>
              <a:rPr sz="2200" spc="55" dirty="0">
                <a:latin typeface="Arial"/>
                <a:cs typeface="Arial"/>
              </a:rPr>
              <a:t>to </a:t>
            </a:r>
            <a:r>
              <a:rPr sz="2200" spc="-25" dirty="0">
                <a:latin typeface="Arial"/>
                <a:cs typeface="Arial"/>
              </a:rPr>
              <a:t>handle </a:t>
            </a:r>
            <a:r>
              <a:rPr sz="2200" spc="-30" dirty="0">
                <a:latin typeface="Arial"/>
                <a:cs typeface="Arial"/>
              </a:rPr>
              <a:t>exceptions </a:t>
            </a:r>
            <a:r>
              <a:rPr sz="2200" spc="100" dirty="0">
                <a:latin typeface="Arial"/>
                <a:cs typeface="Arial"/>
              </a:rPr>
              <a:t>in  </a:t>
            </a:r>
            <a:r>
              <a:rPr sz="2200" spc="-15" dirty="0">
                <a:latin typeface="Arial"/>
                <a:cs typeface="Arial"/>
              </a:rPr>
              <a:t>Transact-SQL.</a:t>
            </a:r>
            <a:endParaRPr sz="2200">
              <a:latin typeface="Arial"/>
              <a:cs typeface="Arial"/>
            </a:endParaRPr>
          </a:p>
          <a:p>
            <a:pPr marL="353695" marR="5715" indent="-341630" algn="just">
              <a:lnSpc>
                <a:spcPct val="100000"/>
              </a:lnSpc>
              <a:spcBef>
                <a:spcPts val="5"/>
              </a:spcBef>
              <a:buSzPct val="90909"/>
              <a:buFont typeface="Calibri"/>
              <a:buChar char="●"/>
              <a:tabLst>
                <a:tab pos="354330" algn="l"/>
              </a:tabLst>
            </a:pPr>
            <a:r>
              <a:rPr sz="2200" spc="85" dirty="0">
                <a:latin typeface="Arial"/>
                <a:cs typeface="Arial"/>
              </a:rPr>
              <a:t>TRY</a:t>
            </a:r>
            <a:r>
              <a:rPr sz="2200" spc="85" dirty="0">
                <a:latin typeface="Times New Roman"/>
                <a:cs typeface="Times New Roman"/>
              </a:rPr>
              <a:t>…</a:t>
            </a:r>
            <a:r>
              <a:rPr sz="2200" spc="85" dirty="0">
                <a:latin typeface="Arial"/>
                <a:cs typeface="Arial"/>
              </a:rPr>
              <a:t>CATCH </a:t>
            </a:r>
            <a:r>
              <a:rPr sz="2200" spc="-25" dirty="0">
                <a:latin typeface="Arial"/>
                <a:cs typeface="Arial"/>
              </a:rPr>
              <a:t>constructs </a:t>
            </a:r>
            <a:r>
              <a:rPr sz="2200" spc="-80" dirty="0">
                <a:latin typeface="Arial"/>
                <a:cs typeface="Arial"/>
              </a:rPr>
              <a:t>can </a:t>
            </a:r>
            <a:r>
              <a:rPr sz="2200" spc="-90" dirty="0">
                <a:latin typeface="Arial"/>
                <a:cs typeface="Arial"/>
              </a:rPr>
              <a:t>also </a:t>
            </a:r>
            <a:r>
              <a:rPr sz="2200" spc="-45" dirty="0">
                <a:latin typeface="Arial"/>
                <a:cs typeface="Arial"/>
              </a:rPr>
              <a:t>catch </a:t>
            </a:r>
            <a:r>
              <a:rPr sz="2200" spc="-5" dirty="0">
                <a:latin typeface="Arial"/>
                <a:cs typeface="Arial"/>
              </a:rPr>
              <a:t>unhandled </a:t>
            </a:r>
            <a:r>
              <a:rPr sz="2200" spc="-35" dirty="0">
                <a:latin typeface="Arial"/>
                <a:cs typeface="Arial"/>
              </a:rPr>
              <a:t>errors </a:t>
            </a:r>
            <a:r>
              <a:rPr sz="2200" spc="50" dirty="0">
                <a:latin typeface="Arial"/>
                <a:cs typeface="Arial"/>
              </a:rPr>
              <a:t>from  </a:t>
            </a:r>
            <a:r>
              <a:rPr sz="2200" spc="-35" dirty="0">
                <a:latin typeface="Arial"/>
                <a:cs typeface="Arial"/>
              </a:rPr>
              <a:t>triggers </a:t>
            </a:r>
            <a:r>
              <a:rPr sz="2200" spc="35" dirty="0">
                <a:latin typeface="Arial"/>
                <a:cs typeface="Arial"/>
              </a:rPr>
              <a:t>or </a:t>
            </a:r>
            <a:r>
              <a:rPr sz="2200" spc="-35" dirty="0">
                <a:latin typeface="Arial"/>
                <a:cs typeface="Arial"/>
              </a:rPr>
              <a:t>stored </a:t>
            </a:r>
            <a:r>
              <a:rPr sz="2200" spc="-55" dirty="0">
                <a:latin typeface="Arial"/>
                <a:cs typeface="Arial"/>
              </a:rPr>
              <a:t>procedures </a:t>
            </a:r>
            <a:r>
              <a:rPr sz="2200" spc="30" dirty="0">
                <a:latin typeface="Arial"/>
                <a:cs typeface="Arial"/>
              </a:rPr>
              <a:t>that </a:t>
            </a:r>
            <a:r>
              <a:rPr sz="2200" spc="-65" dirty="0">
                <a:latin typeface="Arial"/>
                <a:cs typeface="Arial"/>
              </a:rPr>
              <a:t>execute </a:t>
            </a:r>
            <a:r>
              <a:rPr sz="2200" spc="30" dirty="0">
                <a:latin typeface="Arial"/>
                <a:cs typeface="Arial"/>
              </a:rPr>
              <a:t>through </a:t>
            </a:r>
            <a:r>
              <a:rPr sz="2200" dirty="0">
                <a:latin typeface="Arial"/>
                <a:cs typeface="Arial"/>
              </a:rPr>
              <a:t>the </a:t>
            </a:r>
            <a:r>
              <a:rPr sz="2200" spc="-80" dirty="0">
                <a:latin typeface="Arial"/>
                <a:cs typeface="Arial"/>
              </a:rPr>
              <a:t>code </a:t>
            </a:r>
            <a:r>
              <a:rPr sz="2200" spc="100" dirty="0">
                <a:latin typeface="Arial"/>
                <a:cs typeface="Arial"/>
              </a:rPr>
              <a:t>in </a:t>
            </a:r>
            <a:r>
              <a:rPr sz="2200" spc="-210" dirty="0">
                <a:latin typeface="Arial"/>
                <a:cs typeface="Arial"/>
              </a:rPr>
              <a:t>a  </a:t>
            </a:r>
            <a:r>
              <a:rPr sz="2200" spc="95" dirty="0">
                <a:latin typeface="Arial"/>
                <a:cs typeface="Arial"/>
              </a:rPr>
              <a:t>TRY</a:t>
            </a:r>
            <a:r>
              <a:rPr sz="2200" spc="-170" dirty="0">
                <a:latin typeface="Arial"/>
                <a:cs typeface="Arial"/>
              </a:rPr>
              <a:t> </a:t>
            </a:r>
            <a:r>
              <a:rPr sz="2200" dirty="0">
                <a:latin typeface="Arial"/>
                <a:cs typeface="Arial"/>
              </a:rPr>
              <a:t>block.</a:t>
            </a:r>
            <a:endParaRPr sz="2200">
              <a:latin typeface="Arial"/>
              <a:cs typeface="Arial"/>
            </a:endParaRPr>
          </a:p>
          <a:p>
            <a:pPr marL="353695" marR="5715" indent="-341630" algn="just">
              <a:lnSpc>
                <a:spcPct val="100000"/>
              </a:lnSpc>
              <a:buSzPct val="90909"/>
              <a:buFont typeface="Calibri"/>
              <a:buChar char="●"/>
              <a:tabLst>
                <a:tab pos="354330" algn="l"/>
              </a:tabLst>
            </a:pPr>
            <a:r>
              <a:rPr sz="2200" spc="155" dirty="0">
                <a:latin typeface="Arial"/>
                <a:cs typeface="Arial"/>
              </a:rPr>
              <a:t>GOTO </a:t>
            </a:r>
            <a:r>
              <a:rPr sz="2200" spc="-65" dirty="0">
                <a:latin typeface="Arial"/>
                <a:cs typeface="Arial"/>
              </a:rPr>
              <a:t>statements </a:t>
            </a:r>
            <a:r>
              <a:rPr sz="2200" spc="-80" dirty="0">
                <a:latin typeface="Arial"/>
                <a:cs typeface="Arial"/>
              </a:rPr>
              <a:t>can </a:t>
            </a:r>
            <a:r>
              <a:rPr sz="2200" spc="-110" dirty="0">
                <a:latin typeface="Arial"/>
                <a:cs typeface="Arial"/>
              </a:rPr>
              <a:t>be </a:t>
            </a:r>
            <a:r>
              <a:rPr sz="2200" spc="-95" dirty="0">
                <a:latin typeface="Arial"/>
                <a:cs typeface="Arial"/>
              </a:rPr>
              <a:t>used </a:t>
            </a:r>
            <a:r>
              <a:rPr sz="2200" spc="55" dirty="0">
                <a:latin typeface="Arial"/>
                <a:cs typeface="Arial"/>
              </a:rPr>
              <a:t>to </a:t>
            </a:r>
            <a:r>
              <a:rPr sz="2200" spc="35" dirty="0">
                <a:latin typeface="Arial"/>
                <a:cs typeface="Arial"/>
              </a:rPr>
              <a:t>jump </a:t>
            </a:r>
            <a:r>
              <a:rPr sz="2200" spc="55" dirty="0">
                <a:latin typeface="Arial"/>
                <a:cs typeface="Arial"/>
              </a:rPr>
              <a:t>to </a:t>
            </a:r>
            <a:r>
              <a:rPr sz="2200" spc="-210" dirty="0">
                <a:latin typeface="Arial"/>
                <a:cs typeface="Arial"/>
              </a:rPr>
              <a:t>a </a:t>
            </a:r>
            <a:r>
              <a:rPr sz="2200" spc="-40" dirty="0">
                <a:latin typeface="Arial"/>
                <a:cs typeface="Arial"/>
              </a:rPr>
              <a:t>label </a:t>
            </a:r>
            <a:r>
              <a:rPr sz="2200" spc="-15" dirty="0">
                <a:latin typeface="Arial"/>
                <a:cs typeface="Arial"/>
              </a:rPr>
              <a:t>inside </a:t>
            </a:r>
            <a:r>
              <a:rPr sz="2200" dirty="0">
                <a:latin typeface="Arial"/>
                <a:cs typeface="Arial"/>
              </a:rPr>
              <a:t>the </a:t>
            </a:r>
            <a:r>
              <a:rPr sz="2200" spc="-170" dirty="0">
                <a:latin typeface="Arial"/>
                <a:cs typeface="Arial"/>
              </a:rPr>
              <a:t>same  </a:t>
            </a:r>
            <a:r>
              <a:rPr sz="2200" spc="90" dirty="0">
                <a:latin typeface="Arial"/>
                <a:cs typeface="Arial"/>
              </a:rPr>
              <a:t>TRY</a:t>
            </a:r>
            <a:r>
              <a:rPr sz="2200" spc="90" dirty="0">
                <a:latin typeface="Times New Roman"/>
                <a:cs typeface="Times New Roman"/>
              </a:rPr>
              <a:t>…</a:t>
            </a:r>
            <a:r>
              <a:rPr sz="2200" spc="90" dirty="0">
                <a:latin typeface="Arial"/>
                <a:cs typeface="Arial"/>
              </a:rPr>
              <a:t>CATCH</a:t>
            </a:r>
            <a:r>
              <a:rPr sz="2200" spc="-170" dirty="0">
                <a:latin typeface="Arial"/>
                <a:cs typeface="Arial"/>
              </a:rPr>
              <a:t> </a:t>
            </a:r>
            <a:r>
              <a:rPr sz="2200" spc="15" dirty="0">
                <a:latin typeface="Arial"/>
                <a:cs typeface="Arial"/>
              </a:rPr>
              <a:t>block</a:t>
            </a:r>
            <a:r>
              <a:rPr sz="2200" spc="-155" dirty="0">
                <a:latin typeface="Arial"/>
                <a:cs typeface="Arial"/>
              </a:rPr>
              <a:t> </a:t>
            </a:r>
            <a:r>
              <a:rPr sz="2200" spc="35" dirty="0">
                <a:latin typeface="Arial"/>
                <a:cs typeface="Arial"/>
              </a:rPr>
              <a:t>or</a:t>
            </a:r>
            <a:r>
              <a:rPr sz="2200" spc="-160" dirty="0">
                <a:latin typeface="Arial"/>
                <a:cs typeface="Arial"/>
              </a:rPr>
              <a:t> </a:t>
            </a:r>
            <a:r>
              <a:rPr sz="2200" spc="60" dirty="0">
                <a:latin typeface="Arial"/>
                <a:cs typeface="Arial"/>
              </a:rPr>
              <a:t>to</a:t>
            </a:r>
            <a:r>
              <a:rPr sz="2200" spc="-160" dirty="0">
                <a:latin typeface="Arial"/>
                <a:cs typeface="Arial"/>
              </a:rPr>
              <a:t> </a:t>
            </a:r>
            <a:r>
              <a:rPr sz="2200" spc="-90" dirty="0">
                <a:latin typeface="Arial"/>
                <a:cs typeface="Arial"/>
              </a:rPr>
              <a:t>leave</a:t>
            </a:r>
            <a:r>
              <a:rPr sz="2200" spc="-160" dirty="0">
                <a:latin typeface="Arial"/>
                <a:cs typeface="Arial"/>
              </a:rPr>
              <a:t> </a:t>
            </a:r>
            <a:r>
              <a:rPr sz="2200" spc="-210" dirty="0">
                <a:latin typeface="Arial"/>
                <a:cs typeface="Arial"/>
              </a:rPr>
              <a:t>a</a:t>
            </a:r>
            <a:r>
              <a:rPr sz="2200" spc="-155" dirty="0">
                <a:latin typeface="Arial"/>
                <a:cs typeface="Arial"/>
              </a:rPr>
              <a:t> </a:t>
            </a:r>
            <a:r>
              <a:rPr sz="2200" spc="90" dirty="0">
                <a:latin typeface="Arial"/>
                <a:cs typeface="Arial"/>
              </a:rPr>
              <a:t>TRY</a:t>
            </a:r>
            <a:r>
              <a:rPr sz="2200" spc="90" dirty="0">
                <a:latin typeface="Times New Roman"/>
                <a:cs typeface="Times New Roman"/>
              </a:rPr>
              <a:t>…</a:t>
            </a:r>
            <a:r>
              <a:rPr sz="2200" spc="90" dirty="0">
                <a:latin typeface="Arial"/>
                <a:cs typeface="Arial"/>
              </a:rPr>
              <a:t>CATCH</a:t>
            </a:r>
            <a:r>
              <a:rPr sz="2200" spc="-175" dirty="0">
                <a:latin typeface="Arial"/>
                <a:cs typeface="Arial"/>
              </a:rPr>
              <a:t> </a:t>
            </a:r>
            <a:r>
              <a:rPr sz="2200" dirty="0">
                <a:latin typeface="Arial"/>
                <a:cs typeface="Arial"/>
              </a:rPr>
              <a:t>block.</a:t>
            </a:r>
            <a:endParaRPr sz="2200">
              <a:latin typeface="Arial"/>
              <a:cs typeface="Arial"/>
            </a:endParaRPr>
          </a:p>
          <a:p>
            <a:pPr marL="353695" marR="6350" indent="-341630" algn="just">
              <a:lnSpc>
                <a:spcPct val="100000"/>
              </a:lnSpc>
              <a:buSzPct val="90909"/>
              <a:buFont typeface="Calibri"/>
              <a:buChar char="●"/>
              <a:tabLst>
                <a:tab pos="354330" algn="l"/>
              </a:tabLst>
            </a:pPr>
            <a:r>
              <a:rPr sz="2200" spc="10" dirty="0">
                <a:latin typeface="Arial"/>
                <a:cs typeface="Arial"/>
              </a:rPr>
              <a:t>Various </a:t>
            </a:r>
            <a:r>
              <a:rPr sz="2200" spc="-90" dirty="0">
                <a:latin typeface="Arial"/>
                <a:cs typeface="Arial"/>
              </a:rPr>
              <a:t>system </a:t>
            </a:r>
            <a:r>
              <a:rPr sz="2200" spc="25" dirty="0">
                <a:latin typeface="Arial"/>
                <a:cs typeface="Arial"/>
              </a:rPr>
              <a:t>functions </a:t>
            </a:r>
            <a:r>
              <a:rPr sz="2200" spc="-105" dirty="0">
                <a:latin typeface="Arial"/>
                <a:cs typeface="Arial"/>
              </a:rPr>
              <a:t>are </a:t>
            </a:r>
            <a:r>
              <a:rPr sz="2200" spc="-50" dirty="0">
                <a:latin typeface="Arial"/>
                <a:cs typeface="Arial"/>
              </a:rPr>
              <a:t>available </a:t>
            </a:r>
            <a:r>
              <a:rPr sz="2200" spc="100" dirty="0">
                <a:latin typeface="Arial"/>
                <a:cs typeface="Arial"/>
              </a:rPr>
              <a:t>in </a:t>
            </a:r>
            <a:r>
              <a:rPr sz="2200" spc="-15" dirty="0">
                <a:latin typeface="Arial"/>
                <a:cs typeface="Arial"/>
              </a:rPr>
              <a:t>Transact-SQL </a:t>
            </a:r>
            <a:r>
              <a:rPr sz="2200" spc="55" dirty="0">
                <a:latin typeface="Arial"/>
                <a:cs typeface="Arial"/>
              </a:rPr>
              <a:t>to </a:t>
            </a:r>
            <a:r>
              <a:rPr sz="2200" spc="85" dirty="0">
                <a:latin typeface="Arial"/>
                <a:cs typeface="Arial"/>
              </a:rPr>
              <a:t>print  </a:t>
            </a:r>
            <a:r>
              <a:rPr sz="2200" spc="10" dirty="0">
                <a:latin typeface="Arial"/>
                <a:cs typeface="Arial"/>
              </a:rPr>
              <a:t>error</a:t>
            </a:r>
            <a:r>
              <a:rPr sz="2200" spc="-165" dirty="0">
                <a:latin typeface="Arial"/>
                <a:cs typeface="Arial"/>
              </a:rPr>
              <a:t> </a:t>
            </a:r>
            <a:r>
              <a:rPr sz="2200" spc="50" dirty="0">
                <a:latin typeface="Arial"/>
                <a:cs typeface="Arial"/>
              </a:rPr>
              <a:t>information</a:t>
            </a:r>
            <a:r>
              <a:rPr sz="2200" spc="-165" dirty="0">
                <a:latin typeface="Arial"/>
                <a:cs typeface="Arial"/>
              </a:rPr>
              <a:t> </a:t>
            </a:r>
            <a:r>
              <a:rPr sz="2200" spc="-15" dirty="0">
                <a:latin typeface="Arial"/>
                <a:cs typeface="Arial"/>
              </a:rPr>
              <a:t>about</a:t>
            </a:r>
            <a:r>
              <a:rPr sz="2200" spc="-180" dirty="0">
                <a:latin typeface="Arial"/>
                <a:cs typeface="Arial"/>
              </a:rPr>
              <a:t> </a:t>
            </a:r>
            <a:r>
              <a:rPr sz="2200" spc="5" dirty="0">
                <a:latin typeface="Arial"/>
                <a:cs typeface="Arial"/>
              </a:rPr>
              <a:t>the</a:t>
            </a:r>
            <a:r>
              <a:rPr sz="2200" spc="-165" dirty="0">
                <a:latin typeface="Arial"/>
                <a:cs typeface="Arial"/>
              </a:rPr>
              <a:t> </a:t>
            </a:r>
            <a:r>
              <a:rPr sz="2200" spc="10" dirty="0">
                <a:latin typeface="Arial"/>
                <a:cs typeface="Arial"/>
              </a:rPr>
              <a:t>error</a:t>
            </a:r>
            <a:r>
              <a:rPr sz="2200" spc="-160" dirty="0">
                <a:latin typeface="Arial"/>
                <a:cs typeface="Arial"/>
              </a:rPr>
              <a:t> </a:t>
            </a:r>
            <a:r>
              <a:rPr sz="2200" spc="35" dirty="0">
                <a:latin typeface="Arial"/>
                <a:cs typeface="Arial"/>
              </a:rPr>
              <a:t>that</a:t>
            </a:r>
            <a:r>
              <a:rPr sz="2200" spc="-170" dirty="0">
                <a:latin typeface="Arial"/>
                <a:cs typeface="Arial"/>
              </a:rPr>
              <a:t> </a:t>
            </a:r>
            <a:r>
              <a:rPr sz="2200" spc="-30" dirty="0">
                <a:latin typeface="Arial"/>
                <a:cs typeface="Arial"/>
              </a:rPr>
              <a:t>occurred.</a:t>
            </a:r>
            <a:endParaRPr sz="2200">
              <a:latin typeface="Arial"/>
              <a:cs typeface="Arial"/>
            </a:endParaRPr>
          </a:p>
          <a:p>
            <a:pPr marL="353695" marR="5715" indent="-341630" algn="just">
              <a:lnSpc>
                <a:spcPct val="100000"/>
              </a:lnSpc>
              <a:buSzPct val="90909"/>
              <a:buFont typeface="Calibri"/>
              <a:buChar char="●"/>
              <a:tabLst>
                <a:tab pos="354330" algn="l"/>
              </a:tabLst>
            </a:pPr>
            <a:r>
              <a:rPr sz="2200" spc="25" dirty="0">
                <a:latin typeface="Arial"/>
                <a:cs typeface="Arial"/>
              </a:rPr>
              <a:t>The RAISERROR </a:t>
            </a:r>
            <a:r>
              <a:rPr sz="2200" spc="-40" dirty="0">
                <a:latin typeface="Arial"/>
                <a:cs typeface="Arial"/>
              </a:rPr>
              <a:t>statement </a:t>
            </a:r>
            <a:r>
              <a:rPr sz="2200" spc="-55" dirty="0">
                <a:latin typeface="Arial"/>
                <a:cs typeface="Arial"/>
              </a:rPr>
              <a:t>is </a:t>
            </a:r>
            <a:r>
              <a:rPr sz="2200" spc="-95" dirty="0">
                <a:latin typeface="Arial"/>
                <a:cs typeface="Arial"/>
              </a:rPr>
              <a:t>used </a:t>
            </a:r>
            <a:r>
              <a:rPr sz="2200" spc="55" dirty="0">
                <a:latin typeface="Arial"/>
                <a:cs typeface="Arial"/>
              </a:rPr>
              <a:t>to </a:t>
            </a:r>
            <a:r>
              <a:rPr sz="2200" spc="-20" dirty="0">
                <a:latin typeface="Arial"/>
                <a:cs typeface="Arial"/>
              </a:rPr>
              <a:t>start </a:t>
            </a:r>
            <a:r>
              <a:rPr sz="2200" dirty="0">
                <a:latin typeface="Arial"/>
                <a:cs typeface="Arial"/>
              </a:rPr>
              <a:t>the </a:t>
            </a:r>
            <a:r>
              <a:rPr sz="2200" spc="10" dirty="0">
                <a:latin typeface="Arial"/>
                <a:cs typeface="Arial"/>
              </a:rPr>
              <a:t>error </a:t>
            </a:r>
            <a:r>
              <a:rPr sz="2200" spc="-65" dirty="0">
                <a:latin typeface="Arial"/>
                <a:cs typeface="Arial"/>
              </a:rPr>
              <a:t>processing  </a:t>
            </a:r>
            <a:r>
              <a:rPr sz="2200" spc="70" dirty="0">
                <a:latin typeface="Arial"/>
                <a:cs typeface="Arial"/>
              </a:rPr>
              <a:t>for</a:t>
            </a:r>
            <a:r>
              <a:rPr sz="2200" spc="-155" dirty="0">
                <a:latin typeface="Arial"/>
                <a:cs typeface="Arial"/>
              </a:rPr>
              <a:t> </a:t>
            </a:r>
            <a:r>
              <a:rPr sz="2200" spc="-210" dirty="0">
                <a:latin typeface="Arial"/>
                <a:cs typeface="Arial"/>
              </a:rPr>
              <a:t>a</a:t>
            </a:r>
            <a:r>
              <a:rPr sz="2200" spc="-155" dirty="0">
                <a:latin typeface="Arial"/>
                <a:cs typeface="Arial"/>
              </a:rPr>
              <a:t> </a:t>
            </a:r>
            <a:r>
              <a:rPr sz="2200" spc="-105" dirty="0">
                <a:latin typeface="Arial"/>
                <a:cs typeface="Arial"/>
              </a:rPr>
              <a:t>session</a:t>
            </a:r>
            <a:r>
              <a:rPr sz="2200" spc="-165" dirty="0">
                <a:latin typeface="Arial"/>
                <a:cs typeface="Arial"/>
              </a:rPr>
              <a:t> </a:t>
            </a:r>
            <a:r>
              <a:rPr sz="2200" spc="-40" dirty="0">
                <a:latin typeface="Arial"/>
                <a:cs typeface="Arial"/>
              </a:rPr>
              <a:t>and</a:t>
            </a:r>
            <a:r>
              <a:rPr sz="2200" spc="-165" dirty="0">
                <a:latin typeface="Arial"/>
                <a:cs typeface="Arial"/>
              </a:rPr>
              <a:t> </a:t>
            </a:r>
            <a:r>
              <a:rPr sz="2200" spc="-50" dirty="0">
                <a:latin typeface="Arial"/>
                <a:cs typeface="Arial"/>
              </a:rPr>
              <a:t>displays</a:t>
            </a:r>
            <a:r>
              <a:rPr sz="2200" spc="-160" dirty="0">
                <a:latin typeface="Arial"/>
                <a:cs typeface="Arial"/>
              </a:rPr>
              <a:t> </a:t>
            </a:r>
            <a:r>
              <a:rPr sz="2200" spc="-70" dirty="0">
                <a:latin typeface="Arial"/>
                <a:cs typeface="Arial"/>
              </a:rPr>
              <a:t>an</a:t>
            </a:r>
            <a:r>
              <a:rPr sz="2200" spc="-155" dirty="0">
                <a:latin typeface="Arial"/>
                <a:cs typeface="Arial"/>
              </a:rPr>
              <a:t> </a:t>
            </a:r>
            <a:r>
              <a:rPr sz="2200" spc="10" dirty="0">
                <a:latin typeface="Arial"/>
                <a:cs typeface="Arial"/>
              </a:rPr>
              <a:t>error</a:t>
            </a:r>
            <a:r>
              <a:rPr sz="2200" spc="-155" dirty="0">
                <a:latin typeface="Arial"/>
                <a:cs typeface="Arial"/>
              </a:rPr>
              <a:t> </a:t>
            </a:r>
            <a:r>
              <a:rPr sz="2200" spc="-165" dirty="0">
                <a:latin typeface="Arial"/>
                <a:cs typeface="Arial"/>
              </a:rPr>
              <a:t>message.</a:t>
            </a:r>
            <a:endParaRPr sz="22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364</TotalTime>
  <Words>4806</Words>
  <Application>Microsoft Office PowerPoint</Application>
  <PresentationFormat>On-screen Show (4:3)</PresentationFormat>
  <Paragraphs>448</Paragraphs>
  <Slides>29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Book Antiqua</vt:lpstr>
      <vt:lpstr>Calibri</vt:lpstr>
      <vt:lpstr>Courier New</vt:lpstr>
      <vt:lpstr>Palatino Linotype</vt:lpstr>
      <vt:lpstr>Segoe UI Symbol</vt:lpstr>
      <vt:lpstr>Times New Roman</vt:lpstr>
      <vt:lpstr>Wingdings</vt:lpstr>
      <vt:lpstr>Office Theme</vt:lpstr>
      <vt:lpstr>Intelligent Data Management with  SQL Server</vt:lpstr>
      <vt:lpstr>Objectives</vt:lpstr>
      <vt:lpstr>Introduction</vt:lpstr>
      <vt:lpstr>Types of Errors 1-5</vt:lpstr>
      <vt:lpstr>Types of Errors 2-5</vt:lpstr>
      <vt:lpstr>Types of Errors 3-5</vt:lpstr>
      <vt:lpstr>Types of Errors 4-5</vt:lpstr>
      <vt:lpstr>Types of Errors 5-5</vt:lpstr>
      <vt:lpstr>Implementing Error Handling</vt:lpstr>
      <vt:lpstr>TRY…CATCH</vt:lpstr>
      <vt:lpstr>Information 1-4</vt:lpstr>
      <vt:lpstr>PowerPoint Presentation</vt:lpstr>
      <vt:lpstr>Information 3-4</vt:lpstr>
      <vt:lpstr>Information 4-4</vt:lpstr>
      <vt:lpstr>@@ERROR</vt:lpstr>
      <vt:lpstr>RAISERROR</vt:lpstr>
      <vt:lpstr>ERROR_STATE</vt:lpstr>
      <vt:lpstr>ERROR_SEVERITY</vt:lpstr>
      <vt:lpstr>ERROR_PROCEDURE</vt:lpstr>
      <vt:lpstr>PowerPoint Presentation</vt:lpstr>
      <vt:lpstr>ERROR_NUMBER</vt:lpstr>
      <vt:lpstr>ERROR_MESSAGE</vt:lpstr>
      <vt:lpstr>ERROR_LINE</vt:lpstr>
      <vt:lpstr>Errors Unaffected by the TRY...CATCH Construct 1-3</vt:lpstr>
      <vt:lpstr>Errors Unaffected by the TRY...CATCH Construct 2-3</vt:lpstr>
      <vt:lpstr>PowerPoint Presentation</vt:lpstr>
      <vt:lpstr>THROW</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190</cp:revision>
  <dcterms:created xsi:type="dcterms:W3CDTF">2021-10-11T16:12:04Z</dcterms:created>
  <dcterms:modified xsi:type="dcterms:W3CDTF">2021-10-29T04:06:20Z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