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435" r:id="rId22"/>
    <p:sldId id="436"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444" r:id="rId41"/>
    <p:sldId id="293" r:id="rId42"/>
    <p:sldId id="437" r:id="rId43"/>
    <p:sldId id="294" r:id="rId4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875" autoAdjust="0"/>
  </p:normalViewPr>
  <p:slideViewPr>
    <p:cSldViewPr>
      <p:cViewPr>
        <p:scale>
          <a:sx n="60" d="100"/>
          <a:sy n="60" d="100"/>
        </p:scale>
        <p:origin x="2098" y="16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A89789-FE25-405B-BAB9-777029668804}" type="datetimeFigureOut">
              <a:rPr lang="en-US" smtClean="0"/>
              <a:t>10/23/2021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2834DB6-5E5A-42EF-9A9D-B6FA119DD487}" type="slidenum">
              <a:rPr lang="en-US" smtClean="0"/>
              <a:t>‹#›</a:t>
            </a:fld>
            <a:endParaRPr lang="en-US"/>
          </a:p>
        </p:txBody>
      </p:sp>
    </p:spTree>
    <p:extLst>
      <p:ext uri="{BB962C8B-B14F-4D97-AF65-F5344CB8AC3E}">
        <p14:creationId xmlns:p14="http://schemas.microsoft.com/office/powerpoint/2010/main" val="1140174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11: Chỉ mục</a:t>
            </a:r>
          </a:p>
          <a:p>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1</a:t>
            </a:fld>
            <a:endParaRPr lang="en-US"/>
          </a:p>
        </p:txBody>
      </p:sp>
    </p:spTree>
    <p:extLst>
      <p:ext uri="{BB962C8B-B14F-4D97-AF65-F5344CB8AC3E}">
        <p14:creationId xmlns:p14="http://schemas.microsoft.com/office/powerpoint/2010/main" val="4261556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b="0"/>
              <a:t>Định nghĩa </a:t>
            </a:r>
            <a:r>
              <a:rPr lang="vi-VN" b="0"/>
              <a:t>và giải thích các chỉ mục</a:t>
            </a:r>
          </a:p>
          <a:p>
            <a:pPr marL="171450" indent="-171450">
              <a:buFont typeface="Arial" panose="020B0604020202020204" pitchFamily="34" charset="0"/>
              <a:buChar char="•"/>
            </a:pPr>
            <a:r>
              <a:rPr lang="vi-VN" b="0"/>
              <a:t>Giải thích cấu trúc lưu trữ</a:t>
            </a:r>
          </a:p>
          <a:p>
            <a:pPr marL="171450" indent="-171450">
              <a:buFont typeface="Arial" panose="020B0604020202020204" pitchFamily="34" charset="0"/>
              <a:buChar char="•"/>
            </a:pPr>
            <a:r>
              <a:rPr lang="vi-VN" b="0"/>
              <a:t>Giải thích các </a:t>
            </a:r>
            <a:r>
              <a:rPr lang="en-US" b="0"/>
              <a:t>kiểu</a:t>
            </a:r>
            <a:r>
              <a:rPr lang="vi-VN" b="0"/>
              <a:t> chỉ </a:t>
            </a:r>
            <a:r>
              <a:rPr lang="en-US" b="0"/>
              <a:t>mục</a:t>
            </a:r>
            <a:endParaRPr lang="vi-VN" b="0"/>
          </a:p>
          <a:p>
            <a:pPr marL="171450" indent="-171450">
              <a:buFont typeface="Arial" panose="020B0604020202020204" pitchFamily="34" charset="0"/>
              <a:buChar char="•"/>
            </a:pPr>
            <a:r>
              <a:rPr lang="vi-VN" b="0"/>
              <a:t>Hiểu quản lý chỉ </a:t>
            </a:r>
            <a:r>
              <a:rPr lang="en-US" b="0"/>
              <a:t>mục</a:t>
            </a:r>
          </a:p>
        </p:txBody>
      </p:sp>
      <p:sp>
        <p:nvSpPr>
          <p:cNvPr id="4" name="Slide Number Placeholder 3"/>
          <p:cNvSpPr>
            <a:spLocks noGrp="1"/>
          </p:cNvSpPr>
          <p:nvPr>
            <p:ph type="sldNum" sz="quarter" idx="5"/>
          </p:nvPr>
        </p:nvSpPr>
        <p:spPr/>
        <p:txBody>
          <a:bodyPr/>
          <a:lstStyle/>
          <a:p>
            <a:fld id="{02834DB6-5E5A-42EF-9A9D-B6FA119DD487}" type="slidenum">
              <a:rPr lang="en-US" smtClean="0"/>
              <a:t>2</a:t>
            </a:fld>
            <a:endParaRPr lang="en-US"/>
          </a:p>
        </p:txBody>
      </p:sp>
    </p:spTree>
    <p:extLst>
      <p:ext uri="{BB962C8B-B14F-4D97-AF65-F5344CB8AC3E}">
        <p14:creationId xmlns:p14="http://schemas.microsoft.com/office/powerpoint/2010/main" val="4218748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 1-2</a:t>
            </a:r>
          </a:p>
          <a:p>
            <a:pPr marL="171450" indent="-171450">
              <a:buFont typeface="Arial" panose="020B0604020202020204" pitchFamily="34" charset="0"/>
              <a:buChar char="•"/>
            </a:pPr>
            <a:r>
              <a:rPr lang="vi-VN" b="0"/>
              <a:t>Các chỉ mục là các cấu trúc dữ liệu đặc biệt được liên kết với các bảng hoặc </a:t>
            </a:r>
            <a:r>
              <a:rPr lang="en-US" b="0"/>
              <a:t>chỉ mục </a:t>
            </a:r>
            <a:r>
              <a:rPr lang="vi-VN" b="0"/>
              <a:t>giúp tăng tốc truy vấn.</a:t>
            </a:r>
            <a:endParaRPr lang="en-US" b="0"/>
          </a:p>
          <a:p>
            <a:pPr marL="171450" indent="-171450">
              <a:buFont typeface="Arial" panose="020B0604020202020204" pitchFamily="34" charset="0"/>
              <a:buChar char="•"/>
            </a:pPr>
            <a:r>
              <a:rPr lang="en-US" b="1"/>
              <a:t>Kiểu chỉ mục:</a:t>
            </a:r>
          </a:p>
          <a:p>
            <a:pPr marL="696595" lvl="1" indent="-171450">
              <a:lnSpc>
                <a:spcPts val="1290"/>
              </a:lnSpc>
              <a:buFont typeface="Arial" panose="020B0604020202020204" pitchFamily="34" charset="0"/>
              <a:buChar char="•"/>
            </a:pPr>
            <a:r>
              <a:rPr lang="en-US" sz="1200" b="1">
                <a:latin typeface="Arial"/>
                <a:cs typeface="Arial"/>
              </a:rPr>
              <a:t>Clustered: </a:t>
            </a:r>
            <a:r>
              <a:rPr lang="vi-VN" sz="1200" b="0">
                <a:latin typeface="Arial"/>
                <a:cs typeface="Arial"/>
              </a:rPr>
              <a:t>Nó sắp xếp và lưu trữ các hàng dữ liệu của một bảng hoặc </a:t>
            </a:r>
            <a:r>
              <a:rPr lang="en-US" sz="1200" b="0">
                <a:latin typeface="Arial"/>
                <a:cs typeface="Arial"/>
              </a:rPr>
              <a:t>khung nhìn</a:t>
            </a:r>
            <a:r>
              <a:rPr lang="vi-VN" sz="1200" b="0">
                <a:latin typeface="Arial"/>
                <a:cs typeface="Arial"/>
              </a:rPr>
              <a:t> theo thứ tự dựa trên khóa </a:t>
            </a:r>
            <a:r>
              <a:rPr lang="en-US" sz="1200" spc="-5">
                <a:latin typeface="Arial"/>
                <a:cs typeface="Arial"/>
              </a:rPr>
              <a:t>clustered</a:t>
            </a:r>
            <a:r>
              <a:rPr lang="en-US" sz="1200" spc="150">
                <a:latin typeface="Arial"/>
                <a:cs typeface="Arial"/>
              </a:rPr>
              <a:t> </a:t>
            </a:r>
            <a:r>
              <a:rPr lang="en-US" sz="1200" spc="-5">
                <a:latin typeface="Arial"/>
                <a:cs typeface="Arial"/>
              </a:rPr>
              <a:t>index</a:t>
            </a:r>
            <a:r>
              <a:rPr lang="vi-VN" sz="1200" b="0">
                <a:latin typeface="Arial"/>
                <a:cs typeface="Arial"/>
              </a:rPr>
              <a:t>. </a:t>
            </a:r>
            <a:r>
              <a:rPr lang="en-US" sz="1200" spc="-5">
                <a:latin typeface="Arial"/>
                <a:cs typeface="Arial"/>
              </a:rPr>
              <a:t>Clustered</a:t>
            </a:r>
            <a:r>
              <a:rPr lang="en-US" sz="1200" spc="0">
                <a:latin typeface="Arial"/>
                <a:cs typeface="Arial"/>
              </a:rPr>
              <a:t> </a:t>
            </a:r>
            <a:r>
              <a:rPr lang="en-US" sz="1200" spc="-5">
                <a:latin typeface="Arial"/>
                <a:cs typeface="Arial"/>
              </a:rPr>
              <a:t>index </a:t>
            </a:r>
            <a:r>
              <a:rPr lang="vi-VN" sz="1200" b="0">
                <a:latin typeface="Arial"/>
                <a:cs typeface="Arial"/>
              </a:rPr>
              <a:t>được thực hiện dưới dạng cấu trúc chỉ </a:t>
            </a:r>
            <a:r>
              <a:rPr lang="en-US" sz="1200" b="0">
                <a:latin typeface="Arial"/>
                <a:cs typeface="Arial"/>
              </a:rPr>
              <a:t>mục</a:t>
            </a:r>
            <a:r>
              <a:rPr lang="vi-VN" sz="1200" b="0">
                <a:latin typeface="Arial"/>
                <a:cs typeface="Arial"/>
              </a:rPr>
              <a:t> </a:t>
            </a:r>
            <a:r>
              <a:rPr lang="en-US" sz="1200" b="0">
                <a:latin typeface="Arial"/>
                <a:cs typeface="Arial"/>
              </a:rPr>
              <a:t>B-tree</a:t>
            </a:r>
            <a:r>
              <a:rPr lang="en-US" sz="1200" b="1">
                <a:latin typeface="Arial"/>
                <a:cs typeface="Arial"/>
              </a:rPr>
              <a:t> </a:t>
            </a:r>
            <a:r>
              <a:rPr lang="vi-VN" sz="1200" b="0">
                <a:latin typeface="Arial"/>
                <a:cs typeface="Arial"/>
              </a:rPr>
              <a:t>hỗ trợ truy xuất nhanh các hàng, dựa trên các giá trị khóa </a:t>
            </a:r>
            <a:r>
              <a:rPr lang="en-US" sz="1200" spc="-5">
                <a:latin typeface="Arial"/>
                <a:cs typeface="Arial"/>
              </a:rPr>
              <a:t>clustered</a:t>
            </a:r>
            <a:r>
              <a:rPr lang="en-US" sz="1200" spc="0">
                <a:latin typeface="Arial"/>
                <a:cs typeface="Arial"/>
              </a:rPr>
              <a:t> </a:t>
            </a:r>
            <a:r>
              <a:rPr lang="en-US" sz="1200" spc="-5">
                <a:latin typeface="Arial"/>
                <a:cs typeface="Arial"/>
              </a:rPr>
              <a:t>index </a:t>
            </a:r>
            <a:r>
              <a:rPr lang="vi-VN" sz="1200" b="0">
                <a:latin typeface="Arial"/>
                <a:cs typeface="Arial"/>
              </a:rPr>
              <a:t>của chúng.</a:t>
            </a:r>
            <a:endParaRPr lang="en-US" sz="1200" b="0">
              <a:latin typeface="Arial"/>
              <a:cs typeface="Arial"/>
            </a:endParaRPr>
          </a:p>
          <a:p>
            <a:pPr marL="696595" marR="0" lvl="1" indent="-171450" algn="l" defTabSz="914400" rtl="0" eaLnBrk="1" fontAlgn="auto" latinLnBrk="0" hangingPunct="1">
              <a:lnSpc>
                <a:spcPts val="1290"/>
              </a:lnSpc>
              <a:spcBef>
                <a:spcPts val="0"/>
              </a:spcBef>
              <a:spcAft>
                <a:spcPts val="0"/>
              </a:spcAft>
              <a:buClrTx/>
              <a:buSzTx/>
              <a:buFont typeface="Arial" panose="020B0604020202020204" pitchFamily="34" charset="0"/>
              <a:buChar char="•"/>
              <a:tabLst/>
              <a:defRPr/>
            </a:pPr>
            <a:r>
              <a:rPr lang="en-US" sz="1200" b="1">
                <a:latin typeface="Arial"/>
                <a:cs typeface="Arial"/>
              </a:rPr>
              <a:t>Nonclustered: </a:t>
            </a:r>
            <a:r>
              <a:rPr lang="vi-VN" sz="1200" b="0">
                <a:latin typeface="Arial"/>
                <a:cs typeface="Arial"/>
              </a:rPr>
              <a:t>Chỉ mục </a:t>
            </a:r>
            <a:r>
              <a:rPr lang="en-US" sz="1200" spc="-5">
                <a:latin typeface="Arial"/>
                <a:cs typeface="Arial"/>
              </a:rPr>
              <a:t>Non-clustered </a:t>
            </a:r>
            <a:r>
              <a:rPr lang="vi-VN" sz="1200" b="0">
                <a:latin typeface="Arial"/>
                <a:cs typeface="Arial"/>
              </a:rPr>
              <a:t>được định </a:t>
            </a:r>
            <a:r>
              <a:rPr lang="en-US" sz="1200" b="0">
                <a:latin typeface="Arial"/>
                <a:cs typeface="Arial"/>
              </a:rPr>
              <a:t>nghĩa </a:t>
            </a:r>
            <a:r>
              <a:rPr lang="vi-VN" sz="1200" b="0">
                <a:latin typeface="Arial"/>
                <a:cs typeface="Arial"/>
              </a:rPr>
              <a:t>trên một bảng hoặc </a:t>
            </a:r>
            <a:r>
              <a:rPr lang="en-US" sz="1200" b="0">
                <a:latin typeface="Arial"/>
                <a:cs typeface="Arial"/>
              </a:rPr>
              <a:t>khung nhìn </a:t>
            </a:r>
            <a:r>
              <a:rPr lang="vi-VN" sz="1200" b="0">
                <a:latin typeface="Arial"/>
                <a:cs typeface="Arial"/>
              </a:rPr>
              <a:t>có dữ liệu trong một cấu trúc cụm hoặc trên một heap. Mỗi hàng chỉ mục trong chỉ mục </a:t>
            </a:r>
            <a:r>
              <a:rPr lang="en-US" sz="1200" spc="-5">
                <a:latin typeface="Arial"/>
                <a:cs typeface="Arial"/>
              </a:rPr>
              <a:t>non-clustered </a:t>
            </a:r>
            <a:r>
              <a:rPr lang="vi-VN" sz="1200" b="0">
                <a:latin typeface="Arial"/>
                <a:cs typeface="Arial"/>
              </a:rPr>
              <a:t>chứa giá trị khóa </a:t>
            </a:r>
            <a:r>
              <a:rPr lang="en-US" sz="1200" spc="-5">
                <a:latin typeface="Arial"/>
                <a:cs typeface="Arial"/>
              </a:rPr>
              <a:t>nonclustered </a:t>
            </a:r>
            <a:r>
              <a:rPr lang="vi-VN" sz="1200" b="0">
                <a:latin typeface="Arial"/>
                <a:cs typeface="Arial"/>
              </a:rPr>
              <a:t>và bộ định vị hàng. </a:t>
            </a:r>
            <a:r>
              <a:rPr lang="en-US" sz="1200" b="0">
                <a:latin typeface="Arial"/>
                <a:cs typeface="Arial"/>
              </a:rPr>
              <a:t>Đ</a:t>
            </a:r>
            <a:r>
              <a:rPr lang="vi-VN" sz="1200" b="0">
                <a:latin typeface="Arial"/>
                <a:cs typeface="Arial"/>
              </a:rPr>
              <a:t>iểm </a:t>
            </a:r>
            <a:r>
              <a:rPr lang="en-US" sz="1200" b="0">
                <a:latin typeface="Arial"/>
                <a:cs typeface="Arial"/>
              </a:rPr>
              <a:t>đ</a:t>
            </a:r>
            <a:r>
              <a:rPr lang="vi-VN" sz="1200" b="0">
                <a:latin typeface="Arial"/>
                <a:cs typeface="Arial"/>
              </a:rPr>
              <a:t>ịnh vị đến hàng dữ liệu trong </a:t>
            </a:r>
            <a:r>
              <a:rPr lang="en-US" sz="1200">
                <a:latin typeface="Arial"/>
                <a:cs typeface="Arial"/>
              </a:rPr>
              <a:t>clustered</a:t>
            </a:r>
            <a:r>
              <a:rPr lang="en-US" sz="1200" spc="70">
                <a:latin typeface="Arial"/>
                <a:cs typeface="Arial"/>
              </a:rPr>
              <a:t> </a:t>
            </a:r>
            <a:r>
              <a:rPr lang="en-US" sz="1200" spc="-5">
                <a:latin typeface="Arial"/>
                <a:cs typeface="Arial"/>
              </a:rPr>
              <a:t>index</a:t>
            </a:r>
            <a:r>
              <a:rPr lang="en-US" sz="1200" spc="70">
                <a:latin typeface="Arial"/>
                <a:cs typeface="Arial"/>
              </a:rPr>
              <a:t> </a:t>
            </a:r>
            <a:r>
              <a:rPr lang="vi-VN" sz="1200" b="0">
                <a:latin typeface="Arial"/>
                <a:cs typeface="Arial"/>
              </a:rPr>
              <a:t>hoặc heap có giá trị khóa. Các hàng trong chỉ mục được lưu trữ theo thứ tự của </a:t>
            </a:r>
            <a:r>
              <a:rPr lang="en-US" sz="1200" b="0">
                <a:latin typeface="Arial"/>
                <a:cs typeface="Arial"/>
              </a:rPr>
              <a:t>c</a:t>
            </a:r>
            <a:r>
              <a:rPr lang="vi-VN" sz="1200" b="0">
                <a:latin typeface="Arial"/>
                <a:cs typeface="Arial"/>
              </a:rPr>
              <a:t>ác giá trị </a:t>
            </a:r>
            <a:r>
              <a:rPr lang="en-US" sz="1200" b="0">
                <a:latin typeface="Arial"/>
                <a:cs typeface="Arial"/>
              </a:rPr>
              <a:t>khóa chỉ mục</a:t>
            </a:r>
            <a:r>
              <a:rPr lang="vi-VN" sz="1200" b="0">
                <a:latin typeface="Arial"/>
                <a:cs typeface="Arial"/>
              </a:rPr>
              <a:t>, nhưng các hàng dữ liệu không được đảm bảo ở bất kỳ thứ tự cụ thể nào trừ khi một </a:t>
            </a:r>
            <a:r>
              <a:rPr lang="en-US" sz="1200">
                <a:latin typeface="Arial"/>
                <a:cs typeface="Arial"/>
              </a:rPr>
              <a:t>clustered </a:t>
            </a:r>
            <a:r>
              <a:rPr lang="en-US" sz="1200" spc="-5">
                <a:latin typeface="Arial"/>
                <a:cs typeface="Arial"/>
              </a:rPr>
              <a:t>index </a:t>
            </a:r>
            <a:r>
              <a:rPr lang="vi-VN" sz="1200" b="0">
                <a:latin typeface="Arial"/>
                <a:cs typeface="Arial"/>
              </a:rPr>
              <a:t>được tạo trên bảng.</a:t>
            </a:r>
            <a:endParaRPr lang="en-US" sz="1200" b="0">
              <a:latin typeface="Arial"/>
              <a:cs typeface="Arial"/>
            </a:endParaRPr>
          </a:p>
          <a:p>
            <a:pPr marL="696595" marR="0" lvl="1" indent="-171450" algn="l" defTabSz="914400" rtl="0" eaLnBrk="1" fontAlgn="auto" latinLnBrk="0" hangingPunct="1">
              <a:lnSpc>
                <a:spcPts val="1290"/>
              </a:lnSpc>
              <a:spcBef>
                <a:spcPts val="0"/>
              </a:spcBef>
              <a:spcAft>
                <a:spcPts val="0"/>
              </a:spcAft>
              <a:buClrTx/>
              <a:buSzTx/>
              <a:buFont typeface="Arial" panose="020B0604020202020204" pitchFamily="34" charset="0"/>
              <a:buChar char="•"/>
              <a:tabLst/>
              <a:defRPr/>
            </a:pPr>
            <a:r>
              <a:rPr lang="en-US" sz="1200" b="1">
                <a:latin typeface="Arial"/>
                <a:cs typeface="Arial"/>
              </a:rPr>
              <a:t>Unique</a:t>
            </a:r>
            <a:r>
              <a:rPr lang="en-US" sz="1200" b="0">
                <a:latin typeface="Arial"/>
                <a:cs typeface="Arial"/>
              </a:rPr>
              <a:t>: </a:t>
            </a:r>
            <a:r>
              <a:rPr lang="en-US" sz="1200" spc="-5">
                <a:latin typeface="Arial"/>
                <a:cs typeface="Arial"/>
              </a:rPr>
              <a:t>Unique</a:t>
            </a:r>
            <a:r>
              <a:rPr lang="en-US" sz="1200" spc="130">
                <a:latin typeface="Arial"/>
                <a:cs typeface="Arial"/>
              </a:rPr>
              <a:t> </a:t>
            </a:r>
            <a:r>
              <a:rPr lang="en-US" sz="1200" spc="-5">
                <a:latin typeface="Arial"/>
                <a:cs typeface="Arial"/>
              </a:rPr>
              <a:t>index</a:t>
            </a:r>
            <a:r>
              <a:rPr lang="en-US" sz="1200" spc="120">
                <a:latin typeface="Arial"/>
                <a:cs typeface="Arial"/>
              </a:rPr>
              <a:t> </a:t>
            </a:r>
            <a:r>
              <a:rPr lang="en-US" sz="1200" b="0">
                <a:latin typeface="Arial"/>
                <a:cs typeface="Arial"/>
              </a:rPr>
              <a:t>đảm bảo khóa chỉ mục không chứa các giá trị trùng lặp và do đó, mỗi hàng trong bảng hoặc khung nhìn theo một cách nào đó duy nhất. Tính duy nhất có thể là một tài sản của cả 2: </a:t>
            </a:r>
            <a:r>
              <a:rPr lang="en-US" sz="1200" b="1">
                <a:latin typeface="Arial"/>
                <a:cs typeface="Arial"/>
              </a:rPr>
              <a:t>Clustered index </a:t>
            </a:r>
            <a:r>
              <a:rPr lang="en-US" sz="1200" b="0">
                <a:latin typeface="Arial"/>
                <a:cs typeface="Arial"/>
              </a:rPr>
              <a:t>và</a:t>
            </a:r>
            <a:r>
              <a:rPr lang="en-US" sz="1200" b="1">
                <a:latin typeface="Arial"/>
                <a:cs typeface="Arial"/>
              </a:rPr>
              <a:t> Nonclustered index</a:t>
            </a:r>
          </a:p>
          <a:p>
            <a:pPr marL="696595" marR="0" lvl="1" indent="-171450" algn="l" defTabSz="914400" rtl="0" eaLnBrk="1" fontAlgn="auto" latinLnBrk="0" hangingPunct="1">
              <a:lnSpc>
                <a:spcPts val="1290"/>
              </a:lnSpc>
              <a:spcBef>
                <a:spcPts val="0"/>
              </a:spcBef>
              <a:spcAft>
                <a:spcPts val="0"/>
              </a:spcAft>
              <a:buClrTx/>
              <a:buSzTx/>
              <a:buFont typeface="Arial" panose="020B0604020202020204" pitchFamily="34" charset="0"/>
              <a:buChar char="•"/>
              <a:tabLst/>
              <a:defRPr/>
            </a:pPr>
            <a:r>
              <a:rPr lang="en-US" sz="1200" b="1">
                <a:latin typeface="Arial"/>
                <a:cs typeface="Arial"/>
              </a:rPr>
              <a:t>Columnstore</a:t>
            </a:r>
            <a:r>
              <a:rPr lang="en-US" sz="1200" b="0">
                <a:latin typeface="Arial"/>
                <a:cs typeface="Arial"/>
              </a:rPr>
              <a:t>: </a:t>
            </a:r>
            <a:r>
              <a:rPr lang="en-US" sz="1200" spc="-5">
                <a:latin typeface="Arial"/>
                <a:cs typeface="Arial"/>
              </a:rPr>
              <a:t>Columnstore index </a:t>
            </a:r>
            <a:r>
              <a:rPr lang="vi-VN" sz="1200" b="0">
                <a:latin typeface="Arial"/>
                <a:cs typeface="Arial"/>
              </a:rPr>
              <a:t>và quản lý dữ liệu bằng cách sử dụng lưu trữ dữ liệu dựa trên cột và xử lý truy vấn dựa trên cột trong bộ nhớ.</a:t>
            </a:r>
            <a:r>
              <a:rPr lang="en-US" sz="1200" b="0">
                <a:latin typeface="Arial"/>
                <a:cs typeface="Arial"/>
              </a:rPr>
              <a:t> </a:t>
            </a:r>
            <a:r>
              <a:rPr lang="en-US" sz="1200" spc="-5">
                <a:latin typeface="Arial"/>
                <a:cs typeface="Arial"/>
              </a:rPr>
              <a:t>Columnstore indexes </a:t>
            </a:r>
            <a:r>
              <a:rPr lang="vi-VN" sz="1200" b="0">
                <a:latin typeface="Arial"/>
                <a:cs typeface="Arial"/>
              </a:rPr>
              <a:t>hoạt động tốt </a:t>
            </a:r>
            <a:r>
              <a:rPr lang="en-US" sz="1200" b="0">
                <a:latin typeface="Arial"/>
                <a:cs typeface="Arial"/>
              </a:rPr>
              <a:t>cho</a:t>
            </a:r>
            <a:r>
              <a:rPr lang="vi-VN" sz="1200" b="0">
                <a:latin typeface="Arial"/>
                <a:cs typeface="Arial"/>
              </a:rPr>
              <a:t> tải </a:t>
            </a:r>
            <a:r>
              <a:rPr lang="en-US" sz="1200">
                <a:latin typeface="Arial"/>
                <a:cs typeface="Arial"/>
              </a:rPr>
              <a:t>data </a:t>
            </a:r>
            <a:r>
              <a:rPr lang="en-US" sz="1200" spc="-5">
                <a:latin typeface="Arial"/>
                <a:cs typeface="Arial"/>
              </a:rPr>
              <a:t>warehousing mà </a:t>
            </a:r>
            <a:r>
              <a:rPr lang="vi-VN" sz="1200" b="0">
                <a:latin typeface="Arial"/>
                <a:cs typeface="Arial"/>
              </a:rPr>
              <a:t>chủ yếu thực hiện tải trọng số lượng lớn và các truy vấn chỉ đọc. Sử dụng </a:t>
            </a:r>
            <a:r>
              <a:rPr lang="en-US" sz="1200">
                <a:latin typeface="Arial"/>
                <a:cs typeface="Arial"/>
              </a:rPr>
              <a:t>columnstore </a:t>
            </a:r>
            <a:r>
              <a:rPr lang="en-US" sz="1200" spc="-5">
                <a:latin typeface="Arial"/>
                <a:cs typeface="Arial"/>
              </a:rPr>
              <a:t>index </a:t>
            </a:r>
            <a:r>
              <a:rPr lang="vi-VN" sz="1200" b="0">
                <a:latin typeface="Arial"/>
                <a:cs typeface="Arial"/>
              </a:rPr>
              <a:t>để đạt được mức tăng hiệu suất truy vấn tối đa 10 lần so với bộ nhớ định hướng hàng truyền thống và nén dữ liệu lên tới 7 lần theo kích thước dữ liệu không nén.</a:t>
            </a:r>
            <a:endParaRPr lang="en-US" sz="1200" b="0">
              <a:latin typeface="Arial"/>
              <a:cs typeface="Arial"/>
            </a:endParaRPr>
          </a:p>
          <a:p>
            <a:pPr marL="696595" marR="0" lvl="1" indent="-171450" algn="l" defTabSz="914400" rtl="0" eaLnBrk="1" fontAlgn="auto" latinLnBrk="0" hangingPunct="1">
              <a:lnSpc>
                <a:spcPts val="1290"/>
              </a:lnSpc>
              <a:spcBef>
                <a:spcPts val="0"/>
              </a:spcBef>
              <a:spcAft>
                <a:spcPts val="0"/>
              </a:spcAft>
              <a:buClrTx/>
              <a:buSzTx/>
              <a:buFont typeface="Arial" panose="020B0604020202020204" pitchFamily="34" charset="0"/>
              <a:buChar char="•"/>
              <a:tabLst/>
              <a:defRPr/>
            </a:pPr>
            <a:r>
              <a:rPr lang="en-US" sz="1200" b="1">
                <a:latin typeface="Arial"/>
                <a:cs typeface="Arial"/>
              </a:rPr>
              <a:t>Filtered</a:t>
            </a:r>
            <a:r>
              <a:rPr lang="en-US" sz="1200" b="0">
                <a:latin typeface="Arial"/>
                <a:cs typeface="Arial"/>
              </a:rPr>
              <a:t>: </a:t>
            </a:r>
            <a:r>
              <a:rPr lang="vi-VN" sz="1200" b="0">
                <a:latin typeface="Arial"/>
                <a:cs typeface="Arial"/>
              </a:rPr>
              <a:t>Các chỉ mục </a:t>
            </a:r>
            <a:r>
              <a:rPr lang="en-US" sz="1200" spc="-5">
                <a:latin typeface="Arial"/>
                <a:cs typeface="Arial"/>
              </a:rPr>
              <a:t>non-clustered </a:t>
            </a:r>
            <a:r>
              <a:rPr lang="vi-VN" sz="1200" b="0">
                <a:latin typeface="Arial"/>
                <a:cs typeface="Arial"/>
              </a:rPr>
              <a:t>được tối ưu hóa phù hợp để bao gồm các truy vấn chọn từ một tập hợp </a:t>
            </a:r>
            <a:r>
              <a:rPr lang="en-US" sz="1200" b="0">
                <a:latin typeface="Arial"/>
                <a:cs typeface="Arial"/>
              </a:rPr>
              <a:t>dữ liệu </a:t>
            </a:r>
            <a:r>
              <a:rPr lang="vi-VN" sz="1200" b="0">
                <a:latin typeface="Arial"/>
                <a:cs typeface="Arial"/>
              </a:rPr>
              <a:t>cụ thể được định </a:t>
            </a:r>
            <a:r>
              <a:rPr lang="en-US" sz="1200" b="0">
                <a:latin typeface="Arial"/>
                <a:cs typeface="Arial"/>
              </a:rPr>
              <a:t>nghĩa</a:t>
            </a:r>
            <a:r>
              <a:rPr lang="vi-VN" sz="1200" b="0">
                <a:latin typeface="Arial"/>
                <a:cs typeface="Arial"/>
              </a:rPr>
              <a:t>. Nó sử dụng một vị từ bộ lọc để lập chỉ mục một phần của các hàng trong một bảng. Một </a:t>
            </a:r>
            <a:r>
              <a:rPr lang="en-US" sz="1200" spc="-5">
                <a:latin typeface="Arial"/>
                <a:cs typeface="Arial"/>
              </a:rPr>
              <a:t>filtered index </a:t>
            </a:r>
            <a:r>
              <a:rPr lang="vi-VN" sz="1200" b="0">
                <a:latin typeface="Arial"/>
                <a:cs typeface="Arial"/>
              </a:rPr>
              <a:t>được thiết kế tốt có thể cải thiện hiệu suất truy vấn, giảm chi phí bảo trì chỉ số và giảm chi phí lưu trữ chỉ số so với bảng đầy đủ</a:t>
            </a:r>
            <a:r>
              <a:rPr lang="en-US" sz="1200" b="0">
                <a:latin typeface="Arial"/>
                <a:cs typeface="Arial"/>
              </a:rPr>
              <a:t> </a:t>
            </a:r>
            <a:r>
              <a:rPr lang="vi-VN" sz="1200" b="0">
                <a:latin typeface="Arial"/>
                <a:cs typeface="Arial"/>
              </a:rPr>
              <a:t>chỉ số.</a:t>
            </a:r>
            <a:endParaRPr lang="en-US" sz="1200" b="0">
              <a:latin typeface="Arial"/>
              <a:cs typeface="Arial"/>
            </a:endParaRPr>
          </a:p>
          <a:p>
            <a:pPr marL="696595" marR="0" lvl="1" indent="-171450" algn="l" defTabSz="914400" rtl="0" eaLnBrk="1" fontAlgn="auto" latinLnBrk="0" hangingPunct="1">
              <a:lnSpc>
                <a:spcPts val="1290"/>
              </a:lnSpc>
              <a:spcBef>
                <a:spcPts val="0"/>
              </a:spcBef>
              <a:spcAft>
                <a:spcPts val="0"/>
              </a:spcAft>
              <a:buClrTx/>
              <a:buSzTx/>
              <a:buFont typeface="Arial" panose="020B0604020202020204" pitchFamily="34" charset="0"/>
              <a:buChar char="•"/>
              <a:tabLst/>
              <a:defRPr/>
            </a:pPr>
            <a:r>
              <a:rPr lang="en-US" sz="1200" b="1">
                <a:latin typeface="Arial"/>
                <a:cs typeface="Arial"/>
              </a:rPr>
              <a:t>Spatial: </a:t>
            </a:r>
            <a:r>
              <a:rPr lang="vi-VN" sz="1200" b="0">
                <a:latin typeface="Arial"/>
                <a:cs typeface="Arial"/>
              </a:rPr>
              <a:t>Nó cung cấp khả năng thực hiện các thao tác nhất định hiệu quả hơn về các đối tượng không gian trong một cột kiểu dữ liệu hình học.</a:t>
            </a:r>
            <a:endParaRPr lang="en-US" sz="1200" b="0">
              <a:latin typeface="Arial"/>
              <a:cs typeface="Arial"/>
            </a:endParaRPr>
          </a:p>
          <a:p>
            <a:pPr marL="696595" marR="0" lvl="1" indent="-171450" algn="l" defTabSz="914400" rtl="0" eaLnBrk="1" fontAlgn="auto" latinLnBrk="0" hangingPunct="1">
              <a:lnSpc>
                <a:spcPts val="1290"/>
              </a:lnSpc>
              <a:spcBef>
                <a:spcPts val="0"/>
              </a:spcBef>
              <a:spcAft>
                <a:spcPts val="0"/>
              </a:spcAft>
              <a:buClrTx/>
              <a:buSzTx/>
              <a:buFont typeface="Arial" panose="020B0604020202020204" pitchFamily="34" charset="0"/>
              <a:buChar char="•"/>
              <a:tabLst/>
              <a:defRPr/>
            </a:pPr>
            <a:r>
              <a:rPr lang="en-US" sz="1200" b="1">
                <a:latin typeface="Arial"/>
                <a:cs typeface="Arial"/>
              </a:rPr>
              <a:t>XML: </a:t>
            </a:r>
            <a:r>
              <a:rPr lang="vi-VN" sz="1200" b="0">
                <a:latin typeface="Arial"/>
                <a:cs typeface="Arial"/>
              </a:rPr>
              <a:t>Do kích thước lớn của các cột XML, các truy vấn tìm kiếm trong các cột này có thể chậm. Bạn có thể tăng tốc</a:t>
            </a:r>
            <a:r>
              <a:rPr lang="en-US" sz="1200" b="0">
                <a:latin typeface="Arial"/>
                <a:cs typeface="Arial"/>
              </a:rPr>
              <a:t> c</a:t>
            </a:r>
            <a:r>
              <a:rPr lang="vi-VN" sz="1200" b="0">
                <a:latin typeface="Arial"/>
                <a:cs typeface="Arial"/>
              </a:rPr>
              <a:t>ác truy vấn này bằng cách tạo một chỉ mục XML trên mỗi cột. Một chỉ mục XML có thể là một chỉ mục </a:t>
            </a:r>
            <a:r>
              <a:rPr lang="en-US" sz="1200">
                <a:latin typeface="Arial"/>
                <a:cs typeface="Arial"/>
              </a:rPr>
              <a:t>clustered hoặc nonclustered</a:t>
            </a:r>
            <a:endParaRPr lang="en-US" sz="1200" b="0">
              <a:latin typeface="Arial"/>
              <a:cs typeface="Arial"/>
            </a:endParaRPr>
          </a:p>
        </p:txBody>
      </p:sp>
      <p:sp>
        <p:nvSpPr>
          <p:cNvPr id="4" name="Slide Number Placeholder 3"/>
          <p:cNvSpPr>
            <a:spLocks noGrp="1"/>
          </p:cNvSpPr>
          <p:nvPr>
            <p:ph type="sldNum" sz="quarter" idx="5"/>
          </p:nvPr>
        </p:nvSpPr>
        <p:spPr/>
        <p:txBody>
          <a:bodyPr/>
          <a:lstStyle/>
          <a:p>
            <a:fld id="{02834DB6-5E5A-42EF-9A9D-B6FA119DD487}" type="slidenum">
              <a:rPr lang="en-US" smtClean="0"/>
              <a:t>3</a:t>
            </a:fld>
            <a:endParaRPr lang="en-US"/>
          </a:p>
        </p:txBody>
      </p:sp>
    </p:spTree>
    <p:extLst>
      <p:ext uri="{BB962C8B-B14F-4D97-AF65-F5344CB8AC3E}">
        <p14:creationId xmlns:p14="http://schemas.microsoft.com/office/powerpoint/2010/main" val="3666865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Giới thiệu 2-2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Có nhiều loại chỉ mục khác như băm, tối ưu hóa bộ nhớ </a:t>
            </a:r>
            <a:r>
              <a:rPr lang="en-US" sz="1200" spc="85">
                <a:latin typeface="Times New Roman"/>
                <a:cs typeface="Times New Roman"/>
              </a:rPr>
              <a:t>nonclustered</a:t>
            </a:r>
            <a:r>
              <a:rPr lang="vi-VN" b="0"/>
              <a:t>, chỉ mục với cột, chỉ mục trên các cột được tính toán và toàn văn</a:t>
            </a:r>
            <a:r>
              <a:rPr lang="en-US" b="0"/>
              <a:t> bản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Quét b</a:t>
            </a:r>
            <a:r>
              <a:rPr lang="en-US" b="0"/>
              <a:t>ảng</a:t>
            </a:r>
            <a:r>
              <a:rPr lang="vi-VN" b="0"/>
              <a:t> không phải lúc nào cũng rắc rối, nhưng đôi khi nó không thể tránh khỏi.</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4</a:t>
            </a:fld>
            <a:endParaRPr lang="en-US"/>
          </a:p>
        </p:txBody>
      </p:sp>
    </p:spTree>
    <p:extLst>
      <p:ext uri="{BB962C8B-B14F-4D97-AF65-F5344CB8AC3E}">
        <p14:creationId xmlns:p14="http://schemas.microsoft.com/office/powerpoint/2010/main" val="2117549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Tổng quan về lưu trữ dữ liệu</a:t>
            </a:r>
            <a:endParaRPr lang="en-US" b="1"/>
          </a:p>
          <a:p>
            <a:pPr marL="171450" indent="-171450">
              <a:buFont typeface="Arial" panose="020B0604020202020204" pitchFamily="34" charset="0"/>
              <a:buChar char="•"/>
            </a:pPr>
            <a:r>
              <a:rPr lang="vi-VN" b="0"/>
              <a:t>SQL Server lưu trữ dữ liệu trong các đơn vị lưu trữ được gọi là </a:t>
            </a:r>
            <a:r>
              <a:rPr lang="en-US" b="0"/>
              <a:t>các </a:t>
            </a:r>
            <a:r>
              <a:rPr lang="vi-VN" b="0"/>
              <a:t>trang dữ liệu.</a:t>
            </a:r>
            <a:endParaRPr lang="en-US" b="0"/>
          </a:p>
          <a:p>
            <a:pPr marL="171450" indent="-171450">
              <a:buFont typeface="Arial" panose="020B0604020202020204" pitchFamily="34" charset="0"/>
              <a:buChar char="•"/>
            </a:pPr>
            <a:r>
              <a:rPr lang="vi-VN" b="0"/>
              <a:t>Một trang bắt đầu với tiêu đề 96 byte, lưu trữ thông tin hệ thống về trang.</a:t>
            </a:r>
          </a:p>
          <a:p>
            <a:pPr marL="171450" indent="-171450">
              <a:buFont typeface="Arial" panose="020B0604020202020204" pitchFamily="34" charset="0"/>
              <a:buChar char="•"/>
            </a:pPr>
            <a:r>
              <a:rPr lang="vi-VN" b="0"/>
              <a:t>Thông tin này bao gồm những điều sau đây:</a:t>
            </a:r>
            <a:endParaRPr lang="en-US" b="0"/>
          </a:p>
          <a:p>
            <a:pPr marL="628650" lvl="1" indent="-171450">
              <a:buFont typeface="Arial" panose="020B0604020202020204" pitchFamily="34" charset="0"/>
              <a:buChar char="•"/>
            </a:pPr>
            <a:r>
              <a:rPr lang="en-US" b="0"/>
              <a:t>Số trang</a:t>
            </a:r>
          </a:p>
          <a:p>
            <a:pPr marL="628650" lvl="1" indent="-171450">
              <a:buFont typeface="Arial" panose="020B0604020202020204" pitchFamily="34" charset="0"/>
              <a:buChar char="•"/>
            </a:pPr>
            <a:r>
              <a:rPr lang="en-US" b="0"/>
              <a:t>Kiểu trang</a:t>
            </a:r>
          </a:p>
          <a:p>
            <a:pPr marL="628650" lvl="1" indent="-171450">
              <a:buFont typeface="Arial" panose="020B0604020202020204" pitchFamily="34" charset="0"/>
              <a:buChar char="•"/>
            </a:pPr>
            <a:r>
              <a:rPr lang="vi-VN" b="0"/>
              <a:t>Số lượng dung lượng trống trên trang</a:t>
            </a:r>
            <a:endParaRPr lang="en-US" b="0"/>
          </a:p>
          <a:p>
            <a:pPr marL="628650" lvl="1" indent="-171450">
              <a:buFont typeface="Arial" panose="020B0604020202020204" pitchFamily="34" charset="0"/>
              <a:buChar char="•"/>
            </a:pPr>
            <a:r>
              <a:rPr lang="en-US" b="0"/>
              <a:t>Đ</a:t>
            </a:r>
            <a:r>
              <a:rPr lang="vi-VN" b="0"/>
              <a:t>ơn vị ID </a:t>
            </a:r>
            <a:r>
              <a:rPr lang="en-US" b="0"/>
              <a:t>cấp phát </a:t>
            </a:r>
            <a:r>
              <a:rPr lang="vi-VN" b="0"/>
              <a:t>của đối tượng mà trang được phân bổ</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5</a:t>
            </a:fld>
            <a:endParaRPr lang="en-US"/>
          </a:p>
        </p:txBody>
      </p:sp>
    </p:spTree>
    <p:extLst>
      <p:ext uri="{BB962C8B-B14F-4D97-AF65-F5344CB8AC3E}">
        <p14:creationId xmlns:p14="http://schemas.microsoft.com/office/powerpoint/2010/main" val="3523889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Tập tin dữ liệu 1-2</a:t>
            </a:r>
          </a:p>
          <a:p>
            <a:pPr marL="171450" indent="-171450">
              <a:buFont typeface="Arial" panose="020B0604020202020204" pitchFamily="34" charset="0"/>
              <a:buChar char="•"/>
            </a:pPr>
            <a:r>
              <a:rPr lang="vi-VN" b="0"/>
              <a:t>Tất cả các thao tác đầu vào và đầu ra trong cơ sở dữ liệu được thực hiện ở cấp độ trang.</a:t>
            </a:r>
          </a:p>
          <a:p>
            <a:pPr marL="171450" indent="-171450">
              <a:buFont typeface="Arial" panose="020B0604020202020204" pitchFamily="34" charset="0"/>
              <a:buChar char="•"/>
            </a:pPr>
            <a:r>
              <a:rPr lang="vi-VN" b="0"/>
              <a:t>SQL Server lưu trữ các trang dữ liệu trong các t</a:t>
            </a:r>
            <a:r>
              <a:rPr lang="en-US" b="0"/>
              <a:t>ậ</a:t>
            </a:r>
            <a:r>
              <a:rPr lang="vi-VN" b="0"/>
              <a:t>p </a:t>
            </a:r>
            <a:r>
              <a:rPr lang="en-US" b="0"/>
              <a:t>tin </a:t>
            </a:r>
            <a:r>
              <a:rPr lang="vi-VN" b="0"/>
              <a:t>được gọi là t</a:t>
            </a:r>
            <a:r>
              <a:rPr lang="en-US" b="0"/>
              <a:t>ậ</a:t>
            </a:r>
            <a:r>
              <a:rPr lang="vi-VN" b="0"/>
              <a:t>p </a:t>
            </a:r>
            <a:r>
              <a:rPr lang="en-US" b="0"/>
              <a:t>tin </a:t>
            </a:r>
            <a:r>
              <a:rPr lang="vi-VN" b="0"/>
              <a:t>dữ liệu. Không gian được phân bổ cho một t</a:t>
            </a:r>
            <a:r>
              <a:rPr lang="en-US" b="0"/>
              <a:t>ậ</a:t>
            </a:r>
            <a:r>
              <a:rPr lang="vi-VN" b="0"/>
              <a:t>p </a:t>
            </a:r>
            <a:r>
              <a:rPr lang="en-US" b="0"/>
              <a:t>tin </a:t>
            </a:r>
            <a:r>
              <a:rPr lang="vi-VN" b="0"/>
              <a:t>dữ liệu được chia thành các trang dữ liệu được đánh số tuần tự.</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6</a:t>
            </a:fld>
            <a:endParaRPr lang="en-US"/>
          </a:p>
        </p:txBody>
      </p:sp>
    </p:spTree>
    <p:extLst>
      <p:ext uri="{BB962C8B-B14F-4D97-AF65-F5344CB8AC3E}">
        <p14:creationId xmlns:p14="http://schemas.microsoft.com/office/powerpoint/2010/main" val="1479830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Tập tin dữ liệu 2-2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Có 3 loại tập tin dữ liệu khác nhau:</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FFFFFF"/>
                </a:solidFill>
                <a:latin typeface="Calisto MT"/>
                <a:cs typeface="Calisto MT"/>
              </a:rPr>
              <a:t>Primary: </a:t>
            </a:r>
            <a:r>
              <a:rPr lang="vi-VN" sz="1200" b="0">
                <a:solidFill>
                  <a:srgbClr val="FFFFFF"/>
                </a:solidFill>
                <a:latin typeface="Calisto MT"/>
                <a:cs typeface="Calisto MT"/>
              </a:rPr>
              <a:t>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dữ liệu chính được tạo tự động tại thời điểm tạo cơ sở dữ liệu.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này có tham chiếu đến tất cả các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khác trong cơ sở dữ liệu. Phần mở rộng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được đề xuất cho các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dữ liệu chính là </a:t>
            </a:r>
            <a:r>
              <a:rPr lang="vi-VN" sz="1200" b="1">
                <a:solidFill>
                  <a:srgbClr val="FFFFFF"/>
                </a:solidFill>
                <a:latin typeface="Calisto MT"/>
                <a:cs typeface="Calisto MT"/>
              </a:rPr>
              <a:t>.mdf</a:t>
            </a:r>
            <a:endParaRPr lang="en-US" sz="1200" b="1">
              <a:solidFill>
                <a:srgbClr val="FFFFFF"/>
              </a:solidFill>
              <a:latin typeface="Calisto MT"/>
              <a:cs typeface="Calisto M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FFFFFF"/>
                </a:solidFill>
                <a:latin typeface="Calisto MT"/>
                <a:cs typeface="Calisto MT"/>
              </a:rPr>
              <a:t>Secondary: </a:t>
            </a:r>
            <a:r>
              <a:rPr lang="vi-VN" sz="1200" b="0">
                <a:solidFill>
                  <a:srgbClr val="FFFFFF"/>
                </a:solidFill>
                <a:latin typeface="Calisto MT"/>
                <a:cs typeface="Calisto MT"/>
              </a:rPr>
              <a:t>Đây là các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dữ liệu tùy chọn</a:t>
            </a:r>
            <a:r>
              <a:rPr lang="en-US" sz="1200" b="0">
                <a:solidFill>
                  <a:srgbClr val="FFFFFF"/>
                </a:solidFill>
                <a:latin typeface="Calisto MT"/>
                <a:cs typeface="Calisto MT"/>
              </a:rPr>
              <a:t> </a:t>
            </a:r>
            <a:r>
              <a:rPr lang="vi-VN" sz="1200" b="0">
                <a:solidFill>
                  <a:srgbClr val="FFFFFF"/>
                </a:solidFill>
                <a:latin typeface="Calisto MT"/>
                <a:cs typeface="Calisto MT"/>
              </a:rPr>
              <a:t>do người dùng </a:t>
            </a:r>
            <a:r>
              <a:rPr lang="en-US" sz="1200" b="0">
                <a:solidFill>
                  <a:srgbClr val="FFFFFF"/>
                </a:solidFill>
                <a:latin typeface="Calisto MT"/>
                <a:cs typeface="Calisto MT"/>
              </a:rPr>
              <a:t>tự </a:t>
            </a:r>
            <a:r>
              <a:rPr lang="vi-VN" sz="1200" b="0">
                <a:solidFill>
                  <a:srgbClr val="FFFFFF"/>
                </a:solidFill>
                <a:latin typeface="Calisto MT"/>
                <a:cs typeface="Calisto MT"/>
              </a:rPr>
              <a:t>định </a:t>
            </a:r>
            <a:r>
              <a:rPr lang="en-US" sz="1200" b="0">
                <a:solidFill>
                  <a:srgbClr val="FFFFFF"/>
                </a:solidFill>
                <a:latin typeface="Calisto MT"/>
                <a:cs typeface="Calisto MT"/>
              </a:rPr>
              <a:t>nghĩa</a:t>
            </a:r>
            <a:r>
              <a:rPr lang="vi-VN" sz="1200" b="0">
                <a:solidFill>
                  <a:srgbClr val="FFFFFF"/>
                </a:solidFill>
                <a:latin typeface="Calisto MT"/>
                <a:cs typeface="Calisto MT"/>
              </a:rPr>
              <a:t>. Dữ liệu có thể được trải rộng trên nhiều đĩa bằng cách đặt từng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trên ổ đĩa khác. </a:t>
            </a:r>
            <a:r>
              <a:rPr lang="en-US" sz="1200" b="0">
                <a:solidFill>
                  <a:srgbClr val="FFFFFF"/>
                </a:solidFill>
                <a:latin typeface="Calisto MT"/>
                <a:cs typeface="Calisto MT"/>
              </a:rPr>
              <a:t>T</a:t>
            </a:r>
            <a:r>
              <a:rPr lang="vi-VN" sz="1200" b="0">
                <a:solidFill>
                  <a:srgbClr val="FFFFFF"/>
                </a:solidFill>
                <a:latin typeface="Calisto MT"/>
                <a:cs typeface="Calisto MT"/>
              </a:rPr>
              <a:t>ên </a:t>
            </a:r>
            <a:r>
              <a:rPr lang="en-US" sz="1200" b="0">
                <a:solidFill>
                  <a:srgbClr val="FFFFFF"/>
                </a:solidFill>
                <a:latin typeface="Calisto MT"/>
                <a:cs typeface="Calisto MT"/>
              </a:rPr>
              <a:t>phần m</a:t>
            </a:r>
            <a:r>
              <a:rPr lang="vi-VN" sz="1200" b="0">
                <a:solidFill>
                  <a:srgbClr val="FFFFFF"/>
                </a:solidFill>
                <a:latin typeface="Calisto MT"/>
                <a:cs typeface="Calisto MT"/>
              </a:rPr>
              <a:t>ở rộng t</a:t>
            </a:r>
            <a:r>
              <a:rPr lang="en-US" sz="1200" b="0">
                <a:solidFill>
                  <a:srgbClr val="FFFFFF"/>
                </a:solidFill>
                <a:latin typeface="Calisto MT"/>
                <a:cs typeface="Calisto MT"/>
              </a:rPr>
              <a:t>ậ</a:t>
            </a:r>
            <a:r>
              <a:rPr lang="vi-VN" sz="1200" b="0">
                <a:solidFill>
                  <a:srgbClr val="FFFFFF"/>
                </a:solidFill>
                <a:latin typeface="Calisto MT"/>
                <a:cs typeface="Calisto MT"/>
              </a:rPr>
              <a:t>p</a:t>
            </a:r>
            <a:r>
              <a:rPr lang="en-US" sz="1200" b="0">
                <a:solidFill>
                  <a:srgbClr val="FFFFFF"/>
                </a:solidFill>
                <a:latin typeface="Calisto MT"/>
                <a:cs typeface="Calisto MT"/>
              </a:rPr>
              <a:t> tin</a:t>
            </a:r>
            <a:r>
              <a:rPr lang="vi-VN" sz="1200" b="0">
                <a:solidFill>
                  <a:srgbClr val="FFFFFF"/>
                </a:solidFill>
                <a:latin typeface="Calisto MT"/>
                <a:cs typeface="Calisto MT"/>
              </a:rPr>
              <a:t> được đề xuất cho các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dữ liệu thứ cấp là </a:t>
            </a:r>
            <a:r>
              <a:rPr lang="vi-VN" sz="1200" b="1">
                <a:solidFill>
                  <a:srgbClr val="FFFFFF"/>
                </a:solidFill>
                <a:latin typeface="Calisto MT"/>
                <a:cs typeface="Calisto MT"/>
              </a:rPr>
              <a:t>.ndf</a:t>
            </a:r>
            <a:endParaRPr lang="en-US" sz="1200" b="1">
              <a:solidFill>
                <a:srgbClr val="FFFFFF"/>
              </a:solidFill>
              <a:latin typeface="Calisto MT"/>
              <a:cs typeface="Calisto MT"/>
            </a:endParaRPr>
          </a:p>
          <a:p>
            <a:pPr marL="184150" indent="-171450">
              <a:lnSpc>
                <a:spcPct val="100000"/>
              </a:lnSpc>
              <a:spcBef>
                <a:spcPts val="5"/>
              </a:spcBef>
              <a:buFont typeface="Arial" panose="020B0604020202020204" pitchFamily="34" charset="0"/>
              <a:buChar char="•"/>
            </a:pPr>
            <a:r>
              <a:rPr lang="en-US" sz="1200" b="1" spc="-10">
                <a:solidFill>
                  <a:srgbClr val="FFFFFF"/>
                </a:solidFill>
                <a:latin typeface="Calisto MT"/>
                <a:cs typeface="Calisto MT"/>
              </a:rPr>
              <a:t>Transaction</a:t>
            </a:r>
            <a:r>
              <a:rPr lang="en-US" sz="1200" b="1" spc="-15">
                <a:solidFill>
                  <a:srgbClr val="FFFFFF"/>
                </a:solidFill>
                <a:latin typeface="Calisto MT"/>
                <a:cs typeface="Calisto MT"/>
              </a:rPr>
              <a:t> </a:t>
            </a:r>
            <a:r>
              <a:rPr lang="en-US" sz="1200" b="1">
                <a:solidFill>
                  <a:srgbClr val="FFFFFF"/>
                </a:solidFill>
                <a:latin typeface="Calisto MT"/>
                <a:cs typeface="Calisto MT"/>
              </a:rPr>
              <a:t>Log: </a:t>
            </a:r>
            <a:r>
              <a:rPr lang="vi-VN" sz="1200" b="0">
                <a:solidFill>
                  <a:srgbClr val="FFFFFF"/>
                </a:solidFill>
                <a:latin typeface="Calisto MT"/>
                <a:cs typeface="Calisto MT"/>
              </a:rPr>
              <a:t>Các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nhật ký chứa thông tin về sửa đổi được thực hiện trong cơ sở dữ liệu. Thông tin này rất hữu ích trong việc phục hồi dữ liệu trong các dự phòng như mất điện đột ngột hoặc cần phải dịch chuyển cơ sở dữ liệu sang một máy chủ khác. Có ít nhất một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nhật ký cho mỗi cơ sở dữ liệu. Phần mở rộng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được đề xuất cho các t</a:t>
            </a:r>
            <a:r>
              <a:rPr lang="en-US" sz="1200" b="0">
                <a:solidFill>
                  <a:srgbClr val="FFFFFF"/>
                </a:solidFill>
                <a:latin typeface="Calisto MT"/>
                <a:cs typeface="Calisto MT"/>
              </a:rPr>
              <a:t>ậ</a:t>
            </a:r>
            <a:r>
              <a:rPr lang="vi-VN" sz="1200" b="0">
                <a:solidFill>
                  <a:srgbClr val="FFFFFF"/>
                </a:solidFill>
                <a:latin typeface="Calisto MT"/>
                <a:cs typeface="Calisto MT"/>
              </a:rPr>
              <a:t>p </a:t>
            </a:r>
            <a:r>
              <a:rPr lang="en-US" sz="1200" b="0">
                <a:solidFill>
                  <a:srgbClr val="FFFFFF"/>
                </a:solidFill>
                <a:latin typeface="Calisto MT"/>
                <a:cs typeface="Calisto MT"/>
              </a:rPr>
              <a:t>tin </a:t>
            </a:r>
            <a:r>
              <a:rPr lang="vi-VN" sz="1200" b="0">
                <a:solidFill>
                  <a:srgbClr val="FFFFFF"/>
                </a:solidFill>
                <a:latin typeface="Calisto MT"/>
                <a:cs typeface="Calisto MT"/>
              </a:rPr>
              <a:t>nhật ký là</a:t>
            </a:r>
            <a:r>
              <a:rPr lang="en-US" sz="1200" b="0">
                <a:solidFill>
                  <a:srgbClr val="FFFFFF"/>
                </a:solidFill>
                <a:latin typeface="Calisto MT"/>
                <a:cs typeface="Calisto MT"/>
              </a:rPr>
              <a:t> </a:t>
            </a:r>
            <a:r>
              <a:rPr lang="en-US" sz="1200" b="1" spc="-5">
                <a:latin typeface="Calisto MT"/>
                <a:cs typeface="Calisto MT"/>
              </a:rPr>
              <a:t>.ldf</a:t>
            </a:r>
            <a:endParaRPr lang="en-US" sz="1200">
              <a:latin typeface="Calisto MT"/>
              <a:cs typeface="Calisto MT"/>
            </a:endParaRPr>
          </a:p>
        </p:txBody>
      </p:sp>
      <p:sp>
        <p:nvSpPr>
          <p:cNvPr id="4" name="Slide Number Placeholder 3"/>
          <p:cNvSpPr>
            <a:spLocks noGrp="1"/>
          </p:cNvSpPr>
          <p:nvPr>
            <p:ph type="sldNum" sz="quarter" idx="5"/>
          </p:nvPr>
        </p:nvSpPr>
        <p:spPr/>
        <p:txBody>
          <a:bodyPr/>
          <a:lstStyle/>
          <a:p>
            <a:fld id="{02834DB6-5E5A-42EF-9A9D-B6FA119DD487}" type="slidenum">
              <a:rPr lang="en-US" smtClean="0"/>
              <a:t>7</a:t>
            </a:fld>
            <a:endParaRPr lang="en-US"/>
          </a:p>
        </p:txBody>
      </p:sp>
    </p:spTree>
    <p:extLst>
      <p:ext uri="{BB962C8B-B14F-4D97-AF65-F5344CB8AC3E}">
        <p14:creationId xmlns:p14="http://schemas.microsoft.com/office/powerpoint/2010/main" val="2329034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Yêu cầu cho các chỉ mục</a:t>
            </a:r>
          </a:p>
          <a:p>
            <a:pPr marL="171450" indent="-171450">
              <a:buFont typeface="Arial" panose="020B0604020202020204" pitchFamily="34" charset="0"/>
              <a:buChar char="•"/>
            </a:pPr>
            <a:r>
              <a:rPr lang="vi-VN" b="0"/>
              <a:t>Để tạo điều kiện truy xuất nhanh dữ liệu từ cơ sở dữ liệu, SQL Server cung cấp tính năng lập chỉ mục.</a:t>
            </a:r>
          </a:p>
          <a:p>
            <a:pPr marL="171450" indent="-171450">
              <a:buFont typeface="Arial" panose="020B0604020202020204" pitchFamily="34" charset="0"/>
              <a:buChar char="•"/>
            </a:pPr>
            <a:r>
              <a:rPr lang="vi-VN" b="0"/>
              <a:t>Một chỉ mục trong cơ sở dữ liệu SQL Server chứa thông tin cho phép tìm dữ liệu cụ thể mà không cần quét qua toàn bộ bảng.</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8</a:t>
            </a:fld>
            <a:endParaRPr lang="en-US"/>
          </a:p>
        </p:txBody>
      </p:sp>
    </p:spTree>
    <p:extLst>
      <p:ext uri="{BB962C8B-B14F-4D97-AF65-F5344CB8AC3E}">
        <p14:creationId xmlns:p14="http://schemas.microsoft.com/office/powerpoint/2010/main" val="4175947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a:t>
            </a:r>
          </a:p>
          <a:p>
            <a:pPr marL="171450" indent="-171450">
              <a:buFont typeface="Arial" panose="020B0604020202020204" pitchFamily="34" charset="0"/>
              <a:buChar char="•"/>
            </a:pPr>
            <a:r>
              <a:rPr lang="vi-VN" b="0"/>
              <a:t>Trong một bảng, các </a:t>
            </a:r>
            <a:r>
              <a:rPr lang="en-US" b="0"/>
              <a:t>mẫu tin </a:t>
            </a:r>
            <a:r>
              <a:rPr lang="vi-VN" b="0"/>
              <a:t>được lưu trữ theo thứ tự </a:t>
            </a:r>
            <a:r>
              <a:rPr lang="en-US" b="0"/>
              <a:t>mà </a:t>
            </a:r>
            <a:r>
              <a:rPr lang="vi-VN" b="0"/>
              <a:t>chúng được nhập </a:t>
            </a:r>
            <a:r>
              <a:rPr lang="en-US" b="0"/>
              <a:t>-&gt; D</a:t>
            </a:r>
            <a:r>
              <a:rPr lang="vi-VN" b="0"/>
              <a:t>ữ liệu </a:t>
            </a:r>
            <a:r>
              <a:rPr lang="en-US" b="0"/>
              <a:t>ch</a:t>
            </a:r>
            <a:r>
              <a:rPr lang="vi-VN" b="0"/>
              <a:t>ư</a:t>
            </a:r>
            <a:r>
              <a:rPr lang="en-US" b="0"/>
              <a:t>a đ</a:t>
            </a:r>
            <a:r>
              <a:rPr lang="vi-VN" b="0"/>
              <a:t>ư</a:t>
            </a:r>
            <a:r>
              <a:rPr lang="en-US" b="0"/>
              <a:t>ợc sắp xếp</a:t>
            </a:r>
            <a:r>
              <a:rPr lang="vi-VN" b="0"/>
              <a:t>.</a:t>
            </a:r>
          </a:p>
          <a:p>
            <a:pPr marL="171450" indent="-171450">
              <a:buFont typeface="Arial" panose="020B0604020202020204" pitchFamily="34" charset="0"/>
              <a:buChar char="•"/>
            </a:pPr>
            <a:r>
              <a:rPr lang="vi-VN" b="0"/>
              <a:t>Khi dữ liệu được lấy, toàn bộ bảng cần được quét </a:t>
            </a:r>
            <a:r>
              <a:rPr lang="en-US" b="0"/>
              <a:t>-&gt; L</a:t>
            </a:r>
            <a:r>
              <a:rPr lang="vi-VN" b="0"/>
              <a:t>àm chậm quá trình truy xuất truy vấn</a:t>
            </a:r>
          </a:p>
          <a:p>
            <a:pPr marL="171450" indent="-171450">
              <a:buFont typeface="Arial" panose="020B0604020202020204" pitchFamily="34" charset="0"/>
              <a:buChar char="•"/>
            </a:pPr>
            <a:r>
              <a:rPr lang="vi-VN" b="0" i="1"/>
              <a:t>Để tăng tốc truy xuất truy vấn, các chỉ mục cần phải được tạo.</a:t>
            </a:r>
            <a:endParaRPr lang="en-US" b="0" i="1"/>
          </a:p>
        </p:txBody>
      </p:sp>
      <p:sp>
        <p:nvSpPr>
          <p:cNvPr id="4" name="Slide Number Placeholder 3"/>
          <p:cNvSpPr>
            <a:spLocks noGrp="1"/>
          </p:cNvSpPr>
          <p:nvPr>
            <p:ph type="sldNum" sz="quarter" idx="5"/>
          </p:nvPr>
        </p:nvSpPr>
        <p:spPr/>
        <p:txBody>
          <a:bodyPr/>
          <a:lstStyle/>
          <a:p>
            <a:fld id="{02834DB6-5E5A-42EF-9A9D-B6FA119DD487}" type="slidenum">
              <a:rPr lang="en-US" smtClean="0"/>
              <a:t>9</a:t>
            </a:fld>
            <a:endParaRPr lang="en-US"/>
          </a:p>
        </p:txBody>
      </p:sp>
    </p:spTree>
    <p:extLst>
      <p:ext uri="{BB962C8B-B14F-4D97-AF65-F5344CB8AC3E}">
        <p14:creationId xmlns:p14="http://schemas.microsoft.com/office/powerpoint/2010/main" val="2248007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Kịch bản</a:t>
            </a:r>
          </a:p>
          <a:p>
            <a:pPr marL="171450" indent="-171450">
              <a:buFont typeface="Arial" panose="020B0604020202020204" pitchFamily="34" charset="0"/>
              <a:buChar char="•"/>
            </a:pPr>
            <a:r>
              <a:rPr lang="vi-VN"/>
              <a:t>Trong một thư mục điện thoại, nơi lưu trữ dung lượng lớn và thường được truy cập, bộ lưu trữ được thực hiện theo thứ tự bảng chữ cái. Nếu dữ liệu như vậy không được sắp xếp, sẽ gần như không thể tìm kiếm một số điện thoại cụ thể.</a:t>
            </a:r>
            <a:endParaRPr lang="en-US"/>
          </a:p>
          <a:p>
            <a:pPr marL="171450" indent="-171450">
              <a:buFont typeface="Arial" panose="020B0604020202020204" pitchFamily="34" charset="0"/>
              <a:buChar char="•"/>
            </a:pPr>
            <a:r>
              <a:rPr lang="vi-VN"/>
              <a:t>Tương tự, trong một bảng cơ sở dữ liệu có số lượng lớn các bản ghi thường được truy cập, dữ liệu sẽ được sắp xếp để truy xuất nhanh.</a:t>
            </a:r>
          </a:p>
          <a:p>
            <a:pPr marL="171450" indent="-171450">
              <a:buFont typeface="Arial" panose="020B0604020202020204" pitchFamily="34" charset="0"/>
              <a:buChar char="•"/>
            </a:pPr>
            <a:r>
              <a:rPr lang="vi-VN"/>
              <a:t>Khi một chỉ mục được tạo trên bảng, chỉ mục vật lý</a:t>
            </a:r>
            <a:r>
              <a:rPr lang="en-US"/>
              <a:t> </a:t>
            </a:r>
            <a:r>
              <a:rPr lang="vi-VN"/>
              <a:t>hoặc các </a:t>
            </a:r>
            <a:r>
              <a:rPr lang="en-US"/>
              <a:t>mẫu tin </a:t>
            </a:r>
            <a:r>
              <a:rPr lang="vi-VN"/>
              <a:t>sắp xếp hợp lý.</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10</a:t>
            </a:fld>
            <a:endParaRPr lang="en-US"/>
          </a:p>
        </p:txBody>
      </p:sp>
    </p:spTree>
    <p:extLst>
      <p:ext uri="{BB962C8B-B14F-4D97-AF65-F5344CB8AC3E}">
        <p14:creationId xmlns:p14="http://schemas.microsoft.com/office/powerpoint/2010/main" val="3597027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Truy cập vào nhóm dữ liệu khôn ngoan</a:t>
            </a:r>
          </a:p>
          <a:p>
            <a:pPr marL="171450" indent="-171450">
              <a:buFont typeface="Arial" panose="020B0604020202020204" pitchFamily="34" charset="0"/>
              <a:buChar char="•"/>
            </a:pPr>
            <a:r>
              <a:rPr lang="vi-VN"/>
              <a:t>Các chỉ mục rất hữu ích khi dữ liệu được truy cập nhóm khôn ngoan.</a:t>
            </a:r>
            <a:endParaRPr lang="en-US"/>
          </a:p>
          <a:p>
            <a:pPr marL="171450" indent="-171450">
              <a:buFont typeface="Arial" panose="020B0604020202020204" pitchFamily="34" charset="0"/>
              <a:buChar char="•"/>
            </a:pPr>
            <a:r>
              <a:rPr lang="vi-VN"/>
              <a:t>Ví dụ: bạn thực hiện sửa đổi trợ cấp cho tất cả nhân viên dựa trên bộ phận mà họ làm việc.</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11</a:t>
            </a:fld>
            <a:endParaRPr lang="en-US"/>
          </a:p>
        </p:txBody>
      </p:sp>
    </p:spTree>
    <p:extLst>
      <p:ext uri="{BB962C8B-B14F-4D97-AF65-F5344CB8AC3E}">
        <p14:creationId xmlns:p14="http://schemas.microsoft.com/office/powerpoint/2010/main" val="3160076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Kiến ​​trúc chỉ mục</a:t>
            </a:r>
          </a:p>
          <a:p>
            <a:pPr marL="171450" indent="-171450">
              <a:buFont typeface="Arial" panose="020B0604020202020204" pitchFamily="34" charset="0"/>
              <a:buChar char="•"/>
            </a:pPr>
            <a:r>
              <a:rPr lang="vi-VN" b="0"/>
              <a:t>Trong SQL Server, dữ liệu có thể được lưu trữ theo cách sắp xếp hoặc ngẫu nhiên</a:t>
            </a:r>
            <a:endParaRPr lang="en-US" b="0"/>
          </a:p>
          <a:p>
            <a:pPr marL="171450" indent="-171450">
              <a:buFont typeface="Arial" panose="020B0604020202020204" pitchFamily="34" charset="0"/>
              <a:buChar char="•"/>
            </a:pPr>
            <a:r>
              <a:rPr lang="vi-VN" b="0" i="1"/>
              <a:t>Nếu nó được </a:t>
            </a:r>
            <a:r>
              <a:rPr lang="vi-VN" b="1" i="1"/>
              <a:t>lưu trữ theo cách sắp xếp </a:t>
            </a:r>
            <a:r>
              <a:rPr lang="vi-VN" b="0" i="1"/>
              <a:t>thì dữ liệu có mặt trong cấu trúc cụm</a:t>
            </a:r>
            <a:r>
              <a:rPr lang="en-US" b="0" i="1"/>
              <a:t> (</a:t>
            </a:r>
            <a:r>
              <a:rPr lang="en-US" sz="1200" b="1" i="1" spc="-5">
                <a:latin typeface="Arial"/>
                <a:cs typeface="Arial"/>
              </a:rPr>
              <a:t>clustered</a:t>
            </a:r>
            <a:r>
              <a:rPr lang="en-US" sz="1200" i="1" spc="-5">
                <a:latin typeface="Arial"/>
                <a:cs typeface="Arial"/>
              </a:rPr>
              <a:t>)</a:t>
            </a:r>
          </a:p>
          <a:p>
            <a:pPr marL="171450" indent="-171450">
              <a:buFont typeface="Arial" panose="020B0604020202020204" pitchFamily="34" charset="0"/>
              <a:buChar char="•"/>
            </a:pPr>
            <a:r>
              <a:rPr lang="vi-VN" b="0" i="1"/>
              <a:t>Nếu được </a:t>
            </a:r>
            <a:r>
              <a:rPr lang="vi-VN" b="1" i="1"/>
              <a:t>lưu trữ ngẫu nhiên </a:t>
            </a:r>
            <a:r>
              <a:rPr lang="vi-VN" b="0" i="1"/>
              <a:t>thì, </a:t>
            </a:r>
            <a:r>
              <a:rPr lang="en-US" b="0" i="1"/>
              <a:t>nó </a:t>
            </a:r>
            <a:r>
              <a:rPr lang="vi-VN" b="0" i="1"/>
              <a:t>hiện </a:t>
            </a:r>
            <a:r>
              <a:rPr lang="en-US" b="0" i="1"/>
              <a:t>diện</a:t>
            </a:r>
            <a:r>
              <a:rPr lang="vi-VN" b="0" i="1"/>
              <a:t> trong một cấu trúc </a:t>
            </a:r>
            <a:r>
              <a:rPr lang="en-US" b="0" i="1"/>
              <a:t>chất đầy (</a:t>
            </a:r>
            <a:r>
              <a:rPr lang="vi-VN" b="1" i="1"/>
              <a:t>heap</a:t>
            </a:r>
            <a:r>
              <a:rPr lang="en-US" b="0" i="1"/>
              <a:t>)</a:t>
            </a:r>
          </a:p>
        </p:txBody>
      </p:sp>
      <p:sp>
        <p:nvSpPr>
          <p:cNvPr id="4" name="Slide Number Placeholder 3"/>
          <p:cNvSpPr>
            <a:spLocks noGrp="1"/>
          </p:cNvSpPr>
          <p:nvPr>
            <p:ph type="sldNum" sz="quarter" idx="5"/>
          </p:nvPr>
        </p:nvSpPr>
        <p:spPr/>
        <p:txBody>
          <a:bodyPr/>
          <a:lstStyle/>
          <a:p>
            <a:fld id="{02834DB6-5E5A-42EF-9A9D-B6FA119DD487}" type="slidenum">
              <a:rPr lang="en-US" smtClean="0"/>
              <a:t>12</a:t>
            </a:fld>
            <a:endParaRPr lang="en-US"/>
          </a:p>
        </p:txBody>
      </p:sp>
    </p:spTree>
    <p:extLst>
      <p:ext uri="{BB962C8B-B14F-4D97-AF65-F5344CB8AC3E}">
        <p14:creationId xmlns:p14="http://schemas.microsoft.com/office/powerpoint/2010/main" val="1141755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spc="-155">
                <a:latin typeface="Times New Roman"/>
                <a:cs typeface="Times New Roman"/>
              </a:rPr>
              <a:t>B</a:t>
            </a:r>
            <a:r>
              <a:rPr lang="en-US" sz="1200" b="1" spc="25">
                <a:latin typeface="Times New Roman"/>
                <a:cs typeface="Times New Roman"/>
              </a:rPr>
              <a:t>-</a:t>
            </a:r>
            <a:r>
              <a:rPr lang="en-US" sz="1200" b="1" spc="175">
                <a:latin typeface="Times New Roman"/>
                <a:cs typeface="Times New Roman"/>
              </a:rPr>
              <a:t>Tree</a:t>
            </a:r>
          </a:p>
          <a:p>
            <a:pPr marL="171450" indent="-171450">
              <a:buFont typeface="Arial" panose="020B0604020202020204" pitchFamily="34" charset="0"/>
              <a:buChar char="•"/>
            </a:pPr>
            <a:r>
              <a:rPr lang="vi-VN"/>
              <a:t>Mỗi trang trong một chỉ mục </a:t>
            </a:r>
            <a:r>
              <a:rPr lang="en-US"/>
              <a:t>c</a:t>
            </a:r>
            <a:r>
              <a:rPr lang="vi-VN"/>
              <a:t>ây B được gọi là nút chỉ mục.</a:t>
            </a:r>
          </a:p>
          <a:p>
            <a:pPr marL="171450" indent="-171450">
              <a:buFont typeface="Arial" panose="020B0604020202020204" pitchFamily="34" charset="0"/>
              <a:buChar char="•"/>
            </a:pPr>
            <a:r>
              <a:rPr lang="vi-VN"/>
              <a:t>Nút trên của cây B được gọi là nút gốc, trong khi các nút dưới cùng được gọi là các nút lá.</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13</a:t>
            </a:fld>
            <a:endParaRPr lang="en-US"/>
          </a:p>
        </p:txBody>
      </p:sp>
    </p:spTree>
    <p:extLst>
      <p:ext uri="{BB962C8B-B14F-4D97-AF65-F5344CB8AC3E}">
        <p14:creationId xmlns:p14="http://schemas.microsoft.com/office/powerpoint/2010/main" val="4086335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Cấu trúc chỉ mục cây B 1-2</a:t>
            </a:r>
          </a:p>
          <a:p>
            <a:pPr marL="171450" indent="-171450">
              <a:buFont typeface="Arial" panose="020B0604020202020204" pitchFamily="34" charset="0"/>
              <a:buChar char="•"/>
            </a:pPr>
            <a:r>
              <a:rPr lang="en-US" b="0"/>
              <a:t>Trong cấu trúc cây B của một chỉ mục, nút gốc bao gồm một trang chỉ mục</a:t>
            </a:r>
          </a:p>
          <a:p>
            <a:pPr marL="171450" indent="-171450">
              <a:buFont typeface="Arial" panose="020B0604020202020204" pitchFamily="34" charset="0"/>
              <a:buChar char="•"/>
            </a:pPr>
            <a:r>
              <a:rPr lang="en-US" b="0"/>
              <a:t>Có thể có nhiều cấp độ trung gian trong chỉ mục cây B</a:t>
            </a:r>
          </a:p>
          <a:p>
            <a:pPr marL="171450" indent="-171450">
              <a:buFont typeface="Arial" panose="020B0604020202020204" pitchFamily="34" charset="0"/>
              <a:buChar char="•"/>
            </a:pPr>
            <a:r>
              <a:rPr lang="en-US" b="0"/>
              <a:t>Trang chỉ mục này chứa các con trỏ có trong cấp độ trung gian đầu tiên.</a:t>
            </a:r>
          </a:p>
          <a:p>
            <a:pPr marL="171450" indent="-171450">
              <a:buFont typeface="Arial" panose="020B0604020202020204" pitchFamily="34" charset="0"/>
              <a:buChar char="•"/>
            </a:pPr>
            <a:r>
              <a:rPr lang="en-US" b="0"/>
              <a:t>Các nút lá hoặc các trang dữ liệu chứa các hàng dữ liệu hoặc các trang chỉ mục chứa các hàng chỉ mục trỏ đến các hàng dữ liệu</a:t>
            </a:r>
          </a:p>
        </p:txBody>
      </p:sp>
      <p:sp>
        <p:nvSpPr>
          <p:cNvPr id="4" name="Slide Number Placeholder 3"/>
          <p:cNvSpPr>
            <a:spLocks noGrp="1"/>
          </p:cNvSpPr>
          <p:nvPr>
            <p:ph type="sldNum" sz="quarter" idx="5"/>
          </p:nvPr>
        </p:nvSpPr>
        <p:spPr/>
        <p:txBody>
          <a:bodyPr/>
          <a:lstStyle/>
          <a:p>
            <a:fld id="{02834DB6-5E5A-42EF-9A9D-B6FA119DD487}" type="slidenum">
              <a:rPr lang="en-US" smtClean="0"/>
              <a:t>14</a:t>
            </a:fld>
            <a:endParaRPr lang="en-US"/>
          </a:p>
        </p:txBody>
      </p:sp>
    </p:spTree>
    <p:extLst>
      <p:ext uri="{BB962C8B-B14F-4D97-AF65-F5344CB8AC3E}">
        <p14:creationId xmlns:p14="http://schemas.microsoft.com/office/powerpoint/2010/main" val="2007977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Cấu trúc chỉ mục cây B 2-2</a:t>
            </a:r>
          </a:p>
          <a:p>
            <a:pPr marL="171450" indent="-171450">
              <a:buFont typeface="Arial" panose="020B0604020202020204" pitchFamily="34" charset="0"/>
              <a:buChar char="•"/>
            </a:pPr>
            <a:r>
              <a:rPr lang="vi-VN" b="0"/>
              <a:t>Các loại nút khác nhau như sau:</a:t>
            </a:r>
            <a:endParaRPr lang="en-US" b="0"/>
          </a:p>
          <a:p>
            <a:pPr marL="628650" lvl="1" indent="-171450">
              <a:buFont typeface="Arial" panose="020B0604020202020204" pitchFamily="34" charset="0"/>
              <a:buChar char="•"/>
            </a:pPr>
            <a:r>
              <a:rPr lang="en-US" b="1"/>
              <a:t>Nút gốc</a:t>
            </a:r>
            <a:r>
              <a:rPr lang="en-US" b="0"/>
              <a:t>: Chứa một trang chỉ mục với con trỏ chỉ vào các trang chỉ mục ở cấp độ trung gian đầu tiên.</a:t>
            </a:r>
          </a:p>
          <a:p>
            <a:pPr marL="628650" lvl="1" indent="-171450">
              <a:buFont typeface="Arial" panose="020B0604020202020204" pitchFamily="34" charset="0"/>
              <a:buChar char="•"/>
            </a:pPr>
            <a:r>
              <a:rPr lang="en-US" b="1"/>
              <a:t>Các nút trung gian</a:t>
            </a:r>
            <a:r>
              <a:rPr lang="en-US" b="0"/>
              <a:t>: Chứa các trang chỉ mục với các con trỏ chỉ vào các trang chỉ mục ở cấp độ trung gian tiếp theo hoặc đến các trang chỉ mục hoặc dữ liệu ở cấp độ lá.</a:t>
            </a:r>
          </a:p>
          <a:p>
            <a:pPr marL="628650" lvl="1" indent="-171450">
              <a:buFont typeface="Arial" panose="020B0604020202020204" pitchFamily="34" charset="0"/>
              <a:buChar char="•"/>
            </a:pPr>
            <a:r>
              <a:rPr lang="en-US" b="1"/>
              <a:t>Các nút lá</a:t>
            </a:r>
            <a:r>
              <a:rPr lang="en-US" b="0"/>
              <a:t>: Chứa các trang dữ liệu hoặc các trang chỉ mục trỏ đến các trang dữ liệu</a:t>
            </a:r>
          </a:p>
          <a:p>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15</a:t>
            </a:fld>
            <a:endParaRPr lang="en-US"/>
          </a:p>
        </p:txBody>
      </p:sp>
    </p:spTree>
    <p:extLst>
      <p:ext uri="{BB962C8B-B14F-4D97-AF65-F5344CB8AC3E}">
        <p14:creationId xmlns:p14="http://schemas.microsoft.com/office/powerpoint/2010/main" val="2575052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Cấu trúc Heap</a:t>
            </a:r>
          </a:p>
          <a:p>
            <a:pPr marL="171450" indent="-171450">
              <a:buFont typeface="Arial" panose="020B0604020202020204" pitchFamily="34" charset="0"/>
              <a:buChar char="•"/>
            </a:pPr>
            <a:r>
              <a:rPr lang="en-US" b="0"/>
              <a:t>Một heap là một bảng mà không có một chỉ mục cụm (</a:t>
            </a:r>
            <a:r>
              <a:rPr lang="en-US" sz="1200" spc="60">
                <a:solidFill>
                  <a:srgbClr val="FFFFFF"/>
                </a:solidFill>
                <a:latin typeface="Times New Roman"/>
                <a:cs typeface="Times New Roman"/>
              </a:rPr>
              <a:t>clustered)</a:t>
            </a:r>
            <a:endParaRPr lang="en-US" b="0"/>
          </a:p>
          <a:p>
            <a:pPr marL="171450" indent="-171450">
              <a:buFont typeface="Arial" panose="020B0604020202020204" pitchFamily="34" charset="0"/>
              <a:buChar char="•"/>
            </a:pPr>
            <a:r>
              <a:rPr lang="vi-VN" b="0"/>
              <a:t>Trong một cấu trúc heap, các trang dữ liệu và </a:t>
            </a:r>
            <a:r>
              <a:rPr lang="en-US" b="1" i="1"/>
              <a:t>các mẫu tin </a:t>
            </a:r>
            <a:r>
              <a:rPr lang="vi-VN" b="1" i="1"/>
              <a:t>không được sắp xếp theo thứ tự</a:t>
            </a:r>
            <a:r>
              <a:rPr lang="vi-VN" b="1"/>
              <a:t>.</a:t>
            </a:r>
            <a:endParaRPr lang="en-US" b="1"/>
          </a:p>
          <a:p>
            <a:pPr marL="171450" indent="-171450">
              <a:buFont typeface="Arial" panose="020B0604020202020204" pitchFamily="34" charset="0"/>
              <a:buChar char="•"/>
            </a:pPr>
            <a:r>
              <a:rPr lang="vi-VN" b="0"/>
              <a:t>Kết nối duy nhất giữa các trang dữ liệu là thông tin được ghi trong các trang </a:t>
            </a:r>
            <a:r>
              <a:rPr lang="vi-VN" b="1"/>
              <a:t>Bản đồ phân bổ chỉ mục (IAM)</a:t>
            </a:r>
            <a:r>
              <a:rPr lang="vi-VN" b="0"/>
              <a:t>.</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16</a:t>
            </a:fld>
            <a:endParaRPr lang="en-US"/>
          </a:p>
        </p:txBody>
      </p:sp>
    </p:spTree>
    <p:extLst>
      <p:ext uri="{BB962C8B-B14F-4D97-AF65-F5344CB8AC3E}">
        <p14:creationId xmlns:p14="http://schemas.microsoft.com/office/powerpoint/2010/main" val="644732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Cấu trúc chỉ mục Clustered</a:t>
            </a:r>
          </a:p>
          <a:p>
            <a:pPr marL="171450" indent="-171450">
              <a:buFont typeface="Arial" panose="020B0604020202020204" pitchFamily="34" charset="0"/>
              <a:buChar char="•"/>
            </a:pPr>
            <a:r>
              <a:rPr lang="vi-VN" b="0"/>
              <a:t>Các chỉ số cụm được tổ chức dưới dạng cây B. Mỗi trang trong một Cây B chỉ mục được gọi là nút chỉ mục.</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17</a:t>
            </a:fld>
            <a:endParaRPr lang="en-US"/>
          </a:p>
        </p:txBody>
      </p:sp>
    </p:spTree>
    <p:extLst>
      <p:ext uri="{BB962C8B-B14F-4D97-AF65-F5344CB8AC3E}">
        <p14:creationId xmlns:p14="http://schemas.microsoft.com/office/powerpoint/2010/main" val="4233768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Cấu trúc chỉ mục Clustered</a:t>
            </a:r>
          </a:p>
          <a:p>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18</a:t>
            </a:fld>
            <a:endParaRPr lang="en-US"/>
          </a:p>
        </p:txBody>
      </p:sp>
    </p:spTree>
    <p:extLst>
      <p:ext uri="{BB962C8B-B14F-4D97-AF65-F5344CB8AC3E}">
        <p14:creationId xmlns:p14="http://schemas.microsoft.com/office/powerpoint/2010/main" val="2431465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Cấu trúc chỉ mục Nonclustered</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latin typeface="Calibri" pitchFamily="34" charset="0"/>
                <a:cs typeface="Calibri" pitchFamily="34" charset="0"/>
              </a:rPr>
              <a:t>Một chỉ mục </a:t>
            </a:r>
            <a:r>
              <a:rPr lang="en-US" sz="1200" spc="90">
                <a:solidFill>
                  <a:srgbClr val="FFFFFF"/>
                </a:solidFill>
                <a:latin typeface="Times New Roman"/>
                <a:cs typeface="Times New Roman"/>
              </a:rPr>
              <a:t>nonclustered </a:t>
            </a:r>
            <a:r>
              <a:rPr lang="vi-VN" sz="1200" b="0">
                <a:latin typeface="Calibri" pitchFamily="34" charset="0"/>
                <a:cs typeface="Calibri" pitchFamily="34" charset="0"/>
              </a:rPr>
              <a:t>được định </a:t>
            </a:r>
            <a:r>
              <a:rPr lang="en-US" sz="1200" b="0">
                <a:latin typeface="Calibri" pitchFamily="34" charset="0"/>
                <a:cs typeface="Calibri" pitchFamily="34" charset="0"/>
              </a:rPr>
              <a:t>nghĩa </a:t>
            </a:r>
            <a:r>
              <a:rPr lang="vi-VN" sz="1200" b="0">
                <a:latin typeface="Calibri" pitchFamily="34" charset="0"/>
                <a:cs typeface="Calibri" pitchFamily="34" charset="0"/>
              </a:rPr>
              <a:t>trên một bảng có dữ liệu trong cấu trúc </a:t>
            </a:r>
            <a:r>
              <a:rPr lang="en-US" sz="1200" spc="65">
                <a:solidFill>
                  <a:srgbClr val="FFFFFF"/>
                </a:solidFill>
                <a:latin typeface="Times New Roman"/>
                <a:cs typeface="Times New Roman"/>
              </a:rPr>
              <a:t>clustered</a:t>
            </a:r>
            <a:r>
              <a:rPr lang="vi-VN" sz="1200" b="0">
                <a:latin typeface="Calibri" pitchFamily="34" charset="0"/>
                <a:cs typeface="Calibri" pitchFamily="34" charset="0"/>
              </a:rPr>
              <a:t> hoặc một </a:t>
            </a:r>
            <a:r>
              <a:rPr lang="en-US" sz="1200" spc="70">
                <a:solidFill>
                  <a:srgbClr val="FFFFFF"/>
                </a:solidFill>
                <a:latin typeface="Times New Roman"/>
                <a:cs typeface="Times New Roman"/>
              </a:rPr>
              <a:t>heap</a:t>
            </a:r>
            <a:r>
              <a:rPr lang="vi-VN" b="0"/>
              <a:t>.</a:t>
            </a:r>
          </a:p>
          <a:p>
            <a:pPr marL="171450" indent="-171450">
              <a:buFont typeface="Arial" panose="020B0604020202020204" pitchFamily="34" charset="0"/>
              <a:buChar char="•"/>
            </a:pPr>
            <a:r>
              <a:rPr lang="vi-VN" b="0"/>
              <a:t>Mỗi chỉ mục hàng trong </a:t>
            </a:r>
            <a:r>
              <a:rPr lang="en-US" sz="1200" b="1">
                <a:latin typeface="Calibri" pitchFamily="34" charset="0"/>
                <a:cs typeface="Calibri" pitchFamily="34" charset="0"/>
              </a:rPr>
              <a:t>nonclustered index </a:t>
            </a:r>
            <a:r>
              <a:rPr lang="vi-VN" b="0"/>
              <a:t>chứa một giá trị khóa </a:t>
            </a:r>
            <a:r>
              <a:rPr lang="en-US" sz="1200">
                <a:latin typeface="Calibri" pitchFamily="34" charset="0"/>
                <a:cs typeface="Calibri" pitchFamily="34" charset="0"/>
              </a:rPr>
              <a:t>nonclustered </a:t>
            </a:r>
            <a:r>
              <a:rPr lang="vi-VN" b="0"/>
              <a:t>và một bộ định vị hàng.</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Nonclustered indexes </a:t>
            </a:r>
            <a:r>
              <a:rPr lang="vi-VN" b="0"/>
              <a:t>có cấu trúc </a:t>
            </a:r>
            <a:r>
              <a:rPr lang="en-US" sz="1200" b="1">
                <a:latin typeface="Calibri" pitchFamily="34" charset="0"/>
                <a:cs typeface="Calibri" pitchFamily="34" charset="0"/>
              </a:rPr>
              <a:t>B-Tree</a:t>
            </a:r>
            <a:r>
              <a:rPr lang="vi-VN" b="0"/>
              <a:t> tương tự như </a:t>
            </a:r>
            <a:r>
              <a:rPr lang="en-US" sz="1200" b="1">
                <a:latin typeface="Calibri" pitchFamily="34" charset="0"/>
                <a:cs typeface="Calibri" pitchFamily="34" charset="0"/>
              </a:rPr>
              <a:t>clustered indexes </a:t>
            </a:r>
            <a:r>
              <a:rPr lang="vi-VN" b="0"/>
              <a:t>nhưng với sự khác biệt sau đây</a:t>
            </a:r>
            <a:r>
              <a:rPr lang="en-US" b="0"/>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Trong một cấu trúc </a:t>
            </a:r>
            <a:r>
              <a:rPr lang="en-US" sz="1200" b="1">
                <a:latin typeface="Calibri" pitchFamily="34" charset="0"/>
                <a:cs typeface="Calibri" pitchFamily="34" charset="0"/>
              </a:rPr>
              <a:t>nonclustered index</a:t>
            </a:r>
            <a:r>
              <a:rPr lang="en-US" b="0"/>
              <a:t>, mức lá chứa các chỉ mục hàng.</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hàng </a:t>
            </a:r>
            <a:r>
              <a:rPr lang="vi-VN" b="1" i="1"/>
              <a:t>dữ liệu của bảng không được lưu trữ vật lý theo thứ tự </a:t>
            </a:r>
            <a:r>
              <a:rPr lang="vi-VN" b="0"/>
              <a:t>được định</a:t>
            </a:r>
            <a:r>
              <a:rPr lang="en-US" b="0"/>
              <a:t> nghĩa </a:t>
            </a:r>
            <a:r>
              <a:rPr lang="vi-VN" b="0"/>
              <a:t>bởi các </a:t>
            </a:r>
            <a:r>
              <a:rPr lang="en-US" b="0"/>
              <a:t>khóa</a:t>
            </a:r>
            <a:r>
              <a:rPr lang="vi-VN" b="0"/>
              <a:t> </a:t>
            </a:r>
            <a:r>
              <a:rPr lang="en-US" sz="1200" b="1">
                <a:latin typeface="Calibri" pitchFamily="34" charset="0"/>
                <a:cs typeface="Calibri" pitchFamily="34" charset="0"/>
              </a:rPr>
              <a:t>nonclustered</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19</a:t>
            </a:fld>
            <a:endParaRPr lang="en-US"/>
          </a:p>
        </p:txBody>
      </p:sp>
    </p:spTree>
    <p:extLst>
      <p:ext uri="{BB962C8B-B14F-4D97-AF65-F5344CB8AC3E}">
        <p14:creationId xmlns:p14="http://schemas.microsoft.com/office/powerpoint/2010/main" val="3635344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Column Store Index</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Chỉ mục lưu trữ cột là một tính năng trong SQL Server để lưu trữ, truy xuất,</a:t>
            </a:r>
            <a:r>
              <a:rPr lang="en-US" b="0"/>
              <a:t> </a:t>
            </a:r>
            <a:r>
              <a:rPr lang="vi-VN" b="0"/>
              <a:t>và quản lý dữ liệu bằng cách sử dụng định dạng dữ liệu cột</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Columnstore</a:t>
            </a:r>
            <a:r>
              <a:rPr lang="en-US"/>
              <a:t>: </a:t>
            </a:r>
            <a:r>
              <a:rPr lang="vi-VN"/>
              <a:t>Nó là dữ liệu được tổ chức hợp lý dưới dạng bảng có hàng và cột và vật lý</a:t>
            </a:r>
            <a:r>
              <a:rPr lang="en-US"/>
              <a:t> </a:t>
            </a:r>
            <a:r>
              <a:rPr lang="vi-VN"/>
              <a:t>được lưu trữ </a:t>
            </a:r>
            <a:r>
              <a:rPr lang="en-US"/>
              <a:t>trong một</a:t>
            </a:r>
            <a:r>
              <a:rPr lang="vi-VN"/>
              <a:t> định dạng dữ liệu </a:t>
            </a:r>
            <a:r>
              <a:rPr lang="en-US"/>
              <a:t>column-wise (</a:t>
            </a:r>
            <a:r>
              <a:rPr lang="en-US" b="0"/>
              <a:t>l</a:t>
            </a:r>
            <a:r>
              <a:rPr lang="vi-VN" b="0"/>
              <a:t>ư</a:t>
            </a:r>
            <a:r>
              <a:rPr lang="en-US" b="0"/>
              <a:t>u trữ </a:t>
            </a:r>
            <a:r>
              <a:rPr lang="vi-VN" b="0"/>
              <a:t>cột</a:t>
            </a:r>
            <a:r>
              <a:rPr lang="en-US" b="0"/>
              <a:t> </a:t>
            </a:r>
            <a:r>
              <a:rPr lang="vi-VN" b="0"/>
              <a:t>thông minh</a:t>
            </a:r>
            <a:r>
              <a:rPr lang="en-US" b="0"/>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Rowstore</a:t>
            </a:r>
            <a:r>
              <a:rPr lang="en-US"/>
              <a:t>: </a:t>
            </a:r>
            <a:r>
              <a:rPr lang="vi-VN"/>
              <a:t>Nó là dữ liệu được tổ chức hợp lý dưới dạng bảng có hàng và cột và sau đó, về vật lý</a:t>
            </a:r>
            <a:r>
              <a:rPr lang="en-US"/>
              <a:t> </a:t>
            </a:r>
            <a:r>
              <a:rPr lang="vi-VN"/>
              <a:t>lưu trữ ở định dạng dữ liệu </a:t>
            </a:r>
            <a:r>
              <a:rPr lang="en-US"/>
              <a:t>row-wise (</a:t>
            </a:r>
            <a:r>
              <a:rPr lang="en-US" b="0"/>
              <a:t>l</a:t>
            </a:r>
            <a:r>
              <a:rPr lang="vi-VN" b="0"/>
              <a:t>ư</a:t>
            </a:r>
            <a:r>
              <a:rPr lang="en-US" b="0"/>
              <a:t>u trữ hàng </a:t>
            </a:r>
            <a:r>
              <a:rPr lang="vi-VN" b="0"/>
              <a:t>thông minh</a:t>
            </a:r>
            <a:r>
              <a:rPr lang="en-US" b="0"/>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Deltastore</a:t>
            </a:r>
            <a:r>
              <a:rPr lang="en-US"/>
              <a:t>: </a:t>
            </a:r>
            <a:r>
              <a:rPr lang="vi-VN"/>
              <a:t>Nó là một nơi giữ cho các hàng </a:t>
            </a:r>
            <a:r>
              <a:rPr lang="en-US"/>
              <a:t>q</a:t>
            </a:r>
            <a:r>
              <a:rPr lang="vi-VN"/>
              <a:t>uá ít về số lượng để được nén</a:t>
            </a:r>
            <a:r>
              <a:rPr lang="en-US"/>
              <a:t> </a:t>
            </a:r>
            <a:r>
              <a:rPr lang="vi-VN"/>
              <a:t>vào</a:t>
            </a:r>
            <a:r>
              <a:rPr lang="en-US"/>
              <a:t> columnstore</a:t>
            </a:r>
            <a:r>
              <a:rPr lang="vi-VN"/>
              <a:t>. Deltastore lưu trữ các hàng ở định dạng Row</a:t>
            </a:r>
            <a:r>
              <a:rPr lang="en-US"/>
              <a:t>s</a:t>
            </a:r>
            <a:r>
              <a:rPr lang="vi-VN"/>
              <a:t>tore</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Column Store Index </a:t>
            </a:r>
            <a:r>
              <a:rPr lang="vi-VN" b="0"/>
              <a:t>chủ yếu được sử dụng vì những lý do sau:</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Để giảm chi phí lưu trữ</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Hiệu suất tốt hơn</a:t>
            </a:r>
            <a:r>
              <a:rPr lang="en-US" b="0"/>
              <a:t> (</a:t>
            </a:r>
            <a:r>
              <a:rPr lang="vi-VN" b="0"/>
              <a:t>Do tốc độ truyền dữ liệu chậm trong các máy chủ cơ sở dữ liệu, do đó, </a:t>
            </a:r>
            <a:r>
              <a:rPr lang="en-US" sz="1200" b="1">
                <a:latin typeface="Calibri" panose="020F0502020204030204" pitchFamily="34" charset="0"/>
                <a:cs typeface="Calibri" panose="020F0502020204030204" pitchFamily="34" charset="0"/>
              </a:rPr>
              <a:t>column store index </a:t>
            </a:r>
            <a:r>
              <a:rPr lang="vi-VN" b="0"/>
              <a:t>sử dụng nén tích cực để giảm I/O đĩa cần thiết để phục vụ yêu cầu truy vấn</a:t>
            </a:r>
            <a:r>
              <a:rPr lang="en-US" b="0"/>
              <a:t>)</a:t>
            </a:r>
          </a:p>
        </p:txBody>
      </p:sp>
      <p:sp>
        <p:nvSpPr>
          <p:cNvPr id="4" name="Slide Number Placeholder 3"/>
          <p:cNvSpPr>
            <a:spLocks noGrp="1"/>
          </p:cNvSpPr>
          <p:nvPr>
            <p:ph type="sldNum" sz="quarter" idx="5"/>
          </p:nvPr>
        </p:nvSpPr>
        <p:spPr/>
        <p:txBody>
          <a:bodyPr/>
          <a:lstStyle/>
          <a:p>
            <a:fld id="{02834DB6-5E5A-42EF-9A9D-B6FA119DD487}" type="slidenum">
              <a:rPr lang="en-US" smtClean="0"/>
              <a:t>20</a:t>
            </a:fld>
            <a:endParaRPr lang="en-US"/>
          </a:p>
        </p:txBody>
      </p:sp>
    </p:spTree>
    <p:extLst>
      <p:ext uri="{BB962C8B-B14F-4D97-AF65-F5344CB8AC3E}">
        <p14:creationId xmlns:p14="http://schemas.microsoft.com/office/powerpoint/2010/main" val="2791085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Column Store Index</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Ví dụ: nếu có một bảng có </a:t>
            </a:r>
            <a:r>
              <a:rPr lang="en-US" b="0"/>
              <a:t>10</a:t>
            </a:r>
            <a:r>
              <a:rPr lang="vi-VN" b="0"/>
              <a:t> cột (C1 đến C10), dữ liệu của tất cả </a:t>
            </a:r>
            <a:r>
              <a:rPr lang="en-US" b="0"/>
              <a:t>10</a:t>
            </a:r>
            <a:r>
              <a:rPr lang="vi-VN" b="0"/>
              <a:t> cột từ mỗi hàng được lưu trữ cùng nhau liên tục trên cùng một trang như trong hình bên</a:t>
            </a:r>
            <a:r>
              <a:rPr lang="en-US" b="0"/>
              <a:t> cạnh.</a:t>
            </a:r>
          </a:p>
          <a:p>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21</a:t>
            </a:fld>
            <a:endParaRPr lang="en-US" dirty="0"/>
          </a:p>
        </p:txBody>
      </p:sp>
    </p:spTree>
    <p:extLst>
      <p:ext uri="{BB962C8B-B14F-4D97-AF65-F5344CB8AC3E}">
        <p14:creationId xmlns:p14="http://schemas.microsoft.com/office/powerpoint/2010/main" val="1627040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Column Store Index</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Khi </a:t>
            </a:r>
            <a:r>
              <a:rPr lang="en-US" sz="1200" b="1">
                <a:latin typeface="Calibri" pitchFamily="34" charset="0"/>
                <a:cs typeface="Calibri" pitchFamily="34" charset="0"/>
              </a:rPr>
              <a:t>column store index </a:t>
            </a:r>
            <a:r>
              <a:rPr lang="vi-VN" b="0"/>
              <a:t>được tạo, dữ liệu được </a:t>
            </a:r>
            <a:r>
              <a:rPr lang="en-US" b="0"/>
              <a:t>l</a:t>
            </a:r>
            <a:r>
              <a:rPr lang="vi-VN" b="0"/>
              <a:t>ư</a:t>
            </a:r>
            <a:r>
              <a:rPr lang="en-US" b="0"/>
              <a:t>u trữ </a:t>
            </a:r>
            <a:r>
              <a:rPr lang="vi-VN" b="0"/>
              <a:t>cột</a:t>
            </a:r>
            <a:r>
              <a:rPr lang="en-US" b="0"/>
              <a:t> </a:t>
            </a:r>
            <a:r>
              <a:rPr lang="vi-VN" b="0"/>
              <a:t>thông minh, có nghĩa là dữ liệu của từng cột riêng lẻ từ mỗi hàng được lưu trữ cùng nhau trên cùng một trang.</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Ví dụ: dữ liệu của cột C1 của tất cả các hàng được lưu trữ cùng nhau trên một trang và dữ liệu cho cột C2 của tất cả các hàng được lưu trữ trên một trang khác, v.v. như thể hiện trong hình bên</a:t>
            </a:r>
            <a:r>
              <a:rPr lang="en-US" b="0"/>
              <a:t> cạnh.</a:t>
            </a:r>
          </a:p>
          <a:p>
            <a:endParaRPr lang="en-US"/>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22</a:t>
            </a:fld>
            <a:endParaRPr lang="en-US" dirty="0"/>
          </a:p>
        </p:txBody>
      </p:sp>
    </p:spTree>
    <p:extLst>
      <p:ext uri="{BB962C8B-B14F-4D97-AF65-F5344CB8AC3E}">
        <p14:creationId xmlns:p14="http://schemas.microsoft.com/office/powerpoint/2010/main" val="39918360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băm</a:t>
            </a:r>
          </a:p>
          <a:p>
            <a:r>
              <a:rPr lang="vi-VN" b="0"/>
              <a:t>Chỉ </a:t>
            </a:r>
            <a:r>
              <a:rPr lang="en-US" b="0"/>
              <a:t>mục</a:t>
            </a:r>
            <a:r>
              <a:rPr lang="vi-VN" b="0"/>
              <a:t> băm bao gồm một mảng các con trỏ và mỗi phần tử của mảng được gọi là </a:t>
            </a:r>
            <a:r>
              <a:rPr lang="en-US" b="0"/>
              <a:t>một xô</a:t>
            </a:r>
            <a:r>
              <a:rPr lang="vi-VN" b="0"/>
              <a:t> băm</a:t>
            </a:r>
            <a:endParaRPr lang="en-US" b="0"/>
          </a:p>
          <a:p>
            <a:pPr marL="171450" indent="-171450">
              <a:buFont typeface="Arial" panose="020B0604020202020204" pitchFamily="34" charset="0"/>
              <a:buChar char="•"/>
            </a:pPr>
            <a:r>
              <a:rPr lang="vi-VN" b="0"/>
              <a:t>Mỗi mục là một giá trị cho một khóa chỉ mục và địa chỉ của hàng tương ứng trong bảng được tối ưu hóa bộ nhớ cơ bản.</a:t>
            </a:r>
          </a:p>
          <a:p>
            <a:pPr marL="171450" indent="-171450">
              <a:buFont typeface="Arial" panose="020B0604020202020204" pitchFamily="34" charset="0"/>
              <a:buChar char="•"/>
            </a:pPr>
            <a:r>
              <a:rPr lang="vi-VN" b="0"/>
              <a:t>Mỗi điểm </a:t>
            </a:r>
            <a:r>
              <a:rPr lang="en-US" b="0"/>
              <a:t>vào </a:t>
            </a:r>
            <a:r>
              <a:rPr lang="vi-VN" b="0"/>
              <a:t>đến mục tiếp theo</a:t>
            </a:r>
            <a:r>
              <a:rPr lang="en-US" b="0"/>
              <a:t> </a:t>
            </a:r>
            <a:r>
              <a:rPr lang="vi-VN" b="0"/>
              <a:t>trong </a:t>
            </a:r>
            <a:r>
              <a:rPr lang="en-US" b="0"/>
              <a:t>một </a:t>
            </a:r>
            <a:r>
              <a:rPr lang="vi-VN" b="0"/>
              <a:t>danh sách các mục liên kết, tất cả bị xích vào thùng hiện tại.</a:t>
            </a:r>
            <a:endParaRPr lang="en-US" b="0"/>
          </a:p>
          <a:p>
            <a:pPr marL="0" indent="0">
              <a:buFont typeface="Arial" panose="020B0604020202020204" pitchFamily="34" charset="0"/>
              <a:buNone/>
            </a:pPr>
            <a:r>
              <a:rPr lang="vi-VN" b="0"/>
              <a:t>Số lượng xô phải được chỉ định tại thời điểm định nghĩa chỉ mục:</a:t>
            </a:r>
          </a:p>
          <a:p>
            <a:pPr marL="171450" indent="-171450">
              <a:buFont typeface="Arial" panose="020B0604020202020204" pitchFamily="34" charset="0"/>
              <a:buChar char="•"/>
            </a:pPr>
            <a:r>
              <a:rPr lang="vi-VN" b="0"/>
              <a:t>Tỷ lệ thấp của xô đến các hàng bảng hoặc cho các giá trị riêng biệt, danh sách liên kết xô trung bình sẽ là</a:t>
            </a:r>
            <a:r>
              <a:rPr lang="en-US" b="0"/>
              <a:t> </a:t>
            </a:r>
            <a:r>
              <a:rPr lang="vi-VN" b="0"/>
              <a:t>càng dài</a:t>
            </a:r>
            <a:r>
              <a:rPr lang="en-US" b="0"/>
              <a:t>.</a:t>
            </a:r>
          </a:p>
          <a:p>
            <a:pPr marL="171450" indent="-171450">
              <a:buFont typeface="Arial" panose="020B0604020202020204" pitchFamily="34" charset="0"/>
              <a:buChar char="•"/>
            </a:pPr>
            <a:r>
              <a:rPr lang="vi-VN" b="0"/>
              <a:t>Danh sách liên kết ngắn hoạt động nhanh hơn danh sách liên kết dài.</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23</a:t>
            </a:fld>
            <a:endParaRPr lang="en-US"/>
          </a:p>
        </p:txBody>
      </p:sp>
    </p:spTree>
    <p:extLst>
      <p:ext uri="{BB962C8B-B14F-4D97-AF65-F5344CB8AC3E}">
        <p14:creationId xmlns:p14="http://schemas.microsoft.com/office/powerpoint/2010/main" val="4215752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Chỉ mục băm</a:t>
            </a:r>
          </a:p>
        </p:txBody>
      </p:sp>
      <p:sp>
        <p:nvSpPr>
          <p:cNvPr id="4" name="Slide Number Placeholder 3"/>
          <p:cNvSpPr>
            <a:spLocks noGrp="1"/>
          </p:cNvSpPr>
          <p:nvPr>
            <p:ph type="sldNum" sz="quarter" idx="5"/>
          </p:nvPr>
        </p:nvSpPr>
        <p:spPr/>
        <p:txBody>
          <a:bodyPr/>
          <a:lstStyle/>
          <a:p>
            <a:fld id="{02834DB6-5E5A-42EF-9A9D-B6FA119DD487}" type="slidenum">
              <a:rPr lang="en-US" smtClean="0"/>
              <a:t>24</a:t>
            </a:fld>
            <a:endParaRPr lang="en-US"/>
          </a:p>
        </p:txBody>
      </p:sp>
    </p:spTree>
    <p:extLst>
      <p:ext uri="{BB962C8B-B14F-4D97-AF65-F5344CB8AC3E}">
        <p14:creationId xmlns:p14="http://schemas.microsoft.com/office/powerpoint/2010/main" val="3795179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XML</a:t>
            </a:r>
          </a:p>
          <a:p>
            <a:pPr marL="171450" indent="-171450">
              <a:buFont typeface="Arial" panose="020B0604020202020204" pitchFamily="34" charset="0"/>
              <a:buChar char="•"/>
            </a:pPr>
            <a:r>
              <a:rPr lang="vi-VN" b="0"/>
              <a:t>Các chỉ mục XML có thể được tạo trên các cột kiểu dữ liệu XML.</a:t>
            </a:r>
            <a:r>
              <a:rPr lang="en-US" b="0"/>
              <a:t> Chúng </a:t>
            </a:r>
            <a:r>
              <a:rPr lang="vi-VN" b="0"/>
              <a:t>lập chỉ mục tất cả các thẻ, giá trị và các đường dẫn trên các </a:t>
            </a:r>
            <a:r>
              <a:rPr lang="en-US" b="0"/>
              <a:t>thể hiện</a:t>
            </a:r>
            <a:r>
              <a:rPr lang="vi-VN" b="0"/>
              <a:t> XML trong cột</a:t>
            </a:r>
            <a:r>
              <a:rPr lang="en-US" b="0"/>
              <a:t> và </a:t>
            </a:r>
            <a:r>
              <a:rPr lang="vi-VN" b="0"/>
              <a:t>lợi ích</a:t>
            </a:r>
            <a:r>
              <a:rPr lang="en-US" b="0"/>
              <a:t> h</a:t>
            </a:r>
            <a:r>
              <a:rPr lang="vi-VN" b="0"/>
              <a:t>iệu suất truy vấn</a:t>
            </a:r>
            <a:r>
              <a:rPr lang="en-US" b="0"/>
              <a:t>.</a:t>
            </a:r>
          </a:p>
          <a:p>
            <a:pPr marL="171450" indent="-171450">
              <a:buFont typeface="Arial" panose="020B0604020202020204" pitchFamily="34" charset="0"/>
              <a:buChar char="•"/>
            </a:pPr>
            <a:r>
              <a:rPr lang="vi-VN" b="0"/>
              <a:t>Truy vấn trên các cột XML là phổ biến trong khối lượng công việc của bạn.</a:t>
            </a:r>
          </a:p>
          <a:p>
            <a:pPr marL="171450" indent="-171450">
              <a:buFont typeface="Arial" panose="020B0604020202020204" pitchFamily="34" charset="0"/>
              <a:buChar char="•"/>
            </a:pPr>
            <a:r>
              <a:rPr lang="vi-VN" b="0"/>
              <a:t>Chi phí bảo trì chỉ </a:t>
            </a:r>
            <a:r>
              <a:rPr lang="en-US" b="0"/>
              <a:t>mục</a:t>
            </a:r>
            <a:r>
              <a:rPr lang="vi-VN" b="0"/>
              <a:t> XML trong quá trình sửa đổi dữ liệu phải được xem xét</a:t>
            </a:r>
            <a:r>
              <a:rPr lang="en-US" b="0"/>
              <a:t>.</a:t>
            </a:r>
          </a:p>
        </p:txBody>
      </p:sp>
      <p:sp>
        <p:nvSpPr>
          <p:cNvPr id="4" name="Slide Number Placeholder 3"/>
          <p:cNvSpPr>
            <a:spLocks noGrp="1"/>
          </p:cNvSpPr>
          <p:nvPr>
            <p:ph type="sldNum" sz="quarter" idx="5"/>
          </p:nvPr>
        </p:nvSpPr>
        <p:spPr/>
        <p:txBody>
          <a:bodyPr/>
          <a:lstStyle/>
          <a:p>
            <a:fld id="{02834DB6-5E5A-42EF-9A9D-B6FA119DD487}" type="slidenum">
              <a:rPr lang="en-US" smtClean="0"/>
              <a:t>25</a:t>
            </a:fld>
            <a:endParaRPr lang="en-US"/>
          </a:p>
        </p:txBody>
      </p:sp>
    </p:spTree>
    <p:extLst>
      <p:ext uri="{BB962C8B-B14F-4D97-AF65-F5344CB8AC3E}">
        <p14:creationId xmlns:p14="http://schemas.microsoft.com/office/powerpoint/2010/main" val="618247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không gian</a:t>
            </a:r>
          </a:p>
          <a:p>
            <a:pPr marL="171450" indent="-171450">
              <a:buFont typeface="Arial" panose="020B0604020202020204" pitchFamily="34" charset="0"/>
              <a:buChar char="•"/>
            </a:pPr>
            <a:r>
              <a:rPr lang="vi-VN" b="0"/>
              <a:t>Trong SQL Server, các chỉ </a:t>
            </a:r>
            <a:r>
              <a:rPr lang="en-US" b="0"/>
              <a:t>mục</a:t>
            </a:r>
            <a:r>
              <a:rPr lang="vi-VN" b="0"/>
              <a:t> không gian được xây dựng bằng các cây B, có nghĩa là các chỉ mục phải đại diện cho dữ liệu không gian 2</a:t>
            </a:r>
            <a:r>
              <a:rPr lang="en-US" b="0"/>
              <a:t> chiều</a:t>
            </a:r>
            <a:r>
              <a:rPr lang="vi-VN" b="0"/>
              <a:t> trong thứ tự tuyến tính của cây B</a:t>
            </a:r>
            <a:endParaRPr lang="en-US" b="0"/>
          </a:p>
          <a:p>
            <a:pPr marL="171450" indent="-171450">
              <a:buFont typeface="Arial" panose="020B0604020202020204" pitchFamily="34" charset="0"/>
              <a:buChar char="•"/>
            </a:pPr>
            <a:r>
              <a:rPr lang="vi-VN" b="0"/>
              <a:t>Quá trình tạo chỉ </a:t>
            </a:r>
            <a:r>
              <a:rPr lang="en-US" b="0"/>
              <a:t>mục</a:t>
            </a:r>
            <a:r>
              <a:rPr lang="vi-VN" b="0"/>
              <a:t> phân </a:t>
            </a:r>
            <a:r>
              <a:rPr lang="en-US" b="0"/>
              <a:t>tích</a:t>
            </a:r>
            <a:r>
              <a:rPr lang="vi-VN" b="0"/>
              <a:t> không gian thành một hệ thống phân cấp lưới </a:t>
            </a:r>
            <a:r>
              <a:rPr lang="en-US" b="0"/>
              <a:t>4</a:t>
            </a:r>
            <a:r>
              <a:rPr lang="vi-VN" b="0"/>
              <a:t> cấp.</a:t>
            </a:r>
          </a:p>
          <a:p>
            <a:pPr marL="171450" indent="-171450">
              <a:buFont typeface="Arial" panose="020B0604020202020204" pitchFamily="34" charset="0"/>
              <a:buChar char="•"/>
            </a:pPr>
            <a:r>
              <a:rPr lang="vi-VN" b="0"/>
              <a:t>Các mức này được gọi là Cấp 1 (cấp cao nhất), Cấp 2, Cấp 3 và Cấp 4.</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26</a:t>
            </a:fld>
            <a:endParaRPr lang="en-US"/>
          </a:p>
        </p:txBody>
      </p:sp>
    </p:spTree>
    <p:extLst>
      <p:ext uri="{BB962C8B-B14F-4D97-AF65-F5344CB8AC3E}">
        <p14:creationId xmlns:p14="http://schemas.microsoft.com/office/powerpoint/2010/main" val="2388436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toàn văn bản</a:t>
            </a:r>
          </a:p>
          <a:p>
            <a:pPr marL="171450" indent="-171450">
              <a:buFont typeface="Arial" panose="020B0604020202020204" pitchFamily="34" charset="0"/>
              <a:buChar char="•"/>
            </a:pPr>
            <a:r>
              <a:rPr lang="vi-VN" b="0"/>
              <a:t>Tạo và duy trì chỉ </a:t>
            </a:r>
            <a:r>
              <a:rPr lang="en-US" b="0"/>
              <a:t>mục</a:t>
            </a:r>
            <a:r>
              <a:rPr lang="vi-VN" b="0"/>
              <a:t> </a:t>
            </a:r>
            <a:r>
              <a:rPr lang="en-US" b="0" spc="120">
                <a:latin typeface="Times New Roman"/>
                <a:cs typeface="Times New Roman"/>
              </a:rPr>
              <a:t>Full-Text </a:t>
            </a:r>
            <a:r>
              <a:rPr lang="vi-VN" b="0"/>
              <a:t>liên quan đến việc điền vào chỉ </a:t>
            </a:r>
            <a:r>
              <a:rPr lang="en-US" b="0"/>
              <a:t>mục</a:t>
            </a:r>
            <a:r>
              <a:rPr lang="vi-VN" b="0"/>
              <a:t> bằng cách sử dụng một </a:t>
            </a:r>
            <a:r>
              <a:rPr lang="en-US" b="0"/>
              <a:t>tiến</a:t>
            </a:r>
            <a:r>
              <a:rPr lang="vi-VN" b="0"/>
              <a:t> trình gọi là tổng cộng</a:t>
            </a:r>
            <a:r>
              <a:rPr lang="en-US" b="0"/>
              <a:t> </a:t>
            </a:r>
            <a:r>
              <a:rPr lang="vi-VN" b="0"/>
              <a:t>còn được </a:t>
            </a:r>
            <a:r>
              <a:rPr lang="en-US" b="0"/>
              <a:t>biết</a:t>
            </a:r>
            <a:r>
              <a:rPr lang="vi-VN" b="0"/>
              <a:t> là </a:t>
            </a:r>
            <a:r>
              <a:rPr lang="en-US"/>
              <a:t>cào dữ liệu.</a:t>
            </a:r>
          </a:p>
          <a:p>
            <a:pPr marL="171450" indent="-171450">
              <a:buFont typeface="Arial" panose="020B0604020202020204" pitchFamily="34" charset="0"/>
              <a:buChar char="•"/>
            </a:pPr>
            <a:r>
              <a:rPr lang="en-US" b="1"/>
              <a:t>Các loại cào dữ liệu</a:t>
            </a:r>
          </a:p>
          <a:p>
            <a:pPr marL="628650" lvl="1" indent="-171450">
              <a:buFont typeface="Arial" panose="020B0604020202020204" pitchFamily="34" charset="0"/>
              <a:buChar char="•"/>
            </a:pPr>
            <a:r>
              <a:rPr lang="en-US" b="0"/>
              <a:t>Một chỉ mục </a:t>
            </a:r>
            <a:r>
              <a:rPr lang="en-US" sz="1200" spc="60">
                <a:solidFill>
                  <a:srgbClr val="FFFFFF"/>
                </a:solidFill>
                <a:latin typeface="Times New Roman"/>
                <a:cs typeface="Times New Roman"/>
              </a:rPr>
              <a:t>full-text </a:t>
            </a:r>
            <a:r>
              <a:rPr lang="en-US" b="0"/>
              <a:t>hỗ trợ các loại </a:t>
            </a:r>
            <a:r>
              <a:rPr lang="en-US"/>
              <a:t>cào dữ liệu </a:t>
            </a:r>
            <a:r>
              <a:rPr lang="en-US" b="0"/>
              <a:t>sau:</a:t>
            </a:r>
          </a:p>
          <a:p>
            <a:pPr marL="628650" lvl="1" indent="-171450">
              <a:buFont typeface="Arial" panose="020B0604020202020204" pitchFamily="34" charset="0"/>
              <a:buChar char="•"/>
            </a:pPr>
            <a:r>
              <a:rPr lang="en-US"/>
              <a:t>Cào dữ liệu </a:t>
            </a:r>
            <a:r>
              <a:rPr lang="en-US" b="0"/>
              <a:t>đầy đủ</a:t>
            </a:r>
          </a:p>
          <a:p>
            <a:pPr marL="628650" lvl="1" indent="-171450">
              <a:buFont typeface="Arial" panose="020B0604020202020204" pitchFamily="34" charset="0"/>
              <a:buChar char="•"/>
            </a:pPr>
            <a:r>
              <a:rPr lang="en-US"/>
              <a:t>Cào dữ liệu </a:t>
            </a:r>
            <a:r>
              <a:rPr lang="en-US" b="0"/>
              <a:t>tự động hoặc thủ công dựa trên theo dõi thay đổi</a:t>
            </a:r>
          </a:p>
          <a:p>
            <a:pPr marL="628650" lvl="1" indent="-171450">
              <a:buFont typeface="Arial" panose="020B0604020202020204" pitchFamily="34" charset="0"/>
              <a:buChar char="•"/>
            </a:pPr>
            <a:r>
              <a:rPr lang="en-US"/>
              <a:t>Cào dữ liệu </a:t>
            </a:r>
            <a:r>
              <a:rPr lang="en-US" b="0"/>
              <a:t>gia tăng dựa trên dấu thời gian</a:t>
            </a:r>
          </a:p>
        </p:txBody>
      </p:sp>
      <p:sp>
        <p:nvSpPr>
          <p:cNvPr id="4" name="Slide Number Placeholder 3"/>
          <p:cNvSpPr>
            <a:spLocks noGrp="1"/>
          </p:cNvSpPr>
          <p:nvPr>
            <p:ph type="sldNum" sz="quarter" idx="5"/>
          </p:nvPr>
        </p:nvSpPr>
        <p:spPr/>
        <p:txBody>
          <a:bodyPr/>
          <a:lstStyle/>
          <a:p>
            <a:fld id="{02834DB6-5E5A-42EF-9A9D-B6FA119DD487}" type="slidenum">
              <a:rPr lang="en-US" smtClean="0"/>
              <a:t>27</a:t>
            </a:fld>
            <a:endParaRPr lang="en-US"/>
          </a:p>
        </p:txBody>
      </p:sp>
    </p:spTree>
    <p:extLst>
      <p:ext uri="{BB962C8B-B14F-4D97-AF65-F5344CB8AC3E}">
        <p14:creationId xmlns:p14="http://schemas.microsoft.com/office/powerpoint/2010/main" val="1032410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Quản lý chỉ mục</a:t>
            </a:r>
          </a:p>
          <a:p>
            <a:pPr marL="171450" indent="-171450">
              <a:buFont typeface="Arial" panose="020B0604020202020204" pitchFamily="34" charset="0"/>
              <a:buChar char="•"/>
            </a:pPr>
            <a:r>
              <a:rPr lang="vi-VN" b="0"/>
              <a:t>Quản lý chỉ mục cho phép người dùng quản lý các chỉ mục theo các loại hoạt động khác nhau như tạo, thay đổi, </a:t>
            </a:r>
            <a:r>
              <a:rPr lang="en-US" b="0"/>
              <a:t>xóa</a:t>
            </a:r>
            <a:r>
              <a:rPr lang="vi-VN" b="0"/>
              <a:t>, v.v.</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28</a:t>
            </a:fld>
            <a:endParaRPr lang="en-US"/>
          </a:p>
        </p:txBody>
      </p:sp>
    </p:spTree>
    <p:extLst>
      <p:ext uri="{BB962C8B-B14F-4D97-AF65-F5344CB8AC3E}">
        <p14:creationId xmlns:p14="http://schemas.microsoft.com/office/powerpoint/2010/main" val="3958218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Tạo chỉ mục Clustered 1-5</a:t>
            </a:r>
          </a:p>
          <a:p>
            <a:pPr marL="171450" indent="-171450">
              <a:buFont typeface="Arial" panose="020B0604020202020204" pitchFamily="34" charset="0"/>
              <a:buChar char="•"/>
            </a:pPr>
            <a:r>
              <a:rPr lang="en-US"/>
              <a:t>C</a:t>
            </a:r>
            <a:r>
              <a:rPr lang="vi-VN"/>
              <a:t>âu lệnh </a:t>
            </a:r>
            <a:r>
              <a:rPr lang="en-US" sz="1200" b="1" spc="120">
                <a:solidFill>
                  <a:srgbClr val="FFFFFF"/>
                </a:solidFill>
                <a:latin typeface="Times New Roman"/>
                <a:cs typeface="Times New Roman"/>
              </a:rPr>
              <a:t>CRE</a:t>
            </a:r>
            <a:r>
              <a:rPr lang="en-US" sz="1200" b="1" spc="114">
                <a:solidFill>
                  <a:srgbClr val="FFFFFF"/>
                </a:solidFill>
                <a:latin typeface="Times New Roman"/>
                <a:cs typeface="Times New Roman"/>
              </a:rPr>
              <a:t>ATE </a:t>
            </a:r>
            <a:r>
              <a:rPr lang="en-US" sz="1200" b="1" spc="135">
                <a:solidFill>
                  <a:srgbClr val="FFFFFF"/>
                </a:solidFill>
                <a:latin typeface="Times New Roman"/>
                <a:cs typeface="Times New Roman"/>
              </a:rPr>
              <a:t>CLU</a:t>
            </a:r>
            <a:r>
              <a:rPr lang="en-US" sz="1200" b="1" spc="100">
                <a:solidFill>
                  <a:srgbClr val="FFFFFF"/>
                </a:solidFill>
                <a:latin typeface="Times New Roman"/>
                <a:cs typeface="Times New Roman"/>
              </a:rPr>
              <a:t>S</a:t>
            </a:r>
            <a:r>
              <a:rPr lang="en-US" sz="1200" b="1" spc="170">
                <a:solidFill>
                  <a:srgbClr val="FFFFFF"/>
                </a:solidFill>
                <a:latin typeface="Times New Roman"/>
                <a:cs typeface="Times New Roman"/>
              </a:rPr>
              <a:t>T</a:t>
            </a:r>
            <a:r>
              <a:rPr lang="en-US" sz="1200" b="1" spc="40">
                <a:solidFill>
                  <a:srgbClr val="FFFFFF"/>
                </a:solidFill>
                <a:latin typeface="Times New Roman"/>
                <a:cs typeface="Times New Roman"/>
              </a:rPr>
              <a:t>E</a:t>
            </a:r>
            <a:r>
              <a:rPr lang="en-US" sz="1200" b="1" spc="45">
                <a:solidFill>
                  <a:srgbClr val="FFFFFF"/>
                </a:solidFill>
                <a:latin typeface="Times New Roman"/>
                <a:cs typeface="Times New Roman"/>
              </a:rPr>
              <a:t>R</a:t>
            </a:r>
            <a:r>
              <a:rPr lang="en-US" sz="1200" b="1" spc="60">
                <a:solidFill>
                  <a:srgbClr val="FFFFFF"/>
                </a:solidFill>
                <a:latin typeface="Times New Roman"/>
                <a:cs typeface="Times New Roman"/>
              </a:rPr>
              <a:t>ED </a:t>
            </a:r>
            <a:r>
              <a:rPr lang="en-US" sz="1200" b="1" spc="90">
                <a:solidFill>
                  <a:srgbClr val="FFFFFF"/>
                </a:solidFill>
                <a:latin typeface="Times New Roman"/>
                <a:cs typeface="Times New Roman"/>
              </a:rPr>
              <a:t>ind</a:t>
            </a:r>
            <a:r>
              <a:rPr lang="en-US" sz="1200" b="1" spc="95">
                <a:solidFill>
                  <a:srgbClr val="FFFFFF"/>
                </a:solidFill>
                <a:latin typeface="Times New Roman"/>
                <a:cs typeface="Times New Roman"/>
              </a:rPr>
              <a:t>e</a:t>
            </a:r>
            <a:r>
              <a:rPr lang="en-US" sz="1200" b="1" spc="90">
                <a:solidFill>
                  <a:srgbClr val="FFFFFF"/>
                </a:solidFill>
                <a:latin typeface="Times New Roman"/>
                <a:cs typeface="Times New Roman"/>
              </a:rPr>
              <a:t>x </a:t>
            </a:r>
            <a:r>
              <a:rPr lang="en-US" sz="1200" b="0" spc="90">
                <a:solidFill>
                  <a:srgbClr val="FFFFFF"/>
                </a:solidFill>
                <a:latin typeface="Times New Roman"/>
                <a:cs typeface="Times New Roman"/>
              </a:rPr>
              <a:t>cho phép </a:t>
            </a:r>
            <a:r>
              <a:rPr lang="vi-VN"/>
              <a:t>người dùng tạo chỉ mục CLUSTERED trên các cột và bảng được chỉ định.</a:t>
            </a:r>
            <a:endParaRPr lang="en-US"/>
          </a:p>
          <a:p>
            <a:pPr marL="171450" indent="-171450">
              <a:buFont typeface="Arial" panose="020B0604020202020204" pitchFamily="34" charset="0"/>
              <a:buChar char="•"/>
            </a:pPr>
            <a:r>
              <a:rPr lang="vi-VN" b="0"/>
              <a:t>Một </a:t>
            </a:r>
            <a:r>
              <a:rPr lang="en-US" b="1"/>
              <a:t>Clustered Index </a:t>
            </a:r>
            <a:r>
              <a:rPr lang="vi-VN" b="0"/>
              <a:t>được tạo </a:t>
            </a:r>
            <a:r>
              <a:rPr lang="en-US" b="0"/>
              <a:t>ra </a:t>
            </a:r>
            <a:r>
              <a:rPr lang="vi-VN" b="0"/>
              <a:t>tự động khi một khóa chính được định </a:t>
            </a:r>
            <a:r>
              <a:rPr lang="en-US" b="0"/>
              <a:t>nghĩa </a:t>
            </a:r>
            <a:r>
              <a:rPr lang="vi-VN" b="0"/>
              <a:t>trên bảng.</a:t>
            </a:r>
            <a:endParaRPr lang="en-US" b="0"/>
          </a:p>
          <a:p>
            <a:pPr marL="171450" indent="-171450">
              <a:buFont typeface="Arial" panose="020B0604020202020204" pitchFamily="34" charset="0"/>
              <a:buChar char="•"/>
            </a:pPr>
            <a:r>
              <a:rPr lang="vi-VN" b="0"/>
              <a:t>Trong một bảng không có khóa chính, </a:t>
            </a:r>
            <a:r>
              <a:rPr lang="en-US" b="1"/>
              <a:t>Clustered Index </a:t>
            </a:r>
            <a:r>
              <a:rPr lang="vi-VN" b="0"/>
              <a:t>sẽ được định </a:t>
            </a:r>
            <a:r>
              <a:rPr lang="en-US" b="0"/>
              <a:t>nghĩa </a:t>
            </a:r>
            <a:r>
              <a:rPr lang="vi-VN" b="0"/>
              <a:t>lý tưởng trên:</a:t>
            </a:r>
            <a:endParaRPr lang="en-US" b="0"/>
          </a:p>
          <a:p>
            <a:pPr marL="628650" lvl="1" indent="-171450">
              <a:buFont typeface="Arial" panose="020B0604020202020204" pitchFamily="34" charset="0"/>
              <a:buChar char="•"/>
            </a:pPr>
            <a:r>
              <a:rPr lang="vi-VN" b="0"/>
              <a:t>Các cột </a:t>
            </a:r>
            <a:r>
              <a:rPr lang="en-US" b="0"/>
              <a:t>khóa </a:t>
            </a:r>
            <a:r>
              <a:rPr lang="vi-VN" b="0"/>
              <a:t>được tìm kiếm rộng rãi.</a:t>
            </a:r>
          </a:p>
          <a:p>
            <a:pPr marL="628650" lvl="1" indent="-171450">
              <a:buFont typeface="Arial" panose="020B0604020202020204" pitchFamily="34" charset="0"/>
              <a:buChar char="•"/>
            </a:pPr>
            <a:r>
              <a:rPr lang="vi-VN" b="0"/>
              <a:t>Các cột được sử dụng trong các truy vấn trả về nhiều kết quả lớn.</a:t>
            </a:r>
          </a:p>
          <a:p>
            <a:pPr marL="628650" lvl="1" indent="-171450">
              <a:buFont typeface="Arial" panose="020B0604020202020204" pitchFamily="34" charset="0"/>
              <a:buChar char="•"/>
            </a:pPr>
            <a:r>
              <a:rPr lang="vi-VN" b="0"/>
              <a:t>Cột có dữ liệu duy nhất.</a:t>
            </a:r>
          </a:p>
          <a:p>
            <a:pPr marL="628650" lvl="1" indent="-171450">
              <a:buFont typeface="Arial" panose="020B0604020202020204" pitchFamily="34" charset="0"/>
              <a:buChar char="•"/>
            </a:pPr>
            <a:r>
              <a:rPr lang="vi-VN" b="0"/>
              <a:t>Các cột được sử dụng trong </a:t>
            </a:r>
            <a:r>
              <a:rPr lang="en-US" b="0"/>
              <a:t>kết </a:t>
            </a:r>
            <a:r>
              <a:rPr lang="vi-VN" b="0"/>
              <a:t>bảng.</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29</a:t>
            </a:fld>
            <a:endParaRPr lang="en-US"/>
          </a:p>
        </p:txBody>
      </p:sp>
    </p:spTree>
    <p:extLst>
      <p:ext uri="{BB962C8B-B14F-4D97-AF65-F5344CB8AC3E}">
        <p14:creationId xmlns:p14="http://schemas.microsoft.com/office/powerpoint/2010/main" val="28213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chỉ mục Clustered 2-5</a:t>
            </a:r>
          </a:p>
          <a:p>
            <a:pPr marL="171450" indent="-171450">
              <a:buFont typeface="Arial" panose="020B0604020202020204" pitchFamily="34" charset="0"/>
              <a:buChar char="•"/>
            </a:pPr>
            <a:r>
              <a:rPr lang="en-US" b="1"/>
              <a:t>Đổi tên chỉ mục</a:t>
            </a:r>
          </a:p>
          <a:p>
            <a:pPr marL="628650" lvl="1" indent="-171450">
              <a:buFont typeface="Arial" panose="020B0604020202020204" pitchFamily="34" charset="0"/>
              <a:buChar char="•"/>
            </a:pPr>
            <a:r>
              <a:rPr lang="vi-VN" b="1"/>
              <a:t>sp_rename </a:t>
            </a:r>
            <a:r>
              <a:rPr lang="vi-VN"/>
              <a:t>là một </a:t>
            </a:r>
            <a:r>
              <a:rPr lang="en-US"/>
              <a:t>thủ tục </a:t>
            </a:r>
            <a:r>
              <a:rPr lang="vi-VN"/>
              <a:t>lưu trữ hệ thống cho phép bạn đổi tên bất kỳ đối tượng nào do người dùng tạo trong cơ sở dữ liệu hiện tại bao gồm bảng, chỉ mục và cột</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30</a:t>
            </a:fld>
            <a:endParaRPr lang="en-US"/>
          </a:p>
        </p:txBody>
      </p:sp>
    </p:spTree>
    <p:extLst>
      <p:ext uri="{BB962C8B-B14F-4D97-AF65-F5344CB8AC3E}">
        <p14:creationId xmlns:p14="http://schemas.microsoft.com/office/powerpoint/2010/main" val="26046801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chỉ mục Clustered 3-5</a:t>
            </a:r>
          </a:p>
          <a:p>
            <a:pPr marL="171450" indent="-171450">
              <a:buFont typeface="Arial" panose="020B0604020202020204" pitchFamily="34" charset="0"/>
              <a:buChar char="•"/>
            </a:pPr>
            <a:r>
              <a:rPr lang="en-US" b="1"/>
              <a:t>Vô hiệu hóa chỉ mục</a:t>
            </a:r>
          </a:p>
          <a:p>
            <a:pPr marL="628650" lvl="1" indent="-171450">
              <a:buFont typeface="Arial" panose="020B0604020202020204" pitchFamily="34" charset="0"/>
              <a:buChar char="•"/>
            </a:pPr>
            <a:r>
              <a:rPr lang="vi-VN"/>
              <a:t>Để vô hiệu hóa một chỉ mục, câu lệnh Alter Index được sử dụng như sau:</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31</a:t>
            </a:fld>
            <a:endParaRPr lang="en-US"/>
          </a:p>
        </p:txBody>
      </p:sp>
    </p:spTree>
    <p:extLst>
      <p:ext uri="{BB962C8B-B14F-4D97-AF65-F5344CB8AC3E}">
        <p14:creationId xmlns:p14="http://schemas.microsoft.com/office/powerpoint/2010/main" val="32226489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chỉ mục Clustered 4-5</a:t>
            </a:r>
          </a:p>
          <a:p>
            <a:pPr marL="171450" indent="-171450">
              <a:buFont typeface="Arial" panose="020B0604020202020204" pitchFamily="34" charset="0"/>
              <a:buChar char="•"/>
            </a:pPr>
            <a:r>
              <a:rPr lang="en-US" b="1"/>
              <a:t>Kích hoạt chỉ mục</a:t>
            </a:r>
          </a:p>
          <a:p>
            <a:pPr marL="628650" lvl="1" indent="-171450">
              <a:buFont typeface="Arial" panose="020B0604020202020204" pitchFamily="34" charset="0"/>
              <a:buChar char="•"/>
            </a:pPr>
            <a:r>
              <a:rPr lang="en-US"/>
              <a:t>Câu lệnh ALTER INDEX dùng để ‘kích hoạt' hoặc xây dựng lại một chỉ mục trên một bảng</a:t>
            </a:r>
          </a:p>
        </p:txBody>
      </p:sp>
      <p:sp>
        <p:nvSpPr>
          <p:cNvPr id="4" name="Slide Number Placeholder 3"/>
          <p:cNvSpPr>
            <a:spLocks noGrp="1"/>
          </p:cNvSpPr>
          <p:nvPr>
            <p:ph type="sldNum" sz="quarter" idx="5"/>
          </p:nvPr>
        </p:nvSpPr>
        <p:spPr/>
        <p:txBody>
          <a:bodyPr/>
          <a:lstStyle/>
          <a:p>
            <a:fld id="{02834DB6-5E5A-42EF-9A9D-B6FA119DD487}" type="slidenum">
              <a:rPr lang="en-US" smtClean="0"/>
              <a:t>32</a:t>
            </a:fld>
            <a:endParaRPr lang="en-US"/>
          </a:p>
        </p:txBody>
      </p:sp>
    </p:spTree>
    <p:extLst>
      <p:ext uri="{BB962C8B-B14F-4D97-AF65-F5344CB8AC3E}">
        <p14:creationId xmlns:p14="http://schemas.microsoft.com/office/powerpoint/2010/main" val="21057479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Tạo chỉ mục Clustered 5-5</a:t>
            </a:r>
          </a:p>
          <a:p>
            <a:pPr marL="171450" indent="-171450">
              <a:buFont typeface="Arial" panose="020B0604020202020204" pitchFamily="34" charset="0"/>
              <a:buChar char="•"/>
            </a:pPr>
            <a:r>
              <a:rPr lang="en-US" b="1"/>
              <a:t>Xóa chỉ mục</a:t>
            </a:r>
          </a:p>
          <a:p>
            <a:pPr marL="628650" lvl="1" indent="-171450">
              <a:buFont typeface="Arial" panose="020B0604020202020204" pitchFamily="34" charset="0"/>
              <a:buChar char="•"/>
            </a:pPr>
            <a:r>
              <a:rPr lang="en-US"/>
              <a:t>Câu lệnh </a:t>
            </a:r>
            <a:r>
              <a:rPr lang="vi-VN"/>
              <a:t>DROP INDEX</a:t>
            </a:r>
            <a:r>
              <a:rPr lang="en-US"/>
              <a:t> </a:t>
            </a:r>
            <a:r>
              <a:rPr lang="vi-VN"/>
              <a:t>sẽ loại bỏ một hoặc nhiều chỉ mục khỏi cơ sở dữ liệu hiện tại.</a:t>
            </a:r>
          </a:p>
          <a:p>
            <a:pPr marL="628650" lvl="1" indent="-171450">
              <a:buFont typeface="Arial" panose="020B0604020202020204" pitchFamily="34" charset="0"/>
              <a:buChar char="•"/>
            </a:pPr>
            <a:r>
              <a:rPr lang="vi-VN"/>
              <a:t>Sau đây là cú pháp cho câu lệnh DROP INDEX:</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33</a:t>
            </a:fld>
            <a:endParaRPr lang="en-US"/>
          </a:p>
        </p:txBody>
      </p:sp>
    </p:spTree>
    <p:extLst>
      <p:ext uri="{BB962C8B-B14F-4D97-AF65-F5344CB8AC3E}">
        <p14:creationId xmlns:p14="http://schemas.microsoft.com/office/powerpoint/2010/main" val="38731674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NonClustered </a:t>
            </a:r>
          </a:p>
          <a:p>
            <a:pPr marL="171450" indent="-171450">
              <a:buFont typeface="Arial" panose="020B0604020202020204" pitchFamily="34" charset="0"/>
              <a:buChar char="•"/>
            </a:pPr>
            <a:r>
              <a:rPr lang="vi-VN"/>
              <a:t>Nó cải thiện tốc độ truy xuất dữ liệu từ các bảng. Không giống như một chỉ mục cụm, nó sắp xếp và lưu trữ dữ liệu riêng biệt từ các hàng dữ liệu trong bảng.</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34</a:t>
            </a:fld>
            <a:endParaRPr lang="en-US"/>
          </a:p>
        </p:txBody>
      </p:sp>
    </p:spTree>
    <p:extLst>
      <p:ext uri="{BB962C8B-B14F-4D97-AF65-F5344CB8AC3E}">
        <p14:creationId xmlns:p14="http://schemas.microsoft.com/office/powerpoint/2010/main" val="39677963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Unique</a:t>
            </a:r>
          </a:p>
          <a:p>
            <a:pPr marL="171450" indent="-171450">
              <a:buFont typeface="Arial" panose="020B0604020202020204" pitchFamily="34" charset="0"/>
              <a:buChar char="•"/>
            </a:pPr>
            <a:r>
              <a:rPr lang="vi-VN"/>
              <a:t>Đảm bảo rằng các cột khóa chỉ mục không chứa bất kỳ giá trị trùng lặp nào.</a:t>
            </a:r>
          </a:p>
          <a:p>
            <a:pPr marL="171450" indent="-171450">
              <a:buFont typeface="Arial" panose="020B0604020202020204" pitchFamily="34" charset="0"/>
              <a:buChar char="•"/>
            </a:pPr>
            <a:r>
              <a:rPr lang="vi-VN"/>
              <a:t>Nó có thể bao gồm một hoặc nhiều cột.</a:t>
            </a:r>
          </a:p>
          <a:p>
            <a:pPr marL="171450" indent="-171450">
              <a:buFont typeface="Arial" panose="020B0604020202020204" pitchFamily="34" charset="0"/>
              <a:buChar char="•"/>
            </a:pPr>
            <a:r>
              <a:rPr lang="vi-VN"/>
              <a:t>Trong trường hợp chỉ mục </a:t>
            </a:r>
            <a:r>
              <a:rPr lang="en-US" b="1"/>
              <a:t>Unique </a:t>
            </a:r>
            <a:r>
              <a:rPr lang="vi-VN"/>
              <a:t>có nhiều cột, sự kết hợp là duy nhất.</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35</a:t>
            </a:fld>
            <a:endParaRPr lang="en-US"/>
          </a:p>
        </p:txBody>
      </p:sp>
    </p:spTree>
    <p:extLst>
      <p:ext uri="{BB962C8B-B14F-4D97-AF65-F5344CB8AC3E}">
        <p14:creationId xmlns:p14="http://schemas.microsoft.com/office/powerpoint/2010/main" val="951290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Filtered</a:t>
            </a:r>
          </a:p>
          <a:p>
            <a:pPr marL="171450" indent="-171450">
              <a:buFont typeface="Arial" panose="020B0604020202020204" pitchFamily="34" charset="0"/>
              <a:buChar char="•"/>
            </a:pPr>
            <a:r>
              <a:rPr lang="vi-VN"/>
              <a:t>Đây là một chỉ mục nonclustered</a:t>
            </a:r>
            <a:r>
              <a:rPr lang="en-US"/>
              <a:t> với</a:t>
            </a:r>
            <a:r>
              <a:rPr lang="vi-VN"/>
              <a:t> một vị từ cho phép chỉ định các hàng nào nên được thêm vào chỉ mục.</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36</a:t>
            </a:fld>
            <a:endParaRPr lang="en-US"/>
          </a:p>
        </p:txBody>
      </p:sp>
    </p:spTree>
    <p:extLst>
      <p:ext uri="{BB962C8B-B14F-4D97-AF65-F5344CB8AC3E}">
        <p14:creationId xmlns:p14="http://schemas.microsoft.com/office/powerpoint/2010/main" val="42538220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Bảng phân vùng và chỉ mục</a:t>
            </a:r>
          </a:p>
          <a:p>
            <a:pPr marL="171450" indent="-171450">
              <a:buFont typeface="Arial" panose="020B0604020202020204" pitchFamily="34" charset="0"/>
              <a:buChar char="•"/>
            </a:pPr>
            <a:r>
              <a:rPr lang="en-US" b="0"/>
              <a:t>SQL Server hỗ trợ cả bảng và phân vùng chỉ mục.</a:t>
            </a:r>
          </a:p>
          <a:p>
            <a:pPr marL="171450" indent="-171450">
              <a:buFont typeface="Arial" panose="020B0604020202020204" pitchFamily="34" charset="0"/>
              <a:buChar char="•"/>
            </a:pPr>
            <a:r>
              <a:rPr lang="en-US" b="0"/>
              <a:t>Phân vùng các bảng hoặc chỉ mục lớn có thể có khả năng quản lý và lợi ích hiệu suất</a:t>
            </a:r>
          </a:p>
        </p:txBody>
      </p:sp>
      <p:sp>
        <p:nvSpPr>
          <p:cNvPr id="4" name="Slide Number Placeholder 3"/>
          <p:cNvSpPr>
            <a:spLocks noGrp="1"/>
          </p:cNvSpPr>
          <p:nvPr>
            <p:ph type="sldNum" sz="quarter" idx="5"/>
          </p:nvPr>
        </p:nvSpPr>
        <p:spPr/>
        <p:txBody>
          <a:bodyPr/>
          <a:lstStyle/>
          <a:p>
            <a:fld id="{02834DB6-5E5A-42EF-9A9D-B6FA119DD487}" type="slidenum">
              <a:rPr lang="en-US" smtClean="0"/>
              <a:t>37</a:t>
            </a:fld>
            <a:endParaRPr lang="en-US"/>
          </a:p>
        </p:txBody>
      </p:sp>
    </p:spTree>
    <p:extLst>
      <p:ext uri="{BB962C8B-B14F-4D97-AF65-F5344CB8AC3E}">
        <p14:creationId xmlns:p14="http://schemas.microsoft.com/office/powerpoint/2010/main" val="19484882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XML 1-2</a:t>
            </a:r>
          </a:p>
          <a:p>
            <a:pPr marL="171450" indent="-171450">
              <a:buFont typeface="Arial" panose="020B0604020202020204" pitchFamily="34" charset="0"/>
              <a:buChar char="•"/>
            </a:pPr>
            <a:r>
              <a:rPr lang="vi-VN" b="0"/>
              <a:t>Dữ liệu XML được lưu trữ trong các cột loại XML như các đối tượng nhị phân lớn (BLOBS).</a:t>
            </a:r>
          </a:p>
          <a:p>
            <a:pPr marL="171450" indent="-171450">
              <a:buFont typeface="Arial" panose="020B0604020202020204" pitchFamily="34" charset="0"/>
              <a:buChar char="•"/>
            </a:pPr>
            <a:r>
              <a:rPr lang="vi-VN" b="0"/>
              <a:t>Các </a:t>
            </a:r>
            <a:r>
              <a:rPr lang="en-US" b="0"/>
              <a:t>thể hiện </a:t>
            </a:r>
            <a:r>
              <a:rPr lang="vi-VN" b="0"/>
              <a:t>XML này có thể lớn và được lưu trữ</a:t>
            </a:r>
            <a:r>
              <a:rPr lang="en-US" b="0"/>
              <a:t> dạng </a:t>
            </a:r>
            <a:r>
              <a:rPr lang="vi-VN" b="0"/>
              <a:t>nhị phân</a:t>
            </a:r>
            <a:endParaRPr lang="en-US" b="0"/>
          </a:p>
        </p:txBody>
      </p:sp>
      <p:sp>
        <p:nvSpPr>
          <p:cNvPr id="4" name="Slide Number Placeholder 3"/>
          <p:cNvSpPr>
            <a:spLocks noGrp="1"/>
          </p:cNvSpPr>
          <p:nvPr>
            <p:ph type="sldNum" sz="quarter" idx="5"/>
          </p:nvPr>
        </p:nvSpPr>
        <p:spPr/>
        <p:txBody>
          <a:bodyPr/>
          <a:lstStyle/>
          <a:p>
            <a:fld id="{02834DB6-5E5A-42EF-9A9D-B6FA119DD487}" type="slidenum">
              <a:rPr lang="en-US" smtClean="0"/>
              <a:t>38</a:t>
            </a:fld>
            <a:endParaRPr lang="en-US"/>
          </a:p>
        </p:txBody>
      </p:sp>
    </p:spTree>
    <p:extLst>
      <p:ext uri="{BB962C8B-B14F-4D97-AF65-F5344CB8AC3E}">
        <p14:creationId xmlns:p14="http://schemas.microsoft.com/office/powerpoint/2010/main" val="12061934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Chỉ mục XML 2-2</a:t>
            </a:r>
          </a:p>
          <a:p>
            <a:pPr marL="171450" indent="-171450">
              <a:buFont typeface="Arial" panose="020B0604020202020204" pitchFamily="34" charset="0"/>
              <a:buChar char="•"/>
            </a:pPr>
            <a:r>
              <a:rPr lang="en-US"/>
              <a:t>Chỉ mục XML chính chứa tất cả dữ liệu trong cột XML</a:t>
            </a:r>
          </a:p>
          <a:p>
            <a:pPr marL="171450" indent="-171450">
              <a:buFont typeface="Arial" panose="020B0604020202020204" pitchFamily="34" charset="0"/>
              <a:buChar char="•"/>
            </a:pPr>
            <a:r>
              <a:rPr lang="vi-VN"/>
              <a:t>Chỉ mục XML thứ cấp tạo một chỉ mục cụ thể hơn, dựa trên chỉ mục chính</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39</a:t>
            </a:fld>
            <a:endParaRPr lang="en-US"/>
          </a:p>
        </p:txBody>
      </p:sp>
    </p:spTree>
    <p:extLst>
      <p:ext uri="{BB962C8B-B14F-4D97-AF65-F5344CB8AC3E}">
        <p14:creationId xmlns:p14="http://schemas.microsoft.com/office/powerpoint/2010/main" val="8905840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latin typeface="Calibri" pitchFamily="34" charset="0"/>
                <a:cs typeface="Calibri" pitchFamily="34" charset="0"/>
              </a:rPr>
              <a:t>Primary XML Indexes</a:t>
            </a:r>
            <a:endParaRPr lang="en-US" sz="1200" b="1" kern="1200">
              <a:latin typeface="Calibri" pitchFamily="34" charset="0"/>
              <a:cs typeface="Calibri" pitchFamily="34" charset="0"/>
            </a:endParaRPr>
          </a:p>
          <a:p>
            <a:pPr marL="628650" lvl="1" indent="-171450">
              <a:buFont typeface="Arial" panose="020B0604020202020204" pitchFamily="34" charset="0"/>
              <a:buChar char="•"/>
            </a:pPr>
            <a:r>
              <a:rPr lang="vi-VN"/>
              <a:t>Nó là một chỉ mục đặc biệt được tạo trên mỗi cột XML để tăng tốc các truy vấn này.</a:t>
            </a:r>
            <a:endParaRPr lang="en-US"/>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a:latin typeface="Calibri" pitchFamily="34" charset="0"/>
                <a:cs typeface="Calibri" pitchFamily="34" charset="0"/>
              </a:rPr>
              <a:t>Secondary XML Indexes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kern="1200">
                <a:latin typeface="Calibri" pitchFamily="34" charset="0"/>
                <a:cs typeface="Calibri" pitchFamily="34" charset="0"/>
              </a:rPr>
              <a:t>Chỉ có thể được tạo trên các cột đã có chỉ mục XML chính, sử dụng cho:</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kern="1200">
                <a:latin typeface="Calibri" pitchFamily="34" charset="0"/>
                <a:cs typeface="Calibri" pitchFamily="34" charset="0"/>
              </a:rPr>
              <a:t>Tìm kiếm các giá trị bất cứ nơi nào trong tài liệu XML.</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kern="1200">
                <a:latin typeface="Calibri" pitchFamily="34" charset="0"/>
                <a:cs typeface="Calibri" pitchFamily="34" charset="0"/>
              </a:rPr>
              <a:t>Truy xuất các thuộc tính đối tượng cụ thể từ trong một tài liệu XML</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40</a:t>
            </a:fld>
            <a:endParaRPr lang="en-US"/>
          </a:p>
        </p:txBody>
      </p:sp>
    </p:spTree>
    <p:extLst>
      <p:ext uri="{BB962C8B-B14F-4D97-AF65-F5344CB8AC3E}">
        <p14:creationId xmlns:p14="http://schemas.microsoft.com/office/powerpoint/2010/main" val="21109077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Chỉ mục Columnstore</a:t>
            </a:r>
          </a:p>
          <a:p>
            <a:pPr marL="171450" indent="-171450">
              <a:buFont typeface="Arial" panose="020B0604020202020204" pitchFamily="34" charset="0"/>
              <a:buChar char="•"/>
            </a:pPr>
            <a:r>
              <a:rPr lang="vi-VN"/>
              <a:t>Tạo một chỉ mục lưu trữ cột được thực hiện bằng cách sử dụng lệnh </a:t>
            </a:r>
            <a:r>
              <a:rPr lang="vi-VN" b="1"/>
              <a:t>CREATE COLUMNSTORE INDEX</a:t>
            </a:r>
            <a:r>
              <a:rPr lang="en-US" b="1"/>
              <a:t> </a:t>
            </a:r>
            <a:r>
              <a:rPr lang="vi-VN"/>
              <a:t>và có nhiều tùy chọn giống như một chỉ mục thông thường.</a:t>
            </a:r>
            <a:endParaRPr lang="en-US"/>
          </a:p>
        </p:txBody>
      </p:sp>
      <p:sp>
        <p:nvSpPr>
          <p:cNvPr id="4" name="Slide Number Placeholder 3"/>
          <p:cNvSpPr>
            <a:spLocks noGrp="1"/>
          </p:cNvSpPr>
          <p:nvPr>
            <p:ph type="sldNum" sz="quarter" idx="5"/>
          </p:nvPr>
        </p:nvSpPr>
        <p:spPr/>
        <p:txBody>
          <a:bodyPr/>
          <a:lstStyle/>
          <a:p>
            <a:fld id="{02834DB6-5E5A-42EF-9A9D-B6FA119DD487}" type="slidenum">
              <a:rPr lang="en-US" smtClean="0"/>
              <a:t>41</a:t>
            </a:fld>
            <a:endParaRPr lang="en-US"/>
          </a:p>
        </p:txBody>
      </p:sp>
    </p:spTree>
    <p:extLst>
      <p:ext uri="{BB962C8B-B14F-4D97-AF65-F5344CB8AC3E}">
        <p14:creationId xmlns:p14="http://schemas.microsoft.com/office/powerpoint/2010/main" val="36921443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171450" indent="-171450">
              <a:buFont typeface="Arial" panose="020B0604020202020204" pitchFamily="34" charset="0"/>
              <a:buChar char="•"/>
            </a:pPr>
            <a:r>
              <a:rPr lang="vi-VN" b="0"/>
              <a:t>Các chỉ mục tăng tốc độ </a:t>
            </a:r>
            <a:r>
              <a:rPr lang="en-US" b="0"/>
              <a:t>tiến</a:t>
            </a:r>
            <a:r>
              <a:rPr lang="vi-VN" b="0"/>
              <a:t> trình truy vấn bằng cách cung cấp truy cập nhanh vào các hàng hoặc cột trong bảng dữ liệu.</a:t>
            </a:r>
          </a:p>
          <a:p>
            <a:pPr marL="171450" indent="-171450">
              <a:buFont typeface="Arial" panose="020B0604020202020204" pitchFamily="34" charset="0"/>
              <a:buChar char="•"/>
            </a:pPr>
            <a:r>
              <a:rPr lang="vi-VN" b="0"/>
              <a:t>SQL Server lưu trữ dữ liệu trong các đơn vị lưu trữ được gọi là trang dữ liệu.</a:t>
            </a:r>
          </a:p>
          <a:p>
            <a:pPr marL="171450" indent="-171450">
              <a:buFont typeface="Arial" panose="020B0604020202020204" pitchFamily="34" charset="0"/>
              <a:buChar char="•"/>
            </a:pPr>
            <a:r>
              <a:rPr lang="vi-VN" b="0"/>
              <a:t>Tất cả các thao tác đầu vào và đầu ra trong cơ sở dữ liệu được thực hiện ở cấp độ trang.</a:t>
            </a:r>
          </a:p>
          <a:p>
            <a:pPr marL="171450" indent="-171450">
              <a:buFont typeface="Arial" panose="020B0604020202020204" pitchFamily="34" charset="0"/>
              <a:buChar char="•"/>
            </a:pPr>
            <a:r>
              <a:rPr lang="vi-VN" b="0"/>
              <a:t>Một chỉ </a:t>
            </a:r>
            <a:r>
              <a:rPr lang="en-US" b="0"/>
              <a:t>mục</a:t>
            </a:r>
            <a:r>
              <a:rPr lang="vi-VN" b="0"/>
              <a:t> cụm </a:t>
            </a:r>
            <a:r>
              <a:rPr lang="en-US" b="0"/>
              <a:t>(</a:t>
            </a:r>
            <a:r>
              <a:rPr lang="en-US" spc="65"/>
              <a:t>clustered) </a:t>
            </a:r>
            <a:r>
              <a:rPr lang="en-US" b="0"/>
              <a:t>giúp </a:t>
            </a:r>
            <a:r>
              <a:rPr lang="vi-VN" b="0"/>
              <a:t>các </a:t>
            </a:r>
            <a:r>
              <a:rPr lang="en-US" b="0"/>
              <a:t>mẫu tin </a:t>
            </a:r>
            <a:r>
              <a:rPr lang="vi-VN" b="0"/>
              <a:t>được lưu trữ vật lý trong một sắp xếp hoặc</a:t>
            </a:r>
            <a:r>
              <a:rPr lang="en-US" b="0"/>
              <a:t> sắp xếp tuần tự</a:t>
            </a:r>
            <a:r>
              <a:rPr lang="vi-VN" b="0"/>
              <a:t>.</a:t>
            </a:r>
          </a:p>
          <a:p>
            <a:pPr marL="171450" indent="-171450">
              <a:buFont typeface="Arial" panose="020B0604020202020204" pitchFamily="34" charset="0"/>
              <a:buChar char="•"/>
            </a:pPr>
            <a:r>
              <a:rPr lang="vi-VN" b="0"/>
              <a:t>Một chỉ mục nonclustered</a:t>
            </a:r>
            <a:r>
              <a:rPr lang="en-US" b="0"/>
              <a:t> </a:t>
            </a:r>
            <a:r>
              <a:rPr lang="vi-VN" b="0"/>
              <a:t>được định </a:t>
            </a:r>
            <a:r>
              <a:rPr lang="en-US" b="0"/>
              <a:t>nghĩa </a:t>
            </a:r>
            <a:r>
              <a:rPr lang="vi-VN" b="0"/>
              <a:t>trên một bảng có dữ liệu trong một cấu trúc clustered hoặc một heap.</a:t>
            </a:r>
          </a:p>
          <a:p>
            <a:pPr marL="171450" indent="-171450">
              <a:buFont typeface="Arial" panose="020B0604020202020204" pitchFamily="34" charset="0"/>
              <a:buChar char="•"/>
            </a:pPr>
            <a:r>
              <a:rPr lang="vi-VN" b="0"/>
              <a:t>Các chỉ mục XML có thể tăng tốc các truy vấn trên các bảng có dữ liệu XML.</a:t>
            </a:r>
          </a:p>
          <a:p>
            <a:pPr marL="171450" indent="-171450">
              <a:buFont typeface="Arial" panose="020B0604020202020204" pitchFamily="34" charset="0"/>
              <a:buChar char="•"/>
            </a:pPr>
            <a:r>
              <a:rPr lang="vi-VN" b="0"/>
              <a:t>Chỉ </a:t>
            </a:r>
            <a:r>
              <a:rPr lang="en-US" b="0"/>
              <a:t>mục</a:t>
            </a:r>
            <a:r>
              <a:rPr lang="vi-VN" b="0"/>
              <a:t> Column Store</a:t>
            </a:r>
            <a:r>
              <a:rPr lang="en-US" b="0"/>
              <a:t> </a:t>
            </a:r>
            <a:r>
              <a:rPr lang="vi-VN" b="0"/>
              <a:t>tăng cường hiệu suất của các truy vấn kho dữ liệu một cách chuyên sâu.</a:t>
            </a:r>
          </a:p>
        </p:txBody>
      </p:sp>
      <p:sp>
        <p:nvSpPr>
          <p:cNvPr id="4" name="Slide Number Placeholder 3"/>
          <p:cNvSpPr>
            <a:spLocks noGrp="1"/>
          </p:cNvSpPr>
          <p:nvPr>
            <p:ph type="sldNum" sz="quarter" idx="5"/>
          </p:nvPr>
        </p:nvSpPr>
        <p:spPr/>
        <p:txBody>
          <a:bodyPr/>
          <a:lstStyle/>
          <a:p>
            <a:fld id="{02834DB6-5E5A-42EF-9A9D-B6FA119DD487}" type="slidenum">
              <a:rPr lang="en-US" smtClean="0"/>
              <a:t>43</a:t>
            </a:fld>
            <a:endParaRPr lang="en-US"/>
          </a:p>
        </p:txBody>
      </p:sp>
    </p:spTree>
    <p:extLst>
      <p:ext uri="{BB962C8B-B14F-4D97-AF65-F5344CB8AC3E}">
        <p14:creationId xmlns:p14="http://schemas.microsoft.com/office/powerpoint/2010/main" val="305701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10/23/2021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a:t>
            </a:fld>
            <a:endParaRPr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dirty="0"/>
              <a:t>Indexes/ Session 11 </a:t>
            </a:r>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11460349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dirty="0"/>
              <a:t>Indexes/ Session 11 </a:t>
            </a:r>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370077131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9" name="Footer Placeholder 4"/>
          <p:cNvSpPr>
            <a:spLocks noGrp="1"/>
          </p:cNvSpPr>
          <p:nvPr>
            <p:ph type="ftr" sz="quarter" idx="11"/>
          </p:nvPr>
        </p:nvSpPr>
        <p:spPr/>
        <p:txBody>
          <a:bodyPr/>
          <a:lstStyle>
            <a:lvl1pPr>
              <a:defRPr smtClean="0">
                <a:solidFill>
                  <a:schemeClr val="tx1"/>
                </a:solidFill>
              </a:defRPr>
            </a:lvl1pPr>
          </a:lstStyle>
          <a:p>
            <a:pPr>
              <a:defRPr/>
            </a:pPr>
            <a:r>
              <a:rPr lang="en-US" dirty="0"/>
              <a:t>Indexes/ Session 11 </a:t>
            </a:r>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108991927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0"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059683" y="1455673"/>
            <a:ext cx="4544059" cy="1694180"/>
          </a:xfrm>
          <a:prstGeom prst="rect">
            <a:avLst/>
          </a:prstGeom>
        </p:spPr>
        <p:txBody>
          <a:bodyPr wrap="square" lIns="0" tIns="0" rIns="0" bIns="0">
            <a:spAutoFit/>
          </a:bodyPr>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45440" y="1070356"/>
            <a:ext cx="8453120" cy="36830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10/23/2021</a:t>
            </a:fld>
            <a:endParaRPr lang="en-US"/>
          </a:p>
        </p:txBody>
      </p:sp>
      <p:sp>
        <p:nvSpPr>
          <p:cNvPr id="6" name="Holder 6"/>
          <p:cNvSpPr>
            <a:spLocks noGrp="1"/>
          </p:cNvSpPr>
          <p:nvPr>
            <p:ph type="sldNum" sz="quarter" idx="7"/>
          </p:nvPr>
        </p:nvSpPr>
        <p:spPr>
          <a:xfrm>
            <a:off x="7882890" y="6569709"/>
            <a:ext cx="934720"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1.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3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617725" y="4211828"/>
            <a:ext cx="1805305" cy="452755"/>
          </a:xfrm>
          <a:prstGeom prst="rect">
            <a:avLst/>
          </a:prstGeom>
        </p:spPr>
        <p:txBody>
          <a:bodyPr vert="horz" wrap="square" lIns="0" tIns="12700" rIns="0" bIns="0" rtlCol="0">
            <a:spAutoFit/>
          </a:bodyPr>
          <a:lstStyle/>
          <a:p>
            <a:pPr marL="12700">
              <a:lnSpc>
                <a:spcPct val="100000"/>
              </a:lnSpc>
              <a:spcBef>
                <a:spcPts val="100"/>
              </a:spcBef>
            </a:pPr>
            <a:r>
              <a:rPr sz="2800" b="1" dirty="0">
                <a:latin typeface="Book Antiqua"/>
                <a:cs typeface="Book Antiqua"/>
              </a:rPr>
              <a:t>Session:</a:t>
            </a:r>
            <a:r>
              <a:rPr sz="2800" b="1" spc="-80" dirty="0">
                <a:latin typeface="Book Antiqua"/>
                <a:cs typeface="Book Antiqua"/>
              </a:rPr>
              <a:t> </a:t>
            </a:r>
            <a:r>
              <a:rPr sz="2800" b="1" dirty="0">
                <a:latin typeface="Book Antiqua"/>
                <a:cs typeface="Book Antiqua"/>
              </a:rPr>
              <a:t>11</a:t>
            </a:r>
            <a:endParaRPr sz="2800">
              <a:latin typeface="Book Antiqua"/>
              <a:cs typeface="Book Antiqua"/>
            </a:endParaRPr>
          </a:p>
        </p:txBody>
      </p:sp>
      <p:sp>
        <p:nvSpPr>
          <p:cNvPr id="7" name="object 7"/>
          <p:cNvSpPr txBox="1"/>
          <p:nvPr/>
        </p:nvSpPr>
        <p:spPr>
          <a:xfrm>
            <a:off x="3624071" y="4749546"/>
            <a:ext cx="1929764" cy="711200"/>
          </a:xfrm>
          <a:prstGeom prst="rect">
            <a:avLst/>
          </a:prstGeom>
        </p:spPr>
        <p:txBody>
          <a:bodyPr vert="horz" wrap="square" lIns="0" tIns="12700" rIns="0" bIns="0" rtlCol="0">
            <a:spAutoFit/>
          </a:bodyPr>
          <a:lstStyle/>
          <a:p>
            <a:pPr marL="12700">
              <a:lnSpc>
                <a:spcPct val="100000"/>
              </a:lnSpc>
              <a:spcBef>
                <a:spcPts val="100"/>
              </a:spcBef>
            </a:pPr>
            <a:r>
              <a:rPr sz="4500" b="1" i="1" spc="-5" dirty="0">
                <a:latin typeface="Book Antiqua"/>
                <a:cs typeface="Book Antiqua"/>
              </a:rPr>
              <a:t>Indexes</a:t>
            </a:r>
            <a:endParaRPr sz="4500">
              <a:latin typeface="Book Antiqua"/>
              <a:cs typeface="Book Antiqua"/>
            </a:endParaRPr>
          </a:p>
        </p:txBody>
      </p:sp>
      <p:sp>
        <p:nvSpPr>
          <p:cNvPr id="8" name="object 8"/>
          <p:cNvSpPr txBox="1">
            <a:spLocks noGrp="1"/>
          </p:cNvSpPr>
          <p:nvPr>
            <p:ph type="title"/>
          </p:nvPr>
        </p:nvSpPr>
        <p:spPr>
          <a:prstGeom prst="rect">
            <a:avLst/>
          </a:prstGeom>
        </p:spPr>
        <p:txBody>
          <a:bodyPr vert="horz" wrap="square" lIns="0" tIns="12700" rIns="0" bIns="0" rtlCol="0">
            <a:spAutoFit/>
          </a:bodyPr>
          <a:lstStyle/>
          <a:p>
            <a:pPr algn="ctr">
              <a:lnSpc>
                <a:spcPct val="100000"/>
              </a:lnSpc>
              <a:spcBef>
                <a:spcPts val="100"/>
              </a:spcBef>
            </a:pPr>
            <a:r>
              <a:rPr spc="-5" dirty="0"/>
              <a:t>Intelligent</a:t>
            </a:r>
          </a:p>
          <a:p>
            <a:pPr marL="12065" marR="5080" algn="ctr">
              <a:lnSpc>
                <a:spcPts val="4500"/>
              </a:lnSpc>
            </a:pPr>
            <a:r>
              <a:rPr spc="-30" dirty="0"/>
              <a:t>Data </a:t>
            </a:r>
            <a:r>
              <a:rPr spc="-35" dirty="0"/>
              <a:t>Management</a:t>
            </a:r>
            <a:r>
              <a:rPr spc="-434" dirty="0"/>
              <a:t> </a:t>
            </a:r>
            <a:r>
              <a:rPr spc="45" dirty="0"/>
              <a:t>with  </a:t>
            </a:r>
            <a:r>
              <a:rPr spc="10" dirty="0"/>
              <a:t>SQL</a:t>
            </a:r>
            <a:r>
              <a:rPr spc="-200" dirty="0"/>
              <a:t> </a:t>
            </a:r>
            <a:r>
              <a:rPr spc="-45" dirty="0"/>
              <a:t>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b="0" spc="130" dirty="0">
                <a:latin typeface="Times New Roman"/>
                <a:cs typeface="Times New Roman"/>
              </a:rPr>
              <a:t>Objectives</a:t>
            </a:r>
            <a:endParaRPr sz="4000">
              <a:latin typeface="Times New Roman"/>
              <a:cs typeface="Times New Roman"/>
            </a:endParaRPr>
          </a:p>
        </p:txBody>
      </p:sp>
      <p:sp>
        <p:nvSpPr>
          <p:cNvPr id="5" name="object 5"/>
          <p:cNvSpPr txBox="1"/>
          <p:nvPr/>
        </p:nvSpPr>
        <p:spPr>
          <a:xfrm>
            <a:off x="7882890" y="6569709"/>
            <a:ext cx="858519"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12" baseline="4629" dirty="0">
                <a:latin typeface="Times New Roman"/>
                <a:cs typeface="Times New Roman"/>
              </a:rPr>
              <a:t>11/</a:t>
            </a:r>
            <a:r>
              <a:rPr sz="1800" spc="-270" baseline="4629" dirty="0">
                <a:latin typeface="Times New Roman"/>
                <a:cs typeface="Times New Roman"/>
              </a:rPr>
              <a:t> </a:t>
            </a:r>
            <a:fld id="{81D60167-4931-47E6-BA6A-407CBD079E47}" type="slidenum">
              <a:rPr sz="1200" dirty="0">
                <a:latin typeface="Times New Roman"/>
                <a:cs typeface="Times New Roman"/>
              </a:rPr>
              <a:t>2</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83540" y="1463040"/>
            <a:ext cx="4535805" cy="1488440"/>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85" dirty="0">
                <a:latin typeface="Times New Roman"/>
                <a:cs typeface="Times New Roman"/>
              </a:rPr>
              <a:t>Define</a:t>
            </a:r>
            <a:r>
              <a:rPr sz="2400" spc="-114" dirty="0">
                <a:latin typeface="Times New Roman"/>
                <a:cs typeface="Times New Roman"/>
              </a:rPr>
              <a:t> </a:t>
            </a:r>
            <a:r>
              <a:rPr sz="2400" spc="135" dirty="0">
                <a:latin typeface="Times New Roman"/>
                <a:cs typeface="Times New Roman"/>
              </a:rPr>
              <a:t>and</a:t>
            </a:r>
            <a:r>
              <a:rPr sz="2400" spc="-90" dirty="0">
                <a:latin typeface="Times New Roman"/>
                <a:cs typeface="Times New Roman"/>
              </a:rPr>
              <a:t> </a:t>
            </a:r>
            <a:r>
              <a:rPr sz="2400" spc="80" dirty="0">
                <a:latin typeface="Times New Roman"/>
                <a:cs typeface="Times New Roman"/>
              </a:rPr>
              <a:t>explain</a:t>
            </a:r>
            <a:r>
              <a:rPr sz="2400" spc="-85" dirty="0">
                <a:latin typeface="Times New Roman"/>
                <a:cs typeface="Times New Roman"/>
              </a:rPr>
              <a:t> </a:t>
            </a:r>
            <a:r>
              <a:rPr sz="2400" spc="80" dirty="0">
                <a:latin typeface="Times New Roman"/>
                <a:cs typeface="Times New Roman"/>
              </a:rPr>
              <a:t>Indexes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 </a:t>
            </a:r>
            <a:r>
              <a:rPr sz="2400" spc="75" dirty="0">
                <a:latin typeface="Times New Roman"/>
                <a:cs typeface="Times New Roman"/>
              </a:rPr>
              <a:t>Storage</a:t>
            </a:r>
            <a:r>
              <a:rPr sz="2400" spc="-245" dirty="0">
                <a:latin typeface="Times New Roman"/>
                <a:cs typeface="Times New Roman"/>
              </a:rPr>
              <a:t> </a:t>
            </a:r>
            <a:r>
              <a:rPr sz="2400" spc="114" dirty="0">
                <a:latin typeface="Times New Roman"/>
                <a:cs typeface="Times New Roman"/>
              </a:rPr>
              <a:t>Structure</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 </a:t>
            </a:r>
            <a:r>
              <a:rPr sz="2400" spc="65" dirty="0">
                <a:latin typeface="Times New Roman"/>
                <a:cs typeface="Times New Roman"/>
              </a:rPr>
              <a:t>types </a:t>
            </a:r>
            <a:r>
              <a:rPr sz="2400" spc="70" dirty="0">
                <a:latin typeface="Times New Roman"/>
                <a:cs typeface="Times New Roman"/>
              </a:rPr>
              <a:t>of</a:t>
            </a:r>
            <a:r>
              <a:rPr sz="2400" spc="-400" dirty="0">
                <a:latin typeface="Times New Roman"/>
                <a:cs typeface="Times New Roman"/>
              </a:rPr>
              <a:t> </a:t>
            </a:r>
            <a:r>
              <a:rPr sz="2400" spc="80" dirty="0">
                <a:latin typeface="Times New Roman"/>
                <a:cs typeface="Times New Roman"/>
              </a:rPr>
              <a:t>Indexes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130" dirty="0">
                <a:latin typeface="Times New Roman"/>
                <a:cs typeface="Times New Roman"/>
              </a:rPr>
              <a:t>Understand </a:t>
            </a:r>
            <a:r>
              <a:rPr sz="2400" spc="105" dirty="0">
                <a:latin typeface="Times New Roman"/>
                <a:cs typeface="Times New Roman"/>
              </a:rPr>
              <a:t>Index</a:t>
            </a:r>
            <a:r>
              <a:rPr sz="2400" spc="-390" dirty="0">
                <a:latin typeface="Times New Roman"/>
                <a:cs typeface="Times New Roman"/>
              </a:rPr>
              <a:t> </a:t>
            </a:r>
            <a:r>
              <a:rPr sz="2400" spc="90" dirty="0">
                <a:latin typeface="Times New Roman"/>
                <a:cs typeface="Times New Roman"/>
              </a:rPr>
              <a:t>Management</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530600" cy="635635"/>
          </a:xfrm>
          <a:prstGeom prst="rect">
            <a:avLst/>
          </a:prstGeom>
        </p:spPr>
        <p:txBody>
          <a:bodyPr vert="horz" wrap="square" lIns="0" tIns="12700" rIns="0" bIns="0" rtlCol="0">
            <a:spAutoFit/>
          </a:bodyPr>
          <a:lstStyle/>
          <a:p>
            <a:pPr marL="12700">
              <a:lnSpc>
                <a:spcPct val="100000"/>
              </a:lnSpc>
              <a:spcBef>
                <a:spcPts val="100"/>
              </a:spcBef>
            </a:pPr>
            <a:r>
              <a:rPr sz="4000" b="0" spc="195" dirty="0">
                <a:latin typeface="Times New Roman"/>
                <a:cs typeface="Times New Roman"/>
              </a:rPr>
              <a:t>Introduction</a:t>
            </a:r>
            <a:r>
              <a:rPr sz="4000" b="0" spc="-204" dirty="0">
                <a:latin typeface="Times New Roman"/>
                <a:cs typeface="Times New Roman"/>
              </a:rPr>
              <a:t> </a:t>
            </a:r>
            <a:r>
              <a:rPr sz="4000" b="0" spc="-250" dirty="0">
                <a:latin typeface="Times New Roman"/>
                <a:cs typeface="Times New Roman"/>
              </a:rPr>
              <a:t>1-2</a:t>
            </a:r>
            <a:endParaRPr sz="4000">
              <a:latin typeface="Times New Roman"/>
              <a:cs typeface="Times New Roman"/>
            </a:endParaRPr>
          </a:p>
        </p:txBody>
      </p:sp>
      <p:sp>
        <p:nvSpPr>
          <p:cNvPr id="6" name="object 6"/>
          <p:cNvSpPr txBox="1"/>
          <p:nvPr/>
        </p:nvSpPr>
        <p:spPr>
          <a:xfrm>
            <a:off x="7882890" y="6569709"/>
            <a:ext cx="858519"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12" baseline="4629" dirty="0">
                <a:latin typeface="Times New Roman"/>
                <a:cs typeface="Times New Roman"/>
              </a:rPr>
              <a:t>11/</a:t>
            </a:r>
            <a:r>
              <a:rPr sz="1800" spc="-270" baseline="4629" dirty="0">
                <a:latin typeface="Times New Roman"/>
                <a:cs typeface="Times New Roman"/>
              </a:rPr>
              <a:t> </a:t>
            </a:r>
            <a:fld id="{81D60167-4931-47E6-BA6A-407CBD079E47}" type="slidenum">
              <a:rPr sz="1200" dirty="0">
                <a:latin typeface="Times New Roman"/>
                <a:cs typeface="Times New Roman"/>
              </a:rPr>
              <a:t>3</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137921" y="799083"/>
            <a:ext cx="8715375" cy="635000"/>
          </a:xfrm>
          <a:prstGeom prst="rect">
            <a:avLst/>
          </a:prstGeom>
        </p:spPr>
        <p:txBody>
          <a:bodyPr vert="horz" wrap="square" lIns="0" tIns="12065" rIns="0" bIns="0" rtlCol="0">
            <a:spAutoFit/>
          </a:bodyPr>
          <a:lstStyle/>
          <a:p>
            <a:pPr marL="353695" marR="5080" indent="-341630">
              <a:lnSpc>
                <a:spcPct val="100000"/>
              </a:lnSpc>
              <a:spcBef>
                <a:spcPts val="95"/>
              </a:spcBef>
            </a:pPr>
            <a:r>
              <a:rPr sz="2000" spc="-5" dirty="0">
                <a:latin typeface="Segoe UI Symbol"/>
                <a:cs typeface="Segoe UI Symbol"/>
              </a:rPr>
              <a:t>⮚ </a:t>
            </a:r>
            <a:r>
              <a:rPr sz="2000" spc="70" dirty="0">
                <a:latin typeface="Times New Roman"/>
                <a:cs typeface="Times New Roman"/>
              </a:rPr>
              <a:t>Indexes </a:t>
            </a:r>
            <a:r>
              <a:rPr sz="2000" spc="55" dirty="0">
                <a:latin typeface="Times New Roman"/>
                <a:cs typeface="Times New Roman"/>
              </a:rPr>
              <a:t>are </a:t>
            </a:r>
            <a:r>
              <a:rPr sz="2000" spc="30" dirty="0">
                <a:latin typeface="Times New Roman"/>
                <a:cs typeface="Times New Roman"/>
              </a:rPr>
              <a:t>special </a:t>
            </a:r>
            <a:r>
              <a:rPr sz="2000" spc="80" dirty="0">
                <a:latin typeface="Times New Roman"/>
                <a:cs typeface="Times New Roman"/>
              </a:rPr>
              <a:t>data </a:t>
            </a:r>
            <a:r>
              <a:rPr sz="2000" spc="75" dirty="0">
                <a:latin typeface="Times New Roman"/>
                <a:cs typeface="Times New Roman"/>
              </a:rPr>
              <a:t>structures </a:t>
            </a:r>
            <a:r>
              <a:rPr sz="2000" spc="50" dirty="0">
                <a:latin typeface="Times New Roman"/>
                <a:cs typeface="Times New Roman"/>
              </a:rPr>
              <a:t>associated </a:t>
            </a:r>
            <a:r>
              <a:rPr sz="2000" spc="90" dirty="0">
                <a:latin typeface="Times New Roman"/>
                <a:cs typeface="Times New Roman"/>
              </a:rPr>
              <a:t>with </a:t>
            </a:r>
            <a:r>
              <a:rPr sz="2000" spc="50" dirty="0">
                <a:latin typeface="Times New Roman"/>
                <a:cs typeface="Times New Roman"/>
              </a:rPr>
              <a:t>tables </a:t>
            </a:r>
            <a:r>
              <a:rPr sz="2000" spc="90" dirty="0">
                <a:latin typeface="Times New Roman"/>
                <a:cs typeface="Times New Roman"/>
              </a:rPr>
              <a:t>or </a:t>
            </a:r>
            <a:r>
              <a:rPr sz="2000" spc="30" dirty="0">
                <a:latin typeface="Times New Roman"/>
                <a:cs typeface="Times New Roman"/>
              </a:rPr>
              <a:t>views </a:t>
            </a:r>
            <a:r>
              <a:rPr sz="2000" spc="114" dirty="0">
                <a:latin typeface="Times New Roman"/>
                <a:cs typeface="Times New Roman"/>
              </a:rPr>
              <a:t>that </a:t>
            </a:r>
            <a:r>
              <a:rPr sz="2000" spc="80" dirty="0">
                <a:latin typeface="Times New Roman"/>
                <a:cs typeface="Times New Roman"/>
              </a:rPr>
              <a:t>help  </a:t>
            </a:r>
            <a:r>
              <a:rPr sz="2000" spc="65" dirty="0">
                <a:latin typeface="Times New Roman"/>
                <a:cs typeface="Times New Roman"/>
              </a:rPr>
              <a:t>speed</a:t>
            </a:r>
            <a:r>
              <a:rPr sz="2000" spc="-65" dirty="0">
                <a:latin typeface="Times New Roman"/>
                <a:cs typeface="Times New Roman"/>
              </a:rPr>
              <a:t> </a:t>
            </a:r>
            <a:r>
              <a:rPr sz="2000" spc="125" dirty="0">
                <a:latin typeface="Times New Roman"/>
                <a:cs typeface="Times New Roman"/>
              </a:rPr>
              <a:t>up</a:t>
            </a:r>
            <a:r>
              <a:rPr sz="2000" spc="-80" dirty="0">
                <a:latin typeface="Times New Roman"/>
                <a:cs typeface="Times New Roman"/>
              </a:rPr>
              <a:t> </a:t>
            </a:r>
            <a:r>
              <a:rPr sz="2000" spc="110" dirty="0">
                <a:latin typeface="Times New Roman"/>
                <a:cs typeface="Times New Roman"/>
              </a:rPr>
              <a:t>the</a:t>
            </a:r>
            <a:r>
              <a:rPr sz="2000" spc="-60" dirty="0">
                <a:latin typeface="Times New Roman"/>
                <a:cs typeface="Times New Roman"/>
              </a:rPr>
              <a:t> </a:t>
            </a:r>
            <a:r>
              <a:rPr sz="2000" spc="65" dirty="0">
                <a:latin typeface="Times New Roman"/>
                <a:cs typeface="Times New Roman"/>
              </a:rPr>
              <a:t>query.</a:t>
            </a:r>
            <a:endParaRPr sz="2000">
              <a:latin typeface="Times New Roman"/>
              <a:cs typeface="Times New Roman"/>
            </a:endParaRPr>
          </a:p>
        </p:txBody>
      </p:sp>
      <p:graphicFrame>
        <p:nvGraphicFramePr>
          <p:cNvPr id="4" name="object 4"/>
          <p:cNvGraphicFramePr>
            <a:graphicFrameLocks noGrp="1"/>
          </p:cNvGraphicFramePr>
          <p:nvPr/>
        </p:nvGraphicFramePr>
        <p:xfrm>
          <a:off x="435559" y="1694052"/>
          <a:ext cx="8490585" cy="4725782"/>
        </p:xfrm>
        <a:graphic>
          <a:graphicData uri="http://schemas.openxmlformats.org/drawingml/2006/table">
            <a:tbl>
              <a:tblPr firstRow="1" bandRow="1">
                <a:tableStyleId>{2D5ABB26-0587-4C30-8999-92F81FD0307C}</a:tableStyleId>
              </a:tblPr>
              <a:tblGrid>
                <a:gridCol w="1339215">
                  <a:extLst>
                    <a:ext uri="{9D8B030D-6E8A-4147-A177-3AD203B41FA5}">
                      <a16:colId xmlns:a16="http://schemas.microsoft.com/office/drawing/2014/main" val="20000"/>
                    </a:ext>
                  </a:extLst>
                </a:gridCol>
                <a:gridCol w="7151370">
                  <a:extLst>
                    <a:ext uri="{9D8B030D-6E8A-4147-A177-3AD203B41FA5}">
                      <a16:colId xmlns:a16="http://schemas.microsoft.com/office/drawing/2014/main" val="20001"/>
                    </a:ext>
                  </a:extLst>
                </a:gridCol>
              </a:tblGrid>
              <a:tr h="206883">
                <a:tc>
                  <a:txBody>
                    <a:bodyPr/>
                    <a:lstStyle/>
                    <a:p>
                      <a:pPr marL="207010">
                        <a:lnSpc>
                          <a:spcPts val="1530"/>
                        </a:lnSpc>
                      </a:pPr>
                      <a:r>
                        <a:rPr sz="1400" b="1" spc="-5" dirty="0">
                          <a:solidFill>
                            <a:srgbClr val="FFFFFF"/>
                          </a:solidFill>
                          <a:latin typeface="Arial"/>
                          <a:cs typeface="Arial"/>
                        </a:rPr>
                        <a:t>Index</a:t>
                      </a:r>
                      <a:r>
                        <a:rPr sz="1400" b="1" spc="-30" dirty="0">
                          <a:solidFill>
                            <a:srgbClr val="FFFFFF"/>
                          </a:solidFill>
                          <a:latin typeface="Arial"/>
                          <a:cs typeface="Arial"/>
                        </a:rPr>
                        <a:t> </a:t>
                      </a:r>
                      <a:r>
                        <a:rPr sz="1400" b="1" spc="-10" dirty="0">
                          <a:solidFill>
                            <a:srgbClr val="FFFFFF"/>
                          </a:solidFill>
                          <a:latin typeface="Arial"/>
                          <a:cs typeface="Arial"/>
                        </a:rPr>
                        <a:t>Type</a:t>
                      </a:r>
                      <a:endParaRPr sz="1400">
                        <a:latin typeface="Arial"/>
                        <a:cs typeface="Arial"/>
                      </a:endParaRPr>
                    </a:p>
                  </a:txBody>
                  <a:tcPr marL="0" marR="0" marT="0" marB="0">
                    <a:lnL w="12700">
                      <a:solidFill>
                        <a:srgbClr val="FFFFFF"/>
                      </a:solidFill>
                      <a:prstDash val="solid"/>
                    </a:lnL>
                    <a:lnR w="12700">
                      <a:solidFill>
                        <a:srgbClr val="000000"/>
                      </a:solidFill>
                      <a:prstDash val="solid"/>
                    </a:lnR>
                    <a:lnT w="12700">
                      <a:solidFill>
                        <a:srgbClr val="FFFFFF"/>
                      </a:solidFill>
                      <a:prstDash val="solid"/>
                    </a:lnT>
                    <a:lnB w="12700">
                      <a:solidFill>
                        <a:srgbClr val="000000"/>
                      </a:solidFill>
                      <a:prstDash val="solid"/>
                    </a:lnB>
                    <a:solidFill>
                      <a:srgbClr val="6F2F9F"/>
                    </a:solidFill>
                  </a:tcPr>
                </a:tc>
                <a:tc>
                  <a:txBody>
                    <a:bodyPr/>
                    <a:lstStyle/>
                    <a:p>
                      <a:pPr marL="1270" algn="ctr">
                        <a:lnSpc>
                          <a:spcPts val="1530"/>
                        </a:lnSpc>
                      </a:pPr>
                      <a:r>
                        <a:rPr sz="1400" b="1" spc="-5" dirty="0">
                          <a:solidFill>
                            <a:srgbClr val="FFFFFF"/>
                          </a:solidFill>
                          <a:latin typeface="Arial"/>
                          <a:cs typeface="Arial"/>
                        </a:rPr>
                        <a:t>Description</a:t>
                      </a:r>
                      <a:endParaRPr sz="1400">
                        <a:latin typeface="Arial"/>
                        <a:cs typeface="Arial"/>
                      </a:endParaRPr>
                    </a:p>
                  </a:txBody>
                  <a:tcPr marL="0" marR="0" marT="0" marB="0">
                    <a:lnL w="12700">
                      <a:solidFill>
                        <a:srgbClr val="000000"/>
                      </a:solidFill>
                      <a:prstDash val="solid"/>
                    </a:lnL>
                    <a:lnR w="12700">
                      <a:solidFill>
                        <a:srgbClr val="FFFFFF"/>
                      </a:solidFill>
                      <a:prstDash val="solid"/>
                    </a:lnR>
                    <a:lnT w="12700">
                      <a:solidFill>
                        <a:srgbClr val="FFFFFF"/>
                      </a:solidFill>
                      <a:prstDash val="solid"/>
                    </a:lnT>
                    <a:lnB w="12700">
                      <a:solidFill>
                        <a:srgbClr val="000000"/>
                      </a:solidFill>
                      <a:prstDash val="solid"/>
                    </a:lnB>
                    <a:solidFill>
                      <a:srgbClr val="6F2F9F"/>
                    </a:solidFill>
                  </a:tcPr>
                </a:tc>
                <a:extLst>
                  <a:ext uri="{0D108BD9-81ED-4DB2-BD59-A6C34878D82A}">
                    <a16:rowId xmlns:a16="http://schemas.microsoft.com/office/drawing/2014/main" val="10000"/>
                  </a:ext>
                </a:extLst>
              </a:tr>
              <a:tr h="510031">
                <a:tc>
                  <a:txBody>
                    <a:bodyPr/>
                    <a:lstStyle/>
                    <a:p>
                      <a:pPr>
                        <a:lnSpc>
                          <a:spcPct val="100000"/>
                        </a:lnSpc>
                        <a:spcBef>
                          <a:spcPts val="25"/>
                        </a:spcBef>
                      </a:pPr>
                      <a:endParaRPr sz="1050">
                        <a:latin typeface="Times New Roman"/>
                        <a:cs typeface="Times New Roman"/>
                      </a:endParaRPr>
                    </a:p>
                    <a:p>
                      <a:pPr marL="67945">
                        <a:lnSpc>
                          <a:spcPct val="100000"/>
                        </a:lnSpc>
                      </a:pPr>
                      <a:r>
                        <a:rPr sz="1150" b="1" dirty="0">
                          <a:latin typeface="Arial"/>
                          <a:cs typeface="Arial"/>
                        </a:rPr>
                        <a:t>Clustered</a:t>
                      </a:r>
                      <a:endParaRPr sz="1150">
                        <a:latin typeface="Arial"/>
                        <a:cs typeface="Arial"/>
                      </a:endParaRPr>
                    </a:p>
                  </a:txBody>
                  <a:tcPr marL="0" marR="0" marT="3175"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a:lnSpc>
                          <a:spcPts val="1290"/>
                        </a:lnSpc>
                      </a:pPr>
                      <a:r>
                        <a:rPr sz="1150" dirty="0">
                          <a:latin typeface="Arial"/>
                          <a:cs typeface="Arial"/>
                        </a:rPr>
                        <a:t>It</a:t>
                      </a:r>
                      <a:r>
                        <a:rPr sz="1150" spc="145" dirty="0">
                          <a:latin typeface="Arial"/>
                          <a:cs typeface="Arial"/>
                        </a:rPr>
                        <a:t> </a:t>
                      </a:r>
                      <a:r>
                        <a:rPr sz="1150" dirty="0">
                          <a:latin typeface="Arial"/>
                          <a:cs typeface="Arial"/>
                        </a:rPr>
                        <a:t>sorts</a:t>
                      </a:r>
                      <a:r>
                        <a:rPr sz="1150" spc="150" dirty="0">
                          <a:latin typeface="Arial"/>
                          <a:cs typeface="Arial"/>
                        </a:rPr>
                        <a:t> </a:t>
                      </a:r>
                      <a:r>
                        <a:rPr sz="1150" dirty="0">
                          <a:latin typeface="Arial"/>
                          <a:cs typeface="Arial"/>
                        </a:rPr>
                        <a:t>and</a:t>
                      </a:r>
                      <a:r>
                        <a:rPr sz="1150" spc="140" dirty="0">
                          <a:latin typeface="Arial"/>
                          <a:cs typeface="Arial"/>
                        </a:rPr>
                        <a:t> </a:t>
                      </a:r>
                      <a:r>
                        <a:rPr sz="1150" dirty="0">
                          <a:latin typeface="Arial"/>
                          <a:cs typeface="Arial"/>
                        </a:rPr>
                        <a:t>stores</a:t>
                      </a:r>
                      <a:r>
                        <a:rPr sz="1150" spc="155" dirty="0">
                          <a:latin typeface="Arial"/>
                          <a:cs typeface="Arial"/>
                        </a:rPr>
                        <a:t> </a:t>
                      </a:r>
                      <a:r>
                        <a:rPr sz="1150" dirty="0">
                          <a:latin typeface="Arial"/>
                          <a:cs typeface="Arial"/>
                        </a:rPr>
                        <a:t>the</a:t>
                      </a:r>
                      <a:r>
                        <a:rPr sz="1150" spc="145" dirty="0">
                          <a:latin typeface="Arial"/>
                          <a:cs typeface="Arial"/>
                        </a:rPr>
                        <a:t> </a:t>
                      </a:r>
                      <a:r>
                        <a:rPr sz="1150" dirty="0">
                          <a:latin typeface="Arial"/>
                          <a:cs typeface="Arial"/>
                        </a:rPr>
                        <a:t>data</a:t>
                      </a:r>
                      <a:r>
                        <a:rPr sz="1150" spc="155" dirty="0">
                          <a:latin typeface="Arial"/>
                          <a:cs typeface="Arial"/>
                        </a:rPr>
                        <a:t> </a:t>
                      </a:r>
                      <a:r>
                        <a:rPr sz="1150" spc="-5" dirty="0">
                          <a:latin typeface="Arial"/>
                          <a:cs typeface="Arial"/>
                        </a:rPr>
                        <a:t>rows</a:t>
                      </a:r>
                      <a:r>
                        <a:rPr sz="1150" spc="150" dirty="0">
                          <a:latin typeface="Arial"/>
                          <a:cs typeface="Arial"/>
                        </a:rPr>
                        <a:t> </a:t>
                      </a:r>
                      <a:r>
                        <a:rPr sz="1150" dirty="0">
                          <a:latin typeface="Arial"/>
                          <a:cs typeface="Arial"/>
                        </a:rPr>
                        <a:t>of</a:t>
                      </a:r>
                      <a:r>
                        <a:rPr sz="1150" spc="145" dirty="0">
                          <a:latin typeface="Arial"/>
                          <a:cs typeface="Arial"/>
                        </a:rPr>
                        <a:t> </a:t>
                      </a:r>
                      <a:r>
                        <a:rPr sz="1150" dirty="0">
                          <a:latin typeface="Arial"/>
                          <a:cs typeface="Arial"/>
                        </a:rPr>
                        <a:t>a</a:t>
                      </a:r>
                      <a:r>
                        <a:rPr sz="1150" spc="160" dirty="0">
                          <a:latin typeface="Arial"/>
                          <a:cs typeface="Arial"/>
                        </a:rPr>
                        <a:t> </a:t>
                      </a:r>
                      <a:r>
                        <a:rPr sz="1150" spc="-5" dirty="0">
                          <a:latin typeface="Arial"/>
                          <a:cs typeface="Arial"/>
                        </a:rPr>
                        <a:t>table</a:t>
                      </a:r>
                      <a:r>
                        <a:rPr sz="1150" spc="145" dirty="0">
                          <a:latin typeface="Arial"/>
                          <a:cs typeface="Arial"/>
                        </a:rPr>
                        <a:t> </a:t>
                      </a:r>
                      <a:r>
                        <a:rPr sz="1150" dirty="0">
                          <a:latin typeface="Arial"/>
                          <a:cs typeface="Arial"/>
                        </a:rPr>
                        <a:t>or</a:t>
                      </a:r>
                      <a:r>
                        <a:rPr sz="1150" spc="150" dirty="0">
                          <a:latin typeface="Arial"/>
                          <a:cs typeface="Arial"/>
                        </a:rPr>
                        <a:t> </a:t>
                      </a:r>
                      <a:r>
                        <a:rPr sz="1150" spc="-5" dirty="0">
                          <a:latin typeface="Arial"/>
                          <a:cs typeface="Arial"/>
                        </a:rPr>
                        <a:t>view</a:t>
                      </a:r>
                      <a:r>
                        <a:rPr sz="1150" spc="140" dirty="0">
                          <a:latin typeface="Arial"/>
                          <a:cs typeface="Arial"/>
                        </a:rPr>
                        <a:t> </a:t>
                      </a:r>
                      <a:r>
                        <a:rPr sz="1150" spc="-5" dirty="0">
                          <a:latin typeface="Arial"/>
                          <a:cs typeface="Arial"/>
                        </a:rPr>
                        <a:t>in</a:t>
                      </a:r>
                      <a:r>
                        <a:rPr sz="1150" spc="145" dirty="0">
                          <a:latin typeface="Arial"/>
                          <a:cs typeface="Arial"/>
                        </a:rPr>
                        <a:t> </a:t>
                      </a:r>
                      <a:r>
                        <a:rPr sz="1150" dirty="0">
                          <a:latin typeface="Arial"/>
                          <a:cs typeface="Arial"/>
                        </a:rPr>
                        <a:t>order</a:t>
                      </a:r>
                      <a:r>
                        <a:rPr sz="1150" spc="145" dirty="0">
                          <a:latin typeface="Arial"/>
                          <a:cs typeface="Arial"/>
                        </a:rPr>
                        <a:t> </a:t>
                      </a:r>
                      <a:r>
                        <a:rPr sz="1150" spc="-5" dirty="0">
                          <a:latin typeface="Arial"/>
                          <a:cs typeface="Arial"/>
                        </a:rPr>
                        <a:t>based</a:t>
                      </a:r>
                      <a:r>
                        <a:rPr sz="1150" spc="145" dirty="0">
                          <a:latin typeface="Arial"/>
                          <a:cs typeface="Arial"/>
                        </a:rPr>
                        <a:t> </a:t>
                      </a:r>
                      <a:r>
                        <a:rPr sz="1150" dirty="0">
                          <a:latin typeface="Arial"/>
                          <a:cs typeface="Arial"/>
                        </a:rPr>
                        <a:t>on</a:t>
                      </a:r>
                      <a:r>
                        <a:rPr sz="1150" spc="145" dirty="0">
                          <a:latin typeface="Arial"/>
                          <a:cs typeface="Arial"/>
                        </a:rPr>
                        <a:t> </a:t>
                      </a:r>
                      <a:r>
                        <a:rPr sz="1150" dirty="0">
                          <a:latin typeface="Arial"/>
                          <a:cs typeface="Arial"/>
                        </a:rPr>
                        <a:t>the</a:t>
                      </a:r>
                      <a:r>
                        <a:rPr sz="1150" spc="145" dirty="0">
                          <a:latin typeface="Arial"/>
                          <a:cs typeface="Arial"/>
                        </a:rPr>
                        <a:t> </a:t>
                      </a:r>
                      <a:r>
                        <a:rPr sz="1150" spc="-5" dirty="0">
                          <a:latin typeface="Arial"/>
                          <a:cs typeface="Arial"/>
                        </a:rPr>
                        <a:t>clustered</a:t>
                      </a:r>
                      <a:r>
                        <a:rPr sz="1150" spc="150" dirty="0">
                          <a:latin typeface="Arial"/>
                          <a:cs typeface="Arial"/>
                        </a:rPr>
                        <a:t> </a:t>
                      </a:r>
                      <a:r>
                        <a:rPr sz="1150" spc="-5" dirty="0">
                          <a:latin typeface="Arial"/>
                          <a:cs typeface="Arial"/>
                        </a:rPr>
                        <a:t>index</a:t>
                      </a:r>
                      <a:r>
                        <a:rPr sz="1150" spc="140" dirty="0">
                          <a:latin typeface="Arial"/>
                          <a:cs typeface="Arial"/>
                        </a:rPr>
                        <a:t> </a:t>
                      </a:r>
                      <a:r>
                        <a:rPr sz="1150" dirty="0">
                          <a:latin typeface="Arial"/>
                          <a:cs typeface="Arial"/>
                        </a:rPr>
                        <a:t>key.</a:t>
                      </a:r>
                      <a:r>
                        <a:rPr sz="1150" spc="150" dirty="0">
                          <a:latin typeface="Arial"/>
                          <a:cs typeface="Arial"/>
                        </a:rPr>
                        <a:t> </a:t>
                      </a:r>
                      <a:r>
                        <a:rPr sz="1150" spc="-5" dirty="0">
                          <a:latin typeface="Arial"/>
                          <a:cs typeface="Arial"/>
                        </a:rPr>
                        <a:t>Clustered</a:t>
                      </a:r>
                      <a:endParaRPr sz="1150">
                        <a:latin typeface="Arial"/>
                        <a:cs typeface="Arial"/>
                      </a:endParaRPr>
                    </a:p>
                    <a:p>
                      <a:pPr marL="67945" marR="60325">
                        <a:lnSpc>
                          <a:spcPts val="1300"/>
                        </a:lnSpc>
                        <a:spcBef>
                          <a:spcPts val="25"/>
                        </a:spcBef>
                      </a:pPr>
                      <a:r>
                        <a:rPr sz="1150" spc="-5" dirty="0">
                          <a:latin typeface="Arial"/>
                          <a:cs typeface="Arial"/>
                        </a:rPr>
                        <a:t>index </a:t>
                      </a:r>
                      <a:r>
                        <a:rPr sz="1150" dirty="0">
                          <a:latin typeface="Arial"/>
                          <a:cs typeface="Arial"/>
                        </a:rPr>
                        <a:t>is </a:t>
                      </a:r>
                      <a:r>
                        <a:rPr sz="1150" spc="-5" dirty="0">
                          <a:latin typeface="Arial"/>
                          <a:cs typeface="Arial"/>
                        </a:rPr>
                        <a:t>implemented </a:t>
                      </a:r>
                      <a:r>
                        <a:rPr sz="1150" dirty="0">
                          <a:latin typeface="Arial"/>
                          <a:cs typeface="Arial"/>
                        </a:rPr>
                        <a:t>as a B-tree </a:t>
                      </a:r>
                      <a:r>
                        <a:rPr sz="1150" spc="-5" dirty="0">
                          <a:latin typeface="Arial"/>
                          <a:cs typeface="Arial"/>
                        </a:rPr>
                        <a:t>index </a:t>
                      </a:r>
                      <a:r>
                        <a:rPr sz="1150" dirty="0">
                          <a:latin typeface="Arial"/>
                          <a:cs typeface="Arial"/>
                        </a:rPr>
                        <a:t>structure that </a:t>
                      </a:r>
                      <a:r>
                        <a:rPr sz="1150" spc="-5" dirty="0">
                          <a:latin typeface="Arial"/>
                          <a:cs typeface="Arial"/>
                        </a:rPr>
                        <a:t>supports </a:t>
                      </a:r>
                      <a:r>
                        <a:rPr sz="1150" dirty="0">
                          <a:latin typeface="Arial"/>
                          <a:cs typeface="Arial"/>
                        </a:rPr>
                        <a:t>fast retrieval </a:t>
                      </a:r>
                      <a:r>
                        <a:rPr sz="1150" spc="-5" dirty="0">
                          <a:latin typeface="Arial"/>
                          <a:cs typeface="Arial"/>
                        </a:rPr>
                        <a:t>of </a:t>
                      </a:r>
                      <a:r>
                        <a:rPr sz="1150" dirty="0">
                          <a:latin typeface="Arial"/>
                          <a:cs typeface="Arial"/>
                        </a:rPr>
                        <a:t>the rows, based </a:t>
                      </a:r>
                      <a:r>
                        <a:rPr sz="1150" spc="-5" dirty="0">
                          <a:latin typeface="Arial"/>
                          <a:cs typeface="Arial"/>
                        </a:rPr>
                        <a:t>on their  </a:t>
                      </a:r>
                      <a:r>
                        <a:rPr sz="1150" dirty="0">
                          <a:latin typeface="Arial"/>
                          <a:cs typeface="Arial"/>
                        </a:rPr>
                        <a:t>clustered index key</a:t>
                      </a:r>
                      <a:r>
                        <a:rPr sz="1150" spc="-35" dirty="0">
                          <a:latin typeface="Arial"/>
                          <a:cs typeface="Arial"/>
                        </a:rPr>
                        <a:t> </a:t>
                      </a:r>
                      <a:r>
                        <a:rPr sz="1150" dirty="0">
                          <a:latin typeface="Arial"/>
                          <a:cs typeface="Arial"/>
                        </a:rPr>
                        <a:t>values.</a:t>
                      </a:r>
                      <a:endParaRPr sz="1150">
                        <a:latin typeface="Arial"/>
                        <a:cs typeface="Arial"/>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1"/>
                  </a:ext>
                </a:extLst>
              </a:tr>
              <a:tr h="849884">
                <a:tc>
                  <a:txBody>
                    <a:bodyPr/>
                    <a:lstStyle/>
                    <a:p>
                      <a:pPr>
                        <a:lnSpc>
                          <a:spcPct val="100000"/>
                        </a:lnSpc>
                      </a:pPr>
                      <a:endParaRPr sz="1300">
                        <a:latin typeface="Times New Roman"/>
                        <a:cs typeface="Times New Roman"/>
                      </a:endParaRPr>
                    </a:p>
                    <a:p>
                      <a:pPr marL="67945">
                        <a:lnSpc>
                          <a:spcPct val="100000"/>
                        </a:lnSpc>
                        <a:spcBef>
                          <a:spcPts val="1080"/>
                        </a:spcBef>
                      </a:pPr>
                      <a:r>
                        <a:rPr sz="1150" b="1" dirty="0">
                          <a:latin typeface="Arial"/>
                          <a:cs typeface="Arial"/>
                        </a:rPr>
                        <a:t>Nonclustered</a:t>
                      </a:r>
                      <a:endParaRPr sz="1150">
                        <a:latin typeface="Arial"/>
                        <a:cs typeface="Arial"/>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marR="59690" algn="just">
                        <a:lnSpc>
                          <a:spcPts val="1340"/>
                        </a:lnSpc>
                        <a:spcBef>
                          <a:spcPts val="10"/>
                        </a:spcBef>
                      </a:pPr>
                      <a:r>
                        <a:rPr sz="1150" spc="-5" dirty="0">
                          <a:latin typeface="Arial"/>
                          <a:cs typeface="Arial"/>
                        </a:rPr>
                        <a:t>Non-clustered index </a:t>
                      </a:r>
                      <a:r>
                        <a:rPr sz="1150" dirty="0">
                          <a:latin typeface="Arial"/>
                          <a:cs typeface="Arial"/>
                        </a:rPr>
                        <a:t>is </a:t>
                      </a:r>
                      <a:r>
                        <a:rPr sz="1150" spc="-5" dirty="0">
                          <a:latin typeface="Arial"/>
                          <a:cs typeface="Arial"/>
                        </a:rPr>
                        <a:t>defined on </a:t>
                      </a:r>
                      <a:r>
                        <a:rPr sz="1150" dirty="0">
                          <a:latin typeface="Arial"/>
                          <a:cs typeface="Arial"/>
                        </a:rPr>
                        <a:t>a </a:t>
                      </a:r>
                      <a:r>
                        <a:rPr sz="1150" spc="-5" dirty="0">
                          <a:latin typeface="Arial"/>
                          <a:cs typeface="Arial"/>
                        </a:rPr>
                        <a:t>table </a:t>
                      </a:r>
                      <a:r>
                        <a:rPr sz="1150" dirty="0">
                          <a:latin typeface="Arial"/>
                          <a:cs typeface="Arial"/>
                        </a:rPr>
                        <a:t>or </a:t>
                      </a:r>
                      <a:r>
                        <a:rPr sz="1150" spc="-5" dirty="0">
                          <a:latin typeface="Arial"/>
                          <a:cs typeface="Arial"/>
                        </a:rPr>
                        <a:t>view </a:t>
                      </a:r>
                      <a:r>
                        <a:rPr sz="1150" dirty="0">
                          <a:latin typeface="Arial"/>
                          <a:cs typeface="Arial"/>
                        </a:rPr>
                        <a:t>that has data in </a:t>
                      </a:r>
                      <a:r>
                        <a:rPr sz="1150" spc="-5" dirty="0">
                          <a:latin typeface="Arial"/>
                          <a:cs typeface="Arial"/>
                        </a:rPr>
                        <a:t>either </a:t>
                      </a:r>
                      <a:r>
                        <a:rPr sz="1150" dirty="0">
                          <a:latin typeface="Arial"/>
                          <a:cs typeface="Arial"/>
                        </a:rPr>
                        <a:t>a clustered structure or on a heap.  </a:t>
                      </a:r>
                      <a:r>
                        <a:rPr sz="1150" spc="-5" dirty="0">
                          <a:latin typeface="Arial"/>
                          <a:cs typeface="Arial"/>
                        </a:rPr>
                        <a:t>Each index row in </a:t>
                      </a:r>
                      <a:r>
                        <a:rPr sz="1150" dirty="0">
                          <a:latin typeface="Arial"/>
                          <a:cs typeface="Arial"/>
                        </a:rPr>
                        <a:t>the </a:t>
                      </a:r>
                      <a:r>
                        <a:rPr sz="1150" spc="-5" dirty="0">
                          <a:latin typeface="Arial"/>
                          <a:cs typeface="Arial"/>
                        </a:rPr>
                        <a:t>non-clustered index contains nonclustered </a:t>
                      </a:r>
                      <a:r>
                        <a:rPr sz="1150" dirty="0">
                          <a:latin typeface="Arial"/>
                          <a:cs typeface="Arial"/>
                        </a:rPr>
                        <a:t>key </a:t>
                      </a:r>
                      <a:r>
                        <a:rPr sz="1150" spc="-5" dirty="0">
                          <a:latin typeface="Arial"/>
                          <a:cs typeface="Arial"/>
                        </a:rPr>
                        <a:t>value </a:t>
                      </a:r>
                      <a:r>
                        <a:rPr sz="1150" dirty="0">
                          <a:latin typeface="Arial"/>
                          <a:cs typeface="Arial"/>
                        </a:rPr>
                        <a:t>and a row locator. Locator </a:t>
                      </a:r>
                      <a:r>
                        <a:rPr sz="1150" spc="-5" dirty="0">
                          <a:latin typeface="Arial"/>
                          <a:cs typeface="Arial"/>
                        </a:rPr>
                        <a:t>points  to</a:t>
                      </a:r>
                      <a:r>
                        <a:rPr sz="1150" spc="70" dirty="0">
                          <a:latin typeface="Arial"/>
                          <a:cs typeface="Arial"/>
                        </a:rPr>
                        <a:t> </a:t>
                      </a:r>
                      <a:r>
                        <a:rPr sz="1150" dirty="0">
                          <a:latin typeface="Arial"/>
                          <a:cs typeface="Arial"/>
                        </a:rPr>
                        <a:t>data</a:t>
                      </a:r>
                      <a:r>
                        <a:rPr sz="1150" spc="75" dirty="0">
                          <a:latin typeface="Arial"/>
                          <a:cs typeface="Arial"/>
                        </a:rPr>
                        <a:t> </a:t>
                      </a:r>
                      <a:r>
                        <a:rPr sz="1150" dirty="0">
                          <a:latin typeface="Arial"/>
                          <a:cs typeface="Arial"/>
                        </a:rPr>
                        <a:t>row</a:t>
                      </a:r>
                      <a:r>
                        <a:rPr sz="1150" spc="65" dirty="0">
                          <a:latin typeface="Arial"/>
                          <a:cs typeface="Arial"/>
                        </a:rPr>
                        <a:t> </a:t>
                      </a:r>
                      <a:r>
                        <a:rPr sz="1150" dirty="0">
                          <a:latin typeface="Arial"/>
                          <a:cs typeface="Arial"/>
                        </a:rPr>
                        <a:t>in</a:t>
                      </a:r>
                      <a:r>
                        <a:rPr sz="1150" spc="70" dirty="0">
                          <a:latin typeface="Arial"/>
                          <a:cs typeface="Arial"/>
                        </a:rPr>
                        <a:t> </a:t>
                      </a:r>
                      <a:r>
                        <a:rPr sz="1150" dirty="0">
                          <a:latin typeface="Arial"/>
                          <a:cs typeface="Arial"/>
                        </a:rPr>
                        <a:t>the</a:t>
                      </a:r>
                      <a:r>
                        <a:rPr sz="1150" spc="70" dirty="0">
                          <a:latin typeface="Arial"/>
                          <a:cs typeface="Arial"/>
                        </a:rPr>
                        <a:t> </a:t>
                      </a:r>
                      <a:r>
                        <a:rPr sz="1150" dirty="0">
                          <a:latin typeface="Arial"/>
                          <a:cs typeface="Arial"/>
                        </a:rPr>
                        <a:t>clustered</a:t>
                      </a:r>
                      <a:r>
                        <a:rPr sz="1150" spc="70" dirty="0">
                          <a:latin typeface="Arial"/>
                          <a:cs typeface="Arial"/>
                        </a:rPr>
                        <a:t> </a:t>
                      </a:r>
                      <a:r>
                        <a:rPr sz="1150" spc="-5" dirty="0">
                          <a:latin typeface="Arial"/>
                          <a:cs typeface="Arial"/>
                        </a:rPr>
                        <a:t>index</a:t>
                      </a:r>
                      <a:r>
                        <a:rPr sz="1150" spc="70" dirty="0">
                          <a:latin typeface="Arial"/>
                          <a:cs typeface="Arial"/>
                        </a:rPr>
                        <a:t> </a:t>
                      </a:r>
                      <a:r>
                        <a:rPr sz="1150" dirty="0">
                          <a:latin typeface="Arial"/>
                          <a:cs typeface="Arial"/>
                        </a:rPr>
                        <a:t>or</a:t>
                      </a:r>
                      <a:r>
                        <a:rPr sz="1150" spc="65" dirty="0">
                          <a:latin typeface="Arial"/>
                          <a:cs typeface="Arial"/>
                        </a:rPr>
                        <a:t> </a:t>
                      </a:r>
                      <a:r>
                        <a:rPr sz="1150" dirty="0">
                          <a:latin typeface="Arial"/>
                          <a:cs typeface="Arial"/>
                        </a:rPr>
                        <a:t>heap</a:t>
                      </a:r>
                      <a:r>
                        <a:rPr sz="1150" spc="65" dirty="0">
                          <a:latin typeface="Arial"/>
                          <a:cs typeface="Arial"/>
                        </a:rPr>
                        <a:t> </a:t>
                      </a:r>
                      <a:r>
                        <a:rPr sz="1150" spc="-5" dirty="0">
                          <a:latin typeface="Arial"/>
                          <a:cs typeface="Arial"/>
                        </a:rPr>
                        <a:t>having</a:t>
                      </a:r>
                      <a:r>
                        <a:rPr sz="1150" spc="65" dirty="0">
                          <a:latin typeface="Arial"/>
                          <a:cs typeface="Arial"/>
                        </a:rPr>
                        <a:t> </a:t>
                      </a:r>
                      <a:r>
                        <a:rPr sz="1150" dirty="0">
                          <a:latin typeface="Arial"/>
                          <a:cs typeface="Arial"/>
                        </a:rPr>
                        <a:t>key</a:t>
                      </a:r>
                      <a:r>
                        <a:rPr sz="1150" spc="75" dirty="0">
                          <a:latin typeface="Arial"/>
                          <a:cs typeface="Arial"/>
                        </a:rPr>
                        <a:t> </a:t>
                      </a:r>
                      <a:r>
                        <a:rPr sz="1150" spc="-5" dirty="0">
                          <a:latin typeface="Arial"/>
                          <a:cs typeface="Arial"/>
                        </a:rPr>
                        <a:t>value.</a:t>
                      </a:r>
                      <a:r>
                        <a:rPr sz="1150" spc="65" dirty="0">
                          <a:latin typeface="Arial"/>
                          <a:cs typeface="Arial"/>
                        </a:rPr>
                        <a:t> </a:t>
                      </a:r>
                      <a:r>
                        <a:rPr sz="1150" spc="-5" dirty="0">
                          <a:latin typeface="Arial"/>
                          <a:cs typeface="Arial"/>
                        </a:rPr>
                        <a:t>Rows</a:t>
                      </a:r>
                      <a:r>
                        <a:rPr sz="1150" spc="60" dirty="0">
                          <a:latin typeface="Arial"/>
                          <a:cs typeface="Arial"/>
                        </a:rPr>
                        <a:t> </a:t>
                      </a:r>
                      <a:r>
                        <a:rPr sz="1150" dirty="0">
                          <a:latin typeface="Arial"/>
                          <a:cs typeface="Arial"/>
                        </a:rPr>
                        <a:t>in</a:t>
                      </a:r>
                      <a:r>
                        <a:rPr sz="1150" spc="65" dirty="0">
                          <a:latin typeface="Arial"/>
                          <a:cs typeface="Arial"/>
                        </a:rPr>
                        <a:t> </a:t>
                      </a:r>
                      <a:r>
                        <a:rPr sz="1150" spc="-5" dirty="0">
                          <a:latin typeface="Arial"/>
                          <a:cs typeface="Arial"/>
                        </a:rPr>
                        <a:t>index</a:t>
                      </a:r>
                      <a:r>
                        <a:rPr sz="1150" spc="65" dirty="0">
                          <a:latin typeface="Arial"/>
                          <a:cs typeface="Arial"/>
                        </a:rPr>
                        <a:t> </a:t>
                      </a:r>
                      <a:r>
                        <a:rPr sz="1150" dirty="0">
                          <a:latin typeface="Arial"/>
                          <a:cs typeface="Arial"/>
                        </a:rPr>
                        <a:t>are</a:t>
                      </a:r>
                      <a:r>
                        <a:rPr sz="1150" spc="75" dirty="0">
                          <a:latin typeface="Arial"/>
                          <a:cs typeface="Arial"/>
                        </a:rPr>
                        <a:t> </a:t>
                      </a:r>
                      <a:r>
                        <a:rPr sz="1150" dirty="0">
                          <a:latin typeface="Arial"/>
                          <a:cs typeface="Arial"/>
                        </a:rPr>
                        <a:t>stored</a:t>
                      </a:r>
                      <a:r>
                        <a:rPr sz="1150" spc="70" dirty="0">
                          <a:latin typeface="Arial"/>
                          <a:cs typeface="Arial"/>
                        </a:rPr>
                        <a:t> </a:t>
                      </a:r>
                      <a:r>
                        <a:rPr sz="1150" dirty="0">
                          <a:latin typeface="Arial"/>
                          <a:cs typeface="Arial"/>
                        </a:rPr>
                        <a:t>in</a:t>
                      </a:r>
                      <a:r>
                        <a:rPr sz="1150" spc="70" dirty="0">
                          <a:latin typeface="Arial"/>
                          <a:cs typeface="Arial"/>
                        </a:rPr>
                        <a:t> </a:t>
                      </a:r>
                      <a:r>
                        <a:rPr sz="1150" dirty="0">
                          <a:latin typeface="Arial"/>
                          <a:cs typeface="Arial"/>
                        </a:rPr>
                        <a:t>order</a:t>
                      </a:r>
                      <a:r>
                        <a:rPr sz="1150" spc="65" dirty="0">
                          <a:latin typeface="Arial"/>
                          <a:cs typeface="Arial"/>
                        </a:rPr>
                        <a:t> </a:t>
                      </a:r>
                      <a:r>
                        <a:rPr sz="1150" dirty="0">
                          <a:latin typeface="Arial"/>
                          <a:cs typeface="Arial"/>
                        </a:rPr>
                        <a:t>of</a:t>
                      </a:r>
                      <a:r>
                        <a:rPr sz="1150" spc="75" dirty="0">
                          <a:latin typeface="Arial"/>
                          <a:cs typeface="Arial"/>
                        </a:rPr>
                        <a:t> </a:t>
                      </a:r>
                      <a:r>
                        <a:rPr sz="1150" dirty="0">
                          <a:latin typeface="Arial"/>
                          <a:cs typeface="Arial"/>
                        </a:rPr>
                        <a:t>the</a:t>
                      </a:r>
                      <a:r>
                        <a:rPr sz="1150" spc="75" dirty="0">
                          <a:latin typeface="Arial"/>
                          <a:cs typeface="Arial"/>
                        </a:rPr>
                        <a:t> </a:t>
                      </a:r>
                      <a:r>
                        <a:rPr sz="1150" spc="-5" dirty="0">
                          <a:latin typeface="Arial"/>
                          <a:cs typeface="Arial"/>
                        </a:rPr>
                        <a:t>index</a:t>
                      </a:r>
                      <a:endParaRPr sz="1150">
                        <a:latin typeface="Arial"/>
                        <a:cs typeface="Arial"/>
                      </a:endParaRPr>
                    </a:p>
                    <a:p>
                      <a:pPr marL="67945" marR="60325" algn="just">
                        <a:lnSpc>
                          <a:spcPts val="1300"/>
                        </a:lnSpc>
                      </a:pPr>
                      <a:r>
                        <a:rPr sz="1150" dirty="0">
                          <a:latin typeface="Arial"/>
                          <a:cs typeface="Arial"/>
                        </a:rPr>
                        <a:t>key </a:t>
                      </a:r>
                      <a:r>
                        <a:rPr sz="1150" spc="-5" dirty="0">
                          <a:latin typeface="Arial"/>
                          <a:cs typeface="Arial"/>
                        </a:rPr>
                        <a:t>values, </a:t>
                      </a:r>
                      <a:r>
                        <a:rPr sz="1150" dirty="0">
                          <a:latin typeface="Arial"/>
                          <a:cs typeface="Arial"/>
                        </a:rPr>
                        <a:t>but the data </a:t>
                      </a:r>
                      <a:r>
                        <a:rPr sz="1150" spc="-5" dirty="0">
                          <a:latin typeface="Arial"/>
                          <a:cs typeface="Arial"/>
                        </a:rPr>
                        <a:t>rows </a:t>
                      </a:r>
                      <a:r>
                        <a:rPr sz="1150" dirty="0">
                          <a:latin typeface="Arial"/>
                          <a:cs typeface="Arial"/>
                        </a:rPr>
                        <a:t>are not </a:t>
                      </a:r>
                      <a:r>
                        <a:rPr sz="1150" spc="-5" dirty="0">
                          <a:latin typeface="Arial"/>
                          <a:cs typeface="Arial"/>
                        </a:rPr>
                        <a:t>guaranteed to </a:t>
                      </a:r>
                      <a:r>
                        <a:rPr sz="1150" dirty="0">
                          <a:latin typeface="Arial"/>
                          <a:cs typeface="Arial"/>
                        </a:rPr>
                        <a:t>be </a:t>
                      </a:r>
                      <a:r>
                        <a:rPr sz="1150" spc="-5" dirty="0">
                          <a:latin typeface="Arial"/>
                          <a:cs typeface="Arial"/>
                        </a:rPr>
                        <a:t>in </a:t>
                      </a:r>
                      <a:r>
                        <a:rPr sz="1150" dirty="0">
                          <a:latin typeface="Arial"/>
                          <a:cs typeface="Arial"/>
                        </a:rPr>
                        <a:t>any </a:t>
                      </a:r>
                      <a:r>
                        <a:rPr sz="1150" spc="-5" dirty="0">
                          <a:latin typeface="Arial"/>
                          <a:cs typeface="Arial"/>
                        </a:rPr>
                        <a:t>particular </a:t>
                      </a:r>
                      <a:r>
                        <a:rPr sz="1150" dirty="0">
                          <a:latin typeface="Arial"/>
                          <a:cs typeface="Arial"/>
                        </a:rPr>
                        <a:t>order </a:t>
                      </a:r>
                      <a:r>
                        <a:rPr sz="1150" spc="-5" dirty="0">
                          <a:latin typeface="Arial"/>
                          <a:cs typeface="Arial"/>
                        </a:rPr>
                        <a:t>unless </a:t>
                      </a:r>
                      <a:r>
                        <a:rPr sz="1150" dirty="0">
                          <a:latin typeface="Arial"/>
                          <a:cs typeface="Arial"/>
                        </a:rPr>
                        <a:t>a clustered </a:t>
                      </a:r>
                      <a:r>
                        <a:rPr sz="1150" spc="-5" dirty="0">
                          <a:latin typeface="Arial"/>
                          <a:cs typeface="Arial"/>
                        </a:rPr>
                        <a:t>index is  </a:t>
                      </a:r>
                      <a:r>
                        <a:rPr sz="1150" dirty="0">
                          <a:latin typeface="Arial"/>
                          <a:cs typeface="Arial"/>
                        </a:rPr>
                        <a:t>created on the</a:t>
                      </a:r>
                      <a:r>
                        <a:rPr sz="1150" spc="-10" dirty="0">
                          <a:latin typeface="Arial"/>
                          <a:cs typeface="Arial"/>
                        </a:rPr>
                        <a:t> </a:t>
                      </a:r>
                      <a:r>
                        <a:rPr sz="1150" dirty="0">
                          <a:latin typeface="Arial"/>
                          <a:cs typeface="Arial"/>
                        </a:rPr>
                        <a:t>table.</a:t>
                      </a:r>
                      <a:endParaRPr sz="1150">
                        <a:latin typeface="Arial"/>
                        <a:cs typeface="Arial"/>
                      </a:endParaRPr>
                    </a:p>
                  </a:txBody>
                  <a:tcPr marL="0" marR="0" marT="127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2"/>
                  </a:ext>
                </a:extLst>
              </a:tr>
              <a:tr h="679958">
                <a:tc>
                  <a:txBody>
                    <a:bodyPr/>
                    <a:lstStyle/>
                    <a:p>
                      <a:pPr>
                        <a:lnSpc>
                          <a:spcPct val="100000"/>
                        </a:lnSpc>
                        <a:spcBef>
                          <a:spcPts val="5"/>
                        </a:spcBef>
                      </a:pPr>
                      <a:endParaRPr sz="1650">
                        <a:latin typeface="Times New Roman"/>
                        <a:cs typeface="Times New Roman"/>
                      </a:endParaRPr>
                    </a:p>
                    <a:p>
                      <a:pPr marL="67945">
                        <a:lnSpc>
                          <a:spcPct val="100000"/>
                        </a:lnSpc>
                      </a:pPr>
                      <a:r>
                        <a:rPr sz="1150" b="1" dirty="0">
                          <a:latin typeface="Arial"/>
                          <a:cs typeface="Arial"/>
                        </a:rPr>
                        <a:t>Unique</a:t>
                      </a:r>
                      <a:endParaRPr sz="1150">
                        <a:latin typeface="Arial"/>
                        <a:cs typeface="Arial"/>
                      </a:endParaRPr>
                    </a:p>
                  </a:txBody>
                  <a:tcPr marL="0" marR="0" marT="635"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a:lnSpc>
                          <a:spcPts val="1290"/>
                        </a:lnSpc>
                      </a:pPr>
                      <a:r>
                        <a:rPr sz="1150" spc="-5" dirty="0">
                          <a:latin typeface="Arial"/>
                          <a:cs typeface="Arial"/>
                        </a:rPr>
                        <a:t>Unique</a:t>
                      </a:r>
                      <a:r>
                        <a:rPr sz="1150" spc="130" dirty="0">
                          <a:latin typeface="Arial"/>
                          <a:cs typeface="Arial"/>
                        </a:rPr>
                        <a:t> </a:t>
                      </a:r>
                      <a:r>
                        <a:rPr sz="1150" spc="-5" dirty="0">
                          <a:latin typeface="Arial"/>
                          <a:cs typeface="Arial"/>
                        </a:rPr>
                        <a:t>index</a:t>
                      </a:r>
                      <a:r>
                        <a:rPr sz="1150" spc="120" dirty="0">
                          <a:latin typeface="Arial"/>
                          <a:cs typeface="Arial"/>
                        </a:rPr>
                        <a:t> </a:t>
                      </a:r>
                      <a:r>
                        <a:rPr sz="1150" dirty="0">
                          <a:latin typeface="Arial"/>
                          <a:cs typeface="Arial"/>
                        </a:rPr>
                        <a:t>ensures</a:t>
                      </a:r>
                      <a:r>
                        <a:rPr sz="1150" spc="125" dirty="0">
                          <a:latin typeface="Arial"/>
                          <a:cs typeface="Arial"/>
                        </a:rPr>
                        <a:t> </a:t>
                      </a:r>
                      <a:r>
                        <a:rPr sz="1150" dirty="0">
                          <a:latin typeface="Arial"/>
                          <a:cs typeface="Arial"/>
                        </a:rPr>
                        <a:t>that</a:t>
                      </a:r>
                      <a:r>
                        <a:rPr sz="1150" spc="135" dirty="0">
                          <a:latin typeface="Arial"/>
                          <a:cs typeface="Arial"/>
                        </a:rPr>
                        <a:t> </a:t>
                      </a:r>
                      <a:r>
                        <a:rPr sz="1150" dirty="0">
                          <a:latin typeface="Arial"/>
                          <a:cs typeface="Arial"/>
                        </a:rPr>
                        <a:t>index</a:t>
                      </a:r>
                      <a:r>
                        <a:rPr sz="1150" spc="125" dirty="0">
                          <a:latin typeface="Arial"/>
                          <a:cs typeface="Arial"/>
                        </a:rPr>
                        <a:t> </a:t>
                      </a:r>
                      <a:r>
                        <a:rPr sz="1150" dirty="0">
                          <a:latin typeface="Arial"/>
                          <a:cs typeface="Arial"/>
                        </a:rPr>
                        <a:t>key</a:t>
                      </a:r>
                      <a:r>
                        <a:rPr sz="1150" spc="125" dirty="0">
                          <a:latin typeface="Arial"/>
                          <a:cs typeface="Arial"/>
                        </a:rPr>
                        <a:t> </a:t>
                      </a:r>
                      <a:r>
                        <a:rPr sz="1150" spc="-5" dirty="0">
                          <a:latin typeface="Arial"/>
                          <a:cs typeface="Arial"/>
                        </a:rPr>
                        <a:t>contains</a:t>
                      </a:r>
                      <a:r>
                        <a:rPr sz="1150" spc="125" dirty="0">
                          <a:latin typeface="Arial"/>
                          <a:cs typeface="Arial"/>
                        </a:rPr>
                        <a:t> </a:t>
                      </a:r>
                      <a:r>
                        <a:rPr sz="1150" dirty="0">
                          <a:latin typeface="Arial"/>
                          <a:cs typeface="Arial"/>
                        </a:rPr>
                        <a:t>no</a:t>
                      </a:r>
                      <a:r>
                        <a:rPr sz="1150" spc="130" dirty="0">
                          <a:latin typeface="Arial"/>
                          <a:cs typeface="Arial"/>
                        </a:rPr>
                        <a:t> </a:t>
                      </a:r>
                      <a:r>
                        <a:rPr sz="1150" spc="-5" dirty="0">
                          <a:latin typeface="Arial"/>
                          <a:cs typeface="Arial"/>
                        </a:rPr>
                        <a:t>duplicate</a:t>
                      </a:r>
                      <a:r>
                        <a:rPr sz="1150" spc="130" dirty="0">
                          <a:latin typeface="Arial"/>
                          <a:cs typeface="Arial"/>
                        </a:rPr>
                        <a:t> </a:t>
                      </a:r>
                      <a:r>
                        <a:rPr sz="1150" spc="-5" dirty="0">
                          <a:latin typeface="Arial"/>
                          <a:cs typeface="Arial"/>
                        </a:rPr>
                        <a:t>values</a:t>
                      </a:r>
                      <a:r>
                        <a:rPr sz="1150" spc="125" dirty="0">
                          <a:latin typeface="Arial"/>
                          <a:cs typeface="Arial"/>
                        </a:rPr>
                        <a:t> </a:t>
                      </a:r>
                      <a:r>
                        <a:rPr sz="1150" spc="-5" dirty="0">
                          <a:latin typeface="Arial"/>
                          <a:cs typeface="Arial"/>
                        </a:rPr>
                        <a:t>and</a:t>
                      </a:r>
                      <a:r>
                        <a:rPr sz="1150" spc="130" dirty="0">
                          <a:latin typeface="Arial"/>
                          <a:cs typeface="Arial"/>
                        </a:rPr>
                        <a:t> </a:t>
                      </a:r>
                      <a:r>
                        <a:rPr sz="1150" dirty="0">
                          <a:latin typeface="Arial"/>
                          <a:cs typeface="Arial"/>
                        </a:rPr>
                        <a:t>therefore,</a:t>
                      </a:r>
                      <a:r>
                        <a:rPr sz="1150" spc="140" dirty="0">
                          <a:latin typeface="Arial"/>
                          <a:cs typeface="Arial"/>
                        </a:rPr>
                        <a:t> </a:t>
                      </a:r>
                      <a:r>
                        <a:rPr sz="1150" dirty="0">
                          <a:latin typeface="Arial"/>
                          <a:cs typeface="Arial"/>
                        </a:rPr>
                        <a:t>each</a:t>
                      </a:r>
                      <a:r>
                        <a:rPr sz="1150" spc="125" dirty="0">
                          <a:latin typeface="Arial"/>
                          <a:cs typeface="Arial"/>
                        </a:rPr>
                        <a:t> </a:t>
                      </a:r>
                      <a:r>
                        <a:rPr sz="1150" spc="-5" dirty="0">
                          <a:latin typeface="Arial"/>
                          <a:cs typeface="Arial"/>
                        </a:rPr>
                        <a:t>row</a:t>
                      </a:r>
                      <a:r>
                        <a:rPr sz="1150" spc="130" dirty="0">
                          <a:latin typeface="Arial"/>
                          <a:cs typeface="Arial"/>
                        </a:rPr>
                        <a:t> </a:t>
                      </a:r>
                      <a:r>
                        <a:rPr sz="1150" spc="-5" dirty="0">
                          <a:latin typeface="Arial"/>
                          <a:cs typeface="Arial"/>
                        </a:rPr>
                        <a:t>in</a:t>
                      </a:r>
                      <a:r>
                        <a:rPr sz="1150" spc="125" dirty="0">
                          <a:latin typeface="Arial"/>
                          <a:cs typeface="Arial"/>
                        </a:rPr>
                        <a:t> </a:t>
                      </a:r>
                      <a:r>
                        <a:rPr sz="1150" dirty="0">
                          <a:latin typeface="Arial"/>
                          <a:cs typeface="Arial"/>
                        </a:rPr>
                        <a:t>the</a:t>
                      </a:r>
                      <a:r>
                        <a:rPr sz="1150" spc="135" dirty="0">
                          <a:latin typeface="Arial"/>
                          <a:cs typeface="Arial"/>
                        </a:rPr>
                        <a:t> </a:t>
                      </a:r>
                      <a:r>
                        <a:rPr sz="1150" spc="-5" dirty="0">
                          <a:latin typeface="Arial"/>
                          <a:cs typeface="Arial"/>
                        </a:rPr>
                        <a:t>table</a:t>
                      </a:r>
                      <a:r>
                        <a:rPr sz="1150" spc="130" dirty="0">
                          <a:latin typeface="Arial"/>
                          <a:cs typeface="Arial"/>
                        </a:rPr>
                        <a:t> </a:t>
                      </a:r>
                      <a:r>
                        <a:rPr sz="1150" dirty="0">
                          <a:latin typeface="Arial"/>
                          <a:cs typeface="Arial"/>
                        </a:rPr>
                        <a:t>or</a:t>
                      </a:r>
                      <a:endParaRPr sz="1150">
                        <a:latin typeface="Arial"/>
                        <a:cs typeface="Arial"/>
                      </a:endParaRPr>
                    </a:p>
                    <a:p>
                      <a:pPr marL="67945">
                        <a:lnSpc>
                          <a:spcPts val="1360"/>
                        </a:lnSpc>
                      </a:pPr>
                      <a:r>
                        <a:rPr sz="1150" spc="-5" dirty="0">
                          <a:latin typeface="Arial"/>
                          <a:cs typeface="Arial"/>
                        </a:rPr>
                        <a:t>view </a:t>
                      </a:r>
                      <a:r>
                        <a:rPr sz="1150" dirty="0">
                          <a:latin typeface="Arial"/>
                          <a:cs typeface="Arial"/>
                        </a:rPr>
                        <a:t>is in some way</a:t>
                      </a:r>
                      <a:r>
                        <a:rPr sz="1150" spc="-35" dirty="0">
                          <a:latin typeface="Arial"/>
                          <a:cs typeface="Arial"/>
                        </a:rPr>
                        <a:t> </a:t>
                      </a:r>
                      <a:r>
                        <a:rPr sz="1150" spc="-5" dirty="0">
                          <a:latin typeface="Arial"/>
                          <a:cs typeface="Arial"/>
                        </a:rPr>
                        <a:t>unique.</a:t>
                      </a:r>
                      <a:endParaRPr sz="1150">
                        <a:latin typeface="Arial"/>
                        <a:cs typeface="Arial"/>
                      </a:endParaRPr>
                    </a:p>
                    <a:p>
                      <a:pPr>
                        <a:lnSpc>
                          <a:spcPct val="100000"/>
                        </a:lnSpc>
                        <a:spcBef>
                          <a:spcPts val="50"/>
                        </a:spcBef>
                      </a:pPr>
                      <a:endParaRPr sz="1050">
                        <a:latin typeface="Times New Roman"/>
                        <a:cs typeface="Times New Roman"/>
                      </a:endParaRPr>
                    </a:p>
                    <a:p>
                      <a:pPr marL="67945">
                        <a:lnSpc>
                          <a:spcPts val="1340"/>
                        </a:lnSpc>
                      </a:pPr>
                      <a:r>
                        <a:rPr sz="1150" spc="-5" dirty="0">
                          <a:latin typeface="Arial"/>
                          <a:cs typeface="Arial"/>
                        </a:rPr>
                        <a:t>Uniqueness </a:t>
                      </a:r>
                      <a:r>
                        <a:rPr sz="1150" dirty="0">
                          <a:latin typeface="Arial"/>
                          <a:cs typeface="Arial"/>
                        </a:rPr>
                        <a:t>can be a property of both clustered and nonclustered</a:t>
                      </a:r>
                      <a:r>
                        <a:rPr sz="1150" spc="-35" dirty="0">
                          <a:latin typeface="Arial"/>
                          <a:cs typeface="Arial"/>
                        </a:rPr>
                        <a:t> </a:t>
                      </a:r>
                      <a:r>
                        <a:rPr sz="1150" spc="-5" dirty="0">
                          <a:latin typeface="Arial"/>
                          <a:cs typeface="Arial"/>
                        </a:rPr>
                        <a:t>indexes.</a:t>
                      </a:r>
                      <a:endParaRPr sz="1150">
                        <a:latin typeface="Arial"/>
                        <a:cs typeface="Arial"/>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3"/>
                  </a:ext>
                </a:extLst>
              </a:tr>
              <a:tr h="926210">
                <a:tc>
                  <a:txBody>
                    <a:bodyPr/>
                    <a:lstStyle/>
                    <a:p>
                      <a:pPr>
                        <a:lnSpc>
                          <a:spcPct val="100000"/>
                        </a:lnSpc>
                      </a:pPr>
                      <a:endParaRPr sz="1300">
                        <a:latin typeface="Times New Roman"/>
                        <a:cs typeface="Times New Roman"/>
                      </a:endParaRPr>
                    </a:p>
                    <a:p>
                      <a:pPr>
                        <a:lnSpc>
                          <a:spcPct val="100000"/>
                        </a:lnSpc>
                        <a:spcBef>
                          <a:spcPts val="55"/>
                        </a:spcBef>
                      </a:pPr>
                      <a:endParaRPr sz="1150">
                        <a:latin typeface="Times New Roman"/>
                        <a:cs typeface="Times New Roman"/>
                      </a:endParaRPr>
                    </a:p>
                    <a:p>
                      <a:pPr marL="67945">
                        <a:lnSpc>
                          <a:spcPct val="100000"/>
                        </a:lnSpc>
                      </a:pPr>
                      <a:r>
                        <a:rPr sz="1150" b="1" dirty="0">
                          <a:latin typeface="Arial"/>
                          <a:cs typeface="Arial"/>
                        </a:rPr>
                        <a:t>Columnstore</a:t>
                      </a:r>
                      <a:endParaRPr sz="1150">
                        <a:latin typeface="Arial"/>
                        <a:cs typeface="Arial"/>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marR="60960" algn="just">
                        <a:lnSpc>
                          <a:spcPts val="1340"/>
                        </a:lnSpc>
                        <a:spcBef>
                          <a:spcPts val="10"/>
                        </a:spcBef>
                      </a:pPr>
                      <a:r>
                        <a:rPr sz="1150" spc="-5" dirty="0">
                          <a:latin typeface="Arial"/>
                          <a:cs typeface="Arial"/>
                        </a:rPr>
                        <a:t>Columnstore index </a:t>
                      </a:r>
                      <a:r>
                        <a:rPr sz="1150" dirty="0">
                          <a:latin typeface="Arial"/>
                          <a:cs typeface="Arial"/>
                        </a:rPr>
                        <a:t>stores and manages data by using </a:t>
                      </a:r>
                      <a:r>
                        <a:rPr sz="1150" spc="-5" dirty="0">
                          <a:latin typeface="Arial"/>
                          <a:cs typeface="Arial"/>
                        </a:rPr>
                        <a:t>column-based </a:t>
                      </a:r>
                      <a:r>
                        <a:rPr sz="1150" dirty="0">
                          <a:latin typeface="Arial"/>
                          <a:cs typeface="Arial"/>
                        </a:rPr>
                        <a:t>data storage and </a:t>
                      </a:r>
                      <a:r>
                        <a:rPr sz="1150" spc="-5" dirty="0">
                          <a:latin typeface="Arial"/>
                          <a:cs typeface="Arial"/>
                        </a:rPr>
                        <a:t>column-based </a:t>
                      </a:r>
                      <a:r>
                        <a:rPr sz="1150" dirty="0">
                          <a:latin typeface="Arial"/>
                          <a:cs typeface="Arial"/>
                        </a:rPr>
                        <a:t>query  processing in</a:t>
                      </a:r>
                      <a:r>
                        <a:rPr sz="1150" spc="-25" dirty="0">
                          <a:latin typeface="Arial"/>
                          <a:cs typeface="Arial"/>
                        </a:rPr>
                        <a:t> </a:t>
                      </a:r>
                      <a:r>
                        <a:rPr sz="1150" dirty="0">
                          <a:latin typeface="Arial"/>
                          <a:cs typeface="Arial"/>
                        </a:rPr>
                        <a:t>in-memory.</a:t>
                      </a:r>
                      <a:endParaRPr sz="1150">
                        <a:latin typeface="Arial"/>
                        <a:cs typeface="Arial"/>
                      </a:endParaRPr>
                    </a:p>
                    <a:p>
                      <a:pPr marL="67945" marR="60325" algn="just">
                        <a:lnSpc>
                          <a:spcPct val="95700"/>
                        </a:lnSpc>
                        <a:spcBef>
                          <a:spcPts val="560"/>
                        </a:spcBef>
                      </a:pPr>
                      <a:r>
                        <a:rPr sz="1150" spc="-5" dirty="0">
                          <a:latin typeface="Arial"/>
                          <a:cs typeface="Arial"/>
                        </a:rPr>
                        <a:t>Columnstore indexes work well for </a:t>
                      </a:r>
                      <a:r>
                        <a:rPr sz="1150" dirty="0">
                          <a:latin typeface="Arial"/>
                          <a:cs typeface="Arial"/>
                        </a:rPr>
                        <a:t>data </a:t>
                      </a:r>
                      <a:r>
                        <a:rPr sz="1150" spc="-5" dirty="0">
                          <a:latin typeface="Arial"/>
                          <a:cs typeface="Arial"/>
                        </a:rPr>
                        <a:t>warehousing workloads </a:t>
                      </a:r>
                      <a:r>
                        <a:rPr sz="1150" dirty="0">
                          <a:latin typeface="Arial"/>
                          <a:cs typeface="Arial"/>
                        </a:rPr>
                        <a:t>that </a:t>
                      </a:r>
                      <a:r>
                        <a:rPr sz="1150" spc="-5" dirty="0">
                          <a:latin typeface="Arial"/>
                          <a:cs typeface="Arial"/>
                        </a:rPr>
                        <a:t>primarily </a:t>
                      </a:r>
                      <a:r>
                        <a:rPr sz="1150" dirty="0">
                          <a:latin typeface="Arial"/>
                          <a:cs typeface="Arial"/>
                        </a:rPr>
                        <a:t>perform bulk </a:t>
                      </a:r>
                      <a:r>
                        <a:rPr sz="1150" spc="-5" dirty="0">
                          <a:latin typeface="Arial"/>
                          <a:cs typeface="Arial"/>
                        </a:rPr>
                        <a:t>loads </a:t>
                      </a:r>
                      <a:r>
                        <a:rPr sz="1150" dirty="0">
                          <a:latin typeface="Arial"/>
                          <a:cs typeface="Arial"/>
                        </a:rPr>
                        <a:t>and </a:t>
                      </a:r>
                      <a:r>
                        <a:rPr sz="1150" spc="-5" dirty="0">
                          <a:latin typeface="Arial"/>
                          <a:cs typeface="Arial"/>
                        </a:rPr>
                        <a:t>read-  only queries. </a:t>
                      </a:r>
                      <a:r>
                        <a:rPr sz="1150" dirty="0">
                          <a:latin typeface="Arial"/>
                          <a:cs typeface="Arial"/>
                        </a:rPr>
                        <a:t>Use the columnstore </a:t>
                      </a:r>
                      <a:r>
                        <a:rPr sz="1150" spc="-5" dirty="0">
                          <a:latin typeface="Arial"/>
                          <a:cs typeface="Arial"/>
                        </a:rPr>
                        <a:t>index to achieve </a:t>
                      </a:r>
                      <a:r>
                        <a:rPr sz="1150" dirty="0">
                          <a:latin typeface="Arial"/>
                          <a:cs typeface="Arial"/>
                        </a:rPr>
                        <a:t>up to 10x query performance </a:t>
                      </a:r>
                      <a:r>
                        <a:rPr sz="1150" spc="-5" dirty="0">
                          <a:latin typeface="Arial"/>
                          <a:cs typeface="Arial"/>
                        </a:rPr>
                        <a:t>gains over traditional row-  </a:t>
                      </a:r>
                      <a:r>
                        <a:rPr sz="1150" dirty="0">
                          <a:latin typeface="Arial"/>
                          <a:cs typeface="Arial"/>
                        </a:rPr>
                        <a:t>oriented storage, and up </a:t>
                      </a:r>
                      <a:r>
                        <a:rPr sz="1150" spc="-5" dirty="0">
                          <a:latin typeface="Arial"/>
                          <a:cs typeface="Arial"/>
                        </a:rPr>
                        <a:t>to </a:t>
                      </a:r>
                      <a:r>
                        <a:rPr sz="1150" dirty="0">
                          <a:latin typeface="Arial"/>
                          <a:cs typeface="Arial"/>
                        </a:rPr>
                        <a:t>7x data compression </a:t>
                      </a:r>
                      <a:r>
                        <a:rPr sz="1150" spc="-5" dirty="0">
                          <a:latin typeface="Arial"/>
                          <a:cs typeface="Arial"/>
                        </a:rPr>
                        <a:t>over </a:t>
                      </a:r>
                      <a:r>
                        <a:rPr sz="1150" dirty="0">
                          <a:latin typeface="Arial"/>
                          <a:cs typeface="Arial"/>
                        </a:rPr>
                        <a:t>the uncompressed data</a:t>
                      </a:r>
                      <a:r>
                        <a:rPr sz="1150" spc="-45" dirty="0">
                          <a:latin typeface="Arial"/>
                          <a:cs typeface="Arial"/>
                        </a:rPr>
                        <a:t> </a:t>
                      </a:r>
                      <a:r>
                        <a:rPr sz="1150" dirty="0">
                          <a:latin typeface="Arial"/>
                          <a:cs typeface="Arial"/>
                        </a:rPr>
                        <a:t>size.</a:t>
                      </a:r>
                      <a:endParaRPr sz="1150">
                        <a:latin typeface="Arial"/>
                        <a:cs typeface="Arial"/>
                      </a:endParaRPr>
                    </a:p>
                  </a:txBody>
                  <a:tcPr marL="0" marR="0" marT="127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4"/>
                  </a:ext>
                </a:extLst>
              </a:tr>
              <a:tr h="679958">
                <a:tc>
                  <a:txBody>
                    <a:bodyPr/>
                    <a:lstStyle/>
                    <a:p>
                      <a:pPr>
                        <a:lnSpc>
                          <a:spcPct val="100000"/>
                        </a:lnSpc>
                        <a:spcBef>
                          <a:spcPts val="5"/>
                        </a:spcBef>
                      </a:pPr>
                      <a:endParaRPr sz="1650">
                        <a:latin typeface="Times New Roman"/>
                        <a:cs typeface="Times New Roman"/>
                      </a:endParaRPr>
                    </a:p>
                    <a:p>
                      <a:pPr marL="67945">
                        <a:lnSpc>
                          <a:spcPct val="100000"/>
                        </a:lnSpc>
                      </a:pPr>
                      <a:r>
                        <a:rPr sz="1150" b="1" dirty="0">
                          <a:latin typeface="Arial"/>
                          <a:cs typeface="Arial"/>
                        </a:rPr>
                        <a:t>Filtered</a:t>
                      </a:r>
                      <a:endParaRPr sz="1150">
                        <a:latin typeface="Arial"/>
                        <a:cs typeface="Arial"/>
                      </a:endParaRPr>
                    </a:p>
                  </a:txBody>
                  <a:tcPr marL="0" marR="0" marT="635"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marR="60325" algn="just">
                        <a:lnSpc>
                          <a:spcPts val="1340"/>
                        </a:lnSpc>
                        <a:spcBef>
                          <a:spcPts val="10"/>
                        </a:spcBef>
                      </a:pPr>
                      <a:r>
                        <a:rPr sz="1150" dirty="0">
                          <a:latin typeface="Arial"/>
                          <a:cs typeface="Arial"/>
                        </a:rPr>
                        <a:t>Optimized </a:t>
                      </a:r>
                      <a:r>
                        <a:rPr sz="1150" spc="-5" dirty="0">
                          <a:latin typeface="Arial"/>
                          <a:cs typeface="Arial"/>
                        </a:rPr>
                        <a:t>non-clustered index </a:t>
                      </a:r>
                      <a:r>
                        <a:rPr sz="1150" dirty="0">
                          <a:latin typeface="Arial"/>
                          <a:cs typeface="Arial"/>
                        </a:rPr>
                        <a:t>is </a:t>
                      </a:r>
                      <a:r>
                        <a:rPr sz="1150" spc="-5" dirty="0">
                          <a:latin typeface="Arial"/>
                          <a:cs typeface="Arial"/>
                        </a:rPr>
                        <a:t>suited to cover queries </a:t>
                      </a:r>
                      <a:r>
                        <a:rPr sz="1150" dirty="0">
                          <a:latin typeface="Arial"/>
                          <a:cs typeface="Arial"/>
                        </a:rPr>
                        <a:t>that </a:t>
                      </a:r>
                      <a:r>
                        <a:rPr sz="1150" spc="-5" dirty="0">
                          <a:latin typeface="Arial"/>
                          <a:cs typeface="Arial"/>
                        </a:rPr>
                        <a:t>select </a:t>
                      </a:r>
                      <a:r>
                        <a:rPr sz="1150" dirty="0">
                          <a:latin typeface="Arial"/>
                          <a:cs typeface="Arial"/>
                        </a:rPr>
                        <a:t>from a </a:t>
                      </a:r>
                      <a:r>
                        <a:rPr sz="1150" spc="-5" dirty="0">
                          <a:latin typeface="Arial"/>
                          <a:cs typeface="Arial"/>
                        </a:rPr>
                        <a:t>well-defined </a:t>
                      </a:r>
                      <a:r>
                        <a:rPr sz="1150" dirty="0">
                          <a:latin typeface="Arial"/>
                          <a:cs typeface="Arial"/>
                        </a:rPr>
                        <a:t>subset of </a:t>
                      </a:r>
                      <a:r>
                        <a:rPr sz="1150" spc="-5" dirty="0">
                          <a:latin typeface="Arial"/>
                          <a:cs typeface="Arial"/>
                        </a:rPr>
                        <a:t>data. </a:t>
                      </a:r>
                      <a:r>
                        <a:rPr sz="1150" dirty="0">
                          <a:latin typeface="Arial"/>
                          <a:cs typeface="Arial"/>
                        </a:rPr>
                        <a:t>It  </a:t>
                      </a:r>
                      <a:r>
                        <a:rPr sz="1150" spc="-5" dirty="0">
                          <a:latin typeface="Arial"/>
                          <a:cs typeface="Arial"/>
                        </a:rPr>
                        <a:t>uses </a:t>
                      </a:r>
                      <a:r>
                        <a:rPr sz="1150" dirty="0">
                          <a:latin typeface="Arial"/>
                          <a:cs typeface="Arial"/>
                        </a:rPr>
                        <a:t>a </a:t>
                      </a:r>
                      <a:r>
                        <a:rPr sz="1150" spc="-5" dirty="0">
                          <a:latin typeface="Arial"/>
                          <a:cs typeface="Arial"/>
                        </a:rPr>
                        <a:t>filter </a:t>
                      </a:r>
                      <a:r>
                        <a:rPr sz="1150" dirty="0">
                          <a:latin typeface="Arial"/>
                          <a:cs typeface="Arial"/>
                        </a:rPr>
                        <a:t>predicate to </a:t>
                      </a:r>
                      <a:r>
                        <a:rPr sz="1150" spc="-5" dirty="0">
                          <a:latin typeface="Arial"/>
                          <a:cs typeface="Arial"/>
                        </a:rPr>
                        <a:t>index </a:t>
                      </a:r>
                      <a:r>
                        <a:rPr sz="1150" dirty="0">
                          <a:latin typeface="Arial"/>
                          <a:cs typeface="Arial"/>
                        </a:rPr>
                        <a:t>a portion of rows </a:t>
                      </a:r>
                      <a:r>
                        <a:rPr sz="1150" spc="-5" dirty="0">
                          <a:latin typeface="Arial"/>
                          <a:cs typeface="Arial"/>
                        </a:rPr>
                        <a:t>in </a:t>
                      </a:r>
                      <a:r>
                        <a:rPr sz="1150" dirty="0">
                          <a:latin typeface="Arial"/>
                          <a:cs typeface="Arial"/>
                        </a:rPr>
                        <a:t>a </a:t>
                      </a:r>
                      <a:r>
                        <a:rPr sz="1150" spc="-5" dirty="0">
                          <a:latin typeface="Arial"/>
                          <a:cs typeface="Arial"/>
                        </a:rPr>
                        <a:t>table. </a:t>
                      </a:r>
                      <a:r>
                        <a:rPr sz="1150" dirty="0">
                          <a:latin typeface="Arial"/>
                          <a:cs typeface="Arial"/>
                        </a:rPr>
                        <a:t>A </a:t>
                      </a:r>
                      <a:r>
                        <a:rPr sz="1150" spc="-5" dirty="0">
                          <a:latin typeface="Arial"/>
                          <a:cs typeface="Arial"/>
                        </a:rPr>
                        <a:t>well-designed filtered index can improve query  </a:t>
                      </a:r>
                      <a:r>
                        <a:rPr sz="1150" dirty="0">
                          <a:latin typeface="Arial"/>
                          <a:cs typeface="Arial"/>
                        </a:rPr>
                        <a:t>performance, </a:t>
                      </a:r>
                      <a:r>
                        <a:rPr sz="1150" spc="-5" dirty="0">
                          <a:latin typeface="Arial"/>
                          <a:cs typeface="Arial"/>
                        </a:rPr>
                        <a:t>reduce index maintenance </a:t>
                      </a:r>
                      <a:r>
                        <a:rPr sz="1150" dirty="0">
                          <a:latin typeface="Arial"/>
                          <a:cs typeface="Arial"/>
                        </a:rPr>
                        <a:t>costs, and </a:t>
                      </a:r>
                      <a:r>
                        <a:rPr sz="1150" spc="-5" dirty="0">
                          <a:latin typeface="Arial"/>
                          <a:cs typeface="Arial"/>
                        </a:rPr>
                        <a:t>reduce index </a:t>
                      </a:r>
                      <a:r>
                        <a:rPr sz="1150" dirty="0">
                          <a:latin typeface="Arial"/>
                          <a:cs typeface="Arial"/>
                        </a:rPr>
                        <a:t>storage </a:t>
                      </a:r>
                      <a:r>
                        <a:rPr sz="1150" spc="-5" dirty="0">
                          <a:latin typeface="Arial"/>
                          <a:cs typeface="Arial"/>
                        </a:rPr>
                        <a:t>costs </a:t>
                      </a:r>
                      <a:r>
                        <a:rPr sz="1150" dirty="0">
                          <a:latin typeface="Arial"/>
                          <a:cs typeface="Arial"/>
                        </a:rPr>
                        <a:t>compared</a:t>
                      </a:r>
                      <a:r>
                        <a:rPr sz="1150" spc="150" dirty="0">
                          <a:latin typeface="Arial"/>
                          <a:cs typeface="Arial"/>
                        </a:rPr>
                        <a:t> </a:t>
                      </a:r>
                      <a:r>
                        <a:rPr sz="1150" spc="-5" dirty="0">
                          <a:latin typeface="Arial"/>
                          <a:cs typeface="Arial"/>
                        </a:rPr>
                        <a:t>with full-table</a:t>
                      </a:r>
                      <a:endParaRPr sz="1150">
                        <a:latin typeface="Arial"/>
                        <a:cs typeface="Arial"/>
                      </a:endParaRPr>
                    </a:p>
                    <a:p>
                      <a:pPr marL="67945">
                        <a:lnSpc>
                          <a:spcPts val="1225"/>
                        </a:lnSpc>
                      </a:pPr>
                      <a:r>
                        <a:rPr sz="1150" spc="-5" dirty="0">
                          <a:latin typeface="Arial"/>
                          <a:cs typeface="Arial"/>
                        </a:rPr>
                        <a:t>indexes.</a:t>
                      </a:r>
                      <a:endParaRPr sz="1150">
                        <a:latin typeface="Arial"/>
                        <a:cs typeface="Arial"/>
                      </a:endParaRPr>
                    </a:p>
                  </a:txBody>
                  <a:tcPr marL="0" marR="0" marT="127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5"/>
                  </a:ext>
                </a:extLst>
              </a:tr>
              <a:tr h="339966">
                <a:tc>
                  <a:txBody>
                    <a:bodyPr/>
                    <a:lstStyle/>
                    <a:p>
                      <a:pPr marL="67945">
                        <a:lnSpc>
                          <a:spcPct val="100000"/>
                        </a:lnSpc>
                        <a:spcBef>
                          <a:spcPts val="565"/>
                        </a:spcBef>
                      </a:pPr>
                      <a:r>
                        <a:rPr sz="1150" b="1" dirty="0">
                          <a:latin typeface="Arial"/>
                          <a:cs typeface="Arial"/>
                        </a:rPr>
                        <a:t>Spatial</a:t>
                      </a:r>
                      <a:endParaRPr sz="1150">
                        <a:latin typeface="Arial"/>
                        <a:cs typeface="Arial"/>
                      </a:endParaRPr>
                    </a:p>
                  </a:txBody>
                  <a:tcPr marL="0" marR="0" marT="71755" marB="0">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marR="60960">
                        <a:lnSpc>
                          <a:spcPts val="1300"/>
                        </a:lnSpc>
                      </a:pPr>
                      <a:r>
                        <a:rPr sz="1150" dirty="0">
                          <a:latin typeface="Arial"/>
                          <a:cs typeface="Arial"/>
                        </a:rPr>
                        <a:t>It provides the </a:t>
                      </a:r>
                      <a:r>
                        <a:rPr sz="1150" spc="-5" dirty="0">
                          <a:latin typeface="Arial"/>
                          <a:cs typeface="Arial"/>
                        </a:rPr>
                        <a:t>ability to </a:t>
                      </a:r>
                      <a:r>
                        <a:rPr sz="1150" dirty="0">
                          <a:latin typeface="Arial"/>
                          <a:cs typeface="Arial"/>
                        </a:rPr>
                        <a:t>perform certain </a:t>
                      </a:r>
                      <a:r>
                        <a:rPr sz="1150" spc="-5" dirty="0">
                          <a:latin typeface="Arial"/>
                          <a:cs typeface="Arial"/>
                        </a:rPr>
                        <a:t>operations </a:t>
                      </a:r>
                      <a:r>
                        <a:rPr sz="1150" dirty="0">
                          <a:latin typeface="Arial"/>
                          <a:cs typeface="Arial"/>
                        </a:rPr>
                        <a:t>more </a:t>
                      </a:r>
                      <a:r>
                        <a:rPr sz="1150" spc="-5" dirty="0">
                          <a:latin typeface="Arial"/>
                          <a:cs typeface="Arial"/>
                        </a:rPr>
                        <a:t>efficiently </a:t>
                      </a:r>
                      <a:r>
                        <a:rPr sz="1150" dirty="0">
                          <a:latin typeface="Arial"/>
                          <a:cs typeface="Arial"/>
                        </a:rPr>
                        <a:t>on </a:t>
                      </a:r>
                      <a:r>
                        <a:rPr sz="1150" spc="-5" dirty="0">
                          <a:latin typeface="Arial"/>
                          <a:cs typeface="Arial"/>
                        </a:rPr>
                        <a:t>spatial objects </a:t>
                      </a:r>
                      <a:r>
                        <a:rPr sz="1150" dirty="0">
                          <a:latin typeface="Arial"/>
                          <a:cs typeface="Arial"/>
                        </a:rPr>
                        <a:t>in a column </a:t>
                      </a:r>
                      <a:r>
                        <a:rPr sz="1150" spc="-5" dirty="0">
                          <a:latin typeface="Arial"/>
                          <a:cs typeface="Arial"/>
                        </a:rPr>
                        <a:t>of  </a:t>
                      </a:r>
                      <a:r>
                        <a:rPr sz="1150" dirty="0">
                          <a:latin typeface="Arial"/>
                          <a:cs typeface="Arial"/>
                        </a:rPr>
                        <a:t>geometry data</a:t>
                      </a:r>
                      <a:r>
                        <a:rPr sz="1150" spc="-10" dirty="0">
                          <a:latin typeface="Arial"/>
                          <a:cs typeface="Arial"/>
                        </a:rPr>
                        <a:t> </a:t>
                      </a:r>
                      <a:r>
                        <a:rPr sz="1150" dirty="0">
                          <a:latin typeface="Arial"/>
                          <a:cs typeface="Arial"/>
                        </a:rPr>
                        <a:t>type.</a:t>
                      </a:r>
                      <a:endParaRPr sz="1150">
                        <a:latin typeface="Arial"/>
                        <a:cs typeface="Arial"/>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6"/>
                  </a:ext>
                </a:extLst>
              </a:tr>
              <a:tr h="532130">
                <a:tc>
                  <a:txBody>
                    <a:bodyPr/>
                    <a:lstStyle/>
                    <a:p>
                      <a:pPr>
                        <a:lnSpc>
                          <a:spcPct val="100000"/>
                        </a:lnSpc>
                        <a:spcBef>
                          <a:spcPts val="35"/>
                        </a:spcBef>
                      </a:pPr>
                      <a:endParaRPr sz="1100">
                        <a:latin typeface="Times New Roman"/>
                        <a:cs typeface="Times New Roman"/>
                      </a:endParaRPr>
                    </a:p>
                    <a:p>
                      <a:pPr marL="67945">
                        <a:lnSpc>
                          <a:spcPct val="100000"/>
                        </a:lnSpc>
                      </a:pPr>
                      <a:r>
                        <a:rPr sz="1150" b="1" dirty="0">
                          <a:latin typeface="Arial"/>
                          <a:cs typeface="Arial"/>
                        </a:rPr>
                        <a:t>XML</a:t>
                      </a:r>
                      <a:endParaRPr sz="1150">
                        <a:latin typeface="Arial"/>
                        <a:cs typeface="Arial"/>
                      </a:endParaRPr>
                    </a:p>
                  </a:txBody>
                  <a:tcPr marL="0" marR="0" marT="4445" marB="0">
                    <a:lnR w="12700">
                      <a:solidFill>
                        <a:srgbClr val="000000"/>
                      </a:solidFill>
                      <a:prstDash val="solid"/>
                    </a:lnR>
                    <a:lnT w="12700">
                      <a:solidFill>
                        <a:srgbClr val="000000"/>
                      </a:solidFill>
                      <a:prstDash val="solid"/>
                    </a:lnT>
                    <a:solidFill>
                      <a:srgbClr val="FFFFFF"/>
                    </a:solidFill>
                  </a:tcPr>
                </a:tc>
                <a:tc>
                  <a:txBody>
                    <a:bodyPr/>
                    <a:lstStyle/>
                    <a:p>
                      <a:pPr marL="67945">
                        <a:lnSpc>
                          <a:spcPts val="1350"/>
                        </a:lnSpc>
                      </a:pPr>
                      <a:r>
                        <a:rPr sz="1150" dirty="0">
                          <a:latin typeface="Arial"/>
                          <a:cs typeface="Arial"/>
                        </a:rPr>
                        <a:t>Due to large size of XML columns, queries that search within these columns can be </a:t>
                      </a:r>
                      <a:r>
                        <a:rPr sz="1150" spc="-5" dirty="0">
                          <a:latin typeface="Arial"/>
                          <a:cs typeface="Arial"/>
                        </a:rPr>
                        <a:t>slow. </a:t>
                      </a:r>
                      <a:r>
                        <a:rPr sz="1150" dirty="0">
                          <a:latin typeface="Arial"/>
                          <a:cs typeface="Arial"/>
                        </a:rPr>
                        <a:t>You can speed</a:t>
                      </a:r>
                      <a:r>
                        <a:rPr sz="1150" spc="-120" dirty="0">
                          <a:latin typeface="Arial"/>
                          <a:cs typeface="Arial"/>
                        </a:rPr>
                        <a:t> </a:t>
                      </a:r>
                      <a:r>
                        <a:rPr sz="1150" dirty="0">
                          <a:latin typeface="Arial"/>
                          <a:cs typeface="Arial"/>
                        </a:rPr>
                        <a:t>up</a:t>
                      </a:r>
                      <a:endParaRPr sz="1150">
                        <a:latin typeface="Arial"/>
                        <a:cs typeface="Arial"/>
                      </a:endParaRPr>
                    </a:p>
                    <a:p>
                      <a:pPr marL="67945" marR="919480">
                        <a:lnSpc>
                          <a:spcPts val="1350"/>
                        </a:lnSpc>
                        <a:spcBef>
                          <a:spcPts val="40"/>
                        </a:spcBef>
                      </a:pPr>
                      <a:r>
                        <a:rPr sz="1150" dirty="0">
                          <a:latin typeface="Arial"/>
                          <a:cs typeface="Arial"/>
                        </a:rPr>
                        <a:t>these queries by creating an </a:t>
                      </a:r>
                      <a:r>
                        <a:rPr sz="1150" spc="-5" dirty="0">
                          <a:latin typeface="Arial"/>
                          <a:cs typeface="Arial"/>
                        </a:rPr>
                        <a:t>XML </a:t>
                      </a:r>
                      <a:r>
                        <a:rPr sz="1150" dirty="0">
                          <a:latin typeface="Arial"/>
                          <a:cs typeface="Arial"/>
                        </a:rPr>
                        <a:t>index on each column. An </a:t>
                      </a:r>
                      <a:r>
                        <a:rPr sz="1150" spc="-5" dirty="0">
                          <a:latin typeface="Arial"/>
                          <a:cs typeface="Arial"/>
                        </a:rPr>
                        <a:t>XML </a:t>
                      </a:r>
                      <a:r>
                        <a:rPr sz="1150" dirty="0">
                          <a:latin typeface="Arial"/>
                          <a:cs typeface="Arial"/>
                        </a:rPr>
                        <a:t>index can be a clustered or</a:t>
                      </a:r>
                      <a:r>
                        <a:rPr sz="1150" spc="-110" dirty="0">
                          <a:latin typeface="Arial"/>
                          <a:cs typeface="Arial"/>
                        </a:rPr>
                        <a:t> </a:t>
                      </a:r>
                      <a:r>
                        <a:rPr sz="1150" dirty="0">
                          <a:latin typeface="Arial"/>
                          <a:cs typeface="Arial"/>
                        </a:rPr>
                        <a:t>a  nonclustered</a:t>
                      </a:r>
                      <a:r>
                        <a:rPr sz="1150" spc="-20" dirty="0">
                          <a:latin typeface="Arial"/>
                          <a:cs typeface="Arial"/>
                        </a:rPr>
                        <a:t> </a:t>
                      </a:r>
                      <a:r>
                        <a:rPr sz="1150" spc="-5" dirty="0">
                          <a:latin typeface="Arial"/>
                          <a:cs typeface="Arial"/>
                        </a:rPr>
                        <a:t>index.</a:t>
                      </a:r>
                      <a:endParaRPr sz="1150">
                        <a:latin typeface="Arial"/>
                        <a:cs typeface="Arial"/>
                      </a:endParaRPr>
                    </a:p>
                  </a:txBody>
                  <a:tcPr marL="0" marR="0" marT="0" marB="0">
                    <a:lnL w="12700">
                      <a:solidFill>
                        <a:srgbClr val="000000"/>
                      </a:solidFill>
                      <a:prstDash val="solid"/>
                    </a:lnL>
                    <a:lnT w="12700">
                      <a:solidFill>
                        <a:srgbClr val="000000"/>
                      </a:solidFill>
                      <a:prstDash val="solid"/>
                    </a:lnT>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383"/>
            <a:ext cx="3595370" cy="635635"/>
          </a:xfrm>
          <a:prstGeom prst="rect">
            <a:avLst/>
          </a:prstGeom>
        </p:spPr>
        <p:txBody>
          <a:bodyPr vert="horz" wrap="square" lIns="0" tIns="12700" rIns="0" bIns="0" rtlCol="0">
            <a:spAutoFit/>
          </a:bodyPr>
          <a:lstStyle/>
          <a:p>
            <a:pPr marL="12700">
              <a:lnSpc>
                <a:spcPct val="100000"/>
              </a:lnSpc>
              <a:spcBef>
                <a:spcPts val="100"/>
              </a:spcBef>
            </a:pPr>
            <a:r>
              <a:rPr sz="4000" b="0" spc="195" dirty="0">
                <a:latin typeface="Times New Roman"/>
                <a:cs typeface="Times New Roman"/>
              </a:rPr>
              <a:t>Introduction</a:t>
            </a:r>
            <a:r>
              <a:rPr sz="4000" b="0" spc="-210" dirty="0">
                <a:latin typeface="Times New Roman"/>
                <a:cs typeface="Times New Roman"/>
              </a:rPr>
              <a:t> </a:t>
            </a:r>
            <a:r>
              <a:rPr sz="4000" b="0" spc="-80" dirty="0">
                <a:latin typeface="Times New Roman"/>
                <a:cs typeface="Times New Roman"/>
              </a:rPr>
              <a:t>2-2</a:t>
            </a:r>
            <a:endParaRPr sz="4000">
              <a:latin typeface="Times New Roman"/>
              <a:cs typeface="Times New Roman"/>
            </a:endParaRPr>
          </a:p>
        </p:txBody>
      </p:sp>
      <p:sp>
        <p:nvSpPr>
          <p:cNvPr id="5" name="object 5"/>
          <p:cNvSpPr txBox="1"/>
          <p:nvPr/>
        </p:nvSpPr>
        <p:spPr>
          <a:xfrm>
            <a:off x="7882890" y="6569709"/>
            <a:ext cx="858519"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12" baseline="4629" dirty="0">
                <a:latin typeface="Times New Roman"/>
                <a:cs typeface="Times New Roman"/>
              </a:rPr>
              <a:t>11/</a:t>
            </a:r>
            <a:r>
              <a:rPr sz="1800" spc="-270" baseline="4629" dirty="0">
                <a:latin typeface="Times New Roman"/>
                <a:cs typeface="Times New Roman"/>
              </a:rPr>
              <a:t> </a:t>
            </a:r>
            <a:fld id="{81D60167-4931-47E6-BA6A-407CBD079E47}" type="slidenum">
              <a:rPr sz="1200" dirty="0">
                <a:latin typeface="Times New Roman"/>
                <a:cs typeface="Times New Roman"/>
              </a:rPr>
              <a:t>4</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137921" y="1122172"/>
            <a:ext cx="8716645" cy="2251075"/>
          </a:xfrm>
          <a:prstGeom prst="rect">
            <a:avLst/>
          </a:prstGeom>
        </p:spPr>
        <p:txBody>
          <a:bodyPr vert="horz" wrap="square" lIns="0" tIns="12700" rIns="0" bIns="0" rtlCol="0">
            <a:spAutoFit/>
          </a:bodyPr>
          <a:lstStyle/>
          <a:p>
            <a:pPr marL="353695" marR="5080" indent="-341630" algn="just">
              <a:lnSpc>
                <a:spcPct val="100000"/>
              </a:lnSpc>
              <a:spcBef>
                <a:spcPts val="100"/>
              </a:spcBef>
              <a:buSzPct val="90909"/>
              <a:buFont typeface="Segoe UI Symbol"/>
              <a:buChar char="⮚"/>
              <a:tabLst>
                <a:tab pos="354330" algn="l"/>
              </a:tabLst>
            </a:pPr>
            <a:r>
              <a:rPr sz="2200" spc="114" dirty="0">
                <a:latin typeface="Times New Roman"/>
                <a:cs typeface="Times New Roman"/>
              </a:rPr>
              <a:t>There </a:t>
            </a:r>
            <a:r>
              <a:rPr sz="2200" spc="55" dirty="0">
                <a:latin typeface="Times New Roman"/>
                <a:cs typeface="Times New Roman"/>
              </a:rPr>
              <a:t>are </a:t>
            </a:r>
            <a:r>
              <a:rPr sz="2200" spc="110" dirty="0">
                <a:latin typeface="Times New Roman"/>
                <a:cs typeface="Times New Roman"/>
              </a:rPr>
              <a:t>other </a:t>
            </a:r>
            <a:r>
              <a:rPr sz="2200" spc="60" dirty="0">
                <a:latin typeface="Times New Roman"/>
                <a:cs typeface="Times New Roman"/>
              </a:rPr>
              <a:t>types </a:t>
            </a:r>
            <a:r>
              <a:rPr sz="2200" spc="65" dirty="0">
                <a:latin typeface="Times New Roman"/>
                <a:cs typeface="Times New Roman"/>
              </a:rPr>
              <a:t>of </a:t>
            </a:r>
            <a:r>
              <a:rPr sz="2200" spc="75" dirty="0">
                <a:latin typeface="Times New Roman"/>
                <a:cs typeface="Times New Roman"/>
              </a:rPr>
              <a:t>indexes </a:t>
            </a:r>
            <a:r>
              <a:rPr sz="2200" spc="90" dirty="0">
                <a:latin typeface="Times New Roman"/>
                <a:cs typeface="Times New Roman"/>
              </a:rPr>
              <a:t>such </a:t>
            </a:r>
            <a:r>
              <a:rPr sz="2200" spc="15" dirty="0">
                <a:latin typeface="Times New Roman"/>
                <a:cs typeface="Times New Roman"/>
              </a:rPr>
              <a:t>as </a:t>
            </a:r>
            <a:r>
              <a:rPr sz="2200" spc="75" dirty="0">
                <a:latin typeface="Times New Roman"/>
                <a:cs typeface="Times New Roman"/>
              </a:rPr>
              <a:t>Hash, </a:t>
            </a:r>
            <a:r>
              <a:rPr sz="2200" spc="70" dirty="0">
                <a:latin typeface="Times New Roman"/>
                <a:cs typeface="Times New Roman"/>
              </a:rPr>
              <a:t>Memory </a:t>
            </a:r>
            <a:r>
              <a:rPr sz="2200" spc="50" dirty="0">
                <a:latin typeface="Times New Roman"/>
                <a:cs typeface="Times New Roman"/>
              </a:rPr>
              <a:t>optimize  </a:t>
            </a:r>
            <a:r>
              <a:rPr sz="2200" spc="85" dirty="0">
                <a:latin typeface="Times New Roman"/>
                <a:cs typeface="Times New Roman"/>
              </a:rPr>
              <a:t>nonclustered, </a:t>
            </a:r>
            <a:r>
              <a:rPr sz="2200" spc="95" dirty="0">
                <a:latin typeface="Times New Roman"/>
                <a:cs typeface="Times New Roman"/>
              </a:rPr>
              <a:t>Index </a:t>
            </a:r>
            <a:r>
              <a:rPr sz="2200" spc="100" dirty="0">
                <a:latin typeface="Times New Roman"/>
                <a:cs typeface="Times New Roman"/>
              </a:rPr>
              <a:t>with </a:t>
            </a:r>
            <a:r>
              <a:rPr sz="2200" spc="90" dirty="0">
                <a:latin typeface="Times New Roman"/>
                <a:cs typeface="Times New Roman"/>
              </a:rPr>
              <a:t>included </a:t>
            </a:r>
            <a:r>
              <a:rPr sz="2200" spc="85" dirty="0">
                <a:latin typeface="Times New Roman"/>
                <a:cs typeface="Times New Roman"/>
              </a:rPr>
              <a:t>column, </a:t>
            </a:r>
            <a:r>
              <a:rPr sz="2200" spc="95" dirty="0">
                <a:latin typeface="Times New Roman"/>
                <a:cs typeface="Times New Roman"/>
              </a:rPr>
              <a:t>Index </a:t>
            </a:r>
            <a:r>
              <a:rPr sz="2200" spc="150" dirty="0">
                <a:latin typeface="Times New Roman"/>
                <a:cs typeface="Times New Roman"/>
              </a:rPr>
              <a:t>on </a:t>
            </a:r>
            <a:r>
              <a:rPr sz="2200" spc="105" dirty="0">
                <a:latin typeface="Times New Roman"/>
                <a:cs typeface="Times New Roman"/>
              </a:rPr>
              <a:t>computed  </a:t>
            </a:r>
            <a:r>
              <a:rPr sz="2200" spc="75" dirty="0">
                <a:latin typeface="Times New Roman"/>
                <a:cs typeface="Times New Roman"/>
              </a:rPr>
              <a:t>columns, </a:t>
            </a:r>
            <a:r>
              <a:rPr sz="2200" spc="125" dirty="0">
                <a:latin typeface="Times New Roman"/>
                <a:cs typeface="Times New Roman"/>
              </a:rPr>
              <a:t>and</a:t>
            </a:r>
            <a:r>
              <a:rPr sz="2200" spc="-405" dirty="0">
                <a:latin typeface="Times New Roman"/>
                <a:cs typeface="Times New Roman"/>
              </a:rPr>
              <a:t> </a:t>
            </a:r>
            <a:r>
              <a:rPr sz="2200" spc="35" dirty="0">
                <a:latin typeface="Times New Roman"/>
                <a:cs typeface="Times New Roman"/>
              </a:rPr>
              <a:t>Full </a:t>
            </a:r>
            <a:r>
              <a:rPr sz="2200" spc="85" dirty="0">
                <a:latin typeface="Times New Roman"/>
                <a:cs typeface="Times New Roman"/>
              </a:rPr>
              <a:t>text.</a:t>
            </a:r>
            <a:endParaRPr sz="2200">
              <a:latin typeface="Times New Roman"/>
              <a:cs typeface="Times New Roman"/>
            </a:endParaRPr>
          </a:p>
          <a:p>
            <a:pPr>
              <a:lnSpc>
                <a:spcPct val="100000"/>
              </a:lnSpc>
              <a:spcBef>
                <a:spcPts val="10"/>
              </a:spcBef>
              <a:buFont typeface="Segoe UI Symbol"/>
              <a:buChar char="⮚"/>
            </a:pPr>
            <a:endParaRPr sz="3750">
              <a:latin typeface="Times New Roman"/>
              <a:cs typeface="Times New Roman"/>
            </a:endParaRPr>
          </a:p>
          <a:p>
            <a:pPr marL="353695" marR="5080" indent="-341630" algn="just">
              <a:lnSpc>
                <a:spcPct val="100000"/>
              </a:lnSpc>
              <a:buSzPct val="90909"/>
              <a:buFont typeface="Segoe UI Symbol"/>
              <a:buChar char="⮚"/>
              <a:tabLst>
                <a:tab pos="354330" algn="l"/>
              </a:tabLst>
            </a:pPr>
            <a:r>
              <a:rPr sz="2200" spc="195" dirty="0">
                <a:latin typeface="Times New Roman"/>
                <a:cs typeface="Times New Roman"/>
              </a:rPr>
              <a:t>A </a:t>
            </a:r>
            <a:r>
              <a:rPr sz="2200" spc="65" dirty="0">
                <a:latin typeface="Times New Roman"/>
                <a:cs typeface="Times New Roman"/>
              </a:rPr>
              <a:t>table </a:t>
            </a:r>
            <a:r>
              <a:rPr sz="2200" spc="60" dirty="0">
                <a:latin typeface="Times New Roman"/>
                <a:cs typeface="Times New Roman"/>
              </a:rPr>
              <a:t>scan</a:t>
            </a:r>
            <a:r>
              <a:rPr sz="2200" spc="670" dirty="0">
                <a:latin typeface="Times New Roman"/>
                <a:cs typeface="Times New Roman"/>
              </a:rPr>
              <a:t> </a:t>
            </a:r>
            <a:r>
              <a:rPr sz="2200" spc="5" dirty="0">
                <a:latin typeface="Times New Roman"/>
                <a:cs typeface="Times New Roman"/>
              </a:rPr>
              <a:t>is </a:t>
            </a:r>
            <a:r>
              <a:rPr sz="2200" spc="140" dirty="0">
                <a:latin typeface="Times New Roman"/>
                <a:cs typeface="Times New Roman"/>
              </a:rPr>
              <a:t>not </a:t>
            </a:r>
            <a:r>
              <a:rPr sz="2200" spc="20" dirty="0">
                <a:latin typeface="Times New Roman"/>
                <a:cs typeface="Times New Roman"/>
              </a:rPr>
              <a:t>always </a:t>
            </a:r>
            <a:r>
              <a:rPr sz="2200" spc="75" dirty="0">
                <a:latin typeface="Times New Roman"/>
                <a:cs typeface="Times New Roman"/>
              </a:rPr>
              <a:t>troublesome, </a:t>
            </a:r>
            <a:r>
              <a:rPr sz="2200" spc="130" dirty="0">
                <a:latin typeface="Times New Roman"/>
                <a:cs typeface="Times New Roman"/>
              </a:rPr>
              <a:t>but </a:t>
            </a:r>
            <a:r>
              <a:rPr sz="2200" spc="70" dirty="0">
                <a:latin typeface="Times New Roman"/>
                <a:cs typeface="Times New Roman"/>
              </a:rPr>
              <a:t>it </a:t>
            </a:r>
            <a:r>
              <a:rPr sz="2200" spc="5" dirty="0">
                <a:latin typeface="Times New Roman"/>
                <a:cs typeface="Times New Roman"/>
              </a:rPr>
              <a:t>is </a:t>
            </a:r>
            <a:r>
              <a:rPr sz="2200" spc="65" dirty="0">
                <a:latin typeface="Times New Roman"/>
                <a:cs typeface="Times New Roman"/>
              </a:rPr>
              <a:t>sometimes  </a:t>
            </a:r>
            <a:r>
              <a:rPr sz="2200" spc="75" dirty="0">
                <a:latin typeface="Times New Roman"/>
                <a:cs typeface="Times New Roman"/>
              </a:rPr>
              <a:t>unavoidable.</a:t>
            </a:r>
            <a:endParaRPr sz="22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86" y="0"/>
            <a:ext cx="5662930" cy="635635"/>
          </a:xfrm>
          <a:prstGeom prst="rect">
            <a:avLst/>
          </a:prstGeom>
        </p:spPr>
        <p:txBody>
          <a:bodyPr vert="horz" wrap="square" lIns="0" tIns="12700" rIns="0" bIns="0" rtlCol="0">
            <a:spAutoFit/>
          </a:bodyPr>
          <a:lstStyle/>
          <a:p>
            <a:pPr marL="12700">
              <a:lnSpc>
                <a:spcPct val="100000"/>
              </a:lnSpc>
              <a:spcBef>
                <a:spcPts val="100"/>
              </a:spcBef>
            </a:pPr>
            <a:r>
              <a:rPr sz="4000" b="0" spc="145" dirty="0">
                <a:latin typeface="Times New Roman"/>
                <a:cs typeface="Times New Roman"/>
              </a:rPr>
              <a:t>Overview</a:t>
            </a:r>
            <a:r>
              <a:rPr sz="4000" b="0" spc="-190" dirty="0">
                <a:latin typeface="Times New Roman"/>
                <a:cs typeface="Times New Roman"/>
              </a:rPr>
              <a:t> </a:t>
            </a:r>
            <a:r>
              <a:rPr sz="4000" b="0" spc="114" dirty="0">
                <a:latin typeface="Times New Roman"/>
                <a:cs typeface="Times New Roman"/>
              </a:rPr>
              <a:t>of</a:t>
            </a:r>
            <a:r>
              <a:rPr sz="4000" b="0" spc="-170" dirty="0">
                <a:latin typeface="Times New Roman"/>
                <a:cs typeface="Times New Roman"/>
              </a:rPr>
              <a:t> </a:t>
            </a:r>
            <a:r>
              <a:rPr sz="4000" b="0" spc="165" dirty="0">
                <a:latin typeface="Times New Roman"/>
                <a:cs typeface="Times New Roman"/>
              </a:rPr>
              <a:t>Data</a:t>
            </a:r>
            <a:r>
              <a:rPr sz="4000" b="0" spc="-160" dirty="0">
                <a:latin typeface="Times New Roman"/>
                <a:cs typeface="Times New Roman"/>
              </a:rPr>
              <a:t> </a:t>
            </a:r>
            <a:r>
              <a:rPr sz="4000" b="0" spc="125" dirty="0">
                <a:latin typeface="Times New Roman"/>
                <a:cs typeface="Times New Roman"/>
              </a:rPr>
              <a:t>Storage</a:t>
            </a:r>
            <a:endParaRPr sz="4000">
              <a:latin typeface="Times New Roman"/>
              <a:cs typeface="Times New Roman"/>
            </a:endParaRPr>
          </a:p>
        </p:txBody>
      </p:sp>
      <p:sp>
        <p:nvSpPr>
          <p:cNvPr id="3" name="object 3"/>
          <p:cNvSpPr txBox="1"/>
          <p:nvPr/>
        </p:nvSpPr>
        <p:spPr>
          <a:xfrm>
            <a:off x="372618" y="1031747"/>
            <a:ext cx="5695950" cy="2014220"/>
          </a:xfrm>
          <a:prstGeom prst="rect">
            <a:avLst/>
          </a:prstGeom>
          <a:solidFill>
            <a:srgbClr val="00FF99"/>
          </a:solidFill>
        </p:spPr>
        <p:txBody>
          <a:bodyPr vert="horz" wrap="square" lIns="0" tIns="282575" rIns="0" bIns="0" rtlCol="0">
            <a:spAutoFit/>
          </a:bodyPr>
          <a:lstStyle/>
          <a:p>
            <a:pPr marL="419100" marR="69850" indent="-342900" algn="just">
              <a:lnSpc>
                <a:spcPts val="2160"/>
              </a:lnSpc>
              <a:spcBef>
                <a:spcPts val="2225"/>
              </a:spcBef>
              <a:buFont typeface="Wingdings"/>
              <a:buChar char=""/>
              <a:tabLst>
                <a:tab pos="419734" algn="l"/>
              </a:tabLst>
            </a:pPr>
            <a:r>
              <a:rPr sz="2000" spc="90" dirty="0">
                <a:latin typeface="Times New Roman"/>
                <a:cs typeface="Times New Roman"/>
              </a:rPr>
              <a:t>SQL </a:t>
            </a:r>
            <a:r>
              <a:rPr sz="2000" spc="60" dirty="0">
                <a:latin typeface="Times New Roman"/>
                <a:cs typeface="Times New Roman"/>
              </a:rPr>
              <a:t>Server stores </a:t>
            </a:r>
            <a:r>
              <a:rPr sz="2000" spc="80" dirty="0">
                <a:latin typeface="Times New Roman"/>
                <a:cs typeface="Times New Roman"/>
              </a:rPr>
              <a:t>data </a:t>
            </a:r>
            <a:r>
              <a:rPr sz="2000" spc="95" dirty="0">
                <a:latin typeface="Times New Roman"/>
                <a:cs typeface="Times New Roman"/>
              </a:rPr>
              <a:t>in </a:t>
            </a:r>
            <a:r>
              <a:rPr sz="2000" spc="50" dirty="0">
                <a:latin typeface="Times New Roman"/>
                <a:cs typeface="Times New Roman"/>
              </a:rPr>
              <a:t>storage </a:t>
            </a:r>
            <a:r>
              <a:rPr sz="2000" spc="95" dirty="0">
                <a:latin typeface="Times New Roman"/>
                <a:cs typeface="Times New Roman"/>
              </a:rPr>
              <a:t>units </a:t>
            </a:r>
            <a:r>
              <a:rPr sz="2000" spc="120" dirty="0">
                <a:latin typeface="Times New Roman"/>
                <a:cs typeface="Times New Roman"/>
              </a:rPr>
              <a:t>known  </a:t>
            </a:r>
            <a:r>
              <a:rPr sz="2000" spc="20" dirty="0">
                <a:latin typeface="Times New Roman"/>
                <a:cs typeface="Times New Roman"/>
              </a:rPr>
              <a:t>as </a:t>
            </a:r>
            <a:r>
              <a:rPr sz="2000" spc="80" dirty="0">
                <a:latin typeface="Times New Roman"/>
                <a:cs typeface="Times New Roman"/>
              </a:rPr>
              <a:t>data </a:t>
            </a:r>
            <a:r>
              <a:rPr sz="2000" spc="25" dirty="0">
                <a:latin typeface="Times New Roman"/>
                <a:cs typeface="Times New Roman"/>
              </a:rPr>
              <a:t>pages. </a:t>
            </a:r>
            <a:r>
              <a:rPr sz="2000" spc="85" dirty="0">
                <a:latin typeface="Times New Roman"/>
                <a:cs typeface="Times New Roman"/>
              </a:rPr>
              <a:t>These </a:t>
            </a:r>
            <a:r>
              <a:rPr sz="2000" spc="30" dirty="0">
                <a:latin typeface="Times New Roman"/>
                <a:cs typeface="Times New Roman"/>
              </a:rPr>
              <a:t>pages </a:t>
            </a:r>
            <a:r>
              <a:rPr sz="2000" spc="90" dirty="0">
                <a:latin typeface="Times New Roman"/>
                <a:cs typeface="Times New Roman"/>
              </a:rPr>
              <a:t>contain </a:t>
            </a:r>
            <a:r>
              <a:rPr sz="2000" spc="80" dirty="0">
                <a:latin typeface="Times New Roman"/>
                <a:cs typeface="Times New Roman"/>
              </a:rPr>
              <a:t>data </a:t>
            </a:r>
            <a:r>
              <a:rPr sz="2000" spc="95" dirty="0">
                <a:latin typeface="Times New Roman"/>
                <a:cs typeface="Times New Roman"/>
              </a:rPr>
              <a:t>in </a:t>
            </a:r>
            <a:r>
              <a:rPr sz="2000" spc="110" dirty="0">
                <a:latin typeface="Times New Roman"/>
                <a:cs typeface="Times New Roman"/>
              </a:rPr>
              <a:t>the  </a:t>
            </a:r>
            <a:r>
              <a:rPr sz="2000" spc="70" dirty="0">
                <a:latin typeface="Times New Roman"/>
                <a:cs typeface="Times New Roman"/>
              </a:rPr>
              <a:t>form </a:t>
            </a:r>
            <a:r>
              <a:rPr sz="2000" spc="55" dirty="0">
                <a:latin typeface="Times New Roman"/>
                <a:cs typeface="Times New Roman"/>
              </a:rPr>
              <a:t>of</a:t>
            </a:r>
            <a:r>
              <a:rPr sz="2000" spc="-215" dirty="0">
                <a:latin typeface="Times New Roman"/>
                <a:cs typeface="Times New Roman"/>
              </a:rPr>
              <a:t> </a:t>
            </a:r>
            <a:r>
              <a:rPr sz="2000" spc="45" dirty="0">
                <a:latin typeface="Times New Roman"/>
                <a:cs typeface="Times New Roman"/>
              </a:rPr>
              <a:t>rows.</a:t>
            </a:r>
            <a:endParaRPr sz="2000">
              <a:latin typeface="Times New Roman"/>
              <a:cs typeface="Times New Roman"/>
            </a:endParaRPr>
          </a:p>
          <a:p>
            <a:pPr marL="419100" marR="69850" indent="-342900" algn="just">
              <a:lnSpc>
                <a:spcPts val="2160"/>
              </a:lnSpc>
              <a:buFont typeface="Wingdings"/>
              <a:buChar char=""/>
              <a:tabLst>
                <a:tab pos="419734" algn="l"/>
              </a:tabLst>
            </a:pPr>
            <a:r>
              <a:rPr sz="2000" spc="175" dirty="0">
                <a:latin typeface="Times New Roman"/>
                <a:cs typeface="Times New Roman"/>
              </a:rPr>
              <a:t>A </a:t>
            </a:r>
            <a:r>
              <a:rPr sz="2000" spc="40" dirty="0">
                <a:latin typeface="Times New Roman"/>
                <a:cs typeface="Times New Roman"/>
              </a:rPr>
              <a:t>page </a:t>
            </a:r>
            <a:r>
              <a:rPr sz="2000" spc="50" dirty="0">
                <a:latin typeface="Times New Roman"/>
                <a:cs typeface="Times New Roman"/>
              </a:rPr>
              <a:t>begins </a:t>
            </a:r>
            <a:r>
              <a:rPr sz="2000" spc="90" dirty="0">
                <a:latin typeface="Times New Roman"/>
                <a:cs typeface="Times New Roman"/>
              </a:rPr>
              <a:t>with </a:t>
            </a:r>
            <a:r>
              <a:rPr sz="2000" spc="30" dirty="0">
                <a:latin typeface="Times New Roman"/>
                <a:cs typeface="Times New Roman"/>
              </a:rPr>
              <a:t>a 96-byte </a:t>
            </a:r>
            <a:r>
              <a:rPr sz="2000" spc="70" dirty="0">
                <a:latin typeface="Times New Roman"/>
                <a:cs typeface="Times New Roman"/>
              </a:rPr>
              <a:t>header, </a:t>
            </a:r>
            <a:r>
              <a:rPr sz="2000" spc="80" dirty="0">
                <a:latin typeface="Times New Roman"/>
                <a:cs typeface="Times New Roman"/>
              </a:rPr>
              <a:t>which  </a:t>
            </a:r>
            <a:r>
              <a:rPr sz="2000" spc="60" dirty="0">
                <a:latin typeface="Times New Roman"/>
                <a:cs typeface="Times New Roman"/>
              </a:rPr>
              <a:t>stores</a:t>
            </a:r>
            <a:r>
              <a:rPr sz="2000" spc="-55" dirty="0">
                <a:latin typeface="Times New Roman"/>
                <a:cs typeface="Times New Roman"/>
              </a:rPr>
              <a:t> </a:t>
            </a:r>
            <a:r>
              <a:rPr sz="2000" spc="45" dirty="0">
                <a:latin typeface="Times New Roman"/>
                <a:cs typeface="Times New Roman"/>
              </a:rPr>
              <a:t>system</a:t>
            </a:r>
            <a:r>
              <a:rPr sz="2000" spc="-65" dirty="0">
                <a:latin typeface="Times New Roman"/>
                <a:cs typeface="Times New Roman"/>
              </a:rPr>
              <a:t> </a:t>
            </a:r>
            <a:r>
              <a:rPr sz="2000" spc="85" dirty="0">
                <a:latin typeface="Times New Roman"/>
                <a:cs typeface="Times New Roman"/>
              </a:rPr>
              <a:t>information</a:t>
            </a:r>
            <a:r>
              <a:rPr sz="2000" spc="-60" dirty="0">
                <a:latin typeface="Times New Roman"/>
                <a:cs typeface="Times New Roman"/>
              </a:rPr>
              <a:t> </a:t>
            </a:r>
            <a:r>
              <a:rPr sz="2000" spc="95" dirty="0">
                <a:latin typeface="Times New Roman"/>
                <a:cs typeface="Times New Roman"/>
              </a:rPr>
              <a:t>about</a:t>
            </a:r>
            <a:r>
              <a:rPr sz="2000" spc="-60" dirty="0">
                <a:latin typeface="Times New Roman"/>
                <a:cs typeface="Times New Roman"/>
              </a:rPr>
              <a:t> </a:t>
            </a:r>
            <a:r>
              <a:rPr sz="2000" spc="110" dirty="0">
                <a:latin typeface="Times New Roman"/>
                <a:cs typeface="Times New Roman"/>
              </a:rPr>
              <a:t>the</a:t>
            </a:r>
            <a:r>
              <a:rPr sz="2000" spc="-65" dirty="0">
                <a:latin typeface="Times New Roman"/>
                <a:cs typeface="Times New Roman"/>
              </a:rPr>
              <a:t> </a:t>
            </a:r>
            <a:r>
              <a:rPr sz="2000" spc="30" dirty="0">
                <a:latin typeface="Times New Roman"/>
                <a:cs typeface="Times New Roman"/>
              </a:rPr>
              <a:t>page.</a:t>
            </a:r>
            <a:endParaRPr sz="2000">
              <a:latin typeface="Times New Roman"/>
              <a:cs typeface="Times New Roman"/>
            </a:endParaRPr>
          </a:p>
        </p:txBody>
      </p:sp>
      <p:pic>
        <p:nvPicPr>
          <p:cNvPr id="4" name="object 4"/>
          <p:cNvPicPr/>
          <p:nvPr/>
        </p:nvPicPr>
        <p:blipFill>
          <a:blip r:embed="rId3" cstate="print"/>
          <a:stretch>
            <a:fillRect/>
          </a:stretch>
        </p:blipFill>
        <p:spPr>
          <a:xfrm>
            <a:off x="6189726" y="2068067"/>
            <a:ext cx="2827781" cy="3277361"/>
          </a:xfrm>
          <a:prstGeom prst="rect">
            <a:avLst/>
          </a:prstGeom>
        </p:spPr>
      </p:pic>
      <p:sp>
        <p:nvSpPr>
          <p:cNvPr id="5" name="object 5"/>
          <p:cNvSpPr txBox="1"/>
          <p:nvPr/>
        </p:nvSpPr>
        <p:spPr>
          <a:xfrm>
            <a:off x="7196581" y="5353303"/>
            <a:ext cx="100076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Data</a:t>
            </a:r>
            <a:r>
              <a:rPr sz="1400" b="1" spc="-120" dirty="0">
                <a:latin typeface="Times New Roman"/>
                <a:cs typeface="Times New Roman"/>
              </a:rPr>
              <a:t> </a:t>
            </a:r>
            <a:r>
              <a:rPr sz="1400" b="1" spc="-10" dirty="0">
                <a:latin typeface="Times New Roman"/>
                <a:cs typeface="Times New Roman"/>
              </a:rPr>
              <a:t>Storage</a:t>
            </a:r>
            <a:endParaRPr sz="1400">
              <a:latin typeface="Times New Roman"/>
              <a:cs typeface="Times New Roman"/>
            </a:endParaRPr>
          </a:p>
        </p:txBody>
      </p:sp>
      <p:sp>
        <p:nvSpPr>
          <p:cNvPr id="8" name="object 8"/>
          <p:cNvSpPr txBox="1"/>
          <p:nvPr/>
        </p:nvSpPr>
        <p:spPr>
          <a:xfrm>
            <a:off x="7882890" y="6569709"/>
            <a:ext cx="858519"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12" baseline="4629" dirty="0">
                <a:latin typeface="Times New Roman"/>
                <a:cs typeface="Times New Roman"/>
              </a:rPr>
              <a:t>11/</a:t>
            </a:r>
            <a:r>
              <a:rPr sz="1800" spc="-270" baseline="4629" dirty="0">
                <a:latin typeface="Times New Roman"/>
                <a:cs typeface="Times New Roman"/>
              </a:rPr>
              <a:t> </a:t>
            </a:r>
            <a:fld id="{81D60167-4931-47E6-BA6A-407CBD079E47}" type="slidenum">
              <a:rPr sz="1200" dirty="0">
                <a:latin typeface="Times New Roman"/>
                <a:cs typeface="Times New Roman"/>
              </a:rPr>
              <a:t>5</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object 6"/>
          <p:cNvSpPr txBox="1"/>
          <p:nvPr/>
        </p:nvSpPr>
        <p:spPr>
          <a:xfrm>
            <a:off x="484631" y="3509771"/>
            <a:ext cx="5584190" cy="2159635"/>
          </a:xfrm>
          <a:prstGeom prst="rect">
            <a:avLst/>
          </a:prstGeom>
          <a:solidFill>
            <a:srgbClr val="FF6699"/>
          </a:solidFill>
        </p:spPr>
        <p:txBody>
          <a:bodyPr vert="horz" wrap="square" lIns="0" tIns="114935" rIns="0" bIns="0" rtlCol="0">
            <a:spAutoFit/>
          </a:bodyPr>
          <a:lstStyle/>
          <a:p>
            <a:pPr marL="76200">
              <a:lnSpc>
                <a:spcPct val="100000"/>
              </a:lnSpc>
              <a:spcBef>
                <a:spcPts val="905"/>
              </a:spcBef>
            </a:pPr>
            <a:r>
              <a:rPr sz="2000" spc="90" dirty="0">
                <a:solidFill>
                  <a:srgbClr val="FFFFFF"/>
                </a:solidFill>
                <a:latin typeface="Times New Roman"/>
                <a:cs typeface="Times New Roman"/>
              </a:rPr>
              <a:t>This</a:t>
            </a:r>
            <a:r>
              <a:rPr sz="2000" spc="-85" dirty="0">
                <a:solidFill>
                  <a:srgbClr val="FFFFFF"/>
                </a:solidFill>
                <a:latin typeface="Times New Roman"/>
                <a:cs typeface="Times New Roman"/>
              </a:rPr>
              <a:t> </a:t>
            </a:r>
            <a:r>
              <a:rPr sz="2000" spc="85" dirty="0">
                <a:solidFill>
                  <a:srgbClr val="FFFFFF"/>
                </a:solidFill>
                <a:latin typeface="Times New Roman"/>
                <a:cs typeface="Times New Roman"/>
              </a:rPr>
              <a:t>information</a:t>
            </a:r>
            <a:r>
              <a:rPr sz="2000" spc="-60" dirty="0">
                <a:solidFill>
                  <a:srgbClr val="FFFFFF"/>
                </a:solidFill>
                <a:latin typeface="Times New Roman"/>
                <a:cs typeface="Times New Roman"/>
              </a:rPr>
              <a:t> </a:t>
            </a:r>
            <a:r>
              <a:rPr sz="2000" spc="65" dirty="0">
                <a:solidFill>
                  <a:srgbClr val="FFFFFF"/>
                </a:solidFill>
                <a:latin typeface="Times New Roman"/>
                <a:cs typeface="Times New Roman"/>
              </a:rPr>
              <a:t>includes</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35" dirty="0">
                <a:solidFill>
                  <a:srgbClr val="FFFFFF"/>
                </a:solidFill>
                <a:latin typeface="Times New Roman"/>
                <a:cs typeface="Times New Roman"/>
              </a:rPr>
              <a:t>following:</a:t>
            </a:r>
            <a:endParaRPr sz="2000">
              <a:latin typeface="Times New Roman"/>
              <a:cs typeface="Times New Roman"/>
            </a:endParaRPr>
          </a:p>
          <a:p>
            <a:pPr marL="361950" indent="-285750">
              <a:lnSpc>
                <a:spcPts val="2050"/>
              </a:lnSpc>
              <a:spcBef>
                <a:spcPts val="1975"/>
              </a:spcBef>
              <a:buFont typeface="Wingdings"/>
              <a:buChar char=""/>
              <a:tabLst>
                <a:tab pos="361950" algn="l"/>
              </a:tabLst>
            </a:pPr>
            <a:r>
              <a:rPr sz="1800" spc="10" dirty="0">
                <a:solidFill>
                  <a:srgbClr val="FFFFFF"/>
                </a:solidFill>
                <a:latin typeface="Times New Roman"/>
                <a:cs typeface="Times New Roman"/>
              </a:rPr>
              <a:t>Page</a:t>
            </a:r>
            <a:r>
              <a:rPr sz="1800" spc="-80" dirty="0">
                <a:solidFill>
                  <a:srgbClr val="FFFFFF"/>
                </a:solidFill>
                <a:latin typeface="Times New Roman"/>
                <a:cs typeface="Times New Roman"/>
              </a:rPr>
              <a:t> </a:t>
            </a:r>
            <a:r>
              <a:rPr sz="1800" spc="95" dirty="0">
                <a:solidFill>
                  <a:srgbClr val="FFFFFF"/>
                </a:solidFill>
                <a:latin typeface="Times New Roman"/>
                <a:cs typeface="Times New Roman"/>
              </a:rPr>
              <a:t>number</a:t>
            </a:r>
            <a:endParaRPr sz="1800">
              <a:latin typeface="Times New Roman"/>
              <a:cs typeface="Times New Roman"/>
            </a:endParaRPr>
          </a:p>
          <a:p>
            <a:pPr marL="361950" indent="-285750">
              <a:lnSpc>
                <a:spcPts val="1945"/>
              </a:lnSpc>
              <a:buFont typeface="Wingdings"/>
              <a:buChar char=""/>
              <a:tabLst>
                <a:tab pos="361950" algn="l"/>
              </a:tabLst>
            </a:pPr>
            <a:r>
              <a:rPr sz="1800" spc="10" dirty="0">
                <a:solidFill>
                  <a:srgbClr val="FFFFFF"/>
                </a:solidFill>
                <a:latin typeface="Times New Roman"/>
                <a:cs typeface="Times New Roman"/>
              </a:rPr>
              <a:t>Page</a:t>
            </a:r>
            <a:r>
              <a:rPr sz="1800" spc="-80" dirty="0">
                <a:solidFill>
                  <a:srgbClr val="FFFFFF"/>
                </a:solidFill>
                <a:latin typeface="Times New Roman"/>
                <a:cs typeface="Times New Roman"/>
              </a:rPr>
              <a:t> </a:t>
            </a:r>
            <a:r>
              <a:rPr sz="1800" spc="60" dirty="0">
                <a:solidFill>
                  <a:srgbClr val="FFFFFF"/>
                </a:solidFill>
                <a:latin typeface="Times New Roman"/>
                <a:cs typeface="Times New Roman"/>
              </a:rPr>
              <a:t>type</a:t>
            </a:r>
            <a:endParaRPr sz="1800">
              <a:latin typeface="Times New Roman"/>
              <a:cs typeface="Times New Roman"/>
            </a:endParaRPr>
          </a:p>
          <a:p>
            <a:pPr marL="361950" indent="-285750">
              <a:lnSpc>
                <a:spcPts val="1945"/>
              </a:lnSpc>
              <a:buFont typeface="Wingdings"/>
              <a:buChar char=""/>
              <a:tabLst>
                <a:tab pos="361950" algn="l"/>
              </a:tabLst>
            </a:pPr>
            <a:r>
              <a:rPr sz="1800" spc="125" dirty="0">
                <a:solidFill>
                  <a:srgbClr val="FFFFFF"/>
                </a:solidFill>
                <a:latin typeface="Times New Roman"/>
                <a:cs typeface="Times New Roman"/>
              </a:rPr>
              <a:t>Amount</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60" dirty="0">
                <a:solidFill>
                  <a:srgbClr val="FFFFFF"/>
                </a:solidFill>
                <a:latin typeface="Times New Roman"/>
                <a:cs typeface="Times New Roman"/>
              </a:rPr>
              <a:t> </a:t>
            </a:r>
            <a:r>
              <a:rPr sz="1800" spc="40" dirty="0">
                <a:solidFill>
                  <a:srgbClr val="FFFFFF"/>
                </a:solidFill>
                <a:latin typeface="Times New Roman"/>
                <a:cs typeface="Times New Roman"/>
              </a:rPr>
              <a:t>free</a:t>
            </a:r>
            <a:r>
              <a:rPr sz="1800" spc="-60" dirty="0">
                <a:solidFill>
                  <a:srgbClr val="FFFFFF"/>
                </a:solidFill>
                <a:latin typeface="Times New Roman"/>
                <a:cs typeface="Times New Roman"/>
              </a:rPr>
              <a:t> </a:t>
            </a:r>
            <a:r>
              <a:rPr sz="1800" spc="35" dirty="0">
                <a:solidFill>
                  <a:srgbClr val="FFFFFF"/>
                </a:solidFill>
                <a:latin typeface="Times New Roman"/>
                <a:cs typeface="Times New Roman"/>
              </a:rPr>
              <a:t>space</a:t>
            </a:r>
            <a:r>
              <a:rPr sz="1800" spc="-70" dirty="0">
                <a:solidFill>
                  <a:srgbClr val="FFFFFF"/>
                </a:solidFill>
                <a:latin typeface="Times New Roman"/>
                <a:cs typeface="Times New Roman"/>
              </a:rPr>
              <a:t> </a:t>
            </a:r>
            <a:r>
              <a:rPr sz="1800" spc="120" dirty="0">
                <a:solidFill>
                  <a:srgbClr val="FFFFFF"/>
                </a:solidFill>
                <a:latin typeface="Times New Roman"/>
                <a:cs typeface="Times New Roman"/>
              </a:rPr>
              <a:t>on</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35" dirty="0">
                <a:solidFill>
                  <a:srgbClr val="FFFFFF"/>
                </a:solidFill>
                <a:latin typeface="Times New Roman"/>
                <a:cs typeface="Times New Roman"/>
              </a:rPr>
              <a:t>page</a:t>
            </a:r>
            <a:endParaRPr sz="1800">
              <a:latin typeface="Times New Roman"/>
              <a:cs typeface="Times New Roman"/>
            </a:endParaRPr>
          </a:p>
          <a:p>
            <a:pPr marL="361950" marR="69215" indent="-285750">
              <a:lnSpc>
                <a:spcPts val="1939"/>
              </a:lnSpc>
              <a:spcBef>
                <a:spcPts val="140"/>
              </a:spcBef>
              <a:buFont typeface="Wingdings"/>
              <a:buChar char=""/>
              <a:tabLst>
                <a:tab pos="361950" algn="l"/>
              </a:tabLst>
            </a:pPr>
            <a:r>
              <a:rPr sz="1800" spc="65" dirty="0">
                <a:solidFill>
                  <a:srgbClr val="FFFFFF"/>
                </a:solidFill>
                <a:latin typeface="Times New Roman"/>
                <a:cs typeface="Times New Roman"/>
              </a:rPr>
              <a:t>Allocation</a:t>
            </a:r>
            <a:r>
              <a:rPr sz="1800" spc="-10" dirty="0">
                <a:solidFill>
                  <a:srgbClr val="FFFFFF"/>
                </a:solidFill>
                <a:latin typeface="Times New Roman"/>
                <a:cs typeface="Times New Roman"/>
              </a:rPr>
              <a:t> </a:t>
            </a:r>
            <a:r>
              <a:rPr sz="1800" spc="105" dirty="0">
                <a:solidFill>
                  <a:srgbClr val="FFFFFF"/>
                </a:solidFill>
                <a:latin typeface="Times New Roman"/>
                <a:cs typeface="Times New Roman"/>
              </a:rPr>
              <a:t>unit</a:t>
            </a:r>
            <a:r>
              <a:rPr sz="1800" spc="-5" dirty="0">
                <a:solidFill>
                  <a:srgbClr val="FFFFFF"/>
                </a:solidFill>
                <a:latin typeface="Times New Roman"/>
                <a:cs typeface="Times New Roman"/>
              </a:rPr>
              <a:t> </a:t>
            </a:r>
            <a:r>
              <a:rPr sz="1800" spc="55" dirty="0">
                <a:solidFill>
                  <a:srgbClr val="FFFFFF"/>
                </a:solidFill>
                <a:latin typeface="Times New Roman"/>
                <a:cs typeface="Times New Roman"/>
              </a:rPr>
              <a:t>ID</a:t>
            </a:r>
            <a:r>
              <a:rPr sz="1800" spc="-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5" dirty="0">
                <a:solidFill>
                  <a:srgbClr val="FFFFFF"/>
                </a:solidFill>
                <a:latin typeface="Times New Roman"/>
                <a:cs typeface="Times New Roman"/>
              </a:rPr>
              <a:t> </a:t>
            </a:r>
            <a:r>
              <a:rPr sz="1800" spc="55" dirty="0">
                <a:solidFill>
                  <a:srgbClr val="FFFFFF"/>
                </a:solidFill>
                <a:latin typeface="Times New Roman"/>
                <a:cs typeface="Times New Roman"/>
              </a:rPr>
              <a:t>object</a:t>
            </a:r>
            <a:r>
              <a:rPr sz="1800" spc="-1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10" dirty="0">
                <a:solidFill>
                  <a:srgbClr val="FFFFFF"/>
                </a:solidFill>
                <a:latin typeface="Times New Roman"/>
                <a:cs typeface="Times New Roman"/>
              </a:rPr>
              <a:t> </a:t>
            </a:r>
            <a:r>
              <a:rPr sz="1800" spc="75" dirty="0">
                <a:solidFill>
                  <a:srgbClr val="FFFFFF"/>
                </a:solidFill>
                <a:latin typeface="Times New Roman"/>
                <a:cs typeface="Times New Roman"/>
              </a:rPr>
              <a:t>which</a:t>
            </a:r>
            <a:r>
              <a:rPr sz="1800" spc="-5" dirty="0">
                <a:solidFill>
                  <a:srgbClr val="FFFFFF"/>
                </a:solidFill>
                <a:latin typeface="Times New Roman"/>
                <a:cs typeface="Times New Roman"/>
              </a:rPr>
              <a:t> </a:t>
            </a:r>
            <a:r>
              <a:rPr sz="1800" spc="105" dirty="0">
                <a:solidFill>
                  <a:srgbClr val="FFFFFF"/>
                </a:solidFill>
                <a:latin typeface="Times New Roman"/>
                <a:cs typeface="Times New Roman"/>
              </a:rPr>
              <a:t>the</a:t>
            </a:r>
            <a:r>
              <a:rPr sz="1800" spc="-5" dirty="0">
                <a:solidFill>
                  <a:srgbClr val="FFFFFF"/>
                </a:solidFill>
                <a:latin typeface="Times New Roman"/>
                <a:cs typeface="Times New Roman"/>
              </a:rPr>
              <a:t> </a:t>
            </a:r>
            <a:r>
              <a:rPr sz="1800" spc="35" dirty="0">
                <a:solidFill>
                  <a:srgbClr val="FFFFFF"/>
                </a:solidFill>
                <a:latin typeface="Times New Roman"/>
                <a:cs typeface="Times New Roman"/>
              </a:rPr>
              <a:t>page</a:t>
            </a:r>
            <a:r>
              <a:rPr sz="1800" spc="-15" dirty="0">
                <a:solidFill>
                  <a:srgbClr val="FFFFFF"/>
                </a:solidFill>
                <a:latin typeface="Times New Roman"/>
                <a:cs typeface="Times New Roman"/>
              </a:rPr>
              <a:t> </a:t>
            </a:r>
            <a:r>
              <a:rPr sz="1800" dirty="0">
                <a:solidFill>
                  <a:srgbClr val="FFFFFF"/>
                </a:solidFill>
                <a:latin typeface="Times New Roman"/>
                <a:cs typeface="Times New Roman"/>
              </a:rPr>
              <a:t>is  </a:t>
            </a:r>
            <a:r>
              <a:rPr sz="1800" spc="45" dirty="0">
                <a:solidFill>
                  <a:srgbClr val="FFFFFF"/>
                </a:solidFill>
                <a:latin typeface="Times New Roman"/>
                <a:cs typeface="Times New Roman"/>
              </a:rPr>
              <a:t>allocated</a:t>
            </a:r>
            <a:endParaRPr sz="18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24129"/>
            <a:ext cx="2587625" cy="574040"/>
          </a:xfrm>
          <a:prstGeom prst="rect">
            <a:avLst/>
          </a:prstGeom>
        </p:spPr>
        <p:txBody>
          <a:bodyPr vert="horz" wrap="square" lIns="0" tIns="12700" rIns="0" bIns="0" rtlCol="0">
            <a:spAutoFit/>
          </a:bodyPr>
          <a:lstStyle/>
          <a:p>
            <a:pPr marL="12700">
              <a:lnSpc>
                <a:spcPct val="100000"/>
              </a:lnSpc>
              <a:spcBef>
                <a:spcPts val="100"/>
              </a:spcBef>
            </a:pPr>
            <a:r>
              <a:rPr b="0" spc="150" dirty="0">
                <a:latin typeface="Times New Roman"/>
                <a:cs typeface="Times New Roman"/>
              </a:rPr>
              <a:t>Data </a:t>
            </a:r>
            <a:r>
              <a:rPr b="0" spc="15" dirty="0">
                <a:latin typeface="Times New Roman"/>
                <a:cs typeface="Times New Roman"/>
              </a:rPr>
              <a:t>Files</a:t>
            </a:r>
            <a:r>
              <a:rPr b="0" spc="-480" dirty="0">
                <a:latin typeface="Times New Roman"/>
                <a:cs typeface="Times New Roman"/>
              </a:rPr>
              <a:t> </a:t>
            </a:r>
            <a:r>
              <a:rPr b="0" spc="-225" dirty="0">
                <a:latin typeface="Times New Roman"/>
                <a:cs typeface="Times New Roman"/>
              </a:rPr>
              <a:t>1-2</a:t>
            </a:r>
          </a:p>
        </p:txBody>
      </p:sp>
      <p:sp>
        <p:nvSpPr>
          <p:cNvPr id="3" name="object 3"/>
          <p:cNvSpPr/>
          <p:nvPr/>
        </p:nvSpPr>
        <p:spPr>
          <a:xfrm>
            <a:off x="256032" y="920495"/>
            <a:ext cx="8540750" cy="2301240"/>
          </a:xfrm>
          <a:custGeom>
            <a:avLst/>
            <a:gdLst/>
            <a:ahLst/>
            <a:cxnLst/>
            <a:rect l="l" t="t" r="r" b="b"/>
            <a:pathLst>
              <a:path w="8540750" h="2301240">
                <a:moveTo>
                  <a:pt x="8540496" y="383540"/>
                </a:moveTo>
                <a:lnTo>
                  <a:pt x="8537499" y="335432"/>
                </a:lnTo>
                <a:lnTo>
                  <a:pt x="8528774" y="289102"/>
                </a:lnTo>
                <a:lnTo>
                  <a:pt x="8514677" y="244919"/>
                </a:lnTo>
                <a:lnTo>
                  <a:pt x="8495551" y="203238"/>
                </a:lnTo>
                <a:lnTo>
                  <a:pt x="8471776" y="164414"/>
                </a:lnTo>
                <a:lnTo>
                  <a:pt x="8467344" y="158800"/>
                </a:lnTo>
                <a:lnTo>
                  <a:pt x="8467344" y="148590"/>
                </a:lnTo>
                <a:lnTo>
                  <a:pt x="8459292" y="148590"/>
                </a:lnTo>
                <a:lnTo>
                  <a:pt x="8443697" y="128816"/>
                </a:lnTo>
                <a:lnTo>
                  <a:pt x="8411680" y="96799"/>
                </a:lnTo>
                <a:lnTo>
                  <a:pt x="8376082" y="68719"/>
                </a:lnTo>
                <a:lnTo>
                  <a:pt x="8337258" y="44945"/>
                </a:lnTo>
                <a:lnTo>
                  <a:pt x="8295576" y="25819"/>
                </a:lnTo>
                <a:lnTo>
                  <a:pt x="8251393" y="11722"/>
                </a:lnTo>
                <a:lnTo>
                  <a:pt x="8205063" y="2997"/>
                </a:lnTo>
                <a:lnTo>
                  <a:pt x="8156956" y="0"/>
                </a:lnTo>
                <a:lnTo>
                  <a:pt x="383552" y="0"/>
                </a:lnTo>
                <a:lnTo>
                  <a:pt x="335432" y="2997"/>
                </a:lnTo>
                <a:lnTo>
                  <a:pt x="289102" y="11722"/>
                </a:lnTo>
                <a:lnTo>
                  <a:pt x="244919" y="25819"/>
                </a:lnTo>
                <a:lnTo>
                  <a:pt x="203238" y="44945"/>
                </a:lnTo>
                <a:lnTo>
                  <a:pt x="164414" y="68719"/>
                </a:lnTo>
                <a:lnTo>
                  <a:pt x="128816" y="96799"/>
                </a:lnTo>
                <a:lnTo>
                  <a:pt x="96786" y="128816"/>
                </a:lnTo>
                <a:lnTo>
                  <a:pt x="81178" y="148590"/>
                </a:lnTo>
                <a:lnTo>
                  <a:pt x="73152" y="148590"/>
                </a:lnTo>
                <a:lnTo>
                  <a:pt x="73152" y="158788"/>
                </a:lnTo>
                <a:lnTo>
                  <a:pt x="68707" y="164414"/>
                </a:lnTo>
                <a:lnTo>
                  <a:pt x="44932" y="203238"/>
                </a:lnTo>
                <a:lnTo>
                  <a:pt x="25806" y="244919"/>
                </a:lnTo>
                <a:lnTo>
                  <a:pt x="11709" y="289102"/>
                </a:lnTo>
                <a:lnTo>
                  <a:pt x="2984" y="335432"/>
                </a:lnTo>
                <a:lnTo>
                  <a:pt x="0" y="383540"/>
                </a:lnTo>
                <a:lnTo>
                  <a:pt x="0" y="1917700"/>
                </a:lnTo>
                <a:lnTo>
                  <a:pt x="2984" y="1965820"/>
                </a:lnTo>
                <a:lnTo>
                  <a:pt x="11709" y="2012149"/>
                </a:lnTo>
                <a:lnTo>
                  <a:pt x="25806" y="2056333"/>
                </a:lnTo>
                <a:lnTo>
                  <a:pt x="44932" y="2098014"/>
                </a:lnTo>
                <a:lnTo>
                  <a:pt x="68707" y="2136838"/>
                </a:lnTo>
                <a:lnTo>
                  <a:pt x="73152" y="2142477"/>
                </a:lnTo>
                <a:lnTo>
                  <a:pt x="73152" y="2151888"/>
                </a:lnTo>
                <a:lnTo>
                  <a:pt x="80568" y="2151888"/>
                </a:lnTo>
                <a:lnTo>
                  <a:pt x="96786" y="2172436"/>
                </a:lnTo>
                <a:lnTo>
                  <a:pt x="128816" y="2204453"/>
                </a:lnTo>
                <a:lnTo>
                  <a:pt x="164414" y="2232533"/>
                </a:lnTo>
                <a:lnTo>
                  <a:pt x="203238" y="2256307"/>
                </a:lnTo>
                <a:lnTo>
                  <a:pt x="244919" y="2275433"/>
                </a:lnTo>
                <a:lnTo>
                  <a:pt x="289102" y="2289530"/>
                </a:lnTo>
                <a:lnTo>
                  <a:pt x="335432" y="2298255"/>
                </a:lnTo>
                <a:lnTo>
                  <a:pt x="383552" y="2301240"/>
                </a:lnTo>
                <a:lnTo>
                  <a:pt x="8156956" y="2301240"/>
                </a:lnTo>
                <a:lnTo>
                  <a:pt x="8205063" y="2298255"/>
                </a:lnTo>
                <a:lnTo>
                  <a:pt x="8251393" y="2289530"/>
                </a:lnTo>
                <a:lnTo>
                  <a:pt x="8295576" y="2275433"/>
                </a:lnTo>
                <a:lnTo>
                  <a:pt x="8337258" y="2256307"/>
                </a:lnTo>
                <a:lnTo>
                  <a:pt x="8376082" y="2232533"/>
                </a:lnTo>
                <a:lnTo>
                  <a:pt x="8411680" y="2204453"/>
                </a:lnTo>
                <a:lnTo>
                  <a:pt x="8443697" y="2172436"/>
                </a:lnTo>
                <a:lnTo>
                  <a:pt x="8459902" y="2151888"/>
                </a:lnTo>
                <a:lnTo>
                  <a:pt x="8467344" y="2151888"/>
                </a:lnTo>
                <a:lnTo>
                  <a:pt x="8467344" y="2142464"/>
                </a:lnTo>
                <a:lnTo>
                  <a:pt x="8471776" y="2136838"/>
                </a:lnTo>
                <a:lnTo>
                  <a:pt x="8495551" y="2098014"/>
                </a:lnTo>
                <a:lnTo>
                  <a:pt x="8514677" y="2056333"/>
                </a:lnTo>
                <a:lnTo>
                  <a:pt x="8528774" y="2012149"/>
                </a:lnTo>
                <a:lnTo>
                  <a:pt x="8537499" y="1965820"/>
                </a:lnTo>
                <a:lnTo>
                  <a:pt x="8540496" y="1917700"/>
                </a:lnTo>
                <a:lnTo>
                  <a:pt x="8540496" y="383540"/>
                </a:lnTo>
                <a:close/>
              </a:path>
            </a:pathLst>
          </a:custGeom>
          <a:solidFill>
            <a:srgbClr val="4F81BC"/>
          </a:solidFill>
        </p:spPr>
        <p:txBody>
          <a:bodyPr wrap="square" lIns="0" tIns="0" rIns="0" bIns="0" rtlCol="0"/>
          <a:lstStyle/>
          <a:p>
            <a:endParaRPr/>
          </a:p>
        </p:txBody>
      </p:sp>
      <p:sp>
        <p:nvSpPr>
          <p:cNvPr id="4" name="object 4"/>
          <p:cNvSpPr txBox="1"/>
          <p:nvPr/>
        </p:nvSpPr>
        <p:spPr>
          <a:xfrm>
            <a:off x="392684" y="1188720"/>
            <a:ext cx="8268334" cy="1630045"/>
          </a:xfrm>
          <a:prstGeom prst="rect">
            <a:avLst/>
          </a:prstGeom>
        </p:spPr>
        <p:txBody>
          <a:bodyPr vert="horz" wrap="square" lIns="0" tIns="53975" rIns="0" bIns="0" rtlCol="0">
            <a:spAutoFit/>
          </a:bodyPr>
          <a:lstStyle/>
          <a:p>
            <a:pPr marL="355600" marR="5080" indent="-342900" algn="just">
              <a:lnSpc>
                <a:spcPts val="2590"/>
              </a:lnSpc>
              <a:spcBef>
                <a:spcPts val="425"/>
              </a:spcBef>
              <a:buFont typeface="Wingdings"/>
              <a:buChar char=""/>
              <a:tabLst>
                <a:tab pos="355600" algn="l"/>
              </a:tabLst>
            </a:pPr>
            <a:r>
              <a:rPr sz="2400" spc="70" dirty="0">
                <a:solidFill>
                  <a:srgbClr val="FFFFFF"/>
                </a:solidFill>
                <a:latin typeface="Times New Roman"/>
                <a:cs typeface="Times New Roman"/>
              </a:rPr>
              <a:t>All </a:t>
            </a:r>
            <a:r>
              <a:rPr sz="2400" spc="140" dirty="0">
                <a:solidFill>
                  <a:srgbClr val="FFFFFF"/>
                </a:solidFill>
                <a:latin typeface="Times New Roman"/>
                <a:cs typeface="Times New Roman"/>
              </a:rPr>
              <a:t>input </a:t>
            </a:r>
            <a:r>
              <a:rPr sz="2400" spc="135" dirty="0">
                <a:solidFill>
                  <a:srgbClr val="FFFFFF"/>
                </a:solidFill>
                <a:latin typeface="Times New Roman"/>
                <a:cs typeface="Times New Roman"/>
              </a:rPr>
              <a:t>and </a:t>
            </a:r>
            <a:r>
              <a:rPr sz="2400" spc="150" dirty="0">
                <a:solidFill>
                  <a:srgbClr val="FFFFFF"/>
                </a:solidFill>
                <a:latin typeface="Times New Roman"/>
                <a:cs typeface="Times New Roman"/>
              </a:rPr>
              <a:t>output </a:t>
            </a:r>
            <a:r>
              <a:rPr sz="2400" spc="90" dirty="0">
                <a:solidFill>
                  <a:srgbClr val="FFFFFF"/>
                </a:solidFill>
                <a:latin typeface="Times New Roman"/>
                <a:cs typeface="Times New Roman"/>
              </a:rPr>
              <a:t>operations </a:t>
            </a:r>
            <a:r>
              <a:rPr sz="2400" spc="114" dirty="0">
                <a:solidFill>
                  <a:srgbClr val="FFFFFF"/>
                </a:solidFill>
                <a:latin typeface="Times New Roman"/>
                <a:cs typeface="Times New Roman"/>
              </a:rPr>
              <a:t>in </a:t>
            </a:r>
            <a:r>
              <a:rPr sz="2400" spc="135" dirty="0">
                <a:solidFill>
                  <a:srgbClr val="FFFFFF"/>
                </a:solidFill>
                <a:latin typeface="Times New Roman"/>
                <a:cs typeface="Times New Roman"/>
              </a:rPr>
              <a:t>the </a:t>
            </a:r>
            <a:r>
              <a:rPr sz="2400" spc="75" dirty="0">
                <a:solidFill>
                  <a:srgbClr val="FFFFFF"/>
                </a:solidFill>
                <a:latin typeface="Times New Roman"/>
                <a:cs typeface="Times New Roman"/>
              </a:rPr>
              <a:t>database </a:t>
            </a:r>
            <a:r>
              <a:rPr sz="2400" spc="65" dirty="0">
                <a:solidFill>
                  <a:srgbClr val="FFFFFF"/>
                </a:solidFill>
                <a:latin typeface="Times New Roman"/>
                <a:cs typeface="Times New Roman"/>
              </a:rPr>
              <a:t>are  </a:t>
            </a:r>
            <a:r>
              <a:rPr sz="2400" spc="90" dirty="0">
                <a:solidFill>
                  <a:srgbClr val="FFFFFF"/>
                </a:solidFill>
                <a:latin typeface="Times New Roman"/>
                <a:cs typeface="Times New Roman"/>
              </a:rPr>
              <a:t>performed</a:t>
            </a:r>
            <a:r>
              <a:rPr sz="2400" spc="-105" dirty="0">
                <a:solidFill>
                  <a:srgbClr val="FFFFFF"/>
                </a:solidFill>
                <a:latin typeface="Times New Roman"/>
                <a:cs typeface="Times New Roman"/>
              </a:rPr>
              <a:t> </a:t>
            </a:r>
            <a:r>
              <a:rPr sz="2400" spc="95" dirty="0">
                <a:solidFill>
                  <a:srgbClr val="FFFFFF"/>
                </a:solidFill>
                <a:latin typeface="Times New Roman"/>
                <a:cs typeface="Times New Roman"/>
              </a:rPr>
              <a:t>at</a:t>
            </a:r>
            <a:r>
              <a:rPr sz="2400" spc="-80"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85" dirty="0">
                <a:solidFill>
                  <a:srgbClr val="FFFFFF"/>
                </a:solidFill>
                <a:latin typeface="Times New Roman"/>
                <a:cs typeface="Times New Roman"/>
              </a:rPr>
              <a:t> </a:t>
            </a:r>
            <a:r>
              <a:rPr sz="2400" spc="50" dirty="0">
                <a:solidFill>
                  <a:srgbClr val="FFFFFF"/>
                </a:solidFill>
                <a:latin typeface="Times New Roman"/>
                <a:cs typeface="Times New Roman"/>
              </a:rPr>
              <a:t>page</a:t>
            </a:r>
            <a:r>
              <a:rPr sz="2400" spc="-85" dirty="0">
                <a:solidFill>
                  <a:srgbClr val="FFFFFF"/>
                </a:solidFill>
                <a:latin typeface="Times New Roman"/>
                <a:cs typeface="Times New Roman"/>
              </a:rPr>
              <a:t> </a:t>
            </a:r>
            <a:r>
              <a:rPr sz="2400" spc="25" dirty="0">
                <a:solidFill>
                  <a:srgbClr val="FFFFFF"/>
                </a:solidFill>
                <a:latin typeface="Times New Roman"/>
                <a:cs typeface="Times New Roman"/>
              </a:rPr>
              <a:t>level.</a:t>
            </a:r>
            <a:endParaRPr sz="2400">
              <a:latin typeface="Times New Roman"/>
              <a:cs typeface="Times New Roman"/>
            </a:endParaRPr>
          </a:p>
          <a:p>
            <a:pPr marL="355600" marR="5080" indent="-342900" algn="just">
              <a:lnSpc>
                <a:spcPts val="2380"/>
              </a:lnSpc>
              <a:spcBef>
                <a:spcPts val="30"/>
              </a:spcBef>
              <a:buFont typeface="Wingdings"/>
              <a:buChar char=""/>
              <a:tabLst>
                <a:tab pos="355600" algn="l"/>
              </a:tabLst>
            </a:pPr>
            <a:r>
              <a:rPr sz="2200" spc="110" dirty="0">
                <a:solidFill>
                  <a:srgbClr val="FFFFFF"/>
                </a:solidFill>
                <a:latin typeface="Times New Roman"/>
                <a:cs typeface="Times New Roman"/>
              </a:rPr>
              <a:t>SQL </a:t>
            </a:r>
            <a:r>
              <a:rPr sz="2200" spc="70" dirty="0">
                <a:solidFill>
                  <a:srgbClr val="FFFFFF"/>
                </a:solidFill>
                <a:latin typeface="Times New Roman"/>
                <a:cs typeface="Times New Roman"/>
              </a:rPr>
              <a:t>Server </a:t>
            </a:r>
            <a:r>
              <a:rPr sz="2200" spc="65" dirty="0">
                <a:solidFill>
                  <a:srgbClr val="FFFFFF"/>
                </a:solidFill>
                <a:latin typeface="Times New Roman"/>
                <a:cs typeface="Times New Roman"/>
              </a:rPr>
              <a:t>stores </a:t>
            </a:r>
            <a:r>
              <a:rPr sz="2200" spc="85" dirty="0">
                <a:solidFill>
                  <a:srgbClr val="FFFFFF"/>
                </a:solidFill>
                <a:latin typeface="Times New Roman"/>
                <a:cs typeface="Times New Roman"/>
              </a:rPr>
              <a:t>data </a:t>
            </a:r>
            <a:r>
              <a:rPr sz="2200" spc="35" dirty="0">
                <a:solidFill>
                  <a:srgbClr val="FFFFFF"/>
                </a:solidFill>
                <a:latin typeface="Times New Roman"/>
                <a:cs typeface="Times New Roman"/>
              </a:rPr>
              <a:t>pages </a:t>
            </a:r>
            <a:r>
              <a:rPr sz="2200" spc="105" dirty="0">
                <a:solidFill>
                  <a:srgbClr val="FFFFFF"/>
                </a:solidFill>
                <a:latin typeface="Times New Roman"/>
                <a:cs typeface="Times New Roman"/>
              </a:rPr>
              <a:t>in </a:t>
            </a:r>
            <a:r>
              <a:rPr sz="2200" spc="20" dirty="0">
                <a:solidFill>
                  <a:srgbClr val="FFFFFF"/>
                </a:solidFill>
                <a:latin typeface="Times New Roman"/>
                <a:cs typeface="Times New Roman"/>
              </a:rPr>
              <a:t>files </a:t>
            </a:r>
            <a:r>
              <a:rPr sz="2200" spc="130" dirty="0">
                <a:solidFill>
                  <a:srgbClr val="FFFFFF"/>
                </a:solidFill>
                <a:latin typeface="Times New Roman"/>
                <a:cs typeface="Times New Roman"/>
              </a:rPr>
              <a:t>known </a:t>
            </a:r>
            <a:r>
              <a:rPr sz="2200" spc="15" dirty="0">
                <a:solidFill>
                  <a:srgbClr val="FFFFFF"/>
                </a:solidFill>
                <a:latin typeface="Times New Roman"/>
                <a:cs typeface="Times New Roman"/>
              </a:rPr>
              <a:t>as </a:t>
            </a:r>
            <a:r>
              <a:rPr sz="2200" spc="85" dirty="0">
                <a:solidFill>
                  <a:srgbClr val="FFFFFF"/>
                </a:solidFill>
                <a:latin typeface="Times New Roman"/>
                <a:cs typeface="Times New Roman"/>
              </a:rPr>
              <a:t>data </a:t>
            </a:r>
            <a:r>
              <a:rPr sz="2200" spc="15" dirty="0">
                <a:solidFill>
                  <a:srgbClr val="FFFFFF"/>
                </a:solidFill>
                <a:latin typeface="Times New Roman"/>
                <a:cs typeface="Times New Roman"/>
              </a:rPr>
              <a:t>files. </a:t>
            </a:r>
            <a:r>
              <a:rPr sz="2200" spc="145" dirty="0">
                <a:solidFill>
                  <a:srgbClr val="FFFFFF"/>
                </a:solidFill>
                <a:latin typeface="Times New Roman"/>
                <a:cs typeface="Times New Roman"/>
              </a:rPr>
              <a:t>The  </a:t>
            </a:r>
            <a:r>
              <a:rPr sz="2200" spc="45" dirty="0">
                <a:solidFill>
                  <a:srgbClr val="FFFFFF"/>
                </a:solidFill>
                <a:latin typeface="Times New Roman"/>
                <a:cs typeface="Times New Roman"/>
              </a:rPr>
              <a:t>space </a:t>
            </a:r>
            <a:r>
              <a:rPr sz="2200" spc="75" dirty="0">
                <a:solidFill>
                  <a:srgbClr val="FFFFFF"/>
                </a:solidFill>
                <a:latin typeface="Times New Roman"/>
                <a:cs typeface="Times New Roman"/>
              </a:rPr>
              <a:t>allotted </a:t>
            </a:r>
            <a:r>
              <a:rPr sz="2200" spc="120" dirty="0">
                <a:solidFill>
                  <a:srgbClr val="FFFFFF"/>
                </a:solidFill>
                <a:latin typeface="Times New Roman"/>
                <a:cs typeface="Times New Roman"/>
              </a:rPr>
              <a:t>to </a:t>
            </a:r>
            <a:r>
              <a:rPr sz="2200" spc="35" dirty="0">
                <a:solidFill>
                  <a:srgbClr val="FFFFFF"/>
                </a:solidFill>
                <a:latin typeface="Times New Roman"/>
                <a:cs typeface="Times New Roman"/>
              </a:rPr>
              <a:t>a </a:t>
            </a:r>
            <a:r>
              <a:rPr sz="2200" spc="85" dirty="0">
                <a:solidFill>
                  <a:srgbClr val="FFFFFF"/>
                </a:solidFill>
                <a:latin typeface="Times New Roman"/>
                <a:cs typeface="Times New Roman"/>
              </a:rPr>
              <a:t>data </a:t>
            </a:r>
            <a:r>
              <a:rPr sz="2200" spc="20" dirty="0">
                <a:solidFill>
                  <a:srgbClr val="FFFFFF"/>
                </a:solidFill>
                <a:latin typeface="Times New Roman"/>
                <a:cs typeface="Times New Roman"/>
              </a:rPr>
              <a:t>file </a:t>
            </a:r>
            <a:r>
              <a:rPr sz="2200" spc="5" dirty="0">
                <a:solidFill>
                  <a:srgbClr val="FFFFFF"/>
                </a:solidFill>
                <a:latin typeface="Times New Roman"/>
                <a:cs typeface="Times New Roman"/>
              </a:rPr>
              <a:t>is </a:t>
            </a:r>
            <a:r>
              <a:rPr sz="2200" spc="75" dirty="0">
                <a:solidFill>
                  <a:srgbClr val="FFFFFF"/>
                </a:solidFill>
                <a:latin typeface="Times New Roman"/>
                <a:cs typeface="Times New Roman"/>
              </a:rPr>
              <a:t>divided </a:t>
            </a:r>
            <a:r>
              <a:rPr sz="2200" spc="110" dirty="0">
                <a:solidFill>
                  <a:srgbClr val="FFFFFF"/>
                </a:solidFill>
                <a:latin typeface="Times New Roman"/>
                <a:cs typeface="Times New Roman"/>
              </a:rPr>
              <a:t>into </a:t>
            </a:r>
            <a:r>
              <a:rPr sz="2200" spc="60" dirty="0">
                <a:solidFill>
                  <a:srgbClr val="FFFFFF"/>
                </a:solidFill>
                <a:latin typeface="Times New Roman"/>
                <a:cs typeface="Times New Roman"/>
              </a:rPr>
              <a:t>sequentially </a:t>
            </a:r>
            <a:r>
              <a:rPr sz="2200" spc="110" dirty="0">
                <a:solidFill>
                  <a:srgbClr val="FFFFFF"/>
                </a:solidFill>
                <a:latin typeface="Times New Roman"/>
                <a:cs typeface="Times New Roman"/>
              </a:rPr>
              <a:t>numbered  </a:t>
            </a:r>
            <a:r>
              <a:rPr sz="2200" spc="90" dirty="0">
                <a:solidFill>
                  <a:srgbClr val="FFFFFF"/>
                </a:solidFill>
                <a:latin typeface="Times New Roman"/>
                <a:cs typeface="Times New Roman"/>
              </a:rPr>
              <a:t>data</a:t>
            </a:r>
            <a:r>
              <a:rPr sz="2200" spc="-110" dirty="0">
                <a:solidFill>
                  <a:srgbClr val="FFFFFF"/>
                </a:solidFill>
                <a:latin typeface="Times New Roman"/>
                <a:cs typeface="Times New Roman"/>
              </a:rPr>
              <a:t> </a:t>
            </a:r>
            <a:r>
              <a:rPr sz="2200" spc="30" dirty="0">
                <a:solidFill>
                  <a:srgbClr val="FFFFFF"/>
                </a:solidFill>
                <a:latin typeface="Times New Roman"/>
                <a:cs typeface="Times New Roman"/>
              </a:rPr>
              <a:t>pages.</a:t>
            </a:r>
            <a:endParaRPr sz="2200">
              <a:latin typeface="Times New Roman"/>
              <a:cs typeface="Times New Roman"/>
            </a:endParaRPr>
          </a:p>
        </p:txBody>
      </p:sp>
      <p:pic>
        <p:nvPicPr>
          <p:cNvPr id="5" name="object 5"/>
          <p:cNvPicPr/>
          <p:nvPr/>
        </p:nvPicPr>
        <p:blipFill>
          <a:blip r:embed="rId3" cstate="print"/>
          <a:stretch>
            <a:fillRect/>
          </a:stretch>
        </p:blipFill>
        <p:spPr>
          <a:xfrm>
            <a:off x="2967989" y="3370326"/>
            <a:ext cx="3657600" cy="2595372"/>
          </a:xfrm>
          <a:prstGeom prst="rect">
            <a:avLst/>
          </a:prstGeom>
        </p:spPr>
      </p:pic>
      <p:sp>
        <p:nvSpPr>
          <p:cNvPr id="6" name="object 6"/>
          <p:cNvSpPr txBox="1"/>
          <p:nvPr/>
        </p:nvSpPr>
        <p:spPr>
          <a:xfrm>
            <a:off x="4355846" y="5980429"/>
            <a:ext cx="77216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Data</a:t>
            </a:r>
            <a:r>
              <a:rPr sz="1400" b="1" spc="-125" dirty="0">
                <a:latin typeface="Times New Roman"/>
                <a:cs typeface="Times New Roman"/>
              </a:rPr>
              <a:t> </a:t>
            </a:r>
            <a:r>
              <a:rPr sz="1400" b="1" spc="-15" dirty="0">
                <a:latin typeface="Times New Roman"/>
                <a:cs typeface="Times New Roman"/>
              </a:rPr>
              <a:t>Files</a:t>
            </a:r>
            <a:endParaRPr sz="1400">
              <a:latin typeface="Times New Roman"/>
              <a:cs typeface="Times New Roman"/>
            </a:endParaRPr>
          </a:p>
        </p:txBody>
      </p:sp>
      <p:sp>
        <p:nvSpPr>
          <p:cNvPr id="8" name="object 8"/>
          <p:cNvSpPr txBox="1"/>
          <p:nvPr/>
        </p:nvSpPr>
        <p:spPr>
          <a:xfrm>
            <a:off x="7882890" y="6569709"/>
            <a:ext cx="858519"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12" baseline="4629" dirty="0">
                <a:latin typeface="Times New Roman"/>
                <a:cs typeface="Times New Roman"/>
              </a:rPr>
              <a:t>11/</a:t>
            </a:r>
            <a:r>
              <a:rPr sz="1800" spc="-270" baseline="4629" dirty="0">
                <a:latin typeface="Times New Roman"/>
                <a:cs typeface="Times New Roman"/>
              </a:rPr>
              <a:t> </a:t>
            </a:r>
            <a:fld id="{81D60167-4931-47E6-BA6A-407CBD079E47}" type="slidenum">
              <a:rPr sz="1200" dirty="0">
                <a:latin typeface="Times New Roman"/>
                <a:cs typeface="Times New Roman"/>
              </a:rPr>
              <a:t>6</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2646680" cy="574675"/>
          </a:xfrm>
          <a:prstGeom prst="rect">
            <a:avLst/>
          </a:prstGeom>
        </p:spPr>
        <p:txBody>
          <a:bodyPr vert="horz" wrap="square" lIns="0" tIns="12700" rIns="0" bIns="0" rtlCol="0">
            <a:spAutoFit/>
          </a:bodyPr>
          <a:lstStyle/>
          <a:p>
            <a:pPr marL="12700">
              <a:lnSpc>
                <a:spcPct val="100000"/>
              </a:lnSpc>
              <a:spcBef>
                <a:spcPts val="100"/>
              </a:spcBef>
            </a:pPr>
            <a:r>
              <a:rPr b="0" spc="150" dirty="0">
                <a:latin typeface="Times New Roman"/>
                <a:cs typeface="Times New Roman"/>
              </a:rPr>
              <a:t>Data </a:t>
            </a:r>
            <a:r>
              <a:rPr b="0" spc="20" dirty="0">
                <a:latin typeface="Times New Roman"/>
                <a:cs typeface="Times New Roman"/>
              </a:rPr>
              <a:t>Files</a:t>
            </a:r>
            <a:r>
              <a:rPr b="0" spc="-495" dirty="0">
                <a:latin typeface="Times New Roman"/>
                <a:cs typeface="Times New Roman"/>
              </a:rPr>
              <a:t> </a:t>
            </a:r>
            <a:r>
              <a:rPr b="0" spc="-75" dirty="0">
                <a:latin typeface="Times New Roman"/>
                <a:cs typeface="Times New Roman"/>
              </a:rPr>
              <a:t>2-2</a:t>
            </a:r>
          </a:p>
        </p:txBody>
      </p:sp>
      <p:sp>
        <p:nvSpPr>
          <p:cNvPr id="3" name="object 3"/>
          <p:cNvSpPr txBox="1"/>
          <p:nvPr/>
        </p:nvSpPr>
        <p:spPr>
          <a:xfrm>
            <a:off x="592327" y="856742"/>
            <a:ext cx="5612130" cy="391795"/>
          </a:xfrm>
          <a:prstGeom prst="rect">
            <a:avLst/>
          </a:prstGeom>
        </p:spPr>
        <p:txBody>
          <a:bodyPr vert="horz" wrap="square" lIns="0" tIns="12700" rIns="0" bIns="0" rtlCol="0">
            <a:spAutoFit/>
          </a:bodyPr>
          <a:lstStyle/>
          <a:p>
            <a:pPr marL="12700">
              <a:lnSpc>
                <a:spcPct val="100000"/>
              </a:lnSpc>
              <a:spcBef>
                <a:spcPts val="100"/>
              </a:spcBef>
            </a:pPr>
            <a:r>
              <a:rPr sz="2400" spc="125" dirty="0">
                <a:latin typeface="Times New Roman"/>
                <a:cs typeface="Times New Roman"/>
              </a:rPr>
              <a:t>There</a:t>
            </a:r>
            <a:r>
              <a:rPr sz="2400" spc="-95" dirty="0">
                <a:latin typeface="Times New Roman"/>
                <a:cs typeface="Times New Roman"/>
              </a:rPr>
              <a:t> </a:t>
            </a:r>
            <a:r>
              <a:rPr sz="2400" spc="65" dirty="0">
                <a:latin typeface="Times New Roman"/>
                <a:cs typeface="Times New Roman"/>
              </a:rPr>
              <a:t>are</a:t>
            </a:r>
            <a:r>
              <a:rPr sz="2400" spc="-90" dirty="0">
                <a:latin typeface="Times New Roman"/>
                <a:cs typeface="Times New Roman"/>
              </a:rPr>
              <a:t> </a:t>
            </a:r>
            <a:r>
              <a:rPr sz="2400" spc="110" dirty="0">
                <a:latin typeface="Times New Roman"/>
                <a:cs typeface="Times New Roman"/>
              </a:rPr>
              <a:t>three</a:t>
            </a:r>
            <a:r>
              <a:rPr sz="2400" spc="-95" dirty="0">
                <a:latin typeface="Times New Roman"/>
                <a:cs typeface="Times New Roman"/>
              </a:rPr>
              <a:t> </a:t>
            </a:r>
            <a:r>
              <a:rPr sz="2400" spc="85" dirty="0">
                <a:latin typeface="Times New Roman"/>
                <a:cs typeface="Times New Roman"/>
              </a:rPr>
              <a:t>different</a:t>
            </a:r>
            <a:r>
              <a:rPr sz="2400" spc="-100" dirty="0">
                <a:latin typeface="Times New Roman"/>
                <a:cs typeface="Times New Roman"/>
              </a:rPr>
              <a:t> </a:t>
            </a:r>
            <a:r>
              <a:rPr sz="2400" spc="65" dirty="0">
                <a:latin typeface="Times New Roman"/>
                <a:cs typeface="Times New Roman"/>
              </a:rPr>
              <a:t>types</a:t>
            </a:r>
            <a:r>
              <a:rPr sz="2400" spc="-80" dirty="0">
                <a:latin typeface="Times New Roman"/>
                <a:cs typeface="Times New Roman"/>
              </a:rPr>
              <a:t> </a:t>
            </a:r>
            <a:r>
              <a:rPr sz="2400" spc="70" dirty="0">
                <a:latin typeface="Times New Roman"/>
                <a:cs typeface="Times New Roman"/>
              </a:rPr>
              <a:t>of</a:t>
            </a:r>
            <a:r>
              <a:rPr sz="2400" spc="-95" dirty="0">
                <a:latin typeface="Times New Roman"/>
                <a:cs typeface="Times New Roman"/>
              </a:rPr>
              <a:t> </a:t>
            </a:r>
            <a:r>
              <a:rPr sz="2400" spc="95" dirty="0">
                <a:latin typeface="Times New Roman"/>
                <a:cs typeface="Times New Roman"/>
              </a:rPr>
              <a:t>data</a:t>
            </a:r>
            <a:r>
              <a:rPr sz="2400" spc="-75" dirty="0">
                <a:latin typeface="Times New Roman"/>
                <a:cs typeface="Times New Roman"/>
              </a:rPr>
              <a:t> </a:t>
            </a:r>
            <a:r>
              <a:rPr sz="2400" spc="15" dirty="0">
                <a:latin typeface="Times New Roman"/>
                <a:cs typeface="Times New Roman"/>
              </a:rPr>
              <a:t>files</a:t>
            </a:r>
            <a:r>
              <a:rPr sz="1600" spc="15" dirty="0">
                <a:latin typeface="Arial"/>
                <a:cs typeface="Arial"/>
              </a:rPr>
              <a:t>:</a:t>
            </a:r>
            <a:endParaRPr sz="1600">
              <a:latin typeface="Arial"/>
              <a:cs typeface="Arial"/>
            </a:endParaRPr>
          </a:p>
        </p:txBody>
      </p:sp>
      <p:grpSp>
        <p:nvGrpSpPr>
          <p:cNvPr id="4" name="object 4"/>
          <p:cNvGrpSpPr/>
          <p:nvPr/>
        </p:nvGrpSpPr>
        <p:grpSpPr>
          <a:xfrm>
            <a:off x="501395" y="1657350"/>
            <a:ext cx="8498840" cy="669290"/>
            <a:chOff x="501395" y="1657350"/>
            <a:chExt cx="8498840" cy="669290"/>
          </a:xfrm>
        </p:grpSpPr>
        <p:sp>
          <p:nvSpPr>
            <p:cNvPr id="5" name="object 5"/>
            <p:cNvSpPr/>
            <p:nvPr/>
          </p:nvSpPr>
          <p:spPr>
            <a:xfrm>
              <a:off x="513968" y="1669923"/>
              <a:ext cx="8473440" cy="643890"/>
            </a:xfrm>
            <a:custGeom>
              <a:avLst/>
              <a:gdLst/>
              <a:ahLst/>
              <a:cxnLst/>
              <a:rect l="l" t="t" r="r" b="b"/>
              <a:pathLst>
                <a:path w="8473440" h="643889">
                  <a:moveTo>
                    <a:pt x="8368919" y="0"/>
                  </a:moveTo>
                  <a:lnTo>
                    <a:pt x="104482" y="0"/>
                  </a:lnTo>
                  <a:lnTo>
                    <a:pt x="63811" y="8427"/>
                  </a:lnTo>
                  <a:lnTo>
                    <a:pt x="30600" y="31416"/>
                  </a:lnTo>
                  <a:lnTo>
                    <a:pt x="8210" y="65526"/>
                  </a:lnTo>
                  <a:lnTo>
                    <a:pt x="0" y="107314"/>
                  </a:lnTo>
                  <a:lnTo>
                    <a:pt x="0" y="536574"/>
                  </a:lnTo>
                  <a:lnTo>
                    <a:pt x="8210" y="578363"/>
                  </a:lnTo>
                  <a:lnTo>
                    <a:pt x="30600" y="612473"/>
                  </a:lnTo>
                  <a:lnTo>
                    <a:pt x="63811" y="635462"/>
                  </a:lnTo>
                  <a:lnTo>
                    <a:pt x="104482" y="643889"/>
                  </a:lnTo>
                  <a:lnTo>
                    <a:pt x="8368919" y="643889"/>
                  </a:lnTo>
                  <a:lnTo>
                    <a:pt x="8409628" y="635462"/>
                  </a:lnTo>
                  <a:lnTo>
                    <a:pt x="8442848" y="612473"/>
                  </a:lnTo>
                  <a:lnTo>
                    <a:pt x="8465234" y="578363"/>
                  </a:lnTo>
                  <a:lnTo>
                    <a:pt x="8473440" y="536574"/>
                  </a:lnTo>
                  <a:lnTo>
                    <a:pt x="8473440" y="107314"/>
                  </a:lnTo>
                  <a:lnTo>
                    <a:pt x="8465234" y="65526"/>
                  </a:lnTo>
                  <a:lnTo>
                    <a:pt x="8442848" y="31416"/>
                  </a:lnTo>
                  <a:lnTo>
                    <a:pt x="8409628" y="8427"/>
                  </a:lnTo>
                  <a:lnTo>
                    <a:pt x="8368919" y="0"/>
                  </a:lnTo>
                  <a:close/>
                </a:path>
              </a:pathLst>
            </a:custGeom>
            <a:solidFill>
              <a:srgbClr val="4AACC5"/>
            </a:solidFill>
          </p:spPr>
          <p:txBody>
            <a:bodyPr wrap="square" lIns="0" tIns="0" rIns="0" bIns="0" rtlCol="0"/>
            <a:lstStyle/>
            <a:p>
              <a:endParaRPr/>
            </a:p>
          </p:txBody>
        </p:sp>
        <p:sp>
          <p:nvSpPr>
            <p:cNvPr id="6" name="object 6"/>
            <p:cNvSpPr/>
            <p:nvPr/>
          </p:nvSpPr>
          <p:spPr>
            <a:xfrm>
              <a:off x="513968" y="1669923"/>
              <a:ext cx="8473440" cy="643890"/>
            </a:xfrm>
            <a:custGeom>
              <a:avLst/>
              <a:gdLst/>
              <a:ahLst/>
              <a:cxnLst/>
              <a:rect l="l" t="t" r="r" b="b"/>
              <a:pathLst>
                <a:path w="8473440" h="643889">
                  <a:moveTo>
                    <a:pt x="0" y="107314"/>
                  </a:moveTo>
                  <a:lnTo>
                    <a:pt x="8210" y="65526"/>
                  </a:lnTo>
                  <a:lnTo>
                    <a:pt x="30600" y="31416"/>
                  </a:lnTo>
                  <a:lnTo>
                    <a:pt x="63811" y="8427"/>
                  </a:lnTo>
                  <a:lnTo>
                    <a:pt x="104482" y="0"/>
                  </a:lnTo>
                  <a:lnTo>
                    <a:pt x="8368919" y="0"/>
                  </a:lnTo>
                  <a:lnTo>
                    <a:pt x="8409628" y="8427"/>
                  </a:lnTo>
                  <a:lnTo>
                    <a:pt x="8442848" y="31416"/>
                  </a:lnTo>
                  <a:lnTo>
                    <a:pt x="8465234" y="65526"/>
                  </a:lnTo>
                  <a:lnTo>
                    <a:pt x="8473440" y="107314"/>
                  </a:lnTo>
                  <a:lnTo>
                    <a:pt x="8473440" y="536574"/>
                  </a:lnTo>
                  <a:lnTo>
                    <a:pt x="8465234" y="578363"/>
                  </a:lnTo>
                  <a:lnTo>
                    <a:pt x="8442848" y="612473"/>
                  </a:lnTo>
                  <a:lnTo>
                    <a:pt x="8409628" y="635462"/>
                  </a:lnTo>
                  <a:lnTo>
                    <a:pt x="8368919" y="643889"/>
                  </a:lnTo>
                  <a:lnTo>
                    <a:pt x="104482" y="643889"/>
                  </a:lnTo>
                  <a:lnTo>
                    <a:pt x="63811" y="635462"/>
                  </a:lnTo>
                  <a:lnTo>
                    <a:pt x="30600" y="612473"/>
                  </a:lnTo>
                  <a:lnTo>
                    <a:pt x="8210" y="578363"/>
                  </a:lnTo>
                  <a:lnTo>
                    <a:pt x="0" y="536574"/>
                  </a:lnTo>
                  <a:lnTo>
                    <a:pt x="0" y="107314"/>
                  </a:lnTo>
                  <a:close/>
                </a:path>
              </a:pathLst>
            </a:custGeom>
            <a:ln w="25146">
              <a:solidFill>
                <a:srgbClr val="FFFFFF"/>
              </a:solidFill>
            </a:ln>
          </p:spPr>
          <p:txBody>
            <a:bodyPr wrap="square" lIns="0" tIns="0" rIns="0" bIns="0" rtlCol="0"/>
            <a:lstStyle/>
            <a:p>
              <a:endParaRPr/>
            </a:p>
          </p:txBody>
        </p:sp>
      </p:grpSp>
      <p:grpSp>
        <p:nvGrpSpPr>
          <p:cNvPr id="7" name="object 7"/>
          <p:cNvGrpSpPr/>
          <p:nvPr/>
        </p:nvGrpSpPr>
        <p:grpSpPr>
          <a:xfrm>
            <a:off x="501395" y="3067811"/>
            <a:ext cx="8498840" cy="669925"/>
            <a:chOff x="501395" y="3067811"/>
            <a:chExt cx="8498840" cy="669925"/>
          </a:xfrm>
        </p:grpSpPr>
        <p:sp>
          <p:nvSpPr>
            <p:cNvPr id="8" name="object 8"/>
            <p:cNvSpPr/>
            <p:nvPr/>
          </p:nvSpPr>
          <p:spPr>
            <a:xfrm>
              <a:off x="513968" y="3080384"/>
              <a:ext cx="8473440" cy="645160"/>
            </a:xfrm>
            <a:custGeom>
              <a:avLst/>
              <a:gdLst/>
              <a:ahLst/>
              <a:cxnLst/>
              <a:rect l="l" t="t" r="r" b="b"/>
              <a:pathLst>
                <a:path w="8473440" h="645160">
                  <a:moveTo>
                    <a:pt x="8368919" y="0"/>
                  </a:moveTo>
                  <a:lnTo>
                    <a:pt x="104482" y="0"/>
                  </a:lnTo>
                  <a:lnTo>
                    <a:pt x="63811" y="8447"/>
                  </a:lnTo>
                  <a:lnTo>
                    <a:pt x="30600" y="31480"/>
                  </a:lnTo>
                  <a:lnTo>
                    <a:pt x="8210" y="65633"/>
                  </a:lnTo>
                  <a:lnTo>
                    <a:pt x="0" y="107441"/>
                  </a:lnTo>
                  <a:lnTo>
                    <a:pt x="0" y="537209"/>
                  </a:lnTo>
                  <a:lnTo>
                    <a:pt x="8210" y="579018"/>
                  </a:lnTo>
                  <a:lnTo>
                    <a:pt x="30600" y="613171"/>
                  </a:lnTo>
                  <a:lnTo>
                    <a:pt x="63811" y="636204"/>
                  </a:lnTo>
                  <a:lnTo>
                    <a:pt x="104482" y="644651"/>
                  </a:lnTo>
                  <a:lnTo>
                    <a:pt x="8368919" y="644651"/>
                  </a:lnTo>
                  <a:lnTo>
                    <a:pt x="8409628" y="636204"/>
                  </a:lnTo>
                  <a:lnTo>
                    <a:pt x="8442848" y="613171"/>
                  </a:lnTo>
                  <a:lnTo>
                    <a:pt x="8465234" y="579018"/>
                  </a:lnTo>
                  <a:lnTo>
                    <a:pt x="8473440" y="537209"/>
                  </a:lnTo>
                  <a:lnTo>
                    <a:pt x="8473440" y="107441"/>
                  </a:lnTo>
                  <a:lnTo>
                    <a:pt x="8465234" y="65633"/>
                  </a:lnTo>
                  <a:lnTo>
                    <a:pt x="8442848" y="31480"/>
                  </a:lnTo>
                  <a:lnTo>
                    <a:pt x="8409628" y="8447"/>
                  </a:lnTo>
                  <a:lnTo>
                    <a:pt x="8368919" y="0"/>
                  </a:lnTo>
                  <a:close/>
                </a:path>
              </a:pathLst>
            </a:custGeom>
            <a:solidFill>
              <a:srgbClr val="5FE046"/>
            </a:solidFill>
          </p:spPr>
          <p:txBody>
            <a:bodyPr wrap="square" lIns="0" tIns="0" rIns="0" bIns="0" rtlCol="0"/>
            <a:lstStyle/>
            <a:p>
              <a:endParaRPr/>
            </a:p>
          </p:txBody>
        </p:sp>
        <p:sp>
          <p:nvSpPr>
            <p:cNvPr id="9" name="object 9"/>
            <p:cNvSpPr/>
            <p:nvPr/>
          </p:nvSpPr>
          <p:spPr>
            <a:xfrm>
              <a:off x="513968" y="3080384"/>
              <a:ext cx="8473440" cy="645160"/>
            </a:xfrm>
            <a:custGeom>
              <a:avLst/>
              <a:gdLst/>
              <a:ahLst/>
              <a:cxnLst/>
              <a:rect l="l" t="t" r="r" b="b"/>
              <a:pathLst>
                <a:path w="8473440" h="645160">
                  <a:moveTo>
                    <a:pt x="0" y="107441"/>
                  </a:moveTo>
                  <a:lnTo>
                    <a:pt x="8210" y="65633"/>
                  </a:lnTo>
                  <a:lnTo>
                    <a:pt x="30600" y="31480"/>
                  </a:lnTo>
                  <a:lnTo>
                    <a:pt x="63811" y="8447"/>
                  </a:lnTo>
                  <a:lnTo>
                    <a:pt x="104482" y="0"/>
                  </a:lnTo>
                  <a:lnTo>
                    <a:pt x="8368919" y="0"/>
                  </a:lnTo>
                  <a:lnTo>
                    <a:pt x="8409628" y="8447"/>
                  </a:lnTo>
                  <a:lnTo>
                    <a:pt x="8442848" y="31480"/>
                  </a:lnTo>
                  <a:lnTo>
                    <a:pt x="8465234" y="65633"/>
                  </a:lnTo>
                  <a:lnTo>
                    <a:pt x="8473440" y="107441"/>
                  </a:lnTo>
                  <a:lnTo>
                    <a:pt x="8473440" y="537209"/>
                  </a:lnTo>
                  <a:lnTo>
                    <a:pt x="8465234" y="579018"/>
                  </a:lnTo>
                  <a:lnTo>
                    <a:pt x="8442848" y="613171"/>
                  </a:lnTo>
                  <a:lnTo>
                    <a:pt x="8409628" y="636204"/>
                  </a:lnTo>
                  <a:lnTo>
                    <a:pt x="8368919" y="644651"/>
                  </a:lnTo>
                  <a:lnTo>
                    <a:pt x="104482" y="644651"/>
                  </a:lnTo>
                  <a:lnTo>
                    <a:pt x="63811" y="636204"/>
                  </a:lnTo>
                  <a:lnTo>
                    <a:pt x="30600" y="613171"/>
                  </a:lnTo>
                  <a:lnTo>
                    <a:pt x="8210" y="579018"/>
                  </a:lnTo>
                  <a:lnTo>
                    <a:pt x="0" y="537209"/>
                  </a:lnTo>
                  <a:lnTo>
                    <a:pt x="0" y="107441"/>
                  </a:lnTo>
                  <a:close/>
                </a:path>
              </a:pathLst>
            </a:custGeom>
            <a:ln w="25145">
              <a:solidFill>
                <a:srgbClr val="FFFFFF"/>
              </a:solidFill>
            </a:ln>
          </p:spPr>
          <p:txBody>
            <a:bodyPr wrap="square" lIns="0" tIns="0" rIns="0" bIns="0" rtlCol="0"/>
            <a:lstStyle/>
            <a:p>
              <a:endParaRPr/>
            </a:p>
          </p:txBody>
        </p:sp>
      </p:grpSp>
      <p:grpSp>
        <p:nvGrpSpPr>
          <p:cNvPr id="10" name="object 10"/>
          <p:cNvGrpSpPr/>
          <p:nvPr/>
        </p:nvGrpSpPr>
        <p:grpSpPr>
          <a:xfrm>
            <a:off x="501395" y="4478273"/>
            <a:ext cx="8498840" cy="669925"/>
            <a:chOff x="501395" y="4478273"/>
            <a:chExt cx="8498840" cy="669925"/>
          </a:xfrm>
        </p:grpSpPr>
        <p:sp>
          <p:nvSpPr>
            <p:cNvPr id="11" name="object 11"/>
            <p:cNvSpPr/>
            <p:nvPr/>
          </p:nvSpPr>
          <p:spPr>
            <a:xfrm>
              <a:off x="513968" y="4490846"/>
              <a:ext cx="8473440" cy="645160"/>
            </a:xfrm>
            <a:custGeom>
              <a:avLst/>
              <a:gdLst/>
              <a:ahLst/>
              <a:cxnLst/>
              <a:rect l="l" t="t" r="r" b="b"/>
              <a:pathLst>
                <a:path w="8473440" h="645160">
                  <a:moveTo>
                    <a:pt x="8368919" y="0"/>
                  </a:moveTo>
                  <a:lnTo>
                    <a:pt x="104482" y="0"/>
                  </a:lnTo>
                  <a:lnTo>
                    <a:pt x="63811" y="8447"/>
                  </a:lnTo>
                  <a:lnTo>
                    <a:pt x="30600" y="31480"/>
                  </a:lnTo>
                  <a:lnTo>
                    <a:pt x="8210" y="65633"/>
                  </a:lnTo>
                  <a:lnTo>
                    <a:pt x="0" y="107441"/>
                  </a:lnTo>
                  <a:lnTo>
                    <a:pt x="0" y="537209"/>
                  </a:lnTo>
                  <a:lnTo>
                    <a:pt x="8210" y="579018"/>
                  </a:lnTo>
                  <a:lnTo>
                    <a:pt x="30600" y="613171"/>
                  </a:lnTo>
                  <a:lnTo>
                    <a:pt x="63811" y="636204"/>
                  </a:lnTo>
                  <a:lnTo>
                    <a:pt x="104482" y="644651"/>
                  </a:lnTo>
                  <a:lnTo>
                    <a:pt x="8368919" y="644651"/>
                  </a:lnTo>
                  <a:lnTo>
                    <a:pt x="8409628" y="636204"/>
                  </a:lnTo>
                  <a:lnTo>
                    <a:pt x="8442848" y="613171"/>
                  </a:lnTo>
                  <a:lnTo>
                    <a:pt x="8465234" y="579018"/>
                  </a:lnTo>
                  <a:lnTo>
                    <a:pt x="8473440" y="537209"/>
                  </a:lnTo>
                  <a:lnTo>
                    <a:pt x="8473440" y="107441"/>
                  </a:lnTo>
                  <a:lnTo>
                    <a:pt x="8465234" y="65633"/>
                  </a:lnTo>
                  <a:lnTo>
                    <a:pt x="8442848" y="31480"/>
                  </a:lnTo>
                  <a:lnTo>
                    <a:pt x="8409628" y="8447"/>
                  </a:lnTo>
                  <a:lnTo>
                    <a:pt x="8368919" y="0"/>
                  </a:lnTo>
                  <a:close/>
                </a:path>
              </a:pathLst>
            </a:custGeom>
            <a:solidFill>
              <a:srgbClr val="F79546"/>
            </a:solidFill>
          </p:spPr>
          <p:txBody>
            <a:bodyPr wrap="square" lIns="0" tIns="0" rIns="0" bIns="0" rtlCol="0"/>
            <a:lstStyle/>
            <a:p>
              <a:endParaRPr/>
            </a:p>
          </p:txBody>
        </p:sp>
        <p:sp>
          <p:nvSpPr>
            <p:cNvPr id="12" name="object 12"/>
            <p:cNvSpPr/>
            <p:nvPr/>
          </p:nvSpPr>
          <p:spPr>
            <a:xfrm>
              <a:off x="513968" y="4490846"/>
              <a:ext cx="8473440" cy="645160"/>
            </a:xfrm>
            <a:custGeom>
              <a:avLst/>
              <a:gdLst/>
              <a:ahLst/>
              <a:cxnLst/>
              <a:rect l="l" t="t" r="r" b="b"/>
              <a:pathLst>
                <a:path w="8473440" h="645160">
                  <a:moveTo>
                    <a:pt x="0" y="107441"/>
                  </a:moveTo>
                  <a:lnTo>
                    <a:pt x="8210" y="65633"/>
                  </a:lnTo>
                  <a:lnTo>
                    <a:pt x="30600" y="31480"/>
                  </a:lnTo>
                  <a:lnTo>
                    <a:pt x="63811" y="8447"/>
                  </a:lnTo>
                  <a:lnTo>
                    <a:pt x="104482" y="0"/>
                  </a:lnTo>
                  <a:lnTo>
                    <a:pt x="8368919" y="0"/>
                  </a:lnTo>
                  <a:lnTo>
                    <a:pt x="8409628" y="8447"/>
                  </a:lnTo>
                  <a:lnTo>
                    <a:pt x="8442848" y="31480"/>
                  </a:lnTo>
                  <a:lnTo>
                    <a:pt x="8465234" y="65633"/>
                  </a:lnTo>
                  <a:lnTo>
                    <a:pt x="8473440" y="107441"/>
                  </a:lnTo>
                  <a:lnTo>
                    <a:pt x="8473440" y="537209"/>
                  </a:lnTo>
                  <a:lnTo>
                    <a:pt x="8465234" y="579018"/>
                  </a:lnTo>
                  <a:lnTo>
                    <a:pt x="8442848" y="613171"/>
                  </a:lnTo>
                  <a:lnTo>
                    <a:pt x="8409628" y="636204"/>
                  </a:lnTo>
                  <a:lnTo>
                    <a:pt x="8368919" y="644651"/>
                  </a:lnTo>
                  <a:lnTo>
                    <a:pt x="104482" y="644651"/>
                  </a:lnTo>
                  <a:lnTo>
                    <a:pt x="63811" y="636204"/>
                  </a:lnTo>
                  <a:lnTo>
                    <a:pt x="30600" y="613171"/>
                  </a:lnTo>
                  <a:lnTo>
                    <a:pt x="8210" y="579018"/>
                  </a:lnTo>
                  <a:lnTo>
                    <a:pt x="0" y="537209"/>
                  </a:lnTo>
                  <a:lnTo>
                    <a:pt x="0" y="107441"/>
                  </a:lnTo>
                  <a:close/>
                </a:path>
              </a:pathLst>
            </a:custGeom>
            <a:ln w="25145">
              <a:solidFill>
                <a:srgbClr val="FFFFFF"/>
              </a:solidFill>
            </a:ln>
          </p:spPr>
          <p:txBody>
            <a:bodyPr wrap="square" lIns="0" tIns="0" rIns="0" bIns="0" rtlCol="0"/>
            <a:lstStyle/>
            <a:p>
              <a:endParaRPr/>
            </a:p>
          </p:txBody>
        </p:sp>
      </p:grpSp>
      <p:sp>
        <p:nvSpPr>
          <p:cNvPr id="13" name="object 13"/>
          <p:cNvSpPr txBox="1"/>
          <p:nvPr/>
        </p:nvSpPr>
        <p:spPr>
          <a:xfrm>
            <a:off x="597662" y="1819655"/>
            <a:ext cx="8232140" cy="421957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Calisto MT"/>
                <a:cs typeface="Calisto MT"/>
              </a:rPr>
              <a:t>Primary</a:t>
            </a:r>
            <a:endParaRPr sz="1800">
              <a:latin typeface="Calisto MT"/>
              <a:cs typeface="Calisto MT"/>
            </a:endParaRPr>
          </a:p>
          <a:p>
            <a:pPr>
              <a:lnSpc>
                <a:spcPct val="100000"/>
              </a:lnSpc>
              <a:spcBef>
                <a:spcPts val="10"/>
              </a:spcBef>
            </a:pPr>
            <a:endParaRPr sz="1450">
              <a:latin typeface="Calisto MT"/>
              <a:cs typeface="Calisto MT"/>
            </a:endParaRPr>
          </a:p>
          <a:p>
            <a:pPr marL="335915" marR="5080" indent="-171450" algn="just">
              <a:lnSpc>
                <a:spcPct val="90200"/>
              </a:lnSpc>
              <a:buFont typeface="Arial"/>
              <a:buChar char="•"/>
              <a:tabLst>
                <a:tab pos="336550" algn="l"/>
              </a:tabLst>
            </a:pPr>
            <a:r>
              <a:rPr sz="1600" dirty="0">
                <a:latin typeface="Calisto MT"/>
                <a:cs typeface="Calisto MT"/>
              </a:rPr>
              <a:t>A </a:t>
            </a:r>
            <a:r>
              <a:rPr sz="1600" spc="5" dirty="0">
                <a:latin typeface="Calisto MT"/>
                <a:cs typeface="Calisto MT"/>
              </a:rPr>
              <a:t>primary </a:t>
            </a:r>
            <a:r>
              <a:rPr sz="1600" dirty="0">
                <a:latin typeface="Calisto MT"/>
                <a:cs typeface="Calisto MT"/>
              </a:rPr>
              <a:t>data file is </a:t>
            </a:r>
            <a:r>
              <a:rPr sz="1600" spc="-10" dirty="0">
                <a:latin typeface="Calisto MT"/>
                <a:cs typeface="Calisto MT"/>
              </a:rPr>
              <a:t>automatically </a:t>
            </a:r>
            <a:r>
              <a:rPr sz="1600" dirty="0">
                <a:latin typeface="Calisto MT"/>
                <a:cs typeface="Calisto MT"/>
              </a:rPr>
              <a:t>created </a:t>
            </a:r>
            <a:r>
              <a:rPr sz="1600" spc="-5" dirty="0">
                <a:latin typeface="Calisto MT"/>
                <a:cs typeface="Calisto MT"/>
              </a:rPr>
              <a:t>at </a:t>
            </a:r>
            <a:r>
              <a:rPr sz="1600" dirty="0">
                <a:latin typeface="Calisto MT"/>
                <a:cs typeface="Calisto MT"/>
              </a:rPr>
              <a:t>the time of </a:t>
            </a:r>
            <a:r>
              <a:rPr sz="1600" spc="-5" dirty="0">
                <a:latin typeface="Calisto MT"/>
                <a:cs typeface="Calisto MT"/>
              </a:rPr>
              <a:t>creation </a:t>
            </a:r>
            <a:r>
              <a:rPr sz="1600" dirty="0">
                <a:latin typeface="Calisto MT"/>
                <a:cs typeface="Calisto MT"/>
              </a:rPr>
              <a:t>of the </a:t>
            </a:r>
            <a:r>
              <a:rPr sz="1600" spc="-15" dirty="0">
                <a:latin typeface="Calisto MT"/>
                <a:cs typeface="Calisto MT"/>
              </a:rPr>
              <a:t>database. </a:t>
            </a:r>
            <a:r>
              <a:rPr sz="1600" dirty="0">
                <a:latin typeface="Calisto MT"/>
                <a:cs typeface="Calisto MT"/>
              </a:rPr>
              <a:t>This file  has references to </a:t>
            </a:r>
            <a:r>
              <a:rPr sz="1600" spc="-5" dirty="0">
                <a:latin typeface="Calisto MT"/>
                <a:cs typeface="Calisto MT"/>
              </a:rPr>
              <a:t>all </a:t>
            </a:r>
            <a:r>
              <a:rPr sz="1600" dirty="0">
                <a:latin typeface="Calisto MT"/>
                <a:cs typeface="Calisto MT"/>
              </a:rPr>
              <a:t>other files in the </a:t>
            </a:r>
            <a:r>
              <a:rPr sz="1600" spc="-15" dirty="0">
                <a:latin typeface="Calisto MT"/>
                <a:cs typeface="Calisto MT"/>
              </a:rPr>
              <a:t>database. </a:t>
            </a:r>
            <a:r>
              <a:rPr sz="1600" dirty="0">
                <a:latin typeface="Calisto MT"/>
                <a:cs typeface="Calisto MT"/>
              </a:rPr>
              <a:t>The </a:t>
            </a:r>
            <a:r>
              <a:rPr sz="1600" spc="-5" dirty="0">
                <a:latin typeface="Calisto MT"/>
                <a:cs typeface="Calisto MT"/>
              </a:rPr>
              <a:t>recommended </a:t>
            </a:r>
            <a:r>
              <a:rPr sz="1600" dirty="0">
                <a:latin typeface="Calisto MT"/>
                <a:cs typeface="Calisto MT"/>
              </a:rPr>
              <a:t>file </a:t>
            </a:r>
            <a:r>
              <a:rPr sz="1600" spc="-5" dirty="0">
                <a:latin typeface="Calisto MT"/>
                <a:cs typeface="Calisto MT"/>
              </a:rPr>
              <a:t>extension </a:t>
            </a:r>
            <a:r>
              <a:rPr sz="1600" dirty="0">
                <a:latin typeface="Calisto MT"/>
                <a:cs typeface="Calisto MT"/>
              </a:rPr>
              <a:t>for </a:t>
            </a:r>
            <a:r>
              <a:rPr sz="1600" spc="5" dirty="0">
                <a:latin typeface="Calisto MT"/>
                <a:cs typeface="Calisto MT"/>
              </a:rPr>
              <a:t>primary  </a:t>
            </a:r>
            <a:r>
              <a:rPr sz="1600" dirty="0">
                <a:latin typeface="Calisto MT"/>
                <a:cs typeface="Calisto MT"/>
              </a:rPr>
              <a:t>data files is </a:t>
            </a:r>
            <a:r>
              <a:rPr sz="1600" b="1" spc="-5" dirty="0">
                <a:latin typeface="Calisto MT"/>
                <a:cs typeface="Calisto MT"/>
              </a:rPr>
              <a:t>.mdf</a:t>
            </a:r>
            <a:r>
              <a:rPr sz="1600" spc="-5" dirty="0">
                <a:latin typeface="Calisto MT"/>
                <a:cs typeface="Calisto MT"/>
              </a:rPr>
              <a:t>.</a:t>
            </a:r>
            <a:endParaRPr sz="1600">
              <a:latin typeface="Calisto MT"/>
              <a:cs typeface="Calisto MT"/>
            </a:endParaRPr>
          </a:p>
          <a:p>
            <a:pPr>
              <a:lnSpc>
                <a:spcPct val="100000"/>
              </a:lnSpc>
              <a:spcBef>
                <a:spcPts val="10"/>
              </a:spcBef>
              <a:buFont typeface="Arial"/>
              <a:buChar char="•"/>
            </a:pPr>
            <a:endParaRPr sz="1750">
              <a:latin typeface="Calisto MT"/>
              <a:cs typeface="Calisto MT"/>
            </a:endParaRPr>
          </a:p>
          <a:p>
            <a:pPr marL="12700">
              <a:lnSpc>
                <a:spcPct val="100000"/>
              </a:lnSpc>
            </a:pPr>
            <a:r>
              <a:rPr sz="1800" b="1" dirty="0">
                <a:solidFill>
                  <a:srgbClr val="FFFFFF"/>
                </a:solidFill>
                <a:latin typeface="Calisto MT"/>
                <a:cs typeface="Calisto MT"/>
              </a:rPr>
              <a:t>Secondary</a:t>
            </a:r>
            <a:endParaRPr sz="1800">
              <a:latin typeface="Calisto MT"/>
              <a:cs typeface="Calisto MT"/>
            </a:endParaRPr>
          </a:p>
          <a:p>
            <a:pPr>
              <a:lnSpc>
                <a:spcPct val="100000"/>
              </a:lnSpc>
              <a:spcBef>
                <a:spcPts val="15"/>
              </a:spcBef>
            </a:pPr>
            <a:endParaRPr sz="1450">
              <a:latin typeface="Calisto MT"/>
              <a:cs typeface="Calisto MT"/>
            </a:endParaRPr>
          </a:p>
          <a:p>
            <a:pPr marL="335915" marR="78740" indent="-171450">
              <a:lnSpc>
                <a:spcPct val="90200"/>
              </a:lnSpc>
              <a:buFont typeface="Arial"/>
              <a:buChar char="•"/>
              <a:tabLst>
                <a:tab pos="336550" algn="l"/>
              </a:tabLst>
            </a:pPr>
            <a:r>
              <a:rPr sz="1600" dirty="0">
                <a:latin typeface="Calisto MT"/>
                <a:cs typeface="Calisto MT"/>
              </a:rPr>
              <a:t>These </a:t>
            </a:r>
            <a:r>
              <a:rPr sz="1600" spc="-5" dirty="0">
                <a:latin typeface="Calisto MT"/>
                <a:cs typeface="Calisto MT"/>
              </a:rPr>
              <a:t>are </a:t>
            </a:r>
            <a:r>
              <a:rPr sz="1600" dirty="0">
                <a:latin typeface="Calisto MT"/>
                <a:cs typeface="Calisto MT"/>
              </a:rPr>
              <a:t>optional user-defined data </a:t>
            </a:r>
            <a:r>
              <a:rPr sz="1600" spc="-10" dirty="0">
                <a:latin typeface="Calisto MT"/>
                <a:cs typeface="Calisto MT"/>
              </a:rPr>
              <a:t>files. </a:t>
            </a:r>
            <a:r>
              <a:rPr sz="1600" dirty="0">
                <a:latin typeface="Calisto MT"/>
                <a:cs typeface="Calisto MT"/>
              </a:rPr>
              <a:t>Data </a:t>
            </a:r>
            <a:r>
              <a:rPr sz="1600" spc="-5" dirty="0">
                <a:latin typeface="Calisto MT"/>
                <a:cs typeface="Calisto MT"/>
              </a:rPr>
              <a:t>can </a:t>
            </a:r>
            <a:r>
              <a:rPr sz="1600" dirty="0">
                <a:latin typeface="Calisto MT"/>
                <a:cs typeface="Calisto MT"/>
              </a:rPr>
              <a:t>be spread </a:t>
            </a:r>
            <a:r>
              <a:rPr sz="1600" spc="-5" dirty="0">
                <a:latin typeface="Calisto MT"/>
                <a:cs typeface="Calisto MT"/>
              </a:rPr>
              <a:t>across multiple </a:t>
            </a:r>
            <a:r>
              <a:rPr sz="1600" dirty="0">
                <a:latin typeface="Calisto MT"/>
                <a:cs typeface="Calisto MT"/>
              </a:rPr>
              <a:t>disks by  putting each file on a different disk </a:t>
            </a:r>
            <a:r>
              <a:rPr sz="1600" spc="-25" dirty="0">
                <a:latin typeface="Calisto MT"/>
                <a:cs typeface="Calisto MT"/>
              </a:rPr>
              <a:t>drive. </a:t>
            </a:r>
            <a:r>
              <a:rPr sz="1600" spc="-5" dirty="0">
                <a:latin typeface="Calisto MT"/>
                <a:cs typeface="Calisto MT"/>
              </a:rPr>
              <a:t>Recommended </a:t>
            </a:r>
            <a:r>
              <a:rPr sz="1600" dirty="0">
                <a:latin typeface="Calisto MT"/>
                <a:cs typeface="Calisto MT"/>
              </a:rPr>
              <a:t>file name </a:t>
            </a:r>
            <a:r>
              <a:rPr sz="1600" spc="-5" dirty="0">
                <a:latin typeface="Calisto MT"/>
                <a:cs typeface="Calisto MT"/>
              </a:rPr>
              <a:t>extension </a:t>
            </a:r>
            <a:r>
              <a:rPr sz="1600" dirty="0">
                <a:latin typeface="Calisto MT"/>
                <a:cs typeface="Calisto MT"/>
              </a:rPr>
              <a:t>for </a:t>
            </a:r>
            <a:r>
              <a:rPr sz="1600" spc="5" dirty="0">
                <a:latin typeface="Calisto MT"/>
                <a:cs typeface="Calisto MT"/>
              </a:rPr>
              <a:t>secondary  </a:t>
            </a:r>
            <a:r>
              <a:rPr sz="1600" dirty="0">
                <a:latin typeface="Calisto MT"/>
                <a:cs typeface="Calisto MT"/>
              </a:rPr>
              <a:t>data files is </a:t>
            </a:r>
            <a:r>
              <a:rPr sz="1600" b="1" spc="-5" dirty="0">
                <a:latin typeface="Calisto MT"/>
                <a:cs typeface="Calisto MT"/>
              </a:rPr>
              <a:t>.ndf</a:t>
            </a:r>
            <a:r>
              <a:rPr sz="1600" spc="-5" dirty="0">
                <a:latin typeface="Calisto MT"/>
                <a:cs typeface="Calisto MT"/>
              </a:rPr>
              <a:t>.</a:t>
            </a:r>
            <a:endParaRPr sz="1600">
              <a:latin typeface="Calisto MT"/>
              <a:cs typeface="Calisto MT"/>
            </a:endParaRPr>
          </a:p>
          <a:p>
            <a:pPr>
              <a:lnSpc>
                <a:spcPct val="100000"/>
              </a:lnSpc>
              <a:spcBef>
                <a:spcPts val="5"/>
              </a:spcBef>
              <a:buFont typeface="Arial"/>
              <a:buChar char="•"/>
            </a:pPr>
            <a:endParaRPr sz="1750">
              <a:latin typeface="Calisto MT"/>
              <a:cs typeface="Calisto MT"/>
            </a:endParaRPr>
          </a:p>
          <a:p>
            <a:pPr marL="12700">
              <a:lnSpc>
                <a:spcPct val="100000"/>
              </a:lnSpc>
              <a:spcBef>
                <a:spcPts val="5"/>
              </a:spcBef>
            </a:pPr>
            <a:r>
              <a:rPr sz="1800" b="1" spc="-10" dirty="0">
                <a:solidFill>
                  <a:srgbClr val="FFFFFF"/>
                </a:solidFill>
                <a:latin typeface="Calisto MT"/>
                <a:cs typeface="Calisto MT"/>
              </a:rPr>
              <a:t>Transaction</a:t>
            </a:r>
            <a:r>
              <a:rPr sz="1800" b="1" spc="-15" dirty="0">
                <a:solidFill>
                  <a:srgbClr val="FFFFFF"/>
                </a:solidFill>
                <a:latin typeface="Calisto MT"/>
                <a:cs typeface="Calisto MT"/>
              </a:rPr>
              <a:t> </a:t>
            </a:r>
            <a:r>
              <a:rPr sz="1800" b="1" dirty="0">
                <a:solidFill>
                  <a:srgbClr val="FFFFFF"/>
                </a:solidFill>
                <a:latin typeface="Calisto MT"/>
                <a:cs typeface="Calisto MT"/>
              </a:rPr>
              <a:t>Log</a:t>
            </a:r>
            <a:endParaRPr sz="1800">
              <a:latin typeface="Calisto MT"/>
              <a:cs typeface="Calisto MT"/>
            </a:endParaRPr>
          </a:p>
          <a:p>
            <a:pPr>
              <a:lnSpc>
                <a:spcPct val="100000"/>
              </a:lnSpc>
              <a:spcBef>
                <a:spcPts val="10"/>
              </a:spcBef>
            </a:pPr>
            <a:endParaRPr sz="1450">
              <a:latin typeface="Calisto MT"/>
              <a:cs typeface="Calisto MT"/>
            </a:endParaRPr>
          </a:p>
          <a:p>
            <a:pPr marL="335915" marR="225425" indent="-171450">
              <a:lnSpc>
                <a:spcPct val="90100"/>
              </a:lnSpc>
              <a:buFont typeface="Arial"/>
              <a:buChar char="•"/>
              <a:tabLst>
                <a:tab pos="336550" algn="l"/>
              </a:tabLst>
            </a:pPr>
            <a:r>
              <a:rPr sz="1600" dirty="0">
                <a:latin typeface="Calisto MT"/>
                <a:cs typeface="Calisto MT"/>
              </a:rPr>
              <a:t>Log files </a:t>
            </a:r>
            <a:r>
              <a:rPr sz="1600" spc="-5" dirty="0">
                <a:latin typeface="Calisto MT"/>
                <a:cs typeface="Calisto MT"/>
              </a:rPr>
              <a:t>contain </a:t>
            </a:r>
            <a:r>
              <a:rPr sz="1600" dirty="0">
                <a:latin typeface="Calisto MT"/>
                <a:cs typeface="Calisto MT"/>
              </a:rPr>
              <a:t>information </a:t>
            </a:r>
            <a:r>
              <a:rPr sz="1600" spc="-5" dirty="0">
                <a:latin typeface="Calisto MT"/>
                <a:cs typeface="Calisto MT"/>
              </a:rPr>
              <a:t>about modifications </a:t>
            </a:r>
            <a:r>
              <a:rPr sz="1600" dirty="0">
                <a:latin typeface="Calisto MT"/>
                <a:cs typeface="Calisto MT"/>
              </a:rPr>
              <a:t>carried out in the </a:t>
            </a:r>
            <a:r>
              <a:rPr sz="1600" spc="-15" dirty="0">
                <a:latin typeface="Calisto MT"/>
                <a:cs typeface="Calisto MT"/>
              </a:rPr>
              <a:t>database. </a:t>
            </a:r>
            <a:r>
              <a:rPr sz="1600" dirty="0">
                <a:latin typeface="Calisto MT"/>
                <a:cs typeface="Calisto MT"/>
              </a:rPr>
              <a:t>This  information is useful in </a:t>
            </a:r>
            <a:r>
              <a:rPr sz="1600" spc="-5" dirty="0">
                <a:latin typeface="Calisto MT"/>
                <a:cs typeface="Calisto MT"/>
              </a:rPr>
              <a:t>recovery </a:t>
            </a:r>
            <a:r>
              <a:rPr sz="1600" dirty="0">
                <a:latin typeface="Calisto MT"/>
                <a:cs typeface="Calisto MT"/>
              </a:rPr>
              <a:t>of data in </a:t>
            </a:r>
            <a:r>
              <a:rPr sz="1600" spc="-5" dirty="0">
                <a:latin typeface="Calisto MT"/>
                <a:cs typeface="Calisto MT"/>
              </a:rPr>
              <a:t>contingencies </a:t>
            </a:r>
            <a:r>
              <a:rPr sz="1600" dirty="0">
                <a:latin typeface="Calisto MT"/>
                <a:cs typeface="Calisto MT"/>
              </a:rPr>
              <a:t>such </a:t>
            </a:r>
            <a:r>
              <a:rPr sz="1600" spc="-5" dirty="0">
                <a:latin typeface="Calisto MT"/>
                <a:cs typeface="Calisto MT"/>
              </a:rPr>
              <a:t>as </a:t>
            </a:r>
            <a:r>
              <a:rPr sz="1600" dirty="0">
                <a:latin typeface="Calisto MT"/>
                <a:cs typeface="Calisto MT"/>
              </a:rPr>
              <a:t>sudden </a:t>
            </a:r>
            <a:r>
              <a:rPr sz="1600" spc="-15" dirty="0">
                <a:latin typeface="Calisto MT"/>
                <a:cs typeface="Calisto MT"/>
              </a:rPr>
              <a:t>power </a:t>
            </a:r>
            <a:r>
              <a:rPr sz="1600" dirty="0">
                <a:latin typeface="Calisto MT"/>
                <a:cs typeface="Calisto MT"/>
              </a:rPr>
              <a:t>failure or  the </a:t>
            </a:r>
            <a:r>
              <a:rPr sz="1600" spc="-5" dirty="0">
                <a:latin typeface="Calisto MT"/>
                <a:cs typeface="Calisto MT"/>
              </a:rPr>
              <a:t>need </a:t>
            </a:r>
            <a:r>
              <a:rPr sz="1600" dirty="0">
                <a:latin typeface="Calisto MT"/>
                <a:cs typeface="Calisto MT"/>
              </a:rPr>
              <a:t>to shift the </a:t>
            </a:r>
            <a:r>
              <a:rPr sz="1600" spc="-5" dirty="0">
                <a:latin typeface="Calisto MT"/>
                <a:cs typeface="Calisto MT"/>
              </a:rPr>
              <a:t>database </a:t>
            </a:r>
            <a:r>
              <a:rPr sz="1600" dirty="0">
                <a:latin typeface="Calisto MT"/>
                <a:cs typeface="Calisto MT"/>
              </a:rPr>
              <a:t>to a different </a:t>
            </a:r>
            <a:r>
              <a:rPr sz="1600" spc="-20" dirty="0">
                <a:latin typeface="Calisto MT"/>
                <a:cs typeface="Calisto MT"/>
              </a:rPr>
              <a:t>server. </a:t>
            </a:r>
            <a:r>
              <a:rPr sz="1600" dirty="0">
                <a:latin typeface="Calisto MT"/>
                <a:cs typeface="Calisto MT"/>
              </a:rPr>
              <a:t>There is </a:t>
            </a:r>
            <a:r>
              <a:rPr sz="1600" spc="-5" dirty="0">
                <a:latin typeface="Calisto MT"/>
                <a:cs typeface="Calisto MT"/>
              </a:rPr>
              <a:t>at </a:t>
            </a:r>
            <a:r>
              <a:rPr sz="1600" dirty="0">
                <a:latin typeface="Calisto MT"/>
                <a:cs typeface="Calisto MT"/>
              </a:rPr>
              <a:t>least one log file for each  </a:t>
            </a:r>
            <a:r>
              <a:rPr sz="1600" spc="-15" dirty="0">
                <a:latin typeface="Calisto MT"/>
                <a:cs typeface="Calisto MT"/>
              </a:rPr>
              <a:t>database. </a:t>
            </a:r>
            <a:r>
              <a:rPr sz="1600" dirty="0">
                <a:latin typeface="Calisto MT"/>
                <a:cs typeface="Calisto MT"/>
              </a:rPr>
              <a:t>The </a:t>
            </a:r>
            <a:r>
              <a:rPr sz="1600" spc="-5" dirty="0">
                <a:latin typeface="Calisto MT"/>
                <a:cs typeface="Calisto MT"/>
              </a:rPr>
              <a:t>recommended </a:t>
            </a:r>
            <a:r>
              <a:rPr sz="1600" dirty="0">
                <a:latin typeface="Calisto MT"/>
                <a:cs typeface="Calisto MT"/>
              </a:rPr>
              <a:t>file </a:t>
            </a:r>
            <a:r>
              <a:rPr sz="1600" spc="-5" dirty="0">
                <a:latin typeface="Calisto MT"/>
                <a:cs typeface="Calisto MT"/>
              </a:rPr>
              <a:t>extension </a:t>
            </a:r>
            <a:r>
              <a:rPr sz="1600" dirty="0">
                <a:latin typeface="Calisto MT"/>
                <a:cs typeface="Calisto MT"/>
              </a:rPr>
              <a:t>for log files is</a:t>
            </a:r>
            <a:r>
              <a:rPr sz="1600" spc="65" dirty="0">
                <a:latin typeface="Calisto MT"/>
                <a:cs typeface="Calisto MT"/>
              </a:rPr>
              <a:t> </a:t>
            </a:r>
            <a:r>
              <a:rPr sz="1600" b="1" spc="-5" dirty="0">
                <a:latin typeface="Calisto MT"/>
                <a:cs typeface="Calisto MT"/>
              </a:rPr>
              <a:t>.ldf</a:t>
            </a:r>
            <a:r>
              <a:rPr sz="1600" spc="-5" dirty="0">
                <a:latin typeface="Calisto MT"/>
                <a:cs typeface="Calisto MT"/>
              </a:rPr>
              <a:t>.</a:t>
            </a:r>
            <a:endParaRPr sz="1600">
              <a:latin typeface="Calisto MT"/>
              <a:cs typeface="Calisto MT"/>
            </a:endParaRPr>
          </a:p>
        </p:txBody>
      </p:sp>
      <p:sp>
        <p:nvSpPr>
          <p:cNvPr id="15" name="object 15"/>
          <p:cNvSpPr txBox="1"/>
          <p:nvPr/>
        </p:nvSpPr>
        <p:spPr>
          <a:xfrm>
            <a:off x="7882890" y="6569709"/>
            <a:ext cx="858519"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112" baseline="4629" dirty="0">
                <a:latin typeface="Times New Roman"/>
                <a:cs typeface="Times New Roman"/>
              </a:rPr>
              <a:t>11/</a:t>
            </a:r>
            <a:r>
              <a:rPr sz="1800" spc="-270" baseline="4629" dirty="0">
                <a:latin typeface="Times New Roman"/>
                <a:cs typeface="Times New Roman"/>
              </a:rPr>
              <a:t> </a:t>
            </a:r>
            <a:fld id="{81D60167-4931-47E6-BA6A-407CBD079E47}" type="slidenum">
              <a:rPr sz="1200" dirty="0">
                <a:latin typeface="Times New Roman"/>
                <a:cs typeface="Times New Roman"/>
              </a:rPr>
              <a:t>7</a:t>
            </a:fld>
            <a:endParaRPr sz="1200">
              <a:latin typeface="Times New Roman"/>
              <a:cs typeface="Times New Roman"/>
            </a:endParaRPr>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6601714"/>
            <a:ext cx="892810" cy="208279"/>
          </a:xfrm>
          <a:prstGeom prst="rect">
            <a:avLst/>
          </a:prstGeom>
        </p:spPr>
        <p:txBody>
          <a:bodyPr vert="horz" wrap="square" lIns="0" tIns="12700" rIns="0" bIns="0" rtlCol="0">
            <a:spAutoFit/>
          </a:bodyPr>
          <a:lstStyle/>
          <a:p>
            <a:pPr marL="12700">
              <a:lnSpc>
                <a:spcPct val="100000"/>
              </a:lnSpc>
              <a:spcBef>
                <a:spcPts val="100"/>
              </a:spcBef>
            </a:pPr>
            <a:r>
              <a:rPr sz="1200" spc="40" dirty="0">
                <a:latin typeface="Times New Roman"/>
                <a:cs typeface="Times New Roman"/>
              </a:rPr>
              <a:t>© </a:t>
            </a:r>
            <a:r>
              <a:rPr sz="1200" i="1" dirty="0">
                <a:latin typeface="Palatino Linotype"/>
                <a:cs typeface="Palatino Linotype"/>
              </a:rPr>
              <a:t>Aptech</a:t>
            </a:r>
            <a:r>
              <a:rPr sz="1200" i="1" spc="-190" dirty="0">
                <a:latin typeface="Palatino Linotype"/>
                <a:cs typeface="Palatino Linotype"/>
              </a:rPr>
              <a:t> </a:t>
            </a:r>
            <a:r>
              <a:rPr sz="1200" i="1" spc="-15" dirty="0">
                <a:latin typeface="Palatino Linotype"/>
                <a:cs typeface="Palatino Linotype"/>
              </a:rPr>
              <a:t>Ltd.</a:t>
            </a:r>
            <a:endParaRPr sz="1200">
              <a:latin typeface="Palatino Linotype"/>
              <a:cs typeface="Palatino Linotype"/>
            </a:endParaRPr>
          </a:p>
        </p:txBody>
      </p:sp>
      <p:sp>
        <p:nvSpPr>
          <p:cNvPr id="3" name="object 3"/>
          <p:cNvSpPr txBox="1"/>
          <p:nvPr/>
        </p:nvSpPr>
        <p:spPr>
          <a:xfrm>
            <a:off x="7882890" y="6575552"/>
            <a:ext cx="832485" cy="208279"/>
          </a:xfrm>
          <a:prstGeom prst="rect">
            <a:avLst/>
          </a:prstGeom>
        </p:spPr>
        <p:txBody>
          <a:bodyPr vert="horz" wrap="square" lIns="0" tIns="12700" rIns="0" bIns="0" rtlCol="0">
            <a:spAutoFit/>
          </a:bodyPr>
          <a:lstStyle/>
          <a:p>
            <a:pPr marL="12700">
              <a:lnSpc>
                <a:spcPct val="100000"/>
              </a:lnSpc>
              <a:spcBef>
                <a:spcPts val="100"/>
              </a:spcBef>
            </a:pPr>
            <a:r>
              <a:rPr sz="1800" spc="52" baseline="4629" dirty="0">
                <a:latin typeface="Times New Roman"/>
                <a:cs typeface="Times New Roman"/>
              </a:rPr>
              <a:t>Session </a:t>
            </a:r>
            <a:r>
              <a:rPr sz="1800" spc="-112" baseline="4629" dirty="0">
                <a:latin typeface="Times New Roman"/>
                <a:cs typeface="Times New Roman"/>
              </a:rPr>
              <a:t>11/</a:t>
            </a:r>
            <a:r>
              <a:rPr sz="1800" spc="-300" baseline="4629" dirty="0">
                <a:latin typeface="Times New Roman"/>
                <a:cs typeface="Times New Roman"/>
              </a:rPr>
              <a:t> </a:t>
            </a:r>
            <a:r>
              <a:rPr sz="1200" dirty="0">
                <a:latin typeface="Times New Roman"/>
                <a:cs typeface="Times New Roman"/>
              </a:rPr>
              <a:t>8</a:t>
            </a:r>
            <a:endParaRPr sz="1200">
              <a:latin typeface="Times New Roman"/>
              <a:cs typeface="Times New Roman"/>
            </a:endParaRPr>
          </a:p>
        </p:txBody>
      </p:sp>
      <p:sp>
        <p:nvSpPr>
          <p:cNvPr id="4" name="object 4"/>
          <p:cNvSpPr txBox="1">
            <a:spLocks noGrp="1"/>
          </p:cNvSpPr>
          <p:nvPr>
            <p:ph type="title"/>
          </p:nvPr>
        </p:nvSpPr>
        <p:spPr>
          <a:xfrm>
            <a:off x="466090" y="21081"/>
            <a:ext cx="5470525" cy="635635"/>
          </a:xfrm>
          <a:prstGeom prst="rect">
            <a:avLst/>
          </a:prstGeom>
        </p:spPr>
        <p:txBody>
          <a:bodyPr vert="horz" wrap="square" lIns="0" tIns="12700" rIns="0" bIns="0" rtlCol="0">
            <a:spAutoFit/>
          </a:bodyPr>
          <a:lstStyle/>
          <a:p>
            <a:pPr marL="12700">
              <a:lnSpc>
                <a:spcPct val="100000"/>
              </a:lnSpc>
              <a:spcBef>
                <a:spcPts val="100"/>
              </a:spcBef>
            </a:pPr>
            <a:r>
              <a:rPr sz="4000" b="0" spc="180" dirty="0">
                <a:latin typeface="Times New Roman"/>
                <a:cs typeface="Times New Roman"/>
              </a:rPr>
              <a:t>Requirement </a:t>
            </a:r>
            <a:r>
              <a:rPr sz="4000" b="0" spc="135" dirty="0">
                <a:latin typeface="Times New Roman"/>
                <a:cs typeface="Times New Roman"/>
              </a:rPr>
              <a:t>for</a:t>
            </a:r>
            <a:r>
              <a:rPr sz="4000" b="0" spc="-540" dirty="0">
                <a:latin typeface="Times New Roman"/>
                <a:cs typeface="Times New Roman"/>
              </a:rPr>
              <a:t> </a:t>
            </a:r>
            <a:r>
              <a:rPr sz="4000" b="0" spc="140" dirty="0">
                <a:latin typeface="Times New Roman"/>
                <a:cs typeface="Times New Roman"/>
              </a:rPr>
              <a:t>Indexes</a:t>
            </a:r>
            <a:endParaRPr sz="4000">
              <a:latin typeface="Times New Roman"/>
              <a:cs typeface="Times New Roman"/>
            </a:endParaRPr>
          </a:p>
        </p:txBody>
      </p:sp>
      <p:sp>
        <p:nvSpPr>
          <p:cNvPr id="5" name="object 5"/>
          <p:cNvSpPr/>
          <p:nvPr/>
        </p:nvSpPr>
        <p:spPr>
          <a:xfrm>
            <a:off x="188976" y="933449"/>
            <a:ext cx="8766175" cy="1584960"/>
          </a:xfrm>
          <a:custGeom>
            <a:avLst/>
            <a:gdLst/>
            <a:ahLst/>
            <a:cxnLst/>
            <a:rect l="l" t="t" r="r" b="b"/>
            <a:pathLst>
              <a:path w="8766175" h="1584960">
                <a:moveTo>
                  <a:pt x="8766048" y="264160"/>
                </a:moveTo>
                <a:lnTo>
                  <a:pt x="8761781" y="216674"/>
                </a:lnTo>
                <a:lnTo>
                  <a:pt x="8749513" y="171983"/>
                </a:lnTo>
                <a:lnTo>
                  <a:pt x="8729980" y="130822"/>
                </a:lnTo>
                <a:lnTo>
                  <a:pt x="8703920" y="93954"/>
                </a:lnTo>
                <a:lnTo>
                  <a:pt x="8672093" y="62128"/>
                </a:lnTo>
                <a:lnTo>
                  <a:pt x="8635225" y="36068"/>
                </a:lnTo>
                <a:lnTo>
                  <a:pt x="8594065" y="16535"/>
                </a:lnTo>
                <a:lnTo>
                  <a:pt x="8549373" y="4267"/>
                </a:lnTo>
                <a:lnTo>
                  <a:pt x="8501888" y="0"/>
                </a:lnTo>
                <a:lnTo>
                  <a:pt x="264160" y="0"/>
                </a:lnTo>
                <a:lnTo>
                  <a:pt x="216674" y="4267"/>
                </a:lnTo>
                <a:lnTo>
                  <a:pt x="171983" y="16535"/>
                </a:lnTo>
                <a:lnTo>
                  <a:pt x="130822" y="36068"/>
                </a:lnTo>
                <a:lnTo>
                  <a:pt x="93954" y="62128"/>
                </a:lnTo>
                <a:lnTo>
                  <a:pt x="62115" y="93954"/>
                </a:lnTo>
                <a:lnTo>
                  <a:pt x="36055" y="130822"/>
                </a:lnTo>
                <a:lnTo>
                  <a:pt x="16522" y="171983"/>
                </a:lnTo>
                <a:lnTo>
                  <a:pt x="4254" y="216674"/>
                </a:lnTo>
                <a:lnTo>
                  <a:pt x="0" y="264160"/>
                </a:lnTo>
                <a:lnTo>
                  <a:pt x="0" y="1320800"/>
                </a:lnTo>
                <a:lnTo>
                  <a:pt x="4254" y="1368298"/>
                </a:lnTo>
                <a:lnTo>
                  <a:pt x="16522" y="1412989"/>
                </a:lnTo>
                <a:lnTo>
                  <a:pt x="36055" y="1454150"/>
                </a:lnTo>
                <a:lnTo>
                  <a:pt x="62115" y="1491018"/>
                </a:lnTo>
                <a:lnTo>
                  <a:pt x="93954" y="1522844"/>
                </a:lnTo>
                <a:lnTo>
                  <a:pt x="130822" y="1548904"/>
                </a:lnTo>
                <a:lnTo>
                  <a:pt x="171983" y="1568437"/>
                </a:lnTo>
                <a:lnTo>
                  <a:pt x="216674" y="1580705"/>
                </a:lnTo>
                <a:lnTo>
                  <a:pt x="264160" y="1584960"/>
                </a:lnTo>
                <a:lnTo>
                  <a:pt x="8501888" y="1584960"/>
                </a:lnTo>
                <a:lnTo>
                  <a:pt x="8549373" y="1580705"/>
                </a:lnTo>
                <a:lnTo>
                  <a:pt x="8594065" y="1568437"/>
                </a:lnTo>
                <a:lnTo>
                  <a:pt x="8635225" y="1548904"/>
                </a:lnTo>
                <a:lnTo>
                  <a:pt x="8672093" y="1522844"/>
                </a:lnTo>
                <a:lnTo>
                  <a:pt x="8703920" y="1491018"/>
                </a:lnTo>
                <a:lnTo>
                  <a:pt x="8729980" y="1454150"/>
                </a:lnTo>
                <a:lnTo>
                  <a:pt x="8749513" y="1412989"/>
                </a:lnTo>
                <a:lnTo>
                  <a:pt x="8761781" y="1368298"/>
                </a:lnTo>
                <a:lnTo>
                  <a:pt x="8766048" y="1320800"/>
                </a:lnTo>
                <a:lnTo>
                  <a:pt x="8766048" y="264160"/>
                </a:lnTo>
                <a:close/>
              </a:path>
            </a:pathLst>
          </a:custGeom>
          <a:solidFill>
            <a:srgbClr val="C0504D"/>
          </a:solidFill>
        </p:spPr>
        <p:txBody>
          <a:bodyPr wrap="square" lIns="0" tIns="0" rIns="0" bIns="0" rtlCol="0"/>
          <a:lstStyle/>
          <a:p>
            <a:endParaRPr/>
          </a:p>
        </p:txBody>
      </p:sp>
      <p:sp>
        <p:nvSpPr>
          <p:cNvPr id="6" name="object 6"/>
          <p:cNvSpPr txBox="1"/>
          <p:nvPr/>
        </p:nvSpPr>
        <p:spPr>
          <a:xfrm>
            <a:off x="402081" y="1091438"/>
            <a:ext cx="8221980" cy="1153160"/>
          </a:xfrm>
          <a:prstGeom prst="rect">
            <a:avLst/>
          </a:prstGeom>
        </p:spPr>
        <p:txBody>
          <a:bodyPr vert="horz" wrap="square" lIns="0" tIns="46990" rIns="0" bIns="0" rtlCol="0">
            <a:spAutoFit/>
          </a:bodyPr>
          <a:lstStyle/>
          <a:p>
            <a:pPr marL="355600" marR="5715" indent="-342900">
              <a:lnSpc>
                <a:spcPts val="2160"/>
              </a:lnSpc>
              <a:spcBef>
                <a:spcPts val="370"/>
              </a:spcBef>
              <a:buFont typeface="Wingdings"/>
              <a:buChar char=""/>
              <a:tabLst>
                <a:tab pos="354965" algn="l"/>
                <a:tab pos="355600" algn="l"/>
                <a:tab pos="821690" algn="l"/>
                <a:tab pos="1917064" algn="l"/>
                <a:tab pos="2677160" algn="l"/>
                <a:tab pos="3736340" algn="l"/>
                <a:tab pos="4112895" algn="l"/>
                <a:tab pos="4727575" algn="l"/>
                <a:tab pos="5409565" algn="l"/>
                <a:tab pos="5676265" algn="l"/>
                <a:tab pos="6830695" algn="l"/>
                <a:tab pos="7495540" algn="l"/>
              </a:tabLst>
            </a:pPr>
            <a:r>
              <a:rPr sz="2000" spc="145" dirty="0">
                <a:solidFill>
                  <a:srgbClr val="FFFFFF"/>
                </a:solidFill>
                <a:latin typeface="Times New Roman"/>
                <a:cs typeface="Times New Roman"/>
              </a:rPr>
              <a:t>T</a:t>
            </a:r>
            <a:r>
              <a:rPr sz="2000" spc="120" dirty="0">
                <a:solidFill>
                  <a:srgbClr val="FFFFFF"/>
                </a:solidFill>
                <a:latin typeface="Times New Roman"/>
                <a:cs typeface="Times New Roman"/>
              </a:rPr>
              <a:t>o</a:t>
            </a:r>
            <a:r>
              <a:rPr sz="2000" dirty="0">
                <a:solidFill>
                  <a:srgbClr val="FFFFFF"/>
                </a:solidFill>
                <a:latin typeface="Times New Roman"/>
                <a:cs typeface="Times New Roman"/>
              </a:rPr>
              <a:t>	</a:t>
            </a:r>
            <a:r>
              <a:rPr sz="2000" spc="20" dirty="0">
                <a:solidFill>
                  <a:srgbClr val="FFFFFF"/>
                </a:solidFill>
                <a:latin typeface="Times New Roman"/>
                <a:cs typeface="Times New Roman"/>
              </a:rPr>
              <a:t>f</a:t>
            </a:r>
            <a:r>
              <a:rPr sz="2000" spc="35" dirty="0">
                <a:solidFill>
                  <a:srgbClr val="FFFFFF"/>
                </a:solidFill>
                <a:latin typeface="Times New Roman"/>
                <a:cs typeface="Times New Roman"/>
              </a:rPr>
              <a:t>a</a:t>
            </a:r>
            <a:r>
              <a:rPr sz="2000" spc="45" dirty="0">
                <a:solidFill>
                  <a:srgbClr val="FFFFFF"/>
                </a:solidFill>
                <a:latin typeface="Times New Roman"/>
                <a:cs typeface="Times New Roman"/>
              </a:rPr>
              <a:t>cilitat</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105" dirty="0">
                <a:solidFill>
                  <a:srgbClr val="FFFFFF"/>
                </a:solidFill>
                <a:latin typeface="Times New Roman"/>
                <a:cs typeface="Times New Roman"/>
              </a:rPr>
              <a:t>qu</a:t>
            </a:r>
            <a:r>
              <a:rPr sz="2000" spc="50" dirty="0">
                <a:solidFill>
                  <a:srgbClr val="FFFFFF"/>
                </a:solidFill>
                <a:latin typeface="Times New Roman"/>
                <a:cs typeface="Times New Roman"/>
              </a:rPr>
              <a:t>ick</a:t>
            </a:r>
            <a:r>
              <a:rPr sz="2000" dirty="0">
                <a:solidFill>
                  <a:srgbClr val="FFFFFF"/>
                </a:solidFill>
                <a:latin typeface="Times New Roman"/>
                <a:cs typeface="Times New Roman"/>
              </a:rPr>
              <a:t>	</a:t>
            </a:r>
            <a:r>
              <a:rPr sz="2000" spc="80" dirty="0">
                <a:solidFill>
                  <a:srgbClr val="FFFFFF"/>
                </a:solidFill>
                <a:latin typeface="Times New Roman"/>
                <a:cs typeface="Times New Roman"/>
              </a:rPr>
              <a:t>ret</a:t>
            </a:r>
            <a:r>
              <a:rPr sz="2000" spc="40" dirty="0">
                <a:solidFill>
                  <a:srgbClr val="FFFFFF"/>
                </a:solidFill>
                <a:latin typeface="Times New Roman"/>
                <a:cs typeface="Times New Roman"/>
              </a:rPr>
              <a:t>ri</a:t>
            </a:r>
            <a:r>
              <a:rPr sz="2000" spc="60" dirty="0">
                <a:solidFill>
                  <a:srgbClr val="FFFFFF"/>
                </a:solidFill>
                <a:latin typeface="Times New Roman"/>
                <a:cs typeface="Times New Roman"/>
              </a:rPr>
              <a:t>e</a:t>
            </a:r>
            <a:r>
              <a:rPr sz="2000" spc="40" dirty="0">
                <a:solidFill>
                  <a:srgbClr val="FFFFFF"/>
                </a:solidFill>
                <a:latin typeface="Times New Roman"/>
                <a:cs typeface="Times New Roman"/>
              </a:rPr>
              <a:t>va</a:t>
            </a:r>
            <a:r>
              <a:rPr sz="2000" dirty="0">
                <a:solidFill>
                  <a:srgbClr val="FFFFFF"/>
                </a:solidFill>
                <a:latin typeface="Times New Roman"/>
                <a:cs typeface="Times New Roman"/>
              </a:rPr>
              <a:t>l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dirty="0">
                <a:solidFill>
                  <a:srgbClr val="FFFFFF"/>
                </a:solidFill>
                <a:latin typeface="Times New Roman"/>
                <a:cs typeface="Times New Roman"/>
              </a:rPr>
              <a:t>	</a:t>
            </a:r>
            <a:r>
              <a:rPr sz="2000" spc="70" dirty="0">
                <a:solidFill>
                  <a:srgbClr val="FFFFFF"/>
                </a:solidFill>
                <a:latin typeface="Times New Roman"/>
                <a:cs typeface="Times New Roman"/>
              </a:rPr>
              <a:t>from</a:t>
            </a:r>
            <a:r>
              <a:rPr sz="200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dirty="0">
                <a:solidFill>
                  <a:srgbClr val="FFFFFF"/>
                </a:solidFill>
                <a:latin typeface="Times New Roman"/>
                <a:cs typeface="Times New Roman"/>
              </a:rPr>
              <a:t>	</a:t>
            </a:r>
            <a:r>
              <a:rPr sz="2000" spc="75" dirty="0">
                <a:solidFill>
                  <a:srgbClr val="FFFFFF"/>
                </a:solidFill>
                <a:latin typeface="Times New Roman"/>
                <a:cs typeface="Times New Roman"/>
              </a:rPr>
              <a:t>dat</a:t>
            </a:r>
            <a:r>
              <a:rPr sz="2000" spc="95" dirty="0">
                <a:solidFill>
                  <a:srgbClr val="FFFFFF"/>
                </a:solidFill>
                <a:latin typeface="Times New Roman"/>
                <a:cs typeface="Times New Roman"/>
              </a:rPr>
              <a:t>a</a:t>
            </a:r>
            <a:r>
              <a:rPr sz="2000" spc="65" dirty="0">
                <a:solidFill>
                  <a:srgbClr val="FFFFFF"/>
                </a:solidFill>
                <a:latin typeface="Times New Roman"/>
                <a:cs typeface="Times New Roman"/>
              </a:rPr>
              <a:t>b</a:t>
            </a:r>
            <a:r>
              <a:rPr sz="2000" spc="60" dirty="0">
                <a:solidFill>
                  <a:srgbClr val="FFFFFF"/>
                </a:solidFill>
                <a:latin typeface="Times New Roman"/>
                <a:cs typeface="Times New Roman"/>
              </a:rPr>
              <a:t>a</a:t>
            </a:r>
            <a:r>
              <a:rPr sz="2000" spc="5" dirty="0">
                <a:solidFill>
                  <a:srgbClr val="FFFFFF"/>
                </a:solidFill>
                <a:latin typeface="Times New Roman"/>
                <a:cs typeface="Times New Roman"/>
              </a:rPr>
              <a:t>s</a:t>
            </a:r>
            <a:r>
              <a:rPr sz="2000" spc="20" dirty="0">
                <a:solidFill>
                  <a:srgbClr val="FFFFFF"/>
                </a:solidFill>
                <a:latin typeface="Times New Roman"/>
                <a:cs typeface="Times New Roman"/>
              </a:rPr>
              <a:t>e,</a:t>
            </a:r>
            <a:r>
              <a:rPr sz="2000" dirty="0">
                <a:solidFill>
                  <a:srgbClr val="FFFFFF"/>
                </a:solidFill>
                <a:latin typeface="Times New Roman"/>
                <a:cs typeface="Times New Roman"/>
              </a:rPr>
              <a:t>	</a:t>
            </a:r>
            <a:r>
              <a:rPr sz="2000" spc="90" dirty="0">
                <a:solidFill>
                  <a:srgbClr val="FFFFFF"/>
                </a:solidFill>
                <a:latin typeface="Times New Roman"/>
                <a:cs typeface="Times New Roman"/>
              </a:rPr>
              <a:t>SQL</a:t>
            </a:r>
            <a:r>
              <a:rPr sz="2000" dirty="0">
                <a:solidFill>
                  <a:srgbClr val="FFFFFF"/>
                </a:solidFill>
                <a:latin typeface="Times New Roman"/>
                <a:cs typeface="Times New Roman"/>
              </a:rPr>
              <a:t>	</a:t>
            </a:r>
            <a:r>
              <a:rPr sz="2000" spc="60" dirty="0">
                <a:solidFill>
                  <a:srgbClr val="FFFFFF"/>
                </a:solidFill>
                <a:latin typeface="Times New Roman"/>
                <a:cs typeface="Times New Roman"/>
              </a:rPr>
              <a:t>Ser</a:t>
            </a:r>
            <a:r>
              <a:rPr sz="2000" spc="70" dirty="0">
                <a:solidFill>
                  <a:srgbClr val="FFFFFF"/>
                </a:solidFill>
                <a:latin typeface="Times New Roman"/>
                <a:cs typeface="Times New Roman"/>
              </a:rPr>
              <a:t>v</a:t>
            </a:r>
            <a:r>
              <a:rPr sz="2000" spc="50" dirty="0">
                <a:solidFill>
                  <a:srgbClr val="FFFFFF"/>
                </a:solidFill>
                <a:latin typeface="Times New Roman"/>
                <a:cs typeface="Times New Roman"/>
              </a:rPr>
              <a:t>er  </a:t>
            </a:r>
            <a:r>
              <a:rPr sz="2000" spc="65" dirty="0">
                <a:solidFill>
                  <a:srgbClr val="FFFFFF"/>
                </a:solidFill>
                <a:latin typeface="Times New Roman"/>
                <a:cs typeface="Times New Roman"/>
              </a:rPr>
              <a:t>provides </a:t>
            </a:r>
            <a:r>
              <a:rPr sz="2000" spc="110" dirty="0">
                <a:solidFill>
                  <a:srgbClr val="FFFFFF"/>
                </a:solidFill>
                <a:latin typeface="Times New Roman"/>
                <a:cs typeface="Times New Roman"/>
              </a:rPr>
              <a:t>the </a:t>
            </a:r>
            <a:r>
              <a:rPr sz="2000" spc="75" dirty="0">
                <a:solidFill>
                  <a:srgbClr val="FFFFFF"/>
                </a:solidFill>
                <a:latin typeface="Times New Roman"/>
                <a:cs typeface="Times New Roman"/>
              </a:rPr>
              <a:t>indexing</a:t>
            </a:r>
            <a:r>
              <a:rPr sz="2000" spc="-370" dirty="0">
                <a:solidFill>
                  <a:srgbClr val="FFFFFF"/>
                </a:solidFill>
                <a:latin typeface="Times New Roman"/>
                <a:cs typeface="Times New Roman"/>
              </a:rPr>
              <a:t> </a:t>
            </a:r>
            <a:r>
              <a:rPr sz="2000" spc="60" dirty="0">
                <a:solidFill>
                  <a:srgbClr val="FFFFFF"/>
                </a:solidFill>
                <a:latin typeface="Times New Roman"/>
                <a:cs typeface="Times New Roman"/>
              </a:rPr>
              <a:t>feature.</a:t>
            </a:r>
            <a:endParaRPr sz="2000">
              <a:latin typeface="Times New Roman"/>
              <a:cs typeface="Times New Roman"/>
            </a:endParaRPr>
          </a:p>
          <a:p>
            <a:pPr marL="355600" marR="5080" indent="-342900">
              <a:lnSpc>
                <a:spcPts val="2160"/>
              </a:lnSpc>
              <a:buFont typeface="Wingdings"/>
              <a:buChar char=""/>
              <a:tabLst>
                <a:tab pos="354965" algn="l"/>
                <a:tab pos="355600" algn="l"/>
              </a:tabLst>
            </a:pPr>
            <a:r>
              <a:rPr sz="2000" spc="175" dirty="0">
                <a:solidFill>
                  <a:srgbClr val="FFFFFF"/>
                </a:solidFill>
                <a:latin typeface="Times New Roman"/>
                <a:cs typeface="Times New Roman"/>
              </a:rPr>
              <a:t>An </a:t>
            </a:r>
            <a:r>
              <a:rPr sz="2000" spc="90" dirty="0">
                <a:solidFill>
                  <a:srgbClr val="FFFFFF"/>
                </a:solidFill>
                <a:latin typeface="Times New Roman"/>
                <a:cs typeface="Times New Roman"/>
              </a:rPr>
              <a:t>index </a:t>
            </a:r>
            <a:r>
              <a:rPr sz="2000" spc="95" dirty="0">
                <a:solidFill>
                  <a:srgbClr val="FFFFFF"/>
                </a:solidFill>
                <a:latin typeface="Times New Roman"/>
                <a:cs typeface="Times New Roman"/>
              </a:rPr>
              <a:t>in </a:t>
            </a:r>
            <a:r>
              <a:rPr sz="2000" spc="90" dirty="0">
                <a:solidFill>
                  <a:srgbClr val="FFFFFF"/>
                </a:solidFill>
                <a:latin typeface="Times New Roman"/>
                <a:cs typeface="Times New Roman"/>
              </a:rPr>
              <a:t>SQL </a:t>
            </a:r>
            <a:r>
              <a:rPr sz="2000" spc="60" dirty="0">
                <a:solidFill>
                  <a:srgbClr val="FFFFFF"/>
                </a:solidFill>
                <a:latin typeface="Times New Roman"/>
                <a:cs typeface="Times New Roman"/>
              </a:rPr>
              <a:t>Server database </a:t>
            </a:r>
            <a:r>
              <a:rPr sz="2000" spc="80" dirty="0">
                <a:solidFill>
                  <a:srgbClr val="FFFFFF"/>
                </a:solidFill>
                <a:latin typeface="Times New Roman"/>
                <a:cs typeface="Times New Roman"/>
              </a:rPr>
              <a:t>contains </a:t>
            </a:r>
            <a:r>
              <a:rPr sz="2000" spc="85" dirty="0">
                <a:solidFill>
                  <a:srgbClr val="FFFFFF"/>
                </a:solidFill>
                <a:latin typeface="Times New Roman"/>
                <a:cs typeface="Times New Roman"/>
              </a:rPr>
              <a:t>information </a:t>
            </a:r>
            <a:r>
              <a:rPr sz="2000" spc="114" dirty="0">
                <a:solidFill>
                  <a:srgbClr val="FFFFFF"/>
                </a:solidFill>
                <a:latin typeface="Times New Roman"/>
                <a:cs typeface="Times New Roman"/>
              </a:rPr>
              <a:t>that </a:t>
            </a:r>
            <a:r>
              <a:rPr sz="2000" spc="30" dirty="0">
                <a:solidFill>
                  <a:srgbClr val="FFFFFF"/>
                </a:solidFill>
                <a:latin typeface="Times New Roman"/>
                <a:cs typeface="Times New Roman"/>
              </a:rPr>
              <a:t>allows </a:t>
            </a:r>
            <a:r>
              <a:rPr sz="2000" spc="114" dirty="0">
                <a:solidFill>
                  <a:srgbClr val="FFFFFF"/>
                </a:solidFill>
                <a:latin typeface="Times New Roman"/>
                <a:cs typeface="Times New Roman"/>
              </a:rPr>
              <a:t>to  </a:t>
            </a:r>
            <a:r>
              <a:rPr sz="2000" spc="85" dirty="0">
                <a:solidFill>
                  <a:srgbClr val="FFFFFF"/>
                </a:solidFill>
                <a:latin typeface="Times New Roman"/>
                <a:cs typeface="Times New Roman"/>
              </a:rPr>
              <a:t>find</a:t>
            </a:r>
            <a:r>
              <a:rPr sz="2000" spc="-80" dirty="0">
                <a:solidFill>
                  <a:srgbClr val="FFFFFF"/>
                </a:solidFill>
                <a:latin typeface="Times New Roman"/>
                <a:cs typeface="Times New Roman"/>
              </a:rPr>
              <a:t> </a:t>
            </a:r>
            <a:r>
              <a:rPr sz="2000" spc="25" dirty="0">
                <a:solidFill>
                  <a:srgbClr val="FFFFFF"/>
                </a:solidFill>
                <a:latin typeface="Times New Roman"/>
                <a:cs typeface="Times New Roman"/>
              </a:rPr>
              <a:t>specific</a:t>
            </a:r>
            <a:r>
              <a:rPr sz="2000" spc="-9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65" dirty="0">
                <a:solidFill>
                  <a:srgbClr val="FFFFFF"/>
                </a:solidFill>
                <a:latin typeface="Times New Roman"/>
                <a:cs typeface="Times New Roman"/>
              </a:rPr>
              <a:t> </a:t>
            </a:r>
            <a:r>
              <a:rPr sz="2000" spc="100" dirty="0">
                <a:solidFill>
                  <a:srgbClr val="FFFFFF"/>
                </a:solidFill>
                <a:latin typeface="Times New Roman"/>
                <a:cs typeface="Times New Roman"/>
              </a:rPr>
              <a:t>without</a:t>
            </a:r>
            <a:r>
              <a:rPr sz="2000" spc="-65" dirty="0">
                <a:solidFill>
                  <a:srgbClr val="FFFFFF"/>
                </a:solidFill>
                <a:latin typeface="Times New Roman"/>
                <a:cs typeface="Times New Roman"/>
              </a:rPr>
              <a:t> </a:t>
            </a:r>
            <a:r>
              <a:rPr sz="2000" spc="70" dirty="0">
                <a:solidFill>
                  <a:srgbClr val="FFFFFF"/>
                </a:solidFill>
                <a:latin typeface="Times New Roman"/>
                <a:cs typeface="Times New Roman"/>
              </a:rPr>
              <a:t>scanning</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through</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80" dirty="0">
                <a:solidFill>
                  <a:srgbClr val="FFFFFF"/>
                </a:solidFill>
                <a:latin typeface="Times New Roman"/>
                <a:cs typeface="Times New Roman"/>
              </a:rPr>
              <a:t>entire</a:t>
            </a:r>
            <a:r>
              <a:rPr sz="2000" spc="-60" dirty="0">
                <a:solidFill>
                  <a:srgbClr val="FFFFFF"/>
                </a:solidFill>
                <a:latin typeface="Times New Roman"/>
                <a:cs typeface="Times New Roman"/>
              </a:rPr>
              <a:t> </a:t>
            </a:r>
            <a:r>
              <a:rPr sz="2000" spc="50" dirty="0">
                <a:solidFill>
                  <a:srgbClr val="FFFFFF"/>
                </a:solidFill>
                <a:latin typeface="Times New Roman"/>
                <a:cs typeface="Times New Roman"/>
              </a:rPr>
              <a:t>table.</a:t>
            </a:r>
            <a:endParaRPr sz="2000">
              <a:latin typeface="Times New Roman"/>
              <a:cs typeface="Times New Roman"/>
            </a:endParaRPr>
          </a:p>
        </p:txBody>
      </p:sp>
      <p:pic>
        <p:nvPicPr>
          <p:cNvPr id="7" name="object 7"/>
          <p:cNvPicPr/>
          <p:nvPr/>
        </p:nvPicPr>
        <p:blipFill>
          <a:blip r:embed="rId3" cstate="print"/>
          <a:stretch>
            <a:fillRect/>
          </a:stretch>
        </p:blipFill>
        <p:spPr>
          <a:xfrm>
            <a:off x="1744217" y="2723388"/>
            <a:ext cx="5374385" cy="3685032"/>
          </a:xfrm>
          <a:prstGeom prst="rect">
            <a:avLst/>
          </a:prstGeom>
        </p:spPr>
      </p:pic>
      <p:sp>
        <p:nvSpPr>
          <p:cNvPr id="8" name="object 8"/>
          <p:cNvSpPr txBox="1"/>
          <p:nvPr/>
        </p:nvSpPr>
        <p:spPr>
          <a:xfrm>
            <a:off x="3916679" y="6355588"/>
            <a:ext cx="120777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Index </a:t>
            </a:r>
            <a:r>
              <a:rPr sz="1400" b="1" spc="25" dirty="0">
                <a:latin typeface="Times New Roman"/>
                <a:cs typeface="Times New Roman"/>
              </a:rPr>
              <a:t>in</a:t>
            </a:r>
            <a:r>
              <a:rPr sz="1400" b="1" spc="-235" dirty="0">
                <a:latin typeface="Times New Roman"/>
                <a:cs typeface="Times New Roman"/>
              </a:rPr>
              <a:t> </a:t>
            </a:r>
            <a:r>
              <a:rPr sz="1400" b="1" spc="-60" dirty="0">
                <a:latin typeface="Times New Roman"/>
                <a:cs typeface="Times New Roman"/>
              </a:rPr>
              <a:t>a </a:t>
            </a:r>
            <a:r>
              <a:rPr sz="1400" b="1" spc="5" dirty="0">
                <a:latin typeface="Times New Roman"/>
                <a:cs typeface="Times New Roman"/>
              </a:rPr>
              <a:t>Book</a:t>
            </a:r>
            <a:endParaRPr sz="14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6601714"/>
            <a:ext cx="892810" cy="208279"/>
          </a:xfrm>
          <a:prstGeom prst="rect">
            <a:avLst/>
          </a:prstGeom>
        </p:spPr>
        <p:txBody>
          <a:bodyPr vert="horz" wrap="square" lIns="0" tIns="12700" rIns="0" bIns="0" rtlCol="0">
            <a:spAutoFit/>
          </a:bodyPr>
          <a:lstStyle/>
          <a:p>
            <a:pPr marL="12700">
              <a:lnSpc>
                <a:spcPct val="100000"/>
              </a:lnSpc>
              <a:spcBef>
                <a:spcPts val="100"/>
              </a:spcBef>
            </a:pPr>
            <a:r>
              <a:rPr sz="1200" spc="40" dirty="0">
                <a:latin typeface="Times New Roman"/>
                <a:cs typeface="Times New Roman"/>
              </a:rPr>
              <a:t>© </a:t>
            </a:r>
            <a:r>
              <a:rPr sz="1200" i="1" dirty="0">
                <a:latin typeface="Palatino Linotype"/>
                <a:cs typeface="Palatino Linotype"/>
              </a:rPr>
              <a:t>Aptech</a:t>
            </a:r>
            <a:r>
              <a:rPr sz="1200" i="1" spc="-190" dirty="0">
                <a:latin typeface="Palatino Linotype"/>
                <a:cs typeface="Palatino Linotype"/>
              </a:rPr>
              <a:t> </a:t>
            </a:r>
            <a:r>
              <a:rPr sz="1200" i="1" spc="-15" dirty="0">
                <a:latin typeface="Palatino Linotype"/>
                <a:cs typeface="Palatino Linotype"/>
              </a:rPr>
              <a:t>Ltd.</a:t>
            </a:r>
            <a:endParaRPr sz="1200">
              <a:latin typeface="Palatino Linotype"/>
              <a:cs typeface="Palatino Linotype"/>
            </a:endParaRPr>
          </a:p>
        </p:txBody>
      </p:sp>
      <p:sp>
        <p:nvSpPr>
          <p:cNvPr id="3" name="object 3"/>
          <p:cNvSpPr txBox="1">
            <a:spLocks noGrp="1"/>
          </p:cNvSpPr>
          <p:nvPr>
            <p:ph type="title"/>
          </p:nvPr>
        </p:nvSpPr>
        <p:spPr>
          <a:xfrm>
            <a:off x="459740" y="7366"/>
            <a:ext cx="1731645" cy="635635"/>
          </a:xfrm>
          <a:prstGeom prst="rect">
            <a:avLst/>
          </a:prstGeom>
        </p:spPr>
        <p:txBody>
          <a:bodyPr vert="horz" wrap="square" lIns="0" tIns="12700" rIns="0" bIns="0" rtlCol="0">
            <a:spAutoFit/>
          </a:bodyPr>
          <a:lstStyle/>
          <a:p>
            <a:pPr marL="12700">
              <a:lnSpc>
                <a:spcPct val="100000"/>
              </a:lnSpc>
              <a:spcBef>
                <a:spcPts val="100"/>
              </a:spcBef>
            </a:pPr>
            <a:r>
              <a:rPr sz="4000" b="0" spc="140" dirty="0">
                <a:latin typeface="Times New Roman"/>
                <a:cs typeface="Times New Roman"/>
              </a:rPr>
              <a:t>Indexes</a:t>
            </a:r>
            <a:endParaRPr sz="4000">
              <a:latin typeface="Times New Roman"/>
              <a:cs typeface="Times New Roman"/>
            </a:endParaRPr>
          </a:p>
        </p:txBody>
      </p:sp>
      <p:sp>
        <p:nvSpPr>
          <p:cNvPr id="4" name="object 4"/>
          <p:cNvSpPr txBox="1"/>
          <p:nvPr/>
        </p:nvSpPr>
        <p:spPr>
          <a:xfrm>
            <a:off x="7882890" y="6575552"/>
            <a:ext cx="830580" cy="208279"/>
          </a:xfrm>
          <a:prstGeom prst="rect">
            <a:avLst/>
          </a:prstGeom>
        </p:spPr>
        <p:txBody>
          <a:bodyPr vert="horz" wrap="square" lIns="0" tIns="12700" rIns="0" bIns="0" rtlCol="0">
            <a:spAutoFit/>
          </a:bodyPr>
          <a:lstStyle/>
          <a:p>
            <a:pPr marL="12700">
              <a:lnSpc>
                <a:spcPct val="100000"/>
              </a:lnSpc>
              <a:spcBef>
                <a:spcPts val="100"/>
              </a:spcBef>
            </a:pPr>
            <a:r>
              <a:rPr sz="1800" spc="52" baseline="4629" dirty="0">
                <a:latin typeface="Times New Roman"/>
                <a:cs typeface="Times New Roman"/>
              </a:rPr>
              <a:t>Session </a:t>
            </a:r>
            <a:r>
              <a:rPr sz="1800" spc="-112" baseline="4629" dirty="0">
                <a:latin typeface="Times New Roman"/>
                <a:cs typeface="Times New Roman"/>
              </a:rPr>
              <a:t>11/</a:t>
            </a:r>
            <a:r>
              <a:rPr sz="1800" spc="-292" baseline="4629" dirty="0">
                <a:latin typeface="Times New Roman"/>
                <a:cs typeface="Times New Roman"/>
              </a:rPr>
              <a:t> </a:t>
            </a:r>
            <a:r>
              <a:rPr sz="1200" spc="-20" dirty="0">
                <a:latin typeface="Times New Roman"/>
                <a:cs typeface="Times New Roman"/>
              </a:rPr>
              <a:t>9</a:t>
            </a:r>
            <a:endParaRPr sz="1200">
              <a:latin typeface="Times New Roman"/>
              <a:cs typeface="Times New Roman"/>
            </a:endParaRPr>
          </a:p>
        </p:txBody>
      </p:sp>
      <p:sp>
        <p:nvSpPr>
          <p:cNvPr id="6" name="object 6"/>
          <p:cNvSpPr txBox="1"/>
          <p:nvPr/>
        </p:nvSpPr>
        <p:spPr>
          <a:xfrm>
            <a:off x="4107688" y="6388353"/>
            <a:ext cx="613410"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Indexes</a:t>
            </a:r>
            <a:endParaRPr sz="1400">
              <a:latin typeface="Times New Roman"/>
              <a:cs typeface="Times New Roman"/>
            </a:endParaRPr>
          </a:p>
        </p:txBody>
      </p:sp>
      <p:grpSp>
        <p:nvGrpSpPr>
          <p:cNvPr id="7" name="object 7"/>
          <p:cNvGrpSpPr/>
          <p:nvPr/>
        </p:nvGrpSpPr>
        <p:grpSpPr>
          <a:xfrm>
            <a:off x="276606" y="1123188"/>
            <a:ext cx="8723630" cy="2319020"/>
            <a:chOff x="276606" y="1123188"/>
            <a:chExt cx="8723630" cy="2319020"/>
          </a:xfrm>
        </p:grpSpPr>
        <p:sp>
          <p:nvSpPr>
            <p:cNvPr id="8" name="object 8"/>
            <p:cNvSpPr/>
            <p:nvPr/>
          </p:nvSpPr>
          <p:spPr>
            <a:xfrm>
              <a:off x="289179" y="1135761"/>
              <a:ext cx="8698230" cy="764540"/>
            </a:xfrm>
            <a:custGeom>
              <a:avLst/>
              <a:gdLst/>
              <a:ahLst/>
              <a:cxnLst/>
              <a:rect l="l" t="t" r="r" b="b"/>
              <a:pathLst>
                <a:path w="8698230" h="764539">
                  <a:moveTo>
                    <a:pt x="8387333" y="0"/>
                  </a:moveTo>
                  <a:lnTo>
                    <a:pt x="310896" y="0"/>
                  </a:lnTo>
                  <a:lnTo>
                    <a:pt x="248239" y="2587"/>
                  </a:lnTo>
                  <a:lnTo>
                    <a:pt x="189880" y="10009"/>
                  </a:lnTo>
                  <a:lnTo>
                    <a:pt x="137070" y="21752"/>
                  </a:lnTo>
                  <a:lnTo>
                    <a:pt x="91059" y="37306"/>
                  </a:lnTo>
                  <a:lnTo>
                    <a:pt x="53095" y="56157"/>
                  </a:lnTo>
                  <a:lnTo>
                    <a:pt x="6316" y="101707"/>
                  </a:lnTo>
                  <a:lnTo>
                    <a:pt x="0" y="127380"/>
                  </a:lnTo>
                  <a:lnTo>
                    <a:pt x="0" y="636904"/>
                  </a:lnTo>
                  <a:lnTo>
                    <a:pt x="24431" y="686490"/>
                  </a:lnTo>
                  <a:lnTo>
                    <a:pt x="91058" y="726979"/>
                  </a:lnTo>
                  <a:lnTo>
                    <a:pt x="137070" y="742533"/>
                  </a:lnTo>
                  <a:lnTo>
                    <a:pt x="189880" y="754276"/>
                  </a:lnTo>
                  <a:lnTo>
                    <a:pt x="248239" y="761698"/>
                  </a:lnTo>
                  <a:lnTo>
                    <a:pt x="310896" y="764285"/>
                  </a:lnTo>
                  <a:lnTo>
                    <a:pt x="8387333" y="764285"/>
                  </a:lnTo>
                  <a:lnTo>
                    <a:pt x="8449990" y="761698"/>
                  </a:lnTo>
                  <a:lnTo>
                    <a:pt x="8508349" y="754276"/>
                  </a:lnTo>
                  <a:lnTo>
                    <a:pt x="8561159" y="742533"/>
                  </a:lnTo>
                  <a:lnTo>
                    <a:pt x="8607171" y="726979"/>
                  </a:lnTo>
                  <a:lnTo>
                    <a:pt x="8645134" y="708128"/>
                  </a:lnTo>
                  <a:lnTo>
                    <a:pt x="8691913" y="662578"/>
                  </a:lnTo>
                  <a:lnTo>
                    <a:pt x="8698230" y="636904"/>
                  </a:lnTo>
                  <a:lnTo>
                    <a:pt x="8698230" y="127380"/>
                  </a:lnTo>
                  <a:lnTo>
                    <a:pt x="8673798" y="77795"/>
                  </a:lnTo>
                  <a:lnTo>
                    <a:pt x="8607171" y="37306"/>
                  </a:lnTo>
                  <a:lnTo>
                    <a:pt x="8561159" y="21752"/>
                  </a:lnTo>
                  <a:lnTo>
                    <a:pt x="8508349" y="10009"/>
                  </a:lnTo>
                  <a:lnTo>
                    <a:pt x="8449990" y="2587"/>
                  </a:lnTo>
                  <a:lnTo>
                    <a:pt x="8387333" y="0"/>
                  </a:lnTo>
                  <a:close/>
                </a:path>
              </a:pathLst>
            </a:custGeom>
            <a:solidFill>
              <a:srgbClr val="8063A1"/>
            </a:solidFill>
          </p:spPr>
          <p:txBody>
            <a:bodyPr wrap="square" lIns="0" tIns="0" rIns="0" bIns="0" rtlCol="0"/>
            <a:lstStyle/>
            <a:p>
              <a:endParaRPr/>
            </a:p>
          </p:txBody>
        </p:sp>
        <p:sp>
          <p:nvSpPr>
            <p:cNvPr id="9" name="object 9"/>
            <p:cNvSpPr/>
            <p:nvPr/>
          </p:nvSpPr>
          <p:spPr>
            <a:xfrm>
              <a:off x="289179" y="1135761"/>
              <a:ext cx="8698230" cy="764540"/>
            </a:xfrm>
            <a:custGeom>
              <a:avLst/>
              <a:gdLst/>
              <a:ahLst/>
              <a:cxnLst/>
              <a:rect l="l" t="t" r="r" b="b"/>
              <a:pathLst>
                <a:path w="8698230" h="764539">
                  <a:moveTo>
                    <a:pt x="0" y="127380"/>
                  </a:moveTo>
                  <a:lnTo>
                    <a:pt x="24431" y="77795"/>
                  </a:lnTo>
                  <a:lnTo>
                    <a:pt x="91059" y="37306"/>
                  </a:lnTo>
                  <a:lnTo>
                    <a:pt x="137070" y="21752"/>
                  </a:lnTo>
                  <a:lnTo>
                    <a:pt x="189880" y="10009"/>
                  </a:lnTo>
                  <a:lnTo>
                    <a:pt x="248239" y="2587"/>
                  </a:lnTo>
                  <a:lnTo>
                    <a:pt x="310896" y="0"/>
                  </a:lnTo>
                  <a:lnTo>
                    <a:pt x="8387333" y="0"/>
                  </a:lnTo>
                  <a:lnTo>
                    <a:pt x="8449990" y="2587"/>
                  </a:lnTo>
                  <a:lnTo>
                    <a:pt x="8508349" y="10009"/>
                  </a:lnTo>
                  <a:lnTo>
                    <a:pt x="8561159" y="21752"/>
                  </a:lnTo>
                  <a:lnTo>
                    <a:pt x="8607171" y="37306"/>
                  </a:lnTo>
                  <a:lnTo>
                    <a:pt x="8645134" y="56157"/>
                  </a:lnTo>
                  <a:lnTo>
                    <a:pt x="8691913" y="101707"/>
                  </a:lnTo>
                  <a:lnTo>
                    <a:pt x="8698230" y="127380"/>
                  </a:lnTo>
                  <a:lnTo>
                    <a:pt x="8698230" y="636904"/>
                  </a:lnTo>
                  <a:lnTo>
                    <a:pt x="8673798" y="686490"/>
                  </a:lnTo>
                  <a:lnTo>
                    <a:pt x="8607171" y="726979"/>
                  </a:lnTo>
                  <a:lnTo>
                    <a:pt x="8561159" y="742533"/>
                  </a:lnTo>
                  <a:lnTo>
                    <a:pt x="8508349" y="754276"/>
                  </a:lnTo>
                  <a:lnTo>
                    <a:pt x="8449990" y="761698"/>
                  </a:lnTo>
                  <a:lnTo>
                    <a:pt x="8387333" y="764285"/>
                  </a:lnTo>
                  <a:lnTo>
                    <a:pt x="310896" y="764285"/>
                  </a:lnTo>
                  <a:lnTo>
                    <a:pt x="248239" y="761698"/>
                  </a:lnTo>
                  <a:lnTo>
                    <a:pt x="189880" y="754276"/>
                  </a:lnTo>
                  <a:lnTo>
                    <a:pt x="137070" y="742533"/>
                  </a:lnTo>
                  <a:lnTo>
                    <a:pt x="91058" y="726979"/>
                  </a:lnTo>
                  <a:lnTo>
                    <a:pt x="53095" y="708128"/>
                  </a:lnTo>
                  <a:lnTo>
                    <a:pt x="6316" y="662578"/>
                  </a:lnTo>
                  <a:lnTo>
                    <a:pt x="0" y="636904"/>
                  </a:lnTo>
                  <a:lnTo>
                    <a:pt x="0" y="127380"/>
                  </a:lnTo>
                  <a:close/>
                </a:path>
              </a:pathLst>
            </a:custGeom>
            <a:ln w="25146">
              <a:solidFill>
                <a:srgbClr val="FFFFFF"/>
              </a:solidFill>
            </a:ln>
          </p:spPr>
          <p:txBody>
            <a:bodyPr wrap="square" lIns="0" tIns="0" rIns="0" bIns="0" rtlCol="0"/>
            <a:lstStyle/>
            <a:p>
              <a:endParaRPr/>
            </a:p>
          </p:txBody>
        </p:sp>
        <p:sp>
          <p:nvSpPr>
            <p:cNvPr id="10" name="object 10"/>
            <p:cNvSpPr/>
            <p:nvPr/>
          </p:nvSpPr>
          <p:spPr>
            <a:xfrm>
              <a:off x="289179" y="1927479"/>
              <a:ext cx="8698230" cy="764540"/>
            </a:xfrm>
            <a:custGeom>
              <a:avLst/>
              <a:gdLst/>
              <a:ahLst/>
              <a:cxnLst/>
              <a:rect l="l" t="t" r="r" b="b"/>
              <a:pathLst>
                <a:path w="8698230" h="764539">
                  <a:moveTo>
                    <a:pt x="8387333" y="0"/>
                  </a:moveTo>
                  <a:lnTo>
                    <a:pt x="310896" y="0"/>
                  </a:lnTo>
                  <a:lnTo>
                    <a:pt x="248239" y="2587"/>
                  </a:lnTo>
                  <a:lnTo>
                    <a:pt x="189880" y="10009"/>
                  </a:lnTo>
                  <a:lnTo>
                    <a:pt x="137070" y="21752"/>
                  </a:lnTo>
                  <a:lnTo>
                    <a:pt x="91059" y="37306"/>
                  </a:lnTo>
                  <a:lnTo>
                    <a:pt x="53095" y="56157"/>
                  </a:lnTo>
                  <a:lnTo>
                    <a:pt x="6316" y="101707"/>
                  </a:lnTo>
                  <a:lnTo>
                    <a:pt x="0" y="127380"/>
                  </a:lnTo>
                  <a:lnTo>
                    <a:pt x="0" y="636904"/>
                  </a:lnTo>
                  <a:lnTo>
                    <a:pt x="24431" y="686490"/>
                  </a:lnTo>
                  <a:lnTo>
                    <a:pt x="91058" y="726979"/>
                  </a:lnTo>
                  <a:lnTo>
                    <a:pt x="137070" y="742533"/>
                  </a:lnTo>
                  <a:lnTo>
                    <a:pt x="189880" y="754276"/>
                  </a:lnTo>
                  <a:lnTo>
                    <a:pt x="248239" y="761698"/>
                  </a:lnTo>
                  <a:lnTo>
                    <a:pt x="310896" y="764285"/>
                  </a:lnTo>
                  <a:lnTo>
                    <a:pt x="8387333" y="764285"/>
                  </a:lnTo>
                  <a:lnTo>
                    <a:pt x="8449990" y="761698"/>
                  </a:lnTo>
                  <a:lnTo>
                    <a:pt x="8508349" y="754276"/>
                  </a:lnTo>
                  <a:lnTo>
                    <a:pt x="8561159" y="742533"/>
                  </a:lnTo>
                  <a:lnTo>
                    <a:pt x="8607171" y="726979"/>
                  </a:lnTo>
                  <a:lnTo>
                    <a:pt x="8645134" y="708128"/>
                  </a:lnTo>
                  <a:lnTo>
                    <a:pt x="8691913" y="662578"/>
                  </a:lnTo>
                  <a:lnTo>
                    <a:pt x="8698230" y="636904"/>
                  </a:lnTo>
                  <a:lnTo>
                    <a:pt x="8698230" y="127380"/>
                  </a:lnTo>
                  <a:lnTo>
                    <a:pt x="8673798" y="77795"/>
                  </a:lnTo>
                  <a:lnTo>
                    <a:pt x="8607171" y="37306"/>
                  </a:lnTo>
                  <a:lnTo>
                    <a:pt x="8561159" y="21752"/>
                  </a:lnTo>
                  <a:lnTo>
                    <a:pt x="8508349" y="10009"/>
                  </a:lnTo>
                  <a:lnTo>
                    <a:pt x="8449990" y="2587"/>
                  </a:lnTo>
                  <a:lnTo>
                    <a:pt x="8387333" y="0"/>
                  </a:lnTo>
                  <a:close/>
                </a:path>
              </a:pathLst>
            </a:custGeom>
            <a:solidFill>
              <a:srgbClr val="5667B4"/>
            </a:solidFill>
          </p:spPr>
          <p:txBody>
            <a:bodyPr wrap="square" lIns="0" tIns="0" rIns="0" bIns="0" rtlCol="0"/>
            <a:lstStyle/>
            <a:p>
              <a:endParaRPr/>
            </a:p>
          </p:txBody>
        </p:sp>
        <p:sp>
          <p:nvSpPr>
            <p:cNvPr id="11" name="object 11"/>
            <p:cNvSpPr/>
            <p:nvPr/>
          </p:nvSpPr>
          <p:spPr>
            <a:xfrm>
              <a:off x="289179" y="1927479"/>
              <a:ext cx="8698230" cy="764540"/>
            </a:xfrm>
            <a:custGeom>
              <a:avLst/>
              <a:gdLst/>
              <a:ahLst/>
              <a:cxnLst/>
              <a:rect l="l" t="t" r="r" b="b"/>
              <a:pathLst>
                <a:path w="8698230" h="764539">
                  <a:moveTo>
                    <a:pt x="0" y="127380"/>
                  </a:moveTo>
                  <a:lnTo>
                    <a:pt x="24431" y="77795"/>
                  </a:lnTo>
                  <a:lnTo>
                    <a:pt x="91059" y="37306"/>
                  </a:lnTo>
                  <a:lnTo>
                    <a:pt x="137070" y="21752"/>
                  </a:lnTo>
                  <a:lnTo>
                    <a:pt x="189880" y="10009"/>
                  </a:lnTo>
                  <a:lnTo>
                    <a:pt x="248239" y="2587"/>
                  </a:lnTo>
                  <a:lnTo>
                    <a:pt x="310896" y="0"/>
                  </a:lnTo>
                  <a:lnTo>
                    <a:pt x="8387333" y="0"/>
                  </a:lnTo>
                  <a:lnTo>
                    <a:pt x="8449990" y="2587"/>
                  </a:lnTo>
                  <a:lnTo>
                    <a:pt x="8508349" y="10009"/>
                  </a:lnTo>
                  <a:lnTo>
                    <a:pt x="8561159" y="21752"/>
                  </a:lnTo>
                  <a:lnTo>
                    <a:pt x="8607171" y="37306"/>
                  </a:lnTo>
                  <a:lnTo>
                    <a:pt x="8645134" y="56157"/>
                  </a:lnTo>
                  <a:lnTo>
                    <a:pt x="8691913" y="101707"/>
                  </a:lnTo>
                  <a:lnTo>
                    <a:pt x="8698230" y="127380"/>
                  </a:lnTo>
                  <a:lnTo>
                    <a:pt x="8698230" y="636904"/>
                  </a:lnTo>
                  <a:lnTo>
                    <a:pt x="8673798" y="686490"/>
                  </a:lnTo>
                  <a:lnTo>
                    <a:pt x="8607171" y="726979"/>
                  </a:lnTo>
                  <a:lnTo>
                    <a:pt x="8561159" y="742533"/>
                  </a:lnTo>
                  <a:lnTo>
                    <a:pt x="8508349" y="754276"/>
                  </a:lnTo>
                  <a:lnTo>
                    <a:pt x="8449990" y="761698"/>
                  </a:lnTo>
                  <a:lnTo>
                    <a:pt x="8387333" y="764285"/>
                  </a:lnTo>
                  <a:lnTo>
                    <a:pt x="310896" y="764285"/>
                  </a:lnTo>
                  <a:lnTo>
                    <a:pt x="248239" y="761698"/>
                  </a:lnTo>
                  <a:lnTo>
                    <a:pt x="189880" y="754276"/>
                  </a:lnTo>
                  <a:lnTo>
                    <a:pt x="137070" y="742533"/>
                  </a:lnTo>
                  <a:lnTo>
                    <a:pt x="91058" y="726979"/>
                  </a:lnTo>
                  <a:lnTo>
                    <a:pt x="53095" y="708128"/>
                  </a:lnTo>
                  <a:lnTo>
                    <a:pt x="6316" y="662578"/>
                  </a:lnTo>
                  <a:lnTo>
                    <a:pt x="0" y="636904"/>
                  </a:lnTo>
                  <a:lnTo>
                    <a:pt x="0" y="127380"/>
                  </a:lnTo>
                  <a:close/>
                </a:path>
              </a:pathLst>
            </a:custGeom>
            <a:ln w="25146">
              <a:solidFill>
                <a:srgbClr val="FFFFFF"/>
              </a:solidFill>
            </a:ln>
          </p:spPr>
          <p:txBody>
            <a:bodyPr wrap="square" lIns="0" tIns="0" rIns="0" bIns="0" rtlCol="0"/>
            <a:lstStyle/>
            <a:p>
              <a:endParaRPr/>
            </a:p>
          </p:txBody>
        </p:sp>
        <p:sp>
          <p:nvSpPr>
            <p:cNvPr id="12" name="object 12"/>
            <p:cNvSpPr/>
            <p:nvPr/>
          </p:nvSpPr>
          <p:spPr>
            <a:xfrm>
              <a:off x="289179" y="2664333"/>
              <a:ext cx="8698230" cy="765175"/>
            </a:xfrm>
            <a:custGeom>
              <a:avLst/>
              <a:gdLst/>
              <a:ahLst/>
              <a:cxnLst/>
              <a:rect l="l" t="t" r="r" b="b"/>
              <a:pathLst>
                <a:path w="8698230" h="765175">
                  <a:moveTo>
                    <a:pt x="8387333" y="0"/>
                  </a:moveTo>
                  <a:lnTo>
                    <a:pt x="310896" y="0"/>
                  </a:lnTo>
                  <a:lnTo>
                    <a:pt x="248239" y="2593"/>
                  </a:lnTo>
                  <a:lnTo>
                    <a:pt x="189880" y="10029"/>
                  </a:lnTo>
                  <a:lnTo>
                    <a:pt x="137070" y="21792"/>
                  </a:lnTo>
                  <a:lnTo>
                    <a:pt x="91059" y="37369"/>
                  </a:lnTo>
                  <a:lnTo>
                    <a:pt x="53095" y="56244"/>
                  </a:lnTo>
                  <a:lnTo>
                    <a:pt x="6316" y="101828"/>
                  </a:lnTo>
                  <a:lnTo>
                    <a:pt x="0" y="127508"/>
                  </a:lnTo>
                  <a:lnTo>
                    <a:pt x="0" y="637540"/>
                  </a:lnTo>
                  <a:lnTo>
                    <a:pt x="24431" y="687145"/>
                  </a:lnTo>
                  <a:lnTo>
                    <a:pt x="91058" y="727678"/>
                  </a:lnTo>
                  <a:lnTo>
                    <a:pt x="137070" y="743255"/>
                  </a:lnTo>
                  <a:lnTo>
                    <a:pt x="189880" y="755018"/>
                  </a:lnTo>
                  <a:lnTo>
                    <a:pt x="248239" y="762454"/>
                  </a:lnTo>
                  <a:lnTo>
                    <a:pt x="310896" y="765048"/>
                  </a:lnTo>
                  <a:lnTo>
                    <a:pt x="8387333" y="765048"/>
                  </a:lnTo>
                  <a:lnTo>
                    <a:pt x="8449990" y="762454"/>
                  </a:lnTo>
                  <a:lnTo>
                    <a:pt x="8508349" y="755018"/>
                  </a:lnTo>
                  <a:lnTo>
                    <a:pt x="8561159" y="743255"/>
                  </a:lnTo>
                  <a:lnTo>
                    <a:pt x="8607171" y="727678"/>
                  </a:lnTo>
                  <a:lnTo>
                    <a:pt x="8645134" y="708803"/>
                  </a:lnTo>
                  <a:lnTo>
                    <a:pt x="8691913" y="663219"/>
                  </a:lnTo>
                  <a:lnTo>
                    <a:pt x="8698230" y="637540"/>
                  </a:lnTo>
                  <a:lnTo>
                    <a:pt x="8698230" y="127508"/>
                  </a:lnTo>
                  <a:lnTo>
                    <a:pt x="8673798" y="77902"/>
                  </a:lnTo>
                  <a:lnTo>
                    <a:pt x="8607171" y="37369"/>
                  </a:lnTo>
                  <a:lnTo>
                    <a:pt x="8561159" y="21792"/>
                  </a:lnTo>
                  <a:lnTo>
                    <a:pt x="8508349" y="10029"/>
                  </a:lnTo>
                  <a:lnTo>
                    <a:pt x="8449990" y="2593"/>
                  </a:lnTo>
                  <a:lnTo>
                    <a:pt x="8387333" y="0"/>
                  </a:lnTo>
                  <a:close/>
                </a:path>
              </a:pathLst>
            </a:custGeom>
            <a:solidFill>
              <a:srgbClr val="4AACC5"/>
            </a:solidFill>
          </p:spPr>
          <p:txBody>
            <a:bodyPr wrap="square" lIns="0" tIns="0" rIns="0" bIns="0" rtlCol="0"/>
            <a:lstStyle/>
            <a:p>
              <a:endParaRPr/>
            </a:p>
          </p:txBody>
        </p:sp>
        <p:sp>
          <p:nvSpPr>
            <p:cNvPr id="13" name="object 13"/>
            <p:cNvSpPr/>
            <p:nvPr/>
          </p:nvSpPr>
          <p:spPr>
            <a:xfrm>
              <a:off x="289179" y="2664333"/>
              <a:ext cx="8698230" cy="765175"/>
            </a:xfrm>
            <a:custGeom>
              <a:avLst/>
              <a:gdLst/>
              <a:ahLst/>
              <a:cxnLst/>
              <a:rect l="l" t="t" r="r" b="b"/>
              <a:pathLst>
                <a:path w="8698230" h="765175">
                  <a:moveTo>
                    <a:pt x="0" y="127508"/>
                  </a:moveTo>
                  <a:lnTo>
                    <a:pt x="24431" y="77902"/>
                  </a:lnTo>
                  <a:lnTo>
                    <a:pt x="91059" y="37369"/>
                  </a:lnTo>
                  <a:lnTo>
                    <a:pt x="137070" y="21792"/>
                  </a:lnTo>
                  <a:lnTo>
                    <a:pt x="189880" y="10029"/>
                  </a:lnTo>
                  <a:lnTo>
                    <a:pt x="248239" y="2593"/>
                  </a:lnTo>
                  <a:lnTo>
                    <a:pt x="310896" y="0"/>
                  </a:lnTo>
                  <a:lnTo>
                    <a:pt x="8387333" y="0"/>
                  </a:lnTo>
                  <a:lnTo>
                    <a:pt x="8449990" y="2593"/>
                  </a:lnTo>
                  <a:lnTo>
                    <a:pt x="8508349" y="10029"/>
                  </a:lnTo>
                  <a:lnTo>
                    <a:pt x="8561159" y="21792"/>
                  </a:lnTo>
                  <a:lnTo>
                    <a:pt x="8607171" y="37369"/>
                  </a:lnTo>
                  <a:lnTo>
                    <a:pt x="8645134" y="56244"/>
                  </a:lnTo>
                  <a:lnTo>
                    <a:pt x="8691913" y="101828"/>
                  </a:lnTo>
                  <a:lnTo>
                    <a:pt x="8698230" y="127508"/>
                  </a:lnTo>
                  <a:lnTo>
                    <a:pt x="8698230" y="637540"/>
                  </a:lnTo>
                  <a:lnTo>
                    <a:pt x="8673798" y="687145"/>
                  </a:lnTo>
                  <a:lnTo>
                    <a:pt x="8607171" y="727678"/>
                  </a:lnTo>
                  <a:lnTo>
                    <a:pt x="8561159" y="743255"/>
                  </a:lnTo>
                  <a:lnTo>
                    <a:pt x="8508349" y="755018"/>
                  </a:lnTo>
                  <a:lnTo>
                    <a:pt x="8449990" y="762454"/>
                  </a:lnTo>
                  <a:lnTo>
                    <a:pt x="8387333" y="765048"/>
                  </a:lnTo>
                  <a:lnTo>
                    <a:pt x="310896" y="765048"/>
                  </a:lnTo>
                  <a:lnTo>
                    <a:pt x="248239" y="762454"/>
                  </a:lnTo>
                  <a:lnTo>
                    <a:pt x="189880" y="755018"/>
                  </a:lnTo>
                  <a:lnTo>
                    <a:pt x="137070" y="743255"/>
                  </a:lnTo>
                  <a:lnTo>
                    <a:pt x="91058" y="727678"/>
                  </a:lnTo>
                  <a:lnTo>
                    <a:pt x="53095" y="708803"/>
                  </a:lnTo>
                  <a:lnTo>
                    <a:pt x="6316" y="663219"/>
                  </a:lnTo>
                  <a:lnTo>
                    <a:pt x="0" y="637540"/>
                  </a:lnTo>
                  <a:lnTo>
                    <a:pt x="0" y="127508"/>
                  </a:lnTo>
                  <a:close/>
                </a:path>
              </a:pathLst>
            </a:custGeom>
            <a:ln w="25146">
              <a:solidFill>
                <a:srgbClr val="FFFFFF"/>
              </a:solidFill>
            </a:ln>
          </p:spPr>
          <p:txBody>
            <a:bodyPr wrap="square" lIns="0" tIns="0" rIns="0" bIns="0" rtlCol="0"/>
            <a:lstStyle/>
            <a:p>
              <a:endParaRPr/>
            </a:p>
          </p:txBody>
        </p:sp>
      </p:grpSp>
      <p:sp>
        <p:nvSpPr>
          <p:cNvPr id="14" name="object 14"/>
          <p:cNvSpPr txBox="1"/>
          <p:nvPr/>
        </p:nvSpPr>
        <p:spPr>
          <a:xfrm>
            <a:off x="482345" y="1188465"/>
            <a:ext cx="8258809" cy="1952625"/>
          </a:xfrm>
          <a:prstGeom prst="rect">
            <a:avLst/>
          </a:prstGeom>
        </p:spPr>
        <p:txBody>
          <a:bodyPr vert="horz" wrap="square" lIns="0" tIns="34925" rIns="0" bIns="0" rtlCol="0">
            <a:spAutoFit/>
          </a:bodyPr>
          <a:lstStyle/>
          <a:p>
            <a:pPr marL="12700" marR="287020">
              <a:lnSpc>
                <a:spcPts val="2030"/>
              </a:lnSpc>
              <a:spcBef>
                <a:spcPts val="275"/>
              </a:spcBef>
            </a:pPr>
            <a:r>
              <a:rPr sz="1800" spc="60" dirty="0">
                <a:solidFill>
                  <a:srgbClr val="FFFFFF"/>
                </a:solidFill>
                <a:latin typeface="Times New Roman"/>
                <a:cs typeface="Times New Roman"/>
              </a:rPr>
              <a:t>Records</a:t>
            </a:r>
            <a:r>
              <a:rPr sz="1800" spc="-65" dirty="0">
                <a:solidFill>
                  <a:srgbClr val="FFFFFF"/>
                </a:solidFill>
                <a:latin typeface="Times New Roman"/>
                <a:cs typeface="Times New Roman"/>
              </a:rPr>
              <a:t> </a:t>
            </a:r>
            <a:r>
              <a:rPr sz="1800" spc="80"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table</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stored</a:t>
            </a:r>
            <a:r>
              <a:rPr sz="1800" spc="-60"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order</a:t>
            </a:r>
            <a:r>
              <a:rPr sz="1800" spc="-65"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60" dirty="0">
                <a:solidFill>
                  <a:srgbClr val="FFFFFF"/>
                </a:solidFill>
                <a:latin typeface="Times New Roman"/>
                <a:cs typeface="Times New Roman"/>
              </a:rPr>
              <a:t> </a:t>
            </a:r>
            <a:r>
              <a:rPr sz="1800" spc="75" dirty="0">
                <a:solidFill>
                  <a:srgbClr val="FFFFFF"/>
                </a:solidFill>
                <a:latin typeface="Times New Roman"/>
                <a:cs typeface="Times New Roman"/>
              </a:rPr>
              <a:t>which</a:t>
            </a:r>
            <a:r>
              <a:rPr sz="1800" spc="-50" dirty="0">
                <a:solidFill>
                  <a:srgbClr val="FFFFFF"/>
                </a:solidFill>
                <a:latin typeface="Times New Roman"/>
                <a:cs typeface="Times New Roman"/>
              </a:rPr>
              <a:t> </a:t>
            </a:r>
            <a:r>
              <a:rPr sz="1800" spc="75" dirty="0">
                <a:solidFill>
                  <a:srgbClr val="FFFFFF"/>
                </a:solidFill>
                <a:latin typeface="Times New Roman"/>
                <a:cs typeface="Times New Roman"/>
              </a:rPr>
              <a:t>they</a:t>
            </a:r>
            <a:r>
              <a:rPr sz="1800" spc="-5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inserted,</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this</a:t>
            </a:r>
            <a:r>
              <a:rPr sz="1800" spc="-50" dirty="0">
                <a:solidFill>
                  <a:srgbClr val="FFFFFF"/>
                </a:solidFill>
                <a:latin typeface="Times New Roman"/>
                <a:cs typeface="Times New Roman"/>
              </a:rPr>
              <a:t> </a:t>
            </a:r>
            <a:r>
              <a:rPr sz="1800" spc="45" dirty="0">
                <a:solidFill>
                  <a:srgbClr val="FFFFFF"/>
                </a:solidFill>
                <a:latin typeface="Times New Roman"/>
                <a:cs typeface="Times New Roman"/>
              </a:rPr>
              <a:t>storage</a:t>
            </a:r>
            <a:r>
              <a:rPr sz="1800" spc="-65" dirty="0">
                <a:solidFill>
                  <a:srgbClr val="FFFFFF"/>
                </a:solidFill>
                <a:latin typeface="Times New Roman"/>
                <a:cs typeface="Times New Roman"/>
              </a:rPr>
              <a:t> </a:t>
            </a:r>
            <a:r>
              <a:rPr sz="1800" spc="5" dirty="0">
                <a:solidFill>
                  <a:srgbClr val="FFFFFF"/>
                </a:solidFill>
                <a:latin typeface="Times New Roman"/>
                <a:cs typeface="Times New Roman"/>
              </a:rPr>
              <a:t>is  </a:t>
            </a:r>
            <a:r>
              <a:rPr sz="1800" spc="80" dirty="0">
                <a:solidFill>
                  <a:srgbClr val="FFFFFF"/>
                </a:solidFill>
                <a:latin typeface="Times New Roman"/>
                <a:cs typeface="Times New Roman"/>
              </a:rPr>
              <a:t>unsorted.</a:t>
            </a:r>
            <a:endParaRPr sz="1800">
              <a:latin typeface="Times New Roman"/>
              <a:cs typeface="Times New Roman"/>
            </a:endParaRPr>
          </a:p>
          <a:p>
            <a:pPr marL="12700" marR="5080">
              <a:lnSpc>
                <a:spcPts val="1939"/>
              </a:lnSpc>
              <a:spcBef>
                <a:spcPts val="2245"/>
              </a:spcBef>
            </a:pPr>
            <a:r>
              <a:rPr sz="1800" spc="160" dirty="0">
                <a:solidFill>
                  <a:srgbClr val="FFFFFF"/>
                </a:solidFill>
                <a:latin typeface="Times New Roman"/>
                <a:cs typeface="Times New Roman"/>
              </a:rPr>
              <a:t>When</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80"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be</a:t>
            </a:r>
            <a:r>
              <a:rPr sz="1800" spc="-55" dirty="0">
                <a:solidFill>
                  <a:srgbClr val="FFFFFF"/>
                </a:solidFill>
                <a:latin typeface="Times New Roman"/>
                <a:cs typeface="Times New Roman"/>
              </a:rPr>
              <a:t> </a:t>
            </a:r>
            <a:r>
              <a:rPr sz="1800" spc="60" dirty="0">
                <a:solidFill>
                  <a:srgbClr val="FFFFFF"/>
                </a:solidFill>
                <a:latin typeface="Times New Roman"/>
                <a:cs typeface="Times New Roman"/>
              </a:rPr>
              <a:t>retrieved</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from</a:t>
            </a:r>
            <a:r>
              <a:rPr sz="1800" spc="-75" dirty="0">
                <a:solidFill>
                  <a:srgbClr val="FFFFFF"/>
                </a:solidFill>
                <a:latin typeface="Times New Roman"/>
                <a:cs typeface="Times New Roman"/>
              </a:rPr>
              <a:t> </a:t>
            </a:r>
            <a:r>
              <a:rPr sz="1800" spc="75" dirty="0">
                <a:solidFill>
                  <a:srgbClr val="FFFFFF"/>
                </a:solidFill>
                <a:latin typeface="Times New Roman"/>
                <a:cs typeface="Times New Roman"/>
              </a:rPr>
              <a:t>such</a:t>
            </a:r>
            <a:r>
              <a:rPr sz="1800" spc="-50" dirty="0">
                <a:solidFill>
                  <a:srgbClr val="FFFFFF"/>
                </a:solidFill>
                <a:latin typeface="Times New Roman"/>
                <a:cs typeface="Times New Roman"/>
              </a:rPr>
              <a:t> </a:t>
            </a:r>
            <a:r>
              <a:rPr sz="1800" spc="40" dirty="0">
                <a:solidFill>
                  <a:srgbClr val="FFFFFF"/>
                </a:solidFill>
                <a:latin typeface="Times New Roman"/>
                <a:cs typeface="Times New Roman"/>
              </a:rPr>
              <a:t>tables,</a:t>
            </a:r>
            <a:r>
              <a:rPr sz="1800" spc="-65" dirty="0">
                <a:solidFill>
                  <a:srgbClr val="FFFFFF"/>
                </a:solidFill>
                <a:latin typeface="Times New Roman"/>
                <a:cs typeface="Times New Roman"/>
              </a:rPr>
              <a:t> </a:t>
            </a:r>
            <a:r>
              <a:rPr sz="1800" spc="105"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entire</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table</a:t>
            </a:r>
            <a:r>
              <a:rPr sz="1800" spc="-75" dirty="0">
                <a:solidFill>
                  <a:srgbClr val="FFFFFF"/>
                </a:solidFill>
                <a:latin typeface="Times New Roman"/>
                <a:cs typeface="Times New Roman"/>
              </a:rPr>
              <a:t> </a:t>
            </a:r>
            <a:r>
              <a:rPr sz="1800" spc="60" dirty="0">
                <a:solidFill>
                  <a:srgbClr val="FFFFFF"/>
                </a:solidFill>
                <a:latin typeface="Times New Roman"/>
                <a:cs typeface="Times New Roman"/>
              </a:rPr>
              <a:t>requires</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be</a:t>
            </a:r>
            <a:r>
              <a:rPr sz="1800" spc="-35" dirty="0">
                <a:solidFill>
                  <a:srgbClr val="FFFFFF"/>
                </a:solidFill>
                <a:latin typeface="Times New Roman"/>
                <a:cs typeface="Times New Roman"/>
              </a:rPr>
              <a:t> </a:t>
            </a:r>
            <a:r>
              <a:rPr sz="1800" spc="75" dirty="0">
                <a:solidFill>
                  <a:srgbClr val="FFFFFF"/>
                </a:solidFill>
                <a:latin typeface="Times New Roman"/>
                <a:cs typeface="Times New Roman"/>
              </a:rPr>
              <a:t>scanned  </a:t>
            </a:r>
            <a:r>
              <a:rPr sz="1800" spc="80" dirty="0">
                <a:solidFill>
                  <a:srgbClr val="FFFFFF"/>
                </a:solidFill>
                <a:latin typeface="Times New Roman"/>
                <a:cs typeface="Times New Roman"/>
              </a:rPr>
              <a:t>thus,</a:t>
            </a:r>
            <a:r>
              <a:rPr sz="1800" spc="-65" dirty="0">
                <a:solidFill>
                  <a:srgbClr val="FFFFFF"/>
                </a:solidFill>
                <a:latin typeface="Times New Roman"/>
                <a:cs typeface="Times New Roman"/>
              </a:rPr>
              <a:t> </a:t>
            </a:r>
            <a:r>
              <a:rPr sz="1800" spc="40" dirty="0">
                <a:solidFill>
                  <a:srgbClr val="FFFFFF"/>
                </a:solidFill>
                <a:latin typeface="Times New Roman"/>
                <a:cs typeface="Times New Roman"/>
              </a:rPr>
              <a:t>slowing</a:t>
            </a:r>
            <a:r>
              <a:rPr sz="1800" spc="-60" dirty="0">
                <a:solidFill>
                  <a:srgbClr val="FFFFFF"/>
                </a:solidFill>
                <a:latin typeface="Times New Roman"/>
                <a:cs typeface="Times New Roman"/>
              </a:rPr>
              <a:t> </a:t>
            </a:r>
            <a:r>
              <a:rPr sz="1800" spc="100" dirty="0">
                <a:solidFill>
                  <a:srgbClr val="FFFFFF"/>
                </a:solidFill>
                <a:latin typeface="Times New Roman"/>
                <a:cs typeface="Times New Roman"/>
              </a:rPr>
              <a:t>down</a:t>
            </a:r>
            <a:r>
              <a:rPr sz="1800" spc="-70" dirty="0">
                <a:solidFill>
                  <a:srgbClr val="FFFFFF"/>
                </a:solidFill>
                <a:latin typeface="Times New Roman"/>
                <a:cs typeface="Times New Roman"/>
              </a:rPr>
              <a:t> </a:t>
            </a:r>
            <a:r>
              <a:rPr sz="1800" spc="105" dirty="0">
                <a:solidFill>
                  <a:srgbClr val="FFFFFF"/>
                </a:solidFill>
                <a:latin typeface="Times New Roman"/>
                <a:cs typeface="Times New Roman"/>
              </a:rPr>
              <a:t>the</a:t>
            </a:r>
            <a:r>
              <a:rPr sz="1800" spc="-70" dirty="0">
                <a:solidFill>
                  <a:srgbClr val="FFFFFF"/>
                </a:solidFill>
                <a:latin typeface="Times New Roman"/>
                <a:cs typeface="Times New Roman"/>
              </a:rPr>
              <a:t> </a:t>
            </a:r>
            <a:r>
              <a:rPr sz="1800" spc="45" dirty="0">
                <a:solidFill>
                  <a:srgbClr val="FFFFFF"/>
                </a:solidFill>
                <a:latin typeface="Times New Roman"/>
                <a:cs typeface="Times New Roman"/>
              </a:rPr>
              <a:t>retrieval</a:t>
            </a:r>
            <a:r>
              <a:rPr sz="1800" spc="-70" dirty="0">
                <a:solidFill>
                  <a:srgbClr val="FFFFFF"/>
                </a:solidFill>
                <a:latin typeface="Times New Roman"/>
                <a:cs typeface="Times New Roman"/>
              </a:rPr>
              <a:t> </a:t>
            </a:r>
            <a:r>
              <a:rPr sz="1800" spc="40" dirty="0">
                <a:solidFill>
                  <a:srgbClr val="FFFFFF"/>
                </a:solidFill>
                <a:latin typeface="Times New Roman"/>
                <a:cs typeface="Times New Roman"/>
              </a:rPr>
              <a:t>process.</a:t>
            </a:r>
            <a:endParaRPr sz="1800">
              <a:latin typeface="Times New Roman"/>
              <a:cs typeface="Times New Roman"/>
            </a:endParaRPr>
          </a:p>
          <a:p>
            <a:pPr>
              <a:lnSpc>
                <a:spcPct val="100000"/>
              </a:lnSpc>
              <a:spcBef>
                <a:spcPts val="5"/>
              </a:spcBef>
            </a:pPr>
            <a:endParaRPr sz="2300">
              <a:latin typeface="Times New Roman"/>
              <a:cs typeface="Times New Roman"/>
            </a:endParaRPr>
          </a:p>
          <a:p>
            <a:pPr marL="12700">
              <a:lnSpc>
                <a:spcPct val="100000"/>
              </a:lnSpc>
            </a:pPr>
            <a:r>
              <a:rPr sz="1800" spc="125" dirty="0">
                <a:solidFill>
                  <a:srgbClr val="FFFFFF"/>
                </a:solidFill>
                <a:latin typeface="Times New Roman"/>
                <a:cs typeface="Times New Roman"/>
              </a:rPr>
              <a:t>To</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speed</a:t>
            </a:r>
            <a:r>
              <a:rPr sz="1800" spc="-70" dirty="0">
                <a:solidFill>
                  <a:srgbClr val="FFFFFF"/>
                </a:solidFill>
                <a:latin typeface="Times New Roman"/>
                <a:cs typeface="Times New Roman"/>
              </a:rPr>
              <a:t> </a:t>
            </a:r>
            <a:r>
              <a:rPr sz="1800" spc="114" dirty="0">
                <a:solidFill>
                  <a:srgbClr val="FFFFFF"/>
                </a:solidFill>
                <a:latin typeface="Times New Roman"/>
                <a:cs typeface="Times New Roman"/>
              </a:rPr>
              <a:t>up</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90" dirty="0">
                <a:solidFill>
                  <a:srgbClr val="FFFFFF"/>
                </a:solidFill>
                <a:latin typeface="Times New Roman"/>
                <a:cs typeface="Times New Roman"/>
              </a:rPr>
              <a:t> </a:t>
            </a:r>
            <a:r>
              <a:rPr sz="1800" spc="45" dirty="0">
                <a:solidFill>
                  <a:srgbClr val="FFFFFF"/>
                </a:solidFill>
                <a:latin typeface="Times New Roman"/>
                <a:cs typeface="Times New Roman"/>
              </a:rPr>
              <a:t>retrieval</a:t>
            </a:r>
            <a:r>
              <a:rPr sz="1800" spc="-90" dirty="0">
                <a:solidFill>
                  <a:srgbClr val="FFFFFF"/>
                </a:solidFill>
                <a:latin typeface="Times New Roman"/>
                <a:cs typeface="Times New Roman"/>
              </a:rPr>
              <a:t> </a:t>
            </a:r>
            <a:r>
              <a:rPr sz="1800" spc="40" dirty="0">
                <a:solidFill>
                  <a:srgbClr val="FFFFFF"/>
                </a:solidFill>
                <a:latin typeface="Times New Roman"/>
                <a:cs typeface="Times New Roman"/>
              </a:rPr>
              <a:t>process,</a:t>
            </a:r>
            <a:r>
              <a:rPr sz="1800" spc="-60" dirty="0">
                <a:solidFill>
                  <a:srgbClr val="FFFFFF"/>
                </a:solidFill>
                <a:latin typeface="Times New Roman"/>
                <a:cs typeface="Times New Roman"/>
              </a:rPr>
              <a:t> </a:t>
            </a:r>
            <a:r>
              <a:rPr sz="1800" spc="65" dirty="0">
                <a:solidFill>
                  <a:srgbClr val="FFFFFF"/>
                </a:solidFill>
                <a:latin typeface="Times New Roman"/>
                <a:cs typeface="Times New Roman"/>
              </a:rPr>
              <a:t>indexes</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required.</a:t>
            </a:r>
            <a:endParaRPr sz="1800">
              <a:latin typeface="Times New Roman"/>
              <a:cs typeface="Times New Roman"/>
            </a:endParaRPr>
          </a:p>
        </p:txBody>
      </p:sp>
      <p:pic>
        <p:nvPicPr>
          <p:cNvPr id="16" name="Picture 15" descr="Figure 11.4.tif">
            <a:extLst>
              <a:ext uri="{FF2B5EF4-FFF2-40B4-BE49-F238E27FC236}">
                <a16:creationId xmlns:a16="http://schemas.microsoft.com/office/drawing/2014/main" id="{6F2C0293-F54D-416D-A0A6-98F740047B82}"/>
              </a:ext>
            </a:extLst>
          </p:cNvPr>
          <p:cNvPicPr>
            <a:picLocks noChangeAspect="1"/>
          </p:cNvPicPr>
          <p:nvPr/>
        </p:nvPicPr>
        <p:blipFill>
          <a:blip r:embed="rId3" cstate="print"/>
          <a:stretch>
            <a:fillRect/>
          </a:stretch>
        </p:blipFill>
        <p:spPr>
          <a:xfrm>
            <a:off x="995807" y="3911457"/>
            <a:ext cx="7157593" cy="23369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66039"/>
            <a:ext cx="1942464" cy="635635"/>
          </a:xfrm>
          <a:prstGeom prst="rect">
            <a:avLst/>
          </a:prstGeom>
        </p:spPr>
        <p:txBody>
          <a:bodyPr vert="horz" wrap="square" lIns="0" tIns="12700" rIns="0" bIns="0" rtlCol="0">
            <a:spAutoFit/>
          </a:bodyPr>
          <a:lstStyle/>
          <a:p>
            <a:pPr marL="12700">
              <a:lnSpc>
                <a:spcPct val="100000"/>
              </a:lnSpc>
              <a:spcBef>
                <a:spcPts val="100"/>
              </a:spcBef>
            </a:pPr>
            <a:r>
              <a:rPr sz="4000" b="0" spc="135" dirty="0">
                <a:latin typeface="Times New Roman"/>
                <a:cs typeface="Times New Roman"/>
              </a:rPr>
              <a:t>Scenar</a:t>
            </a:r>
            <a:r>
              <a:rPr sz="4000" b="0" spc="70" dirty="0">
                <a:latin typeface="Times New Roman"/>
                <a:cs typeface="Times New Roman"/>
              </a:rPr>
              <a:t>i</a:t>
            </a:r>
            <a:r>
              <a:rPr sz="4000" b="0" spc="190" dirty="0">
                <a:latin typeface="Times New Roman"/>
                <a:cs typeface="Times New Roman"/>
              </a:rPr>
              <a:t>o</a:t>
            </a:r>
            <a:endParaRPr sz="4000">
              <a:latin typeface="Times New Roman"/>
              <a:cs typeface="Times New Roman"/>
            </a:endParaRPr>
          </a:p>
        </p:txBody>
      </p:sp>
      <p:sp>
        <p:nvSpPr>
          <p:cNvPr id="3" name="object 3"/>
          <p:cNvSpPr/>
          <p:nvPr/>
        </p:nvSpPr>
        <p:spPr>
          <a:xfrm>
            <a:off x="601218" y="1332738"/>
            <a:ext cx="8448040" cy="1550035"/>
          </a:xfrm>
          <a:custGeom>
            <a:avLst/>
            <a:gdLst/>
            <a:ahLst/>
            <a:cxnLst/>
            <a:rect l="l" t="t" r="r" b="b"/>
            <a:pathLst>
              <a:path w="8448040" h="1550035">
                <a:moveTo>
                  <a:pt x="8447532" y="0"/>
                </a:moveTo>
                <a:lnTo>
                  <a:pt x="0" y="0"/>
                </a:lnTo>
                <a:lnTo>
                  <a:pt x="0" y="1549908"/>
                </a:lnTo>
                <a:lnTo>
                  <a:pt x="8447532" y="1549908"/>
                </a:lnTo>
                <a:lnTo>
                  <a:pt x="8447532" y="0"/>
                </a:lnTo>
                <a:close/>
              </a:path>
            </a:pathLst>
          </a:custGeom>
          <a:solidFill>
            <a:srgbClr val="0580C3"/>
          </a:solidFill>
        </p:spPr>
        <p:txBody>
          <a:bodyPr wrap="square" lIns="0" tIns="0" rIns="0" bIns="0" rtlCol="0"/>
          <a:lstStyle/>
          <a:p>
            <a:endParaRPr/>
          </a:p>
        </p:txBody>
      </p:sp>
      <p:sp>
        <p:nvSpPr>
          <p:cNvPr id="4" name="object 4"/>
          <p:cNvSpPr txBox="1"/>
          <p:nvPr/>
        </p:nvSpPr>
        <p:spPr>
          <a:xfrm>
            <a:off x="664972" y="1348993"/>
            <a:ext cx="8321675" cy="1379220"/>
          </a:xfrm>
          <a:prstGeom prst="rect">
            <a:avLst/>
          </a:prstGeom>
        </p:spPr>
        <p:txBody>
          <a:bodyPr vert="horz" wrap="square" lIns="0" tIns="49530" rIns="0" bIns="0" rtlCol="0">
            <a:spAutoFit/>
          </a:bodyPr>
          <a:lstStyle/>
          <a:p>
            <a:pPr marL="355600" marR="5080" indent="-342900" algn="just">
              <a:lnSpc>
                <a:spcPct val="90000"/>
              </a:lnSpc>
              <a:spcBef>
                <a:spcPts val="390"/>
              </a:spcBef>
              <a:buFont typeface="Wingdings"/>
              <a:buChar char=""/>
              <a:tabLst>
                <a:tab pos="355600" algn="l"/>
              </a:tabLst>
            </a:pPr>
            <a:r>
              <a:rPr sz="2400" spc="100" dirty="0">
                <a:solidFill>
                  <a:srgbClr val="FFFFFF"/>
                </a:solidFill>
                <a:latin typeface="Times New Roman"/>
                <a:cs typeface="Times New Roman"/>
              </a:rPr>
              <a:t>In </a:t>
            </a:r>
            <a:r>
              <a:rPr sz="2400" spc="40" dirty="0">
                <a:solidFill>
                  <a:srgbClr val="FFFFFF"/>
                </a:solidFill>
                <a:latin typeface="Times New Roman"/>
                <a:cs typeface="Times New Roman"/>
              </a:rPr>
              <a:t>a </a:t>
            </a:r>
            <a:r>
              <a:rPr sz="2400" spc="110" dirty="0">
                <a:solidFill>
                  <a:srgbClr val="FFFFFF"/>
                </a:solidFill>
                <a:latin typeface="Times New Roman"/>
                <a:cs typeface="Times New Roman"/>
              </a:rPr>
              <a:t>telephone </a:t>
            </a:r>
            <a:r>
              <a:rPr sz="2400" spc="70" dirty="0">
                <a:solidFill>
                  <a:srgbClr val="FFFFFF"/>
                </a:solidFill>
                <a:latin typeface="Times New Roman"/>
                <a:cs typeface="Times New Roman"/>
              </a:rPr>
              <a:t>directory, </a:t>
            </a:r>
            <a:r>
              <a:rPr sz="2400" spc="95" dirty="0">
                <a:solidFill>
                  <a:srgbClr val="FFFFFF"/>
                </a:solidFill>
                <a:latin typeface="Times New Roman"/>
                <a:cs typeface="Times New Roman"/>
              </a:rPr>
              <a:t>where </a:t>
            </a:r>
            <a:r>
              <a:rPr sz="2400" spc="30" dirty="0">
                <a:solidFill>
                  <a:srgbClr val="FFFFFF"/>
                </a:solidFill>
                <a:latin typeface="Times New Roman"/>
                <a:cs typeface="Times New Roman"/>
              </a:rPr>
              <a:t>large </a:t>
            </a:r>
            <a:r>
              <a:rPr sz="2400" spc="135" dirty="0">
                <a:solidFill>
                  <a:srgbClr val="FFFFFF"/>
                </a:solidFill>
                <a:latin typeface="Times New Roman"/>
                <a:cs typeface="Times New Roman"/>
              </a:rPr>
              <a:t>amount </a:t>
            </a:r>
            <a:r>
              <a:rPr sz="2400" spc="70" dirty="0">
                <a:solidFill>
                  <a:srgbClr val="FFFFFF"/>
                </a:solidFill>
                <a:latin typeface="Times New Roman"/>
                <a:cs typeface="Times New Roman"/>
              </a:rPr>
              <a:t>of </a:t>
            </a:r>
            <a:r>
              <a:rPr sz="2400" spc="95" dirty="0">
                <a:solidFill>
                  <a:srgbClr val="FFFFFF"/>
                </a:solidFill>
                <a:latin typeface="Times New Roman"/>
                <a:cs typeface="Times New Roman"/>
              </a:rPr>
              <a:t>data </a:t>
            </a:r>
            <a:r>
              <a:rPr sz="2400" spc="5" dirty="0">
                <a:solidFill>
                  <a:srgbClr val="FFFFFF"/>
                </a:solidFill>
                <a:latin typeface="Times New Roman"/>
                <a:cs typeface="Times New Roman"/>
              </a:rPr>
              <a:t>is  </a:t>
            </a:r>
            <a:r>
              <a:rPr sz="2400" spc="95" dirty="0">
                <a:solidFill>
                  <a:srgbClr val="FFFFFF"/>
                </a:solidFill>
                <a:latin typeface="Times New Roman"/>
                <a:cs typeface="Times New Roman"/>
              </a:rPr>
              <a:t>stored </a:t>
            </a:r>
            <a:r>
              <a:rPr sz="2400" spc="135" dirty="0">
                <a:solidFill>
                  <a:srgbClr val="FFFFFF"/>
                </a:solidFill>
                <a:latin typeface="Times New Roman"/>
                <a:cs typeface="Times New Roman"/>
              </a:rPr>
              <a:t>and </a:t>
            </a:r>
            <a:r>
              <a:rPr sz="2400" spc="10" dirty="0">
                <a:solidFill>
                  <a:srgbClr val="FFFFFF"/>
                </a:solidFill>
                <a:latin typeface="Times New Roman"/>
                <a:cs typeface="Times New Roman"/>
              </a:rPr>
              <a:t>is </a:t>
            </a:r>
            <a:r>
              <a:rPr sz="2400" spc="90" dirty="0">
                <a:solidFill>
                  <a:srgbClr val="FFFFFF"/>
                </a:solidFill>
                <a:latin typeface="Times New Roman"/>
                <a:cs typeface="Times New Roman"/>
              </a:rPr>
              <a:t>frequently </a:t>
            </a:r>
            <a:r>
              <a:rPr sz="2400" spc="35" dirty="0">
                <a:solidFill>
                  <a:srgbClr val="FFFFFF"/>
                </a:solidFill>
                <a:latin typeface="Times New Roman"/>
                <a:cs typeface="Times New Roman"/>
              </a:rPr>
              <a:t>accessed, </a:t>
            </a:r>
            <a:r>
              <a:rPr sz="2400" spc="135" dirty="0">
                <a:solidFill>
                  <a:srgbClr val="FFFFFF"/>
                </a:solidFill>
                <a:latin typeface="Times New Roman"/>
                <a:cs typeface="Times New Roman"/>
              </a:rPr>
              <a:t>the </a:t>
            </a:r>
            <a:r>
              <a:rPr sz="2400" spc="60" dirty="0">
                <a:solidFill>
                  <a:srgbClr val="FFFFFF"/>
                </a:solidFill>
                <a:latin typeface="Times New Roman"/>
                <a:cs typeface="Times New Roman"/>
              </a:rPr>
              <a:t>storage </a:t>
            </a:r>
            <a:r>
              <a:rPr sz="2400" spc="10" dirty="0">
                <a:solidFill>
                  <a:srgbClr val="FFFFFF"/>
                </a:solidFill>
                <a:latin typeface="Times New Roman"/>
                <a:cs typeface="Times New Roman"/>
              </a:rPr>
              <a:t>is </a:t>
            </a:r>
            <a:r>
              <a:rPr sz="2400" spc="130" dirty="0">
                <a:solidFill>
                  <a:srgbClr val="FFFFFF"/>
                </a:solidFill>
                <a:latin typeface="Times New Roman"/>
                <a:cs typeface="Times New Roman"/>
              </a:rPr>
              <a:t>done </a:t>
            </a:r>
            <a:r>
              <a:rPr sz="2400" spc="114" dirty="0">
                <a:solidFill>
                  <a:srgbClr val="FFFFFF"/>
                </a:solidFill>
                <a:latin typeface="Times New Roman"/>
                <a:cs typeface="Times New Roman"/>
              </a:rPr>
              <a:t>in  </a:t>
            </a:r>
            <a:r>
              <a:rPr sz="2400" spc="65" dirty="0">
                <a:solidFill>
                  <a:srgbClr val="FFFFFF"/>
                </a:solidFill>
                <a:latin typeface="Times New Roman"/>
                <a:cs typeface="Times New Roman"/>
              </a:rPr>
              <a:t>alphabetical </a:t>
            </a:r>
            <a:r>
              <a:rPr sz="2400" spc="85" dirty="0">
                <a:solidFill>
                  <a:srgbClr val="FFFFFF"/>
                </a:solidFill>
                <a:latin typeface="Times New Roman"/>
                <a:cs typeface="Times New Roman"/>
              </a:rPr>
              <a:t>order. </a:t>
            </a:r>
            <a:r>
              <a:rPr sz="2400" spc="5" dirty="0">
                <a:solidFill>
                  <a:srgbClr val="FFFFFF"/>
                </a:solidFill>
                <a:latin typeface="Times New Roman"/>
                <a:cs typeface="Times New Roman"/>
              </a:rPr>
              <a:t>If </a:t>
            </a:r>
            <a:r>
              <a:rPr sz="2400" spc="105" dirty="0">
                <a:solidFill>
                  <a:srgbClr val="FFFFFF"/>
                </a:solidFill>
                <a:latin typeface="Times New Roman"/>
                <a:cs typeface="Times New Roman"/>
              </a:rPr>
              <a:t>such </a:t>
            </a:r>
            <a:r>
              <a:rPr sz="2400" spc="95" dirty="0">
                <a:solidFill>
                  <a:srgbClr val="FFFFFF"/>
                </a:solidFill>
                <a:latin typeface="Times New Roman"/>
                <a:cs typeface="Times New Roman"/>
              </a:rPr>
              <a:t>data </a:t>
            </a:r>
            <a:r>
              <a:rPr sz="2400" spc="65" dirty="0">
                <a:solidFill>
                  <a:srgbClr val="FFFFFF"/>
                </a:solidFill>
                <a:latin typeface="Times New Roman"/>
                <a:cs typeface="Times New Roman"/>
              </a:rPr>
              <a:t>were </a:t>
            </a:r>
            <a:r>
              <a:rPr sz="2400" spc="105" dirty="0">
                <a:solidFill>
                  <a:srgbClr val="FFFFFF"/>
                </a:solidFill>
                <a:latin typeface="Times New Roman"/>
                <a:cs typeface="Times New Roman"/>
              </a:rPr>
              <a:t>unsorted, </a:t>
            </a:r>
            <a:r>
              <a:rPr sz="2400" spc="80" dirty="0">
                <a:solidFill>
                  <a:srgbClr val="FFFFFF"/>
                </a:solidFill>
                <a:latin typeface="Times New Roman"/>
                <a:cs typeface="Times New Roman"/>
              </a:rPr>
              <a:t>it </a:t>
            </a:r>
            <a:r>
              <a:rPr sz="2400" spc="100" dirty="0">
                <a:solidFill>
                  <a:srgbClr val="FFFFFF"/>
                </a:solidFill>
                <a:latin typeface="Times New Roman"/>
                <a:cs typeface="Times New Roman"/>
              </a:rPr>
              <a:t>would </a:t>
            </a:r>
            <a:r>
              <a:rPr sz="2400" spc="75" dirty="0">
                <a:solidFill>
                  <a:srgbClr val="FFFFFF"/>
                </a:solidFill>
                <a:latin typeface="Times New Roman"/>
                <a:cs typeface="Times New Roman"/>
              </a:rPr>
              <a:t>be  </a:t>
            </a:r>
            <a:r>
              <a:rPr sz="2400" spc="65" dirty="0">
                <a:solidFill>
                  <a:srgbClr val="FFFFFF"/>
                </a:solidFill>
                <a:latin typeface="Times New Roman"/>
                <a:cs typeface="Times New Roman"/>
              </a:rPr>
              <a:t>nearly</a:t>
            </a:r>
            <a:r>
              <a:rPr sz="2400" spc="-85" dirty="0">
                <a:solidFill>
                  <a:srgbClr val="FFFFFF"/>
                </a:solidFill>
                <a:latin typeface="Times New Roman"/>
                <a:cs typeface="Times New Roman"/>
              </a:rPr>
              <a:t> </a:t>
            </a:r>
            <a:r>
              <a:rPr sz="2400" spc="55" dirty="0">
                <a:solidFill>
                  <a:srgbClr val="FFFFFF"/>
                </a:solidFill>
                <a:latin typeface="Times New Roman"/>
                <a:cs typeface="Times New Roman"/>
              </a:rPr>
              <a:t>impossible</a:t>
            </a:r>
            <a:r>
              <a:rPr sz="2400" spc="-85" dirty="0">
                <a:solidFill>
                  <a:srgbClr val="FFFFFF"/>
                </a:solidFill>
                <a:latin typeface="Times New Roman"/>
                <a:cs typeface="Times New Roman"/>
              </a:rPr>
              <a:t> </a:t>
            </a:r>
            <a:r>
              <a:rPr sz="2400" spc="130" dirty="0">
                <a:solidFill>
                  <a:srgbClr val="FFFFFF"/>
                </a:solidFill>
                <a:latin typeface="Times New Roman"/>
                <a:cs typeface="Times New Roman"/>
              </a:rPr>
              <a:t>to</a:t>
            </a:r>
            <a:r>
              <a:rPr sz="2400" spc="-80" dirty="0">
                <a:solidFill>
                  <a:srgbClr val="FFFFFF"/>
                </a:solidFill>
                <a:latin typeface="Times New Roman"/>
                <a:cs typeface="Times New Roman"/>
              </a:rPr>
              <a:t> </a:t>
            </a:r>
            <a:r>
              <a:rPr sz="2400" spc="70" dirty="0">
                <a:solidFill>
                  <a:srgbClr val="FFFFFF"/>
                </a:solidFill>
                <a:latin typeface="Times New Roman"/>
                <a:cs typeface="Times New Roman"/>
              </a:rPr>
              <a:t>search</a:t>
            </a:r>
            <a:r>
              <a:rPr sz="2400" spc="-85" dirty="0">
                <a:solidFill>
                  <a:srgbClr val="FFFFFF"/>
                </a:solidFill>
                <a:latin typeface="Times New Roman"/>
                <a:cs typeface="Times New Roman"/>
              </a:rPr>
              <a:t> </a:t>
            </a:r>
            <a:r>
              <a:rPr sz="2400" spc="80" dirty="0">
                <a:solidFill>
                  <a:srgbClr val="FFFFFF"/>
                </a:solidFill>
                <a:latin typeface="Times New Roman"/>
                <a:cs typeface="Times New Roman"/>
              </a:rPr>
              <a:t>for</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0" dirty="0">
                <a:solidFill>
                  <a:srgbClr val="FFFFFF"/>
                </a:solidFill>
                <a:latin typeface="Times New Roman"/>
                <a:cs typeface="Times New Roman"/>
              </a:rPr>
              <a:t> </a:t>
            </a:r>
            <a:r>
              <a:rPr sz="2400" spc="35" dirty="0">
                <a:solidFill>
                  <a:srgbClr val="FFFFFF"/>
                </a:solidFill>
                <a:latin typeface="Times New Roman"/>
                <a:cs typeface="Times New Roman"/>
              </a:rPr>
              <a:t>specific</a:t>
            </a:r>
            <a:r>
              <a:rPr sz="2400" spc="-80" dirty="0">
                <a:solidFill>
                  <a:srgbClr val="FFFFFF"/>
                </a:solidFill>
                <a:latin typeface="Times New Roman"/>
                <a:cs typeface="Times New Roman"/>
              </a:rPr>
              <a:t> </a:t>
            </a:r>
            <a:r>
              <a:rPr sz="2400" spc="105" dirty="0">
                <a:solidFill>
                  <a:srgbClr val="FFFFFF"/>
                </a:solidFill>
                <a:latin typeface="Times New Roman"/>
                <a:cs typeface="Times New Roman"/>
              </a:rPr>
              <a:t>telephone</a:t>
            </a:r>
            <a:r>
              <a:rPr sz="2400" spc="-85" dirty="0">
                <a:solidFill>
                  <a:srgbClr val="FFFFFF"/>
                </a:solidFill>
                <a:latin typeface="Times New Roman"/>
                <a:cs typeface="Times New Roman"/>
              </a:rPr>
              <a:t> </a:t>
            </a:r>
            <a:r>
              <a:rPr sz="2400" spc="110" dirty="0">
                <a:solidFill>
                  <a:srgbClr val="FFFFFF"/>
                </a:solidFill>
                <a:latin typeface="Times New Roman"/>
                <a:cs typeface="Times New Roman"/>
              </a:rPr>
              <a:t>number.</a:t>
            </a:r>
            <a:endParaRPr sz="2400">
              <a:latin typeface="Times New Roman"/>
              <a:cs typeface="Times New Roman"/>
            </a:endParaRPr>
          </a:p>
        </p:txBody>
      </p:sp>
      <p:sp>
        <p:nvSpPr>
          <p:cNvPr id="5" name="object 5"/>
          <p:cNvSpPr/>
          <p:nvPr/>
        </p:nvSpPr>
        <p:spPr>
          <a:xfrm>
            <a:off x="564641" y="3346703"/>
            <a:ext cx="8446770" cy="1893570"/>
          </a:xfrm>
          <a:custGeom>
            <a:avLst/>
            <a:gdLst/>
            <a:ahLst/>
            <a:cxnLst/>
            <a:rect l="l" t="t" r="r" b="b"/>
            <a:pathLst>
              <a:path w="8446770" h="1893570">
                <a:moveTo>
                  <a:pt x="8446770" y="0"/>
                </a:moveTo>
                <a:lnTo>
                  <a:pt x="0" y="0"/>
                </a:lnTo>
                <a:lnTo>
                  <a:pt x="0" y="1893570"/>
                </a:lnTo>
                <a:lnTo>
                  <a:pt x="8446770" y="1893570"/>
                </a:lnTo>
                <a:lnTo>
                  <a:pt x="8446770" y="0"/>
                </a:lnTo>
                <a:close/>
              </a:path>
            </a:pathLst>
          </a:custGeom>
          <a:solidFill>
            <a:srgbClr val="06A297"/>
          </a:solidFill>
        </p:spPr>
        <p:txBody>
          <a:bodyPr wrap="square" lIns="0" tIns="0" rIns="0" bIns="0" rtlCol="0"/>
          <a:lstStyle/>
          <a:p>
            <a:endParaRPr/>
          </a:p>
        </p:txBody>
      </p:sp>
      <p:sp>
        <p:nvSpPr>
          <p:cNvPr id="6" name="object 6"/>
          <p:cNvSpPr txBox="1"/>
          <p:nvPr/>
        </p:nvSpPr>
        <p:spPr>
          <a:xfrm>
            <a:off x="627887" y="3596894"/>
            <a:ext cx="8320405" cy="1266825"/>
          </a:xfrm>
          <a:prstGeom prst="rect">
            <a:avLst/>
          </a:prstGeom>
        </p:spPr>
        <p:txBody>
          <a:bodyPr vert="horz" wrap="square" lIns="0" tIns="50165" rIns="0" bIns="0" rtlCol="0">
            <a:spAutoFit/>
          </a:bodyPr>
          <a:lstStyle/>
          <a:p>
            <a:pPr marL="355600" marR="5080" indent="-342900">
              <a:lnSpc>
                <a:spcPts val="2380"/>
              </a:lnSpc>
              <a:spcBef>
                <a:spcPts val="395"/>
              </a:spcBef>
              <a:buFont typeface="Wingdings"/>
              <a:buChar char=""/>
              <a:tabLst>
                <a:tab pos="355600" algn="l"/>
              </a:tabLst>
            </a:pPr>
            <a:r>
              <a:rPr sz="2200" spc="35" dirty="0">
                <a:solidFill>
                  <a:srgbClr val="FFFFFF"/>
                </a:solidFill>
                <a:latin typeface="Times New Roman"/>
                <a:cs typeface="Times New Roman"/>
              </a:rPr>
              <a:t>Similarly,</a:t>
            </a:r>
            <a:r>
              <a:rPr sz="2200" spc="-25" dirty="0">
                <a:solidFill>
                  <a:srgbClr val="FFFFFF"/>
                </a:solidFill>
                <a:latin typeface="Times New Roman"/>
                <a:cs typeface="Times New Roman"/>
              </a:rPr>
              <a:t> </a:t>
            </a:r>
            <a:r>
              <a:rPr sz="2200" spc="100" dirty="0">
                <a:solidFill>
                  <a:srgbClr val="FFFFFF"/>
                </a:solidFill>
                <a:latin typeface="Times New Roman"/>
                <a:cs typeface="Times New Roman"/>
              </a:rPr>
              <a:t>in</a:t>
            </a:r>
            <a:r>
              <a:rPr sz="2200" spc="-4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35" dirty="0">
                <a:solidFill>
                  <a:srgbClr val="FFFFFF"/>
                </a:solidFill>
                <a:latin typeface="Times New Roman"/>
                <a:cs typeface="Times New Roman"/>
              </a:rPr>
              <a:t> </a:t>
            </a:r>
            <a:r>
              <a:rPr sz="2200" spc="65" dirty="0">
                <a:solidFill>
                  <a:srgbClr val="FFFFFF"/>
                </a:solidFill>
                <a:latin typeface="Times New Roman"/>
                <a:cs typeface="Times New Roman"/>
              </a:rPr>
              <a:t>database</a:t>
            </a:r>
            <a:r>
              <a:rPr sz="2200" spc="-45" dirty="0">
                <a:solidFill>
                  <a:srgbClr val="FFFFFF"/>
                </a:solidFill>
                <a:latin typeface="Times New Roman"/>
                <a:cs typeface="Times New Roman"/>
              </a:rPr>
              <a:t> </a:t>
            </a:r>
            <a:r>
              <a:rPr sz="2200" spc="65" dirty="0">
                <a:solidFill>
                  <a:srgbClr val="FFFFFF"/>
                </a:solidFill>
                <a:latin typeface="Times New Roman"/>
                <a:cs typeface="Times New Roman"/>
              </a:rPr>
              <a:t>table</a:t>
            </a:r>
            <a:r>
              <a:rPr sz="2200" spc="-50" dirty="0">
                <a:solidFill>
                  <a:srgbClr val="FFFFFF"/>
                </a:solidFill>
                <a:latin typeface="Times New Roman"/>
                <a:cs typeface="Times New Roman"/>
              </a:rPr>
              <a:t> </a:t>
            </a:r>
            <a:r>
              <a:rPr sz="2200" spc="75" dirty="0">
                <a:solidFill>
                  <a:srgbClr val="FFFFFF"/>
                </a:solidFill>
                <a:latin typeface="Times New Roman"/>
                <a:cs typeface="Times New Roman"/>
              </a:rPr>
              <a:t>having</a:t>
            </a:r>
            <a:r>
              <a:rPr sz="2200" spc="-4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30" dirty="0">
                <a:solidFill>
                  <a:srgbClr val="FFFFFF"/>
                </a:solidFill>
                <a:latin typeface="Times New Roman"/>
                <a:cs typeface="Times New Roman"/>
              </a:rPr>
              <a:t> </a:t>
            </a:r>
            <a:r>
              <a:rPr sz="2200" spc="25" dirty="0">
                <a:solidFill>
                  <a:srgbClr val="FFFFFF"/>
                </a:solidFill>
                <a:latin typeface="Times New Roman"/>
                <a:cs typeface="Times New Roman"/>
              </a:rPr>
              <a:t>large</a:t>
            </a:r>
            <a:r>
              <a:rPr sz="2200" spc="-30" dirty="0">
                <a:solidFill>
                  <a:srgbClr val="FFFFFF"/>
                </a:solidFill>
                <a:latin typeface="Times New Roman"/>
                <a:cs typeface="Times New Roman"/>
              </a:rPr>
              <a:t> </a:t>
            </a:r>
            <a:r>
              <a:rPr sz="2200" spc="114" dirty="0">
                <a:solidFill>
                  <a:srgbClr val="FFFFFF"/>
                </a:solidFill>
                <a:latin typeface="Times New Roman"/>
                <a:cs typeface="Times New Roman"/>
              </a:rPr>
              <a:t>number</a:t>
            </a:r>
            <a:r>
              <a:rPr sz="2200" spc="-40" dirty="0">
                <a:solidFill>
                  <a:srgbClr val="FFFFFF"/>
                </a:solidFill>
                <a:latin typeface="Times New Roman"/>
                <a:cs typeface="Times New Roman"/>
              </a:rPr>
              <a:t> </a:t>
            </a:r>
            <a:r>
              <a:rPr sz="2200" spc="65" dirty="0">
                <a:solidFill>
                  <a:srgbClr val="FFFFFF"/>
                </a:solidFill>
                <a:latin typeface="Times New Roman"/>
                <a:cs typeface="Times New Roman"/>
              </a:rPr>
              <a:t>of</a:t>
            </a:r>
            <a:r>
              <a:rPr sz="2200" spc="-35" dirty="0">
                <a:solidFill>
                  <a:srgbClr val="FFFFFF"/>
                </a:solidFill>
                <a:latin typeface="Times New Roman"/>
                <a:cs typeface="Times New Roman"/>
              </a:rPr>
              <a:t> </a:t>
            </a:r>
            <a:r>
              <a:rPr sz="2200" spc="70" dirty="0">
                <a:solidFill>
                  <a:srgbClr val="FFFFFF"/>
                </a:solidFill>
                <a:latin typeface="Times New Roman"/>
                <a:cs typeface="Times New Roman"/>
              </a:rPr>
              <a:t>records</a:t>
            </a:r>
            <a:r>
              <a:rPr sz="2200" spc="-35" dirty="0">
                <a:solidFill>
                  <a:srgbClr val="FFFFFF"/>
                </a:solidFill>
                <a:latin typeface="Times New Roman"/>
                <a:cs typeface="Times New Roman"/>
              </a:rPr>
              <a:t> </a:t>
            </a:r>
            <a:r>
              <a:rPr sz="2200" spc="125" dirty="0">
                <a:solidFill>
                  <a:srgbClr val="FFFFFF"/>
                </a:solidFill>
                <a:latin typeface="Times New Roman"/>
                <a:cs typeface="Times New Roman"/>
              </a:rPr>
              <a:t>that  </a:t>
            </a:r>
            <a:r>
              <a:rPr sz="2200" spc="60" dirty="0">
                <a:solidFill>
                  <a:srgbClr val="FFFFFF"/>
                </a:solidFill>
                <a:latin typeface="Times New Roman"/>
                <a:cs typeface="Times New Roman"/>
              </a:rPr>
              <a:t>are</a:t>
            </a:r>
            <a:r>
              <a:rPr sz="2200" spc="-95" dirty="0">
                <a:solidFill>
                  <a:srgbClr val="FFFFFF"/>
                </a:solidFill>
                <a:latin typeface="Times New Roman"/>
                <a:cs typeface="Times New Roman"/>
              </a:rPr>
              <a:t> </a:t>
            </a:r>
            <a:r>
              <a:rPr sz="2200" spc="85" dirty="0">
                <a:solidFill>
                  <a:srgbClr val="FFFFFF"/>
                </a:solidFill>
                <a:latin typeface="Times New Roman"/>
                <a:cs typeface="Times New Roman"/>
              </a:rPr>
              <a:t>frequently</a:t>
            </a:r>
            <a:r>
              <a:rPr sz="2200" spc="-105" dirty="0">
                <a:solidFill>
                  <a:srgbClr val="FFFFFF"/>
                </a:solidFill>
                <a:latin typeface="Times New Roman"/>
                <a:cs typeface="Times New Roman"/>
              </a:rPr>
              <a:t> </a:t>
            </a:r>
            <a:r>
              <a:rPr sz="2200" spc="35" dirty="0">
                <a:solidFill>
                  <a:srgbClr val="FFFFFF"/>
                </a:solidFill>
                <a:latin typeface="Times New Roman"/>
                <a:cs typeface="Times New Roman"/>
              </a:rPr>
              <a:t>accessed,</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95" dirty="0">
                <a:solidFill>
                  <a:srgbClr val="FFFFFF"/>
                </a:solidFill>
                <a:latin typeface="Times New Roman"/>
                <a:cs typeface="Times New Roman"/>
              </a:rPr>
              <a:t> </a:t>
            </a:r>
            <a:r>
              <a:rPr sz="2200" spc="90" dirty="0">
                <a:solidFill>
                  <a:srgbClr val="FFFFFF"/>
                </a:solidFill>
                <a:latin typeface="Times New Roman"/>
                <a:cs typeface="Times New Roman"/>
              </a:rPr>
              <a:t>data</a:t>
            </a:r>
            <a:r>
              <a:rPr sz="2200" spc="-100" dirty="0">
                <a:solidFill>
                  <a:srgbClr val="FFFFFF"/>
                </a:solidFill>
                <a:latin typeface="Times New Roman"/>
                <a:cs typeface="Times New Roman"/>
              </a:rPr>
              <a:t> </a:t>
            </a:r>
            <a:r>
              <a:rPr sz="2200" spc="5" dirty="0">
                <a:solidFill>
                  <a:srgbClr val="FFFFFF"/>
                </a:solidFill>
                <a:latin typeface="Times New Roman"/>
                <a:cs typeface="Times New Roman"/>
              </a:rPr>
              <a:t>is</a:t>
            </a:r>
            <a:r>
              <a:rPr sz="2200" spc="-90"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100" dirty="0">
                <a:solidFill>
                  <a:srgbClr val="FFFFFF"/>
                </a:solidFill>
                <a:latin typeface="Times New Roman"/>
                <a:cs typeface="Times New Roman"/>
              </a:rPr>
              <a:t> </a:t>
            </a:r>
            <a:r>
              <a:rPr sz="2200" spc="75" dirty="0">
                <a:solidFill>
                  <a:srgbClr val="FFFFFF"/>
                </a:solidFill>
                <a:latin typeface="Times New Roman"/>
                <a:cs typeface="Times New Roman"/>
              </a:rPr>
              <a:t>be</a:t>
            </a:r>
            <a:r>
              <a:rPr sz="2200" spc="-90" dirty="0">
                <a:solidFill>
                  <a:srgbClr val="FFFFFF"/>
                </a:solidFill>
                <a:latin typeface="Times New Roman"/>
                <a:cs typeface="Times New Roman"/>
              </a:rPr>
              <a:t> </a:t>
            </a:r>
            <a:r>
              <a:rPr sz="2200" spc="90" dirty="0">
                <a:solidFill>
                  <a:srgbClr val="FFFFFF"/>
                </a:solidFill>
                <a:latin typeface="Times New Roman"/>
                <a:cs typeface="Times New Roman"/>
              </a:rPr>
              <a:t>sorted</a:t>
            </a:r>
            <a:r>
              <a:rPr sz="2200" spc="-110" dirty="0">
                <a:solidFill>
                  <a:srgbClr val="FFFFFF"/>
                </a:solidFill>
                <a:latin typeface="Times New Roman"/>
                <a:cs typeface="Times New Roman"/>
              </a:rPr>
              <a:t> </a:t>
            </a:r>
            <a:r>
              <a:rPr sz="2200" spc="70" dirty="0">
                <a:solidFill>
                  <a:srgbClr val="FFFFFF"/>
                </a:solidFill>
                <a:latin typeface="Times New Roman"/>
                <a:cs typeface="Times New Roman"/>
              </a:rPr>
              <a:t>for</a:t>
            </a:r>
            <a:r>
              <a:rPr sz="2200" spc="-90" dirty="0">
                <a:solidFill>
                  <a:srgbClr val="FFFFFF"/>
                </a:solidFill>
                <a:latin typeface="Times New Roman"/>
                <a:cs typeface="Times New Roman"/>
              </a:rPr>
              <a:t> </a:t>
            </a:r>
            <a:r>
              <a:rPr sz="2200" spc="50" dirty="0">
                <a:solidFill>
                  <a:srgbClr val="FFFFFF"/>
                </a:solidFill>
                <a:latin typeface="Times New Roman"/>
                <a:cs typeface="Times New Roman"/>
              </a:rPr>
              <a:t>fast</a:t>
            </a:r>
            <a:r>
              <a:rPr sz="2200" spc="-95" dirty="0">
                <a:solidFill>
                  <a:srgbClr val="FFFFFF"/>
                </a:solidFill>
                <a:latin typeface="Times New Roman"/>
                <a:cs typeface="Times New Roman"/>
              </a:rPr>
              <a:t> </a:t>
            </a:r>
            <a:r>
              <a:rPr sz="2200" spc="50" dirty="0">
                <a:solidFill>
                  <a:srgbClr val="FFFFFF"/>
                </a:solidFill>
                <a:latin typeface="Times New Roman"/>
                <a:cs typeface="Times New Roman"/>
              </a:rPr>
              <a:t>retrieval.</a:t>
            </a:r>
            <a:endParaRPr sz="2200">
              <a:latin typeface="Times New Roman"/>
              <a:cs typeface="Times New Roman"/>
            </a:endParaRPr>
          </a:p>
          <a:p>
            <a:pPr marL="355600" indent="-342900">
              <a:lnSpc>
                <a:spcPts val="2205"/>
              </a:lnSpc>
              <a:buFont typeface="Wingdings"/>
              <a:buChar char=""/>
              <a:tabLst>
                <a:tab pos="355600" algn="l"/>
              </a:tabLst>
            </a:pPr>
            <a:r>
              <a:rPr sz="2200" spc="195" dirty="0">
                <a:solidFill>
                  <a:srgbClr val="FFFFFF"/>
                </a:solidFill>
                <a:latin typeface="Times New Roman"/>
                <a:cs typeface="Times New Roman"/>
              </a:rPr>
              <a:t>When</a:t>
            </a:r>
            <a:r>
              <a:rPr sz="2200" spc="30" dirty="0">
                <a:solidFill>
                  <a:srgbClr val="FFFFFF"/>
                </a:solidFill>
                <a:latin typeface="Times New Roman"/>
                <a:cs typeface="Times New Roman"/>
              </a:rPr>
              <a:t> </a:t>
            </a:r>
            <a:r>
              <a:rPr sz="2200" spc="120" dirty="0">
                <a:solidFill>
                  <a:srgbClr val="FFFFFF"/>
                </a:solidFill>
                <a:latin typeface="Times New Roman"/>
                <a:cs typeface="Times New Roman"/>
              </a:rPr>
              <a:t>an</a:t>
            </a:r>
            <a:r>
              <a:rPr sz="2200" spc="30" dirty="0">
                <a:solidFill>
                  <a:srgbClr val="FFFFFF"/>
                </a:solidFill>
                <a:latin typeface="Times New Roman"/>
                <a:cs typeface="Times New Roman"/>
              </a:rPr>
              <a:t> </a:t>
            </a:r>
            <a:r>
              <a:rPr sz="2200" spc="95" dirty="0">
                <a:solidFill>
                  <a:srgbClr val="FFFFFF"/>
                </a:solidFill>
                <a:latin typeface="Times New Roman"/>
                <a:cs typeface="Times New Roman"/>
              </a:rPr>
              <a:t>index</a:t>
            </a:r>
            <a:r>
              <a:rPr sz="2200" spc="35" dirty="0">
                <a:solidFill>
                  <a:srgbClr val="FFFFFF"/>
                </a:solidFill>
                <a:latin typeface="Times New Roman"/>
                <a:cs typeface="Times New Roman"/>
              </a:rPr>
              <a:t> </a:t>
            </a:r>
            <a:r>
              <a:rPr sz="2200" spc="5" dirty="0">
                <a:solidFill>
                  <a:srgbClr val="FFFFFF"/>
                </a:solidFill>
                <a:latin typeface="Times New Roman"/>
                <a:cs typeface="Times New Roman"/>
              </a:rPr>
              <a:t>is</a:t>
            </a:r>
            <a:r>
              <a:rPr sz="2200" spc="25" dirty="0">
                <a:solidFill>
                  <a:srgbClr val="FFFFFF"/>
                </a:solidFill>
                <a:latin typeface="Times New Roman"/>
                <a:cs typeface="Times New Roman"/>
              </a:rPr>
              <a:t> </a:t>
            </a:r>
            <a:r>
              <a:rPr sz="2200" spc="75" dirty="0">
                <a:solidFill>
                  <a:srgbClr val="FFFFFF"/>
                </a:solidFill>
                <a:latin typeface="Times New Roman"/>
                <a:cs typeface="Times New Roman"/>
              </a:rPr>
              <a:t>created</a:t>
            </a:r>
            <a:r>
              <a:rPr sz="2200" spc="25" dirty="0">
                <a:solidFill>
                  <a:srgbClr val="FFFFFF"/>
                </a:solidFill>
                <a:latin typeface="Times New Roman"/>
                <a:cs typeface="Times New Roman"/>
              </a:rPr>
              <a:t> </a:t>
            </a:r>
            <a:r>
              <a:rPr sz="2200" spc="150" dirty="0">
                <a:solidFill>
                  <a:srgbClr val="FFFFFF"/>
                </a:solidFill>
                <a:latin typeface="Times New Roman"/>
                <a:cs typeface="Times New Roman"/>
              </a:rPr>
              <a:t>on</a:t>
            </a:r>
            <a:r>
              <a:rPr sz="2200" spc="35" dirty="0">
                <a:solidFill>
                  <a:srgbClr val="FFFFFF"/>
                </a:solidFill>
                <a:latin typeface="Times New Roman"/>
                <a:cs typeface="Times New Roman"/>
              </a:rPr>
              <a:t> </a:t>
            </a:r>
            <a:r>
              <a:rPr sz="2200" spc="120" dirty="0">
                <a:solidFill>
                  <a:srgbClr val="FFFFFF"/>
                </a:solidFill>
                <a:latin typeface="Times New Roman"/>
                <a:cs typeface="Times New Roman"/>
              </a:rPr>
              <a:t>the</a:t>
            </a:r>
            <a:r>
              <a:rPr sz="2200" spc="30" dirty="0">
                <a:solidFill>
                  <a:srgbClr val="FFFFFF"/>
                </a:solidFill>
                <a:latin typeface="Times New Roman"/>
                <a:cs typeface="Times New Roman"/>
              </a:rPr>
              <a:t> </a:t>
            </a:r>
            <a:r>
              <a:rPr sz="2200" spc="50" dirty="0">
                <a:solidFill>
                  <a:srgbClr val="FFFFFF"/>
                </a:solidFill>
                <a:latin typeface="Times New Roman"/>
                <a:cs typeface="Times New Roman"/>
              </a:rPr>
              <a:t>table,</a:t>
            </a:r>
            <a:r>
              <a:rPr sz="2200" spc="3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25" dirty="0">
                <a:solidFill>
                  <a:srgbClr val="FFFFFF"/>
                </a:solidFill>
                <a:latin typeface="Times New Roman"/>
                <a:cs typeface="Times New Roman"/>
              </a:rPr>
              <a:t> </a:t>
            </a:r>
            <a:r>
              <a:rPr sz="2200" spc="100" dirty="0">
                <a:solidFill>
                  <a:srgbClr val="FFFFFF"/>
                </a:solidFill>
                <a:latin typeface="Times New Roman"/>
                <a:cs typeface="Times New Roman"/>
              </a:rPr>
              <a:t>index</a:t>
            </a:r>
            <a:r>
              <a:rPr sz="2200" spc="20" dirty="0">
                <a:solidFill>
                  <a:srgbClr val="FFFFFF"/>
                </a:solidFill>
                <a:latin typeface="Times New Roman"/>
                <a:cs typeface="Times New Roman"/>
              </a:rPr>
              <a:t> </a:t>
            </a:r>
            <a:r>
              <a:rPr sz="2200" spc="85" dirty="0">
                <a:solidFill>
                  <a:srgbClr val="FFFFFF"/>
                </a:solidFill>
                <a:latin typeface="Times New Roman"/>
                <a:cs typeface="Times New Roman"/>
              </a:rPr>
              <a:t>either</a:t>
            </a:r>
            <a:r>
              <a:rPr sz="2200" spc="25" dirty="0">
                <a:solidFill>
                  <a:srgbClr val="FFFFFF"/>
                </a:solidFill>
                <a:latin typeface="Times New Roman"/>
                <a:cs typeface="Times New Roman"/>
              </a:rPr>
              <a:t> </a:t>
            </a:r>
            <a:r>
              <a:rPr sz="2200" spc="35" dirty="0">
                <a:solidFill>
                  <a:srgbClr val="FFFFFF"/>
                </a:solidFill>
                <a:latin typeface="Times New Roman"/>
                <a:cs typeface="Times New Roman"/>
              </a:rPr>
              <a:t>physically</a:t>
            </a:r>
            <a:endParaRPr sz="2200">
              <a:latin typeface="Times New Roman"/>
              <a:cs typeface="Times New Roman"/>
            </a:endParaRPr>
          </a:p>
          <a:p>
            <a:pPr marL="355600">
              <a:lnSpc>
                <a:spcPts val="2510"/>
              </a:lnSpc>
            </a:pPr>
            <a:r>
              <a:rPr sz="2200" spc="95" dirty="0">
                <a:solidFill>
                  <a:srgbClr val="FFFFFF"/>
                </a:solidFill>
                <a:latin typeface="Times New Roman"/>
                <a:cs typeface="Times New Roman"/>
              </a:rPr>
              <a:t>or</a:t>
            </a:r>
            <a:r>
              <a:rPr sz="2200" spc="-100" dirty="0">
                <a:solidFill>
                  <a:srgbClr val="FFFFFF"/>
                </a:solidFill>
                <a:latin typeface="Times New Roman"/>
                <a:cs typeface="Times New Roman"/>
              </a:rPr>
              <a:t> </a:t>
            </a:r>
            <a:r>
              <a:rPr sz="2200" spc="15" dirty="0">
                <a:solidFill>
                  <a:srgbClr val="FFFFFF"/>
                </a:solidFill>
                <a:latin typeface="Times New Roman"/>
                <a:cs typeface="Times New Roman"/>
              </a:rPr>
              <a:t>logically</a:t>
            </a:r>
            <a:r>
              <a:rPr sz="2200" spc="-85" dirty="0">
                <a:solidFill>
                  <a:srgbClr val="FFFFFF"/>
                </a:solidFill>
                <a:latin typeface="Times New Roman"/>
                <a:cs typeface="Times New Roman"/>
              </a:rPr>
              <a:t> </a:t>
            </a:r>
            <a:r>
              <a:rPr sz="2200" spc="70" dirty="0">
                <a:solidFill>
                  <a:srgbClr val="FFFFFF"/>
                </a:solidFill>
                <a:latin typeface="Times New Roman"/>
                <a:cs typeface="Times New Roman"/>
              </a:rPr>
              <a:t>sorts</a:t>
            </a:r>
            <a:r>
              <a:rPr sz="2200" spc="-10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95" dirty="0">
                <a:solidFill>
                  <a:srgbClr val="FFFFFF"/>
                </a:solidFill>
                <a:latin typeface="Times New Roman"/>
                <a:cs typeface="Times New Roman"/>
              </a:rPr>
              <a:t> </a:t>
            </a:r>
            <a:r>
              <a:rPr sz="2200" spc="60" dirty="0">
                <a:solidFill>
                  <a:srgbClr val="FFFFFF"/>
                </a:solidFill>
                <a:latin typeface="Times New Roman"/>
                <a:cs typeface="Times New Roman"/>
              </a:rPr>
              <a:t>records.</a:t>
            </a:r>
            <a:endParaRPr sz="2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10</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0623" y="28955"/>
            <a:ext cx="6082030" cy="635635"/>
          </a:xfrm>
          <a:prstGeom prst="rect">
            <a:avLst/>
          </a:prstGeom>
        </p:spPr>
        <p:txBody>
          <a:bodyPr vert="horz" wrap="square" lIns="0" tIns="12700" rIns="0" bIns="0" rtlCol="0">
            <a:spAutoFit/>
          </a:bodyPr>
          <a:lstStyle/>
          <a:p>
            <a:pPr marL="12700">
              <a:lnSpc>
                <a:spcPct val="100000"/>
              </a:lnSpc>
              <a:spcBef>
                <a:spcPts val="100"/>
              </a:spcBef>
            </a:pPr>
            <a:r>
              <a:rPr sz="4000" b="0" spc="95" dirty="0">
                <a:latin typeface="Times New Roman"/>
                <a:cs typeface="Times New Roman"/>
              </a:rPr>
              <a:t>Accessing </a:t>
            </a:r>
            <a:r>
              <a:rPr sz="4000" b="0" spc="165" dirty="0">
                <a:latin typeface="Times New Roman"/>
                <a:cs typeface="Times New Roman"/>
              </a:rPr>
              <a:t>Data</a:t>
            </a:r>
            <a:r>
              <a:rPr sz="4000" b="0" spc="-409" dirty="0">
                <a:latin typeface="Times New Roman"/>
                <a:cs typeface="Times New Roman"/>
              </a:rPr>
              <a:t> </a:t>
            </a:r>
            <a:r>
              <a:rPr sz="4000" b="0" spc="150" dirty="0">
                <a:latin typeface="Times New Roman"/>
                <a:cs typeface="Times New Roman"/>
              </a:rPr>
              <a:t>Group-wise</a:t>
            </a:r>
            <a:endParaRPr sz="4000">
              <a:latin typeface="Times New Roman"/>
              <a:cs typeface="Times New Roman"/>
            </a:endParaRPr>
          </a:p>
        </p:txBody>
      </p:sp>
      <p:sp>
        <p:nvSpPr>
          <p:cNvPr id="3" name="object 3"/>
          <p:cNvSpPr txBox="1"/>
          <p:nvPr/>
        </p:nvSpPr>
        <p:spPr>
          <a:xfrm>
            <a:off x="503936" y="944371"/>
            <a:ext cx="8137525" cy="1868805"/>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Lst>
            </a:pPr>
            <a:r>
              <a:rPr sz="2400" spc="80" dirty="0">
                <a:latin typeface="Times New Roman"/>
                <a:cs typeface="Times New Roman"/>
              </a:rPr>
              <a:t>Indexes</a:t>
            </a:r>
            <a:r>
              <a:rPr sz="2400" spc="-110" dirty="0">
                <a:latin typeface="Times New Roman"/>
                <a:cs typeface="Times New Roman"/>
              </a:rPr>
              <a:t> </a:t>
            </a:r>
            <a:r>
              <a:rPr sz="2400" spc="65" dirty="0">
                <a:latin typeface="Times New Roman"/>
                <a:cs typeface="Times New Roman"/>
              </a:rPr>
              <a:t>are</a:t>
            </a:r>
            <a:r>
              <a:rPr sz="2400" spc="-90" dirty="0">
                <a:latin typeface="Times New Roman"/>
                <a:cs typeface="Times New Roman"/>
              </a:rPr>
              <a:t> </a:t>
            </a:r>
            <a:r>
              <a:rPr sz="2400" spc="70" dirty="0">
                <a:latin typeface="Times New Roman"/>
                <a:cs typeface="Times New Roman"/>
              </a:rPr>
              <a:t>useful</a:t>
            </a:r>
            <a:r>
              <a:rPr sz="2400" spc="-75" dirty="0">
                <a:latin typeface="Times New Roman"/>
                <a:cs typeface="Times New Roman"/>
              </a:rPr>
              <a:t> </a:t>
            </a:r>
            <a:r>
              <a:rPr sz="2400" spc="135" dirty="0">
                <a:latin typeface="Times New Roman"/>
                <a:cs typeface="Times New Roman"/>
              </a:rPr>
              <a:t>when</a:t>
            </a:r>
            <a:r>
              <a:rPr sz="2400" spc="-95" dirty="0">
                <a:latin typeface="Times New Roman"/>
                <a:cs typeface="Times New Roman"/>
              </a:rPr>
              <a:t> </a:t>
            </a:r>
            <a:r>
              <a:rPr sz="2400" spc="95" dirty="0">
                <a:latin typeface="Times New Roman"/>
                <a:cs typeface="Times New Roman"/>
              </a:rPr>
              <a:t>data</a:t>
            </a:r>
            <a:r>
              <a:rPr sz="2400" spc="-75" dirty="0">
                <a:latin typeface="Times New Roman"/>
                <a:cs typeface="Times New Roman"/>
              </a:rPr>
              <a:t> </a:t>
            </a:r>
            <a:r>
              <a:rPr sz="2400" spc="10" dirty="0">
                <a:latin typeface="Times New Roman"/>
                <a:cs typeface="Times New Roman"/>
              </a:rPr>
              <a:t>is</a:t>
            </a:r>
            <a:r>
              <a:rPr sz="2400" spc="-90" dirty="0">
                <a:latin typeface="Times New Roman"/>
                <a:cs typeface="Times New Roman"/>
              </a:rPr>
              <a:t> </a:t>
            </a:r>
            <a:r>
              <a:rPr sz="2400" spc="40" dirty="0">
                <a:latin typeface="Times New Roman"/>
                <a:cs typeface="Times New Roman"/>
              </a:rPr>
              <a:t>accessed</a:t>
            </a:r>
            <a:r>
              <a:rPr sz="2400" spc="-100" dirty="0">
                <a:latin typeface="Times New Roman"/>
                <a:cs typeface="Times New Roman"/>
              </a:rPr>
              <a:t> </a:t>
            </a:r>
            <a:r>
              <a:rPr sz="2400" spc="55" dirty="0">
                <a:latin typeface="Times New Roman"/>
                <a:cs typeface="Times New Roman"/>
              </a:rPr>
              <a:t>group-wise.</a:t>
            </a:r>
            <a:endParaRPr sz="2400">
              <a:latin typeface="Times New Roman"/>
              <a:cs typeface="Times New Roman"/>
            </a:endParaRPr>
          </a:p>
          <a:p>
            <a:pPr marL="12700" marR="5080" algn="just">
              <a:lnSpc>
                <a:spcPct val="102000"/>
              </a:lnSpc>
              <a:spcBef>
                <a:spcPts val="2820"/>
              </a:spcBef>
            </a:pPr>
            <a:r>
              <a:rPr sz="2400" spc="65" dirty="0">
                <a:latin typeface="Times New Roman"/>
                <a:cs typeface="Times New Roman"/>
              </a:rPr>
              <a:t>For example, </a:t>
            </a:r>
            <a:r>
              <a:rPr sz="2400" spc="95" dirty="0">
                <a:latin typeface="Times New Roman"/>
                <a:cs typeface="Times New Roman"/>
              </a:rPr>
              <a:t>you </a:t>
            </a:r>
            <a:r>
              <a:rPr sz="2400" spc="80" dirty="0">
                <a:latin typeface="Times New Roman"/>
                <a:cs typeface="Times New Roman"/>
              </a:rPr>
              <a:t>make </a:t>
            </a:r>
            <a:r>
              <a:rPr sz="2400" spc="75" dirty="0">
                <a:latin typeface="Times New Roman"/>
                <a:cs typeface="Times New Roman"/>
              </a:rPr>
              <a:t>modifications </a:t>
            </a:r>
            <a:r>
              <a:rPr sz="2400" spc="130" dirty="0">
                <a:latin typeface="Times New Roman"/>
                <a:cs typeface="Times New Roman"/>
              </a:rPr>
              <a:t>to </a:t>
            </a:r>
            <a:r>
              <a:rPr sz="2400" spc="135" dirty="0">
                <a:latin typeface="Times New Roman"/>
                <a:cs typeface="Times New Roman"/>
              </a:rPr>
              <a:t>the </a:t>
            </a:r>
            <a:r>
              <a:rPr sz="2400" spc="75" dirty="0">
                <a:latin typeface="Times New Roman"/>
                <a:cs typeface="Times New Roman"/>
              </a:rPr>
              <a:t>conveyance  </a:t>
            </a:r>
            <a:r>
              <a:rPr sz="2400" spc="60" dirty="0">
                <a:latin typeface="Times New Roman"/>
                <a:cs typeface="Times New Roman"/>
              </a:rPr>
              <a:t>allowance </a:t>
            </a:r>
            <a:r>
              <a:rPr sz="2400" spc="80" dirty="0">
                <a:latin typeface="Times New Roman"/>
                <a:cs typeface="Times New Roman"/>
              </a:rPr>
              <a:t>for </a:t>
            </a:r>
            <a:r>
              <a:rPr sz="2400" spc="15" dirty="0">
                <a:latin typeface="Times New Roman"/>
                <a:cs typeface="Times New Roman"/>
              </a:rPr>
              <a:t>all </a:t>
            </a:r>
            <a:r>
              <a:rPr sz="2400" spc="55" dirty="0">
                <a:latin typeface="Times New Roman"/>
                <a:cs typeface="Times New Roman"/>
              </a:rPr>
              <a:t>employees </a:t>
            </a:r>
            <a:r>
              <a:rPr sz="2400" spc="70" dirty="0">
                <a:latin typeface="Times New Roman"/>
                <a:cs typeface="Times New Roman"/>
              </a:rPr>
              <a:t>based </a:t>
            </a:r>
            <a:r>
              <a:rPr sz="2400" spc="160" dirty="0">
                <a:latin typeface="Times New Roman"/>
                <a:cs typeface="Times New Roman"/>
              </a:rPr>
              <a:t>on </a:t>
            </a:r>
            <a:r>
              <a:rPr sz="2400" spc="135" dirty="0">
                <a:latin typeface="Times New Roman"/>
                <a:cs typeface="Times New Roman"/>
              </a:rPr>
              <a:t>the </a:t>
            </a:r>
            <a:r>
              <a:rPr sz="2400" spc="114" dirty="0">
                <a:latin typeface="Times New Roman"/>
                <a:cs typeface="Times New Roman"/>
              </a:rPr>
              <a:t>department </a:t>
            </a:r>
            <a:r>
              <a:rPr sz="2400" spc="100" dirty="0">
                <a:latin typeface="Times New Roman"/>
                <a:cs typeface="Times New Roman"/>
              </a:rPr>
              <a:t>they  </a:t>
            </a:r>
            <a:r>
              <a:rPr sz="2400" spc="95" dirty="0">
                <a:latin typeface="Times New Roman"/>
                <a:cs typeface="Times New Roman"/>
              </a:rPr>
              <a:t>work</a:t>
            </a:r>
            <a:r>
              <a:rPr sz="2400" spc="-85" dirty="0">
                <a:latin typeface="Times New Roman"/>
                <a:cs typeface="Times New Roman"/>
              </a:rPr>
              <a:t> </a:t>
            </a:r>
            <a:r>
              <a:rPr sz="2400" spc="75" dirty="0">
                <a:latin typeface="Times New Roman"/>
                <a:cs typeface="Times New Roman"/>
              </a:rPr>
              <a:t>in.</a:t>
            </a:r>
            <a:endParaRPr sz="2400">
              <a:latin typeface="Times New Roman"/>
              <a:cs typeface="Times New Roman"/>
            </a:endParaRPr>
          </a:p>
        </p:txBody>
      </p:sp>
      <p:pic>
        <p:nvPicPr>
          <p:cNvPr id="4" name="object 4"/>
          <p:cNvPicPr/>
          <p:nvPr/>
        </p:nvPicPr>
        <p:blipFill>
          <a:blip r:embed="rId3" cstate="print"/>
          <a:stretch>
            <a:fillRect/>
          </a:stretch>
        </p:blipFill>
        <p:spPr>
          <a:xfrm>
            <a:off x="1800605" y="3018282"/>
            <a:ext cx="5641086" cy="2762250"/>
          </a:xfrm>
          <a:prstGeom prst="rect">
            <a:avLst/>
          </a:prstGeom>
        </p:spPr>
      </p:pic>
      <p:sp>
        <p:nvSpPr>
          <p:cNvPr id="5" name="object 5"/>
          <p:cNvSpPr txBox="1"/>
          <p:nvPr/>
        </p:nvSpPr>
        <p:spPr>
          <a:xfrm>
            <a:off x="3583178" y="5779008"/>
            <a:ext cx="211137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Accessing </a:t>
            </a:r>
            <a:r>
              <a:rPr sz="1400" b="1" spc="-10" dirty="0">
                <a:latin typeface="Times New Roman"/>
                <a:cs typeface="Times New Roman"/>
              </a:rPr>
              <a:t>Data</a:t>
            </a:r>
            <a:r>
              <a:rPr sz="1400" b="1" spc="-185" dirty="0">
                <a:latin typeface="Times New Roman"/>
                <a:cs typeface="Times New Roman"/>
              </a:rPr>
              <a:t> </a:t>
            </a:r>
            <a:r>
              <a:rPr sz="1400" b="1" dirty="0">
                <a:latin typeface="Times New Roman"/>
                <a:cs typeface="Times New Roman"/>
              </a:rPr>
              <a:t>Group-wise</a:t>
            </a:r>
            <a:endParaRPr sz="14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11</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8525" y="26416"/>
            <a:ext cx="4211955" cy="635635"/>
          </a:xfrm>
          <a:prstGeom prst="rect">
            <a:avLst/>
          </a:prstGeom>
        </p:spPr>
        <p:txBody>
          <a:bodyPr vert="horz" wrap="square" lIns="0" tIns="12700" rIns="0" bIns="0" rtlCol="0">
            <a:spAutoFit/>
          </a:bodyPr>
          <a:lstStyle/>
          <a:p>
            <a:pPr marL="12700">
              <a:lnSpc>
                <a:spcPct val="100000"/>
              </a:lnSpc>
              <a:spcBef>
                <a:spcPts val="100"/>
              </a:spcBef>
            </a:pPr>
            <a:r>
              <a:rPr sz="4000" b="0" spc="175" dirty="0">
                <a:latin typeface="Times New Roman"/>
                <a:cs typeface="Times New Roman"/>
              </a:rPr>
              <a:t>Index</a:t>
            </a:r>
            <a:r>
              <a:rPr sz="4000" b="0" spc="-204" dirty="0">
                <a:latin typeface="Times New Roman"/>
                <a:cs typeface="Times New Roman"/>
              </a:rPr>
              <a:t> </a:t>
            </a:r>
            <a:r>
              <a:rPr sz="4000" b="0" spc="175" dirty="0">
                <a:latin typeface="Times New Roman"/>
                <a:cs typeface="Times New Roman"/>
              </a:rPr>
              <a:t>Architecture</a:t>
            </a:r>
            <a:endParaRPr sz="4000">
              <a:latin typeface="Times New Roman"/>
              <a:cs typeface="Times New Roman"/>
            </a:endParaRPr>
          </a:p>
        </p:txBody>
      </p:sp>
      <p:pic>
        <p:nvPicPr>
          <p:cNvPr id="3" name="object 3"/>
          <p:cNvPicPr/>
          <p:nvPr/>
        </p:nvPicPr>
        <p:blipFill>
          <a:blip r:embed="rId3" cstate="print"/>
          <a:stretch>
            <a:fillRect/>
          </a:stretch>
        </p:blipFill>
        <p:spPr>
          <a:xfrm>
            <a:off x="2105405" y="2981705"/>
            <a:ext cx="4811268" cy="3295650"/>
          </a:xfrm>
          <a:prstGeom prst="rect">
            <a:avLst/>
          </a:prstGeom>
        </p:spPr>
      </p:pic>
      <p:sp>
        <p:nvSpPr>
          <p:cNvPr id="4" name="object 4"/>
          <p:cNvSpPr txBox="1"/>
          <p:nvPr/>
        </p:nvSpPr>
        <p:spPr>
          <a:xfrm>
            <a:off x="3812540" y="6268211"/>
            <a:ext cx="146812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Index</a:t>
            </a:r>
            <a:r>
              <a:rPr sz="1400" b="1" spc="-110" dirty="0">
                <a:latin typeface="Times New Roman"/>
                <a:cs typeface="Times New Roman"/>
              </a:rPr>
              <a:t> </a:t>
            </a:r>
            <a:r>
              <a:rPr sz="1400" b="1" spc="-5" dirty="0">
                <a:latin typeface="Times New Roman"/>
                <a:cs typeface="Times New Roman"/>
              </a:rPr>
              <a:t>Architecture</a:t>
            </a:r>
            <a:endParaRPr sz="14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12</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graphicFrame>
        <p:nvGraphicFramePr>
          <p:cNvPr id="5" name="object 5"/>
          <p:cNvGraphicFramePr>
            <a:graphicFrameLocks noGrp="1"/>
          </p:cNvGraphicFramePr>
          <p:nvPr/>
        </p:nvGraphicFramePr>
        <p:xfrm>
          <a:off x="634542" y="1014094"/>
          <a:ext cx="7887970" cy="1661158"/>
        </p:xfrm>
        <a:graphic>
          <a:graphicData uri="http://schemas.openxmlformats.org/drawingml/2006/table">
            <a:tbl>
              <a:tblPr firstRow="1" bandRow="1">
                <a:tableStyleId>{2D5ABB26-0587-4C30-8999-92F81FD0307C}</a:tableStyleId>
              </a:tblPr>
              <a:tblGrid>
                <a:gridCol w="7887970">
                  <a:extLst>
                    <a:ext uri="{9D8B030D-6E8A-4147-A177-3AD203B41FA5}">
                      <a16:colId xmlns:a16="http://schemas.microsoft.com/office/drawing/2014/main" val="20000"/>
                    </a:ext>
                  </a:extLst>
                </a:gridCol>
              </a:tblGrid>
              <a:tr h="640079">
                <a:tc>
                  <a:txBody>
                    <a:bodyPr/>
                    <a:lstStyle/>
                    <a:p>
                      <a:pPr marL="90805" marR="83820">
                        <a:lnSpc>
                          <a:spcPts val="2160"/>
                        </a:lnSpc>
                        <a:spcBef>
                          <a:spcPts val="335"/>
                        </a:spcBef>
                        <a:tabLst>
                          <a:tab pos="1063625" algn="l"/>
                          <a:tab pos="3162300" algn="l"/>
                          <a:tab pos="4402455" algn="l"/>
                          <a:tab pos="5163185" algn="l"/>
                        </a:tabLst>
                      </a:pPr>
                      <a:r>
                        <a:rPr sz="2000" spc="-5" dirty="0">
                          <a:latin typeface="Arial"/>
                          <a:cs typeface="Arial"/>
                        </a:rPr>
                        <a:t>In</a:t>
                      </a:r>
                      <a:r>
                        <a:rPr sz="2000" spc="445" dirty="0">
                          <a:latin typeface="Arial"/>
                          <a:cs typeface="Arial"/>
                        </a:rPr>
                        <a:t> </a:t>
                      </a:r>
                      <a:r>
                        <a:rPr sz="2000" spc="-5" dirty="0">
                          <a:latin typeface="Arial"/>
                          <a:cs typeface="Arial"/>
                        </a:rPr>
                        <a:t>SQL	Server,</a:t>
                      </a:r>
                      <a:r>
                        <a:rPr sz="2000" spc="445" dirty="0">
                          <a:latin typeface="Arial"/>
                          <a:cs typeface="Arial"/>
                        </a:rPr>
                        <a:t> </a:t>
                      </a:r>
                      <a:r>
                        <a:rPr sz="2000" spc="-5" dirty="0">
                          <a:latin typeface="Arial"/>
                          <a:cs typeface="Arial"/>
                        </a:rPr>
                        <a:t>data</a:t>
                      </a:r>
                      <a:r>
                        <a:rPr sz="2000" spc="440" dirty="0">
                          <a:latin typeface="Arial"/>
                          <a:cs typeface="Arial"/>
                        </a:rPr>
                        <a:t> </a:t>
                      </a:r>
                      <a:r>
                        <a:rPr sz="2000" spc="-5" dirty="0">
                          <a:latin typeface="Arial"/>
                          <a:cs typeface="Arial"/>
                        </a:rPr>
                        <a:t>can	be</a:t>
                      </a:r>
                      <a:r>
                        <a:rPr sz="2000" spc="445" dirty="0">
                          <a:latin typeface="Arial"/>
                          <a:cs typeface="Arial"/>
                        </a:rPr>
                        <a:t> </a:t>
                      </a:r>
                      <a:r>
                        <a:rPr sz="2000" spc="-5" dirty="0">
                          <a:latin typeface="Arial"/>
                          <a:cs typeface="Arial"/>
                        </a:rPr>
                        <a:t>stored	either	in a sorted </a:t>
                      </a:r>
                      <a:r>
                        <a:rPr sz="2000" spc="-10" dirty="0">
                          <a:latin typeface="Arial"/>
                          <a:cs typeface="Arial"/>
                        </a:rPr>
                        <a:t>or </a:t>
                      </a:r>
                      <a:r>
                        <a:rPr sz="2000" spc="-5" dirty="0">
                          <a:latin typeface="Arial"/>
                          <a:cs typeface="Arial"/>
                        </a:rPr>
                        <a:t>random  manner.</a:t>
                      </a:r>
                      <a:endParaRPr sz="2000">
                        <a:latin typeface="Arial"/>
                        <a:cs typeface="Arial"/>
                      </a:endParaRPr>
                    </a:p>
                  </a:txBody>
                  <a:tcPr marL="0" marR="0" marT="42545" marB="0">
                    <a:lnL w="12700">
                      <a:solidFill>
                        <a:srgbClr val="4AACC5"/>
                      </a:solidFill>
                      <a:prstDash val="solid"/>
                    </a:lnL>
                    <a:lnR w="12700">
                      <a:solidFill>
                        <a:srgbClr val="4AACC5"/>
                      </a:solidFill>
                      <a:prstDash val="solid"/>
                    </a:lnR>
                    <a:lnT w="12700">
                      <a:solidFill>
                        <a:srgbClr val="4AACC5"/>
                      </a:solidFill>
                      <a:prstDash val="solid"/>
                    </a:lnT>
                    <a:lnB w="12700">
                      <a:solidFill>
                        <a:srgbClr val="4AACC5"/>
                      </a:solidFill>
                      <a:prstDash val="solid"/>
                    </a:lnB>
                    <a:solidFill>
                      <a:srgbClr val="E9F0F5"/>
                    </a:solidFill>
                  </a:tcPr>
                </a:tc>
                <a:extLst>
                  <a:ext uri="{0D108BD9-81ED-4DB2-BD59-A6C34878D82A}">
                    <a16:rowId xmlns:a16="http://schemas.microsoft.com/office/drawing/2014/main" val="10000"/>
                  </a:ext>
                </a:extLst>
              </a:tr>
              <a:tr h="647700">
                <a:tc>
                  <a:txBody>
                    <a:bodyPr/>
                    <a:lstStyle/>
                    <a:p>
                      <a:pPr marL="90805" marR="85090">
                        <a:lnSpc>
                          <a:spcPts val="1980"/>
                        </a:lnSpc>
                        <a:spcBef>
                          <a:spcPts val="480"/>
                        </a:spcBef>
                      </a:pPr>
                      <a:r>
                        <a:rPr sz="2000" spc="-5" dirty="0">
                          <a:latin typeface="Arial"/>
                          <a:cs typeface="Arial"/>
                        </a:rPr>
                        <a:t>If </a:t>
                      </a:r>
                      <a:r>
                        <a:rPr sz="2000" spc="-10" dirty="0">
                          <a:latin typeface="Arial"/>
                          <a:cs typeface="Arial"/>
                        </a:rPr>
                        <a:t>it </a:t>
                      </a:r>
                      <a:r>
                        <a:rPr sz="2000" spc="-5" dirty="0">
                          <a:latin typeface="Arial"/>
                          <a:cs typeface="Arial"/>
                        </a:rPr>
                        <a:t>is stored in a sorted manner then, data is present in clustered  structure.</a:t>
                      </a:r>
                      <a:endParaRPr sz="2000">
                        <a:latin typeface="Arial"/>
                        <a:cs typeface="Arial"/>
                      </a:endParaRPr>
                    </a:p>
                  </a:txBody>
                  <a:tcPr marL="0" marR="0" marT="60960" marB="0">
                    <a:lnL w="12700">
                      <a:solidFill>
                        <a:srgbClr val="4AACC5"/>
                      </a:solidFill>
                      <a:prstDash val="solid"/>
                    </a:lnL>
                    <a:lnR w="12700">
                      <a:solidFill>
                        <a:srgbClr val="4AACC5"/>
                      </a:solidFill>
                      <a:prstDash val="solid"/>
                    </a:lnR>
                    <a:lnT w="12700">
                      <a:solidFill>
                        <a:srgbClr val="4AACC5"/>
                      </a:solidFill>
                      <a:prstDash val="solid"/>
                    </a:lnT>
                    <a:lnB w="12700">
                      <a:solidFill>
                        <a:srgbClr val="4AACC5"/>
                      </a:solidFill>
                      <a:prstDash val="solid"/>
                    </a:lnB>
                    <a:solidFill>
                      <a:srgbClr val="D0E2EA"/>
                    </a:solidFill>
                  </a:tcPr>
                </a:tc>
                <a:extLst>
                  <a:ext uri="{0D108BD9-81ED-4DB2-BD59-A6C34878D82A}">
                    <a16:rowId xmlns:a16="http://schemas.microsoft.com/office/drawing/2014/main" val="10001"/>
                  </a:ext>
                </a:extLst>
              </a:tr>
              <a:tr h="373379">
                <a:tc>
                  <a:txBody>
                    <a:bodyPr/>
                    <a:lstStyle/>
                    <a:p>
                      <a:pPr marL="90805">
                        <a:lnSpc>
                          <a:spcPts val="2285"/>
                        </a:lnSpc>
                      </a:pPr>
                      <a:r>
                        <a:rPr sz="2000" dirty="0">
                          <a:latin typeface="Arial"/>
                          <a:cs typeface="Arial"/>
                        </a:rPr>
                        <a:t>If </a:t>
                      </a:r>
                      <a:r>
                        <a:rPr sz="2000" spc="-5" dirty="0">
                          <a:latin typeface="Arial"/>
                          <a:cs typeface="Arial"/>
                        </a:rPr>
                        <a:t>stored at random </a:t>
                      </a:r>
                      <a:r>
                        <a:rPr sz="2000" dirty="0">
                          <a:latin typeface="Arial"/>
                          <a:cs typeface="Arial"/>
                        </a:rPr>
                        <a:t>then, its </a:t>
                      </a:r>
                      <a:r>
                        <a:rPr sz="2000" spc="-5" dirty="0">
                          <a:latin typeface="Arial"/>
                          <a:cs typeface="Arial"/>
                        </a:rPr>
                        <a:t>present in a heap</a:t>
                      </a:r>
                      <a:r>
                        <a:rPr sz="2000" spc="-60" dirty="0">
                          <a:latin typeface="Arial"/>
                          <a:cs typeface="Arial"/>
                        </a:rPr>
                        <a:t> </a:t>
                      </a:r>
                      <a:r>
                        <a:rPr sz="2000" spc="-5" dirty="0">
                          <a:latin typeface="Arial"/>
                          <a:cs typeface="Arial"/>
                        </a:rPr>
                        <a:t>structure.</a:t>
                      </a:r>
                      <a:endParaRPr sz="2000">
                        <a:latin typeface="Arial"/>
                        <a:cs typeface="Arial"/>
                      </a:endParaRPr>
                    </a:p>
                  </a:txBody>
                  <a:tcPr marL="0" marR="0" marT="0" marB="0">
                    <a:lnL w="12700">
                      <a:solidFill>
                        <a:srgbClr val="4AACC5"/>
                      </a:solidFill>
                      <a:prstDash val="solid"/>
                    </a:lnL>
                    <a:lnR w="12700">
                      <a:solidFill>
                        <a:srgbClr val="4AACC5"/>
                      </a:solidFill>
                      <a:prstDash val="solid"/>
                    </a:lnR>
                    <a:lnT w="12700">
                      <a:solidFill>
                        <a:srgbClr val="4AACC5"/>
                      </a:solidFill>
                      <a:prstDash val="solid"/>
                    </a:lnT>
                    <a:lnB w="12700">
                      <a:solidFill>
                        <a:srgbClr val="4AACC5"/>
                      </a:solidFill>
                      <a:prstDash val="solid"/>
                    </a:lnB>
                    <a:solidFill>
                      <a:srgbClr val="E9F0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154051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Times New Roman"/>
                <a:cs typeface="Times New Roman"/>
              </a:rPr>
              <a:t>B</a:t>
            </a:r>
            <a:r>
              <a:rPr sz="4000" b="0" spc="25" dirty="0">
                <a:latin typeface="Times New Roman"/>
                <a:cs typeface="Times New Roman"/>
              </a:rPr>
              <a:t>-</a:t>
            </a:r>
            <a:r>
              <a:rPr sz="4000" b="0" spc="175" dirty="0">
                <a:latin typeface="Times New Roman"/>
                <a:cs typeface="Times New Roman"/>
              </a:rPr>
              <a:t>Tree</a:t>
            </a:r>
            <a:endParaRPr sz="4000">
              <a:latin typeface="Times New Roman"/>
              <a:cs typeface="Times New Roman"/>
            </a:endParaRPr>
          </a:p>
        </p:txBody>
      </p:sp>
      <p:pic>
        <p:nvPicPr>
          <p:cNvPr id="3" name="object 3"/>
          <p:cNvPicPr/>
          <p:nvPr/>
        </p:nvPicPr>
        <p:blipFill>
          <a:blip r:embed="rId3" cstate="print"/>
          <a:stretch>
            <a:fillRect/>
          </a:stretch>
        </p:blipFill>
        <p:spPr>
          <a:xfrm>
            <a:off x="1702307" y="2928366"/>
            <a:ext cx="6019800" cy="3071622"/>
          </a:xfrm>
          <a:prstGeom prst="rect">
            <a:avLst/>
          </a:prstGeom>
        </p:spPr>
      </p:pic>
      <p:sp>
        <p:nvSpPr>
          <p:cNvPr id="4" name="object 4"/>
          <p:cNvSpPr txBox="1"/>
          <p:nvPr/>
        </p:nvSpPr>
        <p:spPr>
          <a:xfrm>
            <a:off x="4425441" y="6006591"/>
            <a:ext cx="54864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B-Tree</a:t>
            </a:r>
            <a:endParaRPr sz="1400">
              <a:latin typeface="Times New Roman"/>
              <a:cs typeface="Times New Roman"/>
            </a:endParaRPr>
          </a:p>
        </p:txBody>
      </p:sp>
      <p:sp>
        <p:nvSpPr>
          <p:cNvPr id="5" name="object 5"/>
          <p:cNvSpPr/>
          <p:nvPr/>
        </p:nvSpPr>
        <p:spPr>
          <a:xfrm>
            <a:off x="381000" y="1053083"/>
            <a:ext cx="8382000" cy="520065"/>
          </a:xfrm>
          <a:custGeom>
            <a:avLst/>
            <a:gdLst/>
            <a:ahLst/>
            <a:cxnLst/>
            <a:rect l="l" t="t" r="r" b="b"/>
            <a:pathLst>
              <a:path w="8382000" h="520065">
                <a:moveTo>
                  <a:pt x="8122158" y="0"/>
                </a:moveTo>
                <a:lnTo>
                  <a:pt x="259842" y="0"/>
                </a:lnTo>
                <a:lnTo>
                  <a:pt x="213134" y="4186"/>
                </a:lnTo>
                <a:lnTo>
                  <a:pt x="169173" y="16255"/>
                </a:lnTo>
                <a:lnTo>
                  <a:pt x="128693" y="35475"/>
                </a:lnTo>
                <a:lnTo>
                  <a:pt x="92427" y="61110"/>
                </a:lnTo>
                <a:lnTo>
                  <a:pt x="61110" y="92427"/>
                </a:lnTo>
                <a:lnTo>
                  <a:pt x="35475" y="128693"/>
                </a:lnTo>
                <a:lnTo>
                  <a:pt x="16255" y="169173"/>
                </a:lnTo>
                <a:lnTo>
                  <a:pt x="4186" y="213134"/>
                </a:lnTo>
                <a:lnTo>
                  <a:pt x="0" y="259841"/>
                </a:lnTo>
                <a:lnTo>
                  <a:pt x="4186" y="306549"/>
                </a:lnTo>
                <a:lnTo>
                  <a:pt x="16256" y="350510"/>
                </a:lnTo>
                <a:lnTo>
                  <a:pt x="35475" y="390990"/>
                </a:lnTo>
                <a:lnTo>
                  <a:pt x="61110" y="427256"/>
                </a:lnTo>
                <a:lnTo>
                  <a:pt x="92427" y="458573"/>
                </a:lnTo>
                <a:lnTo>
                  <a:pt x="128693" y="484208"/>
                </a:lnTo>
                <a:lnTo>
                  <a:pt x="169173" y="503427"/>
                </a:lnTo>
                <a:lnTo>
                  <a:pt x="213134" y="515497"/>
                </a:lnTo>
                <a:lnTo>
                  <a:pt x="259842" y="519683"/>
                </a:lnTo>
                <a:lnTo>
                  <a:pt x="8122158" y="519683"/>
                </a:lnTo>
                <a:lnTo>
                  <a:pt x="8168865" y="515497"/>
                </a:lnTo>
                <a:lnTo>
                  <a:pt x="8212826" y="503427"/>
                </a:lnTo>
                <a:lnTo>
                  <a:pt x="8253306" y="484208"/>
                </a:lnTo>
                <a:lnTo>
                  <a:pt x="8289572" y="458573"/>
                </a:lnTo>
                <a:lnTo>
                  <a:pt x="8320889" y="427256"/>
                </a:lnTo>
                <a:lnTo>
                  <a:pt x="8346524" y="390990"/>
                </a:lnTo>
                <a:lnTo>
                  <a:pt x="8365744" y="350510"/>
                </a:lnTo>
                <a:lnTo>
                  <a:pt x="8377813" y="306549"/>
                </a:lnTo>
                <a:lnTo>
                  <a:pt x="8382000" y="259841"/>
                </a:lnTo>
                <a:lnTo>
                  <a:pt x="8377813" y="213134"/>
                </a:lnTo>
                <a:lnTo>
                  <a:pt x="8365744" y="169173"/>
                </a:lnTo>
                <a:lnTo>
                  <a:pt x="8346524" y="128693"/>
                </a:lnTo>
                <a:lnTo>
                  <a:pt x="8320889" y="92427"/>
                </a:lnTo>
                <a:lnTo>
                  <a:pt x="8289572" y="61110"/>
                </a:lnTo>
                <a:lnTo>
                  <a:pt x="8253306" y="35475"/>
                </a:lnTo>
                <a:lnTo>
                  <a:pt x="8212826" y="16255"/>
                </a:lnTo>
                <a:lnTo>
                  <a:pt x="8168865" y="4186"/>
                </a:lnTo>
                <a:lnTo>
                  <a:pt x="8122158" y="0"/>
                </a:lnTo>
                <a:close/>
              </a:path>
            </a:pathLst>
          </a:custGeom>
          <a:solidFill>
            <a:srgbClr val="0580C3"/>
          </a:solidFill>
        </p:spPr>
        <p:txBody>
          <a:bodyPr wrap="square" lIns="0" tIns="0" rIns="0" bIns="0" rtlCol="0"/>
          <a:lstStyle/>
          <a:p>
            <a:endParaRPr/>
          </a:p>
        </p:txBody>
      </p:sp>
      <p:sp>
        <p:nvSpPr>
          <p:cNvPr id="6" name="object 6"/>
          <p:cNvSpPr/>
          <p:nvPr/>
        </p:nvSpPr>
        <p:spPr>
          <a:xfrm>
            <a:off x="292608" y="1851660"/>
            <a:ext cx="8559165" cy="909319"/>
          </a:xfrm>
          <a:custGeom>
            <a:avLst/>
            <a:gdLst/>
            <a:ahLst/>
            <a:cxnLst/>
            <a:rect l="l" t="t" r="r" b="b"/>
            <a:pathLst>
              <a:path w="8559165" h="909319">
                <a:moveTo>
                  <a:pt x="8104251" y="0"/>
                </a:moveTo>
                <a:lnTo>
                  <a:pt x="454533" y="0"/>
                </a:lnTo>
                <a:lnTo>
                  <a:pt x="408060" y="2346"/>
                </a:lnTo>
                <a:lnTo>
                  <a:pt x="362929" y="9232"/>
                </a:lnTo>
                <a:lnTo>
                  <a:pt x="319370" y="20430"/>
                </a:lnTo>
                <a:lnTo>
                  <a:pt x="277609" y="35712"/>
                </a:lnTo>
                <a:lnTo>
                  <a:pt x="237877" y="54850"/>
                </a:lnTo>
                <a:lnTo>
                  <a:pt x="200400" y="77614"/>
                </a:lnTo>
                <a:lnTo>
                  <a:pt x="165409" y="103777"/>
                </a:lnTo>
                <a:lnTo>
                  <a:pt x="133130" y="133111"/>
                </a:lnTo>
                <a:lnTo>
                  <a:pt x="103794" y="165388"/>
                </a:lnTo>
                <a:lnTo>
                  <a:pt x="77628" y="200378"/>
                </a:lnTo>
                <a:lnTo>
                  <a:pt x="54860" y="237854"/>
                </a:lnTo>
                <a:lnTo>
                  <a:pt x="35719" y="277588"/>
                </a:lnTo>
                <a:lnTo>
                  <a:pt x="20435" y="319351"/>
                </a:lnTo>
                <a:lnTo>
                  <a:pt x="9234" y="362915"/>
                </a:lnTo>
                <a:lnTo>
                  <a:pt x="2346" y="408051"/>
                </a:lnTo>
                <a:lnTo>
                  <a:pt x="0" y="454533"/>
                </a:lnTo>
                <a:lnTo>
                  <a:pt x="2346" y="501014"/>
                </a:lnTo>
                <a:lnTo>
                  <a:pt x="9234" y="546150"/>
                </a:lnTo>
                <a:lnTo>
                  <a:pt x="20435" y="589714"/>
                </a:lnTo>
                <a:lnTo>
                  <a:pt x="35719" y="631477"/>
                </a:lnTo>
                <a:lnTo>
                  <a:pt x="54860" y="671211"/>
                </a:lnTo>
                <a:lnTo>
                  <a:pt x="77628" y="708687"/>
                </a:lnTo>
                <a:lnTo>
                  <a:pt x="103794" y="743677"/>
                </a:lnTo>
                <a:lnTo>
                  <a:pt x="133130" y="775954"/>
                </a:lnTo>
                <a:lnTo>
                  <a:pt x="165409" y="805288"/>
                </a:lnTo>
                <a:lnTo>
                  <a:pt x="200400" y="831451"/>
                </a:lnTo>
                <a:lnTo>
                  <a:pt x="237877" y="854215"/>
                </a:lnTo>
                <a:lnTo>
                  <a:pt x="277609" y="873353"/>
                </a:lnTo>
                <a:lnTo>
                  <a:pt x="319370" y="888635"/>
                </a:lnTo>
                <a:lnTo>
                  <a:pt x="362929" y="899833"/>
                </a:lnTo>
                <a:lnTo>
                  <a:pt x="408060" y="906719"/>
                </a:lnTo>
                <a:lnTo>
                  <a:pt x="454533" y="909066"/>
                </a:lnTo>
                <a:lnTo>
                  <a:pt x="8104251" y="909066"/>
                </a:lnTo>
                <a:lnTo>
                  <a:pt x="8150732" y="906719"/>
                </a:lnTo>
                <a:lnTo>
                  <a:pt x="8195868" y="899833"/>
                </a:lnTo>
                <a:lnTo>
                  <a:pt x="8239432" y="888635"/>
                </a:lnTo>
                <a:lnTo>
                  <a:pt x="8281195" y="873353"/>
                </a:lnTo>
                <a:lnTo>
                  <a:pt x="8320929" y="854215"/>
                </a:lnTo>
                <a:lnTo>
                  <a:pt x="8358405" y="831451"/>
                </a:lnTo>
                <a:lnTo>
                  <a:pt x="8393395" y="805288"/>
                </a:lnTo>
                <a:lnTo>
                  <a:pt x="8425672" y="775954"/>
                </a:lnTo>
                <a:lnTo>
                  <a:pt x="8455006" y="743677"/>
                </a:lnTo>
                <a:lnTo>
                  <a:pt x="8481169" y="708687"/>
                </a:lnTo>
                <a:lnTo>
                  <a:pt x="8503933" y="671211"/>
                </a:lnTo>
                <a:lnTo>
                  <a:pt x="8523071" y="631477"/>
                </a:lnTo>
                <a:lnTo>
                  <a:pt x="8538353" y="589714"/>
                </a:lnTo>
                <a:lnTo>
                  <a:pt x="8549551" y="546150"/>
                </a:lnTo>
                <a:lnTo>
                  <a:pt x="8556437" y="501014"/>
                </a:lnTo>
                <a:lnTo>
                  <a:pt x="8558784" y="454533"/>
                </a:lnTo>
                <a:lnTo>
                  <a:pt x="8556437" y="408051"/>
                </a:lnTo>
                <a:lnTo>
                  <a:pt x="8549551" y="362915"/>
                </a:lnTo>
                <a:lnTo>
                  <a:pt x="8538353" y="319351"/>
                </a:lnTo>
                <a:lnTo>
                  <a:pt x="8523071" y="277588"/>
                </a:lnTo>
                <a:lnTo>
                  <a:pt x="8503933" y="237854"/>
                </a:lnTo>
                <a:lnTo>
                  <a:pt x="8481169" y="200378"/>
                </a:lnTo>
                <a:lnTo>
                  <a:pt x="8455006" y="165388"/>
                </a:lnTo>
                <a:lnTo>
                  <a:pt x="8425672" y="133111"/>
                </a:lnTo>
                <a:lnTo>
                  <a:pt x="8393395" y="103777"/>
                </a:lnTo>
                <a:lnTo>
                  <a:pt x="8358405" y="77614"/>
                </a:lnTo>
                <a:lnTo>
                  <a:pt x="8320929" y="54850"/>
                </a:lnTo>
                <a:lnTo>
                  <a:pt x="8281195" y="35712"/>
                </a:lnTo>
                <a:lnTo>
                  <a:pt x="8239432" y="20430"/>
                </a:lnTo>
                <a:lnTo>
                  <a:pt x="8195868" y="9232"/>
                </a:lnTo>
                <a:lnTo>
                  <a:pt x="8150732" y="2346"/>
                </a:lnTo>
                <a:lnTo>
                  <a:pt x="8104251" y="0"/>
                </a:lnTo>
                <a:close/>
              </a:path>
            </a:pathLst>
          </a:custGeom>
          <a:solidFill>
            <a:srgbClr val="06A297"/>
          </a:solidFill>
        </p:spPr>
        <p:txBody>
          <a:bodyPr wrap="square" lIns="0" tIns="0" rIns="0" bIns="0" rtlCol="0"/>
          <a:lstStyle/>
          <a:p>
            <a:endParaRPr/>
          </a:p>
        </p:txBody>
      </p:sp>
      <p:sp>
        <p:nvSpPr>
          <p:cNvPr id="7" name="object 7"/>
          <p:cNvSpPr txBox="1"/>
          <p:nvPr/>
        </p:nvSpPr>
        <p:spPr>
          <a:xfrm>
            <a:off x="687069" y="1156970"/>
            <a:ext cx="7247890" cy="1430655"/>
          </a:xfrm>
          <a:prstGeom prst="rect">
            <a:avLst/>
          </a:prstGeom>
        </p:spPr>
        <p:txBody>
          <a:bodyPr vert="horz" wrap="square" lIns="0" tIns="12700" rIns="0" bIns="0" rtlCol="0">
            <a:spAutoFit/>
          </a:bodyPr>
          <a:lstStyle/>
          <a:p>
            <a:pPr marL="44450">
              <a:lnSpc>
                <a:spcPct val="100000"/>
              </a:lnSpc>
              <a:spcBef>
                <a:spcPts val="100"/>
              </a:spcBef>
            </a:pPr>
            <a:r>
              <a:rPr sz="1800" b="1" spc="-5" dirty="0">
                <a:solidFill>
                  <a:srgbClr val="FFFFFF"/>
                </a:solidFill>
                <a:latin typeface="Arial"/>
                <a:cs typeface="Arial"/>
              </a:rPr>
              <a:t>Each page </a:t>
            </a:r>
            <a:r>
              <a:rPr sz="1800" b="1" dirty="0">
                <a:solidFill>
                  <a:srgbClr val="FFFFFF"/>
                </a:solidFill>
                <a:latin typeface="Arial"/>
                <a:cs typeface="Arial"/>
              </a:rPr>
              <a:t>in an index </a:t>
            </a:r>
            <a:r>
              <a:rPr sz="1800" b="1" spc="-5" dirty="0">
                <a:solidFill>
                  <a:srgbClr val="FFFFFF"/>
                </a:solidFill>
                <a:latin typeface="Arial"/>
                <a:cs typeface="Arial"/>
              </a:rPr>
              <a:t>B-tree is </a:t>
            </a:r>
            <a:r>
              <a:rPr sz="1800" b="1" dirty="0">
                <a:solidFill>
                  <a:srgbClr val="FFFFFF"/>
                </a:solidFill>
                <a:latin typeface="Arial"/>
                <a:cs typeface="Arial"/>
              </a:rPr>
              <a:t>called an </a:t>
            </a:r>
            <a:r>
              <a:rPr sz="1800" b="1" spc="-5" dirty="0">
                <a:solidFill>
                  <a:srgbClr val="FFFFFF"/>
                </a:solidFill>
                <a:latin typeface="Arial"/>
                <a:cs typeface="Arial"/>
              </a:rPr>
              <a:t>index</a:t>
            </a:r>
            <a:r>
              <a:rPr sz="1800" b="1" spc="-10" dirty="0">
                <a:solidFill>
                  <a:srgbClr val="FFFFFF"/>
                </a:solidFill>
                <a:latin typeface="Arial"/>
                <a:cs typeface="Arial"/>
              </a:rPr>
              <a:t> </a:t>
            </a:r>
            <a:r>
              <a:rPr sz="1800" b="1" dirty="0">
                <a:solidFill>
                  <a:srgbClr val="FFFFFF"/>
                </a:solidFill>
                <a:latin typeface="Arial"/>
                <a:cs typeface="Arial"/>
              </a:rPr>
              <a:t>node.</a:t>
            </a:r>
            <a:endParaRPr sz="1800">
              <a:latin typeface="Arial"/>
              <a:cs typeface="Arial"/>
            </a:endParaRPr>
          </a:p>
          <a:p>
            <a:pPr>
              <a:lnSpc>
                <a:spcPct val="100000"/>
              </a:lnSpc>
            </a:pPr>
            <a:endParaRPr sz="2000">
              <a:latin typeface="Arial"/>
              <a:cs typeface="Arial"/>
            </a:endParaRPr>
          </a:p>
          <a:p>
            <a:pPr>
              <a:lnSpc>
                <a:spcPct val="100000"/>
              </a:lnSpc>
              <a:spcBef>
                <a:spcPts val="35"/>
              </a:spcBef>
            </a:pPr>
            <a:endParaRPr sz="1950">
              <a:latin typeface="Arial"/>
              <a:cs typeface="Arial"/>
            </a:endParaRPr>
          </a:p>
          <a:p>
            <a:pPr marL="12700" marR="5080">
              <a:lnSpc>
                <a:spcPct val="100000"/>
              </a:lnSpc>
              <a:spcBef>
                <a:spcPts val="5"/>
              </a:spcBef>
            </a:pPr>
            <a:r>
              <a:rPr sz="1800" b="1" spc="-45" dirty="0">
                <a:solidFill>
                  <a:srgbClr val="FFFFFF"/>
                </a:solidFill>
                <a:latin typeface="Arial"/>
                <a:cs typeface="Arial"/>
              </a:rPr>
              <a:t>Top </a:t>
            </a:r>
            <a:r>
              <a:rPr sz="1800" b="1" dirty="0">
                <a:solidFill>
                  <a:srgbClr val="FFFFFF"/>
                </a:solidFill>
                <a:latin typeface="Arial"/>
                <a:cs typeface="Arial"/>
              </a:rPr>
              <a:t>node of the </a:t>
            </a:r>
            <a:r>
              <a:rPr sz="1800" b="1" spc="-5" dirty="0">
                <a:solidFill>
                  <a:srgbClr val="FFFFFF"/>
                </a:solidFill>
                <a:latin typeface="Arial"/>
                <a:cs typeface="Arial"/>
              </a:rPr>
              <a:t>B-tree is </a:t>
            </a:r>
            <a:r>
              <a:rPr sz="1800" b="1" dirty="0">
                <a:solidFill>
                  <a:srgbClr val="FFFFFF"/>
                </a:solidFill>
                <a:latin typeface="Arial"/>
                <a:cs typeface="Arial"/>
              </a:rPr>
              <a:t>called the root </a:t>
            </a:r>
            <a:r>
              <a:rPr sz="1800" b="1" spc="-5" dirty="0">
                <a:solidFill>
                  <a:srgbClr val="FFFFFF"/>
                </a:solidFill>
                <a:latin typeface="Arial"/>
                <a:cs typeface="Arial"/>
              </a:rPr>
              <a:t>node, whereas </a:t>
            </a:r>
            <a:r>
              <a:rPr sz="1800" b="1" dirty="0">
                <a:solidFill>
                  <a:srgbClr val="FFFFFF"/>
                </a:solidFill>
                <a:latin typeface="Arial"/>
                <a:cs typeface="Arial"/>
              </a:rPr>
              <a:t>the Bottom  nodes </a:t>
            </a:r>
            <a:r>
              <a:rPr sz="1800" b="1" spc="-5" dirty="0">
                <a:solidFill>
                  <a:srgbClr val="FFFFFF"/>
                </a:solidFill>
                <a:latin typeface="Arial"/>
                <a:cs typeface="Arial"/>
              </a:rPr>
              <a:t>are called </a:t>
            </a:r>
            <a:r>
              <a:rPr sz="1800" b="1" dirty="0">
                <a:solidFill>
                  <a:srgbClr val="FFFFFF"/>
                </a:solidFill>
                <a:latin typeface="Arial"/>
                <a:cs typeface="Arial"/>
              </a:rPr>
              <a:t>the leaf</a:t>
            </a:r>
            <a:r>
              <a:rPr sz="1800" b="1" spc="5" dirty="0">
                <a:solidFill>
                  <a:srgbClr val="FFFFFF"/>
                </a:solidFill>
                <a:latin typeface="Arial"/>
                <a:cs typeface="Arial"/>
              </a:rPr>
              <a:t> </a:t>
            </a:r>
            <a:r>
              <a:rPr sz="1800" b="1" spc="-5" dirty="0">
                <a:solidFill>
                  <a:srgbClr val="FFFFFF"/>
                </a:solidFill>
                <a:latin typeface="Arial"/>
                <a:cs typeface="Arial"/>
              </a:rPr>
              <a:t>nodes.</a:t>
            </a:r>
            <a:endParaRPr sz="18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13</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797550" cy="635635"/>
          </a:xfrm>
          <a:prstGeom prst="rect">
            <a:avLst/>
          </a:prstGeom>
        </p:spPr>
        <p:txBody>
          <a:bodyPr vert="horz" wrap="square" lIns="0" tIns="12700" rIns="0" bIns="0" rtlCol="0">
            <a:spAutoFit/>
          </a:bodyPr>
          <a:lstStyle/>
          <a:p>
            <a:pPr marL="12700">
              <a:lnSpc>
                <a:spcPct val="100000"/>
              </a:lnSpc>
              <a:spcBef>
                <a:spcPts val="100"/>
              </a:spcBef>
            </a:pPr>
            <a:r>
              <a:rPr sz="4000" b="0" spc="175" dirty="0">
                <a:latin typeface="Times New Roman"/>
                <a:cs typeface="Times New Roman"/>
              </a:rPr>
              <a:t>Index</a:t>
            </a:r>
            <a:r>
              <a:rPr sz="4000" b="0" spc="-165" dirty="0">
                <a:latin typeface="Times New Roman"/>
                <a:cs typeface="Times New Roman"/>
              </a:rPr>
              <a:t> </a:t>
            </a:r>
            <a:r>
              <a:rPr sz="4000" b="0" spc="95" dirty="0">
                <a:latin typeface="Times New Roman"/>
                <a:cs typeface="Times New Roman"/>
              </a:rPr>
              <a:t>B-Tree</a:t>
            </a:r>
            <a:r>
              <a:rPr sz="4000" b="0" spc="-155" dirty="0">
                <a:latin typeface="Times New Roman"/>
                <a:cs typeface="Times New Roman"/>
              </a:rPr>
              <a:t> </a:t>
            </a:r>
            <a:r>
              <a:rPr sz="4000" b="0" spc="190" dirty="0">
                <a:latin typeface="Times New Roman"/>
                <a:cs typeface="Times New Roman"/>
              </a:rPr>
              <a:t>Structure</a:t>
            </a:r>
            <a:r>
              <a:rPr sz="4000" b="0" spc="-185" dirty="0">
                <a:latin typeface="Times New Roman"/>
                <a:cs typeface="Times New Roman"/>
              </a:rPr>
              <a:t> </a:t>
            </a:r>
            <a:r>
              <a:rPr sz="4000" b="0" spc="-250" dirty="0">
                <a:latin typeface="Times New Roman"/>
                <a:cs typeface="Times New Roman"/>
              </a:rPr>
              <a:t>1-2</a:t>
            </a:r>
            <a:endParaRPr sz="4000">
              <a:latin typeface="Times New Roman"/>
              <a:cs typeface="Times New Roman"/>
            </a:endParaRPr>
          </a:p>
        </p:txBody>
      </p:sp>
      <p:sp>
        <p:nvSpPr>
          <p:cNvPr id="3" name="object 3"/>
          <p:cNvSpPr/>
          <p:nvPr/>
        </p:nvSpPr>
        <p:spPr>
          <a:xfrm>
            <a:off x="102870" y="1321308"/>
            <a:ext cx="3686810" cy="476250"/>
          </a:xfrm>
          <a:custGeom>
            <a:avLst/>
            <a:gdLst/>
            <a:ahLst/>
            <a:cxnLst/>
            <a:rect l="l" t="t" r="r" b="b"/>
            <a:pathLst>
              <a:path w="3686810" h="476250">
                <a:moveTo>
                  <a:pt x="3448430" y="0"/>
                </a:moveTo>
                <a:lnTo>
                  <a:pt x="238125" y="0"/>
                </a:lnTo>
                <a:lnTo>
                  <a:pt x="190135" y="4835"/>
                </a:lnTo>
                <a:lnTo>
                  <a:pt x="145437" y="18704"/>
                </a:lnTo>
                <a:lnTo>
                  <a:pt x="104988" y="40652"/>
                </a:lnTo>
                <a:lnTo>
                  <a:pt x="69746" y="69723"/>
                </a:lnTo>
                <a:lnTo>
                  <a:pt x="40669" y="104961"/>
                </a:lnTo>
                <a:lnTo>
                  <a:pt x="18713" y="145411"/>
                </a:lnTo>
                <a:lnTo>
                  <a:pt x="4838" y="190117"/>
                </a:lnTo>
                <a:lnTo>
                  <a:pt x="0" y="238125"/>
                </a:lnTo>
                <a:lnTo>
                  <a:pt x="4838" y="286132"/>
                </a:lnTo>
                <a:lnTo>
                  <a:pt x="18713" y="330838"/>
                </a:lnTo>
                <a:lnTo>
                  <a:pt x="40669" y="371288"/>
                </a:lnTo>
                <a:lnTo>
                  <a:pt x="69746" y="406527"/>
                </a:lnTo>
                <a:lnTo>
                  <a:pt x="104988" y="435597"/>
                </a:lnTo>
                <a:lnTo>
                  <a:pt x="145437" y="457545"/>
                </a:lnTo>
                <a:lnTo>
                  <a:pt x="190135" y="471414"/>
                </a:lnTo>
                <a:lnTo>
                  <a:pt x="238125" y="476250"/>
                </a:lnTo>
                <a:lnTo>
                  <a:pt x="3448430" y="476250"/>
                </a:lnTo>
                <a:lnTo>
                  <a:pt x="3496438" y="471414"/>
                </a:lnTo>
                <a:lnTo>
                  <a:pt x="3541144" y="457545"/>
                </a:lnTo>
                <a:lnTo>
                  <a:pt x="3581594" y="435597"/>
                </a:lnTo>
                <a:lnTo>
                  <a:pt x="3616832" y="406527"/>
                </a:lnTo>
                <a:lnTo>
                  <a:pt x="3645903" y="371288"/>
                </a:lnTo>
                <a:lnTo>
                  <a:pt x="3667851" y="330838"/>
                </a:lnTo>
                <a:lnTo>
                  <a:pt x="3681720" y="286132"/>
                </a:lnTo>
                <a:lnTo>
                  <a:pt x="3686555" y="238125"/>
                </a:lnTo>
                <a:lnTo>
                  <a:pt x="3681720" y="190117"/>
                </a:lnTo>
                <a:lnTo>
                  <a:pt x="3667851" y="145411"/>
                </a:lnTo>
                <a:lnTo>
                  <a:pt x="3645903" y="104961"/>
                </a:lnTo>
                <a:lnTo>
                  <a:pt x="3616832" y="69723"/>
                </a:lnTo>
                <a:lnTo>
                  <a:pt x="3581594" y="40652"/>
                </a:lnTo>
                <a:lnTo>
                  <a:pt x="3541144" y="18704"/>
                </a:lnTo>
                <a:lnTo>
                  <a:pt x="3496438" y="4835"/>
                </a:lnTo>
                <a:lnTo>
                  <a:pt x="3448430" y="0"/>
                </a:lnTo>
                <a:close/>
              </a:path>
            </a:pathLst>
          </a:custGeom>
          <a:solidFill>
            <a:srgbClr val="06A297"/>
          </a:solidFill>
        </p:spPr>
        <p:txBody>
          <a:bodyPr wrap="square" lIns="0" tIns="0" rIns="0" bIns="0" rtlCol="0"/>
          <a:lstStyle/>
          <a:p>
            <a:endParaRPr/>
          </a:p>
        </p:txBody>
      </p:sp>
      <p:sp>
        <p:nvSpPr>
          <p:cNvPr id="4" name="object 4"/>
          <p:cNvSpPr txBox="1"/>
          <p:nvPr/>
        </p:nvSpPr>
        <p:spPr>
          <a:xfrm>
            <a:off x="94488" y="1893570"/>
            <a:ext cx="3687445" cy="585470"/>
          </a:xfrm>
          <a:prstGeom prst="rect">
            <a:avLst/>
          </a:prstGeom>
          <a:ln w="28955">
            <a:solidFill>
              <a:srgbClr val="06A297"/>
            </a:solidFill>
          </a:ln>
        </p:spPr>
        <p:txBody>
          <a:bodyPr vert="horz" wrap="square" lIns="0" tIns="40005" rIns="0" bIns="0" rtlCol="0">
            <a:spAutoFit/>
          </a:bodyPr>
          <a:lstStyle/>
          <a:p>
            <a:pPr marL="91440" marR="111125">
              <a:lnSpc>
                <a:spcPct val="100000"/>
              </a:lnSpc>
              <a:spcBef>
                <a:spcPts val="315"/>
              </a:spcBef>
            </a:pPr>
            <a:r>
              <a:rPr sz="1600" dirty="0">
                <a:solidFill>
                  <a:srgbClr val="404040"/>
                </a:solidFill>
                <a:latin typeface="Arial"/>
                <a:cs typeface="Arial"/>
              </a:rPr>
              <a:t>In the </a:t>
            </a:r>
            <a:r>
              <a:rPr sz="1600" spc="-10" dirty="0">
                <a:solidFill>
                  <a:srgbClr val="404040"/>
                </a:solidFill>
                <a:latin typeface="Arial"/>
                <a:cs typeface="Arial"/>
              </a:rPr>
              <a:t>B-Tree </a:t>
            </a:r>
            <a:r>
              <a:rPr sz="1600" dirty="0">
                <a:solidFill>
                  <a:srgbClr val="404040"/>
                </a:solidFill>
                <a:latin typeface="Arial"/>
                <a:cs typeface="Arial"/>
              </a:rPr>
              <a:t>structure of an </a:t>
            </a:r>
            <a:r>
              <a:rPr sz="1600" spc="-5" dirty="0">
                <a:solidFill>
                  <a:srgbClr val="404040"/>
                </a:solidFill>
                <a:latin typeface="Arial"/>
                <a:cs typeface="Arial"/>
              </a:rPr>
              <a:t>index,</a:t>
            </a:r>
            <a:r>
              <a:rPr sz="1600" spc="-35" dirty="0">
                <a:solidFill>
                  <a:srgbClr val="404040"/>
                </a:solidFill>
                <a:latin typeface="Arial"/>
                <a:cs typeface="Arial"/>
              </a:rPr>
              <a:t> </a:t>
            </a:r>
            <a:r>
              <a:rPr sz="1600" dirty="0">
                <a:solidFill>
                  <a:srgbClr val="404040"/>
                </a:solidFill>
                <a:latin typeface="Arial"/>
                <a:cs typeface="Arial"/>
              </a:rPr>
              <a:t>the  </a:t>
            </a:r>
            <a:r>
              <a:rPr sz="1600" spc="-5" dirty="0">
                <a:solidFill>
                  <a:srgbClr val="404040"/>
                </a:solidFill>
                <a:latin typeface="Arial"/>
                <a:cs typeface="Arial"/>
              </a:rPr>
              <a:t>root node </a:t>
            </a:r>
            <a:r>
              <a:rPr sz="1600" dirty="0">
                <a:solidFill>
                  <a:srgbClr val="404040"/>
                </a:solidFill>
                <a:latin typeface="Arial"/>
                <a:cs typeface="Arial"/>
              </a:rPr>
              <a:t>consists of an </a:t>
            </a:r>
            <a:r>
              <a:rPr sz="1600" spc="-5" dirty="0">
                <a:solidFill>
                  <a:srgbClr val="404040"/>
                </a:solidFill>
                <a:latin typeface="Arial"/>
                <a:cs typeface="Arial"/>
              </a:rPr>
              <a:t>index</a:t>
            </a:r>
            <a:r>
              <a:rPr sz="1600" spc="-10" dirty="0">
                <a:solidFill>
                  <a:srgbClr val="404040"/>
                </a:solidFill>
                <a:latin typeface="Arial"/>
                <a:cs typeface="Arial"/>
              </a:rPr>
              <a:t> </a:t>
            </a:r>
            <a:r>
              <a:rPr sz="1600" spc="-5" dirty="0">
                <a:solidFill>
                  <a:srgbClr val="404040"/>
                </a:solidFill>
                <a:latin typeface="Arial"/>
                <a:cs typeface="Arial"/>
              </a:rPr>
              <a:t>page.</a:t>
            </a:r>
            <a:endParaRPr sz="1600">
              <a:latin typeface="Arial"/>
              <a:cs typeface="Arial"/>
            </a:endParaRPr>
          </a:p>
        </p:txBody>
      </p:sp>
      <p:sp>
        <p:nvSpPr>
          <p:cNvPr id="5" name="object 5"/>
          <p:cNvSpPr/>
          <p:nvPr/>
        </p:nvSpPr>
        <p:spPr>
          <a:xfrm>
            <a:off x="4267961" y="1334261"/>
            <a:ext cx="3687445" cy="476250"/>
          </a:xfrm>
          <a:custGeom>
            <a:avLst/>
            <a:gdLst/>
            <a:ahLst/>
            <a:cxnLst/>
            <a:rect l="l" t="t" r="r" b="b"/>
            <a:pathLst>
              <a:path w="3687445" h="476250">
                <a:moveTo>
                  <a:pt x="3449192" y="0"/>
                </a:moveTo>
                <a:lnTo>
                  <a:pt x="238125" y="0"/>
                </a:lnTo>
                <a:lnTo>
                  <a:pt x="190117" y="4835"/>
                </a:lnTo>
                <a:lnTo>
                  <a:pt x="145411" y="18704"/>
                </a:lnTo>
                <a:lnTo>
                  <a:pt x="104961" y="40652"/>
                </a:lnTo>
                <a:lnTo>
                  <a:pt x="69723" y="69723"/>
                </a:lnTo>
                <a:lnTo>
                  <a:pt x="40652" y="104961"/>
                </a:lnTo>
                <a:lnTo>
                  <a:pt x="18704" y="145411"/>
                </a:lnTo>
                <a:lnTo>
                  <a:pt x="4835" y="190117"/>
                </a:lnTo>
                <a:lnTo>
                  <a:pt x="0" y="238125"/>
                </a:lnTo>
                <a:lnTo>
                  <a:pt x="4835" y="286132"/>
                </a:lnTo>
                <a:lnTo>
                  <a:pt x="18704" y="330838"/>
                </a:lnTo>
                <a:lnTo>
                  <a:pt x="40652" y="371288"/>
                </a:lnTo>
                <a:lnTo>
                  <a:pt x="69723" y="406527"/>
                </a:lnTo>
                <a:lnTo>
                  <a:pt x="104961" y="435597"/>
                </a:lnTo>
                <a:lnTo>
                  <a:pt x="145411" y="457545"/>
                </a:lnTo>
                <a:lnTo>
                  <a:pt x="190117" y="471414"/>
                </a:lnTo>
                <a:lnTo>
                  <a:pt x="238125" y="476250"/>
                </a:lnTo>
                <a:lnTo>
                  <a:pt x="3449192" y="476250"/>
                </a:lnTo>
                <a:lnTo>
                  <a:pt x="3497200" y="471414"/>
                </a:lnTo>
                <a:lnTo>
                  <a:pt x="3541906" y="457545"/>
                </a:lnTo>
                <a:lnTo>
                  <a:pt x="3582356" y="435597"/>
                </a:lnTo>
                <a:lnTo>
                  <a:pt x="3617594" y="406527"/>
                </a:lnTo>
                <a:lnTo>
                  <a:pt x="3646665" y="371288"/>
                </a:lnTo>
                <a:lnTo>
                  <a:pt x="3668613" y="330838"/>
                </a:lnTo>
                <a:lnTo>
                  <a:pt x="3682482" y="286132"/>
                </a:lnTo>
                <a:lnTo>
                  <a:pt x="3687317" y="238125"/>
                </a:lnTo>
                <a:lnTo>
                  <a:pt x="3682482" y="190117"/>
                </a:lnTo>
                <a:lnTo>
                  <a:pt x="3668613" y="145411"/>
                </a:lnTo>
                <a:lnTo>
                  <a:pt x="3646665" y="104961"/>
                </a:lnTo>
                <a:lnTo>
                  <a:pt x="3617594" y="69723"/>
                </a:lnTo>
                <a:lnTo>
                  <a:pt x="3582356" y="40652"/>
                </a:lnTo>
                <a:lnTo>
                  <a:pt x="3541906" y="18704"/>
                </a:lnTo>
                <a:lnTo>
                  <a:pt x="3497200" y="4835"/>
                </a:lnTo>
                <a:lnTo>
                  <a:pt x="3449192" y="0"/>
                </a:lnTo>
                <a:close/>
              </a:path>
            </a:pathLst>
          </a:custGeom>
          <a:solidFill>
            <a:srgbClr val="0580C3"/>
          </a:solidFill>
        </p:spPr>
        <p:txBody>
          <a:bodyPr wrap="square" lIns="0" tIns="0" rIns="0" bIns="0" rtlCol="0"/>
          <a:lstStyle/>
          <a:p>
            <a:endParaRPr/>
          </a:p>
        </p:txBody>
      </p:sp>
      <p:sp>
        <p:nvSpPr>
          <p:cNvPr id="6" name="object 6"/>
          <p:cNvSpPr txBox="1"/>
          <p:nvPr/>
        </p:nvSpPr>
        <p:spPr>
          <a:xfrm>
            <a:off x="4395978" y="1893570"/>
            <a:ext cx="3687445" cy="585470"/>
          </a:xfrm>
          <a:prstGeom prst="rect">
            <a:avLst/>
          </a:prstGeom>
          <a:ln w="28955">
            <a:solidFill>
              <a:srgbClr val="0580C3"/>
            </a:solidFill>
          </a:ln>
        </p:spPr>
        <p:txBody>
          <a:bodyPr vert="horz" wrap="square" lIns="0" tIns="40005" rIns="0" bIns="0" rtlCol="0">
            <a:spAutoFit/>
          </a:bodyPr>
          <a:lstStyle/>
          <a:p>
            <a:pPr marL="91440" marR="461009">
              <a:lnSpc>
                <a:spcPct val="100000"/>
              </a:lnSpc>
              <a:spcBef>
                <a:spcPts val="315"/>
              </a:spcBef>
            </a:pPr>
            <a:r>
              <a:rPr sz="1600" spc="-5" dirty="0">
                <a:solidFill>
                  <a:srgbClr val="404040"/>
                </a:solidFill>
                <a:latin typeface="Arial"/>
                <a:cs typeface="Arial"/>
              </a:rPr>
              <a:t>There </a:t>
            </a:r>
            <a:r>
              <a:rPr sz="1600" dirty="0">
                <a:solidFill>
                  <a:srgbClr val="404040"/>
                </a:solidFill>
                <a:latin typeface="Arial"/>
                <a:cs typeface="Arial"/>
              </a:rPr>
              <a:t>can be multiple</a:t>
            </a:r>
            <a:r>
              <a:rPr sz="1600" spc="-50" dirty="0">
                <a:solidFill>
                  <a:srgbClr val="404040"/>
                </a:solidFill>
                <a:latin typeface="Arial"/>
                <a:cs typeface="Arial"/>
              </a:rPr>
              <a:t> </a:t>
            </a:r>
            <a:r>
              <a:rPr sz="1600" spc="-5" dirty="0">
                <a:solidFill>
                  <a:srgbClr val="404040"/>
                </a:solidFill>
                <a:latin typeface="Arial"/>
                <a:cs typeface="Arial"/>
              </a:rPr>
              <a:t>intermediate  levels </a:t>
            </a:r>
            <a:r>
              <a:rPr sz="1600" dirty="0">
                <a:solidFill>
                  <a:srgbClr val="404040"/>
                </a:solidFill>
                <a:latin typeface="Arial"/>
                <a:cs typeface="Arial"/>
              </a:rPr>
              <a:t>in an </a:t>
            </a:r>
            <a:r>
              <a:rPr sz="1600" spc="-5" dirty="0">
                <a:solidFill>
                  <a:srgbClr val="404040"/>
                </a:solidFill>
                <a:latin typeface="Arial"/>
                <a:cs typeface="Arial"/>
              </a:rPr>
              <a:t>index</a:t>
            </a:r>
            <a:r>
              <a:rPr sz="1600" spc="-30" dirty="0">
                <a:solidFill>
                  <a:srgbClr val="404040"/>
                </a:solidFill>
                <a:latin typeface="Arial"/>
                <a:cs typeface="Arial"/>
              </a:rPr>
              <a:t> </a:t>
            </a:r>
            <a:r>
              <a:rPr sz="1600" spc="-10" dirty="0">
                <a:solidFill>
                  <a:srgbClr val="404040"/>
                </a:solidFill>
                <a:latin typeface="Arial"/>
                <a:cs typeface="Arial"/>
              </a:rPr>
              <a:t>B-Tree.</a:t>
            </a:r>
            <a:endParaRPr sz="1600">
              <a:latin typeface="Arial"/>
              <a:cs typeface="Arial"/>
            </a:endParaRPr>
          </a:p>
        </p:txBody>
      </p:sp>
      <p:sp>
        <p:nvSpPr>
          <p:cNvPr id="7" name="object 7"/>
          <p:cNvSpPr/>
          <p:nvPr/>
        </p:nvSpPr>
        <p:spPr>
          <a:xfrm>
            <a:off x="102870" y="2925317"/>
            <a:ext cx="3679190" cy="476250"/>
          </a:xfrm>
          <a:custGeom>
            <a:avLst/>
            <a:gdLst/>
            <a:ahLst/>
            <a:cxnLst/>
            <a:rect l="l" t="t" r="r" b="b"/>
            <a:pathLst>
              <a:path w="3679190" h="476250">
                <a:moveTo>
                  <a:pt x="3440811" y="0"/>
                </a:moveTo>
                <a:lnTo>
                  <a:pt x="238125" y="0"/>
                </a:lnTo>
                <a:lnTo>
                  <a:pt x="190135" y="4835"/>
                </a:lnTo>
                <a:lnTo>
                  <a:pt x="145437" y="18704"/>
                </a:lnTo>
                <a:lnTo>
                  <a:pt x="104988" y="40652"/>
                </a:lnTo>
                <a:lnTo>
                  <a:pt x="69746" y="69723"/>
                </a:lnTo>
                <a:lnTo>
                  <a:pt x="40669" y="104961"/>
                </a:lnTo>
                <a:lnTo>
                  <a:pt x="18713" y="145411"/>
                </a:lnTo>
                <a:lnTo>
                  <a:pt x="4838" y="190117"/>
                </a:lnTo>
                <a:lnTo>
                  <a:pt x="0" y="238125"/>
                </a:lnTo>
                <a:lnTo>
                  <a:pt x="4838" y="286132"/>
                </a:lnTo>
                <a:lnTo>
                  <a:pt x="18713" y="330838"/>
                </a:lnTo>
                <a:lnTo>
                  <a:pt x="40669" y="371288"/>
                </a:lnTo>
                <a:lnTo>
                  <a:pt x="69746" y="406527"/>
                </a:lnTo>
                <a:lnTo>
                  <a:pt x="104988" y="435597"/>
                </a:lnTo>
                <a:lnTo>
                  <a:pt x="145437" y="457545"/>
                </a:lnTo>
                <a:lnTo>
                  <a:pt x="190135" y="471414"/>
                </a:lnTo>
                <a:lnTo>
                  <a:pt x="238125" y="476250"/>
                </a:lnTo>
                <a:lnTo>
                  <a:pt x="3440811" y="476250"/>
                </a:lnTo>
                <a:lnTo>
                  <a:pt x="3488818" y="471414"/>
                </a:lnTo>
                <a:lnTo>
                  <a:pt x="3533524" y="457545"/>
                </a:lnTo>
                <a:lnTo>
                  <a:pt x="3573974" y="435597"/>
                </a:lnTo>
                <a:lnTo>
                  <a:pt x="3609213" y="406527"/>
                </a:lnTo>
                <a:lnTo>
                  <a:pt x="3638283" y="371288"/>
                </a:lnTo>
                <a:lnTo>
                  <a:pt x="3660231" y="330838"/>
                </a:lnTo>
                <a:lnTo>
                  <a:pt x="3674100" y="286132"/>
                </a:lnTo>
                <a:lnTo>
                  <a:pt x="3678936" y="238125"/>
                </a:lnTo>
                <a:lnTo>
                  <a:pt x="3674100" y="190117"/>
                </a:lnTo>
                <a:lnTo>
                  <a:pt x="3660231" y="145411"/>
                </a:lnTo>
                <a:lnTo>
                  <a:pt x="3638283" y="104961"/>
                </a:lnTo>
                <a:lnTo>
                  <a:pt x="3609213" y="69723"/>
                </a:lnTo>
                <a:lnTo>
                  <a:pt x="3573974" y="40652"/>
                </a:lnTo>
                <a:lnTo>
                  <a:pt x="3533524" y="18704"/>
                </a:lnTo>
                <a:lnTo>
                  <a:pt x="3488818" y="4835"/>
                </a:lnTo>
                <a:lnTo>
                  <a:pt x="3440811" y="0"/>
                </a:lnTo>
                <a:close/>
              </a:path>
            </a:pathLst>
          </a:custGeom>
          <a:solidFill>
            <a:srgbClr val="90C220"/>
          </a:solidFill>
        </p:spPr>
        <p:txBody>
          <a:bodyPr wrap="square" lIns="0" tIns="0" rIns="0" bIns="0" rtlCol="0"/>
          <a:lstStyle/>
          <a:p>
            <a:endParaRPr/>
          </a:p>
        </p:txBody>
      </p:sp>
      <p:sp>
        <p:nvSpPr>
          <p:cNvPr id="8" name="object 8"/>
          <p:cNvSpPr txBox="1"/>
          <p:nvPr/>
        </p:nvSpPr>
        <p:spPr>
          <a:xfrm>
            <a:off x="110489" y="3518153"/>
            <a:ext cx="3679190" cy="584835"/>
          </a:xfrm>
          <a:prstGeom prst="rect">
            <a:avLst/>
          </a:prstGeom>
          <a:ln w="28955">
            <a:solidFill>
              <a:srgbClr val="90C220"/>
            </a:solidFill>
          </a:ln>
        </p:spPr>
        <p:txBody>
          <a:bodyPr vert="horz" wrap="square" lIns="0" tIns="40005" rIns="0" bIns="0" rtlCol="0">
            <a:spAutoFit/>
          </a:bodyPr>
          <a:lstStyle/>
          <a:p>
            <a:pPr marL="91440" marR="256540">
              <a:lnSpc>
                <a:spcPct val="100000"/>
              </a:lnSpc>
              <a:spcBef>
                <a:spcPts val="315"/>
              </a:spcBef>
            </a:pPr>
            <a:r>
              <a:rPr sz="1600" spc="-5" dirty="0">
                <a:solidFill>
                  <a:srgbClr val="404040"/>
                </a:solidFill>
                <a:latin typeface="Arial"/>
                <a:cs typeface="Arial"/>
              </a:rPr>
              <a:t>This index page contains pointers  </a:t>
            </a:r>
            <a:r>
              <a:rPr sz="1600" dirty="0">
                <a:solidFill>
                  <a:srgbClr val="404040"/>
                </a:solidFill>
                <a:latin typeface="Arial"/>
                <a:cs typeface="Arial"/>
              </a:rPr>
              <a:t>present in the first </a:t>
            </a:r>
            <a:r>
              <a:rPr sz="1600" spc="-5" dirty="0">
                <a:solidFill>
                  <a:srgbClr val="404040"/>
                </a:solidFill>
                <a:latin typeface="Arial"/>
                <a:cs typeface="Arial"/>
              </a:rPr>
              <a:t>intermediate</a:t>
            </a:r>
            <a:r>
              <a:rPr sz="1600" spc="-20" dirty="0">
                <a:solidFill>
                  <a:srgbClr val="404040"/>
                </a:solidFill>
                <a:latin typeface="Arial"/>
                <a:cs typeface="Arial"/>
              </a:rPr>
              <a:t> </a:t>
            </a:r>
            <a:r>
              <a:rPr sz="1600" spc="-5" dirty="0">
                <a:solidFill>
                  <a:srgbClr val="404040"/>
                </a:solidFill>
                <a:latin typeface="Arial"/>
                <a:cs typeface="Arial"/>
              </a:rPr>
              <a:t>level.</a:t>
            </a:r>
            <a:endParaRPr sz="1600">
              <a:latin typeface="Arial"/>
              <a:cs typeface="Arial"/>
            </a:endParaRPr>
          </a:p>
        </p:txBody>
      </p:sp>
      <p:sp>
        <p:nvSpPr>
          <p:cNvPr id="9" name="object 9"/>
          <p:cNvSpPr/>
          <p:nvPr/>
        </p:nvSpPr>
        <p:spPr>
          <a:xfrm>
            <a:off x="4221479" y="2904744"/>
            <a:ext cx="4037329" cy="572770"/>
          </a:xfrm>
          <a:custGeom>
            <a:avLst/>
            <a:gdLst/>
            <a:ahLst/>
            <a:cxnLst/>
            <a:rect l="l" t="t" r="r" b="b"/>
            <a:pathLst>
              <a:path w="4037329" h="572770">
                <a:moveTo>
                  <a:pt x="3750945" y="0"/>
                </a:moveTo>
                <a:lnTo>
                  <a:pt x="286131" y="0"/>
                </a:lnTo>
                <a:lnTo>
                  <a:pt x="239728" y="3745"/>
                </a:lnTo>
                <a:lnTo>
                  <a:pt x="195705" y="14590"/>
                </a:lnTo>
                <a:lnTo>
                  <a:pt x="154653" y="31944"/>
                </a:lnTo>
                <a:lnTo>
                  <a:pt x="117162" y="55217"/>
                </a:lnTo>
                <a:lnTo>
                  <a:pt x="83820" y="83819"/>
                </a:lnTo>
                <a:lnTo>
                  <a:pt x="55217" y="117162"/>
                </a:lnTo>
                <a:lnTo>
                  <a:pt x="31944" y="154653"/>
                </a:lnTo>
                <a:lnTo>
                  <a:pt x="14590" y="195705"/>
                </a:lnTo>
                <a:lnTo>
                  <a:pt x="3745" y="239728"/>
                </a:lnTo>
                <a:lnTo>
                  <a:pt x="0" y="286130"/>
                </a:lnTo>
                <a:lnTo>
                  <a:pt x="3745" y="332533"/>
                </a:lnTo>
                <a:lnTo>
                  <a:pt x="14590" y="376556"/>
                </a:lnTo>
                <a:lnTo>
                  <a:pt x="31944" y="417608"/>
                </a:lnTo>
                <a:lnTo>
                  <a:pt x="55217" y="455099"/>
                </a:lnTo>
                <a:lnTo>
                  <a:pt x="83819" y="488441"/>
                </a:lnTo>
                <a:lnTo>
                  <a:pt x="117162" y="517044"/>
                </a:lnTo>
                <a:lnTo>
                  <a:pt x="154653" y="540317"/>
                </a:lnTo>
                <a:lnTo>
                  <a:pt x="195705" y="557671"/>
                </a:lnTo>
                <a:lnTo>
                  <a:pt x="239728" y="568516"/>
                </a:lnTo>
                <a:lnTo>
                  <a:pt x="286131" y="572261"/>
                </a:lnTo>
                <a:lnTo>
                  <a:pt x="3750945" y="572261"/>
                </a:lnTo>
                <a:lnTo>
                  <a:pt x="3797347" y="568516"/>
                </a:lnTo>
                <a:lnTo>
                  <a:pt x="3841370" y="557671"/>
                </a:lnTo>
                <a:lnTo>
                  <a:pt x="3882422" y="540317"/>
                </a:lnTo>
                <a:lnTo>
                  <a:pt x="3919913" y="517044"/>
                </a:lnTo>
                <a:lnTo>
                  <a:pt x="3953255" y="488441"/>
                </a:lnTo>
                <a:lnTo>
                  <a:pt x="3981858" y="455099"/>
                </a:lnTo>
                <a:lnTo>
                  <a:pt x="4005131" y="417608"/>
                </a:lnTo>
                <a:lnTo>
                  <a:pt x="4022485" y="376556"/>
                </a:lnTo>
                <a:lnTo>
                  <a:pt x="4033330" y="332533"/>
                </a:lnTo>
                <a:lnTo>
                  <a:pt x="4037076" y="286130"/>
                </a:lnTo>
                <a:lnTo>
                  <a:pt x="4033330" y="239728"/>
                </a:lnTo>
                <a:lnTo>
                  <a:pt x="4022485" y="195705"/>
                </a:lnTo>
                <a:lnTo>
                  <a:pt x="4005131" y="154653"/>
                </a:lnTo>
                <a:lnTo>
                  <a:pt x="3981858" y="117162"/>
                </a:lnTo>
                <a:lnTo>
                  <a:pt x="3953255" y="83819"/>
                </a:lnTo>
                <a:lnTo>
                  <a:pt x="3919913" y="55217"/>
                </a:lnTo>
                <a:lnTo>
                  <a:pt x="3882422" y="31944"/>
                </a:lnTo>
                <a:lnTo>
                  <a:pt x="3841370" y="14590"/>
                </a:lnTo>
                <a:lnTo>
                  <a:pt x="3797347" y="3745"/>
                </a:lnTo>
                <a:lnTo>
                  <a:pt x="3750945" y="0"/>
                </a:lnTo>
                <a:close/>
              </a:path>
            </a:pathLst>
          </a:custGeom>
          <a:solidFill>
            <a:srgbClr val="FAA100"/>
          </a:solidFill>
        </p:spPr>
        <p:txBody>
          <a:bodyPr wrap="square" lIns="0" tIns="0" rIns="0" bIns="0" rtlCol="0"/>
          <a:lstStyle/>
          <a:p>
            <a:endParaRPr/>
          </a:p>
        </p:txBody>
      </p:sp>
      <p:sp>
        <p:nvSpPr>
          <p:cNvPr id="10" name="object 10"/>
          <p:cNvSpPr txBox="1"/>
          <p:nvPr/>
        </p:nvSpPr>
        <p:spPr>
          <a:xfrm>
            <a:off x="4267961" y="3592067"/>
            <a:ext cx="4037329" cy="999490"/>
          </a:xfrm>
          <a:prstGeom prst="rect">
            <a:avLst/>
          </a:prstGeom>
          <a:ln w="38100">
            <a:solidFill>
              <a:srgbClr val="FAA100"/>
            </a:solidFill>
          </a:ln>
        </p:spPr>
        <p:txBody>
          <a:bodyPr vert="horz" wrap="square" lIns="0" tIns="27305" rIns="0" bIns="0" rtlCol="0">
            <a:spAutoFit/>
          </a:bodyPr>
          <a:lstStyle/>
          <a:p>
            <a:pPr marL="91440" marR="413384">
              <a:lnSpc>
                <a:spcPct val="100000"/>
              </a:lnSpc>
              <a:spcBef>
                <a:spcPts val="215"/>
              </a:spcBef>
            </a:pPr>
            <a:r>
              <a:rPr sz="1600" dirty="0">
                <a:solidFill>
                  <a:srgbClr val="404040"/>
                </a:solidFill>
                <a:latin typeface="Arial"/>
                <a:cs typeface="Arial"/>
              </a:rPr>
              <a:t>The </a:t>
            </a:r>
            <a:r>
              <a:rPr sz="1600" spc="-5" dirty="0">
                <a:solidFill>
                  <a:srgbClr val="404040"/>
                </a:solidFill>
                <a:latin typeface="Arial"/>
                <a:cs typeface="Arial"/>
              </a:rPr>
              <a:t>leaf nodes either </a:t>
            </a:r>
            <a:r>
              <a:rPr sz="1600" dirty="0">
                <a:solidFill>
                  <a:srgbClr val="404040"/>
                </a:solidFill>
                <a:latin typeface="Arial"/>
                <a:cs typeface="Arial"/>
              </a:rPr>
              <a:t>data </a:t>
            </a:r>
            <a:r>
              <a:rPr sz="1600" spc="-5" dirty="0">
                <a:solidFill>
                  <a:srgbClr val="404040"/>
                </a:solidFill>
                <a:latin typeface="Arial"/>
                <a:cs typeface="Arial"/>
              </a:rPr>
              <a:t>pages  containing data </a:t>
            </a:r>
            <a:r>
              <a:rPr sz="1600" dirty="0">
                <a:solidFill>
                  <a:srgbClr val="404040"/>
                </a:solidFill>
                <a:latin typeface="Arial"/>
                <a:cs typeface="Arial"/>
              </a:rPr>
              <a:t>rows or </a:t>
            </a:r>
            <a:r>
              <a:rPr sz="1600" spc="-5" dirty="0">
                <a:solidFill>
                  <a:srgbClr val="404040"/>
                </a:solidFill>
                <a:latin typeface="Arial"/>
                <a:cs typeface="Arial"/>
              </a:rPr>
              <a:t>index pages  containing index rows that point </a:t>
            </a:r>
            <a:r>
              <a:rPr sz="1600" dirty="0">
                <a:solidFill>
                  <a:srgbClr val="404040"/>
                </a:solidFill>
                <a:latin typeface="Arial"/>
                <a:cs typeface="Arial"/>
              </a:rPr>
              <a:t>to </a:t>
            </a:r>
            <a:r>
              <a:rPr sz="1600" spc="-5" dirty="0">
                <a:solidFill>
                  <a:srgbClr val="404040"/>
                </a:solidFill>
                <a:latin typeface="Arial"/>
                <a:cs typeface="Arial"/>
              </a:rPr>
              <a:t>data  </a:t>
            </a:r>
            <a:r>
              <a:rPr sz="1600" dirty="0">
                <a:solidFill>
                  <a:srgbClr val="404040"/>
                </a:solidFill>
                <a:latin typeface="Arial"/>
                <a:cs typeface="Arial"/>
              </a:rPr>
              <a:t>rows.</a:t>
            </a:r>
            <a:endParaRPr sz="16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14</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862320" cy="635635"/>
          </a:xfrm>
          <a:prstGeom prst="rect">
            <a:avLst/>
          </a:prstGeom>
        </p:spPr>
        <p:txBody>
          <a:bodyPr vert="horz" wrap="square" lIns="0" tIns="12700" rIns="0" bIns="0" rtlCol="0">
            <a:spAutoFit/>
          </a:bodyPr>
          <a:lstStyle/>
          <a:p>
            <a:pPr marL="12700">
              <a:lnSpc>
                <a:spcPct val="100000"/>
              </a:lnSpc>
              <a:spcBef>
                <a:spcPts val="100"/>
              </a:spcBef>
            </a:pPr>
            <a:r>
              <a:rPr sz="4000" b="0" spc="175" dirty="0">
                <a:latin typeface="Times New Roman"/>
                <a:cs typeface="Times New Roman"/>
              </a:rPr>
              <a:t>Index</a:t>
            </a:r>
            <a:r>
              <a:rPr sz="4000" b="0" spc="-165" dirty="0">
                <a:latin typeface="Times New Roman"/>
                <a:cs typeface="Times New Roman"/>
              </a:rPr>
              <a:t> </a:t>
            </a:r>
            <a:r>
              <a:rPr sz="4000" b="0" spc="95" dirty="0">
                <a:latin typeface="Times New Roman"/>
                <a:cs typeface="Times New Roman"/>
              </a:rPr>
              <a:t>B-Tree</a:t>
            </a:r>
            <a:r>
              <a:rPr sz="4000" b="0" spc="-155" dirty="0">
                <a:latin typeface="Times New Roman"/>
                <a:cs typeface="Times New Roman"/>
              </a:rPr>
              <a:t> </a:t>
            </a:r>
            <a:r>
              <a:rPr sz="4000" b="0" spc="190" dirty="0">
                <a:latin typeface="Times New Roman"/>
                <a:cs typeface="Times New Roman"/>
              </a:rPr>
              <a:t>Structure</a:t>
            </a:r>
            <a:r>
              <a:rPr sz="4000" b="0" spc="-180" dirty="0">
                <a:latin typeface="Times New Roman"/>
                <a:cs typeface="Times New Roman"/>
              </a:rPr>
              <a:t> </a:t>
            </a:r>
            <a:r>
              <a:rPr sz="4000" b="0" spc="-80" dirty="0">
                <a:latin typeface="Times New Roman"/>
                <a:cs typeface="Times New Roman"/>
              </a:rPr>
              <a:t>2-2</a:t>
            </a:r>
            <a:endParaRPr sz="4000">
              <a:latin typeface="Times New Roman"/>
              <a:cs typeface="Times New Roman"/>
            </a:endParaRPr>
          </a:p>
        </p:txBody>
      </p:sp>
      <p:grpSp>
        <p:nvGrpSpPr>
          <p:cNvPr id="3" name="object 3"/>
          <p:cNvGrpSpPr/>
          <p:nvPr/>
        </p:nvGrpSpPr>
        <p:grpSpPr>
          <a:xfrm>
            <a:off x="172212" y="3847325"/>
            <a:ext cx="8792845" cy="2316480"/>
            <a:chOff x="172212" y="3847325"/>
            <a:chExt cx="8792845" cy="2316480"/>
          </a:xfrm>
        </p:grpSpPr>
        <p:pic>
          <p:nvPicPr>
            <p:cNvPr id="4" name="object 4"/>
            <p:cNvPicPr/>
            <p:nvPr/>
          </p:nvPicPr>
          <p:blipFill>
            <a:blip r:embed="rId3" cstate="print"/>
            <a:stretch>
              <a:fillRect/>
            </a:stretch>
          </p:blipFill>
          <p:spPr>
            <a:xfrm>
              <a:off x="172212" y="3847325"/>
              <a:ext cx="8792718" cy="2316480"/>
            </a:xfrm>
            <a:prstGeom prst="rect">
              <a:avLst/>
            </a:prstGeom>
          </p:spPr>
        </p:pic>
        <p:sp>
          <p:nvSpPr>
            <p:cNvPr id="5" name="object 5"/>
            <p:cNvSpPr/>
            <p:nvPr/>
          </p:nvSpPr>
          <p:spPr>
            <a:xfrm>
              <a:off x="213360" y="3865625"/>
              <a:ext cx="8717280" cy="2241550"/>
            </a:xfrm>
            <a:custGeom>
              <a:avLst/>
              <a:gdLst/>
              <a:ahLst/>
              <a:cxnLst/>
              <a:rect l="l" t="t" r="r" b="b"/>
              <a:pathLst>
                <a:path w="8717280" h="2241550">
                  <a:moveTo>
                    <a:pt x="8717280" y="373507"/>
                  </a:moveTo>
                  <a:lnTo>
                    <a:pt x="8714359" y="326669"/>
                  </a:lnTo>
                  <a:lnTo>
                    <a:pt x="8705863" y="281559"/>
                  </a:lnTo>
                  <a:lnTo>
                    <a:pt x="8692134" y="238531"/>
                  </a:lnTo>
                  <a:lnTo>
                    <a:pt x="8673503" y="197942"/>
                  </a:lnTo>
                  <a:lnTo>
                    <a:pt x="8650338" y="160134"/>
                  </a:lnTo>
                  <a:lnTo>
                    <a:pt x="8642591" y="150317"/>
                  </a:lnTo>
                  <a:lnTo>
                    <a:pt x="8642591" y="108966"/>
                  </a:lnTo>
                  <a:lnTo>
                    <a:pt x="8606498" y="108966"/>
                  </a:lnTo>
                  <a:lnTo>
                    <a:pt x="8591817" y="94284"/>
                  </a:lnTo>
                  <a:lnTo>
                    <a:pt x="8557146" y="66941"/>
                  </a:lnTo>
                  <a:lnTo>
                    <a:pt x="8519338" y="43776"/>
                  </a:lnTo>
                  <a:lnTo>
                    <a:pt x="8478749" y="25146"/>
                  </a:lnTo>
                  <a:lnTo>
                    <a:pt x="8435721" y="11417"/>
                  </a:lnTo>
                  <a:lnTo>
                    <a:pt x="8390610" y="2921"/>
                  </a:lnTo>
                  <a:lnTo>
                    <a:pt x="8343773" y="0"/>
                  </a:lnTo>
                  <a:lnTo>
                    <a:pt x="373519" y="0"/>
                  </a:lnTo>
                  <a:lnTo>
                    <a:pt x="326656" y="2921"/>
                  </a:lnTo>
                  <a:lnTo>
                    <a:pt x="281546" y="11417"/>
                  </a:lnTo>
                  <a:lnTo>
                    <a:pt x="238518" y="25146"/>
                  </a:lnTo>
                  <a:lnTo>
                    <a:pt x="197916" y="43776"/>
                  </a:lnTo>
                  <a:lnTo>
                    <a:pt x="160108" y="66941"/>
                  </a:lnTo>
                  <a:lnTo>
                    <a:pt x="125450" y="94284"/>
                  </a:lnTo>
                  <a:lnTo>
                    <a:pt x="110756" y="108966"/>
                  </a:lnTo>
                  <a:lnTo>
                    <a:pt x="74676" y="108966"/>
                  </a:lnTo>
                  <a:lnTo>
                    <a:pt x="74676" y="150304"/>
                  </a:lnTo>
                  <a:lnTo>
                    <a:pt x="66916" y="160134"/>
                  </a:lnTo>
                  <a:lnTo>
                    <a:pt x="43764" y="197942"/>
                  </a:lnTo>
                  <a:lnTo>
                    <a:pt x="25133" y="238531"/>
                  </a:lnTo>
                  <a:lnTo>
                    <a:pt x="11404" y="281559"/>
                  </a:lnTo>
                  <a:lnTo>
                    <a:pt x="2908" y="326669"/>
                  </a:lnTo>
                  <a:lnTo>
                    <a:pt x="0" y="373507"/>
                  </a:lnTo>
                  <a:lnTo>
                    <a:pt x="0" y="1867522"/>
                  </a:lnTo>
                  <a:lnTo>
                    <a:pt x="2908" y="1914385"/>
                  </a:lnTo>
                  <a:lnTo>
                    <a:pt x="11404" y="1959495"/>
                  </a:lnTo>
                  <a:lnTo>
                    <a:pt x="25133" y="2002523"/>
                  </a:lnTo>
                  <a:lnTo>
                    <a:pt x="43764" y="2043125"/>
                  </a:lnTo>
                  <a:lnTo>
                    <a:pt x="66916" y="2080933"/>
                  </a:lnTo>
                  <a:lnTo>
                    <a:pt x="74676" y="2090775"/>
                  </a:lnTo>
                  <a:lnTo>
                    <a:pt x="74676" y="2132076"/>
                  </a:lnTo>
                  <a:lnTo>
                    <a:pt x="110744" y="2132076"/>
                  </a:lnTo>
                  <a:lnTo>
                    <a:pt x="125450" y="2146782"/>
                  </a:lnTo>
                  <a:lnTo>
                    <a:pt x="160108" y="2174125"/>
                  </a:lnTo>
                  <a:lnTo>
                    <a:pt x="197916" y="2197277"/>
                  </a:lnTo>
                  <a:lnTo>
                    <a:pt x="238518" y="2215908"/>
                  </a:lnTo>
                  <a:lnTo>
                    <a:pt x="281546" y="2229637"/>
                  </a:lnTo>
                  <a:lnTo>
                    <a:pt x="326656" y="2238133"/>
                  </a:lnTo>
                  <a:lnTo>
                    <a:pt x="373519" y="2241042"/>
                  </a:lnTo>
                  <a:lnTo>
                    <a:pt x="8343773" y="2241042"/>
                  </a:lnTo>
                  <a:lnTo>
                    <a:pt x="8390610" y="2238133"/>
                  </a:lnTo>
                  <a:lnTo>
                    <a:pt x="8435721" y="2229637"/>
                  </a:lnTo>
                  <a:lnTo>
                    <a:pt x="8478749" y="2215908"/>
                  </a:lnTo>
                  <a:lnTo>
                    <a:pt x="8519338" y="2197277"/>
                  </a:lnTo>
                  <a:lnTo>
                    <a:pt x="8557146" y="2174125"/>
                  </a:lnTo>
                  <a:lnTo>
                    <a:pt x="8591817" y="2146782"/>
                  </a:lnTo>
                  <a:lnTo>
                    <a:pt x="8606511" y="2132076"/>
                  </a:lnTo>
                  <a:lnTo>
                    <a:pt x="8642591" y="2132076"/>
                  </a:lnTo>
                  <a:lnTo>
                    <a:pt x="8642591" y="2090762"/>
                  </a:lnTo>
                  <a:lnTo>
                    <a:pt x="8650338" y="2080933"/>
                  </a:lnTo>
                  <a:lnTo>
                    <a:pt x="8673503" y="2043125"/>
                  </a:lnTo>
                  <a:lnTo>
                    <a:pt x="8692134" y="2002523"/>
                  </a:lnTo>
                  <a:lnTo>
                    <a:pt x="8705863" y="1959495"/>
                  </a:lnTo>
                  <a:lnTo>
                    <a:pt x="8714359" y="1914385"/>
                  </a:lnTo>
                  <a:lnTo>
                    <a:pt x="8717280" y="1867522"/>
                  </a:lnTo>
                  <a:lnTo>
                    <a:pt x="8717280" y="373507"/>
                  </a:lnTo>
                  <a:close/>
                </a:path>
              </a:pathLst>
            </a:custGeom>
            <a:solidFill>
              <a:srgbClr val="000000"/>
            </a:solidFill>
          </p:spPr>
          <p:txBody>
            <a:bodyPr wrap="square" lIns="0" tIns="0" rIns="0" bIns="0" rtlCol="0"/>
            <a:lstStyle/>
            <a:p>
              <a:endParaRPr/>
            </a:p>
          </p:txBody>
        </p:sp>
      </p:grpSp>
      <p:sp>
        <p:nvSpPr>
          <p:cNvPr id="6" name="object 6"/>
          <p:cNvSpPr txBox="1"/>
          <p:nvPr/>
        </p:nvSpPr>
        <p:spPr>
          <a:xfrm>
            <a:off x="464566" y="4062983"/>
            <a:ext cx="8215630" cy="1671320"/>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FFFFFF"/>
                </a:solidFill>
                <a:latin typeface="Times New Roman"/>
                <a:cs typeface="Times New Roman"/>
              </a:rPr>
              <a:t>Different</a:t>
            </a:r>
            <a:r>
              <a:rPr sz="1800" spc="-75" dirty="0">
                <a:solidFill>
                  <a:srgbClr val="FFFFFF"/>
                </a:solidFill>
                <a:latin typeface="Times New Roman"/>
                <a:cs typeface="Times New Roman"/>
              </a:rPr>
              <a:t> </a:t>
            </a:r>
            <a:r>
              <a:rPr sz="1800" spc="50" dirty="0">
                <a:solidFill>
                  <a:srgbClr val="FFFFFF"/>
                </a:solidFill>
                <a:latin typeface="Times New Roman"/>
                <a:cs typeface="Times New Roman"/>
              </a:rPr>
              <a:t>types</a:t>
            </a:r>
            <a:r>
              <a:rPr sz="1800" spc="-65" dirty="0">
                <a:solidFill>
                  <a:srgbClr val="FFFFFF"/>
                </a:solidFill>
                <a:latin typeface="Times New Roman"/>
                <a:cs typeface="Times New Roman"/>
              </a:rPr>
              <a:t> </a:t>
            </a:r>
            <a:r>
              <a:rPr sz="1800" spc="50" dirty="0">
                <a:solidFill>
                  <a:srgbClr val="FFFFFF"/>
                </a:solidFill>
                <a:latin typeface="Times New Roman"/>
                <a:cs typeface="Times New Roman"/>
              </a:rPr>
              <a:t>of</a:t>
            </a:r>
            <a:r>
              <a:rPr sz="1800" spc="-55" dirty="0">
                <a:solidFill>
                  <a:srgbClr val="FFFFFF"/>
                </a:solidFill>
                <a:latin typeface="Times New Roman"/>
                <a:cs typeface="Times New Roman"/>
              </a:rPr>
              <a:t> </a:t>
            </a:r>
            <a:r>
              <a:rPr sz="1800" spc="80" dirty="0">
                <a:solidFill>
                  <a:srgbClr val="FFFFFF"/>
                </a:solidFill>
                <a:latin typeface="Times New Roman"/>
                <a:cs typeface="Times New Roman"/>
              </a:rPr>
              <a:t>nodes</a:t>
            </a:r>
            <a:r>
              <a:rPr sz="1800" spc="-6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70" dirty="0">
                <a:solidFill>
                  <a:srgbClr val="FFFFFF"/>
                </a:solidFill>
                <a:latin typeface="Times New Roman"/>
                <a:cs typeface="Times New Roman"/>
              </a:rPr>
              <a:t> </a:t>
            </a:r>
            <a:r>
              <a:rPr sz="1800" spc="15" dirty="0">
                <a:solidFill>
                  <a:srgbClr val="FFFFFF"/>
                </a:solidFill>
                <a:latin typeface="Times New Roman"/>
                <a:cs typeface="Times New Roman"/>
              </a:rPr>
              <a:t>as</a:t>
            </a:r>
            <a:r>
              <a:rPr sz="1800" spc="-60" dirty="0">
                <a:solidFill>
                  <a:srgbClr val="FFFFFF"/>
                </a:solidFill>
                <a:latin typeface="Times New Roman"/>
                <a:cs typeface="Times New Roman"/>
              </a:rPr>
              <a:t> </a:t>
            </a:r>
            <a:r>
              <a:rPr sz="1800" spc="25" dirty="0">
                <a:solidFill>
                  <a:srgbClr val="FFFFFF"/>
                </a:solidFill>
                <a:latin typeface="Times New Roman"/>
                <a:cs typeface="Times New Roman"/>
              </a:rPr>
              <a:t>follows:</a:t>
            </a:r>
            <a:endParaRPr sz="1800">
              <a:latin typeface="Times New Roman"/>
              <a:cs typeface="Times New Roman"/>
            </a:endParaRPr>
          </a:p>
          <a:p>
            <a:pPr marL="298450" marR="5080" indent="-285750">
              <a:lnSpc>
                <a:spcPct val="100000"/>
              </a:lnSpc>
              <a:buFont typeface="Wingdings"/>
              <a:buChar char=""/>
              <a:tabLst>
                <a:tab pos="298450" algn="l"/>
              </a:tabLst>
            </a:pPr>
            <a:r>
              <a:rPr sz="1800" spc="90" dirty="0">
                <a:solidFill>
                  <a:srgbClr val="FFFFFF"/>
                </a:solidFill>
                <a:latin typeface="Times New Roman"/>
                <a:cs typeface="Times New Roman"/>
              </a:rPr>
              <a:t>Root</a:t>
            </a:r>
            <a:r>
              <a:rPr sz="1800" spc="-55" dirty="0">
                <a:solidFill>
                  <a:srgbClr val="FFFFFF"/>
                </a:solidFill>
                <a:latin typeface="Times New Roman"/>
                <a:cs typeface="Times New Roman"/>
              </a:rPr>
              <a:t> </a:t>
            </a:r>
            <a:r>
              <a:rPr sz="1800" spc="90" dirty="0">
                <a:solidFill>
                  <a:srgbClr val="FFFFFF"/>
                </a:solidFill>
                <a:latin typeface="Times New Roman"/>
                <a:cs typeface="Times New Roman"/>
              </a:rPr>
              <a:t>Node</a:t>
            </a:r>
            <a:r>
              <a:rPr sz="1800" spc="-50" dirty="0">
                <a:solidFill>
                  <a:srgbClr val="FFFFFF"/>
                </a:solidFill>
                <a:latin typeface="Times New Roman"/>
                <a:cs typeface="Times New Roman"/>
              </a:rPr>
              <a:t> </a:t>
            </a:r>
            <a:r>
              <a:rPr sz="1800" spc="10" dirty="0">
                <a:solidFill>
                  <a:srgbClr val="FFFFFF"/>
                </a:solidFill>
                <a:latin typeface="Times New Roman"/>
                <a:cs typeface="Times New Roman"/>
              </a:rPr>
              <a:t>-</a:t>
            </a:r>
            <a:r>
              <a:rPr sz="1800" spc="-50" dirty="0">
                <a:solidFill>
                  <a:srgbClr val="FFFFFF"/>
                </a:solidFill>
                <a:latin typeface="Times New Roman"/>
                <a:cs typeface="Times New Roman"/>
              </a:rPr>
              <a:t> </a:t>
            </a:r>
            <a:r>
              <a:rPr sz="1800" spc="100" dirty="0">
                <a:solidFill>
                  <a:srgbClr val="FFFFFF"/>
                </a:solidFill>
                <a:latin typeface="Times New Roman"/>
                <a:cs typeface="Times New Roman"/>
              </a:rPr>
              <a:t>Contains</a:t>
            </a:r>
            <a:r>
              <a:rPr sz="1800" spc="-50" dirty="0">
                <a:solidFill>
                  <a:srgbClr val="FFFFFF"/>
                </a:solidFill>
                <a:latin typeface="Times New Roman"/>
                <a:cs typeface="Times New Roman"/>
              </a:rPr>
              <a:t> </a:t>
            </a:r>
            <a:r>
              <a:rPr sz="1800" spc="90" dirty="0">
                <a:solidFill>
                  <a:srgbClr val="FFFFFF"/>
                </a:solidFill>
                <a:latin typeface="Times New Roman"/>
                <a:cs typeface="Times New Roman"/>
              </a:rPr>
              <a:t>an</a:t>
            </a:r>
            <a:r>
              <a:rPr sz="1800" spc="-45" dirty="0">
                <a:solidFill>
                  <a:srgbClr val="FFFFFF"/>
                </a:solidFill>
                <a:latin typeface="Times New Roman"/>
                <a:cs typeface="Times New Roman"/>
              </a:rPr>
              <a:t> </a:t>
            </a:r>
            <a:r>
              <a:rPr sz="1800" spc="80" dirty="0">
                <a:solidFill>
                  <a:srgbClr val="FFFFFF"/>
                </a:solidFill>
                <a:latin typeface="Times New Roman"/>
                <a:cs typeface="Times New Roman"/>
              </a:rPr>
              <a:t>index</a:t>
            </a:r>
            <a:r>
              <a:rPr sz="1800" spc="-55" dirty="0">
                <a:solidFill>
                  <a:srgbClr val="FFFFFF"/>
                </a:solidFill>
                <a:latin typeface="Times New Roman"/>
                <a:cs typeface="Times New Roman"/>
              </a:rPr>
              <a:t> </a:t>
            </a:r>
            <a:r>
              <a:rPr sz="1800" spc="35" dirty="0">
                <a:solidFill>
                  <a:srgbClr val="FFFFFF"/>
                </a:solidFill>
                <a:latin typeface="Times New Roman"/>
                <a:cs typeface="Times New Roman"/>
              </a:rPr>
              <a:t>page</a:t>
            </a:r>
            <a:r>
              <a:rPr sz="1800" spc="-50" dirty="0">
                <a:solidFill>
                  <a:srgbClr val="FFFFFF"/>
                </a:solidFill>
                <a:latin typeface="Times New Roman"/>
                <a:cs typeface="Times New Roman"/>
              </a:rPr>
              <a:t> </a:t>
            </a:r>
            <a:r>
              <a:rPr sz="1800" spc="80" dirty="0">
                <a:solidFill>
                  <a:srgbClr val="FFFFFF"/>
                </a:solidFill>
                <a:latin typeface="Times New Roman"/>
                <a:cs typeface="Times New Roman"/>
              </a:rPr>
              <a:t>with</a:t>
            </a:r>
            <a:r>
              <a:rPr sz="1800" spc="-40" dirty="0">
                <a:solidFill>
                  <a:srgbClr val="FFFFFF"/>
                </a:solidFill>
                <a:latin typeface="Times New Roman"/>
                <a:cs typeface="Times New Roman"/>
              </a:rPr>
              <a:t> </a:t>
            </a:r>
            <a:r>
              <a:rPr sz="1800" spc="75" dirty="0">
                <a:solidFill>
                  <a:srgbClr val="FFFFFF"/>
                </a:solidFill>
                <a:latin typeface="Times New Roman"/>
                <a:cs typeface="Times New Roman"/>
              </a:rPr>
              <a:t>pointers</a:t>
            </a:r>
            <a:r>
              <a:rPr sz="1800" spc="-45" dirty="0">
                <a:solidFill>
                  <a:srgbClr val="FFFFFF"/>
                </a:solidFill>
                <a:latin typeface="Times New Roman"/>
                <a:cs typeface="Times New Roman"/>
              </a:rPr>
              <a:t> </a:t>
            </a:r>
            <a:r>
              <a:rPr sz="1800" spc="75" dirty="0">
                <a:solidFill>
                  <a:srgbClr val="FFFFFF"/>
                </a:solidFill>
                <a:latin typeface="Times New Roman"/>
                <a:cs typeface="Times New Roman"/>
              </a:rPr>
              <a:t>pointing</a:t>
            </a:r>
            <a:r>
              <a:rPr sz="1800" spc="-4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50" dirty="0">
                <a:solidFill>
                  <a:srgbClr val="FFFFFF"/>
                </a:solidFill>
                <a:latin typeface="Times New Roman"/>
                <a:cs typeface="Times New Roman"/>
              </a:rPr>
              <a:t> </a:t>
            </a:r>
            <a:r>
              <a:rPr sz="1800" spc="80" dirty="0">
                <a:solidFill>
                  <a:srgbClr val="FFFFFF"/>
                </a:solidFill>
                <a:latin typeface="Times New Roman"/>
                <a:cs typeface="Times New Roman"/>
              </a:rPr>
              <a:t>index</a:t>
            </a:r>
            <a:r>
              <a:rPr sz="1800" spc="-40" dirty="0">
                <a:solidFill>
                  <a:srgbClr val="FFFFFF"/>
                </a:solidFill>
                <a:latin typeface="Times New Roman"/>
                <a:cs typeface="Times New Roman"/>
              </a:rPr>
              <a:t> </a:t>
            </a:r>
            <a:r>
              <a:rPr sz="1800" spc="30" dirty="0">
                <a:solidFill>
                  <a:srgbClr val="FFFFFF"/>
                </a:solidFill>
                <a:latin typeface="Times New Roman"/>
                <a:cs typeface="Times New Roman"/>
              </a:rPr>
              <a:t>pages</a:t>
            </a:r>
            <a:r>
              <a:rPr sz="1800" spc="-45" dirty="0">
                <a:solidFill>
                  <a:srgbClr val="FFFFFF"/>
                </a:solidFill>
                <a:latin typeface="Times New Roman"/>
                <a:cs typeface="Times New Roman"/>
              </a:rPr>
              <a:t> </a:t>
            </a:r>
            <a:r>
              <a:rPr sz="1800" spc="70" dirty="0">
                <a:solidFill>
                  <a:srgbClr val="FFFFFF"/>
                </a:solidFill>
                <a:latin typeface="Times New Roman"/>
                <a:cs typeface="Times New Roman"/>
              </a:rPr>
              <a:t>at</a:t>
            </a:r>
            <a:r>
              <a:rPr sz="1800" spc="-50" dirty="0">
                <a:solidFill>
                  <a:srgbClr val="FFFFFF"/>
                </a:solidFill>
                <a:latin typeface="Times New Roman"/>
                <a:cs typeface="Times New Roman"/>
              </a:rPr>
              <a:t> </a:t>
            </a:r>
            <a:r>
              <a:rPr sz="1800" spc="100" dirty="0">
                <a:solidFill>
                  <a:srgbClr val="FFFFFF"/>
                </a:solidFill>
                <a:latin typeface="Times New Roman"/>
                <a:cs typeface="Times New Roman"/>
              </a:rPr>
              <a:t>the  </a:t>
            </a:r>
            <a:r>
              <a:rPr sz="1800" spc="45" dirty="0">
                <a:solidFill>
                  <a:srgbClr val="FFFFFF"/>
                </a:solidFill>
                <a:latin typeface="Times New Roman"/>
                <a:cs typeface="Times New Roman"/>
              </a:rPr>
              <a:t>first </a:t>
            </a:r>
            <a:r>
              <a:rPr sz="1800" spc="65" dirty="0">
                <a:solidFill>
                  <a:srgbClr val="FFFFFF"/>
                </a:solidFill>
                <a:latin typeface="Times New Roman"/>
                <a:cs typeface="Times New Roman"/>
              </a:rPr>
              <a:t>intermediate</a:t>
            </a:r>
            <a:r>
              <a:rPr sz="1800" spc="-190" dirty="0">
                <a:solidFill>
                  <a:srgbClr val="FFFFFF"/>
                </a:solidFill>
                <a:latin typeface="Times New Roman"/>
                <a:cs typeface="Times New Roman"/>
              </a:rPr>
              <a:t> </a:t>
            </a:r>
            <a:r>
              <a:rPr sz="1800" spc="20" dirty="0">
                <a:solidFill>
                  <a:srgbClr val="FFFFFF"/>
                </a:solidFill>
                <a:latin typeface="Times New Roman"/>
                <a:cs typeface="Times New Roman"/>
              </a:rPr>
              <a:t>level.</a:t>
            </a:r>
            <a:endParaRPr sz="1800">
              <a:latin typeface="Times New Roman"/>
              <a:cs typeface="Times New Roman"/>
            </a:endParaRPr>
          </a:p>
          <a:p>
            <a:pPr marL="298450" marR="5715" indent="-285750">
              <a:lnSpc>
                <a:spcPct val="100000"/>
              </a:lnSpc>
              <a:buFont typeface="Wingdings"/>
              <a:buChar char=""/>
              <a:tabLst>
                <a:tab pos="298450" algn="l"/>
              </a:tabLst>
            </a:pPr>
            <a:r>
              <a:rPr sz="1800" spc="65" dirty="0">
                <a:solidFill>
                  <a:srgbClr val="FFFFFF"/>
                </a:solidFill>
                <a:latin typeface="Times New Roman"/>
                <a:cs typeface="Times New Roman"/>
              </a:rPr>
              <a:t>Intermediate</a:t>
            </a:r>
            <a:r>
              <a:rPr sz="1800" spc="-50" dirty="0">
                <a:solidFill>
                  <a:srgbClr val="FFFFFF"/>
                </a:solidFill>
                <a:latin typeface="Times New Roman"/>
                <a:cs typeface="Times New Roman"/>
              </a:rPr>
              <a:t> </a:t>
            </a:r>
            <a:r>
              <a:rPr sz="1800" spc="75" dirty="0">
                <a:solidFill>
                  <a:srgbClr val="FFFFFF"/>
                </a:solidFill>
                <a:latin typeface="Times New Roman"/>
                <a:cs typeface="Times New Roman"/>
              </a:rPr>
              <a:t>Nodes</a:t>
            </a:r>
            <a:r>
              <a:rPr sz="1800" spc="-45" dirty="0">
                <a:solidFill>
                  <a:srgbClr val="FFFFFF"/>
                </a:solidFill>
                <a:latin typeface="Times New Roman"/>
                <a:cs typeface="Times New Roman"/>
              </a:rPr>
              <a:t> </a:t>
            </a:r>
            <a:r>
              <a:rPr sz="1800" spc="10" dirty="0">
                <a:solidFill>
                  <a:srgbClr val="FFFFFF"/>
                </a:solidFill>
                <a:latin typeface="Times New Roman"/>
                <a:cs typeface="Times New Roman"/>
              </a:rPr>
              <a:t>-</a:t>
            </a:r>
            <a:r>
              <a:rPr sz="1800" spc="-45" dirty="0">
                <a:solidFill>
                  <a:srgbClr val="FFFFFF"/>
                </a:solidFill>
                <a:latin typeface="Times New Roman"/>
                <a:cs typeface="Times New Roman"/>
              </a:rPr>
              <a:t> </a:t>
            </a:r>
            <a:r>
              <a:rPr sz="1800" spc="114" dirty="0">
                <a:solidFill>
                  <a:srgbClr val="FFFFFF"/>
                </a:solidFill>
                <a:latin typeface="Times New Roman"/>
                <a:cs typeface="Times New Roman"/>
              </a:rPr>
              <a:t>Contain</a:t>
            </a:r>
            <a:r>
              <a:rPr sz="1800" spc="-55" dirty="0">
                <a:solidFill>
                  <a:srgbClr val="FFFFFF"/>
                </a:solidFill>
                <a:latin typeface="Times New Roman"/>
                <a:cs typeface="Times New Roman"/>
              </a:rPr>
              <a:t> </a:t>
            </a:r>
            <a:r>
              <a:rPr sz="1800" spc="80" dirty="0">
                <a:solidFill>
                  <a:srgbClr val="FFFFFF"/>
                </a:solidFill>
                <a:latin typeface="Times New Roman"/>
                <a:cs typeface="Times New Roman"/>
              </a:rPr>
              <a:t>index</a:t>
            </a:r>
            <a:r>
              <a:rPr sz="1800" spc="-45" dirty="0">
                <a:solidFill>
                  <a:srgbClr val="FFFFFF"/>
                </a:solidFill>
                <a:latin typeface="Times New Roman"/>
                <a:cs typeface="Times New Roman"/>
              </a:rPr>
              <a:t> </a:t>
            </a:r>
            <a:r>
              <a:rPr sz="1800" spc="30" dirty="0">
                <a:solidFill>
                  <a:srgbClr val="FFFFFF"/>
                </a:solidFill>
                <a:latin typeface="Times New Roman"/>
                <a:cs typeface="Times New Roman"/>
              </a:rPr>
              <a:t>pages</a:t>
            </a:r>
            <a:r>
              <a:rPr sz="1800" spc="-45" dirty="0">
                <a:solidFill>
                  <a:srgbClr val="FFFFFF"/>
                </a:solidFill>
                <a:latin typeface="Times New Roman"/>
                <a:cs typeface="Times New Roman"/>
              </a:rPr>
              <a:t> </a:t>
            </a:r>
            <a:r>
              <a:rPr sz="1800" spc="80" dirty="0">
                <a:solidFill>
                  <a:srgbClr val="FFFFFF"/>
                </a:solidFill>
                <a:latin typeface="Times New Roman"/>
                <a:cs typeface="Times New Roman"/>
              </a:rPr>
              <a:t>with</a:t>
            </a:r>
            <a:r>
              <a:rPr sz="1800" spc="-40" dirty="0">
                <a:solidFill>
                  <a:srgbClr val="FFFFFF"/>
                </a:solidFill>
                <a:latin typeface="Times New Roman"/>
                <a:cs typeface="Times New Roman"/>
              </a:rPr>
              <a:t> </a:t>
            </a:r>
            <a:r>
              <a:rPr sz="1800" spc="75" dirty="0">
                <a:solidFill>
                  <a:srgbClr val="FFFFFF"/>
                </a:solidFill>
                <a:latin typeface="Times New Roman"/>
                <a:cs typeface="Times New Roman"/>
              </a:rPr>
              <a:t>pointers</a:t>
            </a:r>
            <a:r>
              <a:rPr sz="1800" spc="-45" dirty="0">
                <a:solidFill>
                  <a:srgbClr val="FFFFFF"/>
                </a:solidFill>
                <a:latin typeface="Times New Roman"/>
                <a:cs typeface="Times New Roman"/>
              </a:rPr>
              <a:t> </a:t>
            </a:r>
            <a:r>
              <a:rPr sz="1800" spc="75" dirty="0">
                <a:solidFill>
                  <a:srgbClr val="FFFFFF"/>
                </a:solidFill>
                <a:latin typeface="Times New Roman"/>
                <a:cs typeface="Times New Roman"/>
              </a:rPr>
              <a:t>pointing</a:t>
            </a:r>
            <a:r>
              <a:rPr sz="1800" spc="-40" dirty="0">
                <a:solidFill>
                  <a:srgbClr val="FFFFFF"/>
                </a:solidFill>
                <a:latin typeface="Times New Roman"/>
                <a:cs typeface="Times New Roman"/>
              </a:rPr>
              <a:t> </a:t>
            </a:r>
            <a:r>
              <a:rPr sz="1800" spc="70" dirty="0">
                <a:solidFill>
                  <a:srgbClr val="FFFFFF"/>
                </a:solidFill>
                <a:latin typeface="Times New Roman"/>
                <a:cs typeface="Times New Roman"/>
              </a:rPr>
              <a:t>either</a:t>
            </a:r>
            <a:r>
              <a:rPr sz="1800" spc="-35" dirty="0">
                <a:solidFill>
                  <a:srgbClr val="FFFFFF"/>
                </a:solidFill>
                <a:latin typeface="Times New Roman"/>
                <a:cs typeface="Times New Roman"/>
              </a:rPr>
              <a:t> </a:t>
            </a:r>
            <a:r>
              <a:rPr sz="1800" spc="95" dirty="0">
                <a:solidFill>
                  <a:srgbClr val="FFFFFF"/>
                </a:solidFill>
                <a:latin typeface="Times New Roman"/>
                <a:cs typeface="Times New Roman"/>
              </a:rPr>
              <a:t>to</a:t>
            </a:r>
            <a:r>
              <a:rPr sz="1800" spc="-45" dirty="0">
                <a:solidFill>
                  <a:srgbClr val="FFFFFF"/>
                </a:solidFill>
                <a:latin typeface="Times New Roman"/>
                <a:cs typeface="Times New Roman"/>
              </a:rPr>
              <a:t> </a:t>
            </a:r>
            <a:r>
              <a:rPr sz="1800" spc="80" dirty="0">
                <a:solidFill>
                  <a:srgbClr val="FFFFFF"/>
                </a:solidFill>
                <a:latin typeface="Times New Roman"/>
                <a:cs typeface="Times New Roman"/>
              </a:rPr>
              <a:t>index  </a:t>
            </a:r>
            <a:r>
              <a:rPr sz="1800" spc="30" dirty="0">
                <a:solidFill>
                  <a:srgbClr val="FFFFFF"/>
                </a:solidFill>
                <a:latin typeface="Times New Roman"/>
                <a:cs typeface="Times New Roman"/>
              </a:rPr>
              <a:t>pages</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at</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next</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intermediate</a:t>
            </a:r>
            <a:r>
              <a:rPr sz="1800" spc="-85" dirty="0">
                <a:solidFill>
                  <a:srgbClr val="FFFFFF"/>
                </a:solidFill>
                <a:latin typeface="Times New Roman"/>
                <a:cs typeface="Times New Roman"/>
              </a:rPr>
              <a:t> </a:t>
            </a:r>
            <a:r>
              <a:rPr sz="1800" spc="25" dirty="0">
                <a:solidFill>
                  <a:srgbClr val="FFFFFF"/>
                </a:solidFill>
                <a:latin typeface="Times New Roman"/>
                <a:cs typeface="Times New Roman"/>
              </a:rPr>
              <a:t>level</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or</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70" dirty="0">
                <a:solidFill>
                  <a:srgbClr val="FFFFFF"/>
                </a:solidFill>
                <a:latin typeface="Times New Roman"/>
                <a:cs typeface="Times New Roman"/>
              </a:rPr>
              <a:t> </a:t>
            </a:r>
            <a:r>
              <a:rPr sz="1800" spc="80" dirty="0">
                <a:solidFill>
                  <a:srgbClr val="FFFFFF"/>
                </a:solidFill>
                <a:latin typeface="Times New Roman"/>
                <a:cs typeface="Times New Roman"/>
              </a:rPr>
              <a:t>index</a:t>
            </a:r>
            <a:r>
              <a:rPr sz="1800" spc="-70" dirty="0">
                <a:solidFill>
                  <a:srgbClr val="FFFFFF"/>
                </a:solidFill>
                <a:latin typeface="Times New Roman"/>
                <a:cs typeface="Times New Roman"/>
              </a:rPr>
              <a:t> </a:t>
            </a:r>
            <a:r>
              <a:rPr sz="1800" spc="75" dirty="0">
                <a:solidFill>
                  <a:srgbClr val="FFFFFF"/>
                </a:solidFill>
                <a:latin typeface="Times New Roman"/>
                <a:cs typeface="Times New Roman"/>
              </a:rPr>
              <a:t>or</a:t>
            </a:r>
            <a:r>
              <a:rPr sz="1800" spc="-60"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85" dirty="0">
                <a:solidFill>
                  <a:srgbClr val="FFFFFF"/>
                </a:solidFill>
                <a:latin typeface="Times New Roman"/>
                <a:cs typeface="Times New Roman"/>
              </a:rPr>
              <a:t> </a:t>
            </a:r>
            <a:r>
              <a:rPr sz="1800" spc="30" dirty="0">
                <a:solidFill>
                  <a:srgbClr val="FFFFFF"/>
                </a:solidFill>
                <a:latin typeface="Times New Roman"/>
                <a:cs typeface="Times New Roman"/>
              </a:rPr>
              <a:t>pages</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at</a:t>
            </a:r>
            <a:r>
              <a:rPr sz="1800" spc="-7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55" dirty="0">
                <a:solidFill>
                  <a:srgbClr val="FFFFFF"/>
                </a:solidFill>
                <a:latin typeface="Times New Roman"/>
                <a:cs typeface="Times New Roman"/>
              </a:rPr>
              <a:t> </a:t>
            </a:r>
            <a:r>
              <a:rPr sz="1800" spc="20" dirty="0">
                <a:solidFill>
                  <a:srgbClr val="FFFFFF"/>
                </a:solidFill>
                <a:latin typeface="Times New Roman"/>
                <a:cs typeface="Times New Roman"/>
              </a:rPr>
              <a:t>leaf</a:t>
            </a:r>
            <a:r>
              <a:rPr sz="1800" spc="-70" dirty="0">
                <a:solidFill>
                  <a:srgbClr val="FFFFFF"/>
                </a:solidFill>
                <a:latin typeface="Times New Roman"/>
                <a:cs typeface="Times New Roman"/>
              </a:rPr>
              <a:t> </a:t>
            </a:r>
            <a:r>
              <a:rPr sz="1800" spc="20" dirty="0">
                <a:solidFill>
                  <a:srgbClr val="FFFFFF"/>
                </a:solidFill>
                <a:latin typeface="Times New Roman"/>
                <a:cs typeface="Times New Roman"/>
              </a:rPr>
              <a:t>level.</a:t>
            </a:r>
            <a:endParaRPr sz="1800">
              <a:latin typeface="Times New Roman"/>
              <a:cs typeface="Times New Roman"/>
            </a:endParaRPr>
          </a:p>
          <a:p>
            <a:pPr marL="298450" indent="-285750">
              <a:lnSpc>
                <a:spcPct val="100000"/>
              </a:lnSpc>
              <a:buFont typeface="Wingdings"/>
              <a:buChar char=""/>
              <a:tabLst>
                <a:tab pos="298450" algn="l"/>
              </a:tabLst>
            </a:pPr>
            <a:r>
              <a:rPr sz="1800" spc="15" dirty="0">
                <a:solidFill>
                  <a:srgbClr val="FFFFFF"/>
                </a:solidFill>
                <a:latin typeface="Times New Roman"/>
                <a:cs typeface="Times New Roman"/>
              </a:rPr>
              <a:t>Leaf</a:t>
            </a:r>
            <a:r>
              <a:rPr sz="1800" spc="-65" dirty="0">
                <a:solidFill>
                  <a:srgbClr val="FFFFFF"/>
                </a:solidFill>
                <a:latin typeface="Times New Roman"/>
                <a:cs typeface="Times New Roman"/>
              </a:rPr>
              <a:t> </a:t>
            </a:r>
            <a:r>
              <a:rPr sz="1800" spc="75" dirty="0">
                <a:solidFill>
                  <a:srgbClr val="FFFFFF"/>
                </a:solidFill>
                <a:latin typeface="Times New Roman"/>
                <a:cs typeface="Times New Roman"/>
              </a:rPr>
              <a:t>Nodes</a:t>
            </a:r>
            <a:r>
              <a:rPr sz="1800" spc="-55" dirty="0">
                <a:solidFill>
                  <a:srgbClr val="FFFFFF"/>
                </a:solidFill>
                <a:latin typeface="Times New Roman"/>
                <a:cs typeface="Times New Roman"/>
              </a:rPr>
              <a:t> </a:t>
            </a:r>
            <a:r>
              <a:rPr sz="1800" spc="10" dirty="0">
                <a:solidFill>
                  <a:srgbClr val="FFFFFF"/>
                </a:solidFill>
                <a:latin typeface="Times New Roman"/>
                <a:cs typeface="Times New Roman"/>
              </a:rPr>
              <a:t>-</a:t>
            </a:r>
            <a:r>
              <a:rPr sz="1800" spc="-55" dirty="0">
                <a:solidFill>
                  <a:srgbClr val="FFFFFF"/>
                </a:solidFill>
                <a:latin typeface="Times New Roman"/>
                <a:cs typeface="Times New Roman"/>
              </a:rPr>
              <a:t> </a:t>
            </a:r>
            <a:r>
              <a:rPr sz="1800" spc="114" dirty="0">
                <a:solidFill>
                  <a:srgbClr val="FFFFFF"/>
                </a:solidFill>
                <a:latin typeface="Times New Roman"/>
                <a:cs typeface="Times New Roman"/>
              </a:rPr>
              <a:t>Contain</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either</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80" dirty="0">
                <a:solidFill>
                  <a:srgbClr val="FFFFFF"/>
                </a:solidFill>
                <a:latin typeface="Times New Roman"/>
                <a:cs typeface="Times New Roman"/>
              </a:rPr>
              <a:t> </a:t>
            </a:r>
            <a:r>
              <a:rPr sz="1800" spc="30" dirty="0">
                <a:solidFill>
                  <a:srgbClr val="FFFFFF"/>
                </a:solidFill>
                <a:latin typeface="Times New Roman"/>
                <a:cs typeface="Times New Roman"/>
              </a:rPr>
              <a:t>pages</a:t>
            </a:r>
            <a:r>
              <a:rPr sz="1800" spc="-60" dirty="0">
                <a:solidFill>
                  <a:srgbClr val="FFFFFF"/>
                </a:solidFill>
                <a:latin typeface="Times New Roman"/>
                <a:cs typeface="Times New Roman"/>
              </a:rPr>
              <a:t> </a:t>
            </a:r>
            <a:r>
              <a:rPr sz="1800" spc="75" dirty="0">
                <a:solidFill>
                  <a:srgbClr val="FFFFFF"/>
                </a:solidFill>
                <a:latin typeface="Times New Roman"/>
                <a:cs typeface="Times New Roman"/>
              </a:rPr>
              <a:t>or</a:t>
            </a:r>
            <a:r>
              <a:rPr sz="1800" spc="-60" dirty="0">
                <a:solidFill>
                  <a:srgbClr val="FFFFFF"/>
                </a:solidFill>
                <a:latin typeface="Times New Roman"/>
                <a:cs typeface="Times New Roman"/>
              </a:rPr>
              <a:t> </a:t>
            </a:r>
            <a:r>
              <a:rPr sz="1800" spc="80" dirty="0">
                <a:solidFill>
                  <a:srgbClr val="FFFFFF"/>
                </a:solidFill>
                <a:latin typeface="Times New Roman"/>
                <a:cs typeface="Times New Roman"/>
              </a:rPr>
              <a:t>index</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pages</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that</a:t>
            </a:r>
            <a:r>
              <a:rPr sz="1800" spc="-65" dirty="0">
                <a:solidFill>
                  <a:srgbClr val="FFFFFF"/>
                </a:solidFill>
                <a:latin typeface="Times New Roman"/>
                <a:cs typeface="Times New Roman"/>
              </a:rPr>
              <a:t> </a:t>
            </a:r>
            <a:r>
              <a:rPr sz="1800" spc="90" dirty="0">
                <a:solidFill>
                  <a:srgbClr val="FFFFFF"/>
                </a:solidFill>
                <a:latin typeface="Times New Roman"/>
                <a:cs typeface="Times New Roman"/>
              </a:rPr>
              <a:t>point</a:t>
            </a:r>
            <a:r>
              <a:rPr sz="1800" spc="-60"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data</a:t>
            </a:r>
            <a:r>
              <a:rPr sz="1800" spc="-70" dirty="0">
                <a:solidFill>
                  <a:srgbClr val="FFFFFF"/>
                </a:solidFill>
                <a:latin typeface="Times New Roman"/>
                <a:cs typeface="Times New Roman"/>
              </a:rPr>
              <a:t> </a:t>
            </a:r>
            <a:r>
              <a:rPr sz="1800" spc="25" dirty="0">
                <a:solidFill>
                  <a:srgbClr val="FFFFFF"/>
                </a:solidFill>
                <a:latin typeface="Times New Roman"/>
                <a:cs typeface="Times New Roman"/>
              </a:rPr>
              <a:t>pages.</a:t>
            </a:r>
            <a:endParaRPr sz="1800">
              <a:latin typeface="Times New Roman"/>
              <a:cs typeface="Times New Roman"/>
            </a:endParaRPr>
          </a:p>
        </p:txBody>
      </p:sp>
      <p:pic>
        <p:nvPicPr>
          <p:cNvPr id="7" name="object 7"/>
          <p:cNvPicPr/>
          <p:nvPr/>
        </p:nvPicPr>
        <p:blipFill>
          <a:blip r:embed="rId4" cstate="print"/>
          <a:stretch>
            <a:fillRect/>
          </a:stretch>
        </p:blipFill>
        <p:spPr>
          <a:xfrm>
            <a:off x="1669542" y="1028700"/>
            <a:ext cx="6006846" cy="2400300"/>
          </a:xfrm>
          <a:prstGeom prst="rect">
            <a:avLst/>
          </a:prstGeom>
        </p:spPr>
      </p:pic>
      <p:sp>
        <p:nvSpPr>
          <p:cNvPr id="8" name="object 8"/>
          <p:cNvSpPr txBox="1"/>
          <p:nvPr/>
        </p:nvSpPr>
        <p:spPr>
          <a:xfrm>
            <a:off x="3711702" y="3441446"/>
            <a:ext cx="177546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Index </a:t>
            </a:r>
            <a:r>
              <a:rPr sz="1400" b="1" spc="-20" dirty="0">
                <a:latin typeface="Times New Roman"/>
                <a:cs typeface="Times New Roman"/>
              </a:rPr>
              <a:t>B-Tree</a:t>
            </a:r>
            <a:r>
              <a:rPr sz="1400" b="1" spc="-204" dirty="0">
                <a:latin typeface="Times New Roman"/>
                <a:cs typeface="Times New Roman"/>
              </a:rPr>
              <a:t> </a:t>
            </a:r>
            <a:r>
              <a:rPr sz="1400" b="1" spc="-15" dirty="0">
                <a:latin typeface="Times New Roman"/>
                <a:cs typeface="Times New Roman"/>
              </a:rPr>
              <a:t>Structure</a:t>
            </a:r>
            <a:endParaRPr sz="14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15</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938" y="78485"/>
            <a:ext cx="3216275" cy="574040"/>
          </a:xfrm>
          <a:prstGeom prst="rect">
            <a:avLst/>
          </a:prstGeom>
        </p:spPr>
        <p:txBody>
          <a:bodyPr vert="horz" wrap="square" lIns="0" tIns="12700" rIns="0" bIns="0" rtlCol="0">
            <a:spAutoFit/>
          </a:bodyPr>
          <a:lstStyle/>
          <a:p>
            <a:pPr marL="12700">
              <a:lnSpc>
                <a:spcPct val="100000"/>
              </a:lnSpc>
              <a:spcBef>
                <a:spcPts val="100"/>
              </a:spcBef>
            </a:pPr>
            <a:r>
              <a:rPr b="0" spc="145" dirty="0">
                <a:latin typeface="Times New Roman"/>
                <a:cs typeface="Times New Roman"/>
              </a:rPr>
              <a:t>Heap</a:t>
            </a:r>
            <a:r>
              <a:rPr b="0" spc="-195" dirty="0">
                <a:latin typeface="Times New Roman"/>
                <a:cs typeface="Times New Roman"/>
              </a:rPr>
              <a:t> </a:t>
            </a:r>
            <a:r>
              <a:rPr b="0" spc="155" dirty="0">
                <a:latin typeface="Times New Roman"/>
                <a:cs typeface="Times New Roman"/>
              </a:rPr>
              <a:t>Structures</a:t>
            </a:r>
          </a:p>
        </p:txBody>
      </p:sp>
      <p:pic>
        <p:nvPicPr>
          <p:cNvPr id="3" name="object 3"/>
          <p:cNvPicPr/>
          <p:nvPr/>
        </p:nvPicPr>
        <p:blipFill>
          <a:blip r:embed="rId3" cstate="print"/>
          <a:stretch>
            <a:fillRect/>
          </a:stretch>
        </p:blipFill>
        <p:spPr>
          <a:xfrm>
            <a:off x="535686" y="1029461"/>
            <a:ext cx="7892033" cy="1924812"/>
          </a:xfrm>
          <a:prstGeom prst="rect">
            <a:avLst/>
          </a:prstGeom>
        </p:spPr>
      </p:pic>
      <p:sp>
        <p:nvSpPr>
          <p:cNvPr id="4" name="object 4"/>
          <p:cNvSpPr txBox="1"/>
          <p:nvPr/>
        </p:nvSpPr>
        <p:spPr>
          <a:xfrm>
            <a:off x="535686" y="1029461"/>
            <a:ext cx="7892415" cy="1925320"/>
          </a:xfrm>
          <a:prstGeom prst="rect">
            <a:avLst/>
          </a:prstGeom>
        </p:spPr>
        <p:txBody>
          <a:bodyPr vert="horz" wrap="square" lIns="0" tIns="260985" rIns="0" bIns="0" rtlCol="0">
            <a:spAutoFit/>
          </a:bodyPr>
          <a:lstStyle/>
          <a:p>
            <a:pPr marL="434340" indent="-342900">
              <a:lnSpc>
                <a:spcPct val="100000"/>
              </a:lnSpc>
              <a:spcBef>
                <a:spcPts val="2055"/>
              </a:spcBef>
              <a:buFont typeface="Wingdings"/>
              <a:buChar char=""/>
              <a:tabLst>
                <a:tab pos="433705" algn="l"/>
                <a:tab pos="434340" algn="l"/>
              </a:tabLst>
            </a:pPr>
            <a:r>
              <a:rPr sz="1800" spc="16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80" dirty="0">
                <a:solidFill>
                  <a:srgbClr val="FFFFFF"/>
                </a:solidFill>
                <a:latin typeface="Times New Roman"/>
                <a:cs typeface="Times New Roman"/>
              </a:rPr>
              <a:t>heap</a:t>
            </a:r>
            <a:r>
              <a:rPr sz="1800" spc="-60" dirty="0">
                <a:solidFill>
                  <a:srgbClr val="FFFFFF"/>
                </a:solidFill>
                <a:latin typeface="Times New Roman"/>
                <a:cs typeface="Times New Roman"/>
              </a:rPr>
              <a:t> </a:t>
            </a:r>
            <a:r>
              <a:rPr sz="1800" spc="5" dirty="0">
                <a:solidFill>
                  <a:srgbClr val="FFFFFF"/>
                </a:solidFill>
                <a:latin typeface="Times New Roman"/>
                <a:cs typeface="Times New Roman"/>
              </a:rPr>
              <a:t>is</a:t>
            </a:r>
            <a:r>
              <a:rPr sz="1800" spc="-5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50" dirty="0">
                <a:solidFill>
                  <a:srgbClr val="FFFFFF"/>
                </a:solidFill>
                <a:latin typeface="Times New Roman"/>
                <a:cs typeface="Times New Roman"/>
              </a:rPr>
              <a:t>table</a:t>
            </a:r>
            <a:r>
              <a:rPr sz="1800" spc="-75" dirty="0">
                <a:solidFill>
                  <a:srgbClr val="FFFFFF"/>
                </a:solidFill>
                <a:latin typeface="Times New Roman"/>
                <a:cs typeface="Times New Roman"/>
              </a:rPr>
              <a:t> </a:t>
            </a:r>
            <a:r>
              <a:rPr sz="1800" spc="95" dirty="0">
                <a:solidFill>
                  <a:srgbClr val="FFFFFF"/>
                </a:solidFill>
                <a:latin typeface="Times New Roman"/>
                <a:cs typeface="Times New Roman"/>
              </a:rPr>
              <a:t>without</a:t>
            </a:r>
            <a:r>
              <a:rPr sz="1800" spc="-5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60" dirty="0">
                <a:solidFill>
                  <a:srgbClr val="FFFFFF"/>
                </a:solidFill>
                <a:latin typeface="Times New Roman"/>
                <a:cs typeface="Times New Roman"/>
              </a:rPr>
              <a:t>clustered</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index.</a:t>
            </a:r>
            <a:endParaRPr sz="1800">
              <a:latin typeface="Times New Roman"/>
              <a:cs typeface="Times New Roman"/>
            </a:endParaRPr>
          </a:p>
          <a:p>
            <a:pPr marL="433705" marR="82550" indent="-342900">
              <a:lnSpc>
                <a:spcPct val="100000"/>
              </a:lnSpc>
              <a:buFont typeface="Wingdings"/>
              <a:buChar char=""/>
              <a:tabLst>
                <a:tab pos="433705" algn="l"/>
                <a:tab pos="434340" algn="l"/>
              </a:tabLst>
            </a:pPr>
            <a:r>
              <a:rPr sz="1800" spc="70" dirty="0">
                <a:solidFill>
                  <a:srgbClr val="FFFFFF"/>
                </a:solidFill>
                <a:latin typeface="Times New Roman"/>
                <a:cs typeface="Times New Roman"/>
              </a:rPr>
              <a:t>In </a:t>
            </a:r>
            <a:r>
              <a:rPr sz="1800" spc="30" dirty="0">
                <a:solidFill>
                  <a:srgbClr val="FFFFFF"/>
                </a:solidFill>
                <a:latin typeface="Times New Roman"/>
                <a:cs typeface="Times New Roman"/>
              </a:rPr>
              <a:t>a </a:t>
            </a:r>
            <a:r>
              <a:rPr sz="1800" spc="80" dirty="0">
                <a:solidFill>
                  <a:srgbClr val="FFFFFF"/>
                </a:solidFill>
                <a:latin typeface="Times New Roman"/>
                <a:cs typeface="Times New Roman"/>
              </a:rPr>
              <a:t>heap </a:t>
            </a:r>
            <a:r>
              <a:rPr sz="1800" spc="70" dirty="0">
                <a:solidFill>
                  <a:srgbClr val="FFFFFF"/>
                </a:solidFill>
                <a:latin typeface="Times New Roman"/>
                <a:cs typeface="Times New Roman"/>
              </a:rPr>
              <a:t>structure, </a:t>
            </a:r>
            <a:r>
              <a:rPr sz="1800" spc="100" dirty="0">
                <a:solidFill>
                  <a:srgbClr val="FFFFFF"/>
                </a:solidFill>
                <a:latin typeface="Times New Roman"/>
                <a:cs typeface="Times New Roman"/>
              </a:rPr>
              <a:t>the </a:t>
            </a:r>
            <a:r>
              <a:rPr sz="1800" spc="70" dirty="0">
                <a:solidFill>
                  <a:srgbClr val="FFFFFF"/>
                </a:solidFill>
                <a:latin typeface="Times New Roman"/>
                <a:cs typeface="Times New Roman"/>
              </a:rPr>
              <a:t>data </a:t>
            </a:r>
            <a:r>
              <a:rPr sz="1800" spc="30" dirty="0">
                <a:solidFill>
                  <a:srgbClr val="FFFFFF"/>
                </a:solidFill>
                <a:latin typeface="Times New Roman"/>
                <a:cs typeface="Times New Roman"/>
              </a:rPr>
              <a:t>pages </a:t>
            </a:r>
            <a:r>
              <a:rPr sz="1800" spc="100" dirty="0">
                <a:solidFill>
                  <a:srgbClr val="FFFFFF"/>
                </a:solidFill>
                <a:latin typeface="Times New Roman"/>
                <a:cs typeface="Times New Roman"/>
              </a:rPr>
              <a:t>and </a:t>
            </a:r>
            <a:r>
              <a:rPr sz="1800" spc="55" dirty="0">
                <a:solidFill>
                  <a:srgbClr val="FFFFFF"/>
                </a:solidFill>
                <a:latin typeface="Times New Roman"/>
                <a:cs typeface="Times New Roman"/>
              </a:rPr>
              <a:t>records </a:t>
            </a:r>
            <a:r>
              <a:rPr sz="1800" spc="45" dirty="0">
                <a:solidFill>
                  <a:srgbClr val="FFFFFF"/>
                </a:solidFill>
                <a:latin typeface="Times New Roman"/>
                <a:cs typeface="Times New Roman"/>
              </a:rPr>
              <a:t>are </a:t>
            </a:r>
            <a:r>
              <a:rPr sz="1800" spc="120" dirty="0">
                <a:solidFill>
                  <a:srgbClr val="FFFFFF"/>
                </a:solidFill>
                <a:latin typeface="Times New Roman"/>
                <a:cs typeface="Times New Roman"/>
              </a:rPr>
              <a:t>not </a:t>
            </a:r>
            <a:r>
              <a:rPr sz="1800" spc="60" dirty="0">
                <a:solidFill>
                  <a:srgbClr val="FFFFFF"/>
                </a:solidFill>
                <a:latin typeface="Times New Roman"/>
                <a:cs typeface="Times New Roman"/>
              </a:rPr>
              <a:t>arranged </a:t>
            </a:r>
            <a:r>
              <a:rPr sz="1800" spc="85" dirty="0">
                <a:solidFill>
                  <a:srgbClr val="FFFFFF"/>
                </a:solidFill>
                <a:latin typeface="Times New Roman"/>
                <a:cs typeface="Times New Roman"/>
              </a:rPr>
              <a:t>in </a:t>
            </a:r>
            <a:r>
              <a:rPr sz="1800" spc="70" dirty="0">
                <a:solidFill>
                  <a:srgbClr val="FFFFFF"/>
                </a:solidFill>
                <a:latin typeface="Times New Roman"/>
                <a:cs typeface="Times New Roman"/>
              </a:rPr>
              <a:t>sorted  </a:t>
            </a:r>
            <a:r>
              <a:rPr sz="1800" spc="65" dirty="0">
                <a:solidFill>
                  <a:srgbClr val="FFFFFF"/>
                </a:solidFill>
                <a:latin typeface="Times New Roman"/>
                <a:cs typeface="Times New Roman"/>
              </a:rPr>
              <a:t>order.</a:t>
            </a:r>
            <a:endParaRPr sz="1800">
              <a:latin typeface="Times New Roman"/>
              <a:cs typeface="Times New Roman"/>
            </a:endParaRPr>
          </a:p>
          <a:p>
            <a:pPr marL="434340" indent="-342900">
              <a:lnSpc>
                <a:spcPct val="100000"/>
              </a:lnSpc>
              <a:buFont typeface="Wingdings"/>
              <a:buChar char=""/>
              <a:tabLst>
                <a:tab pos="433705" algn="l"/>
                <a:tab pos="434340" algn="l"/>
              </a:tabLst>
            </a:pPr>
            <a:r>
              <a:rPr sz="1800" spc="120" dirty="0">
                <a:solidFill>
                  <a:srgbClr val="FFFFFF"/>
                </a:solidFill>
                <a:latin typeface="Times New Roman"/>
                <a:cs typeface="Times New Roman"/>
              </a:rPr>
              <a:t>The </a:t>
            </a:r>
            <a:r>
              <a:rPr sz="1800" spc="60" dirty="0">
                <a:solidFill>
                  <a:srgbClr val="FFFFFF"/>
                </a:solidFill>
                <a:latin typeface="Times New Roman"/>
                <a:cs typeface="Times New Roman"/>
              </a:rPr>
              <a:t>only </a:t>
            </a:r>
            <a:r>
              <a:rPr sz="1800" spc="85" dirty="0">
                <a:solidFill>
                  <a:srgbClr val="FFFFFF"/>
                </a:solidFill>
                <a:latin typeface="Times New Roman"/>
                <a:cs typeface="Times New Roman"/>
              </a:rPr>
              <a:t>connection </a:t>
            </a:r>
            <a:r>
              <a:rPr sz="1800" spc="5" dirty="0">
                <a:solidFill>
                  <a:srgbClr val="FFFFFF"/>
                </a:solidFill>
                <a:latin typeface="Times New Roman"/>
                <a:cs typeface="Times New Roman"/>
              </a:rPr>
              <a:t>is </a:t>
            </a:r>
            <a:r>
              <a:rPr sz="1800" spc="105" dirty="0">
                <a:solidFill>
                  <a:srgbClr val="FFFFFF"/>
                </a:solidFill>
                <a:latin typeface="Times New Roman"/>
                <a:cs typeface="Times New Roman"/>
              </a:rPr>
              <a:t>the </a:t>
            </a:r>
            <a:r>
              <a:rPr sz="1800" spc="75" dirty="0">
                <a:solidFill>
                  <a:srgbClr val="FFFFFF"/>
                </a:solidFill>
                <a:latin typeface="Times New Roman"/>
                <a:cs typeface="Times New Roman"/>
              </a:rPr>
              <a:t>information </a:t>
            </a:r>
            <a:r>
              <a:rPr sz="1800" spc="70" dirty="0">
                <a:solidFill>
                  <a:srgbClr val="FFFFFF"/>
                </a:solidFill>
                <a:latin typeface="Times New Roman"/>
                <a:cs typeface="Times New Roman"/>
              </a:rPr>
              <a:t>recorded </a:t>
            </a:r>
            <a:r>
              <a:rPr sz="1800" spc="85" dirty="0">
                <a:solidFill>
                  <a:srgbClr val="FFFFFF"/>
                </a:solidFill>
                <a:latin typeface="Times New Roman"/>
                <a:cs typeface="Times New Roman"/>
              </a:rPr>
              <a:t>in </a:t>
            </a:r>
            <a:r>
              <a:rPr sz="1800" spc="100" dirty="0">
                <a:solidFill>
                  <a:srgbClr val="FFFFFF"/>
                </a:solidFill>
                <a:latin typeface="Times New Roman"/>
                <a:cs typeface="Times New Roman"/>
              </a:rPr>
              <a:t>the </a:t>
            </a:r>
            <a:r>
              <a:rPr sz="1800" spc="75" dirty="0">
                <a:solidFill>
                  <a:srgbClr val="FFFFFF"/>
                </a:solidFill>
                <a:latin typeface="Times New Roman"/>
                <a:cs typeface="Times New Roman"/>
              </a:rPr>
              <a:t>Index</a:t>
            </a:r>
            <a:r>
              <a:rPr sz="1800" spc="85" dirty="0">
                <a:solidFill>
                  <a:srgbClr val="FFFFFF"/>
                </a:solidFill>
                <a:latin typeface="Times New Roman"/>
                <a:cs typeface="Times New Roman"/>
              </a:rPr>
              <a:t> </a:t>
            </a:r>
            <a:r>
              <a:rPr sz="1800" spc="65" dirty="0">
                <a:solidFill>
                  <a:srgbClr val="FFFFFF"/>
                </a:solidFill>
                <a:latin typeface="Times New Roman"/>
                <a:cs typeface="Times New Roman"/>
              </a:rPr>
              <a:t>Allocation</a:t>
            </a:r>
            <a:endParaRPr sz="1800">
              <a:latin typeface="Times New Roman"/>
              <a:cs typeface="Times New Roman"/>
            </a:endParaRPr>
          </a:p>
          <a:p>
            <a:pPr marL="433705">
              <a:lnSpc>
                <a:spcPct val="100000"/>
              </a:lnSpc>
            </a:pPr>
            <a:r>
              <a:rPr sz="1800" spc="60" dirty="0">
                <a:solidFill>
                  <a:srgbClr val="FFFFFF"/>
                </a:solidFill>
                <a:latin typeface="Times New Roman"/>
                <a:cs typeface="Times New Roman"/>
              </a:rPr>
              <a:t>Map </a:t>
            </a:r>
            <a:r>
              <a:rPr sz="1800" spc="35" dirty="0">
                <a:solidFill>
                  <a:srgbClr val="FFFFFF"/>
                </a:solidFill>
                <a:latin typeface="Times New Roman"/>
                <a:cs typeface="Times New Roman"/>
              </a:rPr>
              <a:t>(IAM)</a:t>
            </a:r>
            <a:r>
              <a:rPr sz="1800" spc="-215" dirty="0">
                <a:solidFill>
                  <a:srgbClr val="FFFFFF"/>
                </a:solidFill>
                <a:latin typeface="Times New Roman"/>
                <a:cs typeface="Times New Roman"/>
              </a:rPr>
              <a:t> </a:t>
            </a:r>
            <a:r>
              <a:rPr sz="1800" spc="25" dirty="0">
                <a:solidFill>
                  <a:srgbClr val="FFFFFF"/>
                </a:solidFill>
                <a:latin typeface="Times New Roman"/>
                <a:cs typeface="Times New Roman"/>
              </a:rPr>
              <a:t>pages.</a:t>
            </a:r>
            <a:endParaRPr sz="1800">
              <a:latin typeface="Times New Roman"/>
              <a:cs typeface="Times New Roman"/>
            </a:endParaRPr>
          </a:p>
        </p:txBody>
      </p:sp>
      <p:pic>
        <p:nvPicPr>
          <p:cNvPr id="5" name="object 5"/>
          <p:cNvPicPr/>
          <p:nvPr/>
        </p:nvPicPr>
        <p:blipFill>
          <a:blip r:embed="rId4" cstate="print"/>
          <a:stretch>
            <a:fillRect/>
          </a:stretch>
        </p:blipFill>
        <p:spPr>
          <a:xfrm>
            <a:off x="2307335" y="2954273"/>
            <a:ext cx="4684014" cy="3165348"/>
          </a:xfrm>
          <a:prstGeom prst="rect">
            <a:avLst/>
          </a:prstGeom>
        </p:spPr>
      </p:pic>
      <p:sp>
        <p:nvSpPr>
          <p:cNvPr id="6" name="object 6"/>
          <p:cNvSpPr txBox="1"/>
          <p:nvPr/>
        </p:nvSpPr>
        <p:spPr>
          <a:xfrm>
            <a:off x="3964432" y="6118097"/>
            <a:ext cx="124841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Heap</a:t>
            </a:r>
            <a:r>
              <a:rPr sz="1400" b="1" spc="-130" dirty="0">
                <a:latin typeface="Times New Roman"/>
                <a:cs typeface="Times New Roman"/>
              </a:rPr>
              <a:t> </a:t>
            </a:r>
            <a:r>
              <a:rPr sz="1400" b="1" spc="-15" dirty="0">
                <a:latin typeface="Times New Roman"/>
                <a:cs typeface="Times New Roman"/>
              </a:rPr>
              <a:t>Structures</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16</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39624"/>
            <a:ext cx="6650355" cy="635635"/>
          </a:xfrm>
          <a:prstGeom prst="rect">
            <a:avLst/>
          </a:prstGeom>
        </p:spPr>
        <p:txBody>
          <a:bodyPr vert="horz" wrap="square" lIns="0" tIns="12700" rIns="0" bIns="0" rtlCol="0">
            <a:spAutoFit/>
          </a:bodyPr>
          <a:lstStyle/>
          <a:p>
            <a:pPr marL="12700">
              <a:lnSpc>
                <a:spcPct val="100000"/>
              </a:lnSpc>
              <a:spcBef>
                <a:spcPts val="100"/>
              </a:spcBef>
            </a:pPr>
            <a:r>
              <a:rPr sz="4000" b="0" spc="190" dirty="0">
                <a:latin typeface="Times New Roman"/>
                <a:cs typeface="Times New Roman"/>
              </a:rPr>
              <a:t>Clustered</a:t>
            </a:r>
            <a:r>
              <a:rPr sz="4000" b="0" spc="-180" dirty="0">
                <a:latin typeface="Times New Roman"/>
                <a:cs typeface="Times New Roman"/>
              </a:rPr>
              <a:t> </a:t>
            </a:r>
            <a:r>
              <a:rPr sz="4000" b="0" spc="175" dirty="0">
                <a:latin typeface="Times New Roman"/>
                <a:cs typeface="Times New Roman"/>
              </a:rPr>
              <a:t>Index</a:t>
            </a:r>
            <a:r>
              <a:rPr sz="4000" b="0" spc="-145" dirty="0">
                <a:latin typeface="Times New Roman"/>
                <a:cs typeface="Times New Roman"/>
              </a:rPr>
              <a:t> </a:t>
            </a:r>
            <a:r>
              <a:rPr sz="4000" b="0" spc="170" dirty="0">
                <a:latin typeface="Times New Roman"/>
                <a:cs typeface="Times New Roman"/>
              </a:rPr>
              <a:t>Structures</a:t>
            </a:r>
            <a:r>
              <a:rPr sz="4000" b="0" spc="-170" dirty="0">
                <a:latin typeface="Times New Roman"/>
                <a:cs typeface="Times New Roman"/>
              </a:rPr>
              <a:t> </a:t>
            </a:r>
            <a:r>
              <a:rPr sz="4000" b="0" spc="-245" dirty="0">
                <a:latin typeface="Times New Roman"/>
                <a:cs typeface="Times New Roman"/>
              </a:rPr>
              <a:t>1-2</a:t>
            </a:r>
            <a:endParaRPr sz="4000">
              <a:latin typeface="Times New Roman"/>
              <a:cs typeface="Times New Roman"/>
            </a:endParaRPr>
          </a:p>
        </p:txBody>
      </p:sp>
      <p:sp>
        <p:nvSpPr>
          <p:cNvPr id="3" name="object 3"/>
          <p:cNvSpPr/>
          <p:nvPr/>
        </p:nvSpPr>
        <p:spPr>
          <a:xfrm>
            <a:off x="432054" y="994410"/>
            <a:ext cx="8255000" cy="806450"/>
          </a:xfrm>
          <a:custGeom>
            <a:avLst/>
            <a:gdLst/>
            <a:ahLst/>
            <a:cxnLst/>
            <a:rect l="l" t="t" r="r" b="b"/>
            <a:pathLst>
              <a:path w="8255000" h="806450">
                <a:moveTo>
                  <a:pt x="8120380" y="0"/>
                </a:moveTo>
                <a:lnTo>
                  <a:pt x="134366" y="0"/>
                </a:lnTo>
                <a:lnTo>
                  <a:pt x="91896" y="6853"/>
                </a:lnTo>
                <a:lnTo>
                  <a:pt x="55012" y="25936"/>
                </a:lnTo>
                <a:lnTo>
                  <a:pt x="25925" y="55028"/>
                </a:lnTo>
                <a:lnTo>
                  <a:pt x="6850" y="91911"/>
                </a:lnTo>
                <a:lnTo>
                  <a:pt x="0" y="134365"/>
                </a:lnTo>
                <a:lnTo>
                  <a:pt x="0" y="671829"/>
                </a:lnTo>
                <a:lnTo>
                  <a:pt x="6850" y="714284"/>
                </a:lnTo>
                <a:lnTo>
                  <a:pt x="25925" y="751167"/>
                </a:lnTo>
                <a:lnTo>
                  <a:pt x="55012" y="780259"/>
                </a:lnTo>
                <a:lnTo>
                  <a:pt x="91896" y="799342"/>
                </a:lnTo>
                <a:lnTo>
                  <a:pt x="134366" y="806195"/>
                </a:lnTo>
                <a:lnTo>
                  <a:pt x="8120380" y="806195"/>
                </a:lnTo>
                <a:lnTo>
                  <a:pt x="8162834" y="799342"/>
                </a:lnTo>
                <a:lnTo>
                  <a:pt x="8199717" y="780259"/>
                </a:lnTo>
                <a:lnTo>
                  <a:pt x="8228809" y="751167"/>
                </a:lnTo>
                <a:lnTo>
                  <a:pt x="8247892" y="714284"/>
                </a:lnTo>
                <a:lnTo>
                  <a:pt x="8254746" y="671829"/>
                </a:lnTo>
                <a:lnTo>
                  <a:pt x="8254746" y="134365"/>
                </a:lnTo>
                <a:lnTo>
                  <a:pt x="8247892" y="91911"/>
                </a:lnTo>
                <a:lnTo>
                  <a:pt x="8228809" y="55028"/>
                </a:lnTo>
                <a:lnTo>
                  <a:pt x="8199717" y="25936"/>
                </a:lnTo>
                <a:lnTo>
                  <a:pt x="8162834" y="6853"/>
                </a:lnTo>
                <a:lnTo>
                  <a:pt x="8120380" y="0"/>
                </a:lnTo>
                <a:close/>
              </a:path>
            </a:pathLst>
          </a:custGeom>
          <a:solidFill>
            <a:srgbClr val="4AACC5"/>
          </a:solidFill>
        </p:spPr>
        <p:txBody>
          <a:bodyPr wrap="square" lIns="0" tIns="0" rIns="0" bIns="0" rtlCol="0"/>
          <a:lstStyle/>
          <a:p>
            <a:endParaRPr/>
          </a:p>
        </p:txBody>
      </p:sp>
      <p:sp>
        <p:nvSpPr>
          <p:cNvPr id="4" name="object 4"/>
          <p:cNvSpPr txBox="1"/>
          <p:nvPr/>
        </p:nvSpPr>
        <p:spPr>
          <a:xfrm>
            <a:off x="520700" y="1010411"/>
            <a:ext cx="7987030" cy="391160"/>
          </a:xfrm>
          <a:prstGeom prst="rect">
            <a:avLst/>
          </a:prstGeom>
        </p:spPr>
        <p:txBody>
          <a:bodyPr vert="horz" wrap="square" lIns="0" tIns="12700" rIns="0" bIns="0" rtlCol="0">
            <a:spAutoFit/>
          </a:bodyPr>
          <a:lstStyle/>
          <a:p>
            <a:pPr marL="12700">
              <a:lnSpc>
                <a:spcPct val="100000"/>
              </a:lnSpc>
              <a:spcBef>
                <a:spcPts val="100"/>
              </a:spcBef>
            </a:pPr>
            <a:r>
              <a:rPr sz="2400" spc="114" dirty="0">
                <a:solidFill>
                  <a:srgbClr val="FFFFFF"/>
                </a:solidFill>
                <a:latin typeface="Times New Roman"/>
                <a:cs typeface="Times New Roman"/>
              </a:rPr>
              <a:t>Clustered </a:t>
            </a:r>
            <a:r>
              <a:rPr sz="2400" spc="85" dirty="0">
                <a:solidFill>
                  <a:srgbClr val="FFFFFF"/>
                </a:solidFill>
                <a:latin typeface="Times New Roman"/>
                <a:cs typeface="Times New Roman"/>
              </a:rPr>
              <a:t>indexes </a:t>
            </a:r>
            <a:r>
              <a:rPr sz="2400" spc="65" dirty="0">
                <a:solidFill>
                  <a:srgbClr val="FFFFFF"/>
                </a:solidFill>
                <a:latin typeface="Times New Roman"/>
                <a:cs typeface="Times New Roman"/>
              </a:rPr>
              <a:t>are </a:t>
            </a:r>
            <a:r>
              <a:rPr sz="2400" spc="55" dirty="0">
                <a:solidFill>
                  <a:srgbClr val="FFFFFF"/>
                </a:solidFill>
                <a:latin typeface="Times New Roman"/>
                <a:cs typeface="Times New Roman"/>
              </a:rPr>
              <a:t>organized </a:t>
            </a:r>
            <a:r>
              <a:rPr sz="2400" spc="20" dirty="0">
                <a:solidFill>
                  <a:srgbClr val="FFFFFF"/>
                </a:solidFill>
                <a:latin typeface="Times New Roman"/>
                <a:cs typeface="Times New Roman"/>
              </a:rPr>
              <a:t>as </a:t>
            </a:r>
            <a:r>
              <a:rPr sz="2400" spc="40" dirty="0">
                <a:solidFill>
                  <a:srgbClr val="FFFFFF"/>
                </a:solidFill>
                <a:latin typeface="Times New Roman"/>
                <a:cs typeface="Times New Roman"/>
              </a:rPr>
              <a:t>B-Trees. </a:t>
            </a:r>
            <a:r>
              <a:rPr sz="2400" spc="60" dirty="0">
                <a:solidFill>
                  <a:srgbClr val="FFFFFF"/>
                </a:solidFill>
                <a:latin typeface="Times New Roman"/>
                <a:cs typeface="Times New Roman"/>
              </a:rPr>
              <a:t>Each </a:t>
            </a:r>
            <a:r>
              <a:rPr sz="2400" spc="50" dirty="0">
                <a:solidFill>
                  <a:srgbClr val="FFFFFF"/>
                </a:solidFill>
                <a:latin typeface="Times New Roman"/>
                <a:cs typeface="Times New Roman"/>
              </a:rPr>
              <a:t>page </a:t>
            </a:r>
            <a:r>
              <a:rPr sz="2400" spc="114" dirty="0">
                <a:solidFill>
                  <a:srgbClr val="FFFFFF"/>
                </a:solidFill>
                <a:latin typeface="Times New Roman"/>
                <a:cs typeface="Times New Roman"/>
              </a:rPr>
              <a:t>in</a:t>
            </a:r>
            <a:r>
              <a:rPr sz="2400" spc="320" dirty="0">
                <a:solidFill>
                  <a:srgbClr val="FFFFFF"/>
                </a:solidFill>
                <a:latin typeface="Times New Roman"/>
                <a:cs typeface="Times New Roman"/>
              </a:rPr>
              <a:t> </a:t>
            </a:r>
            <a:r>
              <a:rPr sz="2400" spc="125" dirty="0">
                <a:solidFill>
                  <a:srgbClr val="FFFFFF"/>
                </a:solidFill>
                <a:latin typeface="Times New Roman"/>
                <a:cs typeface="Times New Roman"/>
              </a:rPr>
              <a:t>an</a:t>
            </a:r>
            <a:endParaRPr sz="2400">
              <a:latin typeface="Times New Roman"/>
              <a:cs typeface="Times New Roman"/>
            </a:endParaRPr>
          </a:p>
        </p:txBody>
      </p:sp>
      <p:sp>
        <p:nvSpPr>
          <p:cNvPr id="5" name="object 5"/>
          <p:cNvSpPr txBox="1"/>
          <p:nvPr/>
        </p:nvSpPr>
        <p:spPr>
          <a:xfrm>
            <a:off x="457200" y="1397508"/>
            <a:ext cx="8114030" cy="414020"/>
          </a:xfrm>
          <a:prstGeom prst="rect">
            <a:avLst/>
          </a:prstGeom>
          <a:solidFill>
            <a:srgbClr val="4AACC5"/>
          </a:solidFill>
        </p:spPr>
        <p:txBody>
          <a:bodyPr vert="horz" wrap="square" lIns="0" tIns="0" rIns="0" bIns="0" rtlCol="0">
            <a:spAutoFit/>
          </a:bodyPr>
          <a:lstStyle/>
          <a:p>
            <a:pPr marL="76200">
              <a:lnSpc>
                <a:spcPts val="2525"/>
              </a:lnSpc>
            </a:pPr>
            <a:r>
              <a:rPr sz="2400" spc="110" dirty="0">
                <a:solidFill>
                  <a:srgbClr val="FFFFFF"/>
                </a:solidFill>
                <a:latin typeface="Times New Roman"/>
                <a:cs typeface="Times New Roman"/>
              </a:rPr>
              <a:t>index</a:t>
            </a:r>
            <a:r>
              <a:rPr sz="2400" spc="-105" dirty="0">
                <a:solidFill>
                  <a:srgbClr val="FFFFFF"/>
                </a:solidFill>
                <a:latin typeface="Times New Roman"/>
                <a:cs typeface="Times New Roman"/>
              </a:rPr>
              <a:t> </a:t>
            </a:r>
            <a:r>
              <a:rPr sz="2400" spc="45" dirty="0">
                <a:solidFill>
                  <a:srgbClr val="FFFFFF"/>
                </a:solidFill>
                <a:latin typeface="Times New Roman"/>
                <a:cs typeface="Times New Roman"/>
              </a:rPr>
              <a:t>B-tree</a:t>
            </a:r>
            <a:r>
              <a:rPr sz="2400" spc="-100" dirty="0">
                <a:solidFill>
                  <a:srgbClr val="FFFFFF"/>
                </a:solidFill>
                <a:latin typeface="Times New Roman"/>
                <a:cs typeface="Times New Roman"/>
              </a:rPr>
              <a:t> </a:t>
            </a:r>
            <a:r>
              <a:rPr sz="2400" spc="10" dirty="0">
                <a:solidFill>
                  <a:srgbClr val="FFFFFF"/>
                </a:solidFill>
                <a:latin typeface="Times New Roman"/>
                <a:cs typeface="Times New Roman"/>
              </a:rPr>
              <a:t>is</a:t>
            </a:r>
            <a:r>
              <a:rPr sz="2400" spc="-95" dirty="0">
                <a:solidFill>
                  <a:srgbClr val="FFFFFF"/>
                </a:solidFill>
                <a:latin typeface="Times New Roman"/>
                <a:cs typeface="Times New Roman"/>
              </a:rPr>
              <a:t> </a:t>
            </a:r>
            <a:r>
              <a:rPr sz="2400" spc="45" dirty="0">
                <a:solidFill>
                  <a:srgbClr val="FFFFFF"/>
                </a:solidFill>
                <a:latin typeface="Times New Roman"/>
                <a:cs typeface="Times New Roman"/>
              </a:rPr>
              <a:t>called</a:t>
            </a:r>
            <a:r>
              <a:rPr sz="2400" spc="-80" dirty="0">
                <a:solidFill>
                  <a:srgbClr val="FFFFFF"/>
                </a:solidFill>
                <a:latin typeface="Times New Roman"/>
                <a:cs typeface="Times New Roman"/>
              </a:rPr>
              <a:t> </a:t>
            </a:r>
            <a:r>
              <a:rPr sz="2400" spc="125" dirty="0">
                <a:solidFill>
                  <a:srgbClr val="FFFFFF"/>
                </a:solidFill>
                <a:latin typeface="Times New Roman"/>
                <a:cs typeface="Times New Roman"/>
              </a:rPr>
              <a:t>an</a:t>
            </a:r>
            <a:r>
              <a:rPr sz="2400" spc="-90" dirty="0">
                <a:solidFill>
                  <a:srgbClr val="FFFFFF"/>
                </a:solidFill>
                <a:latin typeface="Times New Roman"/>
                <a:cs typeface="Times New Roman"/>
              </a:rPr>
              <a:t> </a:t>
            </a:r>
            <a:r>
              <a:rPr sz="2400" spc="110" dirty="0">
                <a:solidFill>
                  <a:srgbClr val="FFFFFF"/>
                </a:solidFill>
                <a:latin typeface="Times New Roman"/>
                <a:cs typeface="Times New Roman"/>
              </a:rPr>
              <a:t>index</a:t>
            </a:r>
            <a:r>
              <a:rPr sz="2400" spc="-110" dirty="0">
                <a:solidFill>
                  <a:srgbClr val="FFFFFF"/>
                </a:solidFill>
                <a:latin typeface="Times New Roman"/>
                <a:cs typeface="Times New Roman"/>
              </a:rPr>
              <a:t> </a:t>
            </a:r>
            <a:r>
              <a:rPr sz="2400" spc="105" dirty="0">
                <a:solidFill>
                  <a:srgbClr val="FFFFFF"/>
                </a:solidFill>
                <a:latin typeface="Times New Roman"/>
                <a:cs typeface="Times New Roman"/>
              </a:rPr>
              <a:t>node.</a:t>
            </a:r>
            <a:endParaRPr sz="2400">
              <a:latin typeface="Times New Roman"/>
              <a:cs typeface="Times New Roman"/>
            </a:endParaRPr>
          </a:p>
        </p:txBody>
      </p:sp>
      <p:pic>
        <p:nvPicPr>
          <p:cNvPr id="6" name="object 6"/>
          <p:cNvPicPr/>
          <p:nvPr/>
        </p:nvPicPr>
        <p:blipFill>
          <a:blip r:embed="rId3" cstate="print"/>
          <a:stretch>
            <a:fillRect/>
          </a:stretch>
        </p:blipFill>
        <p:spPr>
          <a:xfrm>
            <a:off x="760476" y="2131314"/>
            <a:ext cx="7623047" cy="3918965"/>
          </a:xfrm>
          <a:prstGeom prst="rect">
            <a:avLst/>
          </a:prstGeom>
        </p:spPr>
      </p:pic>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17</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959" y="1778"/>
            <a:ext cx="6715125" cy="635635"/>
          </a:xfrm>
          <a:prstGeom prst="rect">
            <a:avLst/>
          </a:prstGeom>
        </p:spPr>
        <p:txBody>
          <a:bodyPr vert="horz" wrap="square" lIns="0" tIns="12700" rIns="0" bIns="0" rtlCol="0">
            <a:spAutoFit/>
          </a:bodyPr>
          <a:lstStyle/>
          <a:p>
            <a:pPr marL="12700">
              <a:lnSpc>
                <a:spcPct val="100000"/>
              </a:lnSpc>
              <a:spcBef>
                <a:spcPts val="100"/>
              </a:spcBef>
            </a:pPr>
            <a:r>
              <a:rPr sz="4000" b="0" spc="190" dirty="0">
                <a:latin typeface="Times New Roman"/>
                <a:cs typeface="Times New Roman"/>
              </a:rPr>
              <a:t>Clustered</a:t>
            </a:r>
            <a:r>
              <a:rPr sz="4000" b="0" spc="-175" dirty="0">
                <a:latin typeface="Times New Roman"/>
                <a:cs typeface="Times New Roman"/>
              </a:rPr>
              <a:t> </a:t>
            </a:r>
            <a:r>
              <a:rPr sz="4000" b="0" spc="175" dirty="0">
                <a:latin typeface="Times New Roman"/>
                <a:cs typeface="Times New Roman"/>
              </a:rPr>
              <a:t>Index</a:t>
            </a:r>
            <a:r>
              <a:rPr sz="4000" b="0" spc="-145" dirty="0">
                <a:latin typeface="Times New Roman"/>
                <a:cs typeface="Times New Roman"/>
              </a:rPr>
              <a:t> </a:t>
            </a:r>
            <a:r>
              <a:rPr sz="4000" b="0" spc="170" dirty="0">
                <a:latin typeface="Times New Roman"/>
                <a:cs typeface="Times New Roman"/>
              </a:rPr>
              <a:t>Structures</a:t>
            </a:r>
            <a:r>
              <a:rPr sz="4000" b="0" spc="-160" dirty="0">
                <a:latin typeface="Times New Roman"/>
                <a:cs typeface="Times New Roman"/>
              </a:rPr>
              <a:t> </a:t>
            </a:r>
            <a:r>
              <a:rPr sz="4000" b="0" spc="-80" dirty="0">
                <a:latin typeface="Times New Roman"/>
                <a:cs typeface="Times New Roman"/>
              </a:rPr>
              <a:t>2-2</a:t>
            </a:r>
            <a:endParaRPr sz="4000">
              <a:latin typeface="Times New Roman"/>
              <a:cs typeface="Times New Roman"/>
            </a:endParaRPr>
          </a:p>
        </p:txBody>
      </p:sp>
      <p:pic>
        <p:nvPicPr>
          <p:cNvPr id="3" name="object 3"/>
          <p:cNvPicPr/>
          <p:nvPr/>
        </p:nvPicPr>
        <p:blipFill>
          <a:blip r:embed="rId3" cstate="print"/>
          <a:stretch>
            <a:fillRect/>
          </a:stretch>
        </p:blipFill>
        <p:spPr>
          <a:xfrm>
            <a:off x="1487424" y="1027175"/>
            <a:ext cx="6133337" cy="5148834"/>
          </a:xfrm>
          <a:prstGeom prst="rect">
            <a:avLst/>
          </a:prstGeom>
        </p:spPr>
      </p:pic>
      <p:sp>
        <p:nvSpPr>
          <p:cNvPr id="4" name="object 4"/>
          <p:cNvSpPr txBox="1"/>
          <p:nvPr/>
        </p:nvSpPr>
        <p:spPr>
          <a:xfrm>
            <a:off x="3812540" y="6239255"/>
            <a:ext cx="1396365"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Clustered</a:t>
            </a:r>
            <a:r>
              <a:rPr sz="1400" b="1" spc="-130" dirty="0">
                <a:latin typeface="Times New Roman"/>
                <a:cs typeface="Times New Roman"/>
              </a:rPr>
              <a:t> </a:t>
            </a:r>
            <a:r>
              <a:rPr sz="1400" b="1" dirty="0">
                <a:latin typeface="Times New Roman"/>
                <a:cs typeface="Times New Roman"/>
              </a:rPr>
              <a:t>Indexes</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048" y="0"/>
            <a:ext cx="6764020" cy="635635"/>
          </a:xfrm>
          <a:prstGeom prst="rect">
            <a:avLst/>
          </a:prstGeom>
        </p:spPr>
        <p:txBody>
          <a:bodyPr vert="horz" wrap="square" lIns="0" tIns="12700" rIns="0" bIns="0" rtlCol="0">
            <a:spAutoFit/>
          </a:bodyPr>
          <a:lstStyle/>
          <a:p>
            <a:pPr marL="12700">
              <a:lnSpc>
                <a:spcPct val="100000"/>
              </a:lnSpc>
              <a:spcBef>
                <a:spcPts val="100"/>
              </a:spcBef>
            </a:pPr>
            <a:r>
              <a:rPr sz="4000" b="0" spc="170" dirty="0">
                <a:latin typeface="Times New Roman"/>
                <a:cs typeface="Times New Roman"/>
              </a:rPr>
              <a:t>Nonclustered </a:t>
            </a:r>
            <a:r>
              <a:rPr sz="4000" b="0" spc="175" dirty="0">
                <a:latin typeface="Times New Roman"/>
                <a:cs typeface="Times New Roman"/>
              </a:rPr>
              <a:t>Index</a:t>
            </a:r>
            <a:r>
              <a:rPr sz="4000" b="0" spc="-535" dirty="0">
                <a:latin typeface="Times New Roman"/>
                <a:cs typeface="Times New Roman"/>
              </a:rPr>
              <a:t> </a:t>
            </a:r>
            <a:r>
              <a:rPr sz="4000" b="0" spc="175" dirty="0">
                <a:latin typeface="Times New Roman"/>
                <a:cs typeface="Times New Roman"/>
              </a:rPr>
              <a:t>Structures</a:t>
            </a:r>
            <a:endParaRPr sz="4000">
              <a:latin typeface="Times New Roman"/>
              <a:cs typeface="Times New Roman"/>
            </a:endParaRPr>
          </a:p>
        </p:txBody>
      </p:sp>
      <p:sp>
        <p:nvSpPr>
          <p:cNvPr id="3" name="object 3"/>
          <p:cNvSpPr/>
          <p:nvPr/>
        </p:nvSpPr>
        <p:spPr>
          <a:xfrm>
            <a:off x="0" y="994409"/>
            <a:ext cx="5360670" cy="1270635"/>
          </a:xfrm>
          <a:custGeom>
            <a:avLst/>
            <a:gdLst/>
            <a:ahLst/>
            <a:cxnLst/>
            <a:rect l="l" t="t" r="r" b="b"/>
            <a:pathLst>
              <a:path w="5360670" h="1270635">
                <a:moveTo>
                  <a:pt x="5360670" y="211709"/>
                </a:moveTo>
                <a:lnTo>
                  <a:pt x="5355069" y="163156"/>
                </a:lnTo>
                <a:lnTo>
                  <a:pt x="5339156" y="118592"/>
                </a:lnTo>
                <a:lnTo>
                  <a:pt x="5314162" y="79286"/>
                </a:lnTo>
                <a:lnTo>
                  <a:pt x="5281384" y="46507"/>
                </a:lnTo>
                <a:lnTo>
                  <a:pt x="5242077" y="21513"/>
                </a:lnTo>
                <a:lnTo>
                  <a:pt x="5197513" y="5600"/>
                </a:lnTo>
                <a:lnTo>
                  <a:pt x="5148961" y="0"/>
                </a:lnTo>
                <a:lnTo>
                  <a:pt x="211709" y="0"/>
                </a:lnTo>
                <a:lnTo>
                  <a:pt x="163156" y="5600"/>
                </a:lnTo>
                <a:lnTo>
                  <a:pt x="118605" y="21513"/>
                </a:lnTo>
                <a:lnTo>
                  <a:pt x="79298" y="46507"/>
                </a:lnTo>
                <a:lnTo>
                  <a:pt x="46507" y="79286"/>
                </a:lnTo>
                <a:lnTo>
                  <a:pt x="21513" y="118592"/>
                </a:lnTo>
                <a:lnTo>
                  <a:pt x="5588" y="163156"/>
                </a:lnTo>
                <a:lnTo>
                  <a:pt x="0" y="211709"/>
                </a:lnTo>
                <a:lnTo>
                  <a:pt x="0" y="1058545"/>
                </a:lnTo>
                <a:lnTo>
                  <a:pt x="5588" y="1107109"/>
                </a:lnTo>
                <a:lnTo>
                  <a:pt x="21513" y="1151674"/>
                </a:lnTo>
                <a:lnTo>
                  <a:pt x="46507" y="1190980"/>
                </a:lnTo>
                <a:lnTo>
                  <a:pt x="79298" y="1223759"/>
                </a:lnTo>
                <a:lnTo>
                  <a:pt x="118605" y="1248752"/>
                </a:lnTo>
                <a:lnTo>
                  <a:pt x="163156" y="1264666"/>
                </a:lnTo>
                <a:lnTo>
                  <a:pt x="211709" y="1270254"/>
                </a:lnTo>
                <a:lnTo>
                  <a:pt x="5148961" y="1270254"/>
                </a:lnTo>
                <a:lnTo>
                  <a:pt x="5197513" y="1264666"/>
                </a:lnTo>
                <a:lnTo>
                  <a:pt x="5242077" y="1248752"/>
                </a:lnTo>
                <a:lnTo>
                  <a:pt x="5281384" y="1223759"/>
                </a:lnTo>
                <a:lnTo>
                  <a:pt x="5314162" y="1190980"/>
                </a:lnTo>
                <a:lnTo>
                  <a:pt x="5339156" y="1151674"/>
                </a:lnTo>
                <a:lnTo>
                  <a:pt x="5355069" y="1107109"/>
                </a:lnTo>
                <a:lnTo>
                  <a:pt x="5360670" y="1058545"/>
                </a:lnTo>
                <a:lnTo>
                  <a:pt x="5360670" y="211709"/>
                </a:lnTo>
                <a:close/>
              </a:path>
            </a:pathLst>
          </a:custGeom>
          <a:solidFill>
            <a:srgbClr val="4F81BC"/>
          </a:solidFill>
        </p:spPr>
        <p:txBody>
          <a:bodyPr wrap="square" lIns="0" tIns="0" rIns="0" bIns="0" rtlCol="0"/>
          <a:lstStyle/>
          <a:p>
            <a:endParaRPr/>
          </a:p>
        </p:txBody>
      </p:sp>
      <p:sp>
        <p:nvSpPr>
          <p:cNvPr id="4" name="object 4"/>
          <p:cNvSpPr txBox="1"/>
          <p:nvPr/>
        </p:nvSpPr>
        <p:spPr>
          <a:xfrm>
            <a:off x="114554" y="1132078"/>
            <a:ext cx="5142230" cy="879475"/>
          </a:xfrm>
          <a:prstGeom prst="rect">
            <a:avLst/>
          </a:prstGeom>
        </p:spPr>
        <p:txBody>
          <a:bodyPr vert="horz" wrap="square" lIns="0" tIns="43180" rIns="0" bIns="0" rtlCol="0">
            <a:spAutoFit/>
          </a:bodyPr>
          <a:lstStyle/>
          <a:p>
            <a:pPr marL="355600" marR="5080" indent="-342900" algn="just">
              <a:lnSpc>
                <a:spcPct val="90000"/>
              </a:lnSpc>
              <a:spcBef>
                <a:spcPts val="340"/>
              </a:spcBef>
              <a:buFont typeface="Wingdings"/>
              <a:buChar char=""/>
              <a:tabLst>
                <a:tab pos="355600" algn="l"/>
              </a:tabLst>
            </a:pPr>
            <a:r>
              <a:rPr sz="2000" spc="175" dirty="0">
                <a:solidFill>
                  <a:srgbClr val="FFFFFF"/>
                </a:solidFill>
                <a:latin typeface="Times New Roman"/>
                <a:cs typeface="Times New Roman"/>
              </a:rPr>
              <a:t>A </a:t>
            </a:r>
            <a:r>
              <a:rPr sz="2000" spc="90" dirty="0">
                <a:solidFill>
                  <a:srgbClr val="FFFFFF"/>
                </a:solidFill>
                <a:latin typeface="Times New Roman"/>
                <a:cs typeface="Times New Roman"/>
              </a:rPr>
              <a:t>nonclustered index </a:t>
            </a:r>
            <a:r>
              <a:rPr sz="2000" spc="10" dirty="0">
                <a:solidFill>
                  <a:srgbClr val="FFFFFF"/>
                </a:solidFill>
                <a:latin typeface="Times New Roman"/>
                <a:cs typeface="Times New Roman"/>
              </a:rPr>
              <a:t>is </a:t>
            </a:r>
            <a:r>
              <a:rPr sz="2000" spc="80" dirty="0">
                <a:solidFill>
                  <a:srgbClr val="FFFFFF"/>
                </a:solidFill>
                <a:latin typeface="Times New Roman"/>
                <a:cs typeface="Times New Roman"/>
              </a:rPr>
              <a:t>defined </a:t>
            </a:r>
            <a:r>
              <a:rPr sz="2000" spc="135" dirty="0">
                <a:solidFill>
                  <a:srgbClr val="FFFFFF"/>
                </a:solidFill>
                <a:latin typeface="Times New Roman"/>
                <a:cs typeface="Times New Roman"/>
              </a:rPr>
              <a:t>on </a:t>
            </a:r>
            <a:r>
              <a:rPr sz="2000" spc="30" dirty="0">
                <a:solidFill>
                  <a:srgbClr val="FFFFFF"/>
                </a:solidFill>
                <a:latin typeface="Times New Roman"/>
                <a:cs typeface="Times New Roman"/>
              </a:rPr>
              <a:t>a </a:t>
            </a:r>
            <a:r>
              <a:rPr sz="2000" spc="60" dirty="0">
                <a:solidFill>
                  <a:srgbClr val="FFFFFF"/>
                </a:solidFill>
                <a:latin typeface="Times New Roman"/>
                <a:cs typeface="Times New Roman"/>
              </a:rPr>
              <a:t>table  </a:t>
            </a:r>
            <a:r>
              <a:rPr sz="2000" spc="114" dirty="0">
                <a:solidFill>
                  <a:srgbClr val="FFFFFF"/>
                </a:solidFill>
                <a:latin typeface="Times New Roman"/>
                <a:cs typeface="Times New Roman"/>
              </a:rPr>
              <a:t>that </a:t>
            </a:r>
            <a:r>
              <a:rPr sz="2000" spc="70" dirty="0">
                <a:solidFill>
                  <a:srgbClr val="FFFFFF"/>
                </a:solidFill>
                <a:latin typeface="Times New Roman"/>
                <a:cs typeface="Times New Roman"/>
              </a:rPr>
              <a:t>has </a:t>
            </a:r>
            <a:r>
              <a:rPr sz="2000" spc="80" dirty="0">
                <a:solidFill>
                  <a:srgbClr val="FFFFFF"/>
                </a:solidFill>
                <a:latin typeface="Times New Roman"/>
                <a:cs typeface="Times New Roman"/>
              </a:rPr>
              <a:t>data </a:t>
            </a:r>
            <a:r>
              <a:rPr sz="2000" spc="95" dirty="0">
                <a:solidFill>
                  <a:srgbClr val="FFFFFF"/>
                </a:solidFill>
                <a:latin typeface="Times New Roman"/>
                <a:cs typeface="Times New Roman"/>
              </a:rPr>
              <a:t>in </a:t>
            </a:r>
            <a:r>
              <a:rPr sz="2000" spc="80" dirty="0">
                <a:solidFill>
                  <a:srgbClr val="FFFFFF"/>
                </a:solidFill>
                <a:latin typeface="Times New Roman"/>
                <a:cs typeface="Times New Roman"/>
              </a:rPr>
              <a:t>either </a:t>
            </a:r>
            <a:r>
              <a:rPr sz="2000" spc="30" dirty="0">
                <a:solidFill>
                  <a:srgbClr val="FFFFFF"/>
                </a:solidFill>
                <a:latin typeface="Times New Roman"/>
                <a:cs typeface="Times New Roman"/>
              </a:rPr>
              <a:t>a </a:t>
            </a:r>
            <a:r>
              <a:rPr sz="2000" spc="65" dirty="0">
                <a:solidFill>
                  <a:srgbClr val="FFFFFF"/>
                </a:solidFill>
                <a:latin typeface="Times New Roman"/>
                <a:cs typeface="Times New Roman"/>
              </a:rPr>
              <a:t>clustered </a:t>
            </a:r>
            <a:r>
              <a:rPr sz="2000" spc="85" dirty="0">
                <a:solidFill>
                  <a:srgbClr val="FFFFFF"/>
                </a:solidFill>
                <a:latin typeface="Times New Roman"/>
                <a:cs typeface="Times New Roman"/>
              </a:rPr>
              <a:t>structure  or </a:t>
            </a:r>
            <a:r>
              <a:rPr sz="2000" spc="30" dirty="0">
                <a:solidFill>
                  <a:srgbClr val="FFFFFF"/>
                </a:solidFill>
                <a:latin typeface="Times New Roman"/>
                <a:cs typeface="Times New Roman"/>
              </a:rPr>
              <a:t>a</a:t>
            </a:r>
            <a:r>
              <a:rPr sz="2000" spc="-235" dirty="0">
                <a:solidFill>
                  <a:srgbClr val="FFFFFF"/>
                </a:solidFill>
                <a:latin typeface="Times New Roman"/>
                <a:cs typeface="Times New Roman"/>
              </a:rPr>
              <a:t> </a:t>
            </a:r>
            <a:r>
              <a:rPr sz="2000" spc="70" dirty="0">
                <a:solidFill>
                  <a:srgbClr val="FFFFFF"/>
                </a:solidFill>
                <a:latin typeface="Times New Roman"/>
                <a:cs typeface="Times New Roman"/>
              </a:rPr>
              <a:t>heap.</a:t>
            </a:r>
            <a:endParaRPr sz="2000">
              <a:latin typeface="Times New Roman"/>
              <a:cs typeface="Times New Roman"/>
            </a:endParaRPr>
          </a:p>
        </p:txBody>
      </p:sp>
      <p:pic>
        <p:nvPicPr>
          <p:cNvPr id="5" name="object 5"/>
          <p:cNvPicPr/>
          <p:nvPr/>
        </p:nvPicPr>
        <p:blipFill>
          <a:blip r:embed="rId3" cstate="print"/>
          <a:stretch>
            <a:fillRect/>
          </a:stretch>
        </p:blipFill>
        <p:spPr>
          <a:xfrm>
            <a:off x="5538089" y="1529715"/>
            <a:ext cx="3549396" cy="3798569"/>
          </a:xfrm>
          <a:prstGeom prst="rect">
            <a:avLst/>
          </a:prstGeom>
        </p:spPr>
      </p:pic>
      <p:sp>
        <p:nvSpPr>
          <p:cNvPr id="6" name="object 6"/>
          <p:cNvSpPr/>
          <p:nvPr/>
        </p:nvSpPr>
        <p:spPr>
          <a:xfrm>
            <a:off x="0" y="2494025"/>
            <a:ext cx="5423535" cy="1270635"/>
          </a:xfrm>
          <a:custGeom>
            <a:avLst/>
            <a:gdLst/>
            <a:ahLst/>
            <a:cxnLst/>
            <a:rect l="l" t="t" r="r" b="b"/>
            <a:pathLst>
              <a:path w="5423535" h="1270635">
                <a:moveTo>
                  <a:pt x="5423154" y="211709"/>
                </a:moveTo>
                <a:lnTo>
                  <a:pt x="5417553" y="163156"/>
                </a:lnTo>
                <a:lnTo>
                  <a:pt x="5401640" y="118592"/>
                </a:lnTo>
                <a:lnTo>
                  <a:pt x="5376646" y="79286"/>
                </a:lnTo>
                <a:lnTo>
                  <a:pt x="5343868" y="46507"/>
                </a:lnTo>
                <a:lnTo>
                  <a:pt x="5304561" y="21513"/>
                </a:lnTo>
                <a:lnTo>
                  <a:pt x="5259997" y="5600"/>
                </a:lnTo>
                <a:lnTo>
                  <a:pt x="5211445" y="0"/>
                </a:lnTo>
                <a:lnTo>
                  <a:pt x="211709" y="0"/>
                </a:lnTo>
                <a:lnTo>
                  <a:pt x="163156" y="5600"/>
                </a:lnTo>
                <a:lnTo>
                  <a:pt x="118605" y="21513"/>
                </a:lnTo>
                <a:lnTo>
                  <a:pt x="79298" y="46507"/>
                </a:lnTo>
                <a:lnTo>
                  <a:pt x="46507" y="79286"/>
                </a:lnTo>
                <a:lnTo>
                  <a:pt x="21513" y="118592"/>
                </a:lnTo>
                <a:lnTo>
                  <a:pt x="5588" y="163156"/>
                </a:lnTo>
                <a:lnTo>
                  <a:pt x="0" y="211709"/>
                </a:lnTo>
                <a:lnTo>
                  <a:pt x="0" y="1058545"/>
                </a:lnTo>
                <a:lnTo>
                  <a:pt x="5588" y="1107109"/>
                </a:lnTo>
                <a:lnTo>
                  <a:pt x="21513" y="1151674"/>
                </a:lnTo>
                <a:lnTo>
                  <a:pt x="46507" y="1190980"/>
                </a:lnTo>
                <a:lnTo>
                  <a:pt x="79298" y="1223759"/>
                </a:lnTo>
                <a:lnTo>
                  <a:pt x="118605" y="1248752"/>
                </a:lnTo>
                <a:lnTo>
                  <a:pt x="163156" y="1264666"/>
                </a:lnTo>
                <a:lnTo>
                  <a:pt x="211709" y="1270254"/>
                </a:lnTo>
                <a:lnTo>
                  <a:pt x="5211445" y="1270254"/>
                </a:lnTo>
                <a:lnTo>
                  <a:pt x="5259997" y="1264666"/>
                </a:lnTo>
                <a:lnTo>
                  <a:pt x="5304561" y="1248752"/>
                </a:lnTo>
                <a:lnTo>
                  <a:pt x="5343868" y="1223759"/>
                </a:lnTo>
                <a:lnTo>
                  <a:pt x="5376646" y="1190980"/>
                </a:lnTo>
                <a:lnTo>
                  <a:pt x="5401640" y="1151674"/>
                </a:lnTo>
                <a:lnTo>
                  <a:pt x="5417553" y="1107109"/>
                </a:lnTo>
                <a:lnTo>
                  <a:pt x="5423154" y="1058545"/>
                </a:lnTo>
                <a:lnTo>
                  <a:pt x="5423154" y="211709"/>
                </a:lnTo>
                <a:close/>
              </a:path>
            </a:pathLst>
          </a:custGeom>
          <a:solidFill>
            <a:srgbClr val="C0504D"/>
          </a:solidFill>
        </p:spPr>
        <p:txBody>
          <a:bodyPr wrap="square" lIns="0" tIns="0" rIns="0" bIns="0" rtlCol="0"/>
          <a:lstStyle/>
          <a:p>
            <a:endParaRPr/>
          </a:p>
        </p:txBody>
      </p:sp>
      <p:sp>
        <p:nvSpPr>
          <p:cNvPr id="7" name="object 7"/>
          <p:cNvSpPr txBox="1"/>
          <p:nvPr/>
        </p:nvSpPr>
        <p:spPr>
          <a:xfrm>
            <a:off x="115062" y="2679953"/>
            <a:ext cx="5203190" cy="793750"/>
          </a:xfrm>
          <a:prstGeom prst="rect">
            <a:avLst/>
          </a:prstGeom>
        </p:spPr>
        <p:txBody>
          <a:bodyPr vert="horz" wrap="square" lIns="0" tIns="43815" rIns="0" bIns="0" rtlCol="0">
            <a:spAutoFit/>
          </a:bodyPr>
          <a:lstStyle/>
          <a:p>
            <a:pPr marL="298450" marR="5080" indent="-285750" algn="just">
              <a:lnSpc>
                <a:spcPts val="1939"/>
              </a:lnSpc>
              <a:spcBef>
                <a:spcPts val="345"/>
              </a:spcBef>
              <a:buFont typeface="Wingdings"/>
              <a:buChar char=""/>
              <a:tabLst>
                <a:tab pos="298450" algn="l"/>
              </a:tabLst>
            </a:pPr>
            <a:r>
              <a:rPr sz="1800" spc="45" dirty="0">
                <a:solidFill>
                  <a:srgbClr val="FFFFFF"/>
                </a:solidFill>
                <a:latin typeface="Times New Roman"/>
                <a:cs typeface="Times New Roman"/>
              </a:rPr>
              <a:t>Each </a:t>
            </a:r>
            <a:r>
              <a:rPr sz="1800" spc="80" dirty="0">
                <a:solidFill>
                  <a:srgbClr val="FFFFFF"/>
                </a:solidFill>
                <a:latin typeface="Times New Roman"/>
                <a:cs typeface="Times New Roman"/>
              </a:rPr>
              <a:t>index </a:t>
            </a:r>
            <a:r>
              <a:rPr sz="1800" spc="70" dirty="0">
                <a:solidFill>
                  <a:srgbClr val="FFFFFF"/>
                </a:solidFill>
                <a:latin typeface="Times New Roman"/>
                <a:cs typeface="Times New Roman"/>
              </a:rPr>
              <a:t>row </a:t>
            </a:r>
            <a:r>
              <a:rPr sz="1800" spc="85" dirty="0">
                <a:solidFill>
                  <a:srgbClr val="FFFFFF"/>
                </a:solidFill>
                <a:latin typeface="Times New Roman"/>
                <a:cs typeface="Times New Roman"/>
              </a:rPr>
              <a:t>in </a:t>
            </a:r>
            <a:r>
              <a:rPr sz="1800" spc="100" dirty="0">
                <a:solidFill>
                  <a:srgbClr val="FFFFFF"/>
                </a:solidFill>
                <a:latin typeface="Times New Roman"/>
                <a:cs typeface="Times New Roman"/>
              </a:rPr>
              <a:t>the </a:t>
            </a:r>
            <a:r>
              <a:rPr sz="1800" spc="80" dirty="0">
                <a:solidFill>
                  <a:srgbClr val="FFFFFF"/>
                </a:solidFill>
                <a:latin typeface="Times New Roman"/>
                <a:cs typeface="Times New Roman"/>
              </a:rPr>
              <a:t>nonclustered index  </a:t>
            </a:r>
            <a:r>
              <a:rPr sz="1800" spc="70" dirty="0">
                <a:solidFill>
                  <a:srgbClr val="FFFFFF"/>
                </a:solidFill>
                <a:latin typeface="Times New Roman"/>
                <a:cs typeface="Times New Roman"/>
              </a:rPr>
              <a:t>contains </a:t>
            </a:r>
            <a:r>
              <a:rPr sz="1800" spc="30" dirty="0">
                <a:solidFill>
                  <a:srgbClr val="FFFFFF"/>
                </a:solidFill>
                <a:latin typeface="Times New Roman"/>
                <a:cs typeface="Times New Roman"/>
              </a:rPr>
              <a:t>a </a:t>
            </a:r>
            <a:r>
              <a:rPr sz="1800" spc="75" dirty="0">
                <a:solidFill>
                  <a:srgbClr val="FFFFFF"/>
                </a:solidFill>
                <a:latin typeface="Times New Roman"/>
                <a:cs typeface="Times New Roman"/>
              </a:rPr>
              <a:t>nonclustered </a:t>
            </a:r>
            <a:r>
              <a:rPr sz="1800" spc="35" dirty="0">
                <a:solidFill>
                  <a:srgbClr val="FFFFFF"/>
                </a:solidFill>
                <a:latin typeface="Times New Roman"/>
                <a:cs typeface="Times New Roman"/>
              </a:rPr>
              <a:t>key </a:t>
            </a:r>
            <a:r>
              <a:rPr sz="1800" spc="50" dirty="0">
                <a:solidFill>
                  <a:srgbClr val="FFFFFF"/>
                </a:solidFill>
                <a:latin typeface="Times New Roman"/>
                <a:cs typeface="Times New Roman"/>
              </a:rPr>
              <a:t>value </a:t>
            </a:r>
            <a:r>
              <a:rPr sz="1800" spc="100" dirty="0">
                <a:solidFill>
                  <a:srgbClr val="FFFFFF"/>
                </a:solidFill>
                <a:latin typeface="Times New Roman"/>
                <a:cs typeface="Times New Roman"/>
              </a:rPr>
              <a:t>and </a:t>
            </a:r>
            <a:r>
              <a:rPr sz="1800" spc="30" dirty="0">
                <a:solidFill>
                  <a:srgbClr val="FFFFFF"/>
                </a:solidFill>
                <a:latin typeface="Times New Roman"/>
                <a:cs typeface="Times New Roman"/>
              </a:rPr>
              <a:t>a </a:t>
            </a:r>
            <a:r>
              <a:rPr sz="1800" spc="65" dirty="0">
                <a:solidFill>
                  <a:srgbClr val="FFFFFF"/>
                </a:solidFill>
                <a:latin typeface="Times New Roman"/>
                <a:cs typeface="Times New Roman"/>
              </a:rPr>
              <a:t>row  </a:t>
            </a:r>
            <a:r>
              <a:rPr sz="1800" spc="50" dirty="0">
                <a:solidFill>
                  <a:srgbClr val="FFFFFF"/>
                </a:solidFill>
                <a:latin typeface="Times New Roman"/>
                <a:cs typeface="Times New Roman"/>
              </a:rPr>
              <a:t>locator.</a:t>
            </a:r>
            <a:endParaRPr sz="1800">
              <a:latin typeface="Times New Roman"/>
              <a:cs typeface="Times New Roman"/>
            </a:endParaRPr>
          </a:p>
        </p:txBody>
      </p:sp>
      <p:sp>
        <p:nvSpPr>
          <p:cNvPr id="8" name="object 8"/>
          <p:cNvSpPr/>
          <p:nvPr/>
        </p:nvSpPr>
        <p:spPr>
          <a:xfrm>
            <a:off x="0" y="3992879"/>
            <a:ext cx="5392420" cy="2311400"/>
          </a:xfrm>
          <a:custGeom>
            <a:avLst/>
            <a:gdLst/>
            <a:ahLst/>
            <a:cxnLst/>
            <a:rect l="l" t="t" r="r" b="b"/>
            <a:pathLst>
              <a:path w="5392420" h="2311400">
                <a:moveTo>
                  <a:pt x="5391912" y="385191"/>
                </a:moveTo>
                <a:lnTo>
                  <a:pt x="5388902" y="336880"/>
                </a:lnTo>
                <a:lnTo>
                  <a:pt x="5380139" y="290360"/>
                </a:lnTo>
                <a:lnTo>
                  <a:pt x="5365978" y="245986"/>
                </a:lnTo>
                <a:lnTo>
                  <a:pt x="5346776" y="204127"/>
                </a:lnTo>
                <a:lnTo>
                  <a:pt x="5322887" y="165138"/>
                </a:lnTo>
                <a:lnTo>
                  <a:pt x="5294693" y="129374"/>
                </a:lnTo>
                <a:lnTo>
                  <a:pt x="5262537" y="97218"/>
                </a:lnTo>
                <a:lnTo>
                  <a:pt x="5226774" y="69024"/>
                </a:lnTo>
                <a:lnTo>
                  <a:pt x="5187785" y="45135"/>
                </a:lnTo>
                <a:lnTo>
                  <a:pt x="5145925" y="25933"/>
                </a:lnTo>
                <a:lnTo>
                  <a:pt x="5101552" y="11772"/>
                </a:lnTo>
                <a:lnTo>
                  <a:pt x="5055032" y="3009"/>
                </a:lnTo>
                <a:lnTo>
                  <a:pt x="5006721" y="0"/>
                </a:lnTo>
                <a:lnTo>
                  <a:pt x="353949" y="0"/>
                </a:lnTo>
                <a:lnTo>
                  <a:pt x="305625" y="3009"/>
                </a:lnTo>
                <a:lnTo>
                  <a:pt x="259092" y="11772"/>
                </a:lnTo>
                <a:lnTo>
                  <a:pt x="214718" y="25933"/>
                </a:lnTo>
                <a:lnTo>
                  <a:pt x="172859" y="45135"/>
                </a:lnTo>
                <a:lnTo>
                  <a:pt x="133870" y="69024"/>
                </a:lnTo>
                <a:lnTo>
                  <a:pt x="98120" y="97218"/>
                </a:lnTo>
                <a:lnTo>
                  <a:pt x="65963" y="129374"/>
                </a:lnTo>
                <a:lnTo>
                  <a:pt x="37769" y="165138"/>
                </a:lnTo>
                <a:lnTo>
                  <a:pt x="13881" y="204127"/>
                </a:lnTo>
                <a:lnTo>
                  <a:pt x="0" y="234403"/>
                </a:lnTo>
                <a:lnTo>
                  <a:pt x="0" y="2076767"/>
                </a:lnTo>
                <a:lnTo>
                  <a:pt x="37769" y="2146033"/>
                </a:lnTo>
                <a:lnTo>
                  <a:pt x="65963" y="2181783"/>
                </a:lnTo>
                <a:lnTo>
                  <a:pt x="98120" y="2213940"/>
                </a:lnTo>
                <a:lnTo>
                  <a:pt x="133870" y="2242134"/>
                </a:lnTo>
                <a:lnTo>
                  <a:pt x="172859" y="2266023"/>
                </a:lnTo>
                <a:lnTo>
                  <a:pt x="214718" y="2285225"/>
                </a:lnTo>
                <a:lnTo>
                  <a:pt x="259092" y="2299385"/>
                </a:lnTo>
                <a:lnTo>
                  <a:pt x="305625" y="2308148"/>
                </a:lnTo>
                <a:lnTo>
                  <a:pt x="353949" y="2311146"/>
                </a:lnTo>
                <a:lnTo>
                  <a:pt x="5006721" y="2311146"/>
                </a:lnTo>
                <a:lnTo>
                  <a:pt x="5055032" y="2308148"/>
                </a:lnTo>
                <a:lnTo>
                  <a:pt x="5101552" y="2299385"/>
                </a:lnTo>
                <a:lnTo>
                  <a:pt x="5145925" y="2285225"/>
                </a:lnTo>
                <a:lnTo>
                  <a:pt x="5187785" y="2266023"/>
                </a:lnTo>
                <a:lnTo>
                  <a:pt x="5226774" y="2242134"/>
                </a:lnTo>
                <a:lnTo>
                  <a:pt x="5262537" y="2213940"/>
                </a:lnTo>
                <a:lnTo>
                  <a:pt x="5294693" y="2181783"/>
                </a:lnTo>
                <a:lnTo>
                  <a:pt x="5322887" y="2146033"/>
                </a:lnTo>
                <a:lnTo>
                  <a:pt x="5346776" y="2107044"/>
                </a:lnTo>
                <a:lnTo>
                  <a:pt x="5365978" y="2065185"/>
                </a:lnTo>
                <a:lnTo>
                  <a:pt x="5380139" y="2020811"/>
                </a:lnTo>
                <a:lnTo>
                  <a:pt x="5388902" y="1974278"/>
                </a:lnTo>
                <a:lnTo>
                  <a:pt x="5391912" y="1925955"/>
                </a:lnTo>
                <a:lnTo>
                  <a:pt x="5391912" y="385191"/>
                </a:lnTo>
                <a:close/>
              </a:path>
            </a:pathLst>
          </a:custGeom>
          <a:solidFill>
            <a:srgbClr val="8063A1"/>
          </a:solidFill>
        </p:spPr>
        <p:txBody>
          <a:bodyPr wrap="square" lIns="0" tIns="0" rIns="0" bIns="0" rtlCol="0"/>
          <a:lstStyle/>
          <a:p>
            <a:endParaRPr/>
          </a:p>
        </p:txBody>
      </p:sp>
      <p:sp>
        <p:nvSpPr>
          <p:cNvPr id="9" name="object 9"/>
          <p:cNvSpPr txBox="1"/>
          <p:nvPr/>
        </p:nvSpPr>
        <p:spPr>
          <a:xfrm>
            <a:off x="84073" y="4699253"/>
            <a:ext cx="2433320" cy="300355"/>
          </a:xfrm>
          <a:prstGeom prst="rect">
            <a:avLst/>
          </a:prstGeom>
        </p:spPr>
        <p:txBody>
          <a:bodyPr vert="horz" wrap="square" lIns="0" tIns="12700" rIns="0" bIns="0" rtlCol="0">
            <a:spAutoFit/>
          </a:bodyPr>
          <a:lstStyle/>
          <a:p>
            <a:pPr marL="12700">
              <a:lnSpc>
                <a:spcPct val="100000"/>
              </a:lnSpc>
              <a:spcBef>
                <a:spcPts val="100"/>
              </a:spcBef>
              <a:tabLst>
                <a:tab pos="1116330" algn="l"/>
                <a:tab pos="1524000" algn="l"/>
              </a:tabLst>
            </a:pPr>
            <a:r>
              <a:rPr sz="1800" spc="80" dirty="0">
                <a:solidFill>
                  <a:srgbClr val="FFFFFF"/>
                </a:solidFill>
                <a:latin typeface="Times New Roman"/>
                <a:cs typeface="Times New Roman"/>
              </a:rPr>
              <a:t>structure	</a:t>
            </a:r>
            <a:r>
              <a:rPr sz="1800" spc="15" dirty="0">
                <a:solidFill>
                  <a:srgbClr val="FFFFFF"/>
                </a:solidFill>
                <a:latin typeface="Times New Roman"/>
                <a:cs typeface="Times New Roman"/>
              </a:rPr>
              <a:t>as</a:t>
            </a:r>
            <a:r>
              <a:rPr sz="1800" dirty="0">
                <a:solidFill>
                  <a:srgbClr val="FFFFFF"/>
                </a:solidFill>
                <a:latin typeface="Times New Roman"/>
                <a:cs typeface="Times New Roman"/>
              </a:rPr>
              <a:t>	</a:t>
            </a:r>
            <a:r>
              <a:rPr sz="1800" spc="60" dirty="0">
                <a:solidFill>
                  <a:srgbClr val="FFFFFF"/>
                </a:solidFill>
                <a:latin typeface="Times New Roman"/>
                <a:cs typeface="Times New Roman"/>
              </a:rPr>
              <a:t>clustered</a:t>
            </a:r>
            <a:endParaRPr sz="1800">
              <a:latin typeface="Times New Roman"/>
              <a:cs typeface="Times New Roman"/>
            </a:endParaRPr>
          </a:p>
        </p:txBody>
      </p:sp>
      <p:sp>
        <p:nvSpPr>
          <p:cNvPr id="15" name="object 1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19</a:t>
            </a:fld>
            <a:endParaRPr sz="1200"/>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0" name="object 10"/>
          <p:cNvSpPr txBox="1"/>
          <p:nvPr/>
        </p:nvSpPr>
        <p:spPr>
          <a:xfrm>
            <a:off x="84073" y="4452620"/>
            <a:ext cx="5203825" cy="546735"/>
          </a:xfrm>
          <a:prstGeom prst="rect">
            <a:avLst/>
          </a:prstGeom>
        </p:spPr>
        <p:txBody>
          <a:bodyPr vert="horz" wrap="square" lIns="0" tIns="12700" rIns="0" bIns="0" rtlCol="0">
            <a:spAutoFit/>
          </a:bodyPr>
          <a:lstStyle/>
          <a:p>
            <a:pPr marR="5080" algn="r">
              <a:lnSpc>
                <a:spcPts val="2050"/>
              </a:lnSpc>
              <a:spcBef>
                <a:spcPts val="100"/>
              </a:spcBef>
              <a:tabLst>
                <a:tab pos="1569085" algn="l"/>
                <a:tab pos="2561590" algn="l"/>
                <a:tab pos="3260725" algn="l"/>
                <a:tab pos="3598545" algn="l"/>
                <a:tab pos="4497070" algn="l"/>
              </a:tabLst>
            </a:pPr>
            <a:r>
              <a:rPr sz="1800" spc="75" dirty="0">
                <a:solidFill>
                  <a:srgbClr val="FFFFFF"/>
                </a:solidFill>
                <a:latin typeface="Times New Roman"/>
                <a:cs typeface="Times New Roman"/>
              </a:rPr>
              <a:t>Noncluste</a:t>
            </a:r>
            <a:r>
              <a:rPr sz="1800" spc="60" dirty="0">
                <a:solidFill>
                  <a:srgbClr val="FFFFFF"/>
                </a:solidFill>
                <a:latin typeface="Times New Roman"/>
                <a:cs typeface="Times New Roman"/>
              </a:rPr>
              <a:t>r</a:t>
            </a:r>
            <a:r>
              <a:rPr sz="1800" spc="75" dirty="0">
                <a:solidFill>
                  <a:srgbClr val="FFFFFF"/>
                </a:solidFill>
                <a:latin typeface="Times New Roman"/>
                <a:cs typeface="Times New Roman"/>
              </a:rPr>
              <a:t>ed</a:t>
            </a:r>
            <a:r>
              <a:rPr sz="1800" dirty="0">
                <a:solidFill>
                  <a:srgbClr val="FFFFFF"/>
                </a:solidFill>
                <a:latin typeface="Times New Roman"/>
                <a:cs typeface="Times New Roman"/>
              </a:rPr>
              <a:t>	</a:t>
            </a:r>
            <a:r>
              <a:rPr sz="1800" spc="75" dirty="0">
                <a:solidFill>
                  <a:srgbClr val="FFFFFF"/>
                </a:solidFill>
                <a:latin typeface="Times New Roman"/>
                <a:cs typeface="Times New Roman"/>
              </a:rPr>
              <a:t>indexe</a:t>
            </a:r>
            <a:r>
              <a:rPr sz="1800" spc="5" dirty="0">
                <a:solidFill>
                  <a:srgbClr val="FFFFFF"/>
                </a:solidFill>
                <a:latin typeface="Times New Roman"/>
                <a:cs typeface="Times New Roman"/>
              </a:rPr>
              <a:t>s</a:t>
            </a:r>
            <a:r>
              <a:rPr sz="1800" dirty="0">
                <a:solidFill>
                  <a:srgbClr val="FFFFFF"/>
                </a:solidFill>
                <a:latin typeface="Times New Roman"/>
                <a:cs typeface="Times New Roman"/>
              </a:rPr>
              <a:t>	</a:t>
            </a:r>
            <a:r>
              <a:rPr sz="1800" spc="65" dirty="0">
                <a:solidFill>
                  <a:srgbClr val="FFFFFF"/>
                </a:solidFill>
                <a:latin typeface="Times New Roman"/>
                <a:cs typeface="Times New Roman"/>
              </a:rPr>
              <a:t>have</a:t>
            </a:r>
            <a:r>
              <a:rPr sz="180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dirty="0">
                <a:solidFill>
                  <a:srgbClr val="FFFFFF"/>
                </a:solidFill>
                <a:latin typeface="Times New Roman"/>
                <a:cs typeface="Times New Roman"/>
              </a:rPr>
              <a:t>	</a:t>
            </a:r>
            <a:r>
              <a:rPr sz="1800" spc="10" dirty="0">
                <a:solidFill>
                  <a:srgbClr val="FFFFFF"/>
                </a:solidFill>
                <a:latin typeface="Times New Roman"/>
                <a:cs typeface="Times New Roman"/>
              </a:rPr>
              <a:t>s</a:t>
            </a:r>
            <a:r>
              <a:rPr sz="1800" spc="35" dirty="0">
                <a:solidFill>
                  <a:srgbClr val="FFFFFF"/>
                </a:solidFill>
                <a:latin typeface="Times New Roman"/>
                <a:cs typeface="Times New Roman"/>
              </a:rPr>
              <a:t>imilar</a:t>
            </a:r>
            <a:r>
              <a:rPr sz="1800" dirty="0">
                <a:solidFill>
                  <a:srgbClr val="FFFFFF"/>
                </a:solidFill>
                <a:latin typeface="Times New Roman"/>
                <a:cs typeface="Times New Roman"/>
              </a:rPr>
              <a:t>	</a:t>
            </a:r>
            <a:r>
              <a:rPr sz="1800" spc="-70" dirty="0">
                <a:solidFill>
                  <a:srgbClr val="FFFFFF"/>
                </a:solidFill>
                <a:latin typeface="Times New Roman"/>
                <a:cs typeface="Times New Roman"/>
              </a:rPr>
              <a:t>B</a:t>
            </a:r>
            <a:r>
              <a:rPr sz="1800" spc="10" dirty="0">
                <a:solidFill>
                  <a:srgbClr val="FFFFFF"/>
                </a:solidFill>
                <a:latin typeface="Times New Roman"/>
                <a:cs typeface="Times New Roman"/>
              </a:rPr>
              <a:t>-</a:t>
            </a:r>
            <a:r>
              <a:rPr sz="1800" spc="95" dirty="0">
                <a:solidFill>
                  <a:srgbClr val="FFFFFF"/>
                </a:solidFill>
                <a:latin typeface="Times New Roman"/>
                <a:cs typeface="Times New Roman"/>
              </a:rPr>
              <a:t>Tr</a:t>
            </a:r>
            <a:r>
              <a:rPr sz="1800" spc="80" dirty="0">
                <a:solidFill>
                  <a:srgbClr val="FFFFFF"/>
                </a:solidFill>
                <a:latin typeface="Times New Roman"/>
                <a:cs typeface="Times New Roman"/>
              </a:rPr>
              <a:t>e</a:t>
            </a:r>
            <a:r>
              <a:rPr sz="1800" spc="35" dirty="0">
                <a:solidFill>
                  <a:srgbClr val="FFFFFF"/>
                </a:solidFill>
                <a:latin typeface="Times New Roman"/>
                <a:cs typeface="Times New Roman"/>
              </a:rPr>
              <a:t>e</a:t>
            </a:r>
            <a:endParaRPr sz="1800">
              <a:latin typeface="Times New Roman"/>
              <a:cs typeface="Times New Roman"/>
            </a:endParaRPr>
          </a:p>
          <a:p>
            <a:pPr marR="6350" algn="r">
              <a:lnSpc>
                <a:spcPts val="2050"/>
              </a:lnSpc>
              <a:tabLst>
                <a:tab pos="1026160" algn="l"/>
                <a:tab pos="1574800" algn="l"/>
                <a:tab pos="2235835" algn="l"/>
              </a:tabLst>
            </a:pPr>
            <a:r>
              <a:rPr sz="1800" spc="55" dirty="0">
                <a:solidFill>
                  <a:srgbClr val="FFFFFF"/>
                </a:solidFill>
                <a:latin typeface="Times New Roman"/>
                <a:cs typeface="Times New Roman"/>
              </a:rPr>
              <a:t>indexes,	</a:t>
            </a:r>
            <a:r>
              <a:rPr sz="1800" spc="110" dirty="0">
                <a:solidFill>
                  <a:srgbClr val="FFFFFF"/>
                </a:solidFill>
                <a:latin typeface="Times New Roman"/>
                <a:cs typeface="Times New Roman"/>
              </a:rPr>
              <a:t>but	</a:t>
            </a:r>
            <a:r>
              <a:rPr sz="1800" spc="80" dirty="0">
                <a:solidFill>
                  <a:srgbClr val="FFFFFF"/>
                </a:solidFill>
                <a:latin typeface="Times New Roman"/>
                <a:cs typeface="Times New Roman"/>
              </a:rPr>
              <a:t>with	</a:t>
            </a:r>
            <a:r>
              <a:rPr sz="1800" spc="105" dirty="0">
                <a:solidFill>
                  <a:srgbClr val="FFFFFF"/>
                </a:solidFill>
                <a:latin typeface="Times New Roman"/>
                <a:cs typeface="Times New Roman"/>
              </a:rPr>
              <a:t>the</a:t>
            </a:r>
            <a:endParaRPr sz="1800">
              <a:latin typeface="Times New Roman"/>
              <a:cs typeface="Times New Roman"/>
            </a:endParaRPr>
          </a:p>
        </p:txBody>
      </p:sp>
      <p:sp>
        <p:nvSpPr>
          <p:cNvPr id="11" name="object 11"/>
          <p:cNvSpPr txBox="1"/>
          <p:nvPr/>
        </p:nvSpPr>
        <p:spPr>
          <a:xfrm>
            <a:off x="84073" y="4946650"/>
            <a:ext cx="2161540"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FFFFFF"/>
                </a:solidFill>
                <a:latin typeface="Times New Roman"/>
                <a:cs typeface="Times New Roman"/>
              </a:rPr>
              <a:t>following</a:t>
            </a:r>
            <a:r>
              <a:rPr sz="1800" spc="-75" dirty="0">
                <a:solidFill>
                  <a:srgbClr val="FFFFFF"/>
                </a:solidFill>
                <a:latin typeface="Times New Roman"/>
                <a:cs typeface="Times New Roman"/>
              </a:rPr>
              <a:t> </a:t>
            </a:r>
            <a:r>
              <a:rPr sz="1800" spc="40" dirty="0">
                <a:solidFill>
                  <a:srgbClr val="FFFFFF"/>
                </a:solidFill>
                <a:latin typeface="Times New Roman"/>
                <a:cs typeface="Times New Roman"/>
              </a:rPr>
              <a:t>differences:</a:t>
            </a:r>
            <a:endParaRPr sz="1800">
              <a:latin typeface="Times New Roman"/>
              <a:cs typeface="Times New Roman"/>
            </a:endParaRPr>
          </a:p>
        </p:txBody>
      </p:sp>
      <p:sp>
        <p:nvSpPr>
          <p:cNvPr id="12" name="object 12"/>
          <p:cNvSpPr txBox="1"/>
          <p:nvPr/>
        </p:nvSpPr>
        <p:spPr>
          <a:xfrm>
            <a:off x="84073" y="5193538"/>
            <a:ext cx="5203825" cy="1057341"/>
          </a:xfrm>
          <a:prstGeom prst="rect">
            <a:avLst/>
          </a:prstGeom>
        </p:spPr>
        <p:txBody>
          <a:bodyPr vert="horz" wrap="square" lIns="0" tIns="43815" rIns="0" bIns="0" rtlCol="0">
            <a:spAutoFit/>
          </a:bodyPr>
          <a:lstStyle/>
          <a:p>
            <a:pPr marL="298450" marR="5080" indent="-285750">
              <a:lnSpc>
                <a:spcPts val="1939"/>
              </a:lnSpc>
              <a:spcBef>
                <a:spcPts val="345"/>
              </a:spcBef>
              <a:buFont typeface="Wingdings"/>
              <a:buChar char=""/>
              <a:tabLst>
                <a:tab pos="298450" algn="l"/>
              </a:tabLst>
            </a:pPr>
            <a:r>
              <a:rPr sz="1800" spc="70" dirty="0">
                <a:solidFill>
                  <a:srgbClr val="FFFFFF"/>
                </a:solidFill>
                <a:latin typeface="Times New Roman"/>
                <a:cs typeface="Times New Roman"/>
              </a:rPr>
              <a:t>In </a:t>
            </a:r>
            <a:r>
              <a:rPr sz="1800" spc="30" dirty="0">
                <a:solidFill>
                  <a:srgbClr val="FFFFFF"/>
                </a:solidFill>
                <a:latin typeface="Times New Roman"/>
                <a:cs typeface="Times New Roman"/>
              </a:rPr>
              <a:t>a </a:t>
            </a:r>
            <a:r>
              <a:rPr sz="1800" spc="75" dirty="0">
                <a:solidFill>
                  <a:srgbClr val="FFFFFF"/>
                </a:solidFill>
                <a:latin typeface="Times New Roman"/>
                <a:cs typeface="Times New Roman"/>
              </a:rPr>
              <a:t>nonclustered </a:t>
            </a:r>
            <a:r>
              <a:rPr sz="1800" spc="80" dirty="0">
                <a:solidFill>
                  <a:srgbClr val="FFFFFF"/>
                </a:solidFill>
                <a:latin typeface="Times New Roman"/>
                <a:cs typeface="Times New Roman"/>
              </a:rPr>
              <a:t>index </a:t>
            </a:r>
            <a:r>
              <a:rPr sz="1800" spc="70" dirty="0">
                <a:solidFill>
                  <a:srgbClr val="FFFFFF"/>
                </a:solidFill>
                <a:latin typeface="Times New Roman"/>
                <a:cs typeface="Times New Roman"/>
              </a:rPr>
              <a:t>structure, </a:t>
            </a:r>
            <a:r>
              <a:rPr sz="1800" spc="100" dirty="0">
                <a:solidFill>
                  <a:srgbClr val="FFFFFF"/>
                </a:solidFill>
                <a:latin typeface="Times New Roman"/>
                <a:cs typeface="Times New Roman"/>
              </a:rPr>
              <a:t>the </a:t>
            </a:r>
            <a:r>
              <a:rPr sz="1800" spc="20" dirty="0">
                <a:solidFill>
                  <a:srgbClr val="FFFFFF"/>
                </a:solidFill>
                <a:latin typeface="Times New Roman"/>
                <a:cs typeface="Times New Roman"/>
              </a:rPr>
              <a:t>leaf level  </a:t>
            </a:r>
            <a:r>
              <a:rPr sz="1800" spc="70" dirty="0">
                <a:solidFill>
                  <a:srgbClr val="FFFFFF"/>
                </a:solidFill>
                <a:latin typeface="Times New Roman"/>
                <a:cs typeface="Times New Roman"/>
              </a:rPr>
              <a:t>contains </a:t>
            </a:r>
            <a:r>
              <a:rPr sz="1800" spc="80" dirty="0">
                <a:solidFill>
                  <a:srgbClr val="FFFFFF"/>
                </a:solidFill>
                <a:latin typeface="Times New Roman"/>
                <a:cs typeface="Times New Roman"/>
              </a:rPr>
              <a:t>index</a:t>
            </a:r>
            <a:r>
              <a:rPr sz="1800" spc="-210" dirty="0">
                <a:solidFill>
                  <a:srgbClr val="FFFFFF"/>
                </a:solidFill>
                <a:latin typeface="Times New Roman"/>
                <a:cs typeface="Times New Roman"/>
              </a:rPr>
              <a:t> </a:t>
            </a:r>
            <a:r>
              <a:rPr sz="1800" spc="40">
                <a:solidFill>
                  <a:srgbClr val="FFFFFF"/>
                </a:solidFill>
                <a:latin typeface="Times New Roman"/>
                <a:cs typeface="Times New Roman"/>
              </a:rPr>
              <a:t>rows.</a:t>
            </a:r>
            <a:endParaRPr lang="en-US" sz="1800" spc="40">
              <a:solidFill>
                <a:srgbClr val="FFFFFF"/>
              </a:solidFill>
              <a:latin typeface="Times New Roman"/>
              <a:cs typeface="Times New Roman"/>
            </a:endParaRPr>
          </a:p>
          <a:p>
            <a:pPr marL="298450" marR="5080" indent="-285750">
              <a:lnSpc>
                <a:spcPts val="1939"/>
              </a:lnSpc>
              <a:spcBef>
                <a:spcPts val="345"/>
              </a:spcBef>
              <a:buFont typeface="Wingdings"/>
              <a:buChar char=""/>
              <a:tabLst>
                <a:tab pos="298450" algn="l"/>
              </a:tabLst>
            </a:pPr>
            <a:r>
              <a:rPr lang="en-US" sz="1800">
                <a:solidFill>
                  <a:schemeClr val="bg1"/>
                </a:solidFill>
                <a:latin typeface="Calibri" pitchFamily="34" charset="0"/>
                <a:cs typeface="Calibri" pitchFamily="34" charset="0"/>
              </a:rPr>
              <a:t>The data rows of the table are not physically stored in the order defined by their nonclustered keys.</a:t>
            </a:r>
          </a:p>
        </p:txBody>
      </p:sp>
      <p:sp>
        <p:nvSpPr>
          <p:cNvPr id="13" name="object 13"/>
          <p:cNvSpPr txBox="1"/>
          <p:nvPr/>
        </p:nvSpPr>
        <p:spPr>
          <a:xfrm>
            <a:off x="6559042" y="5624067"/>
            <a:ext cx="152400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Nonclustered</a:t>
            </a:r>
            <a:r>
              <a:rPr sz="1400" b="1" spc="-135" dirty="0">
                <a:latin typeface="Times New Roman"/>
                <a:cs typeface="Times New Roman"/>
              </a:rPr>
              <a:t> </a:t>
            </a:r>
            <a:r>
              <a:rPr sz="1400" b="1" dirty="0">
                <a:latin typeface="Times New Roman"/>
                <a:cs typeface="Times New Roman"/>
              </a:rPr>
              <a:t>Index</a:t>
            </a:r>
            <a:endParaRPr sz="140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4535170" cy="635635"/>
          </a:xfrm>
          <a:prstGeom prst="rect">
            <a:avLst/>
          </a:prstGeom>
        </p:spPr>
        <p:txBody>
          <a:bodyPr vert="horz" wrap="square" lIns="0" tIns="12700" rIns="0" bIns="0" rtlCol="0">
            <a:spAutoFit/>
          </a:bodyPr>
          <a:lstStyle/>
          <a:p>
            <a:pPr marL="12700">
              <a:lnSpc>
                <a:spcPct val="100000"/>
              </a:lnSpc>
              <a:spcBef>
                <a:spcPts val="100"/>
              </a:spcBef>
            </a:pPr>
            <a:r>
              <a:rPr sz="4000" b="0" spc="270" dirty="0">
                <a:latin typeface="Times New Roman"/>
                <a:cs typeface="Times New Roman"/>
              </a:rPr>
              <a:t>Column </a:t>
            </a:r>
            <a:r>
              <a:rPr sz="4000" b="0" spc="170" dirty="0">
                <a:latin typeface="Times New Roman"/>
                <a:cs typeface="Times New Roman"/>
              </a:rPr>
              <a:t>Store</a:t>
            </a:r>
            <a:r>
              <a:rPr sz="4000" b="0" spc="-655" dirty="0">
                <a:latin typeface="Times New Roman"/>
                <a:cs typeface="Times New Roman"/>
              </a:rPr>
              <a:t> </a:t>
            </a:r>
            <a:r>
              <a:rPr sz="4000" b="0" spc="175" dirty="0">
                <a:latin typeface="Times New Roman"/>
                <a:cs typeface="Times New Roman"/>
              </a:rPr>
              <a:t>Index</a:t>
            </a:r>
            <a:endParaRPr sz="4000">
              <a:latin typeface="Times New Roman"/>
              <a:cs typeface="Times New Roman"/>
            </a:endParaRPr>
          </a:p>
        </p:txBody>
      </p:sp>
      <p:sp>
        <p:nvSpPr>
          <p:cNvPr id="3" name="object 3"/>
          <p:cNvSpPr/>
          <p:nvPr/>
        </p:nvSpPr>
        <p:spPr>
          <a:xfrm>
            <a:off x="115824" y="944879"/>
            <a:ext cx="8686800" cy="870585"/>
          </a:xfrm>
          <a:custGeom>
            <a:avLst/>
            <a:gdLst/>
            <a:ahLst/>
            <a:cxnLst/>
            <a:rect l="l" t="t" r="r" b="b"/>
            <a:pathLst>
              <a:path w="8686800" h="870585">
                <a:moveTo>
                  <a:pt x="8686800" y="145034"/>
                </a:moveTo>
                <a:lnTo>
                  <a:pt x="8679409" y="99187"/>
                </a:lnTo>
                <a:lnTo>
                  <a:pt x="8658822" y="59372"/>
                </a:lnTo>
                <a:lnTo>
                  <a:pt x="8627427" y="27978"/>
                </a:lnTo>
                <a:lnTo>
                  <a:pt x="8587613" y="7391"/>
                </a:lnTo>
                <a:lnTo>
                  <a:pt x="8541766" y="0"/>
                </a:lnTo>
                <a:lnTo>
                  <a:pt x="145034" y="0"/>
                </a:lnTo>
                <a:lnTo>
                  <a:pt x="99187" y="7391"/>
                </a:lnTo>
                <a:lnTo>
                  <a:pt x="59372" y="27978"/>
                </a:lnTo>
                <a:lnTo>
                  <a:pt x="27978" y="59372"/>
                </a:lnTo>
                <a:lnTo>
                  <a:pt x="7391" y="99187"/>
                </a:lnTo>
                <a:lnTo>
                  <a:pt x="0" y="145034"/>
                </a:lnTo>
                <a:lnTo>
                  <a:pt x="0" y="725170"/>
                </a:lnTo>
                <a:lnTo>
                  <a:pt x="7391" y="771029"/>
                </a:lnTo>
                <a:lnTo>
                  <a:pt x="27978" y="810844"/>
                </a:lnTo>
                <a:lnTo>
                  <a:pt x="59372" y="842238"/>
                </a:lnTo>
                <a:lnTo>
                  <a:pt x="99187" y="862825"/>
                </a:lnTo>
                <a:lnTo>
                  <a:pt x="145034" y="870204"/>
                </a:lnTo>
                <a:lnTo>
                  <a:pt x="8541766" y="870204"/>
                </a:lnTo>
                <a:lnTo>
                  <a:pt x="8587613" y="862825"/>
                </a:lnTo>
                <a:lnTo>
                  <a:pt x="8627427" y="842238"/>
                </a:lnTo>
                <a:lnTo>
                  <a:pt x="8658822" y="810844"/>
                </a:lnTo>
                <a:lnTo>
                  <a:pt x="8679409" y="771029"/>
                </a:lnTo>
                <a:lnTo>
                  <a:pt x="8686800" y="725170"/>
                </a:lnTo>
                <a:lnTo>
                  <a:pt x="8686800" y="145034"/>
                </a:lnTo>
                <a:close/>
              </a:path>
            </a:pathLst>
          </a:custGeom>
          <a:solidFill>
            <a:srgbClr val="9BBA58"/>
          </a:solidFill>
        </p:spPr>
        <p:txBody>
          <a:bodyPr wrap="square" lIns="0" tIns="0" rIns="0" bIns="0" rtlCol="0"/>
          <a:lstStyle/>
          <a:p>
            <a:endParaRPr/>
          </a:p>
        </p:txBody>
      </p:sp>
      <p:sp>
        <p:nvSpPr>
          <p:cNvPr id="4" name="object 4"/>
          <p:cNvSpPr txBox="1"/>
          <p:nvPr/>
        </p:nvSpPr>
        <p:spPr>
          <a:xfrm>
            <a:off x="262127" y="1019555"/>
            <a:ext cx="8412480" cy="605155"/>
          </a:xfrm>
          <a:prstGeom prst="rect">
            <a:avLst/>
          </a:prstGeom>
        </p:spPr>
        <p:txBody>
          <a:bodyPr vert="horz" wrap="square" lIns="0" tIns="12700" rIns="0" bIns="0" rtlCol="0">
            <a:spAutoFit/>
          </a:bodyPr>
          <a:lstStyle/>
          <a:p>
            <a:pPr marL="355600" indent="-343535">
              <a:lnSpc>
                <a:spcPts val="2280"/>
              </a:lnSpc>
              <a:spcBef>
                <a:spcPts val="100"/>
              </a:spcBef>
              <a:buFont typeface="Wingdings"/>
              <a:buChar char=""/>
              <a:tabLst>
                <a:tab pos="355600" algn="l"/>
                <a:tab pos="356235" algn="l"/>
              </a:tabLst>
            </a:pPr>
            <a:r>
              <a:rPr sz="2000" spc="175">
                <a:solidFill>
                  <a:srgbClr val="FFFFFF"/>
                </a:solidFill>
                <a:latin typeface="Times New Roman"/>
                <a:cs typeface="Times New Roman"/>
              </a:rPr>
              <a:t>A </a:t>
            </a:r>
            <a:r>
              <a:rPr sz="2000" spc="80">
                <a:solidFill>
                  <a:srgbClr val="FFFFFF"/>
                </a:solidFill>
                <a:latin typeface="Times New Roman"/>
                <a:cs typeface="Times New Roman"/>
              </a:rPr>
              <a:t>column</a:t>
            </a:r>
            <a:r>
              <a:rPr lang="en-US" sz="2000" spc="80">
                <a:solidFill>
                  <a:srgbClr val="FFFFFF"/>
                </a:solidFill>
                <a:latin typeface="Times New Roman"/>
                <a:cs typeface="Times New Roman"/>
              </a:rPr>
              <a:t> </a:t>
            </a:r>
            <a:r>
              <a:rPr sz="2000" spc="80">
                <a:solidFill>
                  <a:srgbClr val="FFFFFF"/>
                </a:solidFill>
                <a:latin typeface="Times New Roman"/>
                <a:cs typeface="Times New Roman"/>
              </a:rPr>
              <a:t>store </a:t>
            </a:r>
            <a:r>
              <a:rPr sz="2000" spc="90" dirty="0">
                <a:solidFill>
                  <a:srgbClr val="FFFFFF"/>
                </a:solidFill>
                <a:latin typeface="Times New Roman"/>
                <a:cs typeface="Times New Roman"/>
              </a:rPr>
              <a:t>index </a:t>
            </a:r>
            <a:r>
              <a:rPr sz="2000" spc="10"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70" dirty="0">
                <a:solidFill>
                  <a:srgbClr val="FFFFFF"/>
                </a:solidFill>
                <a:latin typeface="Times New Roman"/>
                <a:cs typeface="Times New Roman"/>
              </a:rPr>
              <a:t>feature </a:t>
            </a:r>
            <a:r>
              <a:rPr sz="2000" spc="95" dirty="0">
                <a:solidFill>
                  <a:srgbClr val="FFFFFF"/>
                </a:solidFill>
                <a:latin typeface="Times New Roman"/>
                <a:cs typeface="Times New Roman"/>
              </a:rPr>
              <a:t>in SQL </a:t>
            </a:r>
            <a:r>
              <a:rPr sz="2000" spc="60" dirty="0">
                <a:solidFill>
                  <a:srgbClr val="FFFFFF"/>
                </a:solidFill>
                <a:latin typeface="Times New Roman"/>
                <a:cs typeface="Times New Roman"/>
              </a:rPr>
              <a:t>Server </a:t>
            </a:r>
            <a:r>
              <a:rPr sz="2000" spc="65" dirty="0">
                <a:solidFill>
                  <a:srgbClr val="FFFFFF"/>
                </a:solidFill>
                <a:latin typeface="Times New Roman"/>
                <a:cs typeface="Times New Roman"/>
              </a:rPr>
              <a:t>for </a:t>
            </a:r>
            <a:r>
              <a:rPr sz="2000" spc="60" dirty="0">
                <a:solidFill>
                  <a:srgbClr val="FFFFFF"/>
                </a:solidFill>
                <a:latin typeface="Times New Roman"/>
                <a:cs typeface="Times New Roman"/>
              </a:rPr>
              <a:t>storing,</a:t>
            </a:r>
            <a:r>
              <a:rPr sz="2000" spc="405" dirty="0">
                <a:solidFill>
                  <a:srgbClr val="FFFFFF"/>
                </a:solidFill>
                <a:latin typeface="Times New Roman"/>
                <a:cs typeface="Times New Roman"/>
              </a:rPr>
              <a:t> </a:t>
            </a:r>
            <a:r>
              <a:rPr sz="2000" spc="55" dirty="0">
                <a:solidFill>
                  <a:srgbClr val="FFFFFF"/>
                </a:solidFill>
                <a:latin typeface="Times New Roman"/>
                <a:cs typeface="Times New Roman"/>
              </a:rPr>
              <a:t>retrieving,</a:t>
            </a:r>
            <a:endParaRPr sz="2000">
              <a:latin typeface="Times New Roman"/>
              <a:cs typeface="Times New Roman"/>
            </a:endParaRPr>
          </a:p>
          <a:p>
            <a:pPr marL="355600">
              <a:lnSpc>
                <a:spcPts val="2280"/>
              </a:lnSpc>
            </a:pPr>
            <a:r>
              <a:rPr sz="2000" spc="110" dirty="0">
                <a:solidFill>
                  <a:srgbClr val="FFFFFF"/>
                </a:solidFill>
                <a:latin typeface="Times New Roman"/>
                <a:cs typeface="Times New Roman"/>
              </a:rPr>
              <a:t>and</a:t>
            </a:r>
            <a:r>
              <a:rPr sz="2000" spc="-80" dirty="0">
                <a:solidFill>
                  <a:srgbClr val="FFFFFF"/>
                </a:solidFill>
                <a:latin typeface="Times New Roman"/>
                <a:cs typeface="Times New Roman"/>
              </a:rPr>
              <a:t> </a:t>
            </a:r>
            <a:r>
              <a:rPr sz="2000" spc="60" dirty="0">
                <a:solidFill>
                  <a:srgbClr val="FFFFFF"/>
                </a:solidFill>
                <a:latin typeface="Times New Roman"/>
                <a:cs typeface="Times New Roman"/>
              </a:rPr>
              <a:t>managing</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0" dirty="0">
                <a:solidFill>
                  <a:srgbClr val="FFFFFF"/>
                </a:solidFill>
                <a:latin typeface="Times New Roman"/>
                <a:cs typeface="Times New Roman"/>
              </a:rPr>
              <a:t> </a:t>
            </a:r>
            <a:r>
              <a:rPr sz="2000" spc="40" dirty="0">
                <a:solidFill>
                  <a:srgbClr val="FFFFFF"/>
                </a:solidFill>
                <a:latin typeface="Times New Roman"/>
                <a:cs typeface="Times New Roman"/>
              </a:rPr>
              <a:t>by</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using</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columnar</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format</a:t>
            </a:r>
            <a:endParaRPr sz="2000">
              <a:latin typeface="Times New Roman"/>
              <a:cs typeface="Times New Roman"/>
            </a:endParaRPr>
          </a:p>
        </p:txBody>
      </p:sp>
      <p:pic>
        <p:nvPicPr>
          <p:cNvPr id="5" name="object 5"/>
          <p:cNvPicPr/>
          <p:nvPr/>
        </p:nvPicPr>
        <p:blipFill>
          <a:blip r:embed="rId3" cstate="print"/>
          <a:stretch>
            <a:fillRect/>
          </a:stretch>
        </p:blipFill>
        <p:spPr>
          <a:xfrm>
            <a:off x="356615" y="2033777"/>
            <a:ext cx="3300984" cy="2692908"/>
          </a:xfrm>
          <a:prstGeom prst="rect">
            <a:avLst/>
          </a:prstGeom>
        </p:spPr>
      </p:pic>
      <p:pic>
        <p:nvPicPr>
          <p:cNvPr id="6" name="object 6"/>
          <p:cNvPicPr/>
          <p:nvPr/>
        </p:nvPicPr>
        <p:blipFill>
          <a:blip r:embed="rId4" cstate="print"/>
          <a:stretch>
            <a:fillRect/>
          </a:stretch>
        </p:blipFill>
        <p:spPr>
          <a:xfrm>
            <a:off x="3874008" y="1973579"/>
            <a:ext cx="5269992" cy="3283458"/>
          </a:xfrm>
          <a:prstGeom prst="rect">
            <a:avLst/>
          </a:prstGeom>
        </p:spPr>
      </p:pic>
      <p:sp>
        <p:nvSpPr>
          <p:cNvPr id="7" name="object 7"/>
          <p:cNvSpPr/>
          <p:nvPr/>
        </p:nvSpPr>
        <p:spPr>
          <a:xfrm>
            <a:off x="224790" y="5415533"/>
            <a:ext cx="8686800" cy="1039494"/>
          </a:xfrm>
          <a:custGeom>
            <a:avLst/>
            <a:gdLst/>
            <a:ahLst/>
            <a:cxnLst/>
            <a:rect l="l" t="t" r="r" b="b"/>
            <a:pathLst>
              <a:path w="8686800" h="1039495">
                <a:moveTo>
                  <a:pt x="8686800" y="173228"/>
                </a:moveTo>
                <a:lnTo>
                  <a:pt x="8680602" y="127203"/>
                </a:lnTo>
                <a:lnTo>
                  <a:pt x="8663140" y="85826"/>
                </a:lnTo>
                <a:lnTo>
                  <a:pt x="8636038" y="50761"/>
                </a:lnTo>
                <a:lnTo>
                  <a:pt x="8600973" y="23660"/>
                </a:lnTo>
                <a:lnTo>
                  <a:pt x="8559597" y="6197"/>
                </a:lnTo>
                <a:lnTo>
                  <a:pt x="8513572" y="0"/>
                </a:lnTo>
                <a:lnTo>
                  <a:pt x="173228" y="0"/>
                </a:lnTo>
                <a:lnTo>
                  <a:pt x="127177" y="6197"/>
                </a:lnTo>
                <a:lnTo>
                  <a:pt x="85788" y="23660"/>
                </a:lnTo>
                <a:lnTo>
                  <a:pt x="50736" y="50761"/>
                </a:lnTo>
                <a:lnTo>
                  <a:pt x="23647" y="85826"/>
                </a:lnTo>
                <a:lnTo>
                  <a:pt x="6184" y="127203"/>
                </a:lnTo>
                <a:lnTo>
                  <a:pt x="0" y="173228"/>
                </a:lnTo>
                <a:lnTo>
                  <a:pt x="0" y="866140"/>
                </a:lnTo>
                <a:lnTo>
                  <a:pt x="6184" y="912190"/>
                </a:lnTo>
                <a:lnTo>
                  <a:pt x="23647" y="953579"/>
                </a:lnTo>
                <a:lnTo>
                  <a:pt x="50736" y="988631"/>
                </a:lnTo>
                <a:lnTo>
                  <a:pt x="85788" y="1015720"/>
                </a:lnTo>
                <a:lnTo>
                  <a:pt x="127177" y="1033183"/>
                </a:lnTo>
                <a:lnTo>
                  <a:pt x="173228" y="1039368"/>
                </a:lnTo>
                <a:lnTo>
                  <a:pt x="8513572" y="1039368"/>
                </a:lnTo>
                <a:lnTo>
                  <a:pt x="8559597" y="1033183"/>
                </a:lnTo>
                <a:lnTo>
                  <a:pt x="8600973" y="1015720"/>
                </a:lnTo>
                <a:lnTo>
                  <a:pt x="8636038" y="988631"/>
                </a:lnTo>
                <a:lnTo>
                  <a:pt x="8663140" y="953579"/>
                </a:lnTo>
                <a:lnTo>
                  <a:pt x="8680602" y="912190"/>
                </a:lnTo>
                <a:lnTo>
                  <a:pt x="8686800" y="866140"/>
                </a:lnTo>
                <a:lnTo>
                  <a:pt x="8686800" y="173228"/>
                </a:lnTo>
                <a:close/>
              </a:path>
            </a:pathLst>
          </a:custGeom>
          <a:solidFill>
            <a:srgbClr val="000000"/>
          </a:solidFill>
        </p:spPr>
        <p:txBody>
          <a:bodyPr wrap="square" lIns="0" tIns="0" rIns="0" bIns="0" rtlCol="0"/>
          <a:lstStyle/>
          <a:p>
            <a:endParaRPr/>
          </a:p>
        </p:txBody>
      </p:sp>
      <p:sp>
        <p:nvSpPr>
          <p:cNvPr id="8" name="object 8"/>
          <p:cNvSpPr txBox="1"/>
          <p:nvPr/>
        </p:nvSpPr>
        <p:spPr>
          <a:xfrm>
            <a:off x="371347" y="5514085"/>
            <a:ext cx="5894705" cy="743585"/>
          </a:xfrm>
          <a:prstGeom prst="rect">
            <a:avLst/>
          </a:prstGeom>
        </p:spPr>
        <p:txBody>
          <a:bodyPr vert="horz" wrap="square" lIns="0" tIns="12700" rIns="0" bIns="0" rtlCol="0">
            <a:spAutoFit/>
          </a:bodyPr>
          <a:lstStyle/>
          <a:p>
            <a:pPr marL="12700">
              <a:lnSpc>
                <a:spcPts val="2085"/>
              </a:lnSpc>
              <a:spcBef>
                <a:spcPts val="100"/>
              </a:spcBef>
            </a:pPr>
            <a:r>
              <a:rPr sz="1800" spc="95" dirty="0">
                <a:solidFill>
                  <a:srgbClr val="FFFFFF"/>
                </a:solidFill>
                <a:latin typeface="Times New Roman"/>
                <a:cs typeface="Times New Roman"/>
              </a:rPr>
              <a:t>Columnstore</a:t>
            </a:r>
            <a:r>
              <a:rPr sz="1800" spc="-65" dirty="0">
                <a:solidFill>
                  <a:srgbClr val="FFFFFF"/>
                </a:solidFill>
                <a:latin typeface="Times New Roman"/>
                <a:cs typeface="Times New Roman"/>
              </a:rPr>
              <a:t> </a:t>
            </a:r>
            <a:r>
              <a:rPr sz="1800" spc="65" dirty="0">
                <a:solidFill>
                  <a:srgbClr val="FFFFFF"/>
                </a:solidFill>
                <a:latin typeface="Times New Roman"/>
                <a:cs typeface="Times New Roman"/>
              </a:rPr>
              <a:t>indexes</a:t>
            </a:r>
            <a:r>
              <a:rPr sz="1800" spc="-70"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75" dirty="0">
                <a:solidFill>
                  <a:srgbClr val="FFFFFF"/>
                </a:solidFill>
                <a:latin typeface="Times New Roman"/>
                <a:cs typeface="Times New Roman"/>
              </a:rPr>
              <a:t> </a:t>
            </a:r>
            <a:r>
              <a:rPr sz="1800" spc="45" dirty="0">
                <a:solidFill>
                  <a:srgbClr val="FFFFFF"/>
                </a:solidFill>
                <a:latin typeface="Times New Roman"/>
                <a:cs typeface="Times New Roman"/>
              </a:rPr>
              <a:t>mainly</a:t>
            </a:r>
            <a:r>
              <a:rPr sz="1800" spc="-60" dirty="0">
                <a:solidFill>
                  <a:srgbClr val="FFFFFF"/>
                </a:solidFill>
                <a:latin typeface="Times New Roman"/>
                <a:cs typeface="Times New Roman"/>
              </a:rPr>
              <a:t> </a:t>
            </a:r>
            <a:r>
              <a:rPr sz="1800" spc="75" dirty="0">
                <a:solidFill>
                  <a:srgbClr val="FFFFFF"/>
                </a:solidFill>
                <a:latin typeface="Times New Roman"/>
                <a:cs typeface="Times New Roman"/>
              </a:rPr>
              <a:t>used</a:t>
            </a:r>
            <a:r>
              <a:rPr sz="1800" spc="-70" dirty="0">
                <a:solidFill>
                  <a:srgbClr val="FFFFFF"/>
                </a:solidFill>
                <a:latin typeface="Times New Roman"/>
                <a:cs typeface="Times New Roman"/>
              </a:rPr>
              <a:t> </a:t>
            </a:r>
            <a:r>
              <a:rPr sz="1800" spc="60" dirty="0">
                <a:solidFill>
                  <a:srgbClr val="FFFFFF"/>
                </a:solidFill>
                <a:latin typeface="Times New Roman"/>
                <a:cs typeface="Times New Roman"/>
              </a:rPr>
              <a:t>for</a:t>
            </a:r>
            <a:r>
              <a:rPr sz="1800" spc="-65" dirty="0">
                <a:solidFill>
                  <a:srgbClr val="FFFFFF"/>
                </a:solidFill>
                <a:latin typeface="Times New Roman"/>
                <a:cs typeface="Times New Roman"/>
              </a:rPr>
              <a:t> </a:t>
            </a:r>
            <a:r>
              <a:rPr sz="1800" spc="40" dirty="0">
                <a:solidFill>
                  <a:srgbClr val="FFFFFF"/>
                </a:solidFill>
                <a:latin typeface="Times New Roman"/>
                <a:cs typeface="Times New Roman"/>
              </a:rPr>
              <a:t>following</a:t>
            </a:r>
            <a:r>
              <a:rPr sz="1800" spc="-60" dirty="0">
                <a:solidFill>
                  <a:srgbClr val="FFFFFF"/>
                </a:solidFill>
                <a:latin typeface="Times New Roman"/>
                <a:cs typeface="Times New Roman"/>
              </a:rPr>
              <a:t> </a:t>
            </a:r>
            <a:r>
              <a:rPr sz="1800" spc="45" dirty="0">
                <a:solidFill>
                  <a:srgbClr val="FFFFFF"/>
                </a:solidFill>
                <a:latin typeface="Times New Roman"/>
                <a:cs typeface="Times New Roman"/>
              </a:rPr>
              <a:t>reasons:</a:t>
            </a:r>
            <a:endParaRPr sz="1800">
              <a:latin typeface="Times New Roman"/>
              <a:cs typeface="Times New Roman"/>
            </a:endParaRPr>
          </a:p>
          <a:p>
            <a:pPr marL="298450" indent="-285750">
              <a:lnSpc>
                <a:spcPts val="1745"/>
              </a:lnSpc>
              <a:buFont typeface="Wingdings"/>
              <a:buChar char=""/>
              <a:tabLst>
                <a:tab pos="298450" algn="l"/>
              </a:tabLst>
            </a:pPr>
            <a:r>
              <a:rPr sz="1600" spc="110" dirty="0">
                <a:solidFill>
                  <a:srgbClr val="FFFFFF"/>
                </a:solidFill>
                <a:latin typeface="Times New Roman"/>
                <a:cs typeface="Times New Roman"/>
              </a:rPr>
              <a:t>To</a:t>
            </a:r>
            <a:r>
              <a:rPr sz="1600" spc="-300" dirty="0">
                <a:solidFill>
                  <a:srgbClr val="FFFFFF"/>
                </a:solidFill>
                <a:latin typeface="Times New Roman"/>
                <a:cs typeface="Times New Roman"/>
              </a:rPr>
              <a:t> </a:t>
            </a:r>
            <a:r>
              <a:rPr sz="1600" spc="60" dirty="0">
                <a:solidFill>
                  <a:srgbClr val="FFFFFF"/>
                </a:solidFill>
                <a:latin typeface="Times New Roman"/>
                <a:cs typeface="Times New Roman"/>
              </a:rPr>
              <a:t>reduce </a:t>
            </a:r>
            <a:r>
              <a:rPr sz="1600" spc="40" dirty="0">
                <a:solidFill>
                  <a:srgbClr val="FFFFFF"/>
                </a:solidFill>
                <a:latin typeface="Times New Roman"/>
                <a:cs typeface="Times New Roman"/>
              </a:rPr>
              <a:t>storage costs</a:t>
            </a:r>
            <a:endParaRPr sz="1600">
              <a:latin typeface="Times New Roman"/>
              <a:cs typeface="Times New Roman"/>
            </a:endParaRPr>
          </a:p>
          <a:p>
            <a:pPr marL="298450" indent="-285750">
              <a:lnSpc>
                <a:spcPts val="1825"/>
              </a:lnSpc>
              <a:buFont typeface="Wingdings"/>
              <a:buChar char=""/>
              <a:tabLst>
                <a:tab pos="298450" algn="l"/>
              </a:tabLst>
            </a:pPr>
            <a:r>
              <a:rPr sz="1600" spc="45" dirty="0">
                <a:solidFill>
                  <a:srgbClr val="FFFFFF"/>
                </a:solidFill>
                <a:latin typeface="Times New Roman"/>
                <a:cs typeface="Times New Roman"/>
              </a:rPr>
              <a:t>Better</a:t>
            </a:r>
            <a:r>
              <a:rPr sz="1600" spc="-50" dirty="0">
                <a:solidFill>
                  <a:srgbClr val="FFFFFF"/>
                </a:solidFill>
                <a:latin typeface="Times New Roman"/>
                <a:cs typeface="Times New Roman"/>
              </a:rPr>
              <a:t> </a:t>
            </a:r>
            <a:r>
              <a:rPr sz="1600" spc="55" dirty="0">
                <a:solidFill>
                  <a:srgbClr val="FFFFFF"/>
                </a:solidFill>
                <a:latin typeface="Times New Roman"/>
                <a:cs typeface="Times New Roman"/>
              </a:rPr>
              <a:t>performance</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20</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9" name="object 9"/>
          <p:cNvSpPr txBox="1"/>
          <p:nvPr/>
        </p:nvSpPr>
        <p:spPr>
          <a:xfrm>
            <a:off x="769619" y="4692141"/>
            <a:ext cx="2364105"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Clustered</a:t>
            </a:r>
            <a:r>
              <a:rPr sz="1400" b="1" spc="-105" dirty="0">
                <a:latin typeface="Times New Roman"/>
                <a:cs typeface="Times New Roman"/>
              </a:rPr>
              <a:t> </a:t>
            </a:r>
            <a:r>
              <a:rPr sz="1400" b="1" spc="30" dirty="0">
                <a:latin typeface="Times New Roman"/>
                <a:cs typeface="Times New Roman"/>
              </a:rPr>
              <a:t>Column</a:t>
            </a:r>
            <a:r>
              <a:rPr sz="1400" b="1" spc="-105" dirty="0">
                <a:latin typeface="Times New Roman"/>
                <a:cs typeface="Times New Roman"/>
              </a:rPr>
              <a:t> </a:t>
            </a:r>
            <a:r>
              <a:rPr sz="1400" b="1" spc="5" dirty="0">
                <a:latin typeface="Times New Roman"/>
                <a:cs typeface="Times New Roman"/>
              </a:rPr>
              <a:t>Store</a:t>
            </a:r>
            <a:r>
              <a:rPr sz="1400" b="1" spc="-95"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0955DD6-A7F2-49FA-B365-0779B3D93175}" type="slidenum">
              <a:rPr lang="en-US" smtClean="0"/>
              <a:pPr>
                <a:defRPr/>
              </a:pPr>
              <a:t>21</a:t>
            </a:fld>
            <a:endParaRPr lang="en-US" dirty="0"/>
          </a:p>
        </p:txBody>
      </p:sp>
      <p:sp>
        <p:nvSpPr>
          <p:cNvPr id="3" name="Footer Placeholder 2"/>
          <p:cNvSpPr>
            <a:spLocks noGrp="1"/>
          </p:cNvSpPr>
          <p:nvPr>
            <p:ph type="ftr" sz="quarter" idx="11"/>
          </p:nvPr>
        </p:nvSpPr>
        <p:spPr/>
        <p:txBody>
          <a:bodyPr/>
          <a:lstStyle/>
          <a:p>
            <a:pPr>
              <a:defRPr/>
            </a:pPr>
            <a:r>
              <a:rPr lang="en-US" dirty="0"/>
              <a:t>Indexes/ Session 11 </a:t>
            </a:r>
          </a:p>
        </p:txBody>
      </p:sp>
      <p:sp>
        <p:nvSpPr>
          <p:cNvPr id="4" name="Title 3"/>
          <p:cNvSpPr>
            <a:spLocks noGrp="1"/>
          </p:cNvSpPr>
          <p:nvPr>
            <p:ph type="title" idx="4294967295"/>
          </p:nvPr>
        </p:nvSpPr>
        <p:spPr>
          <a:xfrm>
            <a:off x="152400" y="76200"/>
            <a:ext cx="7620000" cy="411162"/>
          </a:xfrm>
        </p:spPr>
        <p:txBody>
          <a:bodyPr/>
          <a:lstStyle/>
          <a:p>
            <a:r>
              <a:rPr lang="en-US" dirty="0"/>
              <a:t>Column Store Index 2-4</a:t>
            </a:r>
          </a:p>
        </p:txBody>
      </p:sp>
      <p:sp>
        <p:nvSpPr>
          <p:cNvPr id="5" name="TextBox 4"/>
          <p:cNvSpPr txBox="1"/>
          <p:nvPr/>
        </p:nvSpPr>
        <p:spPr>
          <a:xfrm>
            <a:off x="266700" y="1219200"/>
            <a:ext cx="4038600" cy="2462213"/>
          </a:xfrm>
          <a:prstGeom prst="rect">
            <a:avLst/>
          </a:prstGeom>
          <a:noFill/>
        </p:spPr>
        <p:txBody>
          <a:bodyPr wrap="square" rtlCol="0">
            <a:spAutoFit/>
          </a:bodyPr>
          <a:lstStyle/>
          <a:p>
            <a:pPr marL="342900" indent="-342900">
              <a:lnSpc>
                <a:spcPct val="100000"/>
              </a:lnSpc>
              <a:spcBef>
                <a:spcPts val="0"/>
              </a:spcBef>
              <a:buFont typeface="Arial" panose="020B0604020202020204" pitchFamily="34" charset="0"/>
              <a:buChar char="•"/>
            </a:pPr>
            <a:r>
              <a:rPr lang="en-US" sz="2200" dirty="0">
                <a:latin typeface="Calibri" pitchFamily="34" charset="0"/>
                <a:cs typeface="Calibri" pitchFamily="34" charset="0"/>
              </a:rPr>
              <a:t>For example, if there is a table with ten columns (C1 to C10), the data of all the ten columns from each row gets stored together continuously on the same page as shown in the aside figure.</a:t>
            </a:r>
          </a:p>
        </p:txBody>
      </p:sp>
      <p:pic>
        <p:nvPicPr>
          <p:cNvPr id="6" name="Picture 5" descr="Figure 11.15.tif"/>
          <p:cNvPicPr>
            <a:picLocks noChangeAspect="1"/>
          </p:cNvPicPr>
          <p:nvPr/>
        </p:nvPicPr>
        <p:blipFill>
          <a:blip r:embed="rId3" cstate="print"/>
          <a:stretch>
            <a:fillRect/>
          </a:stretch>
        </p:blipFill>
        <p:spPr>
          <a:xfrm>
            <a:off x="4471988" y="990600"/>
            <a:ext cx="4457700" cy="54981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0955DD6-A7F2-49FA-B365-0779B3D93175}" type="slidenum">
              <a:rPr lang="en-US" smtClean="0"/>
              <a:pPr>
                <a:defRPr/>
              </a:pPr>
              <a:t>22</a:t>
            </a:fld>
            <a:endParaRPr lang="en-US" dirty="0"/>
          </a:p>
        </p:txBody>
      </p:sp>
      <p:sp>
        <p:nvSpPr>
          <p:cNvPr id="3" name="Footer Placeholder 2"/>
          <p:cNvSpPr>
            <a:spLocks noGrp="1"/>
          </p:cNvSpPr>
          <p:nvPr>
            <p:ph type="ftr" sz="quarter" idx="11"/>
          </p:nvPr>
        </p:nvSpPr>
        <p:spPr/>
        <p:txBody>
          <a:bodyPr/>
          <a:lstStyle/>
          <a:p>
            <a:pPr>
              <a:defRPr/>
            </a:pPr>
            <a:r>
              <a:rPr lang="en-US" dirty="0"/>
              <a:t>Indexes/ Session 11 </a:t>
            </a:r>
          </a:p>
        </p:txBody>
      </p:sp>
      <p:sp>
        <p:nvSpPr>
          <p:cNvPr id="4" name="Title 3"/>
          <p:cNvSpPr>
            <a:spLocks noGrp="1"/>
          </p:cNvSpPr>
          <p:nvPr>
            <p:ph type="title" idx="4294967295"/>
          </p:nvPr>
        </p:nvSpPr>
        <p:spPr>
          <a:xfrm>
            <a:off x="152400" y="76200"/>
            <a:ext cx="7620000" cy="411162"/>
          </a:xfrm>
        </p:spPr>
        <p:txBody>
          <a:bodyPr/>
          <a:lstStyle/>
          <a:p>
            <a:r>
              <a:rPr lang="en-US" dirty="0"/>
              <a:t>Column Store Index 3-4</a:t>
            </a:r>
          </a:p>
        </p:txBody>
      </p:sp>
      <p:sp>
        <p:nvSpPr>
          <p:cNvPr id="5" name="TextBox 4"/>
          <p:cNvSpPr txBox="1"/>
          <p:nvPr/>
        </p:nvSpPr>
        <p:spPr>
          <a:xfrm>
            <a:off x="381000" y="990600"/>
            <a:ext cx="3505200" cy="4862870"/>
          </a:xfrm>
          <a:prstGeom prst="rect">
            <a:avLst/>
          </a:prstGeom>
          <a:noFill/>
        </p:spPr>
        <p:txBody>
          <a:bodyPr wrap="square" rtlCol="0">
            <a:spAutoFit/>
          </a:bodyPr>
          <a:lstStyle/>
          <a:p>
            <a:pPr marL="285750" indent="-285750">
              <a:lnSpc>
                <a:spcPct val="100000"/>
              </a:lnSpc>
              <a:spcBef>
                <a:spcPts val="1200"/>
              </a:spcBef>
              <a:buFont typeface="Arial" panose="020B0604020202020204" pitchFamily="34" charset="0"/>
              <a:buChar char="•"/>
            </a:pPr>
            <a:r>
              <a:rPr lang="en-US" sz="2000" dirty="0">
                <a:latin typeface="Calibri" pitchFamily="34" charset="0"/>
                <a:cs typeface="Calibri" pitchFamily="34" charset="0"/>
              </a:rPr>
              <a:t>When column store index is created, the data is stored column-wise, which means data of each individual column from each rows is stored together on same page.</a:t>
            </a:r>
          </a:p>
          <a:p>
            <a:pPr marL="285750" indent="-285750">
              <a:lnSpc>
                <a:spcPct val="100000"/>
              </a:lnSpc>
              <a:spcBef>
                <a:spcPts val="1200"/>
              </a:spcBef>
              <a:buFont typeface="Arial" panose="020B0604020202020204" pitchFamily="34" charset="0"/>
              <a:buChar char="•"/>
            </a:pPr>
            <a:r>
              <a:rPr lang="en-US" sz="2000" dirty="0">
                <a:latin typeface="Calibri" pitchFamily="34" charset="0"/>
                <a:cs typeface="Calibri" pitchFamily="34" charset="0"/>
              </a:rPr>
              <a:t>For example, the data of column C1 of all the rows gets stored together on one page and the data for column C2 of all the rows gets stored on another page and so on as shown in the aside figure</a:t>
            </a:r>
          </a:p>
        </p:txBody>
      </p:sp>
      <p:pic>
        <p:nvPicPr>
          <p:cNvPr id="6" name="Picture 5" descr="Figure 11.16.tif"/>
          <p:cNvPicPr>
            <a:picLocks noChangeAspect="1"/>
          </p:cNvPicPr>
          <p:nvPr/>
        </p:nvPicPr>
        <p:blipFill>
          <a:blip r:embed="rId3" cstate="print"/>
          <a:stretch>
            <a:fillRect/>
          </a:stretch>
        </p:blipFill>
        <p:spPr>
          <a:xfrm>
            <a:off x="3986066" y="1066800"/>
            <a:ext cx="4943622" cy="475950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3229610" cy="635635"/>
          </a:xfrm>
          <a:prstGeom prst="rect">
            <a:avLst/>
          </a:prstGeom>
        </p:spPr>
        <p:txBody>
          <a:bodyPr vert="horz" wrap="square" lIns="0" tIns="12700" rIns="0" bIns="0" rtlCol="0">
            <a:spAutoFit/>
          </a:bodyPr>
          <a:lstStyle/>
          <a:p>
            <a:pPr marL="12700">
              <a:lnSpc>
                <a:spcPct val="100000"/>
              </a:lnSpc>
              <a:spcBef>
                <a:spcPts val="100"/>
              </a:spcBef>
            </a:pPr>
            <a:r>
              <a:rPr sz="4000" b="0" spc="175" dirty="0">
                <a:latin typeface="Times New Roman"/>
                <a:cs typeface="Times New Roman"/>
              </a:rPr>
              <a:t>Hash Index</a:t>
            </a:r>
            <a:r>
              <a:rPr sz="4000" b="0" spc="-540" dirty="0">
                <a:latin typeface="Times New Roman"/>
                <a:cs typeface="Times New Roman"/>
              </a:rPr>
              <a:t> </a:t>
            </a:r>
            <a:r>
              <a:rPr sz="4000" b="0" spc="-250" dirty="0">
                <a:latin typeface="Times New Roman"/>
                <a:cs typeface="Times New Roman"/>
              </a:rPr>
              <a:t>1-2</a:t>
            </a:r>
            <a:endParaRPr sz="4000">
              <a:latin typeface="Times New Roman"/>
              <a:cs typeface="Times New Roman"/>
            </a:endParaRPr>
          </a:p>
        </p:txBody>
      </p:sp>
      <p:sp>
        <p:nvSpPr>
          <p:cNvPr id="3" name="object 3"/>
          <p:cNvSpPr/>
          <p:nvPr/>
        </p:nvSpPr>
        <p:spPr>
          <a:xfrm>
            <a:off x="115824" y="1902713"/>
            <a:ext cx="4456430" cy="4484370"/>
          </a:xfrm>
          <a:custGeom>
            <a:avLst/>
            <a:gdLst/>
            <a:ahLst/>
            <a:cxnLst/>
            <a:rect l="l" t="t" r="r" b="b"/>
            <a:pathLst>
              <a:path w="4456430" h="4484370">
                <a:moveTo>
                  <a:pt x="4456176" y="742696"/>
                </a:moveTo>
                <a:lnTo>
                  <a:pt x="4454588" y="693864"/>
                </a:lnTo>
                <a:lnTo>
                  <a:pt x="4449915" y="645871"/>
                </a:lnTo>
                <a:lnTo>
                  <a:pt x="4442244" y="598830"/>
                </a:lnTo>
                <a:lnTo>
                  <a:pt x="4431677" y="552818"/>
                </a:lnTo>
                <a:lnTo>
                  <a:pt x="4418304" y="507936"/>
                </a:lnTo>
                <a:lnTo>
                  <a:pt x="4402239" y="464299"/>
                </a:lnTo>
                <a:lnTo>
                  <a:pt x="4383557" y="421995"/>
                </a:lnTo>
                <a:lnTo>
                  <a:pt x="4362374" y="381127"/>
                </a:lnTo>
                <a:lnTo>
                  <a:pt x="4338790" y="341782"/>
                </a:lnTo>
                <a:lnTo>
                  <a:pt x="4312882" y="304063"/>
                </a:lnTo>
                <a:lnTo>
                  <a:pt x="4284764" y="268071"/>
                </a:lnTo>
                <a:lnTo>
                  <a:pt x="4254525" y="233895"/>
                </a:lnTo>
                <a:lnTo>
                  <a:pt x="4222280" y="201650"/>
                </a:lnTo>
                <a:lnTo>
                  <a:pt x="4188104" y="171411"/>
                </a:lnTo>
                <a:lnTo>
                  <a:pt x="4152112" y="143294"/>
                </a:lnTo>
                <a:lnTo>
                  <a:pt x="4114393" y="117386"/>
                </a:lnTo>
                <a:lnTo>
                  <a:pt x="4075049" y="93802"/>
                </a:lnTo>
                <a:lnTo>
                  <a:pt x="4034180" y="72618"/>
                </a:lnTo>
                <a:lnTo>
                  <a:pt x="3991876" y="53936"/>
                </a:lnTo>
                <a:lnTo>
                  <a:pt x="3948239" y="37871"/>
                </a:lnTo>
                <a:lnTo>
                  <a:pt x="3903357" y="24498"/>
                </a:lnTo>
                <a:lnTo>
                  <a:pt x="3857345" y="13931"/>
                </a:lnTo>
                <a:lnTo>
                  <a:pt x="3810304" y="6261"/>
                </a:lnTo>
                <a:lnTo>
                  <a:pt x="3762311" y="1587"/>
                </a:lnTo>
                <a:lnTo>
                  <a:pt x="3713480" y="0"/>
                </a:lnTo>
                <a:lnTo>
                  <a:pt x="742708" y="0"/>
                </a:lnTo>
                <a:lnTo>
                  <a:pt x="693864" y="1587"/>
                </a:lnTo>
                <a:lnTo>
                  <a:pt x="645883" y="6261"/>
                </a:lnTo>
                <a:lnTo>
                  <a:pt x="598830" y="13931"/>
                </a:lnTo>
                <a:lnTo>
                  <a:pt x="552818" y="24498"/>
                </a:lnTo>
                <a:lnTo>
                  <a:pt x="507949" y="37871"/>
                </a:lnTo>
                <a:lnTo>
                  <a:pt x="464312" y="53936"/>
                </a:lnTo>
                <a:lnTo>
                  <a:pt x="422008" y="72618"/>
                </a:lnTo>
                <a:lnTo>
                  <a:pt x="381139" y="93802"/>
                </a:lnTo>
                <a:lnTo>
                  <a:pt x="341782" y="117386"/>
                </a:lnTo>
                <a:lnTo>
                  <a:pt x="304063" y="143294"/>
                </a:lnTo>
                <a:lnTo>
                  <a:pt x="268071" y="171411"/>
                </a:lnTo>
                <a:lnTo>
                  <a:pt x="233895" y="201650"/>
                </a:lnTo>
                <a:lnTo>
                  <a:pt x="201650" y="233895"/>
                </a:lnTo>
                <a:lnTo>
                  <a:pt x="171411" y="268071"/>
                </a:lnTo>
                <a:lnTo>
                  <a:pt x="143294" y="304063"/>
                </a:lnTo>
                <a:lnTo>
                  <a:pt x="117386" y="341782"/>
                </a:lnTo>
                <a:lnTo>
                  <a:pt x="93789" y="381127"/>
                </a:lnTo>
                <a:lnTo>
                  <a:pt x="72605" y="421995"/>
                </a:lnTo>
                <a:lnTo>
                  <a:pt x="53936" y="464299"/>
                </a:lnTo>
                <a:lnTo>
                  <a:pt x="37858" y="507936"/>
                </a:lnTo>
                <a:lnTo>
                  <a:pt x="24485" y="552818"/>
                </a:lnTo>
                <a:lnTo>
                  <a:pt x="13919" y="598830"/>
                </a:lnTo>
                <a:lnTo>
                  <a:pt x="6248" y="645871"/>
                </a:lnTo>
                <a:lnTo>
                  <a:pt x="1574" y="693864"/>
                </a:lnTo>
                <a:lnTo>
                  <a:pt x="0" y="742696"/>
                </a:lnTo>
                <a:lnTo>
                  <a:pt x="0" y="3741661"/>
                </a:lnTo>
                <a:lnTo>
                  <a:pt x="1574" y="3790505"/>
                </a:lnTo>
                <a:lnTo>
                  <a:pt x="6248" y="3838486"/>
                </a:lnTo>
                <a:lnTo>
                  <a:pt x="13919" y="3885539"/>
                </a:lnTo>
                <a:lnTo>
                  <a:pt x="24485" y="3931551"/>
                </a:lnTo>
                <a:lnTo>
                  <a:pt x="37858" y="3976420"/>
                </a:lnTo>
                <a:lnTo>
                  <a:pt x="53936" y="4020058"/>
                </a:lnTo>
                <a:lnTo>
                  <a:pt x="72605" y="4062361"/>
                </a:lnTo>
                <a:lnTo>
                  <a:pt x="93789" y="4103230"/>
                </a:lnTo>
                <a:lnTo>
                  <a:pt x="117386" y="4142587"/>
                </a:lnTo>
                <a:lnTo>
                  <a:pt x="143294" y="4180306"/>
                </a:lnTo>
                <a:lnTo>
                  <a:pt x="171411" y="4216298"/>
                </a:lnTo>
                <a:lnTo>
                  <a:pt x="201650" y="4250474"/>
                </a:lnTo>
                <a:lnTo>
                  <a:pt x="233895" y="4282719"/>
                </a:lnTo>
                <a:lnTo>
                  <a:pt x="268071" y="4312958"/>
                </a:lnTo>
                <a:lnTo>
                  <a:pt x="304063" y="4341076"/>
                </a:lnTo>
                <a:lnTo>
                  <a:pt x="341782" y="4366984"/>
                </a:lnTo>
                <a:lnTo>
                  <a:pt x="381139" y="4390580"/>
                </a:lnTo>
                <a:lnTo>
                  <a:pt x="422008" y="4411764"/>
                </a:lnTo>
                <a:lnTo>
                  <a:pt x="464312" y="4430433"/>
                </a:lnTo>
                <a:lnTo>
                  <a:pt x="507949" y="4446511"/>
                </a:lnTo>
                <a:lnTo>
                  <a:pt x="552818" y="4459884"/>
                </a:lnTo>
                <a:lnTo>
                  <a:pt x="598830" y="4470451"/>
                </a:lnTo>
                <a:lnTo>
                  <a:pt x="645883" y="4478121"/>
                </a:lnTo>
                <a:lnTo>
                  <a:pt x="693864" y="4482795"/>
                </a:lnTo>
                <a:lnTo>
                  <a:pt x="742708" y="4484370"/>
                </a:lnTo>
                <a:lnTo>
                  <a:pt x="3713480" y="4484370"/>
                </a:lnTo>
                <a:lnTo>
                  <a:pt x="3762311" y="4482795"/>
                </a:lnTo>
                <a:lnTo>
                  <a:pt x="3810304" y="4478121"/>
                </a:lnTo>
                <a:lnTo>
                  <a:pt x="3857345" y="4470451"/>
                </a:lnTo>
                <a:lnTo>
                  <a:pt x="3903357" y="4459884"/>
                </a:lnTo>
                <a:lnTo>
                  <a:pt x="3948239" y="4446511"/>
                </a:lnTo>
                <a:lnTo>
                  <a:pt x="3991876" y="4430433"/>
                </a:lnTo>
                <a:lnTo>
                  <a:pt x="4034180" y="4411764"/>
                </a:lnTo>
                <a:lnTo>
                  <a:pt x="4075049" y="4390580"/>
                </a:lnTo>
                <a:lnTo>
                  <a:pt x="4114393" y="4366984"/>
                </a:lnTo>
                <a:lnTo>
                  <a:pt x="4152112" y="4341076"/>
                </a:lnTo>
                <a:lnTo>
                  <a:pt x="4188104" y="4312958"/>
                </a:lnTo>
                <a:lnTo>
                  <a:pt x="4222280" y="4282719"/>
                </a:lnTo>
                <a:lnTo>
                  <a:pt x="4254525" y="4250474"/>
                </a:lnTo>
                <a:lnTo>
                  <a:pt x="4284764" y="4216298"/>
                </a:lnTo>
                <a:lnTo>
                  <a:pt x="4312882" y="4180306"/>
                </a:lnTo>
                <a:lnTo>
                  <a:pt x="4338790" y="4142587"/>
                </a:lnTo>
                <a:lnTo>
                  <a:pt x="4362374" y="4103230"/>
                </a:lnTo>
                <a:lnTo>
                  <a:pt x="4383557" y="4062361"/>
                </a:lnTo>
                <a:lnTo>
                  <a:pt x="4402239" y="4020058"/>
                </a:lnTo>
                <a:lnTo>
                  <a:pt x="4418304" y="3976420"/>
                </a:lnTo>
                <a:lnTo>
                  <a:pt x="4431677" y="3931551"/>
                </a:lnTo>
                <a:lnTo>
                  <a:pt x="4442244" y="3885539"/>
                </a:lnTo>
                <a:lnTo>
                  <a:pt x="4449915" y="3838486"/>
                </a:lnTo>
                <a:lnTo>
                  <a:pt x="4454588" y="3790505"/>
                </a:lnTo>
                <a:lnTo>
                  <a:pt x="4456176" y="3741661"/>
                </a:lnTo>
                <a:lnTo>
                  <a:pt x="4456176" y="742696"/>
                </a:lnTo>
                <a:close/>
              </a:path>
            </a:pathLst>
          </a:custGeom>
          <a:solidFill>
            <a:srgbClr val="4AACC5"/>
          </a:solidFill>
        </p:spPr>
        <p:txBody>
          <a:bodyPr wrap="square" lIns="0" tIns="0" rIns="0" bIns="0" rtlCol="0"/>
          <a:lstStyle/>
          <a:p>
            <a:endParaRPr/>
          </a:p>
        </p:txBody>
      </p:sp>
      <p:sp>
        <p:nvSpPr>
          <p:cNvPr id="4" name="object 4"/>
          <p:cNvSpPr txBox="1"/>
          <p:nvPr/>
        </p:nvSpPr>
        <p:spPr>
          <a:xfrm>
            <a:off x="221995" y="2646425"/>
            <a:ext cx="4135120" cy="330200"/>
          </a:xfrm>
          <a:prstGeom prst="rect">
            <a:avLst/>
          </a:prstGeom>
        </p:spPr>
        <p:txBody>
          <a:bodyPr vert="horz" wrap="square" lIns="0" tIns="12065" rIns="0" bIns="0" rtlCol="0">
            <a:spAutoFit/>
          </a:bodyPr>
          <a:lstStyle/>
          <a:p>
            <a:pPr marL="12700">
              <a:lnSpc>
                <a:spcPct val="100000"/>
              </a:lnSpc>
              <a:spcBef>
                <a:spcPts val="95"/>
              </a:spcBef>
              <a:tabLst>
                <a:tab pos="710565" algn="l"/>
                <a:tab pos="1464945" algn="l"/>
                <a:tab pos="2458720" algn="l"/>
                <a:tab pos="2814955" algn="l"/>
                <a:tab pos="3213100" algn="l"/>
                <a:tab pos="3895725" algn="l"/>
              </a:tabLst>
            </a:pPr>
            <a:r>
              <a:rPr sz="2000" spc="80" dirty="0">
                <a:solidFill>
                  <a:srgbClr val="FFFFFF"/>
                </a:solidFill>
                <a:latin typeface="Times New Roman"/>
                <a:cs typeface="Times New Roman"/>
              </a:rPr>
              <a:t>Ha</a:t>
            </a:r>
            <a:r>
              <a:rPr sz="2000" spc="5" dirty="0">
                <a:solidFill>
                  <a:srgbClr val="FFFFFF"/>
                </a:solidFill>
                <a:latin typeface="Times New Roman"/>
                <a:cs typeface="Times New Roman"/>
              </a:rPr>
              <a:t>s</a:t>
            </a:r>
            <a:r>
              <a:rPr sz="2000" spc="170" dirty="0">
                <a:solidFill>
                  <a:srgbClr val="FFFFFF"/>
                </a:solidFill>
                <a:latin typeface="Times New Roman"/>
                <a:cs typeface="Times New Roman"/>
              </a:rPr>
              <a:t>h	</a:t>
            </a:r>
            <a:r>
              <a:rPr sz="2000" spc="90" dirty="0">
                <a:solidFill>
                  <a:srgbClr val="FFFFFF"/>
                </a:solidFill>
                <a:latin typeface="Times New Roman"/>
                <a:cs typeface="Times New Roman"/>
              </a:rPr>
              <a:t>ind</a:t>
            </a:r>
            <a:r>
              <a:rPr sz="2000" spc="95" dirty="0">
                <a:solidFill>
                  <a:srgbClr val="FFFFFF"/>
                </a:solidFill>
                <a:latin typeface="Times New Roman"/>
                <a:cs typeface="Times New Roman"/>
              </a:rPr>
              <a:t>e</a:t>
            </a:r>
            <a:r>
              <a:rPr sz="2000" spc="90" dirty="0">
                <a:solidFill>
                  <a:srgbClr val="FFFFFF"/>
                </a:solidFill>
                <a:latin typeface="Times New Roman"/>
                <a:cs typeface="Times New Roman"/>
              </a:rPr>
              <a:t>x</a:t>
            </a:r>
            <a:r>
              <a:rPr sz="2000" dirty="0">
                <a:solidFill>
                  <a:srgbClr val="FFFFFF"/>
                </a:solidFill>
                <a:latin typeface="Times New Roman"/>
                <a:cs typeface="Times New Roman"/>
              </a:rPr>
              <a:t>	</a:t>
            </a:r>
            <a:r>
              <a:rPr sz="2000" spc="90" dirty="0">
                <a:solidFill>
                  <a:srgbClr val="FFFFFF"/>
                </a:solidFill>
                <a:latin typeface="Times New Roman"/>
                <a:cs typeface="Times New Roman"/>
              </a:rPr>
              <a:t>co</a:t>
            </a:r>
            <a:r>
              <a:rPr sz="2000" spc="105" dirty="0">
                <a:solidFill>
                  <a:srgbClr val="FFFFFF"/>
                </a:solidFill>
                <a:latin typeface="Times New Roman"/>
                <a:cs typeface="Times New Roman"/>
              </a:rPr>
              <a:t>n</a:t>
            </a:r>
            <a:r>
              <a:rPr sz="2000" spc="30" dirty="0">
                <a:solidFill>
                  <a:srgbClr val="FFFFFF"/>
                </a:solidFill>
                <a:latin typeface="Times New Roman"/>
                <a:cs typeface="Times New Roman"/>
              </a:rPr>
              <a:t>sists</a:t>
            </a:r>
            <a:r>
              <a:rPr sz="2000" dirty="0">
                <a:solidFill>
                  <a:srgbClr val="FFFFFF"/>
                </a:solidFill>
                <a:latin typeface="Times New Roman"/>
                <a:cs typeface="Times New Roman"/>
              </a:rPr>
              <a:t>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dirty="0">
                <a:solidFill>
                  <a:srgbClr val="FFFFFF"/>
                </a:solidFill>
                <a:latin typeface="Times New Roman"/>
                <a:cs typeface="Times New Roman"/>
              </a:rPr>
              <a:t>	</a:t>
            </a:r>
            <a:r>
              <a:rPr sz="2000" spc="55" dirty="0">
                <a:solidFill>
                  <a:srgbClr val="FFFFFF"/>
                </a:solidFill>
                <a:latin typeface="Times New Roman"/>
                <a:cs typeface="Times New Roman"/>
              </a:rPr>
              <a:t>arr</a:t>
            </a:r>
            <a:r>
              <a:rPr sz="2000" spc="75" dirty="0">
                <a:solidFill>
                  <a:srgbClr val="FFFFFF"/>
                </a:solidFill>
                <a:latin typeface="Times New Roman"/>
                <a:cs typeface="Times New Roman"/>
              </a:rPr>
              <a:t>a</a:t>
            </a:r>
            <a:r>
              <a:rPr sz="2000" spc="-5" dirty="0">
                <a:solidFill>
                  <a:srgbClr val="FFFFFF"/>
                </a:solidFill>
                <a:latin typeface="Times New Roman"/>
                <a:cs typeface="Times New Roman"/>
              </a:rPr>
              <a:t>y</a:t>
            </a:r>
            <a:r>
              <a:rPr sz="2000" dirty="0">
                <a:solidFill>
                  <a:srgbClr val="FFFFFF"/>
                </a:solidFill>
                <a:latin typeface="Times New Roman"/>
                <a:cs typeface="Times New Roman"/>
              </a:rPr>
              <a:t>	</a:t>
            </a:r>
            <a:r>
              <a:rPr sz="2000" spc="50" dirty="0">
                <a:solidFill>
                  <a:srgbClr val="FFFFFF"/>
                </a:solidFill>
                <a:latin typeface="Times New Roman"/>
                <a:cs typeface="Times New Roman"/>
              </a:rPr>
              <a:t>of</a:t>
            </a:r>
            <a:endParaRPr sz="2000">
              <a:latin typeface="Times New Roman"/>
              <a:cs typeface="Times New Roman"/>
            </a:endParaRPr>
          </a:p>
        </p:txBody>
      </p:sp>
      <p:sp>
        <p:nvSpPr>
          <p:cNvPr id="5" name="object 5"/>
          <p:cNvSpPr txBox="1"/>
          <p:nvPr/>
        </p:nvSpPr>
        <p:spPr>
          <a:xfrm>
            <a:off x="221995" y="2920745"/>
            <a:ext cx="4137025" cy="2611120"/>
          </a:xfrm>
          <a:prstGeom prst="rect">
            <a:avLst/>
          </a:prstGeom>
        </p:spPr>
        <p:txBody>
          <a:bodyPr vert="horz" wrap="square" lIns="0" tIns="46990" rIns="0" bIns="0" rtlCol="0">
            <a:spAutoFit/>
          </a:bodyPr>
          <a:lstStyle/>
          <a:p>
            <a:pPr marL="12700" marR="6350">
              <a:lnSpc>
                <a:spcPts val="2160"/>
              </a:lnSpc>
              <a:spcBef>
                <a:spcPts val="370"/>
              </a:spcBef>
              <a:tabLst>
                <a:tab pos="1083945" algn="l"/>
                <a:tab pos="1661795" algn="l"/>
                <a:tab pos="2329180" algn="l"/>
                <a:tab pos="3372485" algn="l"/>
                <a:tab pos="3766185" algn="l"/>
              </a:tabLst>
            </a:pPr>
            <a:r>
              <a:rPr sz="2000" spc="110" dirty="0">
                <a:solidFill>
                  <a:srgbClr val="FFFFFF"/>
                </a:solidFill>
                <a:latin typeface="Times New Roman"/>
                <a:cs typeface="Times New Roman"/>
              </a:rPr>
              <a:t>poin</a:t>
            </a:r>
            <a:r>
              <a:rPr sz="2000" spc="75" dirty="0">
                <a:solidFill>
                  <a:srgbClr val="FFFFFF"/>
                </a:solidFill>
                <a:latin typeface="Times New Roman"/>
                <a:cs typeface="Times New Roman"/>
              </a:rPr>
              <a:t>t</a:t>
            </a:r>
            <a:r>
              <a:rPr sz="2000" spc="40" dirty="0">
                <a:solidFill>
                  <a:srgbClr val="FFFFFF"/>
                </a:solidFill>
                <a:latin typeface="Times New Roman"/>
                <a:cs typeface="Times New Roman"/>
              </a:rPr>
              <a:t>ers</a:t>
            </a:r>
            <a:r>
              <a:rPr sz="2000" dirty="0">
                <a:solidFill>
                  <a:srgbClr val="FFFFFF"/>
                </a:solidFill>
                <a:latin typeface="Times New Roman"/>
                <a:cs typeface="Times New Roman"/>
              </a:rPr>
              <a:t>	</a:t>
            </a:r>
            <a:r>
              <a:rPr sz="2000" spc="35" dirty="0">
                <a:solidFill>
                  <a:srgbClr val="FFFFFF"/>
                </a:solidFill>
                <a:latin typeface="Times New Roman"/>
                <a:cs typeface="Times New Roman"/>
              </a:rPr>
              <a:t>a</a:t>
            </a:r>
            <a:r>
              <a:rPr sz="2000" spc="150" dirty="0">
                <a:solidFill>
                  <a:srgbClr val="FFFFFF"/>
                </a:solidFill>
                <a:latin typeface="Times New Roman"/>
                <a:cs typeface="Times New Roman"/>
              </a:rPr>
              <a:t>nd</a:t>
            </a:r>
            <a:r>
              <a:rPr sz="2000" dirty="0">
                <a:solidFill>
                  <a:srgbClr val="FFFFFF"/>
                </a:solidFill>
                <a:latin typeface="Times New Roman"/>
                <a:cs typeface="Times New Roman"/>
              </a:rPr>
              <a:t>	</a:t>
            </a:r>
            <a:r>
              <a:rPr sz="2000" spc="35" dirty="0">
                <a:solidFill>
                  <a:srgbClr val="FFFFFF"/>
                </a:solidFill>
                <a:latin typeface="Times New Roman"/>
                <a:cs typeface="Times New Roman"/>
              </a:rPr>
              <a:t>e</a:t>
            </a:r>
            <a:r>
              <a:rPr sz="2000" spc="40" dirty="0">
                <a:solidFill>
                  <a:srgbClr val="FFFFFF"/>
                </a:solidFill>
                <a:latin typeface="Times New Roman"/>
                <a:cs typeface="Times New Roman"/>
              </a:rPr>
              <a:t>a</a:t>
            </a:r>
            <a:r>
              <a:rPr sz="2000" spc="90" dirty="0">
                <a:solidFill>
                  <a:srgbClr val="FFFFFF"/>
                </a:solidFill>
                <a:latin typeface="Times New Roman"/>
                <a:cs typeface="Times New Roman"/>
              </a:rPr>
              <a:t>ch</a:t>
            </a:r>
            <a:r>
              <a:rPr sz="2000" dirty="0">
                <a:solidFill>
                  <a:srgbClr val="FFFFFF"/>
                </a:solidFill>
                <a:latin typeface="Times New Roman"/>
                <a:cs typeface="Times New Roman"/>
              </a:rPr>
              <a:t>	</a:t>
            </a:r>
            <a:r>
              <a:rPr sz="2000" spc="25" dirty="0">
                <a:solidFill>
                  <a:srgbClr val="FFFFFF"/>
                </a:solidFill>
                <a:latin typeface="Times New Roman"/>
                <a:cs typeface="Times New Roman"/>
              </a:rPr>
              <a:t>el</a:t>
            </a:r>
            <a:r>
              <a:rPr sz="2000" spc="65" dirty="0">
                <a:solidFill>
                  <a:srgbClr val="FFFFFF"/>
                </a:solidFill>
                <a:latin typeface="Times New Roman"/>
                <a:cs typeface="Times New Roman"/>
              </a:rPr>
              <a:t>em</a:t>
            </a:r>
            <a:r>
              <a:rPr sz="2000" spc="50" dirty="0">
                <a:solidFill>
                  <a:srgbClr val="FFFFFF"/>
                </a:solidFill>
                <a:latin typeface="Times New Roman"/>
                <a:cs typeface="Times New Roman"/>
              </a:rPr>
              <a:t>e</a:t>
            </a:r>
            <a:r>
              <a:rPr sz="2000" spc="185" dirty="0">
                <a:solidFill>
                  <a:srgbClr val="FFFFFF"/>
                </a:solidFill>
                <a:latin typeface="Times New Roman"/>
                <a:cs typeface="Times New Roman"/>
              </a:rPr>
              <a:t>n</a:t>
            </a:r>
            <a:r>
              <a:rPr sz="2000" spc="125" dirty="0">
                <a:solidFill>
                  <a:srgbClr val="FFFFFF"/>
                </a:solidFill>
                <a:latin typeface="Times New Roman"/>
                <a:cs typeface="Times New Roman"/>
              </a:rPr>
              <a:t>t</a:t>
            </a:r>
            <a:r>
              <a:rPr sz="2000" dirty="0">
                <a:solidFill>
                  <a:srgbClr val="FFFFFF"/>
                </a:solidFill>
                <a:latin typeface="Times New Roman"/>
                <a:cs typeface="Times New Roman"/>
              </a:rPr>
              <a:t>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125" dirty="0">
                <a:solidFill>
                  <a:srgbClr val="FFFFFF"/>
                </a:solidFill>
                <a:latin typeface="Times New Roman"/>
                <a:cs typeface="Times New Roman"/>
              </a:rPr>
              <a:t>t</a:t>
            </a:r>
            <a:r>
              <a:rPr sz="2000" spc="175" dirty="0">
                <a:solidFill>
                  <a:srgbClr val="FFFFFF"/>
                </a:solidFill>
                <a:latin typeface="Times New Roman"/>
                <a:cs typeface="Times New Roman"/>
              </a:rPr>
              <a:t>h</a:t>
            </a:r>
            <a:r>
              <a:rPr sz="2000" spc="30" dirty="0">
                <a:solidFill>
                  <a:srgbClr val="FFFFFF"/>
                </a:solidFill>
                <a:latin typeface="Times New Roman"/>
                <a:cs typeface="Times New Roman"/>
              </a:rPr>
              <a:t>e  </a:t>
            </a:r>
            <a:r>
              <a:rPr sz="2000" spc="45" dirty="0">
                <a:solidFill>
                  <a:srgbClr val="FFFFFF"/>
                </a:solidFill>
                <a:latin typeface="Times New Roman"/>
                <a:cs typeface="Times New Roman"/>
              </a:rPr>
              <a:t>array</a:t>
            </a:r>
            <a:r>
              <a:rPr sz="2000" spc="-75"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80" dirty="0">
                <a:solidFill>
                  <a:srgbClr val="FFFFFF"/>
                </a:solidFill>
                <a:latin typeface="Times New Roman"/>
                <a:cs typeface="Times New Roman"/>
              </a:rPr>
              <a:t> </a:t>
            </a:r>
            <a:r>
              <a:rPr sz="2000" spc="35" dirty="0">
                <a:solidFill>
                  <a:srgbClr val="FFFFFF"/>
                </a:solidFill>
                <a:latin typeface="Times New Roman"/>
                <a:cs typeface="Times New Roman"/>
              </a:rPr>
              <a:t>called</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80" dirty="0">
                <a:solidFill>
                  <a:srgbClr val="FFFFFF"/>
                </a:solidFill>
                <a:latin typeface="Times New Roman"/>
                <a:cs typeface="Times New Roman"/>
              </a:rPr>
              <a:t> </a:t>
            </a:r>
            <a:r>
              <a:rPr sz="2000" spc="95" dirty="0">
                <a:solidFill>
                  <a:srgbClr val="FFFFFF"/>
                </a:solidFill>
                <a:latin typeface="Times New Roman"/>
                <a:cs typeface="Times New Roman"/>
              </a:rPr>
              <a:t>hash</a:t>
            </a:r>
            <a:r>
              <a:rPr sz="2000" spc="-65" dirty="0">
                <a:solidFill>
                  <a:srgbClr val="FFFFFF"/>
                </a:solidFill>
                <a:latin typeface="Times New Roman"/>
                <a:cs typeface="Times New Roman"/>
              </a:rPr>
              <a:t> </a:t>
            </a:r>
            <a:r>
              <a:rPr sz="2000" spc="70" dirty="0">
                <a:solidFill>
                  <a:srgbClr val="FFFFFF"/>
                </a:solidFill>
                <a:latin typeface="Times New Roman"/>
                <a:cs typeface="Times New Roman"/>
              </a:rPr>
              <a:t>bucket.</a:t>
            </a:r>
            <a:endParaRPr sz="2000">
              <a:latin typeface="Times New Roman"/>
              <a:cs typeface="Times New Roman"/>
            </a:endParaRPr>
          </a:p>
          <a:p>
            <a:pPr marL="297815" marR="5080" indent="-285750" algn="just">
              <a:lnSpc>
                <a:spcPts val="1939"/>
              </a:lnSpc>
              <a:spcBef>
                <a:spcPts val="2190"/>
              </a:spcBef>
              <a:buFont typeface="Wingdings"/>
              <a:buChar char=""/>
              <a:tabLst>
                <a:tab pos="298450" algn="l"/>
              </a:tabLst>
            </a:pPr>
            <a:r>
              <a:rPr sz="1800" spc="45" dirty="0">
                <a:solidFill>
                  <a:srgbClr val="FFFFFF"/>
                </a:solidFill>
                <a:latin typeface="Times New Roman"/>
                <a:cs typeface="Times New Roman"/>
              </a:rPr>
              <a:t>Each </a:t>
            </a:r>
            <a:r>
              <a:rPr sz="1800" spc="75" dirty="0">
                <a:solidFill>
                  <a:srgbClr val="FFFFFF"/>
                </a:solidFill>
                <a:latin typeface="Times New Roman"/>
                <a:cs typeface="Times New Roman"/>
              </a:rPr>
              <a:t>entry </a:t>
            </a:r>
            <a:r>
              <a:rPr sz="1800" spc="5" dirty="0">
                <a:solidFill>
                  <a:srgbClr val="FFFFFF"/>
                </a:solidFill>
                <a:latin typeface="Times New Roman"/>
                <a:cs typeface="Times New Roman"/>
              </a:rPr>
              <a:t>is </a:t>
            </a:r>
            <a:r>
              <a:rPr sz="1800" spc="30" dirty="0">
                <a:solidFill>
                  <a:srgbClr val="FFFFFF"/>
                </a:solidFill>
                <a:latin typeface="Times New Roman"/>
                <a:cs typeface="Times New Roman"/>
              </a:rPr>
              <a:t>a </a:t>
            </a:r>
            <a:r>
              <a:rPr sz="1800" spc="50" dirty="0">
                <a:solidFill>
                  <a:srgbClr val="FFFFFF"/>
                </a:solidFill>
                <a:latin typeface="Times New Roman"/>
                <a:cs typeface="Times New Roman"/>
              </a:rPr>
              <a:t>value </a:t>
            </a:r>
            <a:r>
              <a:rPr sz="1800" spc="60" dirty="0">
                <a:solidFill>
                  <a:srgbClr val="FFFFFF"/>
                </a:solidFill>
                <a:latin typeface="Times New Roman"/>
                <a:cs typeface="Times New Roman"/>
              </a:rPr>
              <a:t>for </a:t>
            </a:r>
            <a:r>
              <a:rPr sz="1800" spc="90" dirty="0">
                <a:solidFill>
                  <a:srgbClr val="FFFFFF"/>
                </a:solidFill>
                <a:latin typeface="Times New Roman"/>
                <a:cs typeface="Times New Roman"/>
              </a:rPr>
              <a:t>an </a:t>
            </a:r>
            <a:r>
              <a:rPr sz="1800" spc="80" dirty="0">
                <a:solidFill>
                  <a:srgbClr val="FFFFFF"/>
                </a:solidFill>
                <a:latin typeface="Times New Roman"/>
                <a:cs typeface="Times New Roman"/>
              </a:rPr>
              <a:t>index </a:t>
            </a:r>
            <a:r>
              <a:rPr sz="1800" spc="25" dirty="0">
                <a:solidFill>
                  <a:srgbClr val="FFFFFF"/>
                </a:solidFill>
                <a:latin typeface="Times New Roman"/>
                <a:cs typeface="Times New Roman"/>
              </a:rPr>
              <a:t>key,  </a:t>
            </a:r>
            <a:r>
              <a:rPr sz="1800" spc="100" dirty="0">
                <a:solidFill>
                  <a:srgbClr val="FFFFFF"/>
                </a:solidFill>
                <a:latin typeface="Times New Roman"/>
                <a:cs typeface="Times New Roman"/>
              </a:rPr>
              <a:t>and </a:t>
            </a:r>
            <a:r>
              <a:rPr sz="1800" spc="50" dirty="0">
                <a:solidFill>
                  <a:srgbClr val="FFFFFF"/>
                </a:solidFill>
                <a:latin typeface="Times New Roman"/>
                <a:cs typeface="Times New Roman"/>
              </a:rPr>
              <a:t>address </a:t>
            </a:r>
            <a:r>
              <a:rPr sz="1800" spc="55" dirty="0">
                <a:solidFill>
                  <a:srgbClr val="FFFFFF"/>
                </a:solidFill>
                <a:latin typeface="Times New Roman"/>
                <a:cs typeface="Times New Roman"/>
              </a:rPr>
              <a:t>of </a:t>
            </a:r>
            <a:r>
              <a:rPr sz="1800" spc="40" dirty="0">
                <a:solidFill>
                  <a:srgbClr val="FFFFFF"/>
                </a:solidFill>
                <a:latin typeface="Times New Roman"/>
                <a:cs typeface="Times New Roman"/>
              </a:rPr>
              <a:t>its </a:t>
            </a:r>
            <a:r>
              <a:rPr sz="1800" spc="70" dirty="0">
                <a:solidFill>
                  <a:srgbClr val="FFFFFF"/>
                </a:solidFill>
                <a:latin typeface="Times New Roman"/>
                <a:cs typeface="Times New Roman"/>
              </a:rPr>
              <a:t>corresponding </a:t>
            </a:r>
            <a:r>
              <a:rPr sz="1800" spc="65" dirty="0">
                <a:solidFill>
                  <a:srgbClr val="FFFFFF"/>
                </a:solidFill>
                <a:latin typeface="Times New Roman"/>
                <a:cs typeface="Times New Roman"/>
              </a:rPr>
              <a:t>row  </a:t>
            </a:r>
            <a:r>
              <a:rPr sz="1800" spc="85" dirty="0">
                <a:solidFill>
                  <a:srgbClr val="FFFFFF"/>
                </a:solidFill>
                <a:latin typeface="Times New Roman"/>
                <a:cs typeface="Times New Roman"/>
              </a:rPr>
              <a:t>in </a:t>
            </a:r>
            <a:r>
              <a:rPr sz="1800" spc="100" dirty="0">
                <a:solidFill>
                  <a:srgbClr val="FFFFFF"/>
                </a:solidFill>
                <a:latin typeface="Times New Roman"/>
                <a:cs typeface="Times New Roman"/>
              </a:rPr>
              <a:t>the </a:t>
            </a:r>
            <a:r>
              <a:rPr sz="1800" spc="65" dirty="0">
                <a:solidFill>
                  <a:srgbClr val="FFFFFF"/>
                </a:solidFill>
                <a:latin typeface="Times New Roman"/>
                <a:cs typeface="Times New Roman"/>
              </a:rPr>
              <a:t>underlying </a:t>
            </a:r>
            <a:r>
              <a:rPr sz="1800" spc="50" dirty="0">
                <a:solidFill>
                  <a:srgbClr val="FFFFFF"/>
                </a:solidFill>
                <a:latin typeface="Times New Roman"/>
                <a:cs typeface="Times New Roman"/>
              </a:rPr>
              <a:t>memory-optimized  </a:t>
            </a:r>
            <a:r>
              <a:rPr sz="1800" spc="45" dirty="0">
                <a:solidFill>
                  <a:srgbClr val="FFFFFF"/>
                </a:solidFill>
                <a:latin typeface="Times New Roman"/>
                <a:cs typeface="Times New Roman"/>
              </a:rPr>
              <a:t>table.</a:t>
            </a:r>
            <a:endParaRPr sz="1800">
              <a:latin typeface="Times New Roman"/>
              <a:cs typeface="Times New Roman"/>
            </a:endParaRPr>
          </a:p>
          <a:p>
            <a:pPr marL="297815" marR="5080" indent="-285750" algn="just">
              <a:lnSpc>
                <a:spcPts val="1939"/>
              </a:lnSpc>
              <a:spcBef>
                <a:spcPts val="20"/>
              </a:spcBef>
              <a:buFont typeface="Wingdings"/>
              <a:buChar char=""/>
              <a:tabLst>
                <a:tab pos="298450" algn="l"/>
              </a:tabLst>
            </a:pPr>
            <a:r>
              <a:rPr sz="1800" spc="45" dirty="0">
                <a:solidFill>
                  <a:srgbClr val="FFFFFF"/>
                </a:solidFill>
                <a:latin typeface="Times New Roman"/>
                <a:cs typeface="Times New Roman"/>
              </a:rPr>
              <a:t>Each</a:t>
            </a:r>
            <a:r>
              <a:rPr sz="1800" spc="-55" dirty="0">
                <a:solidFill>
                  <a:srgbClr val="FFFFFF"/>
                </a:solidFill>
                <a:latin typeface="Times New Roman"/>
                <a:cs typeface="Times New Roman"/>
              </a:rPr>
              <a:t> </a:t>
            </a:r>
            <a:r>
              <a:rPr sz="1800" spc="75" dirty="0">
                <a:solidFill>
                  <a:srgbClr val="FFFFFF"/>
                </a:solidFill>
                <a:latin typeface="Times New Roman"/>
                <a:cs typeface="Times New Roman"/>
              </a:rPr>
              <a:t>entry</a:t>
            </a:r>
            <a:r>
              <a:rPr sz="1800" spc="-50" dirty="0">
                <a:solidFill>
                  <a:srgbClr val="FFFFFF"/>
                </a:solidFill>
                <a:latin typeface="Times New Roman"/>
                <a:cs typeface="Times New Roman"/>
              </a:rPr>
              <a:t> </a:t>
            </a:r>
            <a:r>
              <a:rPr sz="1800" spc="80" dirty="0">
                <a:solidFill>
                  <a:srgbClr val="FFFFFF"/>
                </a:solidFill>
                <a:latin typeface="Times New Roman"/>
                <a:cs typeface="Times New Roman"/>
              </a:rPr>
              <a:t>points</a:t>
            </a:r>
            <a:r>
              <a:rPr sz="1800" spc="-45" dirty="0">
                <a:solidFill>
                  <a:srgbClr val="FFFFFF"/>
                </a:solidFill>
                <a:latin typeface="Times New Roman"/>
                <a:cs typeface="Times New Roman"/>
              </a:rPr>
              <a:t> </a:t>
            </a:r>
            <a:r>
              <a:rPr sz="1800" spc="100" dirty="0">
                <a:solidFill>
                  <a:srgbClr val="FFFFFF"/>
                </a:solidFill>
                <a:latin typeface="Times New Roman"/>
                <a:cs typeface="Times New Roman"/>
              </a:rPr>
              <a:t>to</a:t>
            </a:r>
            <a:r>
              <a:rPr sz="1800" spc="-5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40" dirty="0">
                <a:solidFill>
                  <a:srgbClr val="FFFFFF"/>
                </a:solidFill>
                <a:latin typeface="Times New Roman"/>
                <a:cs typeface="Times New Roman"/>
              </a:rPr>
              <a:t> </a:t>
            </a:r>
            <a:r>
              <a:rPr sz="1800" spc="100" dirty="0">
                <a:solidFill>
                  <a:srgbClr val="FFFFFF"/>
                </a:solidFill>
                <a:latin typeface="Times New Roman"/>
                <a:cs typeface="Times New Roman"/>
              </a:rPr>
              <a:t>next</a:t>
            </a:r>
            <a:r>
              <a:rPr sz="1800" spc="-55" dirty="0">
                <a:solidFill>
                  <a:srgbClr val="FFFFFF"/>
                </a:solidFill>
                <a:latin typeface="Times New Roman"/>
                <a:cs typeface="Times New Roman"/>
              </a:rPr>
              <a:t> </a:t>
            </a:r>
            <a:r>
              <a:rPr sz="1800" spc="75" dirty="0">
                <a:solidFill>
                  <a:srgbClr val="FFFFFF"/>
                </a:solidFill>
                <a:latin typeface="Times New Roman"/>
                <a:cs typeface="Times New Roman"/>
              </a:rPr>
              <a:t>entry</a:t>
            </a:r>
            <a:r>
              <a:rPr sz="1800" spc="-55"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50" dirty="0">
                <a:solidFill>
                  <a:srgbClr val="FFFFFF"/>
                </a:solidFill>
                <a:latin typeface="Times New Roman"/>
                <a:cs typeface="Times New Roman"/>
              </a:rPr>
              <a:t> </a:t>
            </a:r>
            <a:r>
              <a:rPr sz="1800" spc="30" dirty="0">
                <a:solidFill>
                  <a:srgbClr val="FFFFFF"/>
                </a:solidFill>
                <a:latin typeface="Times New Roman"/>
                <a:cs typeface="Times New Roman"/>
              </a:rPr>
              <a:t>a  </a:t>
            </a:r>
            <a:r>
              <a:rPr sz="1800" spc="60" dirty="0">
                <a:solidFill>
                  <a:srgbClr val="FFFFFF"/>
                </a:solidFill>
                <a:latin typeface="Times New Roman"/>
                <a:cs typeface="Times New Roman"/>
              </a:rPr>
              <a:t>link </a:t>
            </a:r>
            <a:r>
              <a:rPr sz="1800" spc="30" dirty="0">
                <a:solidFill>
                  <a:srgbClr val="FFFFFF"/>
                </a:solidFill>
                <a:latin typeface="Times New Roman"/>
                <a:cs typeface="Times New Roman"/>
              </a:rPr>
              <a:t>list </a:t>
            </a:r>
            <a:r>
              <a:rPr sz="1800" spc="50" dirty="0">
                <a:solidFill>
                  <a:srgbClr val="FFFFFF"/>
                </a:solidFill>
                <a:latin typeface="Times New Roman"/>
                <a:cs typeface="Times New Roman"/>
              </a:rPr>
              <a:t>of </a:t>
            </a:r>
            <a:r>
              <a:rPr sz="1800" spc="55" dirty="0">
                <a:solidFill>
                  <a:srgbClr val="FFFFFF"/>
                </a:solidFill>
                <a:latin typeface="Times New Roman"/>
                <a:cs typeface="Times New Roman"/>
              </a:rPr>
              <a:t>entries, </a:t>
            </a:r>
            <a:r>
              <a:rPr sz="1800" spc="5" dirty="0">
                <a:solidFill>
                  <a:srgbClr val="FFFFFF"/>
                </a:solidFill>
                <a:latin typeface="Times New Roman"/>
                <a:cs typeface="Times New Roman"/>
              </a:rPr>
              <a:t>all </a:t>
            </a:r>
            <a:r>
              <a:rPr sz="1800" spc="70" dirty="0">
                <a:solidFill>
                  <a:srgbClr val="FFFFFF"/>
                </a:solidFill>
                <a:latin typeface="Times New Roman"/>
                <a:cs typeface="Times New Roman"/>
              </a:rPr>
              <a:t>chained </a:t>
            </a:r>
            <a:r>
              <a:rPr sz="1800" spc="100" dirty="0">
                <a:solidFill>
                  <a:srgbClr val="FFFFFF"/>
                </a:solidFill>
                <a:latin typeface="Times New Roman"/>
                <a:cs typeface="Times New Roman"/>
              </a:rPr>
              <a:t>to the  </a:t>
            </a:r>
            <a:r>
              <a:rPr sz="1800" spc="85" dirty="0">
                <a:solidFill>
                  <a:srgbClr val="FFFFFF"/>
                </a:solidFill>
                <a:latin typeface="Times New Roman"/>
                <a:cs typeface="Times New Roman"/>
              </a:rPr>
              <a:t>current</a:t>
            </a:r>
            <a:r>
              <a:rPr sz="1800" spc="-80" dirty="0">
                <a:solidFill>
                  <a:srgbClr val="FFFFFF"/>
                </a:solidFill>
                <a:latin typeface="Times New Roman"/>
                <a:cs typeface="Times New Roman"/>
              </a:rPr>
              <a:t> </a:t>
            </a:r>
            <a:r>
              <a:rPr sz="1800" spc="65" dirty="0">
                <a:solidFill>
                  <a:srgbClr val="FFFFFF"/>
                </a:solidFill>
                <a:latin typeface="Times New Roman"/>
                <a:cs typeface="Times New Roman"/>
              </a:rPr>
              <a:t>bucket.</a:t>
            </a:r>
            <a:endParaRPr sz="1800">
              <a:latin typeface="Times New Roman"/>
              <a:cs typeface="Times New Roman"/>
            </a:endParaRPr>
          </a:p>
        </p:txBody>
      </p:sp>
      <p:sp>
        <p:nvSpPr>
          <p:cNvPr id="6" name="object 6"/>
          <p:cNvSpPr/>
          <p:nvPr/>
        </p:nvSpPr>
        <p:spPr>
          <a:xfrm>
            <a:off x="4623816" y="2023109"/>
            <a:ext cx="4404360" cy="4321810"/>
          </a:xfrm>
          <a:custGeom>
            <a:avLst/>
            <a:gdLst/>
            <a:ahLst/>
            <a:cxnLst/>
            <a:rect l="l" t="t" r="r" b="b"/>
            <a:pathLst>
              <a:path w="4404359" h="4321810">
                <a:moveTo>
                  <a:pt x="4404360" y="720217"/>
                </a:moveTo>
                <a:lnTo>
                  <a:pt x="4402823" y="672871"/>
                </a:lnTo>
                <a:lnTo>
                  <a:pt x="4398289" y="626338"/>
                </a:lnTo>
                <a:lnTo>
                  <a:pt x="4390847" y="580707"/>
                </a:lnTo>
                <a:lnTo>
                  <a:pt x="4380598" y="536092"/>
                </a:lnTo>
                <a:lnTo>
                  <a:pt x="4367631" y="492582"/>
                </a:lnTo>
                <a:lnTo>
                  <a:pt x="4352048" y="450265"/>
                </a:lnTo>
                <a:lnTo>
                  <a:pt x="4333938" y="409244"/>
                </a:lnTo>
                <a:lnTo>
                  <a:pt x="4313390" y="369608"/>
                </a:lnTo>
                <a:lnTo>
                  <a:pt x="4290517" y="331444"/>
                </a:lnTo>
                <a:lnTo>
                  <a:pt x="4265396" y="294868"/>
                </a:lnTo>
                <a:lnTo>
                  <a:pt x="4238129" y="259969"/>
                </a:lnTo>
                <a:lnTo>
                  <a:pt x="4208805" y="226834"/>
                </a:lnTo>
                <a:lnTo>
                  <a:pt x="4177525" y="195554"/>
                </a:lnTo>
                <a:lnTo>
                  <a:pt x="4144391" y="166230"/>
                </a:lnTo>
                <a:lnTo>
                  <a:pt x="4109491" y="138963"/>
                </a:lnTo>
                <a:lnTo>
                  <a:pt x="4072915" y="113842"/>
                </a:lnTo>
                <a:lnTo>
                  <a:pt x="4034752" y="90970"/>
                </a:lnTo>
                <a:lnTo>
                  <a:pt x="3995115" y="70421"/>
                </a:lnTo>
                <a:lnTo>
                  <a:pt x="3954094" y="52311"/>
                </a:lnTo>
                <a:lnTo>
                  <a:pt x="3911777" y="36728"/>
                </a:lnTo>
                <a:lnTo>
                  <a:pt x="3868267" y="23761"/>
                </a:lnTo>
                <a:lnTo>
                  <a:pt x="3823652" y="13512"/>
                </a:lnTo>
                <a:lnTo>
                  <a:pt x="3778021" y="6070"/>
                </a:lnTo>
                <a:lnTo>
                  <a:pt x="3731488" y="1536"/>
                </a:lnTo>
                <a:lnTo>
                  <a:pt x="3684143" y="0"/>
                </a:lnTo>
                <a:lnTo>
                  <a:pt x="724789" y="0"/>
                </a:lnTo>
                <a:lnTo>
                  <a:pt x="677430" y="1536"/>
                </a:lnTo>
                <a:lnTo>
                  <a:pt x="630897" y="6070"/>
                </a:lnTo>
                <a:lnTo>
                  <a:pt x="585266" y="13512"/>
                </a:lnTo>
                <a:lnTo>
                  <a:pt x="540651" y="23761"/>
                </a:lnTo>
                <a:lnTo>
                  <a:pt x="497141" y="36728"/>
                </a:lnTo>
                <a:lnTo>
                  <a:pt x="454825" y="52311"/>
                </a:lnTo>
                <a:lnTo>
                  <a:pt x="413804" y="70421"/>
                </a:lnTo>
                <a:lnTo>
                  <a:pt x="374167" y="90970"/>
                </a:lnTo>
                <a:lnTo>
                  <a:pt x="336003" y="113842"/>
                </a:lnTo>
                <a:lnTo>
                  <a:pt x="299427" y="138963"/>
                </a:lnTo>
                <a:lnTo>
                  <a:pt x="264528" y="166230"/>
                </a:lnTo>
                <a:lnTo>
                  <a:pt x="231394" y="195554"/>
                </a:lnTo>
                <a:lnTo>
                  <a:pt x="200113" y="226834"/>
                </a:lnTo>
                <a:lnTo>
                  <a:pt x="170789" y="259969"/>
                </a:lnTo>
                <a:lnTo>
                  <a:pt x="143522" y="294868"/>
                </a:lnTo>
                <a:lnTo>
                  <a:pt x="118402" y="331444"/>
                </a:lnTo>
                <a:lnTo>
                  <a:pt x="95529" y="369608"/>
                </a:lnTo>
                <a:lnTo>
                  <a:pt x="74980" y="409244"/>
                </a:lnTo>
                <a:lnTo>
                  <a:pt x="56870" y="450265"/>
                </a:lnTo>
                <a:lnTo>
                  <a:pt x="41287" y="492582"/>
                </a:lnTo>
                <a:lnTo>
                  <a:pt x="28321" y="536092"/>
                </a:lnTo>
                <a:lnTo>
                  <a:pt x="18072" y="580707"/>
                </a:lnTo>
                <a:lnTo>
                  <a:pt x="10629" y="626338"/>
                </a:lnTo>
                <a:lnTo>
                  <a:pt x="6096" y="672871"/>
                </a:lnTo>
                <a:lnTo>
                  <a:pt x="4572" y="720217"/>
                </a:lnTo>
                <a:lnTo>
                  <a:pt x="4572" y="1052322"/>
                </a:lnTo>
                <a:lnTo>
                  <a:pt x="0" y="1052322"/>
                </a:lnTo>
                <a:lnTo>
                  <a:pt x="0" y="3268980"/>
                </a:lnTo>
                <a:lnTo>
                  <a:pt x="4572" y="3268980"/>
                </a:lnTo>
                <a:lnTo>
                  <a:pt x="4572" y="3601072"/>
                </a:lnTo>
                <a:lnTo>
                  <a:pt x="6096" y="3648430"/>
                </a:lnTo>
                <a:lnTo>
                  <a:pt x="10629" y="3694976"/>
                </a:lnTo>
                <a:lnTo>
                  <a:pt x="18072" y="3740594"/>
                </a:lnTo>
                <a:lnTo>
                  <a:pt x="28321" y="3785209"/>
                </a:lnTo>
                <a:lnTo>
                  <a:pt x="41287" y="3828732"/>
                </a:lnTo>
                <a:lnTo>
                  <a:pt x="56870" y="3871049"/>
                </a:lnTo>
                <a:lnTo>
                  <a:pt x="74980" y="3912070"/>
                </a:lnTo>
                <a:lnTo>
                  <a:pt x="95529" y="3951706"/>
                </a:lnTo>
                <a:lnTo>
                  <a:pt x="118402" y="3989857"/>
                </a:lnTo>
                <a:lnTo>
                  <a:pt x="143522" y="4026433"/>
                </a:lnTo>
                <a:lnTo>
                  <a:pt x="170789" y="4061345"/>
                </a:lnTo>
                <a:lnTo>
                  <a:pt x="200113" y="4094480"/>
                </a:lnTo>
                <a:lnTo>
                  <a:pt x="231394" y="4125760"/>
                </a:lnTo>
                <a:lnTo>
                  <a:pt x="264528" y="4155084"/>
                </a:lnTo>
                <a:lnTo>
                  <a:pt x="299427" y="4182351"/>
                </a:lnTo>
                <a:lnTo>
                  <a:pt x="336003" y="4207472"/>
                </a:lnTo>
                <a:lnTo>
                  <a:pt x="374167" y="4230344"/>
                </a:lnTo>
                <a:lnTo>
                  <a:pt x="413804" y="4250893"/>
                </a:lnTo>
                <a:lnTo>
                  <a:pt x="454825" y="4269003"/>
                </a:lnTo>
                <a:lnTo>
                  <a:pt x="497141" y="4284586"/>
                </a:lnTo>
                <a:lnTo>
                  <a:pt x="540651" y="4297553"/>
                </a:lnTo>
                <a:lnTo>
                  <a:pt x="585266" y="4307802"/>
                </a:lnTo>
                <a:lnTo>
                  <a:pt x="630897" y="4315244"/>
                </a:lnTo>
                <a:lnTo>
                  <a:pt x="677430" y="4319778"/>
                </a:lnTo>
                <a:lnTo>
                  <a:pt x="724789" y="4321302"/>
                </a:lnTo>
                <a:lnTo>
                  <a:pt x="3684143" y="4321302"/>
                </a:lnTo>
                <a:lnTo>
                  <a:pt x="3731488" y="4319778"/>
                </a:lnTo>
                <a:lnTo>
                  <a:pt x="3778021" y="4315244"/>
                </a:lnTo>
                <a:lnTo>
                  <a:pt x="3823652" y="4307802"/>
                </a:lnTo>
                <a:lnTo>
                  <a:pt x="3868267" y="4297553"/>
                </a:lnTo>
                <a:lnTo>
                  <a:pt x="3911777" y="4284586"/>
                </a:lnTo>
                <a:lnTo>
                  <a:pt x="3954094" y="4269003"/>
                </a:lnTo>
                <a:lnTo>
                  <a:pt x="3995115" y="4250893"/>
                </a:lnTo>
                <a:lnTo>
                  <a:pt x="4034752" y="4230344"/>
                </a:lnTo>
                <a:lnTo>
                  <a:pt x="4072915" y="4207472"/>
                </a:lnTo>
                <a:lnTo>
                  <a:pt x="4109491" y="4182351"/>
                </a:lnTo>
                <a:lnTo>
                  <a:pt x="4144391" y="4155084"/>
                </a:lnTo>
                <a:lnTo>
                  <a:pt x="4177525" y="4125760"/>
                </a:lnTo>
                <a:lnTo>
                  <a:pt x="4208805" y="4094480"/>
                </a:lnTo>
                <a:lnTo>
                  <a:pt x="4238129" y="4061345"/>
                </a:lnTo>
                <a:lnTo>
                  <a:pt x="4265396" y="4026433"/>
                </a:lnTo>
                <a:lnTo>
                  <a:pt x="4290517" y="3989857"/>
                </a:lnTo>
                <a:lnTo>
                  <a:pt x="4313390" y="3951706"/>
                </a:lnTo>
                <a:lnTo>
                  <a:pt x="4333938" y="3912070"/>
                </a:lnTo>
                <a:lnTo>
                  <a:pt x="4352048" y="3871049"/>
                </a:lnTo>
                <a:lnTo>
                  <a:pt x="4367631" y="3828732"/>
                </a:lnTo>
                <a:lnTo>
                  <a:pt x="4380598" y="3785209"/>
                </a:lnTo>
                <a:lnTo>
                  <a:pt x="4390847" y="3740594"/>
                </a:lnTo>
                <a:lnTo>
                  <a:pt x="4398289" y="3694976"/>
                </a:lnTo>
                <a:lnTo>
                  <a:pt x="4402823" y="3648430"/>
                </a:lnTo>
                <a:lnTo>
                  <a:pt x="4404360" y="3601072"/>
                </a:lnTo>
                <a:lnTo>
                  <a:pt x="4404360" y="720217"/>
                </a:lnTo>
                <a:close/>
              </a:path>
            </a:pathLst>
          </a:custGeom>
          <a:solidFill>
            <a:srgbClr val="000000"/>
          </a:solidFill>
        </p:spPr>
        <p:txBody>
          <a:bodyPr wrap="square" lIns="0" tIns="0" rIns="0" bIns="0" rtlCol="0"/>
          <a:lstStyle/>
          <a:p>
            <a:endParaRPr/>
          </a:p>
        </p:txBody>
      </p:sp>
      <p:sp>
        <p:nvSpPr>
          <p:cNvPr id="7" name="object 7"/>
          <p:cNvSpPr txBox="1"/>
          <p:nvPr/>
        </p:nvSpPr>
        <p:spPr>
          <a:xfrm>
            <a:off x="4687315" y="3069336"/>
            <a:ext cx="4198620" cy="2117725"/>
          </a:xfrm>
          <a:prstGeom prst="rect">
            <a:avLst/>
          </a:prstGeom>
        </p:spPr>
        <p:txBody>
          <a:bodyPr vert="horz" wrap="square" lIns="0" tIns="46990" rIns="0" bIns="0" rtlCol="0">
            <a:spAutoFit/>
          </a:bodyPr>
          <a:lstStyle/>
          <a:p>
            <a:pPr marL="12700" marR="5080">
              <a:lnSpc>
                <a:spcPts val="2160"/>
              </a:lnSpc>
              <a:spcBef>
                <a:spcPts val="370"/>
              </a:spcBef>
              <a:tabLst>
                <a:tab pos="657225" algn="l"/>
                <a:tab pos="1716405" algn="l"/>
                <a:tab pos="2141855" algn="l"/>
                <a:tab pos="3184525" algn="l"/>
                <a:tab pos="3926204" algn="l"/>
              </a:tabLst>
            </a:pPr>
            <a:r>
              <a:rPr sz="2000" spc="130" dirty="0">
                <a:solidFill>
                  <a:srgbClr val="FFFFFF"/>
                </a:solidFill>
                <a:latin typeface="Times New Roman"/>
                <a:cs typeface="Times New Roman"/>
              </a:rPr>
              <a:t>The	</a:t>
            </a:r>
            <a:r>
              <a:rPr sz="2000" spc="135" dirty="0">
                <a:solidFill>
                  <a:srgbClr val="FFFFFF"/>
                </a:solidFill>
                <a:latin typeface="Times New Roman"/>
                <a:cs typeface="Times New Roman"/>
              </a:rPr>
              <a:t>num</a:t>
            </a:r>
            <a:r>
              <a:rPr sz="2000" spc="120" dirty="0">
                <a:solidFill>
                  <a:srgbClr val="FFFFFF"/>
                </a:solidFill>
                <a:latin typeface="Times New Roman"/>
                <a:cs typeface="Times New Roman"/>
              </a:rPr>
              <a:t>b</a:t>
            </a:r>
            <a:r>
              <a:rPr sz="2000" spc="60" dirty="0">
                <a:solidFill>
                  <a:srgbClr val="FFFFFF"/>
                </a:solidFill>
                <a:latin typeface="Times New Roman"/>
                <a:cs typeface="Times New Roman"/>
              </a:rPr>
              <a:t>er</a:t>
            </a:r>
            <a:r>
              <a:rPr sz="2000" dirty="0">
                <a:solidFill>
                  <a:srgbClr val="FFFFFF"/>
                </a:solidFill>
                <a:latin typeface="Times New Roman"/>
                <a:cs typeface="Times New Roman"/>
              </a:rPr>
              <a:t>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85" dirty="0">
                <a:solidFill>
                  <a:srgbClr val="FFFFFF"/>
                </a:solidFill>
                <a:latin typeface="Times New Roman"/>
                <a:cs typeface="Times New Roman"/>
              </a:rPr>
              <a:t>buck</a:t>
            </a:r>
            <a:r>
              <a:rPr sz="2000" spc="55" dirty="0">
                <a:solidFill>
                  <a:srgbClr val="FFFFFF"/>
                </a:solidFill>
                <a:latin typeface="Times New Roman"/>
                <a:cs typeface="Times New Roman"/>
              </a:rPr>
              <a:t>ets</a:t>
            </a:r>
            <a:r>
              <a:rPr sz="2000" dirty="0">
                <a:solidFill>
                  <a:srgbClr val="FFFFFF"/>
                </a:solidFill>
                <a:latin typeface="Times New Roman"/>
                <a:cs typeface="Times New Roman"/>
              </a:rPr>
              <a:t>	</a:t>
            </a:r>
            <a:r>
              <a:rPr sz="2000" spc="95" dirty="0">
                <a:solidFill>
                  <a:srgbClr val="FFFFFF"/>
                </a:solidFill>
                <a:latin typeface="Times New Roman"/>
                <a:cs typeface="Times New Roman"/>
              </a:rPr>
              <a:t>must</a:t>
            </a:r>
            <a:r>
              <a:rPr sz="2000" dirty="0">
                <a:solidFill>
                  <a:srgbClr val="FFFFFF"/>
                </a:solidFill>
                <a:latin typeface="Times New Roman"/>
                <a:cs typeface="Times New Roman"/>
              </a:rPr>
              <a:t>	</a:t>
            </a:r>
            <a:r>
              <a:rPr sz="2000" spc="55" dirty="0">
                <a:solidFill>
                  <a:srgbClr val="FFFFFF"/>
                </a:solidFill>
                <a:latin typeface="Times New Roman"/>
                <a:cs typeface="Times New Roman"/>
              </a:rPr>
              <a:t>be  </a:t>
            </a:r>
            <a:r>
              <a:rPr sz="2000" spc="40" dirty="0">
                <a:solidFill>
                  <a:srgbClr val="FFFFFF"/>
                </a:solidFill>
                <a:latin typeface="Times New Roman"/>
                <a:cs typeface="Times New Roman"/>
              </a:rPr>
              <a:t>specified</a:t>
            </a:r>
            <a:r>
              <a:rPr sz="2000" spc="-85" dirty="0">
                <a:solidFill>
                  <a:srgbClr val="FFFFFF"/>
                </a:solidFill>
                <a:latin typeface="Times New Roman"/>
                <a:cs typeface="Times New Roman"/>
              </a:rPr>
              <a:t> </a:t>
            </a:r>
            <a:r>
              <a:rPr sz="2000" spc="80" dirty="0">
                <a:solidFill>
                  <a:srgbClr val="FFFFFF"/>
                </a:solidFill>
                <a:latin typeface="Times New Roman"/>
                <a:cs typeface="Times New Roman"/>
              </a:rPr>
              <a:t>at</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index</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definition</a:t>
            </a:r>
            <a:r>
              <a:rPr sz="2000" spc="-75" dirty="0">
                <a:solidFill>
                  <a:srgbClr val="FFFFFF"/>
                </a:solidFill>
                <a:latin typeface="Times New Roman"/>
                <a:cs typeface="Times New Roman"/>
              </a:rPr>
              <a:t> </a:t>
            </a:r>
            <a:r>
              <a:rPr sz="2000" spc="45" dirty="0">
                <a:solidFill>
                  <a:srgbClr val="FFFFFF"/>
                </a:solidFill>
                <a:latin typeface="Times New Roman"/>
                <a:cs typeface="Times New Roman"/>
              </a:rPr>
              <a:t>time:</a:t>
            </a:r>
            <a:endParaRPr sz="2000">
              <a:latin typeface="Times New Roman"/>
              <a:cs typeface="Times New Roman"/>
            </a:endParaRPr>
          </a:p>
          <a:p>
            <a:pPr marL="298450" marR="5080" indent="-285750" algn="just">
              <a:lnSpc>
                <a:spcPts val="1939"/>
              </a:lnSpc>
              <a:spcBef>
                <a:spcPts val="2190"/>
              </a:spcBef>
              <a:buFont typeface="Wingdings"/>
              <a:buChar char=""/>
              <a:tabLst>
                <a:tab pos="298450" algn="l"/>
              </a:tabLst>
            </a:pPr>
            <a:r>
              <a:rPr sz="1800" spc="120" dirty="0">
                <a:solidFill>
                  <a:srgbClr val="FFFFFF"/>
                </a:solidFill>
                <a:latin typeface="Times New Roman"/>
                <a:cs typeface="Times New Roman"/>
              </a:rPr>
              <a:t>The </a:t>
            </a:r>
            <a:r>
              <a:rPr sz="1800" spc="50" dirty="0">
                <a:solidFill>
                  <a:srgbClr val="FFFFFF"/>
                </a:solidFill>
                <a:latin typeface="Times New Roman"/>
                <a:cs typeface="Times New Roman"/>
              </a:rPr>
              <a:t>lower </a:t>
            </a:r>
            <a:r>
              <a:rPr sz="1800" spc="100" dirty="0">
                <a:solidFill>
                  <a:srgbClr val="FFFFFF"/>
                </a:solidFill>
                <a:latin typeface="Times New Roman"/>
                <a:cs typeface="Times New Roman"/>
              </a:rPr>
              <a:t>the </a:t>
            </a:r>
            <a:r>
              <a:rPr sz="1800" spc="60" dirty="0">
                <a:solidFill>
                  <a:srgbClr val="FFFFFF"/>
                </a:solidFill>
                <a:latin typeface="Times New Roman"/>
                <a:cs typeface="Times New Roman"/>
              </a:rPr>
              <a:t>ratio </a:t>
            </a:r>
            <a:r>
              <a:rPr sz="1800" spc="55" dirty="0">
                <a:solidFill>
                  <a:srgbClr val="FFFFFF"/>
                </a:solidFill>
                <a:latin typeface="Times New Roman"/>
                <a:cs typeface="Times New Roman"/>
              </a:rPr>
              <a:t>of </a:t>
            </a:r>
            <a:r>
              <a:rPr sz="1800" spc="65" dirty="0">
                <a:solidFill>
                  <a:srgbClr val="FFFFFF"/>
                </a:solidFill>
                <a:latin typeface="Times New Roman"/>
                <a:cs typeface="Times New Roman"/>
              </a:rPr>
              <a:t>buckets </a:t>
            </a:r>
            <a:r>
              <a:rPr sz="1800" spc="100" dirty="0">
                <a:solidFill>
                  <a:srgbClr val="FFFFFF"/>
                </a:solidFill>
                <a:latin typeface="Times New Roman"/>
                <a:cs typeface="Times New Roman"/>
              </a:rPr>
              <a:t>to </a:t>
            </a:r>
            <a:r>
              <a:rPr sz="1800" spc="50" dirty="0">
                <a:solidFill>
                  <a:srgbClr val="FFFFFF"/>
                </a:solidFill>
                <a:latin typeface="Times New Roman"/>
                <a:cs typeface="Times New Roman"/>
              </a:rPr>
              <a:t>table  rows </a:t>
            </a:r>
            <a:r>
              <a:rPr sz="1800" spc="80" dirty="0">
                <a:solidFill>
                  <a:srgbClr val="FFFFFF"/>
                </a:solidFill>
                <a:latin typeface="Times New Roman"/>
                <a:cs typeface="Times New Roman"/>
              </a:rPr>
              <a:t>or </a:t>
            </a:r>
            <a:r>
              <a:rPr sz="1800" spc="100" dirty="0">
                <a:solidFill>
                  <a:srgbClr val="FFFFFF"/>
                </a:solidFill>
                <a:latin typeface="Times New Roman"/>
                <a:cs typeface="Times New Roman"/>
              </a:rPr>
              <a:t>to </a:t>
            </a:r>
            <a:r>
              <a:rPr sz="1800" spc="65" dirty="0">
                <a:solidFill>
                  <a:srgbClr val="FFFFFF"/>
                </a:solidFill>
                <a:latin typeface="Times New Roman"/>
                <a:cs typeface="Times New Roman"/>
              </a:rPr>
              <a:t>distinct </a:t>
            </a:r>
            <a:r>
              <a:rPr sz="1800" spc="35" dirty="0">
                <a:solidFill>
                  <a:srgbClr val="FFFFFF"/>
                </a:solidFill>
                <a:latin typeface="Times New Roman"/>
                <a:cs typeface="Times New Roman"/>
              </a:rPr>
              <a:t>values, </a:t>
            </a:r>
            <a:r>
              <a:rPr sz="1800" spc="100" dirty="0">
                <a:solidFill>
                  <a:srgbClr val="FFFFFF"/>
                </a:solidFill>
                <a:latin typeface="Times New Roman"/>
                <a:cs typeface="Times New Roman"/>
              </a:rPr>
              <a:t>the </a:t>
            </a:r>
            <a:r>
              <a:rPr sz="1800" spc="55" dirty="0">
                <a:solidFill>
                  <a:srgbClr val="FFFFFF"/>
                </a:solidFill>
                <a:latin typeface="Times New Roman"/>
                <a:cs typeface="Times New Roman"/>
              </a:rPr>
              <a:t>longer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average</a:t>
            </a:r>
            <a:r>
              <a:rPr sz="1800" spc="-80" dirty="0">
                <a:solidFill>
                  <a:srgbClr val="FFFFFF"/>
                </a:solidFill>
                <a:latin typeface="Times New Roman"/>
                <a:cs typeface="Times New Roman"/>
              </a:rPr>
              <a:t> </a:t>
            </a:r>
            <a:r>
              <a:rPr sz="1800" spc="75" dirty="0">
                <a:solidFill>
                  <a:srgbClr val="FFFFFF"/>
                </a:solidFill>
                <a:latin typeface="Times New Roman"/>
                <a:cs typeface="Times New Roman"/>
              </a:rPr>
              <a:t>bucket</a:t>
            </a:r>
            <a:r>
              <a:rPr sz="1800" spc="-80" dirty="0">
                <a:solidFill>
                  <a:srgbClr val="FFFFFF"/>
                </a:solidFill>
                <a:latin typeface="Times New Roman"/>
                <a:cs typeface="Times New Roman"/>
              </a:rPr>
              <a:t> </a:t>
            </a:r>
            <a:r>
              <a:rPr sz="1800" spc="60" dirty="0">
                <a:solidFill>
                  <a:srgbClr val="FFFFFF"/>
                </a:solidFill>
                <a:latin typeface="Times New Roman"/>
                <a:cs typeface="Times New Roman"/>
              </a:rPr>
              <a:t>link</a:t>
            </a:r>
            <a:r>
              <a:rPr sz="1800" spc="-75" dirty="0">
                <a:solidFill>
                  <a:srgbClr val="FFFFFF"/>
                </a:solidFill>
                <a:latin typeface="Times New Roman"/>
                <a:cs typeface="Times New Roman"/>
              </a:rPr>
              <a:t> </a:t>
            </a:r>
            <a:r>
              <a:rPr sz="1800" spc="30" dirty="0">
                <a:solidFill>
                  <a:srgbClr val="FFFFFF"/>
                </a:solidFill>
                <a:latin typeface="Times New Roman"/>
                <a:cs typeface="Times New Roman"/>
              </a:rPr>
              <a:t>list</a:t>
            </a:r>
            <a:r>
              <a:rPr sz="1800" spc="-70" dirty="0">
                <a:solidFill>
                  <a:srgbClr val="FFFFFF"/>
                </a:solidFill>
                <a:latin typeface="Times New Roman"/>
                <a:cs typeface="Times New Roman"/>
              </a:rPr>
              <a:t> </a:t>
            </a:r>
            <a:r>
              <a:rPr sz="1800" spc="15" dirty="0">
                <a:solidFill>
                  <a:srgbClr val="FFFFFF"/>
                </a:solidFill>
                <a:latin typeface="Times New Roman"/>
                <a:cs typeface="Times New Roman"/>
              </a:rPr>
              <a:t>will</a:t>
            </a:r>
            <a:r>
              <a:rPr sz="1800" spc="-60" dirty="0">
                <a:solidFill>
                  <a:srgbClr val="FFFFFF"/>
                </a:solidFill>
                <a:latin typeface="Times New Roman"/>
                <a:cs typeface="Times New Roman"/>
              </a:rPr>
              <a:t> </a:t>
            </a:r>
            <a:r>
              <a:rPr sz="1800" spc="40" dirty="0">
                <a:solidFill>
                  <a:srgbClr val="FFFFFF"/>
                </a:solidFill>
                <a:latin typeface="Times New Roman"/>
                <a:cs typeface="Times New Roman"/>
              </a:rPr>
              <a:t>be.</a:t>
            </a:r>
            <a:endParaRPr sz="1800">
              <a:latin typeface="Times New Roman"/>
              <a:cs typeface="Times New Roman"/>
            </a:endParaRPr>
          </a:p>
          <a:p>
            <a:pPr marL="298450" marR="5715" indent="-285750" algn="just">
              <a:lnSpc>
                <a:spcPts val="1939"/>
              </a:lnSpc>
              <a:spcBef>
                <a:spcPts val="15"/>
              </a:spcBef>
              <a:buFont typeface="Wingdings"/>
              <a:buChar char=""/>
              <a:tabLst>
                <a:tab pos="298450" algn="l"/>
              </a:tabLst>
            </a:pPr>
            <a:r>
              <a:rPr sz="1800" spc="100" dirty="0">
                <a:solidFill>
                  <a:srgbClr val="FFFFFF"/>
                </a:solidFill>
                <a:latin typeface="Times New Roman"/>
                <a:cs typeface="Times New Roman"/>
              </a:rPr>
              <a:t>Short</a:t>
            </a:r>
            <a:r>
              <a:rPr sz="1800" spc="-30" dirty="0">
                <a:solidFill>
                  <a:srgbClr val="FFFFFF"/>
                </a:solidFill>
                <a:latin typeface="Times New Roman"/>
                <a:cs typeface="Times New Roman"/>
              </a:rPr>
              <a:t> </a:t>
            </a:r>
            <a:r>
              <a:rPr sz="1800" spc="60" dirty="0">
                <a:solidFill>
                  <a:srgbClr val="FFFFFF"/>
                </a:solidFill>
                <a:latin typeface="Times New Roman"/>
                <a:cs typeface="Times New Roman"/>
              </a:rPr>
              <a:t>link</a:t>
            </a:r>
            <a:r>
              <a:rPr sz="1800" spc="-40" dirty="0">
                <a:solidFill>
                  <a:srgbClr val="FFFFFF"/>
                </a:solidFill>
                <a:latin typeface="Times New Roman"/>
                <a:cs typeface="Times New Roman"/>
              </a:rPr>
              <a:t> </a:t>
            </a:r>
            <a:r>
              <a:rPr sz="1800" spc="25" dirty="0">
                <a:solidFill>
                  <a:srgbClr val="FFFFFF"/>
                </a:solidFill>
                <a:latin typeface="Times New Roman"/>
                <a:cs typeface="Times New Roman"/>
              </a:rPr>
              <a:t>lists</a:t>
            </a:r>
            <a:r>
              <a:rPr sz="1800" spc="-30" dirty="0">
                <a:solidFill>
                  <a:srgbClr val="FFFFFF"/>
                </a:solidFill>
                <a:latin typeface="Times New Roman"/>
                <a:cs typeface="Times New Roman"/>
              </a:rPr>
              <a:t> </a:t>
            </a:r>
            <a:r>
              <a:rPr sz="1800" spc="70" dirty="0">
                <a:solidFill>
                  <a:srgbClr val="FFFFFF"/>
                </a:solidFill>
                <a:latin typeface="Times New Roman"/>
                <a:cs typeface="Times New Roman"/>
              </a:rPr>
              <a:t>perform</a:t>
            </a:r>
            <a:r>
              <a:rPr sz="1800" spc="-35" dirty="0">
                <a:solidFill>
                  <a:srgbClr val="FFFFFF"/>
                </a:solidFill>
                <a:latin typeface="Times New Roman"/>
                <a:cs typeface="Times New Roman"/>
              </a:rPr>
              <a:t> </a:t>
            </a:r>
            <a:r>
              <a:rPr sz="1800" spc="45" dirty="0">
                <a:solidFill>
                  <a:srgbClr val="FFFFFF"/>
                </a:solidFill>
                <a:latin typeface="Times New Roman"/>
                <a:cs typeface="Times New Roman"/>
              </a:rPr>
              <a:t>faster</a:t>
            </a:r>
            <a:r>
              <a:rPr sz="1800" spc="-35" dirty="0">
                <a:solidFill>
                  <a:srgbClr val="FFFFFF"/>
                </a:solidFill>
                <a:latin typeface="Times New Roman"/>
                <a:cs typeface="Times New Roman"/>
              </a:rPr>
              <a:t> </a:t>
            </a:r>
            <a:r>
              <a:rPr sz="1800" spc="114" dirty="0">
                <a:solidFill>
                  <a:srgbClr val="FFFFFF"/>
                </a:solidFill>
                <a:latin typeface="Times New Roman"/>
                <a:cs typeface="Times New Roman"/>
              </a:rPr>
              <a:t>than</a:t>
            </a:r>
            <a:r>
              <a:rPr sz="1800" spc="-35" dirty="0">
                <a:solidFill>
                  <a:srgbClr val="FFFFFF"/>
                </a:solidFill>
                <a:latin typeface="Times New Roman"/>
                <a:cs typeface="Times New Roman"/>
              </a:rPr>
              <a:t> </a:t>
            </a:r>
            <a:r>
              <a:rPr sz="1800" spc="50" dirty="0">
                <a:solidFill>
                  <a:srgbClr val="FFFFFF"/>
                </a:solidFill>
                <a:latin typeface="Times New Roman"/>
                <a:cs typeface="Times New Roman"/>
              </a:rPr>
              <a:t>long  </a:t>
            </a:r>
            <a:r>
              <a:rPr sz="1800" spc="60" dirty="0">
                <a:solidFill>
                  <a:srgbClr val="FFFFFF"/>
                </a:solidFill>
                <a:latin typeface="Times New Roman"/>
                <a:cs typeface="Times New Roman"/>
              </a:rPr>
              <a:t>link</a:t>
            </a:r>
            <a:r>
              <a:rPr sz="1800" spc="-80" dirty="0">
                <a:solidFill>
                  <a:srgbClr val="FFFFFF"/>
                </a:solidFill>
                <a:latin typeface="Times New Roman"/>
                <a:cs typeface="Times New Roman"/>
              </a:rPr>
              <a:t> </a:t>
            </a:r>
            <a:r>
              <a:rPr sz="1800" spc="20" dirty="0">
                <a:solidFill>
                  <a:srgbClr val="FFFFFF"/>
                </a:solidFill>
                <a:latin typeface="Times New Roman"/>
                <a:cs typeface="Times New Roman"/>
              </a:rPr>
              <a:t>lists.</a:t>
            </a:r>
            <a:endParaRPr sz="18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23</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 y="0"/>
            <a:ext cx="3294379" cy="635635"/>
          </a:xfrm>
          <a:prstGeom prst="rect">
            <a:avLst/>
          </a:prstGeom>
        </p:spPr>
        <p:txBody>
          <a:bodyPr vert="horz" wrap="square" lIns="0" tIns="12700" rIns="0" bIns="0" rtlCol="0">
            <a:spAutoFit/>
          </a:bodyPr>
          <a:lstStyle/>
          <a:p>
            <a:pPr marL="12700">
              <a:lnSpc>
                <a:spcPct val="100000"/>
              </a:lnSpc>
              <a:spcBef>
                <a:spcPts val="100"/>
              </a:spcBef>
            </a:pPr>
            <a:r>
              <a:rPr sz="4000" b="0" spc="175" dirty="0">
                <a:latin typeface="Times New Roman"/>
                <a:cs typeface="Times New Roman"/>
              </a:rPr>
              <a:t>Hash Index</a:t>
            </a:r>
            <a:r>
              <a:rPr sz="4000" b="0" spc="-540" dirty="0">
                <a:latin typeface="Times New Roman"/>
                <a:cs typeface="Times New Roman"/>
              </a:rPr>
              <a:t> </a:t>
            </a:r>
            <a:r>
              <a:rPr sz="4000" b="0" spc="-80" dirty="0">
                <a:latin typeface="Times New Roman"/>
                <a:cs typeface="Times New Roman"/>
              </a:rPr>
              <a:t>2-2</a:t>
            </a:r>
            <a:endParaRPr sz="4000">
              <a:latin typeface="Times New Roman"/>
              <a:cs typeface="Times New Roman"/>
            </a:endParaRPr>
          </a:p>
        </p:txBody>
      </p:sp>
      <p:pic>
        <p:nvPicPr>
          <p:cNvPr id="3" name="object 3"/>
          <p:cNvPicPr/>
          <p:nvPr/>
        </p:nvPicPr>
        <p:blipFill>
          <a:blip r:embed="rId3" cstate="print"/>
          <a:stretch>
            <a:fillRect/>
          </a:stretch>
        </p:blipFill>
        <p:spPr>
          <a:xfrm>
            <a:off x="865632" y="1116330"/>
            <a:ext cx="7412735" cy="4625340"/>
          </a:xfrm>
          <a:prstGeom prst="rect">
            <a:avLst/>
          </a:prstGeom>
        </p:spPr>
      </p:pic>
      <p:sp>
        <p:nvSpPr>
          <p:cNvPr id="4" name="object 4"/>
          <p:cNvSpPr txBox="1"/>
          <p:nvPr/>
        </p:nvSpPr>
        <p:spPr>
          <a:xfrm>
            <a:off x="3771900" y="5723635"/>
            <a:ext cx="189611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Hash </a:t>
            </a:r>
            <a:r>
              <a:rPr sz="1400" b="1" spc="5" dirty="0">
                <a:latin typeface="Times New Roman"/>
                <a:cs typeface="Times New Roman"/>
              </a:rPr>
              <a:t>Index</a:t>
            </a:r>
            <a:r>
              <a:rPr sz="1400" b="1" spc="-190" dirty="0">
                <a:latin typeface="Times New Roman"/>
                <a:cs typeface="Times New Roman"/>
              </a:rPr>
              <a:t> </a:t>
            </a:r>
            <a:r>
              <a:rPr sz="1400" b="1" spc="-5" dirty="0">
                <a:latin typeface="Times New Roman"/>
                <a:cs typeface="Times New Roman"/>
              </a:rPr>
              <a:t>Architecture</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24</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202" y="47243"/>
            <a:ext cx="2994025" cy="635635"/>
          </a:xfrm>
          <a:prstGeom prst="rect">
            <a:avLst/>
          </a:prstGeom>
        </p:spPr>
        <p:txBody>
          <a:bodyPr vert="horz" wrap="square" lIns="0" tIns="12700" rIns="0" bIns="0" rtlCol="0">
            <a:spAutoFit/>
          </a:bodyPr>
          <a:lstStyle/>
          <a:p>
            <a:pPr marL="12700">
              <a:lnSpc>
                <a:spcPct val="100000"/>
              </a:lnSpc>
              <a:spcBef>
                <a:spcPts val="100"/>
              </a:spcBef>
            </a:pPr>
            <a:r>
              <a:rPr sz="4000" b="0" spc="65" dirty="0">
                <a:latin typeface="Times New Roman"/>
                <a:cs typeface="Times New Roman"/>
              </a:rPr>
              <a:t>XML</a:t>
            </a:r>
            <a:r>
              <a:rPr sz="4000" b="0" spc="-225" dirty="0">
                <a:latin typeface="Times New Roman"/>
                <a:cs typeface="Times New Roman"/>
              </a:rPr>
              <a:t> </a:t>
            </a:r>
            <a:r>
              <a:rPr sz="4000" b="0" spc="140" dirty="0">
                <a:latin typeface="Times New Roman"/>
                <a:cs typeface="Times New Roman"/>
              </a:rPr>
              <a:t>Indexes</a:t>
            </a:r>
            <a:endParaRPr sz="4000">
              <a:latin typeface="Times New Roman"/>
              <a:cs typeface="Times New Roman"/>
            </a:endParaRPr>
          </a:p>
        </p:txBody>
      </p:sp>
      <p:sp>
        <p:nvSpPr>
          <p:cNvPr id="3" name="object 3"/>
          <p:cNvSpPr txBox="1"/>
          <p:nvPr/>
        </p:nvSpPr>
        <p:spPr>
          <a:xfrm>
            <a:off x="176784" y="1218438"/>
            <a:ext cx="4521835" cy="2211070"/>
          </a:xfrm>
          <a:prstGeom prst="rect">
            <a:avLst/>
          </a:prstGeom>
          <a:solidFill>
            <a:srgbClr val="F79546"/>
          </a:solidFill>
        </p:spPr>
        <p:txBody>
          <a:bodyPr vert="horz" wrap="square" lIns="0" tIns="635" rIns="0" bIns="0" rtlCol="0">
            <a:spAutoFit/>
          </a:bodyPr>
          <a:lstStyle/>
          <a:p>
            <a:pPr>
              <a:lnSpc>
                <a:spcPct val="100000"/>
              </a:lnSpc>
              <a:spcBef>
                <a:spcPts val="5"/>
              </a:spcBef>
            </a:pPr>
            <a:endParaRPr sz="2600">
              <a:latin typeface="Times New Roman"/>
              <a:cs typeface="Times New Roman"/>
            </a:endParaRPr>
          </a:p>
          <a:p>
            <a:pPr marL="76200" marR="69850" algn="just">
              <a:lnSpc>
                <a:spcPts val="2160"/>
              </a:lnSpc>
            </a:pPr>
            <a:r>
              <a:rPr sz="2000" spc="25" dirty="0">
                <a:solidFill>
                  <a:srgbClr val="FFFFFF"/>
                </a:solidFill>
                <a:latin typeface="Times New Roman"/>
                <a:cs typeface="Times New Roman"/>
              </a:rPr>
              <a:t>XML </a:t>
            </a:r>
            <a:r>
              <a:rPr sz="2000" spc="70" dirty="0">
                <a:solidFill>
                  <a:srgbClr val="FFFFFF"/>
                </a:solidFill>
                <a:latin typeface="Times New Roman"/>
                <a:cs typeface="Times New Roman"/>
              </a:rPr>
              <a:t>indexes </a:t>
            </a:r>
            <a:r>
              <a:rPr sz="2000" spc="75" dirty="0">
                <a:solidFill>
                  <a:srgbClr val="FFFFFF"/>
                </a:solidFill>
                <a:latin typeface="Times New Roman"/>
                <a:cs typeface="Times New Roman"/>
              </a:rPr>
              <a:t>can </a:t>
            </a:r>
            <a:r>
              <a:rPr sz="2000" spc="70" dirty="0">
                <a:solidFill>
                  <a:srgbClr val="FFFFFF"/>
                </a:solidFill>
                <a:latin typeface="Times New Roman"/>
                <a:cs typeface="Times New Roman"/>
              </a:rPr>
              <a:t>be </a:t>
            </a:r>
            <a:r>
              <a:rPr sz="2000" spc="65" dirty="0">
                <a:solidFill>
                  <a:srgbClr val="FFFFFF"/>
                </a:solidFill>
                <a:latin typeface="Times New Roman"/>
                <a:cs typeface="Times New Roman"/>
              </a:rPr>
              <a:t>created </a:t>
            </a:r>
            <a:r>
              <a:rPr sz="2000" spc="135" dirty="0">
                <a:solidFill>
                  <a:srgbClr val="FFFFFF"/>
                </a:solidFill>
                <a:latin typeface="Times New Roman"/>
                <a:cs typeface="Times New Roman"/>
              </a:rPr>
              <a:t>on </a:t>
            </a:r>
            <a:r>
              <a:rPr sz="2000" spc="55" dirty="0">
                <a:solidFill>
                  <a:srgbClr val="FFFFFF"/>
                </a:solidFill>
                <a:latin typeface="Times New Roman"/>
                <a:cs typeface="Times New Roman"/>
              </a:rPr>
              <a:t>xml  </a:t>
            </a:r>
            <a:r>
              <a:rPr sz="2000" spc="80" dirty="0">
                <a:solidFill>
                  <a:srgbClr val="FFFFFF"/>
                </a:solidFill>
                <a:latin typeface="Times New Roman"/>
                <a:cs typeface="Times New Roman"/>
              </a:rPr>
              <a:t>data </a:t>
            </a:r>
            <a:r>
              <a:rPr sz="2000" spc="65" dirty="0">
                <a:solidFill>
                  <a:srgbClr val="FFFFFF"/>
                </a:solidFill>
                <a:latin typeface="Times New Roman"/>
                <a:cs typeface="Times New Roman"/>
              </a:rPr>
              <a:t>type</a:t>
            </a:r>
            <a:r>
              <a:rPr sz="2000" spc="-210" dirty="0">
                <a:solidFill>
                  <a:srgbClr val="FFFFFF"/>
                </a:solidFill>
                <a:latin typeface="Times New Roman"/>
                <a:cs typeface="Times New Roman"/>
              </a:rPr>
              <a:t> </a:t>
            </a:r>
            <a:r>
              <a:rPr sz="2000" spc="65" dirty="0">
                <a:solidFill>
                  <a:srgbClr val="FFFFFF"/>
                </a:solidFill>
                <a:latin typeface="Times New Roman"/>
                <a:cs typeface="Times New Roman"/>
              </a:rPr>
              <a:t>columns.</a:t>
            </a:r>
            <a:endParaRPr sz="2000">
              <a:latin typeface="Times New Roman"/>
              <a:cs typeface="Times New Roman"/>
            </a:endParaRPr>
          </a:p>
          <a:p>
            <a:pPr marL="76200" marR="67945" algn="just">
              <a:lnSpc>
                <a:spcPts val="2160"/>
              </a:lnSpc>
              <a:spcBef>
                <a:spcPts val="5"/>
              </a:spcBef>
            </a:pPr>
            <a:r>
              <a:rPr sz="2000" spc="95" dirty="0">
                <a:solidFill>
                  <a:srgbClr val="FFFFFF"/>
                </a:solidFill>
                <a:latin typeface="Times New Roman"/>
                <a:cs typeface="Times New Roman"/>
              </a:rPr>
              <a:t>They </a:t>
            </a:r>
            <a:r>
              <a:rPr sz="2000" spc="90" dirty="0">
                <a:solidFill>
                  <a:srgbClr val="FFFFFF"/>
                </a:solidFill>
                <a:latin typeface="Times New Roman"/>
                <a:cs typeface="Times New Roman"/>
              </a:rPr>
              <a:t>index </a:t>
            </a:r>
            <a:r>
              <a:rPr sz="2000" spc="10" dirty="0">
                <a:solidFill>
                  <a:srgbClr val="FFFFFF"/>
                </a:solidFill>
                <a:latin typeface="Times New Roman"/>
                <a:cs typeface="Times New Roman"/>
              </a:rPr>
              <a:t>all </a:t>
            </a:r>
            <a:r>
              <a:rPr sz="2000" spc="30" dirty="0">
                <a:solidFill>
                  <a:srgbClr val="FFFFFF"/>
                </a:solidFill>
                <a:latin typeface="Times New Roman"/>
                <a:cs typeface="Times New Roman"/>
              </a:rPr>
              <a:t>tags, </a:t>
            </a:r>
            <a:r>
              <a:rPr sz="2000" spc="40" dirty="0">
                <a:solidFill>
                  <a:srgbClr val="FFFFFF"/>
                </a:solidFill>
                <a:latin typeface="Times New Roman"/>
                <a:cs typeface="Times New Roman"/>
              </a:rPr>
              <a:t>values, </a:t>
            </a:r>
            <a:r>
              <a:rPr sz="2000" spc="114" dirty="0">
                <a:solidFill>
                  <a:srgbClr val="FFFFFF"/>
                </a:solidFill>
                <a:latin typeface="Times New Roman"/>
                <a:cs typeface="Times New Roman"/>
              </a:rPr>
              <a:t>and </a:t>
            </a:r>
            <a:r>
              <a:rPr sz="2000" spc="90" dirty="0">
                <a:solidFill>
                  <a:srgbClr val="FFFFFF"/>
                </a:solidFill>
                <a:latin typeface="Times New Roman"/>
                <a:cs typeface="Times New Roman"/>
              </a:rPr>
              <a:t>paths  </a:t>
            </a:r>
            <a:r>
              <a:rPr sz="2000" spc="65" dirty="0">
                <a:solidFill>
                  <a:srgbClr val="FFFFFF"/>
                </a:solidFill>
                <a:latin typeface="Times New Roman"/>
                <a:cs typeface="Times New Roman"/>
              </a:rPr>
              <a:t>over </a:t>
            </a:r>
            <a:r>
              <a:rPr sz="2000" spc="110" dirty="0">
                <a:solidFill>
                  <a:srgbClr val="FFFFFF"/>
                </a:solidFill>
                <a:latin typeface="Times New Roman"/>
                <a:cs typeface="Times New Roman"/>
              </a:rPr>
              <a:t>the </a:t>
            </a:r>
            <a:r>
              <a:rPr sz="2000" spc="30" dirty="0">
                <a:solidFill>
                  <a:srgbClr val="FFFFFF"/>
                </a:solidFill>
                <a:latin typeface="Times New Roman"/>
                <a:cs typeface="Times New Roman"/>
              </a:rPr>
              <a:t>XML </a:t>
            </a:r>
            <a:r>
              <a:rPr sz="2000" spc="65" dirty="0">
                <a:solidFill>
                  <a:srgbClr val="FFFFFF"/>
                </a:solidFill>
                <a:latin typeface="Times New Roman"/>
                <a:cs typeface="Times New Roman"/>
              </a:rPr>
              <a:t>instances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90" dirty="0">
                <a:solidFill>
                  <a:srgbClr val="FFFFFF"/>
                </a:solidFill>
                <a:latin typeface="Times New Roman"/>
                <a:cs typeface="Times New Roman"/>
              </a:rPr>
              <a:t>column  </a:t>
            </a:r>
            <a:r>
              <a:rPr sz="2000" spc="110" dirty="0">
                <a:solidFill>
                  <a:srgbClr val="FFFFFF"/>
                </a:solidFill>
                <a:latin typeface="Times New Roman"/>
                <a:cs typeface="Times New Roman"/>
              </a:rPr>
              <a:t>and</a:t>
            </a:r>
            <a:r>
              <a:rPr sz="2000" spc="-345" dirty="0">
                <a:solidFill>
                  <a:srgbClr val="FFFFFF"/>
                </a:solidFill>
                <a:latin typeface="Times New Roman"/>
                <a:cs typeface="Times New Roman"/>
              </a:rPr>
              <a:t> </a:t>
            </a:r>
            <a:r>
              <a:rPr sz="2000" spc="70" dirty="0">
                <a:solidFill>
                  <a:srgbClr val="FFFFFF"/>
                </a:solidFill>
                <a:latin typeface="Times New Roman"/>
                <a:cs typeface="Times New Roman"/>
              </a:rPr>
              <a:t>benefit </a:t>
            </a:r>
            <a:r>
              <a:rPr sz="2000" spc="75" dirty="0">
                <a:solidFill>
                  <a:srgbClr val="FFFFFF"/>
                </a:solidFill>
                <a:latin typeface="Times New Roman"/>
                <a:cs typeface="Times New Roman"/>
              </a:rPr>
              <a:t>query </a:t>
            </a:r>
            <a:r>
              <a:rPr sz="2000" spc="65" dirty="0">
                <a:solidFill>
                  <a:srgbClr val="FFFFFF"/>
                </a:solidFill>
                <a:latin typeface="Times New Roman"/>
                <a:cs typeface="Times New Roman"/>
              </a:rPr>
              <a:t>performance.</a:t>
            </a:r>
            <a:endParaRPr sz="2000">
              <a:latin typeface="Times New Roman"/>
              <a:cs typeface="Times New Roman"/>
            </a:endParaRPr>
          </a:p>
        </p:txBody>
      </p:sp>
      <p:sp>
        <p:nvSpPr>
          <p:cNvPr id="4" name="object 4"/>
          <p:cNvSpPr/>
          <p:nvPr/>
        </p:nvSpPr>
        <p:spPr>
          <a:xfrm>
            <a:off x="4879847" y="1213866"/>
            <a:ext cx="4264660" cy="2211070"/>
          </a:xfrm>
          <a:custGeom>
            <a:avLst/>
            <a:gdLst/>
            <a:ahLst/>
            <a:cxnLst/>
            <a:rect l="l" t="t" r="r" b="b"/>
            <a:pathLst>
              <a:path w="4264659" h="2211070">
                <a:moveTo>
                  <a:pt x="4264152" y="0"/>
                </a:moveTo>
                <a:lnTo>
                  <a:pt x="0" y="0"/>
                </a:lnTo>
                <a:lnTo>
                  <a:pt x="0" y="2210562"/>
                </a:lnTo>
                <a:lnTo>
                  <a:pt x="4264152" y="2210562"/>
                </a:lnTo>
                <a:lnTo>
                  <a:pt x="4264152" y="0"/>
                </a:lnTo>
                <a:close/>
              </a:path>
            </a:pathLst>
          </a:custGeom>
          <a:solidFill>
            <a:srgbClr val="9BBA58"/>
          </a:solidFill>
        </p:spPr>
        <p:txBody>
          <a:bodyPr wrap="square" lIns="0" tIns="0" rIns="0" bIns="0" rtlCol="0"/>
          <a:lstStyle/>
          <a:p>
            <a:endParaRPr/>
          </a:p>
        </p:txBody>
      </p:sp>
      <p:sp>
        <p:nvSpPr>
          <p:cNvPr id="5" name="object 5"/>
          <p:cNvSpPr txBox="1"/>
          <p:nvPr/>
        </p:nvSpPr>
        <p:spPr>
          <a:xfrm>
            <a:off x="4943347" y="1547875"/>
            <a:ext cx="4138295" cy="1427480"/>
          </a:xfrm>
          <a:prstGeom prst="rect">
            <a:avLst/>
          </a:prstGeom>
        </p:spPr>
        <p:txBody>
          <a:bodyPr vert="horz" wrap="square" lIns="0" tIns="46990" rIns="0" bIns="0" rtlCol="0">
            <a:spAutoFit/>
          </a:bodyPr>
          <a:lstStyle/>
          <a:p>
            <a:pPr marL="12700" marR="6350" algn="just">
              <a:lnSpc>
                <a:spcPts val="2160"/>
              </a:lnSpc>
              <a:spcBef>
                <a:spcPts val="370"/>
              </a:spcBef>
            </a:pPr>
            <a:r>
              <a:rPr sz="2000" spc="80" dirty="0">
                <a:solidFill>
                  <a:srgbClr val="FFFFFF"/>
                </a:solidFill>
                <a:latin typeface="Times New Roman"/>
                <a:cs typeface="Times New Roman"/>
              </a:rPr>
              <a:t>Queries </a:t>
            </a:r>
            <a:r>
              <a:rPr sz="2000" spc="135" dirty="0">
                <a:solidFill>
                  <a:srgbClr val="FFFFFF"/>
                </a:solidFill>
                <a:latin typeface="Times New Roman"/>
                <a:cs typeface="Times New Roman"/>
              </a:rPr>
              <a:t>on</a:t>
            </a:r>
            <a:r>
              <a:rPr sz="2000" spc="770" dirty="0">
                <a:solidFill>
                  <a:srgbClr val="FFFFFF"/>
                </a:solidFill>
                <a:latin typeface="Times New Roman"/>
                <a:cs typeface="Times New Roman"/>
              </a:rPr>
              <a:t> </a:t>
            </a:r>
            <a:r>
              <a:rPr sz="2000" spc="25" dirty="0">
                <a:solidFill>
                  <a:srgbClr val="FFFFFF"/>
                </a:solidFill>
                <a:latin typeface="Times New Roman"/>
                <a:cs typeface="Times New Roman"/>
              </a:rPr>
              <a:t>XML </a:t>
            </a:r>
            <a:r>
              <a:rPr sz="2000" spc="75" dirty="0">
                <a:solidFill>
                  <a:srgbClr val="FFFFFF"/>
                </a:solidFill>
                <a:latin typeface="Times New Roman"/>
                <a:cs typeface="Times New Roman"/>
              </a:rPr>
              <a:t>columns </a:t>
            </a:r>
            <a:r>
              <a:rPr sz="2000" spc="50" dirty="0">
                <a:solidFill>
                  <a:srgbClr val="FFFFFF"/>
                </a:solidFill>
                <a:latin typeface="Times New Roman"/>
                <a:cs typeface="Times New Roman"/>
              </a:rPr>
              <a:t>are  </a:t>
            </a:r>
            <a:r>
              <a:rPr sz="2000" spc="95" dirty="0">
                <a:solidFill>
                  <a:srgbClr val="FFFFFF"/>
                </a:solidFill>
                <a:latin typeface="Times New Roman"/>
                <a:cs typeface="Times New Roman"/>
              </a:rPr>
              <a:t>common</a:t>
            </a:r>
            <a:r>
              <a:rPr sz="2000" spc="-7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your</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workload.</a:t>
            </a:r>
            <a:endParaRPr sz="2000">
              <a:latin typeface="Times New Roman"/>
              <a:cs typeface="Times New Roman"/>
            </a:endParaRPr>
          </a:p>
          <a:p>
            <a:pPr marL="12700" marR="5080" algn="just">
              <a:lnSpc>
                <a:spcPts val="2160"/>
              </a:lnSpc>
            </a:pPr>
            <a:r>
              <a:rPr sz="2000" spc="25" dirty="0">
                <a:solidFill>
                  <a:srgbClr val="FFFFFF"/>
                </a:solidFill>
                <a:latin typeface="Times New Roman"/>
                <a:cs typeface="Times New Roman"/>
              </a:rPr>
              <a:t>XML </a:t>
            </a:r>
            <a:r>
              <a:rPr sz="2000" spc="90" dirty="0">
                <a:solidFill>
                  <a:srgbClr val="FFFFFF"/>
                </a:solidFill>
                <a:latin typeface="Times New Roman"/>
                <a:cs typeface="Times New Roman"/>
              </a:rPr>
              <a:t>index </a:t>
            </a:r>
            <a:r>
              <a:rPr sz="2000" spc="85" dirty="0">
                <a:solidFill>
                  <a:srgbClr val="FFFFFF"/>
                </a:solidFill>
                <a:latin typeface="Times New Roman"/>
                <a:cs typeface="Times New Roman"/>
              </a:rPr>
              <a:t>maintenance </a:t>
            </a:r>
            <a:r>
              <a:rPr sz="2000" spc="60" dirty="0">
                <a:solidFill>
                  <a:srgbClr val="FFFFFF"/>
                </a:solidFill>
                <a:latin typeface="Times New Roman"/>
                <a:cs typeface="Times New Roman"/>
              </a:rPr>
              <a:t>cost </a:t>
            </a:r>
            <a:r>
              <a:rPr sz="2000" spc="85" dirty="0">
                <a:solidFill>
                  <a:srgbClr val="FFFFFF"/>
                </a:solidFill>
                <a:latin typeface="Times New Roman"/>
                <a:cs typeface="Times New Roman"/>
              </a:rPr>
              <a:t>during  </a:t>
            </a:r>
            <a:r>
              <a:rPr sz="2000" spc="80" dirty="0">
                <a:solidFill>
                  <a:srgbClr val="FFFFFF"/>
                </a:solidFill>
                <a:latin typeface="Times New Roman"/>
                <a:cs typeface="Times New Roman"/>
              </a:rPr>
              <a:t>data </a:t>
            </a:r>
            <a:r>
              <a:rPr sz="2000" spc="65" dirty="0">
                <a:solidFill>
                  <a:srgbClr val="FFFFFF"/>
                </a:solidFill>
                <a:latin typeface="Times New Roman"/>
                <a:cs typeface="Times New Roman"/>
              </a:rPr>
              <a:t>modification </a:t>
            </a:r>
            <a:r>
              <a:rPr sz="2000" spc="95" dirty="0">
                <a:solidFill>
                  <a:srgbClr val="FFFFFF"/>
                </a:solidFill>
                <a:latin typeface="Times New Roman"/>
                <a:cs typeface="Times New Roman"/>
              </a:rPr>
              <a:t>must </a:t>
            </a:r>
            <a:r>
              <a:rPr sz="2000" spc="70" dirty="0">
                <a:solidFill>
                  <a:srgbClr val="FFFFFF"/>
                </a:solidFill>
                <a:latin typeface="Times New Roman"/>
                <a:cs typeface="Times New Roman"/>
              </a:rPr>
              <a:t>be  </a:t>
            </a:r>
            <a:r>
              <a:rPr sz="2000" spc="65" dirty="0">
                <a:solidFill>
                  <a:srgbClr val="FFFFFF"/>
                </a:solidFill>
                <a:latin typeface="Times New Roman"/>
                <a:cs typeface="Times New Roman"/>
              </a:rPr>
              <a:t>considered.</a:t>
            </a:r>
            <a:endParaRPr sz="2000">
              <a:latin typeface="Times New Roman"/>
              <a:cs typeface="Times New Roman"/>
            </a:endParaRPr>
          </a:p>
        </p:txBody>
      </p:sp>
      <p:grpSp>
        <p:nvGrpSpPr>
          <p:cNvPr id="6" name="object 6"/>
          <p:cNvGrpSpPr/>
          <p:nvPr/>
        </p:nvGrpSpPr>
        <p:grpSpPr>
          <a:xfrm>
            <a:off x="1820417" y="3639311"/>
            <a:ext cx="4377690" cy="2712085"/>
            <a:chOff x="1820417" y="3639311"/>
            <a:chExt cx="4377690" cy="2712085"/>
          </a:xfrm>
        </p:grpSpPr>
        <p:sp>
          <p:nvSpPr>
            <p:cNvPr id="7" name="object 7"/>
            <p:cNvSpPr/>
            <p:nvPr/>
          </p:nvSpPr>
          <p:spPr>
            <a:xfrm>
              <a:off x="4009263" y="4812411"/>
              <a:ext cx="1596390" cy="365760"/>
            </a:xfrm>
            <a:custGeom>
              <a:avLst/>
              <a:gdLst/>
              <a:ahLst/>
              <a:cxnLst/>
              <a:rect l="l" t="t" r="r" b="b"/>
              <a:pathLst>
                <a:path w="1596389" h="365760">
                  <a:moveTo>
                    <a:pt x="0" y="0"/>
                  </a:moveTo>
                  <a:lnTo>
                    <a:pt x="0" y="184277"/>
                  </a:lnTo>
                  <a:lnTo>
                    <a:pt x="1596136" y="184277"/>
                  </a:lnTo>
                  <a:lnTo>
                    <a:pt x="1596136" y="365633"/>
                  </a:lnTo>
                </a:path>
              </a:pathLst>
            </a:custGeom>
            <a:ln w="25145">
              <a:solidFill>
                <a:srgbClr val="C0504D"/>
              </a:solidFill>
            </a:ln>
          </p:spPr>
          <p:txBody>
            <a:bodyPr wrap="square" lIns="0" tIns="0" rIns="0" bIns="0" rtlCol="0"/>
            <a:lstStyle/>
            <a:p>
              <a:endParaRPr/>
            </a:p>
          </p:txBody>
        </p:sp>
        <p:sp>
          <p:nvSpPr>
            <p:cNvPr id="8" name="object 8"/>
            <p:cNvSpPr/>
            <p:nvPr/>
          </p:nvSpPr>
          <p:spPr>
            <a:xfrm>
              <a:off x="2412872" y="4812411"/>
              <a:ext cx="1596390" cy="365760"/>
            </a:xfrm>
            <a:custGeom>
              <a:avLst/>
              <a:gdLst/>
              <a:ahLst/>
              <a:cxnLst/>
              <a:rect l="l" t="t" r="r" b="b"/>
              <a:pathLst>
                <a:path w="1596389" h="365760">
                  <a:moveTo>
                    <a:pt x="1596136" y="0"/>
                  </a:moveTo>
                  <a:lnTo>
                    <a:pt x="1596136" y="184277"/>
                  </a:lnTo>
                  <a:lnTo>
                    <a:pt x="0" y="184277"/>
                  </a:lnTo>
                  <a:lnTo>
                    <a:pt x="0" y="365633"/>
                  </a:lnTo>
                </a:path>
              </a:pathLst>
            </a:custGeom>
            <a:ln w="25145">
              <a:solidFill>
                <a:srgbClr val="C0504D"/>
              </a:solidFill>
            </a:ln>
          </p:spPr>
          <p:txBody>
            <a:bodyPr wrap="square" lIns="0" tIns="0" rIns="0" bIns="0" rtlCol="0"/>
            <a:lstStyle/>
            <a:p>
              <a:endParaRPr/>
            </a:p>
          </p:txBody>
        </p:sp>
        <p:sp>
          <p:nvSpPr>
            <p:cNvPr id="9" name="object 9"/>
            <p:cNvSpPr/>
            <p:nvPr/>
          </p:nvSpPr>
          <p:spPr>
            <a:xfrm>
              <a:off x="3428618" y="3651884"/>
              <a:ext cx="1161415" cy="1160780"/>
            </a:xfrm>
            <a:custGeom>
              <a:avLst/>
              <a:gdLst/>
              <a:ahLst/>
              <a:cxnLst/>
              <a:rect l="l" t="t" r="r" b="b"/>
              <a:pathLst>
                <a:path w="1161414" h="1160779">
                  <a:moveTo>
                    <a:pt x="580644" y="0"/>
                  </a:moveTo>
                  <a:lnTo>
                    <a:pt x="533022" y="1923"/>
                  </a:lnTo>
                  <a:lnTo>
                    <a:pt x="486461" y="7595"/>
                  </a:lnTo>
                  <a:lnTo>
                    <a:pt x="441110" y="16866"/>
                  </a:lnTo>
                  <a:lnTo>
                    <a:pt x="397117" y="29586"/>
                  </a:lnTo>
                  <a:lnTo>
                    <a:pt x="354633" y="45606"/>
                  </a:lnTo>
                  <a:lnTo>
                    <a:pt x="313807" y="64777"/>
                  </a:lnTo>
                  <a:lnTo>
                    <a:pt x="274788" y="86948"/>
                  </a:lnTo>
                  <a:lnTo>
                    <a:pt x="237725" y="111971"/>
                  </a:lnTo>
                  <a:lnTo>
                    <a:pt x="202769" y="139696"/>
                  </a:lnTo>
                  <a:lnTo>
                    <a:pt x="170068" y="169973"/>
                  </a:lnTo>
                  <a:lnTo>
                    <a:pt x="139773" y="202654"/>
                  </a:lnTo>
                  <a:lnTo>
                    <a:pt x="112032" y="237588"/>
                  </a:lnTo>
                  <a:lnTo>
                    <a:pt x="86995" y="274627"/>
                  </a:lnTo>
                  <a:lnTo>
                    <a:pt x="64811" y="313620"/>
                  </a:lnTo>
                  <a:lnTo>
                    <a:pt x="45630" y="354419"/>
                  </a:lnTo>
                  <a:lnTo>
                    <a:pt x="29602" y="396873"/>
                  </a:lnTo>
                  <a:lnTo>
                    <a:pt x="16875" y="440835"/>
                  </a:lnTo>
                  <a:lnTo>
                    <a:pt x="7599" y="486153"/>
                  </a:lnTo>
                  <a:lnTo>
                    <a:pt x="1924" y="532679"/>
                  </a:lnTo>
                  <a:lnTo>
                    <a:pt x="0" y="580263"/>
                  </a:lnTo>
                  <a:lnTo>
                    <a:pt x="1924" y="627846"/>
                  </a:lnTo>
                  <a:lnTo>
                    <a:pt x="7599" y="674372"/>
                  </a:lnTo>
                  <a:lnTo>
                    <a:pt x="16875" y="719690"/>
                  </a:lnTo>
                  <a:lnTo>
                    <a:pt x="29602" y="763652"/>
                  </a:lnTo>
                  <a:lnTo>
                    <a:pt x="45630" y="806106"/>
                  </a:lnTo>
                  <a:lnTo>
                    <a:pt x="64811" y="846905"/>
                  </a:lnTo>
                  <a:lnTo>
                    <a:pt x="86995" y="885898"/>
                  </a:lnTo>
                  <a:lnTo>
                    <a:pt x="112032" y="922937"/>
                  </a:lnTo>
                  <a:lnTo>
                    <a:pt x="139773" y="957871"/>
                  </a:lnTo>
                  <a:lnTo>
                    <a:pt x="170068" y="990552"/>
                  </a:lnTo>
                  <a:lnTo>
                    <a:pt x="202769" y="1020829"/>
                  </a:lnTo>
                  <a:lnTo>
                    <a:pt x="237725" y="1048554"/>
                  </a:lnTo>
                  <a:lnTo>
                    <a:pt x="274788" y="1073577"/>
                  </a:lnTo>
                  <a:lnTo>
                    <a:pt x="313807" y="1095748"/>
                  </a:lnTo>
                  <a:lnTo>
                    <a:pt x="354633" y="1114919"/>
                  </a:lnTo>
                  <a:lnTo>
                    <a:pt x="397117" y="1130939"/>
                  </a:lnTo>
                  <a:lnTo>
                    <a:pt x="441110" y="1143659"/>
                  </a:lnTo>
                  <a:lnTo>
                    <a:pt x="486461" y="1152930"/>
                  </a:lnTo>
                  <a:lnTo>
                    <a:pt x="533022" y="1158602"/>
                  </a:lnTo>
                  <a:lnTo>
                    <a:pt x="580644" y="1160526"/>
                  </a:lnTo>
                  <a:lnTo>
                    <a:pt x="628265" y="1158602"/>
                  </a:lnTo>
                  <a:lnTo>
                    <a:pt x="674826" y="1152930"/>
                  </a:lnTo>
                  <a:lnTo>
                    <a:pt x="720177" y="1143659"/>
                  </a:lnTo>
                  <a:lnTo>
                    <a:pt x="764170" y="1130939"/>
                  </a:lnTo>
                  <a:lnTo>
                    <a:pt x="806654" y="1114919"/>
                  </a:lnTo>
                  <a:lnTo>
                    <a:pt x="847480" y="1095748"/>
                  </a:lnTo>
                  <a:lnTo>
                    <a:pt x="886499" y="1073577"/>
                  </a:lnTo>
                  <a:lnTo>
                    <a:pt x="923562" y="1048554"/>
                  </a:lnTo>
                  <a:lnTo>
                    <a:pt x="958518" y="1020829"/>
                  </a:lnTo>
                  <a:lnTo>
                    <a:pt x="991219" y="990552"/>
                  </a:lnTo>
                  <a:lnTo>
                    <a:pt x="1021514" y="957871"/>
                  </a:lnTo>
                  <a:lnTo>
                    <a:pt x="1049255" y="922937"/>
                  </a:lnTo>
                  <a:lnTo>
                    <a:pt x="1074292" y="885898"/>
                  </a:lnTo>
                  <a:lnTo>
                    <a:pt x="1096476" y="846905"/>
                  </a:lnTo>
                  <a:lnTo>
                    <a:pt x="1115657" y="806106"/>
                  </a:lnTo>
                  <a:lnTo>
                    <a:pt x="1131685" y="763652"/>
                  </a:lnTo>
                  <a:lnTo>
                    <a:pt x="1144412" y="719690"/>
                  </a:lnTo>
                  <a:lnTo>
                    <a:pt x="1153688" y="674372"/>
                  </a:lnTo>
                  <a:lnTo>
                    <a:pt x="1159363" y="627846"/>
                  </a:lnTo>
                  <a:lnTo>
                    <a:pt x="1161288" y="580263"/>
                  </a:lnTo>
                  <a:lnTo>
                    <a:pt x="1159363" y="532679"/>
                  </a:lnTo>
                  <a:lnTo>
                    <a:pt x="1153688" y="486153"/>
                  </a:lnTo>
                  <a:lnTo>
                    <a:pt x="1144412" y="440835"/>
                  </a:lnTo>
                  <a:lnTo>
                    <a:pt x="1131685" y="396873"/>
                  </a:lnTo>
                  <a:lnTo>
                    <a:pt x="1115657" y="354419"/>
                  </a:lnTo>
                  <a:lnTo>
                    <a:pt x="1096476" y="313620"/>
                  </a:lnTo>
                  <a:lnTo>
                    <a:pt x="1074292" y="274627"/>
                  </a:lnTo>
                  <a:lnTo>
                    <a:pt x="1049255" y="237588"/>
                  </a:lnTo>
                  <a:lnTo>
                    <a:pt x="1021514" y="202654"/>
                  </a:lnTo>
                  <a:lnTo>
                    <a:pt x="991219" y="169973"/>
                  </a:lnTo>
                  <a:lnTo>
                    <a:pt x="958518" y="139696"/>
                  </a:lnTo>
                  <a:lnTo>
                    <a:pt x="923562" y="111971"/>
                  </a:lnTo>
                  <a:lnTo>
                    <a:pt x="886499" y="86948"/>
                  </a:lnTo>
                  <a:lnTo>
                    <a:pt x="847480" y="64777"/>
                  </a:lnTo>
                  <a:lnTo>
                    <a:pt x="806654" y="45606"/>
                  </a:lnTo>
                  <a:lnTo>
                    <a:pt x="764170" y="29586"/>
                  </a:lnTo>
                  <a:lnTo>
                    <a:pt x="720177" y="16866"/>
                  </a:lnTo>
                  <a:lnTo>
                    <a:pt x="674826" y="7595"/>
                  </a:lnTo>
                  <a:lnTo>
                    <a:pt x="628265" y="1923"/>
                  </a:lnTo>
                  <a:lnTo>
                    <a:pt x="580644" y="0"/>
                  </a:lnTo>
                  <a:close/>
                </a:path>
              </a:pathLst>
            </a:custGeom>
            <a:solidFill>
              <a:srgbClr val="4F81BC"/>
            </a:solidFill>
          </p:spPr>
          <p:txBody>
            <a:bodyPr wrap="square" lIns="0" tIns="0" rIns="0" bIns="0" rtlCol="0"/>
            <a:lstStyle/>
            <a:p>
              <a:endParaRPr/>
            </a:p>
          </p:txBody>
        </p:sp>
        <p:sp>
          <p:nvSpPr>
            <p:cNvPr id="10" name="object 10"/>
            <p:cNvSpPr/>
            <p:nvPr/>
          </p:nvSpPr>
          <p:spPr>
            <a:xfrm>
              <a:off x="3428618" y="3651884"/>
              <a:ext cx="1161415" cy="1160780"/>
            </a:xfrm>
            <a:custGeom>
              <a:avLst/>
              <a:gdLst/>
              <a:ahLst/>
              <a:cxnLst/>
              <a:rect l="l" t="t" r="r" b="b"/>
              <a:pathLst>
                <a:path w="1161414" h="1160779">
                  <a:moveTo>
                    <a:pt x="0" y="580263"/>
                  </a:moveTo>
                  <a:lnTo>
                    <a:pt x="1924" y="532679"/>
                  </a:lnTo>
                  <a:lnTo>
                    <a:pt x="7599" y="486153"/>
                  </a:lnTo>
                  <a:lnTo>
                    <a:pt x="16875" y="440835"/>
                  </a:lnTo>
                  <a:lnTo>
                    <a:pt x="29602" y="396873"/>
                  </a:lnTo>
                  <a:lnTo>
                    <a:pt x="45630" y="354419"/>
                  </a:lnTo>
                  <a:lnTo>
                    <a:pt x="64811" y="313620"/>
                  </a:lnTo>
                  <a:lnTo>
                    <a:pt x="86995" y="274627"/>
                  </a:lnTo>
                  <a:lnTo>
                    <a:pt x="112032" y="237588"/>
                  </a:lnTo>
                  <a:lnTo>
                    <a:pt x="139773" y="202654"/>
                  </a:lnTo>
                  <a:lnTo>
                    <a:pt x="170068" y="169973"/>
                  </a:lnTo>
                  <a:lnTo>
                    <a:pt x="202769" y="139696"/>
                  </a:lnTo>
                  <a:lnTo>
                    <a:pt x="237725" y="111971"/>
                  </a:lnTo>
                  <a:lnTo>
                    <a:pt x="274788" y="86948"/>
                  </a:lnTo>
                  <a:lnTo>
                    <a:pt x="313807" y="64777"/>
                  </a:lnTo>
                  <a:lnTo>
                    <a:pt x="354633" y="45606"/>
                  </a:lnTo>
                  <a:lnTo>
                    <a:pt x="397117" y="29586"/>
                  </a:lnTo>
                  <a:lnTo>
                    <a:pt x="441110" y="16866"/>
                  </a:lnTo>
                  <a:lnTo>
                    <a:pt x="486461" y="7595"/>
                  </a:lnTo>
                  <a:lnTo>
                    <a:pt x="533022" y="1923"/>
                  </a:lnTo>
                  <a:lnTo>
                    <a:pt x="580644" y="0"/>
                  </a:lnTo>
                  <a:lnTo>
                    <a:pt x="628265" y="1923"/>
                  </a:lnTo>
                  <a:lnTo>
                    <a:pt x="674826" y="7595"/>
                  </a:lnTo>
                  <a:lnTo>
                    <a:pt x="720177" y="16866"/>
                  </a:lnTo>
                  <a:lnTo>
                    <a:pt x="764170" y="29586"/>
                  </a:lnTo>
                  <a:lnTo>
                    <a:pt x="806654" y="45606"/>
                  </a:lnTo>
                  <a:lnTo>
                    <a:pt x="847480" y="64777"/>
                  </a:lnTo>
                  <a:lnTo>
                    <a:pt x="886499" y="86948"/>
                  </a:lnTo>
                  <a:lnTo>
                    <a:pt x="923562" y="111971"/>
                  </a:lnTo>
                  <a:lnTo>
                    <a:pt x="958518" y="139696"/>
                  </a:lnTo>
                  <a:lnTo>
                    <a:pt x="991219" y="169973"/>
                  </a:lnTo>
                  <a:lnTo>
                    <a:pt x="1021514" y="202654"/>
                  </a:lnTo>
                  <a:lnTo>
                    <a:pt x="1049255" y="237588"/>
                  </a:lnTo>
                  <a:lnTo>
                    <a:pt x="1074292" y="274627"/>
                  </a:lnTo>
                  <a:lnTo>
                    <a:pt x="1096476" y="313620"/>
                  </a:lnTo>
                  <a:lnTo>
                    <a:pt x="1115657" y="354419"/>
                  </a:lnTo>
                  <a:lnTo>
                    <a:pt x="1131685" y="396873"/>
                  </a:lnTo>
                  <a:lnTo>
                    <a:pt x="1144412" y="440835"/>
                  </a:lnTo>
                  <a:lnTo>
                    <a:pt x="1153688" y="486153"/>
                  </a:lnTo>
                  <a:lnTo>
                    <a:pt x="1159363" y="532679"/>
                  </a:lnTo>
                  <a:lnTo>
                    <a:pt x="1161288" y="580263"/>
                  </a:lnTo>
                  <a:lnTo>
                    <a:pt x="1159363" y="627846"/>
                  </a:lnTo>
                  <a:lnTo>
                    <a:pt x="1153688" y="674372"/>
                  </a:lnTo>
                  <a:lnTo>
                    <a:pt x="1144412" y="719690"/>
                  </a:lnTo>
                  <a:lnTo>
                    <a:pt x="1131685" y="763652"/>
                  </a:lnTo>
                  <a:lnTo>
                    <a:pt x="1115657" y="806106"/>
                  </a:lnTo>
                  <a:lnTo>
                    <a:pt x="1096476" y="846905"/>
                  </a:lnTo>
                  <a:lnTo>
                    <a:pt x="1074292" y="885898"/>
                  </a:lnTo>
                  <a:lnTo>
                    <a:pt x="1049255" y="922937"/>
                  </a:lnTo>
                  <a:lnTo>
                    <a:pt x="1021514" y="957871"/>
                  </a:lnTo>
                  <a:lnTo>
                    <a:pt x="991219" y="990552"/>
                  </a:lnTo>
                  <a:lnTo>
                    <a:pt x="958518" y="1020829"/>
                  </a:lnTo>
                  <a:lnTo>
                    <a:pt x="923562" y="1048554"/>
                  </a:lnTo>
                  <a:lnTo>
                    <a:pt x="886499" y="1073577"/>
                  </a:lnTo>
                  <a:lnTo>
                    <a:pt x="847480" y="1095748"/>
                  </a:lnTo>
                  <a:lnTo>
                    <a:pt x="806654" y="1114919"/>
                  </a:lnTo>
                  <a:lnTo>
                    <a:pt x="764170" y="1130939"/>
                  </a:lnTo>
                  <a:lnTo>
                    <a:pt x="720177" y="1143659"/>
                  </a:lnTo>
                  <a:lnTo>
                    <a:pt x="674826" y="1152930"/>
                  </a:lnTo>
                  <a:lnTo>
                    <a:pt x="628265" y="1158602"/>
                  </a:lnTo>
                  <a:lnTo>
                    <a:pt x="580644" y="1160526"/>
                  </a:lnTo>
                  <a:lnTo>
                    <a:pt x="533022" y="1158602"/>
                  </a:lnTo>
                  <a:lnTo>
                    <a:pt x="486461" y="1152930"/>
                  </a:lnTo>
                  <a:lnTo>
                    <a:pt x="441110" y="1143659"/>
                  </a:lnTo>
                  <a:lnTo>
                    <a:pt x="397117" y="1130939"/>
                  </a:lnTo>
                  <a:lnTo>
                    <a:pt x="354633" y="1114919"/>
                  </a:lnTo>
                  <a:lnTo>
                    <a:pt x="313807" y="1095748"/>
                  </a:lnTo>
                  <a:lnTo>
                    <a:pt x="274788" y="1073577"/>
                  </a:lnTo>
                  <a:lnTo>
                    <a:pt x="237725" y="1048554"/>
                  </a:lnTo>
                  <a:lnTo>
                    <a:pt x="202769" y="1020829"/>
                  </a:lnTo>
                  <a:lnTo>
                    <a:pt x="170068" y="990552"/>
                  </a:lnTo>
                  <a:lnTo>
                    <a:pt x="139773" y="957871"/>
                  </a:lnTo>
                  <a:lnTo>
                    <a:pt x="112032" y="922937"/>
                  </a:lnTo>
                  <a:lnTo>
                    <a:pt x="86995" y="885898"/>
                  </a:lnTo>
                  <a:lnTo>
                    <a:pt x="64811" y="846905"/>
                  </a:lnTo>
                  <a:lnTo>
                    <a:pt x="45630" y="806106"/>
                  </a:lnTo>
                  <a:lnTo>
                    <a:pt x="29602" y="763652"/>
                  </a:lnTo>
                  <a:lnTo>
                    <a:pt x="16875" y="719690"/>
                  </a:lnTo>
                  <a:lnTo>
                    <a:pt x="7599" y="674372"/>
                  </a:lnTo>
                  <a:lnTo>
                    <a:pt x="1924" y="627846"/>
                  </a:lnTo>
                  <a:lnTo>
                    <a:pt x="0" y="580263"/>
                  </a:lnTo>
                  <a:close/>
                </a:path>
              </a:pathLst>
            </a:custGeom>
            <a:ln w="25146">
              <a:solidFill>
                <a:srgbClr val="FFFFFF"/>
              </a:solidFill>
            </a:ln>
          </p:spPr>
          <p:txBody>
            <a:bodyPr wrap="square" lIns="0" tIns="0" rIns="0" bIns="0" rtlCol="0"/>
            <a:lstStyle/>
            <a:p>
              <a:endParaRPr/>
            </a:p>
          </p:txBody>
        </p:sp>
        <p:sp>
          <p:nvSpPr>
            <p:cNvPr id="11" name="object 11"/>
            <p:cNvSpPr/>
            <p:nvPr/>
          </p:nvSpPr>
          <p:spPr>
            <a:xfrm>
              <a:off x="1832990" y="5178170"/>
              <a:ext cx="1160780" cy="1160780"/>
            </a:xfrm>
            <a:custGeom>
              <a:avLst/>
              <a:gdLst/>
              <a:ahLst/>
              <a:cxnLst/>
              <a:rect l="l" t="t" r="r" b="b"/>
              <a:pathLst>
                <a:path w="1160780" h="1160779">
                  <a:moveTo>
                    <a:pt x="580263" y="0"/>
                  </a:moveTo>
                  <a:lnTo>
                    <a:pt x="532679" y="1923"/>
                  </a:lnTo>
                  <a:lnTo>
                    <a:pt x="486153" y="7595"/>
                  </a:lnTo>
                  <a:lnTo>
                    <a:pt x="440835" y="16866"/>
                  </a:lnTo>
                  <a:lnTo>
                    <a:pt x="396873" y="29586"/>
                  </a:lnTo>
                  <a:lnTo>
                    <a:pt x="354419" y="45606"/>
                  </a:lnTo>
                  <a:lnTo>
                    <a:pt x="313620" y="64777"/>
                  </a:lnTo>
                  <a:lnTo>
                    <a:pt x="274627" y="86948"/>
                  </a:lnTo>
                  <a:lnTo>
                    <a:pt x="237588" y="111971"/>
                  </a:lnTo>
                  <a:lnTo>
                    <a:pt x="202654" y="139696"/>
                  </a:lnTo>
                  <a:lnTo>
                    <a:pt x="169973" y="169973"/>
                  </a:lnTo>
                  <a:lnTo>
                    <a:pt x="139696" y="202654"/>
                  </a:lnTo>
                  <a:lnTo>
                    <a:pt x="111971" y="237588"/>
                  </a:lnTo>
                  <a:lnTo>
                    <a:pt x="86948" y="274627"/>
                  </a:lnTo>
                  <a:lnTo>
                    <a:pt x="64777" y="313620"/>
                  </a:lnTo>
                  <a:lnTo>
                    <a:pt x="45606" y="354419"/>
                  </a:lnTo>
                  <a:lnTo>
                    <a:pt x="29586" y="396873"/>
                  </a:lnTo>
                  <a:lnTo>
                    <a:pt x="16866" y="440835"/>
                  </a:lnTo>
                  <a:lnTo>
                    <a:pt x="7595" y="486153"/>
                  </a:lnTo>
                  <a:lnTo>
                    <a:pt x="1923" y="532679"/>
                  </a:lnTo>
                  <a:lnTo>
                    <a:pt x="0" y="580262"/>
                  </a:lnTo>
                  <a:lnTo>
                    <a:pt x="1923" y="627853"/>
                  </a:lnTo>
                  <a:lnTo>
                    <a:pt x="7595" y="674385"/>
                  </a:lnTo>
                  <a:lnTo>
                    <a:pt x="16866" y="719707"/>
                  </a:lnTo>
                  <a:lnTo>
                    <a:pt x="29586" y="763671"/>
                  </a:lnTo>
                  <a:lnTo>
                    <a:pt x="45606" y="806128"/>
                  </a:lnTo>
                  <a:lnTo>
                    <a:pt x="64777" y="846927"/>
                  </a:lnTo>
                  <a:lnTo>
                    <a:pt x="86948" y="885921"/>
                  </a:lnTo>
                  <a:lnTo>
                    <a:pt x="111971" y="922959"/>
                  </a:lnTo>
                  <a:lnTo>
                    <a:pt x="139696" y="957892"/>
                  </a:lnTo>
                  <a:lnTo>
                    <a:pt x="169973" y="990571"/>
                  </a:lnTo>
                  <a:lnTo>
                    <a:pt x="202654" y="1020846"/>
                  </a:lnTo>
                  <a:lnTo>
                    <a:pt x="237588" y="1048569"/>
                  </a:lnTo>
                  <a:lnTo>
                    <a:pt x="274627" y="1073589"/>
                  </a:lnTo>
                  <a:lnTo>
                    <a:pt x="313620" y="1095758"/>
                  </a:lnTo>
                  <a:lnTo>
                    <a:pt x="354419" y="1114926"/>
                  </a:lnTo>
                  <a:lnTo>
                    <a:pt x="396873" y="1130943"/>
                  </a:lnTo>
                  <a:lnTo>
                    <a:pt x="440835" y="1143662"/>
                  </a:lnTo>
                  <a:lnTo>
                    <a:pt x="486153" y="1152931"/>
                  </a:lnTo>
                  <a:lnTo>
                    <a:pt x="532679" y="1158602"/>
                  </a:lnTo>
                  <a:lnTo>
                    <a:pt x="580263" y="1160525"/>
                  </a:lnTo>
                  <a:lnTo>
                    <a:pt x="627846" y="1158602"/>
                  </a:lnTo>
                  <a:lnTo>
                    <a:pt x="674372" y="1152931"/>
                  </a:lnTo>
                  <a:lnTo>
                    <a:pt x="719690" y="1143662"/>
                  </a:lnTo>
                  <a:lnTo>
                    <a:pt x="763652" y="1130943"/>
                  </a:lnTo>
                  <a:lnTo>
                    <a:pt x="806106" y="1114926"/>
                  </a:lnTo>
                  <a:lnTo>
                    <a:pt x="846905" y="1095758"/>
                  </a:lnTo>
                  <a:lnTo>
                    <a:pt x="885898" y="1073589"/>
                  </a:lnTo>
                  <a:lnTo>
                    <a:pt x="922937" y="1048569"/>
                  </a:lnTo>
                  <a:lnTo>
                    <a:pt x="957871" y="1020846"/>
                  </a:lnTo>
                  <a:lnTo>
                    <a:pt x="990552" y="990571"/>
                  </a:lnTo>
                  <a:lnTo>
                    <a:pt x="1020829" y="957892"/>
                  </a:lnTo>
                  <a:lnTo>
                    <a:pt x="1048554" y="922959"/>
                  </a:lnTo>
                  <a:lnTo>
                    <a:pt x="1073577" y="885921"/>
                  </a:lnTo>
                  <a:lnTo>
                    <a:pt x="1095748" y="846927"/>
                  </a:lnTo>
                  <a:lnTo>
                    <a:pt x="1114919" y="806128"/>
                  </a:lnTo>
                  <a:lnTo>
                    <a:pt x="1130939" y="763671"/>
                  </a:lnTo>
                  <a:lnTo>
                    <a:pt x="1143659" y="719707"/>
                  </a:lnTo>
                  <a:lnTo>
                    <a:pt x="1152930" y="674385"/>
                  </a:lnTo>
                  <a:lnTo>
                    <a:pt x="1158602" y="627853"/>
                  </a:lnTo>
                  <a:lnTo>
                    <a:pt x="1160526" y="580262"/>
                  </a:lnTo>
                  <a:lnTo>
                    <a:pt x="1158602" y="532679"/>
                  </a:lnTo>
                  <a:lnTo>
                    <a:pt x="1152930" y="486153"/>
                  </a:lnTo>
                  <a:lnTo>
                    <a:pt x="1143659" y="440835"/>
                  </a:lnTo>
                  <a:lnTo>
                    <a:pt x="1130939" y="396873"/>
                  </a:lnTo>
                  <a:lnTo>
                    <a:pt x="1114919" y="354419"/>
                  </a:lnTo>
                  <a:lnTo>
                    <a:pt x="1095748" y="313620"/>
                  </a:lnTo>
                  <a:lnTo>
                    <a:pt x="1073577" y="274627"/>
                  </a:lnTo>
                  <a:lnTo>
                    <a:pt x="1048554" y="237588"/>
                  </a:lnTo>
                  <a:lnTo>
                    <a:pt x="1020829" y="202654"/>
                  </a:lnTo>
                  <a:lnTo>
                    <a:pt x="990552" y="169973"/>
                  </a:lnTo>
                  <a:lnTo>
                    <a:pt x="957871" y="139696"/>
                  </a:lnTo>
                  <a:lnTo>
                    <a:pt x="922937" y="111971"/>
                  </a:lnTo>
                  <a:lnTo>
                    <a:pt x="885898" y="86948"/>
                  </a:lnTo>
                  <a:lnTo>
                    <a:pt x="846905" y="64777"/>
                  </a:lnTo>
                  <a:lnTo>
                    <a:pt x="806106" y="45606"/>
                  </a:lnTo>
                  <a:lnTo>
                    <a:pt x="763652" y="29586"/>
                  </a:lnTo>
                  <a:lnTo>
                    <a:pt x="719690" y="16866"/>
                  </a:lnTo>
                  <a:lnTo>
                    <a:pt x="674372" y="7595"/>
                  </a:lnTo>
                  <a:lnTo>
                    <a:pt x="627846" y="1923"/>
                  </a:lnTo>
                  <a:lnTo>
                    <a:pt x="580263" y="0"/>
                  </a:lnTo>
                  <a:close/>
                </a:path>
              </a:pathLst>
            </a:custGeom>
            <a:solidFill>
              <a:srgbClr val="C0504D"/>
            </a:solidFill>
          </p:spPr>
          <p:txBody>
            <a:bodyPr wrap="square" lIns="0" tIns="0" rIns="0" bIns="0" rtlCol="0"/>
            <a:lstStyle/>
            <a:p>
              <a:endParaRPr/>
            </a:p>
          </p:txBody>
        </p:sp>
        <p:sp>
          <p:nvSpPr>
            <p:cNvPr id="12" name="object 12"/>
            <p:cNvSpPr/>
            <p:nvPr/>
          </p:nvSpPr>
          <p:spPr>
            <a:xfrm>
              <a:off x="1832990" y="5178170"/>
              <a:ext cx="1160780" cy="1160780"/>
            </a:xfrm>
            <a:custGeom>
              <a:avLst/>
              <a:gdLst/>
              <a:ahLst/>
              <a:cxnLst/>
              <a:rect l="l" t="t" r="r" b="b"/>
              <a:pathLst>
                <a:path w="1160780" h="1160779">
                  <a:moveTo>
                    <a:pt x="0" y="580262"/>
                  </a:moveTo>
                  <a:lnTo>
                    <a:pt x="1923" y="532679"/>
                  </a:lnTo>
                  <a:lnTo>
                    <a:pt x="7595" y="486153"/>
                  </a:lnTo>
                  <a:lnTo>
                    <a:pt x="16866" y="440835"/>
                  </a:lnTo>
                  <a:lnTo>
                    <a:pt x="29586" y="396873"/>
                  </a:lnTo>
                  <a:lnTo>
                    <a:pt x="45606" y="354419"/>
                  </a:lnTo>
                  <a:lnTo>
                    <a:pt x="64777" y="313620"/>
                  </a:lnTo>
                  <a:lnTo>
                    <a:pt x="86948" y="274627"/>
                  </a:lnTo>
                  <a:lnTo>
                    <a:pt x="111971" y="237588"/>
                  </a:lnTo>
                  <a:lnTo>
                    <a:pt x="139696" y="202654"/>
                  </a:lnTo>
                  <a:lnTo>
                    <a:pt x="169973" y="169973"/>
                  </a:lnTo>
                  <a:lnTo>
                    <a:pt x="202654" y="139696"/>
                  </a:lnTo>
                  <a:lnTo>
                    <a:pt x="237588" y="111971"/>
                  </a:lnTo>
                  <a:lnTo>
                    <a:pt x="274627" y="86948"/>
                  </a:lnTo>
                  <a:lnTo>
                    <a:pt x="313620" y="64777"/>
                  </a:lnTo>
                  <a:lnTo>
                    <a:pt x="354419" y="45606"/>
                  </a:lnTo>
                  <a:lnTo>
                    <a:pt x="396873" y="29586"/>
                  </a:lnTo>
                  <a:lnTo>
                    <a:pt x="440835" y="16866"/>
                  </a:lnTo>
                  <a:lnTo>
                    <a:pt x="486153" y="7595"/>
                  </a:lnTo>
                  <a:lnTo>
                    <a:pt x="532679" y="1923"/>
                  </a:lnTo>
                  <a:lnTo>
                    <a:pt x="580263" y="0"/>
                  </a:lnTo>
                  <a:lnTo>
                    <a:pt x="627846" y="1923"/>
                  </a:lnTo>
                  <a:lnTo>
                    <a:pt x="674372" y="7595"/>
                  </a:lnTo>
                  <a:lnTo>
                    <a:pt x="719690" y="16866"/>
                  </a:lnTo>
                  <a:lnTo>
                    <a:pt x="763652" y="29586"/>
                  </a:lnTo>
                  <a:lnTo>
                    <a:pt x="806106" y="45606"/>
                  </a:lnTo>
                  <a:lnTo>
                    <a:pt x="846905" y="64777"/>
                  </a:lnTo>
                  <a:lnTo>
                    <a:pt x="885898" y="86948"/>
                  </a:lnTo>
                  <a:lnTo>
                    <a:pt x="922937" y="111971"/>
                  </a:lnTo>
                  <a:lnTo>
                    <a:pt x="957871" y="139696"/>
                  </a:lnTo>
                  <a:lnTo>
                    <a:pt x="990552" y="169973"/>
                  </a:lnTo>
                  <a:lnTo>
                    <a:pt x="1020829" y="202654"/>
                  </a:lnTo>
                  <a:lnTo>
                    <a:pt x="1048554" y="237588"/>
                  </a:lnTo>
                  <a:lnTo>
                    <a:pt x="1073577" y="274627"/>
                  </a:lnTo>
                  <a:lnTo>
                    <a:pt x="1095748" y="313620"/>
                  </a:lnTo>
                  <a:lnTo>
                    <a:pt x="1114919" y="354419"/>
                  </a:lnTo>
                  <a:lnTo>
                    <a:pt x="1130939" y="396873"/>
                  </a:lnTo>
                  <a:lnTo>
                    <a:pt x="1143659" y="440835"/>
                  </a:lnTo>
                  <a:lnTo>
                    <a:pt x="1152930" y="486153"/>
                  </a:lnTo>
                  <a:lnTo>
                    <a:pt x="1158602" y="532679"/>
                  </a:lnTo>
                  <a:lnTo>
                    <a:pt x="1160526" y="580262"/>
                  </a:lnTo>
                  <a:lnTo>
                    <a:pt x="1158602" y="627853"/>
                  </a:lnTo>
                  <a:lnTo>
                    <a:pt x="1152930" y="674385"/>
                  </a:lnTo>
                  <a:lnTo>
                    <a:pt x="1143659" y="719707"/>
                  </a:lnTo>
                  <a:lnTo>
                    <a:pt x="1130939" y="763671"/>
                  </a:lnTo>
                  <a:lnTo>
                    <a:pt x="1114919" y="806128"/>
                  </a:lnTo>
                  <a:lnTo>
                    <a:pt x="1095748" y="846927"/>
                  </a:lnTo>
                  <a:lnTo>
                    <a:pt x="1073577" y="885921"/>
                  </a:lnTo>
                  <a:lnTo>
                    <a:pt x="1048554" y="922959"/>
                  </a:lnTo>
                  <a:lnTo>
                    <a:pt x="1020829" y="957892"/>
                  </a:lnTo>
                  <a:lnTo>
                    <a:pt x="990552" y="990571"/>
                  </a:lnTo>
                  <a:lnTo>
                    <a:pt x="957871" y="1020846"/>
                  </a:lnTo>
                  <a:lnTo>
                    <a:pt x="922937" y="1048569"/>
                  </a:lnTo>
                  <a:lnTo>
                    <a:pt x="885898" y="1073589"/>
                  </a:lnTo>
                  <a:lnTo>
                    <a:pt x="846905" y="1095758"/>
                  </a:lnTo>
                  <a:lnTo>
                    <a:pt x="806106" y="1114926"/>
                  </a:lnTo>
                  <a:lnTo>
                    <a:pt x="763652" y="1130943"/>
                  </a:lnTo>
                  <a:lnTo>
                    <a:pt x="719690" y="1143662"/>
                  </a:lnTo>
                  <a:lnTo>
                    <a:pt x="674372" y="1152931"/>
                  </a:lnTo>
                  <a:lnTo>
                    <a:pt x="627846" y="1158602"/>
                  </a:lnTo>
                  <a:lnTo>
                    <a:pt x="580263" y="1160525"/>
                  </a:lnTo>
                  <a:lnTo>
                    <a:pt x="532679" y="1158602"/>
                  </a:lnTo>
                  <a:lnTo>
                    <a:pt x="486153" y="1152931"/>
                  </a:lnTo>
                  <a:lnTo>
                    <a:pt x="440835" y="1143662"/>
                  </a:lnTo>
                  <a:lnTo>
                    <a:pt x="396873" y="1130943"/>
                  </a:lnTo>
                  <a:lnTo>
                    <a:pt x="354419" y="1114926"/>
                  </a:lnTo>
                  <a:lnTo>
                    <a:pt x="313620" y="1095758"/>
                  </a:lnTo>
                  <a:lnTo>
                    <a:pt x="274627" y="1073589"/>
                  </a:lnTo>
                  <a:lnTo>
                    <a:pt x="237588" y="1048569"/>
                  </a:lnTo>
                  <a:lnTo>
                    <a:pt x="202654" y="1020846"/>
                  </a:lnTo>
                  <a:lnTo>
                    <a:pt x="169973" y="990571"/>
                  </a:lnTo>
                  <a:lnTo>
                    <a:pt x="139696" y="957892"/>
                  </a:lnTo>
                  <a:lnTo>
                    <a:pt x="111971" y="922959"/>
                  </a:lnTo>
                  <a:lnTo>
                    <a:pt x="86948" y="885921"/>
                  </a:lnTo>
                  <a:lnTo>
                    <a:pt x="64777" y="846927"/>
                  </a:lnTo>
                  <a:lnTo>
                    <a:pt x="45606" y="806128"/>
                  </a:lnTo>
                  <a:lnTo>
                    <a:pt x="29586" y="763671"/>
                  </a:lnTo>
                  <a:lnTo>
                    <a:pt x="16866" y="719707"/>
                  </a:lnTo>
                  <a:lnTo>
                    <a:pt x="7595" y="674385"/>
                  </a:lnTo>
                  <a:lnTo>
                    <a:pt x="1923" y="627853"/>
                  </a:lnTo>
                  <a:lnTo>
                    <a:pt x="0" y="580262"/>
                  </a:lnTo>
                  <a:close/>
                </a:path>
              </a:pathLst>
            </a:custGeom>
            <a:ln w="25146">
              <a:solidFill>
                <a:srgbClr val="FFFFFF"/>
              </a:solidFill>
            </a:ln>
          </p:spPr>
          <p:txBody>
            <a:bodyPr wrap="square" lIns="0" tIns="0" rIns="0" bIns="0" rtlCol="0"/>
            <a:lstStyle/>
            <a:p>
              <a:endParaRPr/>
            </a:p>
          </p:txBody>
        </p:sp>
        <p:sp>
          <p:nvSpPr>
            <p:cNvPr id="13" name="object 13"/>
            <p:cNvSpPr/>
            <p:nvPr/>
          </p:nvSpPr>
          <p:spPr>
            <a:xfrm>
              <a:off x="5025008" y="5178170"/>
              <a:ext cx="1160780" cy="1160780"/>
            </a:xfrm>
            <a:custGeom>
              <a:avLst/>
              <a:gdLst/>
              <a:ahLst/>
              <a:cxnLst/>
              <a:rect l="l" t="t" r="r" b="b"/>
              <a:pathLst>
                <a:path w="1160779" h="1160779">
                  <a:moveTo>
                    <a:pt x="580263" y="0"/>
                  </a:moveTo>
                  <a:lnTo>
                    <a:pt x="532679" y="1923"/>
                  </a:lnTo>
                  <a:lnTo>
                    <a:pt x="486153" y="7595"/>
                  </a:lnTo>
                  <a:lnTo>
                    <a:pt x="440835" y="16866"/>
                  </a:lnTo>
                  <a:lnTo>
                    <a:pt x="396873" y="29586"/>
                  </a:lnTo>
                  <a:lnTo>
                    <a:pt x="354419" y="45606"/>
                  </a:lnTo>
                  <a:lnTo>
                    <a:pt x="313620" y="64777"/>
                  </a:lnTo>
                  <a:lnTo>
                    <a:pt x="274627" y="86948"/>
                  </a:lnTo>
                  <a:lnTo>
                    <a:pt x="237588" y="111971"/>
                  </a:lnTo>
                  <a:lnTo>
                    <a:pt x="202654" y="139696"/>
                  </a:lnTo>
                  <a:lnTo>
                    <a:pt x="169973" y="169973"/>
                  </a:lnTo>
                  <a:lnTo>
                    <a:pt x="139696" y="202654"/>
                  </a:lnTo>
                  <a:lnTo>
                    <a:pt x="111971" y="237588"/>
                  </a:lnTo>
                  <a:lnTo>
                    <a:pt x="86948" y="274627"/>
                  </a:lnTo>
                  <a:lnTo>
                    <a:pt x="64777" y="313620"/>
                  </a:lnTo>
                  <a:lnTo>
                    <a:pt x="45606" y="354419"/>
                  </a:lnTo>
                  <a:lnTo>
                    <a:pt x="29586" y="396873"/>
                  </a:lnTo>
                  <a:lnTo>
                    <a:pt x="16866" y="440835"/>
                  </a:lnTo>
                  <a:lnTo>
                    <a:pt x="7595" y="486153"/>
                  </a:lnTo>
                  <a:lnTo>
                    <a:pt x="1923" y="532679"/>
                  </a:lnTo>
                  <a:lnTo>
                    <a:pt x="0" y="580262"/>
                  </a:lnTo>
                  <a:lnTo>
                    <a:pt x="1923" y="627853"/>
                  </a:lnTo>
                  <a:lnTo>
                    <a:pt x="7595" y="674385"/>
                  </a:lnTo>
                  <a:lnTo>
                    <a:pt x="16866" y="719707"/>
                  </a:lnTo>
                  <a:lnTo>
                    <a:pt x="29586" y="763671"/>
                  </a:lnTo>
                  <a:lnTo>
                    <a:pt x="45606" y="806128"/>
                  </a:lnTo>
                  <a:lnTo>
                    <a:pt x="64777" y="846927"/>
                  </a:lnTo>
                  <a:lnTo>
                    <a:pt x="86948" y="885921"/>
                  </a:lnTo>
                  <a:lnTo>
                    <a:pt x="111971" y="922959"/>
                  </a:lnTo>
                  <a:lnTo>
                    <a:pt x="139696" y="957892"/>
                  </a:lnTo>
                  <a:lnTo>
                    <a:pt x="169973" y="990571"/>
                  </a:lnTo>
                  <a:lnTo>
                    <a:pt x="202654" y="1020846"/>
                  </a:lnTo>
                  <a:lnTo>
                    <a:pt x="237588" y="1048569"/>
                  </a:lnTo>
                  <a:lnTo>
                    <a:pt x="274627" y="1073589"/>
                  </a:lnTo>
                  <a:lnTo>
                    <a:pt x="313620" y="1095758"/>
                  </a:lnTo>
                  <a:lnTo>
                    <a:pt x="354419" y="1114926"/>
                  </a:lnTo>
                  <a:lnTo>
                    <a:pt x="396873" y="1130943"/>
                  </a:lnTo>
                  <a:lnTo>
                    <a:pt x="440835" y="1143662"/>
                  </a:lnTo>
                  <a:lnTo>
                    <a:pt x="486153" y="1152931"/>
                  </a:lnTo>
                  <a:lnTo>
                    <a:pt x="532679" y="1158602"/>
                  </a:lnTo>
                  <a:lnTo>
                    <a:pt x="580263" y="1160525"/>
                  </a:lnTo>
                  <a:lnTo>
                    <a:pt x="627846" y="1158602"/>
                  </a:lnTo>
                  <a:lnTo>
                    <a:pt x="674372" y="1152931"/>
                  </a:lnTo>
                  <a:lnTo>
                    <a:pt x="719690" y="1143662"/>
                  </a:lnTo>
                  <a:lnTo>
                    <a:pt x="763652" y="1130943"/>
                  </a:lnTo>
                  <a:lnTo>
                    <a:pt x="806106" y="1114926"/>
                  </a:lnTo>
                  <a:lnTo>
                    <a:pt x="846905" y="1095758"/>
                  </a:lnTo>
                  <a:lnTo>
                    <a:pt x="885898" y="1073589"/>
                  </a:lnTo>
                  <a:lnTo>
                    <a:pt x="922937" y="1048569"/>
                  </a:lnTo>
                  <a:lnTo>
                    <a:pt x="957871" y="1020846"/>
                  </a:lnTo>
                  <a:lnTo>
                    <a:pt x="990552" y="990571"/>
                  </a:lnTo>
                  <a:lnTo>
                    <a:pt x="1020829" y="957892"/>
                  </a:lnTo>
                  <a:lnTo>
                    <a:pt x="1048554" y="922959"/>
                  </a:lnTo>
                  <a:lnTo>
                    <a:pt x="1073577" y="885921"/>
                  </a:lnTo>
                  <a:lnTo>
                    <a:pt x="1095748" y="846927"/>
                  </a:lnTo>
                  <a:lnTo>
                    <a:pt x="1114919" y="806128"/>
                  </a:lnTo>
                  <a:lnTo>
                    <a:pt x="1130939" y="763671"/>
                  </a:lnTo>
                  <a:lnTo>
                    <a:pt x="1143659" y="719707"/>
                  </a:lnTo>
                  <a:lnTo>
                    <a:pt x="1152930" y="674385"/>
                  </a:lnTo>
                  <a:lnTo>
                    <a:pt x="1158602" y="627853"/>
                  </a:lnTo>
                  <a:lnTo>
                    <a:pt x="1160526" y="580262"/>
                  </a:lnTo>
                  <a:lnTo>
                    <a:pt x="1158602" y="532679"/>
                  </a:lnTo>
                  <a:lnTo>
                    <a:pt x="1152930" y="486153"/>
                  </a:lnTo>
                  <a:lnTo>
                    <a:pt x="1143659" y="440835"/>
                  </a:lnTo>
                  <a:lnTo>
                    <a:pt x="1130939" y="396873"/>
                  </a:lnTo>
                  <a:lnTo>
                    <a:pt x="1114919" y="354419"/>
                  </a:lnTo>
                  <a:lnTo>
                    <a:pt x="1095748" y="313620"/>
                  </a:lnTo>
                  <a:lnTo>
                    <a:pt x="1073577" y="274627"/>
                  </a:lnTo>
                  <a:lnTo>
                    <a:pt x="1048554" y="237588"/>
                  </a:lnTo>
                  <a:lnTo>
                    <a:pt x="1020829" y="202654"/>
                  </a:lnTo>
                  <a:lnTo>
                    <a:pt x="990552" y="169973"/>
                  </a:lnTo>
                  <a:lnTo>
                    <a:pt x="957871" y="139696"/>
                  </a:lnTo>
                  <a:lnTo>
                    <a:pt x="922937" y="111971"/>
                  </a:lnTo>
                  <a:lnTo>
                    <a:pt x="885898" y="86948"/>
                  </a:lnTo>
                  <a:lnTo>
                    <a:pt x="846905" y="64777"/>
                  </a:lnTo>
                  <a:lnTo>
                    <a:pt x="806106" y="45606"/>
                  </a:lnTo>
                  <a:lnTo>
                    <a:pt x="763652" y="29586"/>
                  </a:lnTo>
                  <a:lnTo>
                    <a:pt x="719690" y="16866"/>
                  </a:lnTo>
                  <a:lnTo>
                    <a:pt x="674372" y="7595"/>
                  </a:lnTo>
                  <a:lnTo>
                    <a:pt x="627846" y="1923"/>
                  </a:lnTo>
                  <a:lnTo>
                    <a:pt x="580263" y="0"/>
                  </a:lnTo>
                  <a:close/>
                </a:path>
              </a:pathLst>
            </a:custGeom>
            <a:solidFill>
              <a:srgbClr val="C0504D"/>
            </a:solidFill>
          </p:spPr>
          <p:txBody>
            <a:bodyPr wrap="square" lIns="0" tIns="0" rIns="0" bIns="0" rtlCol="0"/>
            <a:lstStyle/>
            <a:p>
              <a:endParaRPr/>
            </a:p>
          </p:txBody>
        </p:sp>
        <p:sp>
          <p:nvSpPr>
            <p:cNvPr id="14" name="object 14"/>
            <p:cNvSpPr/>
            <p:nvPr/>
          </p:nvSpPr>
          <p:spPr>
            <a:xfrm>
              <a:off x="5025008" y="5178170"/>
              <a:ext cx="1160780" cy="1160780"/>
            </a:xfrm>
            <a:custGeom>
              <a:avLst/>
              <a:gdLst/>
              <a:ahLst/>
              <a:cxnLst/>
              <a:rect l="l" t="t" r="r" b="b"/>
              <a:pathLst>
                <a:path w="1160779" h="1160779">
                  <a:moveTo>
                    <a:pt x="0" y="580262"/>
                  </a:moveTo>
                  <a:lnTo>
                    <a:pt x="1923" y="532679"/>
                  </a:lnTo>
                  <a:lnTo>
                    <a:pt x="7595" y="486153"/>
                  </a:lnTo>
                  <a:lnTo>
                    <a:pt x="16866" y="440835"/>
                  </a:lnTo>
                  <a:lnTo>
                    <a:pt x="29586" y="396873"/>
                  </a:lnTo>
                  <a:lnTo>
                    <a:pt x="45606" y="354419"/>
                  </a:lnTo>
                  <a:lnTo>
                    <a:pt x="64777" y="313620"/>
                  </a:lnTo>
                  <a:lnTo>
                    <a:pt x="86948" y="274627"/>
                  </a:lnTo>
                  <a:lnTo>
                    <a:pt x="111971" y="237588"/>
                  </a:lnTo>
                  <a:lnTo>
                    <a:pt x="139696" y="202654"/>
                  </a:lnTo>
                  <a:lnTo>
                    <a:pt x="169973" y="169973"/>
                  </a:lnTo>
                  <a:lnTo>
                    <a:pt x="202654" y="139696"/>
                  </a:lnTo>
                  <a:lnTo>
                    <a:pt x="237588" y="111971"/>
                  </a:lnTo>
                  <a:lnTo>
                    <a:pt x="274627" y="86948"/>
                  </a:lnTo>
                  <a:lnTo>
                    <a:pt x="313620" y="64777"/>
                  </a:lnTo>
                  <a:lnTo>
                    <a:pt x="354419" y="45606"/>
                  </a:lnTo>
                  <a:lnTo>
                    <a:pt x="396873" y="29586"/>
                  </a:lnTo>
                  <a:lnTo>
                    <a:pt x="440835" y="16866"/>
                  </a:lnTo>
                  <a:lnTo>
                    <a:pt x="486153" y="7595"/>
                  </a:lnTo>
                  <a:lnTo>
                    <a:pt x="532679" y="1923"/>
                  </a:lnTo>
                  <a:lnTo>
                    <a:pt x="580263" y="0"/>
                  </a:lnTo>
                  <a:lnTo>
                    <a:pt x="627846" y="1923"/>
                  </a:lnTo>
                  <a:lnTo>
                    <a:pt x="674372" y="7595"/>
                  </a:lnTo>
                  <a:lnTo>
                    <a:pt x="719690" y="16866"/>
                  </a:lnTo>
                  <a:lnTo>
                    <a:pt x="763652" y="29586"/>
                  </a:lnTo>
                  <a:lnTo>
                    <a:pt x="806106" y="45606"/>
                  </a:lnTo>
                  <a:lnTo>
                    <a:pt x="846905" y="64777"/>
                  </a:lnTo>
                  <a:lnTo>
                    <a:pt x="885898" y="86948"/>
                  </a:lnTo>
                  <a:lnTo>
                    <a:pt x="922937" y="111971"/>
                  </a:lnTo>
                  <a:lnTo>
                    <a:pt x="957871" y="139696"/>
                  </a:lnTo>
                  <a:lnTo>
                    <a:pt x="990552" y="169973"/>
                  </a:lnTo>
                  <a:lnTo>
                    <a:pt x="1020829" y="202654"/>
                  </a:lnTo>
                  <a:lnTo>
                    <a:pt x="1048554" y="237588"/>
                  </a:lnTo>
                  <a:lnTo>
                    <a:pt x="1073577" y="274627"/>
                  </a:lnTo>
                  <a:lnTo>
                    <a:pt x="1095748" y="313620"/>
                  </a:lnTo>
                  <a:lnTo>
                    <a:pt x="1114919" y="354419"/>
                  </a:lnTo>
                  <a:lnTo>
                    <a:pt x="1130939" y="396873"/>
                  </a:lnTo>
                  <a:lnTo>
                    <a:pt x="1143659" y="440835"/>
                  </a:lnTo>
                  <a:lnTo>
                    <a:pt x="1152930" y="486153"/>
                  </a:lnTo>
                  <a:lnTo>
                    <a:pt x="1158602" y="532679"/>
                  </a:lnTo>
                  <a:lnTo>
                    <a:pt x="1160526" y="580262"/>
                  </a:lnTo>
                  <a:lnTo>
                    <a:pt x="1158602" y="627853"/>
                  </a:lnTo>
                  <a:lnTo>
                    <a:pt x="1152930" y="674385"/>
                  </a:lnTo>
                  <a:lnTo>
                    <a:pt x="1143659" y="719707"/>
                  </a:lnTo>
                  <a:lnTo>
                    <a:pt x="1130939" y="763671"/>
                  </a:lnTo>
                  <a:lnTo>
                    <a:pt x="1114919" y="806128"/>
                  </a:lnTo>
                  <a:lnTo>
                    <a:pt x="1095748" y="846927"/>
                  </a:lnTo>
                  <a:lnTo>
                    <a:pt x="1073577" y="885921"/>
                  </a:lnTo>
                  <a:lnTo>
                    <a:pt x="1048554" y="922959"/>
                  </a:lnTo>
                  <a:lnTo>
                    <a:pt x="1020829" y="957892"/>
                  </a:lnTo>
                  <a:lnTo>
                    <a:pt x="990552" y="990571"/>
                  </a:lnTo>
                  <a:lnTo>
                    <a:pt x="957871" y="1020846"/>
                  </a:lnTo>
                  <a:lnTo>
                    <a:pt x="922937" y="1048569"/>
                  </a:lnTo>
                  <a:lnTo>
                    <a:pt x="885898" y="1073589"/>
                  </a:lnTo>
                  <a:lnTo>
                    <a:pt x="846905" y="1095758"/>
                  </a:lnTo>
                  <a:lnTo>
                    <a:pt x="806106" y="1114926"/>
                  </a:lnTo>
                  <a:lnTo>
                    <a:pt x="763652" y="1130943"/>
                  </a:lnTo>
                  <a:lnTo>
                    <a:pt x="719690" y="1143662"/>
                  </a:lnTo>
                  <a:lnTo>
                    <a:pt x="674372" y="1152931"/>
                  </a:lnTo>
                  <a:lnTo>
                    <a:pt x="627846" y="1158602"/>
                  </a:lnTo>
                  <a:lnTo>
                    <a:pt x="580263" y="1160525"/>
                  </a:lnTo>
                  <a:lnTo>
                    <a:pt x="532679" y="1158602"/>
                  </a:lnTo>
                  <a:lnTo>
                    <a:pt x="486153" y="1152931"/>
                  </a:lnTo>
                  <a:lnTo>
                    <a:pt x="440835" y="1143662"/>
                  </a:lnTo>
                  <a:lnTo>
                    <a:pt x="396873" y="1130943"/>
                  </a:lnTo>
                  <a:lnTo>
                    <a:pt x="354419" y="1114926"/>
                  </a:lnTo>
                  <a:lnTo>
                    <a:pt x="313620" y="1095758"/>
                  </a:lnTo>
                  <a:lnTo>
                    <a:pt x="274627" y="1073589"/>
                  </a:lnTo>
                  <a:lnTo>
                    <a:pt x="237588" y="1048569"/>
                  </a:lnTo>
                  <a:lnTo>
                    <a:pt x="202654" y="1020846"/>
                  </a:lnTo>
                  <a:lnTo>
                    <a:pt x="169973" y="990571"/>
                  </a:lnTo>
                  <a:lnTo>
                    <a:pt x="139696" y="957892"/>
                  </a:lnTo>
                  <a:lnTo>
                    <a:pt x="111971" y="922959"/>
                  </a:lnTo>
                  <a:lnTo>
                    <a:pt x="86948" y="885921"/>
                  </a:lnTo>
                  <a:lnTo>
                    <a:pt x="64777" y="846927"/>
                  </a:lnTo>
                  <a:lnTo>
                    <a:pt x="45606" y="806128"/>
                  </a:lnTo>
                  <a:lnTo>
                    <a:pt x="29586" y="763671"/>
                  </a:lnTo>
                  <a:lnTo>
                    <a:pt x="16866" y="719707"/>
                  </a:lnTo>
                  <a:lnTo>
                    <a:pt x="7595" y="674385"/>
                  </a:lnTo>
                  <a:lnTo>
                    <a:pt x="1923" y="627853"/>
                  </a:lnTo>
                  <a:lnTo>
                    <a:pt x="0" y="580262"/>
                  </a:lnTo>
                  <a:close/>
                </a:path>
              </a:pathLst>
            </a:custGeom>
            <a:ln w="25146">
              <a:solidFill>
                <a:srgbClr val="FFFFFF"/>
              </a:solidFill>
            </a:ln>
          </p:spPr>
          <p:txBody>
            <a:bodyPr wrap="square" lIns="0" tIns="0" rIns="0" bIns="0" rtlCol="0"/>
            <a:lstStyle/>
            <a:p>
              <a:endParaRPr/>
            </a:p>
          </p:txBody>
        </p:sp>
      </p:grpSp>
      <p:sp>
        <p:nvSpPr>
          <p:cNvPr id="15" name="object 15"/>
          <p:cNvSpPr txBox="1"/>
          <p:nvPr/>
        </p:nvSpPr>
        <p:spPr>
          <a:xfrm>
            <a:off x="3072129" y="5426455"/>
            <a:ext cx="1367790" cy="546735"/>
          </a:xfrm>
          <a:prstGeom prst="rect">
            <a:avLst/>
          </a:prstGeom>
        </p:spPr>
        <p:txBody>
          <a:bodyPr vert="horz" wrap="square" lIns="0" tIns="43815" rIns="0" bIns="0" rtlCol="0">
            <a:spAutoFit/>
          </a:bodyPr>
          <a:lstStyle/>
          <a:p>
            <a:pPr marL="12700" marR="5080">
              <a:lnSpc>
                <a:spcPts val="1939"/>
              </a:lnSpc>
              <a:spcBef>
                <a:spcPts val="345"/>
              </a:spcBef>
            </a:pPr>
            <a:r>
              <a:rPr sz="1800" spc="40" dirty="0">
                <a:latin typeface="Times New Roman"/>
                <a:cs typeface="Times New Roman"/>
              </a:rPr>
              <a:t>Primary</a:t>
            </a:r>
            <a:r>
              <a:rPr sz="1800" spc="-155" dirty="0">
                <a:latin typeface="Times New Roman"/>
                <a:cs typeface="Times New Roman"/>
              </a:rPr>
              <a:t> </a:t>
            </a:r>
            <a:r>
              <a:rPr sz="1800" spc="30" dirty="0">
                <a:latin typeface="Times New Roman"/>
                <a:cs typeface="Times New Roman"/>
              </a:rPr>
              <a:t>XML  </a:t>
            </a:r>
            <a:r>
              <a:rPr sz="1800" spc="80" dirty="0">
                <a:latin typeface="Times New Roman"/>
                <a:cs typeface="Times New Roman"/>
              </a:rPr>
              <a:t>index</a:t>
            </a:r>
            <a:endParaRPr sz="1800">
              <a:latin typeface="Times New Roman"/>
              <a:cs typeface="Times New Roman"/>
            </a:endParaRPr>
          </a:p>
        </p:txBody>
      </p:sp>
      <p:sp>
        <p:nvSpPr>
          <p:cNvPr id="19" name="object 1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25</a:t>
            </a:fld>
            <a:endParaRPr sz="1200"/>
          </a:p>
        </p:txBody>
      </p:sp>
      <p:sp>
        <p:nvSpPr>
          <p:cNvPr id="20" name="object 2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6" name="object 16"/>
          <p:cNvSpPr txBox="1"/>
          <p:nvPr/>
        </p:nvSpPr>
        <p:spPr>
          <a:xfrm>
            <a:off x="6264655" y="5426455"/>
            <a:ext cx="1155065" cy="546735"/>
          </a:xfrm>
          <a:prstGeom prst="rect">
            <a:avLst/>
          </a:prstGeom>
        </p:spPr>
        <p:txBody>
          <a:bodyPr vert="horz" wrap="square" lIns="0" tIns="43815" rIns="0" bIns="0" rtlCol="0">
            <a:spAutoFit/>
          </a:bodyPr>
          <a:lstStyle/>
          <a:p>
            <a:pPr marL="12700" marR="5080">
              <a:lnSpc>
                <a:spcPts val="1939"/>
              </a:lnSpc>
              <a:spcBef>
                <a:spcPts val="345"/>
              </a:spcBef>
            </a:pPr>
            <a:r>
              <a:rPr sz="1800" spc="65" dirty="0">
                <a:latin typeface="Times New Roman"/>
                <a:cs typeface="Times New Roman"/>
              </a:rPr>
              <a:t>Secondary  </a:t>
            </a:r>
            <a:r>
              <a:rPr sz="1800" spc="30" dirty="0">
                <a:latin typeface="Times New Roman"/>
                <a:cs typeface="Times New Roman"/>
              </a:rPr>
              <a:t>XML</a:t>
            </a:r>
            <a:r>
              <a:rPr sz="1800" spc="-150" dirty="0">
                <a:latin typeface="Times New Roman"/>
                <a:cs typeface="Times New Roman"/>
              </a:rPr>
              <a:t> </a:t>
            </a:r>
            <a:r>
              <a:rPr sz="1800" spc="80" dirty="0">
                <a:latin typeface="Times New Roman"/>
                <a:cs typeface="Times New Roman"/>
              </a:rPr>
              <a:t>index</a:t>
            </a:r>
            <a:endParaRPr sz="1800">
              <a:latin typeface="Times New Roman"/>
              <a:cs typeface="Times New Roman"/>
            </a:endParaRPr>
          </a:p>
        </p:txBody>
      </p:sp>
      <p:sp>
        <p:nvSpPr>
          <p:cNvPr id="17" name="object 17"/>
          <p:cNvSpPr txBox="1"/>
          <p:nvPr/>
        </p:nvSpPr>
        <p:spPr>
          <a:xfrm>
            <a:off x="3691635" y="3853688"/>
            <a:ext cx="699770" cy="523875"/>
          </a:xfrm>
          <a:prstGeom prst="rect">
            <a:avLst/>
          </a:prstGeom>
        </p:spPr>
        <p:txBody>
          <a:bodyPr vert="horz" wrap="square" lIns="0" tIns="12700" rIns="0" bIns="0" rtlCol="0">
            <a:spAutoFit/>
          </a:bodyPr>
          <a:lstStyle/>
          <a:p>
            <a:pPr marL="117475">
              <a:lnSpc>
                <a:spcPct val="100000"/>
              </a:lnSpc>
              <a:spcBef>
                <a:spcPts val="100"/>
              </a:spcBef>
            </a:pPr>
            <a:r>
              <a:rPr sz="1600" spc="25" dirty="0">
                <a:solidFill>
                  <a:srgbClr val="FFFFFF"/>
                </a:solidFill>
                <a:latin typeface="Times New Roman"/>
                <a:cs typeface="Times New Roman"/>
              </a:rPr>
              <a:t>XML</a:t>
            </a:r>
            <a:endParaRPr sz="1600">
              <a:latin typeface="Times New Roman"/>
              <a:cs typeface="Times New Roman"/>
            </a:endParaRPr>
          </a:p>
          <a:p>
            <a:pPr marL="12700">
              <a:lnSpc>
                <a:spcPct val="100000"/>
              </a:lnSpc>
              <a:spcBef>
                <a:spcPts val="80"/>
              </a:spcBef>
            </a:pPr>
            <a:r>
              <a:rPr sz="1600" spc="60" dirty="0">
                <a:solidFill>
                  <a:srgbClr val="FFFFFF"/>
                </a:solidFill>
                <a:latin typeface="Times New Roman"/>
                <a:cs typeface="Times New Roman"/>
              </a:rPr>
              <a:t>indexes</a:t>
            </a:r>
            <a:endParaRPr sz="16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141" y="36575"/>
            <a:ext cx="3354070" cy="635635"/>
          </a:xfrm>
          <a:prstGeom prst="rect">
            <a:avLst/>
          </a:prstGeom>
        </p:spPr>
        <p:txBody>
          <a:bodyPr vert="horz" wrap="square" lIns="0" tIns="12700" rIns="0" bIns="0" rtlCol="0">
            <a:spAutoFit/>
          </a:bodyPr>
          <a:lstStyle/>
          <a:p>
            <a:pPr marL="12700">
              <a:lnSpc>
                <a:spcPct val="100000"/>
              </a:lnSpc>
              <a:spcBef>
                <a:spcPts val="100"/>
              </a:spcBef>
            </a:pPr>
            <a:r>
              <a:rPr sz="4000" b="0" spc="114" dirty="0">
                <a:latin typeface="Times New Roman"/>
                <a:cs typeface="Times New Roman"/>
              </a:rPr>
              <a:t>Spatial</a:t>
            </a:r>
            <a:r>
              <a:rPr sz="4000" b="0" spc="-225" dirty="0">
                <a:latin typeface="Times New Roman"/>
                <a:cs typeface="Times New Roman"/>
              </a:rPr>
              <a:t> </a:t>
            </a:r>
            <a:r>
              <a:rPr sz="4000" b="0" spc="140" dirty="0">
                <a:latin typeface="Times New Roman"/>
                <a:cs typeface="Times New Roman"/>
              </a:rPr>
              <a:t>Indexes</a:t>
            </a:r>
            <a:endParaRPr sz="4000">
              <a:latin typeface="Times New Roman"/>
              <a:cs typeface="Times New Roman"/>
            </a:endParaRPr>
          </a:p>
        </p:txBody>
      </p:sp>
      <p:sp>
        <p:nvSpPr>
          <p:cNvPr id="3" name="object 3"/>
          <p:cNvSpPr/>
          <p:nvPr/>
        </p:nvSpPr>
        <p:spPr>
          <a:xfrm>
            <a:off x="156210" y="787907"/>
            <a:ext cx="5232400" cy="1481455"/>
          </a:xfrm>
          <a:custGeom>
            <a:avLst/>
            <a:gdLst/>
            <a:ahLst/>
            <a:cxnLst/>
            <a:rect l="l" t="t" r="r" b="b"/>
            <a:pathLst>
              <a:path w="5232400" h="1481455">
                <a:moveTo>
                  <a:pt x="5231892" y="246888"/>
                </a:moveTo>
                <a:lnTo>
                  <a:pt x="5226875" y="197129"/>
                </a:lnTo>
                <a:lnTo>
                  <a:pt x="5212486" y="150774"/>
                </a:lnTo>
                <a:lnTo>
                  <a:pt x="5189728" y="108839"/>
                </a:lnTo>
                <a:lnTo>
                  <a:pt x="5159591" y="72301"/>
                </a:lnTo>
                <a:lnTo>
                  <a:pt x="5123053" y="42164"/>
                </a:lnTo>
                <a:lnTo>
                  <a:pt x="5081117" y="19405"/>
                </a:lnTo>
                <a:lnTo>
                  <a:pt x="5034762" y="5016"/>
                </a:lnTo>
                <a:lnTo>
                  <a:pt x="4985004" y="0"/>
                </a:lnTo>
                <a:lnTo>
                  <a:pt x="246888" y="0"/>
                </a:lnTo>
                <a:lnTo>
                  <a:pt x="197129" y="5016"/>
                </a:lnTo>
                <a:lnTo>
                  <a:pt x="150787" y="19405"/>
                </a:lnTo>
                <a:lnTo>
                  <a:pt x="108851" y="42164"/>
                </a:lnTo>
                <a:lnTo>
                  <a:pt x="72313" y="72301"/>
                </a:lnTo>
                <a:lnTo>
                  <a:pt x="42164" y="108839"/>
                </a:lnTo>
                <a:lnTo>
                  <a:pt x="19392" y="150774"/>
                </a:lnTo>
                <a:lnTo>
                  <a:pt x="5003" y="197129"/>
                </a:lnTo>
                <a:lnTo>
                  <a:pt x="0" y="246888"/>
                </a:lnTo>
                <a:lnTo>
                  <a:pt x="0" y="1234440"/>
                </a:lnTo>
                <a:lnTo>
                  <a:pt x="5003" y="1284211"/>
                </a:lnTo>
                <a:lnTo>
                  <a:pt x="19392" y="1330566"/>
                </a:lnTo>
                <a:lnTo>
                  <a:pt x="42164" y="1372501"/>
                </a:lnTo>
                <a:lnTo>
                  <a:pt x="72313" y="1409039"/>
                </a:lnTo>
                <a:lnTo>
                  <a:pt x="108851" y="1439176"/>
                </a:lnTo>
                <a:lnTo>
                  <a:pt x="150787" y="1461935"/>
                </a:lnTo>
                <a:lnTo>
                  <a:pt x="197129" y="1476324"/>
                </a:lnTo>
                <a:lnTo>
                  <a:pt x="246888" y="1481328"/>
                </a:lnTo>
                <a:lnTo>
                  <a:pt x="4985004" y="1481328"/>
                </a:lnTo>
                <a:lnTo>
                  <a:pt x="5034762" y="1476324"/>
                </a:lnTo>
                <a:lnTo>
                  <a:pt x="5081117" y="1461935"/>
                </a:lnTo>
                <a:lnTo>
                  <a:pt x="5123053" y="1439176"/>
                </a:lnTo>
                <a:lnTo>
                  <a:pt x="5159591" y="1409039"/>
                </a:lnTo>
                <a:lnTo>
                  <a:pt x="5189728" y="1372501"/>
                </a:lnTo>
                <a:lnTo>
                  <a:pt x="5212486" y="1330566"/>
                </a:lnTo>
                <a:lnTo>
                  <a:pt x="5226875" y="1284211"/>
                </a:lnTo>
                <a:lnTo>
                  <a:pt x="5231892" y="1234440"/>
                </a:lnTo>
                <a:lnTo>
                  <a:pt x="5231892" y="246888"/>
                </a:lnTo>
                <a:close/>
              </a:path>
            </a:pathLst>
          </a:custGeom>
          <a:solidFill>
            <a:srgbClr val="C0504D"/>
          </a:solidFill>
        </p:spPr>
        <p:txBody>
          <a:bodyPr wrap="square" lIns="0" tIns="0" rIns="0" bIns="0" rtlCol="0"/>
          <a:lstStyle/>
          <a:p>
            <a:endParaRPr/>
          </a:p>
        </p:txBody>
      </p:sp>
      <p:sp>
        <p:nvSpPr>
          <p:cNvPr id="4" name="object 4"/>
          <p:cNvSpPr/>
          <p:nvPr/>
        </p:nvSpPr>
        <p:spPr>
          <a:xfrm>
            <a:off x="4319016" y="2344673"/>
            <a:ext cx="4825365" cy="1481455"/>
          </a:xfrm>
          <a:custGeom>
            <a:avLst/>
            <a:gdLst/>
            <a:ahLst/>
            <a:cxnLst/>
            <a:rect l="l" t="t" r="r" b="b"/>
            <a:pathLst>
              <a:path w="4825365" h="1481454">
                <a:moveTo>
                  <a:pt x="4824984" y="246888"/>
                </a:moveTo>
                <a:lnTo>
                  <a:pt x="4819967" y="197129"/>
                </a:lnTo>
                <a:lnTo>
                  <a:pt x="4805578" y="150774"/>
                </a:lnTo>
                <a:lnTo>
                  <a:pt x="4782820" y="108839"/>
                </a:lnTo>
                <a:lnTo>
                  <a:pt x="4752683" y="72301"/>
                </a:lnTo>
                <a:lnTo>
                  <a:pt x="4716145" y="42164"/>
                </a:lnTo>
                <a:lnTo>
                  <a:pt x="4674209" y="19405"/>
                </a:lnTo>
                <a:lnTo>
                  <a:pt x="4627854" y="5016"/>
                </a:lnTo>
                <a:lnTo>
                  <a:pt x="4578096" y="0"/>
                </a:lnTo>
                <a:lnTo>
                  <a:pt x="246888" y="0"/>
                </a:lnTo>
                <a:lnTo>
                  <a:pt x="197116" y="5016"/>
                </a:lnTo>
                <a:lnTo>
                  <a:pt x="150761" y="19405"/>
                </a:lnTo>
                <a:lnTo>
                  <a:pt x="108826" y="42164"/>
                </a:lnTo>
                <a:lnTo>
                  <a:pt x="72288" y="72301"/>
                </a:lnTo>
                <a:lnTo>
                  <a:pt x="42151" y="108839"/>
                </a:lnTo>
                <a:lnTo>
                  <a:pt x="19392" y="150774"/>
                </a:lnTo>
                <a:lnTo>
                  <a:pt x="5003" y="197129"/>
                </a:lnTo>
                <a:lnTo>
                  <a:pt x="0" y="246888"/>
                </a:lnTo>
                <a:lnTo>
                  <a:pt x="0" y="1234440"/>
                </a:lnTo>
                <a:lnTo>
                  <a:pt x="5003" y="1284211"/>
                </a:lnTo>
                <a:lnTo>
                  <a:pt x="19392" y="1330566"/>
                </a:lnTo>
                <a:lnTo>
                  <a:pt x="42151" y="1372501"/>
                </a:lnTo>
                <a:lnTo>
                  <a:pt x="72288" y="1409039"/>
                </a:lnTo>
                <a:lnTo>
                  <a:pt x="108826" y="1439176"/>
                </a:lnTo>
                <a:lnTo>
                  <a:pt x="150761" y="1461935"/>
                </a:lnTo>
                <a:lnTo>
                  <a:pt x="197116" y="1476324"/>
                </a:lnTo>
                <a:lnTo>
                  <a:pt x="246888" y="1481328"/>
                </a:lnTo>
                <a:lnTo>
                  <a:pt x="4578096" y="1481328"/>
                </a:lnTo>
                <a:lnTo>
                  <a:pt x="4627854" y="1476324"/>
                </a:lnTo>
                <a:lnTo>
                  <a:pt x="4674209" y="1461935"/>
                </a:lnTo>
                <a:lnTo>
                  <a:pt x="4716145" y="1439176"/>
                </a:lnTo>
                <a:lnTo>
                  <a:pt x="4752683" y="1409039"/>
                </a:lnTo>
                <a:lnTo>
                  <a:pt x="4782820" y="1372501"/>
                </a:lnTo>
                <a:lnTo>
                  <a:pt x="4805578" y="1330566"/>
                </a:lnTo>
                <a:lnTo>
                  <a:pt x="4819967" y="1284211"/>
                </a:lnTo>
                <a:lnTo>
                  <a:pt x="4824984" y="1234440"/>
                </a:lnTo>
                <a:lnTo>
                  <a:pt x="4824984" y="1120140"/>
                </a:lnTo>
                <a:lnTo>
                  <a:pt x="4824984" y="360426"/>
                </a:lnTo>
                <a:lnTo>
                  <a:pt x="4824984" y="246888"/>
                </a:lnTo>
                <a:close/>
              </a:path>
            </a:pathLst>
          </a:custGeom>
          <a:solidFill>
            <a:srgbClr val="C0504D"/>
          </a:solidFill>
        </p:spPr>
        <p:txBody>
          <a:bodyPr wrap="square" lIns="0" tIns="0" rIns="0" bIns="0" rtlCol="0"/>
          <a:lstStyle/>
          <a:p>
            <a:endParaRPr/>
          </a:p>
        </p:txBody>
      </p:sp>
      <p:sp>
        <p:nvSpPr>
          <p:cNvPr id="5" name="object 5"/>
          <p:cNvSpPr txBox="1"/>
          <p:nvPr/>
        </p:nvSpPr>
        <p:spPr>
          <a:xfrm>
            <a:off x="279654" y="881380"/>
            <a:ext cx="8583930" cy="2672080"/>
          </a:xfrm>
          <a:prstGeom prst="rect">
            <a:avLst/>
          </a:prstGeom>
        </p:spPr>
        <p:txBody>
          <a:bodyPr vert="horz" wrap="square" lIns="0" tIns="12065" rIns="0" bIns="0" rtlCol="0">
            <a:spAutoFit/>
          </a:bodyPr>
          <a:lstStyle/>
          <a:p>
            <a:pPr marL="355600" marR="3711575" indent="-342900" algn="just">
              <a:lnSpc>
                <a:spcPct val="100000"/>
              </a:lnSpc>
              <a:spcBef>
                <a:spcPts val="95"/>
              </a:spcBef>
              <a:buFont typeface="Wingdings"/>
              <a:buChar char=""/>
              <a:tabLst>
                <a:tab pos="355600" algn="l"/>
              </a:tabLst>
            </a:pPr>
            <a:r>
              <a:rPr sz="2000" spc="80" dirty="0">
                <a:solidFill>
                  <a:srgbClr val="FFFFFF"/>
                </a:solidFill>
                <a:latin typeface="Times New Roman"/>
                <a:cs typeface="Times New Roman"/>
              </a:rPr>
              <a:t>In </a:t>
            </a:r>
            <a:r>
              <a:rPr sz="2000" spc="90" dirty="0">
                <a:solidFill>
                  <a:srgbClr val="FFFFFF"/>
                </a:solidFill>
                <a:latin typeface="Times New Roman"/>
                <a:cs typeface="Times New Roman"/>
              </a:rPr>
              <a:t>SQL </a:t>
            </a:r>
            <a:r>
              <a:rPr sz="2000" spc="50" dirty="0">
                <a:solidFill>
                  <a:srgbClr val="FFFFFF"/>
                </a:solidFill>
                <a:latin typeface="Times New Roman"/>
                <a:cs typeface="Times New Roman"/>
              </a:rPr>
              <a:t>Server, </a:t>
            </a:r>
            <a:r>
              <a:rPr sz="2000" spc="45" dirty="0">
                <a:solidFill>
                  <a:srgbClr val="FFFFFF"/>
                </a:solidFill>
                <a:latin typeface="Times New Roman"/>
                <a:cs typeface="Times New Roman"/>
              </a:rPr>
              <a:t>spatial </a:t>
            </a:r>
            <a:r>
              <a:rPr sz="2000" spc="70" dirty="0">
                <a:solidFill>
                  <a:srgbClr val="FFFFFF"/>
                </a:solidFill>
                <a:latin typeface="Times New Roman"/>
                <a:cs typeface="Times New Roman"/>
              </a:rPr>
              <a:t>indexes </a:t>
            </a:r>
            <a:r>
              <a:rPr sz="2000" spc="50" dirty="0">
                <a:solidFill>
                  <a:srgbClr val="FFFFFF"/>
                </a:solidFill>
                <a:latin typeface="Times New Roman"/>
                <a:cs typeface="Times New Roman"/>
              </a:rPr>
              <a:t>are </a:t>
            </a:r>
            <a:r>
              <a:rPr sz="2000" spc="75" dirty="0">
                <a:solidFill>
                  <a:srgbClr val="FFFFFF"/>
                </a:solidFill>
                <a:latin typeface="Times New Roman"/>
                <a:cs typeface="Times New Roman"/>
              </a:rPr>
              <a:t>built  </a:t>
            </a:r>
            <a:r>
              <a:rPr sz="2000" spc="65" dirty="0">
                <a:solidFill>
                  <a:srgbClr val="FFFFFF"/>
                </a:solidFill>
                <a:latin typeface="Times New Roman"/>
                <a:cs typeface="Times New Roman"/>
              </a:rPr>
              <a:t>using </a:t>
            </a:r>
            <a:r>
              <a:rPr sz="2000" spc="30" dirty="0">
                <a:solidFill>
                  <a:srgbClr val="FFFFFF"/>
                </a:solidFill>
                <a:latin typeface="Times New Roman"/>
                <a:cs typeface="Times New Roman"/>
              </a:rPr>
              <a:t>B-trees, </a:t>
            </a:r>
            <a:r>
              <a:rPr sz="2000" spc="80" dirty="0">
                <a:solidFill>
                  <a:srgbClr val="FFFFFF"/>
                </a:solidFill>
                <a:latin typeface="Times New Roman"/>
                <a:cs typeface="Times New Roman"/>
              </a:rPr>
              <a:t>which </a:t>
            </a:r>
            <a:r>
              <a:rPr sz="2000" spc="70" dirty="0">
                <a:solidFill>
                  <a:srgbClr val="FFFFFF"/>
                </a:solidFill>
                <a:latin typeface="Times New Roman"/>
                <a:cs typeface="Times New Roman"/>
              </a:rPr>
              <a:t>means </a:t>
            </a:r>
            <a:r>
              <a:rPr sz="2000" spc="114" dirty="0">
                <a:solidFill>
                  <a:srgbClr val="FFFFFF"/>
                </a:solidFill>
                <a:latin typeface="Times New Roman"/>
                <a:cs typeface="Times New Roman"/>
              </a:rPr>
              <a:t>that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indexes </a:t>
            </a:r>
            <a:r>
              <a:rPr sz="2000" spc="95" dirty="0">
                <a:solidFill>
                  <a:srgbClr val="FFFFFF"/>
                </a:solidFill>
                <a:latin typeface="Times New Roman"/>
                <a:cs typeface="Times New Roman"/>
              </a:rPr>
              <a:t>must </a:t>
            </a:r>
            <a:r>
              <a:rPr sz="2000" spc="80" dirty="0">
                <a:solidFill>
                  <a:srgbClr val="FFFFFF"/>
                </a:solidFill>
                <a:latin typeface="Times New Roman"/>
                <a:cs typeface="Times New Roman"/>
              </a:rPr>
              <a:t>represent </a:t>
            </a:r>
            <a:r>
              <a:rPr sz="2000" spc="110">
                <a:solidFill>
                  <a:srgbClr val="FFFFFF"/>
                </a:solidFill>
                <a:latin typeface="Times New Roman"/>
                <a:cs typeface="Times New Roman"/>
              </a:rPr>
              <a:t>the</a:t>
            </a:r>
            <a:r>
              <a:rPr sz="2000" spc="-75">
                <a:solidFill>
                  <a:srgbClr val="FFFFFF"/>
                </a:solidFill>
                <a:latin typeface="Times New Roman"/>
                <a:cs typeface="Times New Roman"/>
              </a:rPr>
              <a:t> </a:t>
            </a:r>
            <a:r>
              <a:rPr sz="2000" spc="60">
                <a:solidFill>
                  <a:srgbClr val="FFFFFF"/>
                </a:solidFill>
                <a:latin typeface="Times New Roman"/>
                <a:cs typeface="Times New Roman"/>
              </a:rPr>
              <a:t>2dimensional  </a:t>
            </a:r>
            <a:r>
              <a:rPr sz="2000" spc="45" dirty="0">
                <a:solidFill>
                  <a:srgbClr val="FFFFFF"/>
                </a:solidFill>
                <a:latin typeface="Times New Roman"/>
                <a:cs typeface="Times New Roman"/>
              </a:rPr>
              <a:t>spatial</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80"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14" dirty="0">
                <a:solidFill>
                  <a:srgbClr val="FFFFFF"/>
                </a:solidFill>
                <a:latin typeface="Times New Roman"/>
                <a:cs typeface="Times New Roman"/>
              </a:rPr>
              <a:t>the</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linear</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order</a:t>
            </a:r>
            <a:r>
              <a:rPr sz="2000" spc="-7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B-trees.</a:t>
            </a:r>
            <a:endParaRPr sz="2000">
              <a:latin typeface="Times New Roman"/>
              <a:cs typeface="Times New Roman"/>
            </a:endParaRPr>
          </a:p>
          <a:p>
            <a:pPr marL="4498975" marR="5715" lvl="1" indent="-285750">
              <a:lnSpc>
                <a:spcPct val="100000"/>
              </a:lnSpc>
              <a:spcBef>
                <a:spcPts val="2605"/>
              </a:spcBef>
              <a:buFont typeface="Wingdings"/>
              <a:buChar char=""/>
              <a:tabLst>
                <a:tab pos="4499610" algn="l"/>
              </a:tabLst>
            </a:pPr>
            <a:r>
              <a:rPr sz="1800" spc="120" dirty="0">
                <a:solidFill>
                  <a:srgbClr val="FFFFFF"/>
                </a:solidFill>
                <a:latin typeface="Times New Roman"/>
                <a:cs typeface="Times New Roman"/>
              </a:rPr>
              <a:t>The </a:t>
            </a:r>
            <a:r>
              <a:rPr sz="1800" spc="65" dirty="0">
                <a:solidFill>
                  <a:srgbClr val="FFFFFF"/>
                </a:solidFill>
                <a:latin typeface="Times New Roman"/>
                <a:cs typeface="Times New Roman"/>
              </a:rPr>
              <a:t>index-creation </a:t>
            </a:r>
            <a:r>
              <a:rPr sz="1800" spc="45" dirty="0">
                <a:solidFill>
                  <a:srgbClr val="FFFFFF"/>
                </a:solidFill>
                <a:latin typeface="Times New Roman"/>
                <a:cs typeface="Times New Roman"/>
              </a:rPr>
              <a:t>process </a:t>
            </a:r>
            <a:r>
              <a:rPr sz="1800" spc="55" dirty="0">
                <a:solidFill>
                  <a:srgbClr val="FFFFFF"/>
                </a:solidFill>
                <a:latin typeface="Times New Roman"/>
                <a:cs typeface="Times New Roman"/>
              </a:rPr>
              <a:t>decomposes  </a:t>
            </a:r>
            <a:r>
              <a:rPr sz="1800" spc="100" dirty="0">
                <a:solidFill>
                  <a:srgbClr val="FFFFFF"/>
                </a:solidFill>
                <a:latin typeface="Times New Roman"/>
                <a:cs typeface="Times New Roman"/>
              </a:rPr>
              <a:t>the</a:t>
            </a:r>
            <a:r>
              <a:rPr sz="1800" spc="-70" dirty="0">
                <a:solidFill>
                  <a:srgbClr val="FFFFFF"/>
                </a:solidFill>
                <a:latin typeface="Times New Roman"/>
                <a:cs typeface="Times New Roman"/>
              </a:rPr>
              <a:t> </a:t>
            </a:r>
            <a:r>
              <a:rPr sz="1800" spc="35" dirty="0">
                <a:solidFill>
                  <a:srgbClr val="FFFFFF"/>
                </a:solidFill>
                <a:latin typeface="Times New Roman"/>
                <a:cs typeface="Times New Roman"/>
              </a:rPr>
              <a:t>space</a:t>
            </a:r>
            <a:r>
              <a:rPr sz="1800" spc="-70" dirty="0">
                <a:solidFill>
                  <a:srgbClr val="FFFFFF"/>
                </a:solidFill>
                <a:latin typeface="Times New Roman"/>
                <a:cs typeface="Times New Roman"/>
              </a:rPr>
              <a:t> </a:t>
            </a:r>
            <a:r>
              <a:rPr sz="1800" spc="90" dirty="0">
                <a:solidFill>
                  <a:srgbClr val="FFFFFF"/>
                </a:solidFill>
                <a:latin typeface="Times New Roman"/>
                <a:cs typeface="Times New Roman"/>
              </a:rPr>
              <a:t>into</a:t>
            </a:r>
            <a:r>
              <a:rPr sz="1800" spc="-70"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5" dirty="0">
                <a:solidFill>
                  <a:srgbClr val="FFFFFF"/>
                </a:solidFill>
                <a:latin typeface="Times New Roman"/>
                <a:cs typeface="Times New Roman"/>
              </a:rPr>
              <a:t> </a:t>
            </a:r>
            <a:r>
              <a:rPr sz="1800" spc="45" dirty="0">
                <a:solidFill>
                  <a:srgbClr val="FFFFFF"/>
                </a:solidFill>
                <a:latin typeface="Times New Roman"/>
                <a:cs typeface="Times New Roman"/>
              </a:rPr>
              <a:t>four-level</a:t>
            </a:r>
            <a:r>
              <a:rPr sz="1800" spc="-80" dirty="0">
                <a:solidFill>
                  <a:srgbClr val="FFFFFF"/>
                </a:solidFill>
                <a:latin typeface="Times New Roman"/>
                <a:cs typeface="Times New Roman"/>
              </a:rPr>
              <a:t> </a:t>
            </a:r>
            <a:r>
              <a:rPr sz="1800" spc="45" dirty="0">
                <a:solidFill>
                  <a:srgbClr val="FFFFFF"/>
                </a:solidFill>
                <a:latin typeface="Times New Roman"/>
                <a:cs typeface="Times New Roman"/>
              </a:rPr>
              <a:t>grid</a:t>
            </a:r>
            <a:r>
              <a:rPr sz="1800" spc="-75" dirty="0">
                <a:solidFill>
                  <a:srgbClr val="FFFFFF"/>
                </a:solidFill>
                <a:latin typeface="Times New Roman"/>
                <a:cs typeface="Times New Roman"/>
              </a:rPr>
              <a:t> </a:t>
            </a:r>
            <a:r>
              <a:rPr sz="1800" spc="55" dirty="0">
                <a:solidFill>
                  <a:srgbClr val="FFFFFF"/>
                </a:solidFill>
                <a:latin typeface="Times New Roman"/>
                <a:cs typeface="Times New Roman"/>
              </a:rPr>
              <a:t>hierarchy.</a:t>
            </a:r>
            <a:endParaRPr sz="1800">
              <a:latin typeface="Times New Roman"/>
              <a:cs typeface="Times New Roman"/>
            </a:endParaRPr>
          </a:p>
          <a:p>
            <a:pPr marL="4498975" marR="5080" lvl="1" indent="-285750">
              <a:lnSpc>
                <a:spcPct val="100000"/>
              </a:lnSpc>
              <a:buFont typeface="Wingdings"/>
              <a:buChar char=""/>
              <a:tabLst>
                <a:tab pos="4499610" algn="l"/>
              </a:tabLst>
            </a:pPr>
            <a:r>
              <a:rPr sz="1800" spc="80" dirty="0">
                <a:solidFill>
                  <a:srgbClr val="FFFFFF"/>
                </a:solidFill>
                <a:latin typeface="Times New Roman"/>
                <a:cs typeface="Times New Roman"/>
              </a:rPr>
              <a:t>These </a:t>
            </a:r>
            <a:r>
              <a:rPr sz="1800" spc="20" dirty="0">
                <a:solidFill>
                  <a:srgbClr val="FFFFFF"/>
                </a:solidFill>
                <a:latin typeface="Times New Roman"/>
                <a:cs typeface="Times New Roman"/>
              </a:rPr>
              <a:t>levels </a:t>
            </a:r>
            <a:r>
              <a:rPr sz="1800" spc="45" dirty="0">
                <a:solidFill>
                  <a:srgbClr val="FFFFFF"/>
                </a:solidFill>
                <a:latin typeface="Times New Roman"/>
                <a:cs typeface="Times New Roman"/>
              </a:rPr>
              <a:t>are </a:t>
            </a:r>
            <a:r>
              <a:rPr sz="1800" spc="60" dirty="0">
                <a:solidFill>
                  <a:srgbClr val="FFFFFF"/>
                </a:solidFill>
                <a:latin typeface="Times New Roman"/>
                <a:cs typeface="Times New Roman"/>
              </a:rPr>
              <a:t>referred </a:t>
            </a:r>
            <a:r>
              <a:rPr sz="1800" spc="100" dirty="0">
                <a:solidFill>
                  <a:srgbClr val="FFFFFF"/>
                </a:solidFill>
                <a:latin typeface="Times New Roman"/>
                <a:cs typeface="Times New Roman"/>
              </a:rPr>
              <a:t>to </a:t>
            </a:r>
            <a:r>
              <a:rPr sz="1800" spc="15" dirty="0">
                <a:solidFill>
                  <a:srgbClr val="FFFFFF"/>
                </a:solidFill>
                <a:latin typeface="Times New Roman"/>
                <a:cs typeface="Times New Roman"/>
              </a:rPr>
              <a:t>as </a:t>
            </a:r>
            <a:r>
              <a:rPr sz="1800" spc="25" dirty="0">
                <a:solidFill>
                  <a:srgbClr val="FFFFFF"/>
                </a:solidFill>
                <a:latin typeface="Times New Roman"/>
                <a:cs typeface="Times New Roman"/>
              </a:rPr>
              <a:t>level </a:t>
            </a:r>
            <a:r>
              <a:rPr sz="1800" spc="-290" dirty="0">
                <a:solidFill>
                  <a:srgbClr val="FFFFFF"/>
                </a:solidFill>
                <a:latin typeface="Times New Roman"/>
                <a:cs typeface="Times New Roman"/>
              </a:rPr>
              <a:t>1 </a:t>
            </a:r>
            <a:r>
              <a:rPr sz="1800" spc="70" dirty="0">
                <a:solidFill>
                  <a:srgbClr val="FFFFFF"/>
                </a:solidFill>
                <a:latin typeface="Times New Roman"/>
                <a:cs typeface="Times New Roman"/>
              </a:rPr>
              <a:t>(the  </a:t>
            </a:r>
            <a:r>
              <a:rPr sz="1800" spc="95" dirty="0">
                <a:solidFill>
                  <a:srgbClr val="FFFFFF"/>
                </a:solidFill>
                <a:latin typeface="Times New Roman"/>
                <a:cs typeface="Times New Roman"/>
              </a:rPr>
              <a:t>top</a:t>
            </a:r>
            <a:r>
              <a:rPr sz="1800" spc="-70" dirty="0">
                <a:solidFill>
                  <a:srgbClr val="FFFFFF"/>
                </a:solidFill>
                <a:latin typeface="Times New Roman"/>
                <a:cs typeface="Times New Roman"/>
              </a:rPr>
              <a:t> </a:t>
            </a:r>
            <a:r>
              <a:rPr sz="1800" spc="15" dirty="0">
                <a:solidFill>
                  <a:srgbClr val="FFFFFF"/>
                </a:solidFill>
                <a:latin typeface="Times New Roman"/>
                <a:cs typeface="Times New Roman"/>
              </a:rPr>
              <a:t>level),</a:t>
            </a:r>
            <a:r>
              <a:rPr sz="1800" spc="-85" dirty="0">
                <a:solidFill>
                  <a:srgbClr val="FFFFFF"/>
                </a:solidFill>
                <a:latin typeface="Times New Roman"/>
                <a:cs typeface="Times New Roman"/>
              </a:rPr>
              <a:t> </a:t>
            </a:r>
            <a:r>
              <a:rPr sz="1800" spc="25" dirty="0">
                <a:solidFill>
                  <a:srgbClr val="FFFFFF"/>
                </a:solidFill>
                <a:latin typeface="Times New Roman"/>
                <a:cs typeface="Times New Roman"/>
              </a:rPr>
              <a:t>level</a:t>
            </a:r>
            <a:r>
              <a:rPr sz="1800" spc="-80" dirty="0">
                <a:solidFill>
                  <a:srgbClr val="FFFFFF"/>
                </a:solidFill>
                <a:latin typeface="Times New Roman"/>
                <a:cs typeface="Times New Roman"/>
              </a:rPr>
              <a:t> </a:t>
            </a:r>
            <a:r>
              <a:rPr sz="1800" spc="-35" dirty="0">
                <a:solidFill>
                  <a:srgbClr val="FFFFFF"/>
                </a:solidFill>
                <a:latin typeface="Times New Roman"/>
                <a:cs typeface="Times New Roman"/>
              </a:rPr>
              <a:t>2,</a:t>
            </a:r>
            <a:r>
              <a:rPr sz="1800" spc="-75" dirty="0">
                <a:solidFill>
                  <a:srgbClr val="FFFFFF"/>
                </a:solidFill>
                <a:latin typeface="Times New Roman"/>
                <a:cs typeface="Times New Roman"/>
              </a:rPr>
              <a:t> </a:t>
            </a:r>
            <a:r>
              <a:rPr sz="1800" spc="25" dirty="0">
                <a:solidFill>
                  <a:srgbClr val="FFFFFF"/>
                </a:solidFill>
                <a:latin typeface="Times New Roman"/>
                <a:cs typeface="Times New Roman"/>
              </a:rPr>
              <a:t>level</a:t>
            </a:r>
            <a:r>
              <a:rPr sz="1800" spc="-75" dirty="0">
                <a:solidFill>
                  <a:srgbClr val="FFFFFF"/>
                </a:solidFill>
                <a:latin typeface="Times New Roman"/>
                <a:cs typeface="Times New Roman"/>
              </a:rPr>
              <a:t> </a:t>
            </a:r>
            <a:r>
              <a:rPr sz="1800" spc="-90" dirty="0">
                <a:solidFill>
                  <a:srgbClr val="FFFFFF"/>
                </a:solidFill>
                <a:latin typeface="Times New Roman"/>
                <a:cs typeface="Times New Roman"/>
              </a:rPr>
              <a:t>3,</a:t>
            </a:r>
            <a:r>
              <a:rPr sz="1800" spc="-75" dirty="0">
                <a:solidFill>
                  <a:srgbClr val="FFFFFF"/>
                </a:solidFill>
                <a:latin typeface="Times New Roman"/>
                <a:cs typeface="Times New Roman"/>
              </a:rPr>
              <a:t> </a:t>
            </a:r>
            <a:r>
              <a:rPr sz="1800" spc="100" dirty="0">
                <a:solidFill>
                  <a:srgbClr val="FFFFFF"/>
                </a:solidFill>
                <a:latin typeface="Times New Roman"/>
                <a:cs typeface="Times New Roman"/>
              </a:rPr>
              <a:t>and</a:t>
            </a:r>
            <a:r>
              <a:rPr sz="1800" spc="-75" dirty="0">
                <a:solidFill>
                  <a:srgbClr val="FFFFFF"/>
                </a:solidFill>
                <a:latin typeface="Times New Roman"/>
                <a:cs typeface="Times New Roman"/>
              </a:rPr>
              <a:t> </a:t>
            </a:r>
            <a:r>
              <a:rPr sz="1800" spc="25" dirty="0">
                <a:solidFill>
                  <a:srgbClr val="FFFFFF"/>
                </a:solidFill>
                <a:latin typeface="Times New Roman"/>
                <a:cs typeface="Times New Roman"/>
              </a:rPr>
              <a:t>level</a:t>
            </a:r>
            <a:r>
              <a:rPr sz="1800" spc="-75" dirty="0">
                <a:solidFill>
                  <a:srgbClr val="FFFFFF"/>
                </a:solidFill>
                <a:latin typeface="Times New Roman"/>
                <a:cs typeface="Times New Roman"/>
              </a:rPr>
              <a:t> </a:t>
            </a:r>
            <a:r>
              <a:rPr sz="1800" dirty="0">
                <a:solidFill>
                  <a:srgbClr val="FFFFFF"/>
                </a:solidFill>
                <a:latin typeface="Times New Roman"/>
                <a:cs typeface="Times New Roman"/>
              </a:rPr>
              <a:t>4.</a:t>
            </a:r>
            <a:endParaRPr sz="1800">
              <a:latin typeface="Times New Roman"/>
              <a:cs typeface="Times New Roman"/>
            </a:endParaRPr>
          </a:p>
        </p:txBody>
      </p:sp>
      <p:pic>
        <p:nvPicPr>
          <p:cNvPr id="6" name="object 6"/>
          <p:cNvPicPr/>
          <p:nvPr/>
        </p:nvPicPr>
        <p:blipFill>
          <a:blip r:embed="rId3" cstate="print"/>
          <a:stretch>
            <a:fillRect/>
          </a:stretch>
        </p:blipFill>
        <p:spPr>
          <a:xfrm>
            <a:off x="201168" y="3582161"/>
            <a:ext cx="4005072" cy="2521458"/>
          </a:xfrm>
          <a:prstGeom prst="rect">
            <a:avLst/>
          </a:prstGeom>
        </p:spPr>
      </p:pic>
      <p:sp>
        <p:nvSpPr>
          <p:cNvPr id="7" name="object 7"/>
          <p:cNvSpPr txBox="1"/>
          <p:nvPr/>
        </p:nvSpPr>
        <p:spPr>
          <a:xfrm>
            <a:off x="1161541" y="6102603"/>
            <a:ext cx="1864995"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Times New Roman"/>
                <a:cs typeface="Times New Roman"/>
              </a:rPr>
              <a:t>Four</a:t>
            </a:r>
            <a:r>
              <a:rPr sz="1400" b="1" spc="-90" dirty="0">
                <a:latin typeface="Times New Roman"/>
                <a:cs typeface="Times New Roman"/>
              </a:rPr>
              <a:t> </a:t>
            </a:r>
            <a:r>
              <a:rPr sz="1400" b="1" spc="-10" dirty="0">
                <a:latin typeface="Times New Roman"/>
                <a:cs typeface="Times New Roman"/>
              </a:rPr>
              <a:t>Levels</a:t>
            </a:r>
            <a:r>
              <a:rPr sz="1400" b="1" spc="-85" dirty="0">
                <a:latin typeface="Times New Roman"/>
                <a:cs typeface="Times New Roman"/>
              </a:rPr>
              <a:t> </a:t>
            </a:r>
            <a:r>
              <a:rPr sz="1400" b="1" spc="35" dirty="0">
                <a:latin typeface="Times New Roman"/>
                <a:cs typeface="Times New Roman"/>
              </a:rPr>
              <a:t>of</a:t>
            </a:r>
            <a:r>
              <a:rPr sz="1400" b="1" spc="-75" dirty="0">
                <a:latin typeface="Times New Roman"/>
                <a:cs typeface="Times New Roman"/>
              </a:rPr>
              <a:t> </a:t>
            </a:r>
            <a:r>
              <a:rPr sz="1400" b="1" spc="15" dirty="0">
                <a:latin typeface="Times New Roman"/>
                <a:cs typeface="Times New Roman"/>
              </a:rPr>
              <a:t>4x4</a:t>
            </a:r>
            <a:r>
              <a:rPr sz="1400" b="1" spc="-90" dirty="0">
                <a:latin typeface="Times New Roman"/>
                <a:cs typeface="Times New Roman"/>
              </a:rPr>
              <a:t> </a:t>
            </a:r>
            <a:r>
              <a:rPr sz="1400" b="1" spc="-15" dirty="0">
                <a:latin typeface="Times New Roman"/>
                <a:cs typeface="Times New Roman"/>
              </a:rPr>
              <a:t>Grids</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26</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524250" cy="574040"/>
          </a:xfrm>
          <a:prstGeom prst="rect">
            <a:avLst/>
          </a:prstGeom>
        </p:spPr>
        <p:txBody>
          <a:bodyPr vert="horz" wrap="square" lIns="0" tIns="12700" rIns="0" bIns="0" rtlCol="0">
            <a:spAutoFit/>
          </a:bodyPr>
          <a:lstStyle/>
          <a:p>
            <a:pPr marL="12700">
              <a:lnSpc>
                <a:spcPct val="100000"/>
              </a:lnSpc>
              <a:spcBef>
                <a:spcPts val="100"/>
              </a:spcBef>
            </a:pPr>
            <a:r>
              <a:rPr b="0" spc="120" dirty="0">
                <a:latin typeface="Times New Roman"/>
                <a:cs typeface="Times New Roman"/>
              </a:rPr>
              <a:t>Full-Text</a:t>
            </a:r>
            <a:r>
              <a:rPr b="0" spc="-200" dirty="0">
                <a:latin typeface="Times New Roman"/>
                <a:cs typeface="Times New Roman"/>
              </a:rPr>
              <a:t> </a:t>
            </a:r>
            <a:r>
              <a:rPr b="0" spc="125" dirty="0">
                <a:latin typeface="Times New Roman"/>
                <a:cs typeface="Times New Roman"/>
              </a:rPr>
              <a:t>Indexes</a:t>
            </a:r>
          </a:p>
        </p:txBody>
      </p:sp>
      <p:sp>
        <p:nvSpPr>
          <p:cNvPr id="3" name="object 3"/>
          <p:cNvSpPr/>
          <p:nvPr/>
        </p:nvSpPr>
        <p:spPr>
          <a:xfrm>
            <a:off x="159258" y="883157"/>
            <a:ext cx="8680450" cy="1504950"/>
          </a:xfrm>
          <a:custGeom>
            <a:avLst/>
            <a:gdLst/>
            <a:ahLst/>
            <a:cxnLst/>
            <a:rect l="l" t="t" r="r" b="b"/>
            <a:pathLst>
              <a:path w="8680450" h="1504950">
                <a:moveTo>
                  <a:pt x="8679942" y="250825"/>
                </a:moveTo>
                <a:lnTo>
                  <a:pt x="8675891" y="205740"/>
                </a:lnTo>
                <a:lnTo>
                  <a:pt x="8664245" y="163296"/>
                </a:lnTo>
                <a:lnTo>
                  <a:pt x="8645703" y="124218"/>
                </a:lnTo>
                <a:lnTo>
                  <a:pt x="8620950" y="89217"/>
                </a:lnTo>
                <a:lnTo>
                  <a:pt x="8590724" y="58991"/>
                </a:lnTo>
                <a:lnTo>
                  <a:pt x="8555723" y="34239"/>
                </a:lnTo>
                <a:lnTo>
                  <a:pt x="8516645" y="15697"/>
                </a:lnTo>
                <a:lnTo>
                  <a:pt x="8474202" y="4051"/>
                </a:lnTo>
                <a:lnTo>
                  <a:pt x="8429117" y="0"/>
                </a:lnTo>
                <a:lnTo>
                  <a:pt x="250825" y="0"/>
                </a:lnTo>
                <a:lnTo>
                  <a:pt x="205740" y="4051"/>
                </a:lnTo>
                <a:lnTo>
                  <a:pt x="163296" y="15697"/>
                </a:lnTo>
                <a:lnTo>
                  <a:pt x="124231" y="34239"/>
                </a:lnTo>
                <a:lnTo>
                  <a:pt x="89217" y="58991"/>
                </a:lnTo>
                <a:lnTo>
                  <a:pt x="58991" y="89217"/>
                </a:lnTo>
                <a:lnTo>
                  <a:pt x="34239" y="124218"/>
                </a:lnTo>
                <a:lnTo>
                  <a:pt x="15684" y="163296"/>
                </a:lnTo>
                <a:lnTo>
                  <a:pt x="4038" y="205740"/>
                </a:lnTo>
                <a:lnTo>
                  <a:pt x="0" y="250825"/>
                </a:lnTo>
                <a:lnTo>
                  <a:pt x="0" y="1254125"/>
                </a:lnTo>
                <a:lnTo>
                  <a:pt x="4038" y="1299222"/>
                </a:lnTo>
                <a:lnTo>
                  <a:pt x="15684" y="1341666"/>
                </a:lnTo>
                <a:lnTo>
                  <a:pt x="34239" y="1380744"/>
                </a:lnTo>
                <a:lnTo>
                  <a:pt x="58991" y="1415745"/>
                </a:lnTo>
                <a:lnTo>
                  <a:pt x="89217" y="1445971"/>
                </a:lnTo>
                <a:lnTo>
                  <a:pt x="124231" y="1470723"/>
                </a:lnTo>
                <a:lnTo>
                  <a:pt x="163296" y="1489265"/>
                </a:lnTo>
                <a:lnTo>
                  <a:pt x="205740" y="1500911"/>
                </a:lnTo>
                <a:lnTo>
                  <a:pt x="250825" y="1504950"/>
                </a:lnTo>
                <a:lnTo>
                  <a:pt x="8429117" y="1504950"/>
                </a:lnTo>
                <a:lnTo>
                  <a:pt x="8474202" y="1500911"/>
                </a:lnTo>
                <a:lnTo>
                  <a:pt x="8516645" y="1489265"/>
                </a:lnTo>
                <a:lnTo>
                  <a:pt x="8555723" y="1470723"/>
                </a:lnTo>
                <a:lnTo>
                  <a:pt x="8590724" y="1445971"/>
                </a:lnTo>
                <a:lnTo>
                  <a:pt x="8620950" y="1415745"/>
                </a:lnTo>
                <a:lnTo>
                  <a:pt x="8645703" y="1380744"/>
                </a:lnTo>
                <a:lnTo>
                  <a:pt x="8664245" y="1341666"/>
                </a:lnTo>
                <a:lnTo>
                  <a:pt x="8675891" y="1299222"/>
                </a:lnTo>
                <a:lnTo>
                  <a:pt x="8679942" y="1254125"/>
                </a:lnTo>
                <a:lnTo>
                  <a:pt x="8679942" y="250825"/>
                </a:lnTo>
                <a:close/>
              </a:path>
            </a:pathLst>
          </a:custGeom>
          <a:solidFill>
            <a:srgbClr val="C0504D"/>
          </a:solidFill>
        </p:spPr>
        <p:txBody>
          <a:bodyPr wrap="square" lIns="0" tIns="0" rIns="0" bIns="0" rtlCol="0"/>
          <a:lstStyle/>
          <a:p>
            <a:endParaRPr/>
          </a:p>
        </p:txBody>
      </p:sp>
      <p:sp>
        <p:nvSpPr>
          <p:cNvPr id="4" name="object 4"/>
          <p:cNvSpPr txBox="1"/>
          <p:nvPr/>
        </p:nvSpPr>
        <p:spPr>
          <a:xfrm>
            <a:off x="383540" y="1061211"/>
            <a:ext cx="8088630" cy="1122680"/>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spc="110" dirty="0">
                <a:solidFill>
                  <a:srgbClr val="FFFFFF"/>
                </a:solidFill>
                <a:latin typeface="Times New Roman"/>
                <a:cs typeface="Times New Roman"/>
              </a:rPr>
              <a:t>Creating</a:t>
            </a:r>
            <a:r>
              <a:rPr sz="2400" spc="819" dirty="0">
                <a:solidFill>
                  <a:srgbClr val="FFFFFF"/>
                </a:solidFill>
                <a:latin typeface="Times New Roman"/>
                <a:cs typeface="Times New Roman"/>
              </a:rPr>
              <a:t> </a:t>
            </a:r>
            <a:r>
              <a:rPr sz="2400" spc="135" dirty="0">
                <a:solidFill>
                  <a:srgbClr val="FFFFFF"/>
                </a:solidFill>
                <a:latin typeface="Times New Roman"/>
                <a:cs typeface="Times New Roman"/>
              </a:rPr>
              <a:t>and </a:t>
            </a:r>
            <a:r>
              <a:rPr sz="2400" spc="90" dirty="0">
                <a:solidFill>
                  <a:srgbClr val="FFFFFF"/>
                </a:solidFill>
                <a:latin typeface="Times New Roman"/>
                <a:cs typeface="Times New Roman"/>
              </a:rPr>
              <a:t>maintaining </a:t>
            </a:r>
            <a:r>
              <a:rPr sz="2400" spc="40" dirty="0">
                <a:solidFill>
                  <a:srgbClr val="FFFFFF"/>
                </a:solidFill>
                <a:latin typeface="Times New Roman"/>
                <a:cs typeface="Times New Roman"/>
              </a:rPr>
              <a:t>a </a:t>
            </a:r>
            <a:r>
              <a:rPr sz="2400" spc="80" dirty="0">
                <a:solidFill>
                  <a:srgbClr val="FFFFFF"/>
                </a:solidFill>
                <a:latin typeface="Times New Roman"/>
                <a:cs typeface="Times New Roman"/>
              </a:rPr>
              <a:t>full-text </a:t>
            </a:r>
            <a:r>
              <a:rPr sz="2400" spc="105" dirty="0">
                <a:solidFill>
                  <a:srgbClr val="FFFFFF"/>
                </a:solidFill>
                <a:latin typeface="Times New Roman"/>
                <a:cs typeface="Times New Roman"/>
              </a:rPr>
              <a:t>index </a:t>
            </a:r>
            <a:r>
              <a:rPr sz="2400" spc="60" dirty="0">
                <a:solidFill>
                  <a:srgbClr val="FFFFFF"/>
                </a:solidFill>
                <a:latin typeface="Times New Roman"/>
                <a:cs typeface="Times New Roman"/>
              </a:rPr>
              <a:t>involves  </a:t>
            </a:r>
            <a:r>
              <a:rPr sz="2400" spc="95" dirty="0">
                <a:solidFill>
                  <a:srgbClr val="FFFFFF"/>
                </a:solidFill>
                <a:latin typeface="Times New Roman"/>
                <a:cs typeface="Times New Roman"/>
              </a:rPr>
              <a:t>populating</a:t>
            </a:r>
            <a:r>
              <a:rPr sz="2400" spc="-45"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55" dirty="0">
                <a:solidFill>
                  <a:srgbClr val="FFFFFF"/>
                </a:solidFill>
                <a:latin typeface="Times New Roman"/>
                <a:cs typeface="Times New Roman"/>
              </a:rPr>
              <a:t> </a:t>
            </a:r>
            <a:r>
              <a:rPr sz="2400" spc="105" dirty="0">
                <a:solidFill>
                  <a:srgbClr val="FFFFFF"/>
                </a:solidFill>
                <a:latin typeface="Times New Roman"/>
                <a:cs typeface="Times New Roman"/>
              </a:rPr>
              <a:t>index</a:t>
            </a:r>
            <a:r>
              <a:rPr sz="2400" spc="-60" dirty="0">
                <a:solidFill>
                  <a:srgbClr val="FFFFFF"/>
                </a:solidFill>
                <a:latin typeface="Times New Roman"/>
                <a:cs typeface="Times New Roman"/>
              </a:rPr>
              <a:t> </a:t>
            </a:r>
            <a:r>
              <a:rPr sz="2400" spc="50" dirty="0">
                <a:solidFill>
                  <a:srgbClr val="FFFFFF"/>
                </a:solidFill>
                <a:latin typeface="Times New Roman"/>
                <a:cs typeface="Times New Roman"/>
              </a:rPr>
              <a:t>by</a:t>
            </a:r>
            <a:r>
              <a:rPr sz="2400" spc="-45" dirty="0">
                <a:solidFill>
                  <a:srgbClr val="FFFFFF"/>
                </a:solidFill>
                <a:latin typeface="Times New Roman"/>
                <a:cs typeface="Times New Roman"/>
              </a:rPr>
              <a:t> </a:t>
            </a:r>
            <a:r>
              <a:rPr sz="2400" spc="75" dirty="0">
                <a:solidFill>
                  <a:srgbClr val="FFFFFF"/>
                </a:solidFill>
                <a:latin typeface="Times New Roman"/>
                <a:cs typeface="Times New Roman"/>
              </a:rPr>
              <a:t>using</a:t>
            </a:r>
            <a:r>
              <a:rPr sz="2400" spc="-5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50" dirty="0">
                <a:solidFill>
                  <a:srgbClr val="FFFFFF"/>
                </a:solidFill>
                <a:latin typeface="Times New Roman"/>
                <a:cs typeface="Times New Roman"/>
              </a:rPr>
              <a:t> </a:t>
            </a:r>
            <a:r>
              <a:rPr sz="2400" spc="60" dirty="0">
                <a:solidFill>
                  <a:srgbClr val="FFFFFF"/>
                </a:solidFill>
                <a:latin typeface="Times New Roman"/>
                <a:cs typeface="Times New Roman"/>
              </a:rPr>
              <a:t>process</a:t>
            </a:r>
            <a:r>
              <a:rPr sz="2400" spc="-50" dirty="0">
                <a:solidFill>
                  <a:srgbClr val="FFFFFF"/>
                </a:solidFill>
                <a:latin typeface="Times New Roman"/>
                <a:cs typeface="Times New Roman"/>
              </a:rPr>
              <a:t> </a:t>
            </a:r>
            <a:r>
              <a:rPr sz="2400" spc="40" dirty="0">
                <a:solidFill>
                  <a:srgbClr val="FFFFFF"/>
                </a:solidFill>
                <a:latin typeface="Times New Roman"/>
                <a:cs typeface="Times New Roman"/>
              </a:rPr>
              <a:t>called</a:t>
            </a:r>
            <a:r>
              <a:rPr sz="2400" spc="-5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50" dirty="0">
                <a:solidFill>
                  <a:srgbClr val="FFFFFF"/>
                </a:solidFill>
                <a:latin typeface="Times New Roman"/>
                <a:cs typeface="Times New Roman"/>
              </a:rPr>
              <a:t> </a:t>
            </a:r>
            <a:r>
              <a:rPr sz="2400" spc="110" dirty="0">
                <a:solidFill>
                  <a:srgbClr val="FFFFFF"/>
                </a:solidFill>
                <a:latin typeface="Times New Roman"/>
                <a:cs typeface="Times New Roman"/>
              </a:rPr>
              <a:t>population  </a:t>
            </a:r>
            <a:r>
              <a:rPr sz="2400" spc="40" dirty="0">
                <a:solidFill>
                  <a:srgbClr val="FFFFFF"/>
                </a:solidFill>
                <a:latin typeface="Times New Roman"/>
                <a:cs typeface="Times New Roman"/>
              </a:rPr>
              <a:t>also</a:t>
            </a:r>
            <a:r>
              <a:rPr sz="2400" spc="-90" dirty="0">
                <a:solidFill>
                  <a:srgbClr val="FFFFFF"/>
                </a:solidFill>
                <a:latin typeface="Times New Roman"/>
                <a:cs typeface="Times New Roman"/>
              </a:rPr>
              <a:t> </a:t>
            </a:r>
            <a:r>
              <a:rPr sz="2400" spc="140" dirty="0">
                <a:solidFill>
                  <a:srgbClr val="FFFFFF"/>
                </a:solidFill>
                <a:latin typeface="Times New Roman"/>
                <a:cs typeface="Times New Roman"/>
              </a:rPr>
              <a:t>known</a:t>
            </a:r>
            <a:r>
              <a:rPr sz="2400" spc="-90" dirty="0">
                <a:solidFill>
                  <a:srgbClr val="FFFFFF"/>
                </a:solidFill>
                <a:latin typeface="Times New Roman"/>
                <a:cs typeface="Times New Roman"/>
              </a:rPr>
              <a:t> </a:t>
            </a:r>
            <a:r>
              <a:rPr sz="2400" spc="20" dirty="0">
                <a:solidFill>
                  <a:srgbClr val="FFFFFF"/>
                </a:solidFill>
                <a:latin typeface="Times New Roman"/>
                <a:cs typeface="Times New Roman"/>
              </a:rPr>
              <a:t>as</a:t>
            </a:r>
            <a:r>
              <a:rPr sz="2400" spc="-90" dirty="0">
                <a:solidFill>
                  <a:srgbClr val="FFFFFF"/>
                </a:solidFill>
                <a:latin typeface="Times New Roman"/>
                <a:cs typeface="Times New Roman"/>
              </a:rPr>
              <a:t> </a:t>
            </a:r>
            <a:r>
              <a:rPr sz="2400" spc="40" dirty="0">
                <a:solidFill>
                  <a:srgbClr val="FFFFFF"/>
                </a:solidFill>
                <a:latin typeface="Times New Roman"/>
                <a:cs typeface="Times New Roman"/>
              </a:rPr>
              <a:t>a</a:t>
            </a:r>
            <a:r>
              <a:rPr sz="2400" spc="-85" dirty="0">
                <a:solidFill>
                  <a:srgbClr val="FFFFFF"/>
                </a:solidFill>
                <a:latin typeface="Times New Roman"/>
                <a:cs typeface="Times New Roman"/>
              </a:rPr>
              <a:t> </a:t>
            </a:r>
            <a:r>
              <a:rPr sz="2400" spc="35" dirty="0">
                <a:solidFill>
                  <a:srgbClr val="FFFFFF"/>
                </a:solidFill>
                <a:latin typeface="Times New Roman"/>
                <a:cs typeface="Times New Roman"/>
              </a:rPr>
              <a:t>crawl.</a:t>
            </a:r>
            <a:endParaRPr sz="2400">
              <a:latin typeface="Times New Roman"/>
              <a:cs typeface="Times New Roman"/>
            </a:endParaRPr>
          </a:p>
        </p:txBody>
      </p:sp>
      <p:sp>
        <p:nvSpPr>
          <p:cNvPr id="5" name="object 5"/>
          <p:cNvSpPr txBox="1"/>
          <p:nvPr/>
        </p:nvSpPr>
        <p:spPr>
          <a:xfrm>
            <a:off x="383540" y="3002025"/>
            <a:ext cx="2415540" cy="361315"/>
          </a:xfrm>
          <a:prstGeom prst="rect">
            <a:avLst/>
          </a:prstGeom>
        </p:spPr>
        <p:txBody>
          <a:bodyPr vert="horz" wrap="square" lIns="0" tIns="12700" rIns="0" bIns="0" rtlCol="0">
            <a:spAutoFit/>
          </a:bodyPr>
          <a:lstStyle/>
          <a:p>
            <a:pPr marL="12700">
              <a:lnSpc>
                <a:spcPct val="100000"/>
              </a:lnSpc>
              <a:spcBef>
                <a:spcPts val="100"/>
              </a:spcBef>
            </a:pPr>
            <a:r>
              <a:rPr sz="2200" b="1" spc="10" dirty="0">
                <a:latin typeface="Times New Roman"/>
                <a:cs typeface="Times New Roman"/>
              </a:rPr>
              <a:t>Types </a:t>
            </a:r>
            <a:r>
              <a:rPr sz="2200" b="1" spc="55" dirty="0">
                <a:latin typeface="Times New Roman"/>
                <a:cs typeface="Times New Roman"/>
              </a:rPr>
              <a:t>of</a:t>
            </a:r>
            <a:r>
              <a:rPr sz="2200" b="1" spc="-295" dirty="0">
                <a:latin typeface="Times New Roman"/>
                <a:cs typeface="Times New Roman"/>
              </a:rPr>
              <a:t> </a:t>
            </a:r>
            <a:r>
              <a:rPr sz="2200" b="1" spc="10" dirty="0">
                <a:latin typeface="Times New Roman"/>
                <a:cs typeface="Times New Roman"/>
              </a:rPr>
              <a:t>population</a:t>
            </a:r>
            <a:endParaRPr sz="2200">
              <a:latin typeface="Times New Roman"/>
              <a:cs typeface="Times New Roman"/>
            </a:endParaRPr>
          </a:p>
        </p:txBody>
      </p:sp>
      <p:sp>
        <p:nvSpPr>
          <p:cNvPr id="6" name="object 6"/>
          <p:cNvSpPr/>
          <p:nvPr/>
        </p:nvSpPr>
        <p:spPr>
          <a:xfrm>
            <a:off x="445008" y="3432047"/>
            <a:ext cx="7924800" cy="2213610"/>
          </a:xfrm>
          <a:custGeom>
            <a:avLst/>
            <a:gdLst/>
            <a:ahLst/>
            <a:cxnLst/>
            <a:rect l="l" t="t" r="r" b="b"/>
            <a:pathLst>
              <a:path w="7924800" h="2213610">
                <a:moveTo>
                  <a:pt x="7924800" y="368935"/>
                </a:moveTo>
                <a:lnTo>
                  <a:pt x="7921917" y="322668"/>
                </a:lnTo>
                <a:lnTo>
                  <a:pt x="7913522" y="278117"/>
                </a:lnTo>
                <a:lnTo>
                  <a:pt x="7899959" y="235623"/>
                </a:lnTo>
                <a:lnTo>
                  <a:pt x="7881556" y="195529"/>
                </a:lnTo>
                <a:lnTo>
                  <a:pt x="7858684" y="158178"/>
                </a:lnTo>
                <a:lnTo>
                  <a:pt x="7831671" y="123939"/>
                </a:lnTo>
                <a:lnTo>
                  <a:pt x="7800861" y="93129"/>
                </a:lnTo>
                <a:lnTo>
                  <a:pt x="7766621" y="66116"/>
                </a:lnTo>
                <a:lnTo>
                  <a:pt x="7729271" y="43243"/>
                </a:lnTo>
                <a:lnTo>
                  <a:pt x="7689177" y="24841"/>
                </a:lnTo>
                <a:lnTo>
                  <a:pt x="7646683" y="11277"/>
                </a:lnTo>
                <a:lnTo>
                  <a:pt x="7602131" y="2882"/>
                </a:lnTo>
                <a:lnTo>
                  <a:pt x="7555865" y="0"/>
                </a:lnTo>
                <a:lnTo>
                  <a:pt x="368935" y="0"/>
                </a:lnTo>
                <a:lnTo>
                  <a:pt x="322656" y="2882"/>
                </a:lnTo>
                <a:lnTo>
                  <a:pt x="278091" y="11277"/>
                </a:lnTo>
                <a:lnTo>
                  <a:pt x="235585" y="24841"/>
                </a:lnTo>
                <a:lnTo>
                  <a:pt x="195491" y="43243"/>
                </a:lnTo>
                <a:lnTo>
                  <a:pt x="158153" y="66116"/>
                </a:lnTo>
                <a:lnTo>
                  <a:pt x="123901" y="93129"/>
                </a:lnTo>
                <a:lnTo>
                  <a:pt x="93103" y="123939"/>
                </a:lnTo>
                <a:lnTo>
                  <a:pt x="66090" y="158178"/>
                </a:lnTo>
                <a:lnTo>
                  <a:pt x="43218" y="195529"/>
                </a:lnTo>
                <a:lnTo>
                  <a:pt x="24828" y="235623"/>
                </a:lnTo>
                <a:lnTo>
                  <a:pt x="11264" y="278117"/>
                </a:lnTo>
                <a:lnTo>
                  <a:pt x="2870" y="322668"/>
                </a:lnTo>
                <a:lnTo>
                  <a:pt x="0" y="368935"/>
                </a:lnTo>
                <a:lnTo>
                  <a:pt x="0" y="1844675"/>
                </a:lnTo>
                <a:lnTo>
                  <a:pt x="2870" y="1890953"/>
                </a:lnTo>
                <a:lnTo>
                  <a:pt x="11264" y="1935505"/>
                </a:lnTo>
                <a:lnTo>
                  <a:pt x="24828" y="1977999"/>
                </a:lnTo>
                <a:lnTo>
                  <a:pt x="43218" y="2018093"/>
                </a:lnTo>
                <a:lnTo>
                  <a:pt x="66090" y="2055444"/>
                </a:lnTo>
                <a:lnTo>
                  <a:pt x="93103" y="2089683"/>
                </a:lnTo>
                <a:lnTo>
                  <a:pt x="123901" y="2120493"/>
                </a:lnTo>
                <a:lnTo>
                  <a:pt x="158153" y="2147506"/>
                </a:lnTo>
                <a:lnTo>
                  <a:pt x="195491" y="2170379"/>
                </a:lnTo>
                <a:lnTo>
                  <a:pt x="235585" y="2188781"/>
                </a:lnTo>
                <a:lnTo>
                  <a:pt x="278091" y="2202345"/>
                </a:lnTo>
                <a:lnTo>
                  <a:pt x="322656" y="2210739"/>
                </a:lnTo>
                <a:lnTo>
                  <a:pt x="368935" y="2213610"/>
                </a:lnTo>
                <a:lnTo>
                  <a:pt x="7555865" y="2213610"/>
                </a:lnTo>
                <a:lnTo>
                  <a:pt x="7602131" y="2210739"/>
                </a:lnTo>
                <a:lnTo>
                  <a:pt x="7646683" y="2202345"/>
                </a:lnTo>
                <a:lnTo>
                  <a:pt x="7689177" y="2188781"/>
                </a:lnTo>
                <a:lnTo>
                  <a:pt x="7729271" y="2170379"/>
                </a:lnTo>
                <a:lnTo>
                  <a:pt x="7766621" y="2147506"/>
                </a:lnTo>
                <a:lnTo>
                  <a:pt x="7800861" y="2120493"/>
                </a:lnTo>
                <a:lnTo>
                  <a:pt x="7831671" y="2089683"/>
                </a:lnTo>
                <a:lnTo>
                  <a:pt x="7858684" y="2055444"/>
                </a:lnTo>
                <a:lnTo>
                  <a:pt x="7881556" y="2018093"/>
                </a:lnTo>
                <a:lnTo>
                  <a:pt x="7899959" y="1977999"/>
                </a:lnTo>
                <a:lnTo>
                  <a:pt x="7913522" y="1935505"/>
                </a:lnTo>
                <a:lnTo>
                  <a:pt x="7921917" y="1890953"/>
                </a:lnTo>
                <a:lnTo>
                  <a:pt x="7924800" y="1844675"/>
                </a:lnTo>
                <a:lnTo>
                  <a:pt x="7924800" y="368935"/>
                </a:lnTo>
                <a:close/>
              </a:path>
            </a:pathLst>
          </a:custGeom>
          <a:solidFill>
            <a:srgbClr val="4F81BC"/>
          </a:solidFill>
        </p:spPr>
        <p:txBody>
          <a:bodyPr wrap="square" lIns="0" tIns="0" rIns="0" bIns="0" rtlCol="0"/>
          <a:lstStyle/>
          <a:p>
            <a:endParaRPr/>
          </a:p>
        </p:txBody>
      </p:sp>
      <p:sp>
        <p:nvSpPr>
          <p:cNvPr id="7" name="object 7"/>
          <p:cNvSpPr txBox="1"/>
          <p:nvPr/>
        </p:nvSpPr>
        <p:spPr>
          <a:xfrm>
            <a:off x="920241" y="3752596"/>
            <a:ext cx="6607175" cy="1463040"/>
          </a:xfrm>
          <a:prstGeom prst="rect">
            <a:avLst/>
          </a:prstGeom>
        </p:spPr>
        <p:txBody>
          <a:bodyPr vert="horz" wrap="square" lIns="0" tIns="12065" rIns="0" bIns="0" rtlCol="0">
            <a:spAutoFit/>
          </a:bodyPr>
          <a:lstStyle/>
          <a:p>
            <a:pPr marL="12700">
              <a:lnSpc>
                <a:spcPct val="100000"/>
              </a:lnSpc>
              <a:spcBef>
                <a:spcPts val="95"/>
              </a:spcBef>
            </a:pPr>
            <a:r>
              <a:rPr sz="2000" spc="175" dirty="0">
                <a:solidFill>
                  <a:srgbClr val="FFFFFF"/>
                </a:solidFill>
                <a:latin typeface="Times New Roman"/>
                <a:cs typeface="Times New Roman"/>
              </a:rPr>
              <a:t>A</a:t>
            </a:r>
            <a:r>
              <a:rPr sz="2000" spc="-65" dirty="0">
                <a:solidFill>
                  <a:srgbClr val="FFFFFF"/>
                </a:solidFill>
                <a:latin typeface="Times New Roman"/>
                <a:cs typeface="Times New Roman"/>
              </a:rPr>
              <a:t> </a:t>
            </a:r>
            <a:r>
              <a:rPr sz="2000" spc="60" dirty="0">
                <a:solidFill>
                  <a:srgbClr val="FFFFFF"/>
                </a:solidFill>
                <a:latin typeface="Times New Roman"/>
                <a:cs typeface="Times New Roman"/>
              </a:rPr>
              <a:t>full-text</a:t>
            </a:r>
            <a:r>
              <a:rPr sz="2000" spc="-50" dirty="0">
                <a:solidFill>
                  <a:srgbClr val="FFFFFF"/>
                </a:solidFill>
                <a:latin typeface="Times New Roman"/>
                <a:cs typeface="Times New Roman"/>
              </a:rPr>
              <a:t> </a:t>
            </a:r>
            <a:r>
              <a:rPr sz="2000" spc="90" dirty="0">
                <a:solidFill>
                  <a:srgbClr val="FFFFFF"/>
                </a:solidFill>
                <a:latin typeface="Times New Roman"/>
                <a:cs typeface="Times New Roman"/>
              </a:rPr>
              <a:t>index</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supports</a:t>
            </a:r>
            <a:r>
              <a:rPr sz="2000" spc="-5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60" dirty="0">
                <a:solidFill>
                  <a:srgbClr val="FFFFFF"/>
                </a:solidFill>
                <a:latin typeface="Times New Roman"/>
                <a:cs typeface="Times New Roman"/>
              </a:rPr>
              <a:t> </a:t>
            </a:r>
            <a:r>
              <a:rPr sz="2000" spc="45" dirty="0">
                <a:solidFill>
                  <a:srgbClr val="FFFFFF"/>
                </a:solidFill>
                <a:latin typeface="Times New Roman"/>
                <a:cs typeface="Times New Roman"/>
              </a:rPr>
              <a:t>following</a:t>
            </a:r>
            <a:r>
              <a:rPr sz="2000" spc="-40" dirty="0">
                <a:solidFill>
                  <a:srgbClr val="FFFFFF"/>
                </a:solidFill>
                <a:latin typeface="Times New Roman"/>
                <a:cs typeface="Times New Roman"/>
              </a:rPr>
              <a:t> </a:t>
            </a:r>
            <a:r>
              <a:rPr sz="2000" spc="55" dirty="0">
                <a:solidFill>
                  <a:srgbClr val="FFFFFF"/>
                </a:solidFill>
                <a:latin typeface="Times New Roman"/>
                <a:cs typeface="Times New Roman"/>
              </a:rPr>
              <a:t>types</a:t>
            </a:r>
            <a:r>
              <a:rPr sz="2000" spc="-4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65" dirty="0">
                <a:solidFill>
                  <a:srgbClr val="FFFFFF"/>
                </a:solidFill>
                <a:latin typeface="Times New Roman"/>
                <a:cs typeface="Times New Roman"/>
              </a:rPr>
              <a:t> </a:t>
            </a:r>
            <a:r>
              <a:rPr sz="2000" spc="75" dirty="0">
                <a:solidFill>
                  <a:srgbClr val="FFFFFF"/>
                </a:solidFill>
                <a:latin typeface="Times New Roman"/>
                <a:cs typeface="Times New Roman"/>
              </a:rPr>
              <a:t>population:</a:t>
            </a:r>
            <a:endParaRPr sz="2000">
              <a:latin typeface="Times New Roman"/>
              <a:cs typeface="Times New Roman"/>
            </a:endParaRPr>
          </a:p>
          <a:p>
            <a:pPr marL="298450" indent="-286385">
              <a:lnSpc>
                <a:spcPct val="100000"/>
              </a:lnSpc>
              <a:spcBef>
                <a:spcPts val="2440"/>
              </a:spcBef>
              <a:buFont typeface="Wingdings"/>
              <a:buChar char=""/>
              <a:tabLst>
                <a:tab pos="299085" algn="l"/>
              </a:tabLst>
            </a:pPr>
            <a:r>
              <a:rPr sz="1800" spc="30" dirty="0">
                <a:solidFill>
                  <a:srgbClr val="FFFFFF"/>
                </a:solidFill>
                <a:latin typeface="Times New Roman"/>
                <a:cs typeface="Times New Roman"/>
              </a:rPr>
              <a:t>Full</a:t>
            </a:r>
            <a:r>
              <a:rPr sz="1800" spc="-70" dirty="0">
                <a:solidFill>
                  <a:srgbClr val="FFFFFF"/>
                </a:solidFill>
                <a:latin typeface="Times New Roman"/>
                <a:cs typeface="Times New Roman"/>
              </a:rPr>
              <a:t> </a:t>
            </a:r>
            <a:r>
              <a:rPr sz="1800" spc="80" dirty="0">
                <a:solidFill>
                  <a:srgbClr val="FFFFFF"/>
                </a:solidFill>
                <a:latin typeface="Times New Roman"/>
                <a:cs typeface="Times New Roman"/>
              </a:rPr>
              <a:t>population</a:t>
            </a:r>
            <a:endParaRPr sz="1800">
              <a:latin typeface="Times New Roman"/>
              <a:cs typeface="Times New Roman"/>
            </a:endParaRPr>
          </a:p>
          <a:p>
            <a:pPr marL="298450" indent="-286385">
              <a:lnSpc>
                <a:spcPct val="100000"/>
              </a:lnSpc>
              <a:buFont typeface="Wingdings"/>
              <a:buChar char=""/>
              <a:tabLst>
                <a:tab pos="299085" algn="l"/>
              </a:tabLst>
            </a:pPr>
            <a:r>
              <a:rPr sz="1800" spc="80" dirty="0">
                <a:solidFill>
                  <a:srgbClr val="FFFFFF"/>
                </a:solidFill>
                <a:latin typeface="Times New Roman"/>
                <a:cs typeface="Times New Roman"/>
              </a:rPr>
              <a:t>Automatic</a:t>
            </a:r>
            <a:r>
              <a:rPr sz="1800" spc="-75" dirty="0">
                <a:solidFill>
                  <a:srgbClr val="FFFFFF"/>
                </a:solidFill>
                <a:latin typeface="Times New Roman"/>
                <a:cs typeface="Times New Roman"/>
              </a:rPr>
              <a:t> </a:t>
            </a:r>
            <a:r>
              <a:rPr sz="1800" spc="75" dirty="0">
                <a:solidFill>
                  <a:srgbClr val="FFFFFF"/>
                </a:solidFill>
                <a:latin typeface="Times New Roman"/>
                <a:cs typeface="Times New Roman"/>
              </a:rPr>
              <a:t>or</a:t>
            </a:r>
            <a:r>
              <a:rPr sz="1800" spc="-60" dirty="0">
                <a:solidFill>
                  <a:srgbClr val="FFFFFF"/>
                </a:solidFill>
                <a:latin typeface="Times New Roman"/>
                <a:cs typeface="Times New Roman"/>
              </a:rPr>
              <a:t> </a:t>
            </a:r>
            <a:r>
              <a:rPr sz="1800" spc="75" dirty="0">
                <a:solidFill>
                  <a:srgbClr val="FFFFFF"/>
                </a:solidFill>
                <a:latin typeface="Times New Roman"/>
                <a:cs typeface="Times New Roman"/>
              </a:rPr>
              <a:t>manual</a:t>
            </a:r>
            <a:r>
              <a:rPr sz="1800" spc="-75" dirty="0">
                <a:solidFill>
                  <a:srgbClr val="FFFFFF"/>
                </a:solidFill>
                <a:latin typeface="Times New Roman"/>
                <a:cs typeface="Times New Roman"/>
              </a:rPr>
              <a:t> </a:t>
            </a:r>
            <a:r>
              <a:rPr sz="1800" spc="80" dirty="0">
                <a:solidFill>
                  <a:srgbClr val="FFFFFF"/>
                </a:solidFill>
                <a:latin typeface="Times New Roman"/>
                <a:cs typeface="Times New Roman"/>
              </a:rPr>
              <a:t>population</a:t>
            </a:r>
            <a:r>
              <a:rPr sz="1800" spc="-70" dirty="0">
                <a:solidFill>
                  <a:srgbClr val="FFFFFF"/>
                </a:solidFill>
                <a:latin typeface="Times New Roman"/>
                <a:cs typeface="Times New Roman"/>
              </a:rPr>
              <a:t> </a:t>
            </a:r>
            <a:r>
              <a:rPr sz="1800" spc="55" dirty="0">
                <a:solidFill>
                  <a:srgbClr val="FFFFFF"/>
                </a:solidFill>
                <a:latin typeface="Times New Roman"/>
                <a:cs typeface="Times New Roman"/>
              </a:rPr>
              <a:t>based</a:t>
            </a:r>
            <a:r>
              <a:rPr sz="1800" spc="-65" dirty="0">
                <a:solidFill>
                  <a:srgbClr val="FFFFFF"/>
                </a:solidFill>
                <a:latin typeface="Times New Roman"/>
                <a:cs typeface="Times New Roman"/>
              </a:rPr>
              <a:t> </a:t>
            </a:r>
            <a:r>
              <a:rPr sz="1800" spc="120" dirty="0">
                <a:solidFill>
                  <a:srgbClr val="FFFFFF"/>
                </a:solidFill>
                <a:latin typeface="Times New Roman"/>
                <a:cs typeface="Times New Roman"/>
              </a:rPr>
              <a:t>on</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change</a:t>
            </a:r>
            <a:r>
              <a:rPr sz="1800" spc="-65" dirty="0">
                <a:solidFill>
                  <a:srgbClr val="FFFFFF"/>
                </a:solidFill>
                <a:latin typeface="Times New Roman"/>
                <a:cs typeface="Times New Roman"/>
              </a:rPr>
              <a:t> </a:t>
            </a:r>
            <a:r>
              <a:rPr sz="1800" spc="55" dirty="0">
                <a:solidFill>
                  <a:srgbClr val="FFFFFF"/>
                </a:solidFill>
                <a:latin typeface="Times New Roman"/>
                <a:cs typeface="Times New Roman"/>
              </a:rPr>
              <a:t>tracking</a:t>
            </a:r>
            <a:endParaRPr sz="1800">
              <a:latin typeface="Times New Roman"/>
              <a:cs typeface="Times New Roman"/>
            </a:endParaRPr>
          </a:p>
          <a:p>
            <a:pPr marL="298450" indent="-286385">
              <a:lnSpc>
                <a:spcPct val="100000"/>
              </a:lnSpc>
              <a:buFont typeface="Wingdings"/>
              <a:buChar char=""/>
              <a:tabLst>
                <a:tab pos="299085" algn="l"/>
              </a:tabLst>
            </a:pPr>
            <a:r>
              <a:rPr sz="1800" spc="65" dirty="0">
                <a:solidFill>
                  <a:srgbClr val="FFFFFF"/>
                </a:solidFill>
                <a:latin typeface="Times New Roman"/>
                <a:cs typeface="Times New Roman"/>
              </a:rPr>
              <a:t>Incremental</a:t>
            </a:r>
            <a:r>
              <a:rPr sz="1800" spc="-75" dirty="0">
                <a:solidFill>
                  <a:srgbClr val="FFFFFF"/>
                </a:solidFill>
                <a:latin typeface="Times New Roman"/>
                <a:cs typeface="Times New Roman"/>
              </a:rPr>
              <a:t> </a:t>
            </a:r>
            <a:r>
              <a:rPr sz="1800" spc="80" dirty="0">
                <a:solidFill>
                  <a:srgbClr val="FFFFFF"/>
                </a:solidFill>
                <a:latin typeface="Times New Roman"/>
                <a:cs typeface="Times New Roman"/>
              </a:rPr>
              <a:t>population</a:t>
            </a:r>
            <a:r>
              <a:rPr sz="1800" spc="-75" dirty="0">
                <a:solidFill>
                  <a:srgbClr val="FFFFFF"/>
                </a:solidFill>
                <a:latin typeface="Times New Roman"/>
                <a:cs typeface="Times New Roman"/>
              </a:rPr>
              <a:t> </a:t>
            </a:r>
            <a:r>
              <a:rPr sz="1800" spc="55" dirty="0">
                <a:solidFill>
                  <a:srgbClr val="FFFFFF"/>
                </a:solidFill>
                <a:latin typeface="Times New Roman"/>
                <a:cs typeface="Times New Roman"/>
              </a:rPr>
              <a:t>based</a:t>
            </a:r>
            <a:r>
              <a:rPr sz="1800" spc="-65" dirty="0">
                <a:solidFill>
                  <a:srgbClr val="FFFFFF"/>
                </a:solidFill>
                <a:latin typeface="Times New Roman"/>
                <a:cs typeface="Times New Roman"/>
              </a:rPr>
              <a:t> </a:t>
            </a:r>
            <a:r>
              <a:rPr sz="1800" spc="120" dirty="0">
                <a:solidFill>
                  <a:srgbClr val="FFFFFF"/>
                </a:solidFill>
                <a:latin typeface="Times New Roman"/>
                <a:cs typeface="Times New Roman"/>
              </a:rPr>
              <a:t>on</a:t>
            </a:r>
            <a:r>
              <a:rPr sz="1800" spc="-6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5" dirty="0">
                <a:solidFill>
                  <a:srgbClr val="FFFFFF"/>
                </a:solidFill>
                <a:latin typeface="Times New Roman"/>
                <a:cs typeface="Times New Roman"/>
              </a:rPr>
              <a:t> </a:t>
            </a:r>
            <a:r>
              <a:rPr sz="1800" spc="65" dirty="0">
                <a:solidFill>
                  <a:srgbClr val="FFFFFF"/>
                </a:solidFill>
                <a:latin typeface="Times New Roman"/>
                <a:cs typeface="Times New Roman"/>
              </a:rPr>
              <a:t>timestamp</a:t>
            </a:r>
            <a:endParaRPr sz="18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27</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830320" cy="574040"/>
          </a:xfrm>
          <a:prstGeom prst="rect">
            <a:avLst/>
          </a:prstGeom>
        </p:spPr>
        <p:txBody>
          <a:bodyPr vert="horz" wrap="square" lIns="0" tIns="12700" rIns="0" bIns="0" rtlCol="0">
            <a:spAutoFit/>
          </a:bodyPr>
          <a:lstStyle/>
          <a:p>
            <a:pPr marL="12700">
              <a:lnSpc>
                <a:spcPct val="100000"/>
              </a:lnSpc>
              <a:spcBef>
                <a:spcPts val="100"/>
              </a:spcBef>
            </a:pPr>
            <a:r>
              <a:rPr b="0" spc="155" dirty="0">
                <a:latin typeface="Times New Roman"/>
                <a:cs typeface="Times New Roman"/>
              </a:rPr>
              <a:t>Index</a:t>
            </a:r>
            <a:r>
              <a:rPr b="0" spc="-204" dirty="0">
                <a:latin typeface="Times New Roman"/>
                <a:cs typeface="Times New Roman"/>
              </a:rPr>
              <a:t> </a:t>
            </a:r>
            <a:r>
              <a:rPr b="0" spc="140" dirty="0">
                <a:latin typeface="Times New Roman"/>
                <a:cs typeface="Times New Roman"/>
              </a:rPr>
              <a:t>Management</a:t>
            </a:r>
          </a:p>
        </p:txBody>
      </p:sp>
      <p:sp>
        <p:nvSpPr>
          <p:cNvPr id="3" name="object 3"/>
          <p:cNvSpPr/>
          <p:nvPr/>
        </p:nvSpPr>
        <p:spPr>
          <a:xfrm>
            <a:off x="1589532" y="1340358"/>
            <a:ext cx="6019800" cy="3001010"/>
          </a:xfrm>
          <a:custGeom>
            <a:avLst/>
            <a:gdLst/>
            <a:ahLst/>
            <a:cxnLst/>
            <a:rect l="l" t="t" r="r" b="b"/>
            <a:pathLst>
              <a:path w="6019800" h="3001010">
                <a:moveTo>
                  <a:pt x="3009900" y="0"/>
                </a:moveTo>
                <a:lnTo>
                  <a:pt x="0" y="1146175"/>
                </a:lnTo>
                <a:lnTo>
                  <a:pt x="1149731" y="3000756"/>
                </a:lnTo>
                <a:lnTo>
                  <a:pt x="4870069" y="3000756"/>
                </a:lnTo>
                <a:lnTo>
                  <a:pt x="6019800" y="1146175"/>
                </a:lnTo>
                <a:lnTo>
                  <a:pt x="3009900" y="0"/>
                </a:lnTo>
                <a:close/>
              </a:path>
            </a:pathLst>
          </a:custGeom>
          <a:solidFill>
            <a:srgbClr val="205868"/>
          </a:solidFill>
        </p:spPr>
        <p:txBody>
          <a:bodyPr wrap="square" lIns="0" tIns="0" rIns="0" bIns="0" rtlCol="0"/>
          <a:lstStyle/>
          <a:p>
            <a:endParaRPr/>
          </a:p>
        </p:txBody>
      </p:sp>
      <p:sp>
        <p:nvSpPr>
          <p:cNvPr id="4" name="object 4"/>
          <p:cNvSpPr txBox="1"/>
          <p:nvPr/>
        </p:nvSpPr>
        <p:spPr>
          <a:xfrm>
            <a:off x="2818383" y="2021840"/>
            <a:ext cx="3564254" cy="2220595"/>
          </a:xfrm>
          <a:prstGeom prst="rect">
            <a:avLst/>
          </a:prstGeom>
        </p:spPr>
        <p:txBody>
          <a:bodyPr vert="horz" wrap="square" lIns="0" tIns="12700" rIns="0" bIns="0" rtlCol="0">
            <a:spAutoFit/>
          </a:bodyPr>
          <a:lstStyle/>
          <a:p>
            <a:pPr marL="12700" marR="5080" algn="just">
              <a:lnSpc>
                <a:spcPct val="100000"/>
              </a:lnSpc>
              <a:spcBef>
                <a:spcPts val="100"/>
              </a:spcBef>
            </a:pPr>
            <a:r>
              <a:rPr sz="2400" spc="100" dirty="0">
                <a:solidFill>
                  <a:srgbClr val="FFFFFF"/>
                </a:solidFill>
                <a:latin typeface="Times New Roman"/>
                <a:cs typeface="Times New Roman"/>
              </a:rPr>
              <a:t>Index </a:t>
            </a:r>
            <a:r>
              <a:rPr sz="2400" spc="95" dirty="0">
                <a:solidFill>
                  <a:srgbClr val="FFFFFF"/>
                </a:solidFill>
                <a:latin typeface="Times New Roman"/>
                <a:cs typeface="Times New Roman"/>
              </a:rPr>
              <a:t>management </a:t>
            </a:r>
            <a:r>
              <a:rPr sz="2400" spc="40" dirty="0">
                <a:solidFill>
                  <a:srgbClr val="FFFFFF"/>
                </a:solidFill>
                <a:latin typeface="Times New Roman"/>
                <a:cs typeface="Times New Roman"/>
              </a:rPr>
              <a:t>allow  </a:t>
            </a:r>
            <a:r>
              <a:rPr sz="2400" spc="85" dirty="0">
                <a:solidFill>
                  <a:srgbClr val="FFFFFF"/>
                </a:solidFill>
                <a:latin typeface="Times New Roman"/>
                <a:cs typeface="Times New Roman"/>
              </a:rPr>
              <a:t>user </a:t>
            </a:r>
            <a:r>
              <a:rPr sz="2400" spc="135" dirty="0">
                <a:solidFill>
                  <a:srgbClr val="FFFFFF"/>
                </a:solidFill>
                <a:latin typeface="Times New Roman"/>
                <a:cs typeface="Times New Roman"/>
              </a:rPr>
              <a:t>to </a:t>
            </a:r>
            <a:r>
              <a:rPr sz="2400" spc="70" dirty="0">
                <a:solidFill>
                  <a:srgbClr val="FFFFFF"/>
                </a:solidFill>
                <a:latin typeface="Times New Roman"/>
                <a:cs typeface="Times New Roman"/>
              </a:rPr>
              <a:t>manage </a:t>
            </a:r>
            <a:r>
              <a:rPr sz="2400" spc="85" dirty="0">
                <a:solidFill>
                  <a:srgbClr val="FFFFFF"/>
                </a:solidFill>
                <a:latin typeface="Times New Roman"/>
                <a:cs typeface="Times New Roman"/>
              </a:rPr>
              <a:t>indexes </a:t>
            </a:r>
            <a:r>
              <a:rPr sz="2400" spc="114" dirty="0">
                <a:solidFill>
                  <a:srgbClr val="FFFFFF"/>
                </a:solidFill>
                <a:latin typeface="Times New Roman"/>
                <a:cs typeface="Times New Roman"/>
              </a:rPr>
              <a:t>in  </a:t>
            </a:r>
            <a:r>
              <a:rPr sz="2400" spc="85" dirty="0">
                <a:solidFill>
                  <a:srgbClr val="FFFFFF"/>
                </a:solidFill>
                <a:latin typeface="Times New Roman"/>
                <a:cs typeface="Times New Roman"/>
              </a:rPr>
              <a:t>terms</a:t>
            </a:r>
            <a:r>
              <a:rPr sz="2400" spc="770" dirty="0">
                <a:solidFill>
                  <a:srgbClr val="FFFFFF"/>
                </a:solidFill>
                <a:latin typeface="Times New Roman"/>
                <a:cs typeface="Times New Roman"/>
              </a:rPr>
              <a:t> </a:t>
            </a:r>
            <a:r>
              <a:rPr sz="2400" spc="70" dirty="0">
                <a:solidFill>
                  <a:srgbClr val="FFFFFF"/>
                </a:solidFill>
                <a:latin typeface="Times New Roman"/>
                <a:cs typeface="Times New Roman"/>
              </a:rPr>
              <a:t>various </a:t>
            </a:r>
            <a:r>
              <a:rPr sz="2400" spc="105" dirty="0">
                <a:solidFill>
                  <a:srgbClr val="FFFFFF"/>
                </a:solidFill>
                <a:latin typeface="Times New Roman"/>
                <a:cs typeface="Times New Roman"/>
              </a:rPr>
              <a:t>operation  such </a:t>
            </a:r>
            <a:r>
              <a:rPr sz="2400" spc="20" dirty="0">
                <a:solidFill>
                  <a:srgbClr val="FFFFFF"/>
                </a:solidFill>
                <a:latin typeface="Times New Roman"/>
                <a:cs typeface="Times New Roman"/>
              </a:rPr>
              <a:t>as </a:t>
            </a:r>
            <a:r>
              <a:rPr sz="2400" spc="120" dirty="0">
                <a:solidFill>
                  <a:srgbClr val="FFFFFF"/>
                </a:solidFill>
                <a:latin typeface="Times New Roman"/>
                <a:cs typeface="Times New Roman"/>
              </a:rPr>
              <a:t>CREATE,  </a:t>
            </a:r>
            <a:r>
              <a:rPr sz="2400" spc="85" dirty="0">
                <a:solidFill>
                  <a:srgbClr val="FFFFFF"/>
                </a:solidFill>
                <a:latin typeface="Times New Roman"/>
                <a:cs typeface="Times New Roman"/>
              </a:rPr>
              <a:t>ALTER,</a:t>
            </a:r>
            <a:r>
              <a:rPr sz="2400" spc="770" dirty="0">
                <a:solidFill>
                  <a:srgbClr val="FFFFFF"/>
                </a:solidFill>
                <a:latin typeface="Times New Roman"/>
                <a:cs typeface="Times New Roman"/>
              </a:rPr>
              <a:t> </a:t>
            </a:r>
            <a:r>
              <a:rPr sz="2400" spc="120" dirty="0">
                <a:solidFill>
                  <a:srgbClr val="FFFFFF"/>
                </a:solidFill>
                <a:latin typeface="Times New Roman"/>
                <a:cs typeface="Times New Roman"/>
              </a:rPr>
              <a:t>DROP, </a:t>
            </a:r>
            <a:r>
              <a:rPr sz="2400" spc="130" dirty="0">
                <a:solidFill>
                  <a:srgbClr val="FFFFFF"/>
                </a:solidFill>
                <a:latin typeface="Times New Roman"/>
                <a:cs typeface="Times New Roman"/>
              </a:rPr>
              <a:t>and </a:t>
            </a:r>
            <a:r>
              <a:rPr sz="2400" spc="50" dirty="0">
                <a:solidFill>
                  <a:srgbClr val="FFFFFF"/>
                </a:solidFill>
                <a:latin typeface="Times New Roman"/>
                <a:cs typeface="Times New Roman"/>
              </a:rPr>
              <a:t>so  </a:t>
            </a:r>
            <a:r>
              <a:rPr sz="2400" spc="110" dirty="0">
                <a:solidFill>
                  <a:srgbClr val="FFFFFF"/>
                </a:solidFill>
                <a:latin typeface="Times New Roman"/>
                <a:cs typeface="Times New Roman"/>
              </a:rPr>
              <a:t>on.</a:t>
            </a:r>
            <a:endParaRPr sz="2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06365" cy="574040"/>
          </a:xfrm>
          <a:prstGeom prst="rect">
            <a:avLst/>
          </a:prstGeom>
        </p:spPr>
        <p:txBody>
          <a:bodyPr vert="horz" wrap="square" lIns="0" tIns="12700" rIns="0" bIns="0" rtlCol="0">
            <a:spAutoFit/>
          </a:bodyPr>
          <a:lstStyle/>
          <a:p>
            <a:pPr marL="12700">
              <a:lnSpc>
                <a:spcPct val="100000"/>
              </a:lnSpc>
              <a:spcBef>
                <a:spcPts val="100"/>
              </a:spcBef>
            </a:pPr>
            <a:r>
              <a:rPr b="0" spc="180" dirty="0">
                <a:latin typeface="Times New Roman"/>
                <a:cs typeface="Times New Roman"/>
              </a:rPr>
              <a:t>Create</a:t>
            </a:r>
            <a:r>
              <a:rPr b="0" spc="-155" dirty="0">
                <a:latin typeface="Times New Roman"/>
                <a:cs typeface="Times New Roman"/>
              </a:rPr>
              <a:t> </a:t>
            </a:r>
            <a:r>
              <a:rPr b="0" spc="170" dirty="0">
                <a:latin typeface="Times New Roman"/>
                <a:cs typeface="Times New Roman"/>
              </a:rPr>
              <a:t>Clustered</a:t>
            </a:r>
            <a:r>
              <a:rPr b="0" spc="-160" dirty="0">
                <a:latin typeface="Times New Roman"/>
                <a:cs typeface="Times New Roman"/>
              </a:rPr>
              <a:t> </a:t>
            </a:r>
            <a:r>
              <a:rPr b="0" spc="155" dirty="0">
                <a:latin typeface="Times New Roman"/>
                <a:cs typeface="Times New Roman"/>
              </a:rPr>
              <a:t>Index</a:t>
            </a:r>
            <a:r>
              <a:rPr b="0" spc="-135" dirty="0">
                <a:latin typeface="Times New Roman"/>
                <a:cs typeface="Times New Roman"/>
              </a:rPr>
              <a:t> </a:t>
            </a:r>
            <a:r>
              <a:rPr b="0" spc="-380" dirty="0">
                <a:latin typeface="Times New Roman"/>
                <a:cs typeface="Times New Roman"/>
              </a:rPr>
              <a:t>1-5</a:t>
            </a:r>
          </a:p>
        </p:txBody>
      </p:sp>
      <p:sp>
        <p:nvSpPr>
          <p:cNvPr id="3" name="object 3"/>
          <p:cNvSpPr/>
          <p:nvPr/>
        </p:nvSpPr>
        <p:spPr>
          <a:xfrm>
            <a:off x="222504" y="893063"/>
            <a:ext cx="8699500" cy="1038225"/>
          </a:xfrm>
          <a:custGeom>
            <a:avLst/>
            <a:gdLst/>
            <a:ahLst/>
            <a:cxnLst/>
            <a:rect l="l" t="t" r="r" b="b"/>
            <a:pathLst>
              <a:path w="8699500" h="1038225">
                <a:moveTo>
                  <a:pt x="8698992" y="172974"/>
                </a:moveTo>
                <a:lnTo>
                  <a:pt x="8692807" y="127000"/>
                </a:lnTo>
                <a:lnTo>
                  <a:pt x="8675370" y="85686"/>
                </a:lnTo>
                <a:lnTo>
                  <a:pt x="8648319" y="50673"/>
                </a:lnTo>
                <a:lnTo>
                  <a:pt x="8613305" y="23622"/>
                </a:lnTo>
                <a:lnTo>
                  <a:pt x="8571992" y="6184"/>
                </a:lnTo>
                <a:lnTo>
                  <a:pt x="8526018" y="0"/>
                </a:lnTo>
                <a:lnTo>
                  <a:pt x="172986" y="0"/>
                </a:lnTo>
                <a:lnTo>
                  <a:pt x="126987" y="6184"/>
                </a:lnTo>
                <a:lnTo>
                  <a:pt x="85674" y="23622"/>
                </a:lnTo>
                <a:lnTo>
                  <a:pt x="50660" y="50673"/>
                </a:lnTo>
                <a:lnTo>
                  <a:pt x="23609" y="85686"/>
                </a:lnTo>
                <a:lnTo>
                  <a:pt x="6172" y="127000"/>
                </a:lnTo>
                <a:lnTo>
                  <a:pt x="0" y="172974"/>
                </a:lnTo>
                <a:lnTo>
                  <a:pt x="0" y="864870"/>
                </a:lnTo>
                <a:lnTo>
                  <a:pt x="6172" y="910844"/>
                </a:lnTo>
                <a:lnTo>
                  <a:pt x="23609" y="952169"/>
                </a:lnTo>
                <a:lnTo>
                  <a:pt x="50660" y="987171"/>
                </a:lnTo>
                <a:lnTo>
                  <a:pt x="85674" y="1014222"/>
                </a:lnTo>
                <a:lnTo>
                  <a:pt x="126987" y="1031671"/>
                </a:lnTo>
                <a:lnTo>
                  <a:pt x="172986" y="1037844"/>
                </a:lnTo>
                <a:lnTo>
                  <a:pt x="8526018" y="1037844"/>
                </a:lnTo>
                <a:lnTo>
                  <a:pt x="8571992" y="1031671"/>
                </a:lnTo>
                <a:lnTo>
                  <a:pt x="8613305" y="1014222"/>
                </a:lnTo>
                <a:lnTo>
                  <a:pt x="8648319" y="987171"/>
                </a:lnTo>
                <a:lnTo>
                  <a:pt x="8675370" y="952169"/>
                </a:lnTo>
                <a:lnTo>
                  <a:pt x="8692807" y="910844"/>
                </a:lnTo>
                <a:lnTo>
                  <a:pt x="8698992" y="864870"/>
                </a:lnTo>
                <a:lnTo>
                  <a:pt x="8698992" y="784860"/>
                </a:lnTo>
                <a:lnTo>
                  <a:pt x="8698992" y="252984"/>
                </a:lnTo>
                <a:lnTo>
                  <a:pt x="8698992" y="172974"/>
                </a:lnTo>
                <a:close/>
              </a:path>
            </a:pathLst>
          </a:custGeom>
          <a:solidFill>
            <a:srgbClr val="8063A1"/>
          </a:solidFill>
        </p:spPr>
        <p:txBody>
          <a:bodyPr wrap="square" lIns="0" tIns="0" rIns="0" bIns="0" rtlCol="0"/>
          <a:lstStyle/>
          <a:p>
            <a:endParaRPr/>
          </a:p>
        </p:txBody>
      </p:sp>
      <p:sp>
        <p:nvSpPr>
          <p:cNvPr id="4" name="object 4"/>
          <p:cNvSpPr txBox="1"/>
          <p:nvPr/>
        </p:nvSpPr>
        <p:spPr>
          <a:xfrm>
            <a:off x="485140" y="1082547"/>
            <a:ext cx="8355965" cy="635000"/>
          </a:xfrm>
          <a:prstGeom prst="rect">
            <a:avLst/>
          </a:prstGeom>
        </p:spPr>
        <p:txBody>
          <a:bodyPr vert="horz" wrap="square" lIns="0" tIns="12065" rIns="0" bIns="0" rtlCol="0">
            <a:spAutoFit/>
          </a:bodyPr>
          <a:lstStyle/>
          <a:p>
            <a:pPr marL="355600" marR="5080" indent="-342900">
              <a:lnSpc>
                <a:spcPct val="100000"/>
              </a:lnSpc>
              <a:spcBef>
                <a:spcPts val="95"/>
              </a:spcBef>
              <a:buFont typeface="Wingdings"/>
              <a:buChar char=""/>
              <a:tabLst>
                <a:tab pos="354965" algn="l"/>
                <a:tab pos="355600" algn="l"/>
                <a:tab pos="1662430" algn="l"/>
                <a:tab pos="3473450" algn="l"/>
                <a:tab pos="4324985" algn="l"/>
                <a:tab pos="5631180" algn="l"/>
                <a:tab pos="6448425" algn="l"/>
                <a:tab pos="7236459" algn="l"/>
                <a:tab pos="7691755" algn="l"/>
              </a:tabLst>
            </a:pPr>
            <a:r>
              <a:rPr sz="2000" spc="120" dirty="0">
                <a:solidFill>
                  <a:srgbClr val="FFFFFF"/>
                </a:solidFill>
                <a:latin typeface="Times New Roman"/>
                <a:cs typeface="Times New Roman"/>
              </a:rPr>
              <a:t>CRE</a:t>
            </a:r>
            <a:r>
              <a:rPr sz="2000" spc="114" dirty="0">
                <a:solidFill>
                  <a:srgbClr val="FFFFFF"/>
                </a:solidFill>
                <a:latin typeface="Times New Roman"/>
                <a:cs typeface="Times New Roman"/>
              </a:rPr>
              <a:t>ATE	</a:t>
            </a:r>
            <a:r>
              <a:rPr sz="2000" spc="135" dirty="0">
                <a:solidFill>
                  <a:srgbClr val="FFFFFF"/>
                </a:solidFill>
                <a:latin typeface="Times New Roman"/>
                <a:cs typeface="Times New Roman"/>
              </a:rPr>
              <a:t>CLU</a:t>
            </a:r>
            <a:r>
              <a:rPr sz="2000" spc="100" dirty="0">
                <a:solidFill>
                  <a:srgbClr val="FFFFFF"/>
                </a:solidFill>
                <a:latin typeface="Times New Roman"/>
                <a:cs typeface="Times New Roman"/>
              </a:rPr>
              <a:t>S</a:t>
            </a:r>
            <a:r>
              <a:rPr sz="2000" spc="170" dirty="0">
                <a:solidFill>
                  <a:srgbClr val="FFFFFF"/>
                </a:solidFill>
                <a:latin typeface="Times New Roman"/>
                <a:cs typeface="Times New Roman"/>
              </a:rPr>
              <a:t>T</a:t>
            </a:r>
            <a:r>
              <a:rPr sz="2000" spc="40" dirty="0">
                <a:solidFill>
                  <a:srgbClr val="FFFFFF"/>
                </a:solidFill>
                <a:latin typeface="Times New Roman"/>
                <a:cs typeface="Times New Roman"/>
              </a:rPr>
              <a:t>E</a:t>
            </a:r>
            <a:r>
              <a:rPr sz="2000" spc="45" dirty="0">
                <a:solidFill>
                  <a:srgbClr val="FFFFFF"/>
                </a:solidFill>
                <a:latin typeface="Times New Roman"/>
                <a:cs typeface="Times New Roman"/>
              </a:rPr>
              <a:t>R</a:t>
            </a:r>
            <a:r>
              <a:rPr sz="2000" spc="60" dirty="0">
                <a:solidFill>
                  <a:srgbClr val="FFFFFF"/>
                </a:solidFill>
                <a:latin typeface="Times New Roman"/>
                <a:cs typeface="Times New Roman"/>
              </a:rPr>
              <a:t>ED</a:t>
            </a:r>
            <a:r>
              <a:rPr sz="2000" dirty="0">
                <a:solidFill>
                  <a:srgbClr val="FFFFFF"/>
                </a:solidFill>
                <a:latin typeface="Times New Roman"/>
                <a:cs typeface="Times New Roman"/>
              </a:rPr>
              <a:t>	</a:t>
            </a:r>
            <a:r>
              <a:rPr sz="2000" spc="90" dirty="0">
                <a:solidFill>
                  <a:srgbClr val="FFFFFF"/>
                </a:solidFill>
                <a:latin typeface="Times New Roman"/>
                <a:cs typeface="Times New Roman"/>
              </a:rPr>
              <a:t>ind</a:t>
            </a:r>
            <a:r>
              <a:rPr sz="2000" spc="95" dirty="0">
                <a:solidFill>
                  <a:srgbClr val="FFFFFF"/>
                </a:solidFill>
                <a:latin typeface="Times New Roman"/>
                <a:cs typeface="Times New Roman"/>
              </a:rPr>
              <a:t>e</a:t>
            </a:r>
            <a:r>
              <a:rPr sz="2000" spc="90" dirty="0">
                <a:solidFill>
                  <a:srgbClr val="FFFFFF"/>
                </a:solidFill>
                <a:latin typeface="Times New Roman"/>
                <a:cs typeface="Times New Roman"/>
              </a:rPr>
              <a:t>x</a:t>
            </a:r>
            <a:r>
              <a:rPr sz="2000" dirty="0">
                <a:solidFill>
                  <a:srgbClr val="FFFFFF"/>
                </a:solidFill>
                <a:latin typeface="Times New Roman"/>
                <a:cs typeface="Times New Roman"/>
              </a:rPr>
              <a:t>	</a:t>
            </a:r>
            <a:r>
              <a:rPr sz="2000" spc="5" dirty="0">
                <a:solidFill>
                  <a:srgbClr val="FFFFFF"/>
                </a:solidFill>
                <a:latin typeface="Times New Roman"/>
                <a:cs typeface="Times New Roman"/>
              </a:rPr>
              <a:t>s</a:t>
            </a:r>
            <a:r>
              <a:rPr sz="2000" spc="100" dirty="0">
                <a:solidFill>
                  <a:srgbClr val="FFFFFF"/>
                </a:solidFill>
                <a:latin typeface="Times New Roman"/>
                <a:cs typeface="Times New Roman"/>
              </a:rPr>
              <a:t>ta</a:t>
            </a:r>
            <a:r>
              <a:rPr sz="2000" spc="90" dirty="0">
                <a:solidFill>
                  <a:srgbClr val="FFFFFF"/>
                </a:solidFill>
                <a:latin typeface="Times New Roman"/>
                <a:cs typeface="Times New Roman"/>
              </a:rPr>
              <a:t>t</a:t>
            </a:r>
            <a:r>
              <a:rPr sz="2000" spc="70" dirty="0">
                <a:solidFill>
                  <a:srgbClr val="FFFFFF"/>
                </a:solidFill>
                <a:latin typeface="Times New Roman"/>
                <a:cs typeface="Times New Roman"/>
              </a:rPr>
              <a:t>em</a:t>
            </a:r>
            <a:r>
              <a:rPr sz="2000" spc="40" dirty="0">
                <a:solidFill>
                  <a:srgbClr val="FFFFFF"/>
                </a:solidFill>
                <a:latin typeface="Times New Roman"/>
                <a:cs typeface="Times New Roman"/>
              </a:rPr>
              <a:t>e</a:t>
            </a:r>
            <a:r>
              <a:rPr sz="2000" spc="185" dirty="0">
                <a:solidFill>
                  <a:srgbClr val="FFFFFF"/>
                </a:solidFill>
                <a:latin typeface="Times New Roman"/>
                <a:cs typeface="Times New Roman"/>
              </a:rPr>
              <a:t>n</a:t>
            </a:r>
            <a:r>
              <a:rPr sz="2000" spc="125" dirty="0">
                <a:solidFill>
                  <a:srgbClr val="FFFFFF"/>
                </a:solidFill>
                <a:latin typeface="Times New Roman"/>
                <a:cs typeface="Times New Roman"/>
              </a:rPr>
              <a:t>t</a:t>
            </a:r>
            <a:r>
              <a:rPr sz="2000" dirty="0">
                <a:solidFill>
                  <a:srgbClr val="FFFFFF"/>
                </a:solidFill>
                <a:latin typeface="Times New Roman"/>
                <a:cs typeface="Times New Roman"/>
              </a:rPr>
              <a:t>	</a:t>
            </a:r>
            <a:r>
              <a:rPr sz="2000" spc="10" dirty="0">
                <a:solidFill>
                  <a:srgbClr val="FFFFFF"/>
                </a:solidFill>
                <a:latin typeface="Times New Roman"/>
                <a:cs typeface="Times New Roman"/>
              </a:rPr>
              <a:t>al</a:t>
            </a:r>
            <a:r>
              <a:rPr sz="2000" spc="15" dirty="0">
                <a:solidFill>
                  <a:srgbClr val="FFFFFF"/>
                </a:solidFill>
                <a:latin typeface="Times New Roman"/>
                <a:cs typeface="Times New Roman"/>
              </a:rPr>
              <a:t>l</a:t>
            </a:r>
            <a:r>
              <a:rPr sz="2000" spc="100" dirty="0">
                <a:solidFill>
                  <a:srgbClr val="FFFFFF"/>
                </a:solidFill>
                <a:latin typeface="Times New Roman"/>
                <a:cs typeface="Times New Roman"/>
              </a:rPr>
              <a:t>o</a:t>
            </a:r>
            <a:r>
              <a:rPr sz="2000" spc="50" dirty="0">
                <a:solidFill>
                  <a:srgbClr val="FFFFFF"/>
                </a:solidFill>
                <a:latin typeface="Times New Roman"/>
                <a:cs typeface="Times New Roman"/>
              </a:rPr>
              <a:t>w</a:t>
            </a:r>
            <a:r>
              <a:rPr sz="2000" dirty="0">
                <a:solidFill>
                  <a:srgbClr val="FFFFFF"/>
                </a:solidFill>
                <a:latin typeface="Times New Roman"/>
                <a:cs typeface="Times New Roman"/>
              </a:rPr>
              <a:t>	</a:t>
            </a:r>
            <a:r>
              <a:rPr sz="2000" spc="75" dirty="0">
                <a:solidFill>
                  <a:srgbClr val="FFFFFF"/>
                </a:solidFill>
                <a:latin typeface="Times New Roman"/>
                <a:cs typeface="Times New Roman"/>
              </a:rPr>
              <a:t>use</a:t>
            </a:r>
            <a:r>
              <a:rPr sz="2000" spc="60" dirty="0">
                <a:solidFill>
                  <a:srgbClr val="FFFFFF"/>
                </a:solidFill>
                <a:latin typeface="Times New Roman"/>
                <a:cs typeface="Times New Roman"/>
              </a:rPr>
              <a:t>r</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80" dirty="0">
                <a:solidFill>
                  <a:srgbClr val="FFFFFF"/>
                </a:solidFill>
                <a:latin typeface="Times New Roman"/>
                <a:cs typeface="Times New Roman"/>
              </a:rPr>
              <a:t>t</a:t>
            </a:r>
            <a:r>
              <a:rPr sz="2000" spc="140" dirty="0">
                <a:solidFill>
                  <a:srgbClr val="FFFFFF"/>
                </a:solidFill>
                <a:latin typeface="Times New Roman"/>
                <a:cs typeface="Times New Roman"/>
              </a:rPr>
              <a:t>o</a:t>
            </a:r>
            <a:r>
              <a:rPr sz="2000" dirty="0">
                <a:solidFill>
                  <a:srgbClr val="FFFFFF"/>
                </a:solidFill>
                <a:latin typeface="Times New Roman"/>
                <a:cs typeface="Times New Roman"/>
              </a:rPr>
              <a:t>	</a:t>
            </a:r>
            <a:r>
              <a:rPr sz="2000" spc="60" dirty="0">
                <a:solidFill>
                  <a:srgbClr val="FFFFFF"/>
                </a:solidFill>
                <a:latin typeface="Times New Roman"/>
                <a:cs typeface="Times New Roman"/>
              </a:rPr>
              <a:t>crea</a:t>
            </a:r>
            <a:r>
              <a:rPr sz="2000" spc="50" dirty="0">
                <a:solidFill>
                  <a:srgbClr val="FFFFFF"/>
                </a:solidFill>
                <a:latin typeface="Times New Roman"/>
                <a:cs typeface="Times New Roman"/>
              </a:rPr>
              <a:t>t</a:t>
            </a:r>
            <a:r>
              <a:rPr sz="2000" spc="30" dirty="0">
                <a:solidFill>
                  <a:srgbClr val="FFFFFF"/>
                </a:solidFill>
                <a:latin typeface="Times New Roman"/>
                <a:cs typeface="Times New Roman"/>
              </a:rPr>
              <a:t>e  </a:t>
            </a:r>
            <a:r>
              <a:rPr sz="2000" spc="100" dirty="0">
                <a:solidFill>
                  <a:srgbClr val="FFFFFF"/>
                </a:solidFill>
                <a:latin typeface="Times New Roman"/>
                <a:cs typeface="Times New Roman"/>
              </a:rPr>
              <a:t>CLUSTERED</a:t>
            </a:r>
            <a:r>
              <a:rPr sz="2000" spc="-70" dirty="0">
                <a:solidFill>
                  <a:srgbClr val="FFFFFF"/>
                </a:solidFill>
                <a:latin typeface="Times New Roman"/>
                <a:cs typeface="Times New Roman"/>
              </a:rPr>
              <a:t> </a:t>
            </a:r>
            <a:r>
              <a:rPr sz="2000" spc="90" dirty="0">
                <a:solidFill>
                  <a:srgbClr val="FFFFFF"/>
                </a:solidFill>
                <a:latin typeface="Times New Roman"/>
                <a:cs typeface="Times New Roman"/>
              </a:rPr>
              <a:t>index</a:t>
            </a:r>
            <a:r>
              <a:rPr sz="2000" spc="-65" dirty="0">
                <a:solidFill>
                  <a:srgbClr val="FFFFFF"/>
                </a:solidFill>
                <a:latin typeface="Times New Roman"/>
                <a:cs typeface="Times New Roman"/>
              </a:rPr>
              <a:t> </a:t>
            </a:r>
            <a:r>
              <a:rPr sz="2000" spc="130" dirty="0">
                <a:solidFill>
                  <a:srgbClr val="FFFFFF"/>
                </a:solidFill>
                <a:latin typeface="Times New Roman"/>
                <a:cs typeface="Times New Roman"/>
              </a:rPr>
              <a:t>on</a:t>
            </a:r>
            <a:r>
              <a:rPr sz="2000" spc="-65" dirty="0">
                <a:solidFill>
                  <a:srgbClr val="FFFFFF"/>
                </a:solidFill>
                <a:latin typeface="Times New Roman"/>
                <a:cs typeface="Times New Roman"/>
              </a:rPr>
              <a:t> </a:t>
            </a:r>
            <a:r>
              <a:rPr sz="2000" spc="40" dirty="0">
                <a:solidFill>
                  <a:srgbClr val="FFFFFF"/>
                </a:solidFill>
                <a:latin typeface="Times New Roman"/>
                <a:cs typeface="Times New Roman"/>
              </a:rPr>
              <a:t>specified</a:t>
            </a:r>
            <a:r>
              <a:rPr sz="2000" spc="-85" dirty="0">
                <a:solidFill>
                  <a:srgbClr val="FFFFFF"/>
                </a:solidFill>
                <a:latin typeface="Times New Roman"/>
                <a:cs typeface="Times New Roman"/>
              </a:rPr>
              <a:t> </a:t>
            </a:r>
            <a:r>
              <a:rPr sz="2000" spc="75" dirty="0">
                <a:solidFill>
                  <a:srgbClr val="FFFFFF"/>
                </a:solidFill>
                <a:latin typeface="Times New Roman"/>
                <a:cs typeface="Times New Roman"/>
              </a:rPr>
              <a:t>columns</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50" dirty="0">
                <a:solidFill>
                  <a:srgbClr val="FFFFFF"/>
                </a:solidFill>
                <a:latin typeface="Times New Roman"/>
                <a:cs typeface="Times New Roman"/>
              </a:rPr>
              <a:t>table.</a:t>
            </a:r>
            <a:endParaRPr sz="2000">
              <a:latin typeface="Times New Roman"/>
              <a:cs typeface="Times New Roman"/>
            </a:endParaRPr>
          </a:p>
        </p:txBody>
      </p:sp>
      <p:pic>
        <p:nvPicPr>
          <p:cNvPr id="5" name="object 5"/>
          <p:cNvPicPr/>
          <p:nvPr/>
        </p:nvPicPr>
        <p:blipFill>
          <a:blip r:embed="rId3" cstate="print"/>
          <a:stretch>
            <a:fillRect/>
          </a:stretch>
        </p:blipFill>
        <p:spPr>
          <a:xfrm>
            <a:off x="5049141" y="3383281"/>
            <a:ext cx="4016120" cy="3128518"/>
          </a:xfrm>
          <a:prstGeom prst="rect">
            <a:avLst/>
          </a:prstGeom>
        </p:spPr>
      </p:pic>
      <p:sp>
        <p:nvSpPr>
          <p:cNvPr id="6" name="object 6"/>
          <p:cNvSpPr txBox="1"/>
          <p:nvPr/>
        </p:nvSpPr>
        <p:spPr>
          <a:xfrm>
            <a:off x="6324600" y="6569709"/>
            <a:ext cx="1247775"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Clustered</a:t>
            </a:r>
            <a:r>
              <a:rPr sz="1400" b="1" spc="-145"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29</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0" name="TextBox 9">
            <a:extLst>
              <a:ext uri="{FF2B5EF4-FFF2-40B4-BE49-F238E27FC236}">
                <a16:creationId xmlns:a16="http://schemas.microsoft.com/office/drawing/2014/main" id="{D8E9A3F6-1A63-469F-A329-23F2274A30DD}"/>
              </a:ext>
            </a:extLst>
          </p:cNvPr>
          <p:cNvSpPr txBox="1"/>
          <p:nvPr/>
        </p:nvSpPr>
        <p:spPr>
          <a:xfrm>
            <a:off x="602456" y="2169941"/>
            <a:ext cx="8243888" cy="45720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nSpc>
                <a:spcPct val="100000"/>
              </a:lnSpc>
              <a:spcBef>
                <a:spcPts val="1200"/>
              </a:spcBef>
              <a:spcAft>
                <a:spcPts val="1200"/>
              </a:spcAft>
            </a:pPr>
            <a:r>
              <a:rPr lang="en-US" sz="1800" b="1" dirty="0">
                <a:solidFill>
                  <a:srgbClr val="FF0000"/>
                </a:solidFill>
                <a:latin typeface="Courier New" panose="02070309020205020404" pitchFamily="49" charset="0"/>
                <a:cs typeface="Courier New" panose="02070309020205020404" pitchFamily="49" charset="0"/>
              </a:rPr>
              <a:t>CREATE CLUSTERED INDEX </a:t>
            </a:r>
            <a:r>
              <a:rPr lang="en-US" sz="1800" b="1" dirty="0">
                <a:latin typeface="Courier New" panose="02070309020205020404" pitchFamily="49" charset="0"/>
                <a:cs typeface="Courier New" panose="02070309020205020404" pitchFamily="49" charset="0"/>
              </a:rPr>
              <a:t>index_name </a:t>
            </a:r>
            <a:r>
              <a:rPr lang="en-US" sz="1800" b="1" dirty="0">
                <a:solidFill>
                  <a:srgbClr val="FF0000"/>
                </a:solidFill>
                <a:latin typeface="Courier New" panose="02070309020205020404" pitchFamily="49" charset="0"/>
                <a:cs typeface="Courier New" panose="02070309020205020404" pitchFamily="49" charset="0"/>
              </a:rPr>
              <a:t>ON</a:t>
            </a:r>
            <a:r>
              <a:rPr lang="en-US" sz="1800" b="1" dirty="0">
                <a:latin typeface="Courier New" panose="02070309020205020404" pitchFamily="49" charset="0"/>
                <a:cs typeface="Courier New" panose="02070309020205020404" pitchFamily="49" charset="0"/>
              </a:rPr>
              <a:t> &lt;table&gt; (</a:t>
            </a:r>
            <a:r>
              <a:rPr lang="en-US" sz="1800" b="1" dirty="0" err="1">
                <a:latin typeface="Courier New" panose="02070309020205020404" pitchFamily="49" charset="0"/>
                <a:cs typeface="Courier New" panose="02070309020205020404" pitchFamily="49" charset="0"/>
              </a:rPr>
              <a:t>column_list</a:t>
            </a:r>
            <a:r>
              <a:rPr lang="en-US" sz="1800" b="1" dirty="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212357EE-AEFA-4D89-A265-9769427C27B2}"/>
              </a:ext>
            </a:extLst>
          </p:cNvPr>
          <p:cNvSpPr txBox="1"/>
          <p:nvPr/>
        </p:nvSpPr>
        <p:spPr>
          <a:xfrm>
            <a:off x="602456" y="2819400"/>
            <a:ext cx="8077200" cy="36576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spAutoFit/>
          </a:bodyPr>
          <a:lstStyle/>
          <a:p>
            <a:r>
              <a:rPr lang="en-US" dirty="0"/>
              <a:t> </a:t>
            </a:r>
            <a:r>
              <a:rPr lang="en-US" sz="1800" b="1" dirty="0">
                <a:solidFill>
                  <a:srgbClr val="FF0000"/>
                </a:solidFill>
                <a:latin typeface="Courier New" panose="02070309020205020404" pitchFamily="49" charset="0"/>
                <a:cs typeface="Courier New" panose="02070309020205020404" pitchFamily="49" charset="0"/>
              </a:rPr>
              <a:t>CREATE CLUSTERED INDEX</a:t>
            </a:r>
            <a:r>
              <a:rPr lang="en-US" sz="1800" b="1" dirty="0">
                <a:latin typeface="Courier New" panose="02070309020205020404" pitchFamily="49" charset="0"/>
                <a:cs typeface="Courier New" panose="02070309020205020404" pitchFamily="49" charset="0"/>
              </a:rPr>
              <a:t> IX_CustID </a:t>
            </a:r>
            <a:r>
              <a:rPr lang="en-US" sz="1800" b="1" dirty="0">
                <a:solidFill>
                  <a:srgbClr val="FF0000"/>
                </a:solidFill>
                <a:latin typeface="Courier New" panose="02070309020205020404" pitchFamily="49" charset="0"/>
                <a:cs typeface="Courier New" panose="02070309020205020404" pitchFamily="49" charset="0"/>
              </a:rPr>
              <a:t>ON</a:t>
            </a:r>
            <a:r>
              <a:rPr lang="en-US" sz="1800" b="1" dirty="0">
                <a:latin typeface="Courier New" panose="02070309020205020404" pitchFamily="49" charset="0"/>
                <a:cs typeface="Courier New" panose="02070309020205020404" pitchFamily="49" charset="0"/>
              </a:rPr>
              <a:t> Customer(</a:t>
            </a:r>
            <a:r>
              <a:rPr lang="en-US" sz="1800" b="1" dirty="0" err="1">
                <a:latin typeface="Courier New" panose="02070309020205020404" pitchFamily="49" charset="0"/>
                <a:cs typeface="Courier New" panose="02070309020205020404" pitchFamily="49" charset="0"/>
              </a:rPr>
              <a:t>CustID</a:t>
            </a:r>
            <a:r>
              <a:rPr lang="en-US" sz="1800" b="1"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0B40CC58-3B30-4A70-B036-43CB8E29DAEB}"/>
              </a:ext>
            </a:extLst>
          </p:cNvPr>
          <p:cNvSpPr txBox="1"/>
          <p:nvPr/>
        </p:nvSpPr>
        <p:spPr>
          <a:xfrm>
            <a:off x="78739" y="3242370"/>
            <a:ext cx="5102861" cy="3693319"/>
          </a:xfrm>
          <a:prstGeom prst="rect">
            <a:avLst/>
          </a:prstGeom>
          <a:noFill/>
        </p:spPr>
        <p:txBody>
          <a:bodyPr wrap="square" rtlCol="0">
            <a:spAutoFit/>
          </a:bodyPr>
          <a:lstStyle/>
          <a:p>
            <a:pPr marL="342900" indent="-342900">
              <a:lnSpc>
                <a:spcPct val="100000"/>
              </a:lnSpc>
              <a:spcBef>
                <a:spcPts val="600"/>
              </a:spcBef>
              <a:buFont typeface="Arial" panose="020B0604020202020204" pitchFamily="34" charset="0"/>
              <a:buChar char="•"/>
            </a:pPr>
            <a:r>
              <a:rPr lang="en-US" sz="2000" dirty="0">
                <a:latin typeface="Calibri" panose="020F0502020204030204" pitchFamily="34" charset="0"/>
                <a:cs typeface="Calibri" panose="020F0502020204030204" pitchFamily="34" charset="0"/>
              </a:rPr>
              <a:t>A clustered index is automatically created when a primary key is defined on the table. </a:t>
            </a:r>
          </a:p>
          <a:p>
            <a:pPr marL="342900" indent="-342900">
              <a:lnSpc>
                <a:spcPct val="100000"/>
              </a:lnSpc>
              <a:spcBef>
                <a:spcPts val="600"/>
              </a:spcBef>
              <a:buFont typeface="Arial" panose="020B0604020202020204" pitchFamily="34" charset="0"/>
              <a:buChar char="•"/>
            </a:pPr>
            <a:r>
              <a:rPr lang="en-US" sz="2000" dirty="0">
                <a:latin typeface="Calibri" panose="020F0502020204030204" pitchFamily="34" charset="0"/>
                <a:cs typeface="Calibri" panose="020F0502020204030204" pitchFamily="34" charset="0"/>
              </a:rPr>
              <a:t>In a table without a primary key, clustered index should ideally be defined on:</a:t>
            </a:r>
          </a:p>
          <a:p>
            <a:pPr marL="800100" lvl="1" indent="-342900">
              <a:lnSpc>
                <a:spcPct val="100000"/>
              </a:lnSpc>
              <a:spcBef>
                <a:spcPts val="600"/>
              </a:spcBef>
              <a:buFont typeface="Arial" panose="020B0604020202020204" pitchFamily="34" charset="0"/>
              <a:buChar char="•"/>
            </a:pPr>
            <a:r>
              <a:rPr lang="en-US" dirty="0">
                <a:latin typeface="Calibri" panose="020F0502020204030204" pitchFamily="34" charset="0"/>
                <a:cs typeface="Calibri" panose="020F0502020204030204" pitchFamily="34" charset="0"/>
              </a:rPr>
              <a:t>Key columns that are searched on extensively. </a:t>
            </a:r>
          </a:p>
          <a:p>
            <a:pPr marL="800100" lvl="1" indent="-342900">
              <a:lnSpc>
                <a:spcPct val="100000"/>
              </a:lnSpc>
              <a:spcBef>
                <a:spcPts val="600"/>
              </a:spcBef>
              <a:buFont typeface="Arial" panose="020B0604020202020204" pitchFamily="34" charset="0"/>
              <a:buChar char="•"/>
            </a:pPr>
            <a:r>
              <a:rPr lang="en-US" dirty="0">
                <a:latin typeface="Calibri" panose="020F0502020204030204" pitchFamily="34" charset="0"/>
                <a:cs typeface="Calibri" panose="020F0502020204030204" pitchFamily="34" charset="0"/>
              </a:rPr>
              <a:t>Columns used in queries that return large </a:t>
            </a:r>
            <a:r>
              <a:rPr lang="en-US" dirty="0" err="1">
                <a:latin typeface="Calibri" panose="020F0502020204030204" pitchFamily="34" charset="0"/>
                <a:cs typeface="Calibri" panose="020F0502020204030204" pitchFamily="34" charset="0"/>
              </a:rPr>
              <a:t>resultsets</a:t>
            </a:r>
            <a:r>
              <a:rPr lang="en-US" dirty="0">
                <a:latin typeface="Calibri" panose="020F0502020204030204" pitchFamily="34" charset="0"/>
                <a:cs typeface="Calibri" panose="020F0502020204030204" pitchFamily="34" charset="0"/>
              </a:rPr>
              <a:t>.</a:t>
            </a:r>
          </a:p>
          <a:p>
            <a:pPr marL="800100" lvl="1" indent="-342900">
              <a:lnSpc>
                <a:spcPct val="100000"/>
              </a:lnSpc>
              <a:spcBef>
                <a:spcPts val="600"/>
              </a:spcBef>
              <a:buFont typeface="Arial" panose="020B0604020202020204" pitchFamily="34" charset="0"/>
              <a:buChar char="•"/>
            </a:pPr>
            <a:r>
              <a:rPr lang="en-US" dirty="0">
                <a:latin typeface="Calibri" panose="020F0502020204030204" pitchFamily="34" charset="0"/>
                <a:cs typeface="Calibri" panose="020F0502020204030204" pitchFamily="34" charset="0"/>
              </a:rPr>
              <a:t>Columns having unique data.</a:t>
            </a:r>
          </a:p>
          <a:p>
            <a:pPr marL="800100" lvl="1" indent="-342900">
              <a:lnSpc>
                <a:spcPct val="100000"/>
              </a:lnSpc>
              <a:spcBef>
                <a:spcPts val="600"/>
              </a:spcBef>
              <a:buFont typeface="Arial" panose="020B0604020202020204" pitchFamily="34" charset="0"/>
              <a:buChar char="•"/>
            </a:pPr>
            <a:r>
              <a:rPr lang="en-US" dirty="0">
                <a:latin typeface="Calibri" panose="020F0502020204030204" pitchFamily="34" charset="0"/>
                <a:cs typeface="Calibri" panose="020F0502020204030204" pitchFamily="34" charset="0"/>
              </a:rPr>
              <a:t>Columns used in table join.</a:t>
            </a:r>
          </a:p>
          <a:p>
            <a:pPr marL="341313" indent="-341313">
              <a:lnSpc>
                <a:spcPct val="100000"/>
              </a:lnSpc>
              <a:spcBef>
                <a:spcPts val="600"/>
              </a:spcBef>
              <a:buFont typeface="Wingdings" pitchFamily="2" charset="2"/>
              <a:buChar char="Ø"/>
            </a:pP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64785" cy="574040"/>
          </a:xfrm>
          <a:prstGeom prst="rect">
            <a:avLst/>
          </a:prstGeom>
        </p:spPr>
        <p:txBody>
          <a:bodyPr vert="horz" wrap="square" lIns="0" tIns="12700" rIns="0" bIns="0" rtlCol="0">
            <a:spAutoFit/>
          </a:bodyPr>
          <a:lstStyle/>
          <a:p>
            <a:pPr marL="12700">
              <a:lnSpc>
                <a:spcPct val="100000"/>
              </a:lnSpc>
              <a:spcBef>
                <a:spcPts val="100"/>
              </a:spcBef>
            </a:pPr>
            <a:r>
              <a:rPr b="0" spc="180" dirty="0">
                <a:latin typeface="Times New Roman"/>
                <a:cs typeface="Times New Roman"/>
              </a:rPr>
              <a:t>Create</a:t>
            </a:r>
            <a:r>
              <a:rPr b="0" spc="-160" dirty="0">
                <a:latin typeface="Times New Roman"/>
                <a:cs typeface="Times New Roman"/>
              </a:rPr>
              <a:t> </a:t>
            </a:r>
            <a:r>
              <a:rPr b="0" spc="170" dirty="0">
                <a:latin typeface="Times New Roman"/>
                <a:cs typeface="Times New Roman"/>
              </a:rPr>
              <a:t>Clustered</a:t>
            </a:r>
            <a:r>
              <a:rPr b="0" spc="-160" dirty="0">
                <a:latin typeface="Times New Roman"/>
                <a:cs typeface="Times New Roman"/>
              </a:rPr>
              <a:t> </a:t>
            </a:r>
            <a:r>
              <a:rPr b="0" spc="155" dirty="0">
                <a:latin typeface="Times New Roman"/>
                <a:cs typeface="Times New Roman"/>
              </a:rPr>
              <a:t>Index</a:t>
            </a:r>
            <a:r>
              <a:rPr b="0" spc="-135" dirty="0">
                <a:latin typeface="Times New Roman"/>
                <a:cs typeface="Times New Roman"/>
              </a:rPr>
              <a:t> </a:t>
            </a:r>
            <a:r>
              <a:rPr b="0" spc="-225" dirty="0">
                <a:latin typeface="Times New Roman"/>
                <a:cs typeface="Times New Roman"/>
              </a:rPr>
              <a:t>2-5</a:t>
            </a:r>
          </a:p>
        </p:txBody>
      </p:sp>
      <p:sp>
        <p:nvSpPr>
          <p:cNvPr id="3" name="object 3"/>
          <p:cNvSpPr/>
          <p:nvPr/>
        </p:nvSpPr>
        <p:spPr>
          <a:xfrm>
            <a:off x="428244" y="1427225"/>
            <a:ext cx="4537075" cy="4236720"/>
          </a:xfrm>
          <a:custGeom>
            <a:avLst/>
            <a:gdLst/>
            <a:ahLst/>
            <a:cxnLst/>
            <a:rect l="l" t="t" r="r" b="b"/>
            <a:pathLst>
              <a:path w="4537075" h="4236720">
                <a:moveTo>
                  <a:pt x="3830828" y="0"/>
                </a:moveTo>
                <a:lnTo>
                  <a:pt x="706132" y="0"/>
                </a:lnTo>
                <a:lnTo>
                  <a:pt x="657785" y="1628"/>
                </a:lnTo>
                <a:lnTo>
                  <a:pt x="610313" y="6445"/>
                </a:lnTo>
                <a:lnTo>
                  <a:pt x="563820" y="14344"/>
                </a:lnTo>
                <a:lnTo>
                  <a:pt x="518412" y="25220"/>
                </a:lnTo>
                <a:lnTo>
                  <a:pt x="474194" y="38969"/>
                </a:lnTo>
                <a:lnTo>
                  <a:pt x="431271" y="55485"/>
                </a:lnTo>
                <a:lnTo>
                  <a:pt x="389749" y="74662"/>
                </a:lnTo>
                <a:lnTo>
                  <a:pt x="349731" y="96397"/>
                </a:lnTo>
                <a:lnTo>
                  <a:pt x="311324" y="120584"/>
                </a:lnTo>
                <a:lnTo>
                  <a:pt x="274633" y="147117"/>
                </a:lnTo>
                <a:lnTo>
                  <a:pt x="239763" y="175892"/>
                </a:lnTo>
                <a:lnTo>
                  <a:pt x="206819" y="206803"/>
                </a:lnTo>
                <a:lnTo>
                  <a:pt x="175906" y="239746"/>
                </a:lnTo>
                <a:lnTo>
                  <a:pt x="147130" y="274615"/>
                </a:lnTo>
                <a:lnTo>
                  <a:pt x="120594" y="311305"/>
                </a:lnTo>
                <a:lnTo>
                  <a:pt x="96406" y="349710"/>
                </a:lnTo>
                <a:lnTo>
                  <a:pt x="74670" y="389727"/>
                </a:lnTo>
                <a:lnTo>
                  <a:pt x="55490" y="431250"/>
                </a:lnTo>
                <a:lnTo>
                  <a:pt x="38973" y="474173"/>
                </a:lnTo>
                <a:lnTo>
                  <a:pt x="25223" y="518392"/>
                </a:lnTo>
                <a:lnTo>
                  <a:pt x="14345" y="563801"/>
                </a:lnTo>
                <a:lnTo>
                  <a:pt x="6446" y="610295"/>
                </a:lnTo>
                <a:lnTo>
                  <a:pt x="1629" y="657770"/>
                </a:lnTo>
                <a:lnTo>
                  <a:pt x="0" y="706120"/>
                </a:lnTo>
                <a:lnTo>
                  <a:pt x="0" y="3530600"/>
                </a:lnTo>
                <a:lnTo>
                  <a:pt x="1629" y="3578949"/>
                </a:lnTo>
                <a:lnTo>
                  <a:pt x="6446" y="3626424"/>
                </a:lnTo>
                <a:lnTo>
                  <a:pt x="14345" y="3672918"/>
                </a:lnTo>
                <a:lnTo>
                  <a:pt x="25223" y="3718327"/>
                </a:lnTo>
                <a:lnTo>
                  <a:pt x="38973" y="3762546"/>
                </a:lnTo>
                <a:lnTo>
                  <a:pt x="55490" y="3805469"/>
                </a:lnTo>
                <a:lnTo>
                  <a:pt x="74670" y="3846992"/>
                </a:lnTo>
                <a:lnTo>
                  <a:pt x="96406" y="3887009"/>
                </a:lnTo>
                <a:lnTo>
                  <a:pt x="120594" y="3925414"/>
                </a:lnTo>
                <a:lnTo>
                  <a:pt x="147130" y="3962104"/>
                </a:lnTo>
                <a:lnTo>
                  <a:pt x="175906" y="3996973"/>
                </a:lnTo>
                <a:lnTo>
                  <a:pt x="206819" y="4029916"/>
                </a:lnTo>
                <a:lnTo>
                  <a:pt x="239763" y="4060827"/>
                </a:lnTo>
                <a:lnTo>
                  <a:pt x="274633" y="4089602"/>
                </a:lnTo>
                <a:lnTo>
                  <a:pt x="311324" y="4116135"/>
                </a:lnTo>
                <a:lnTo>
                  <a:pt x="349731" y="4140322"/>
                </a:lnTo>
                <a:lnTo>
                  <a:pt x="389749" y="4162057"/>
                </a:lnTo>
                <a:lnTo>
                  <a:pt x="431271" y="4181234"/>
                </a:lnTo>
                <a:lnTo>
                  <a:pt x="474194" y="4197750"/>
                </a:lnTo>
                <a:lnTo>
                  <a:pt x="518412" y="4211499"/>
                </a:lnTo>
                <a:lnTo>
                  <a:pt x="563820" y="4222375"/>
                </a:lnTo>
                <a:lnTo>
                  <a:pt x="610313" y="4230274"/>
                </a:lnTo>
                <a:lnTo>
                  <a:pt x="657785" y="4235091"/>
                </a:lnTo>
                <a:lnTo>
                  <a:pt x="706132" y="4236720"/>
                </a:lnTo>
                <a:lnTo>
                  <a:pt x="3830828" y="4236720"/>
                </a:lnTo>
                <a:lnTo>
                  <a:pt x="3879177" y="4235091"/>
                </a:lnTo>
                <a:lnTo>
                  <a:pt x="3926652" y="4230274"/>
                </a:lnTo>
                <a:lnTo>
                  <a:pt x="3973146" y="4222375"/>
                </a:lnTo>
                <a:lnTo>
                  <a:pt x="4018555" y="4211499"/>
                </a:lnTo>
                <a:lnTo>
                  <a:pt x="4062774" y="4197750"/>
                </a:lnTo>
                <a:lnTo>
                  <a:pt x="4105697" y="4181234"/>
                </a:lnTo>
                <a:lnTo>
                  <a:pt x="4147220" y="4162057"/>
                </a:lnTo>
                <a:lnTo>
                  <a:pt x="4187237" y="4140322"/>
                </a:lnTo>
                <a:lnTo>
                  <a:pt x="4225642" y="4116135"/>
                </a:lnTo>
                <a:lnTo>
                  <a:pt x="4262332" y="4089602"/>
                </a:lnTo>
                <a:lnTo>
                  <a:pt x="4297201" y="4060827"/>
                </a:lnTo>
                <a:lnTo>
                  <a:pt x="4330144" y="4029916"/>
                </a:lnTo>
                <a:lnTo>
                  <a:pt x="4361055" y="3996973"/>
                </a:lnTo>
                <a:lnTo>
                  <a:pt x="4389830" y="3962104"/>
                </a:lnTo>
                <a:lnTo>
                  <a:pt x="4416363" y="3925414"/>
                </a:lnTo>
                <a:lnTo>
                  <a:pt x="4440550" y="3887009"/>
                </a:lnTo>
                <a:lnTo>
                  <a:pt x="4462285" y="3846992"/>
                </a:lnTo>
                <a:lnTo>
                  <a:pt x="4481462" y="3805469"/>
                </a:lnTo>
                <a:lnTo>
                  <a:pt x="4497978" y="3762546"/>
                </a:lnTo>
                <a:lnTo>
                  <a:pt x="4511727" y="3718327"/>
                </a:lnTo>
                <a:lnTo>
                  <a:pt x="4522603" y="3672918"/>
                </a:lnTo>
                <a:lnTo>
                  <a:pt x="4530502" y="3626424"/>
                </a:lnTo>
                <a:lnTo>
                  <a:pt x="4535319" y="3578949"/>
                </a:lnTo>
                <a:lnTo>
                  <a:pt x="4536948" y="3530600"/>
                </a:lnTo>
                <a:lnTo>
                  <a:pt x="4536948" y="706120"/>
                </a:lnTo>
                <a:lnTo>
                  <a:pt x="4535319" y="657770"/>
                </a:lnTo>
                <a:lnTo>
                  <a:pt x="4530502" y="610295"/>
                </a:lnTo>
                <a:lnTo>
                  <a:pt x="4522603" y="563801"/>
                </a:lnTo>
                <a:lnTo>
                  <a:pt x="4511727" y="518392"/>
                </a:lnTo>
                <a:lnTo>
                  <a:pt x="4497978" y="474173"/>
                </a:lnTo>
                <a:lnTo>
                  <a:pt x="4481462" y="431250"/>
                </a:lnTo>
                <a:lnTo>
                  <a:pt x="4462285" y="389727"/>
                </a:lnTo>
                <a:lnTo>
                  <a:pt x="4440550" y="349710"/>
                </a:lnTo>
                <a:lnTo>
                  <a:pt x="4416363" y="311305"/>
                </a:lnTo>
                <a:lnTo>
                  <a:pt x="4389830" y="274615"/>
                </a:lnTo>
                <a:lnTo>
                  <a:pt x="4361055" y="239746"/>
                </a:lnTo>
                <a:lnTo>
                  <a:pt x="4330144" y="206803"/>
                </a:lnTo>
                <a:lnTo>
                  <a:pt x="4297201" y="175892"/>
                </a:lnTo>
                <a:lnTo>
                  <a:pt x="4262332" y="147117"/>
                </a:lnTo>
                <a:lnTo>
                  <a:pt x="4225642" y="120584"/>
                </a:lnTo>
                <a:lnTo>
                  <a:pt x="4187237" y="96397"/>
                </a:lnTo>
                <a:lnTo>
                  <a:pt x="4147220" y="74662"/>
                </a:lnTo>
                <a:lnTo>
                  <a:pt x="4105697" y="55485"/>
                </a:lnTo>
                <a:lnTo>
                  <a:pt x="4062774" y="38969"/>
                </a:lnTo>
                <a:lnTo>
                  <a:pt x="4018555" y="25220"/>
                </a:lnTo>
                <a:lnTo>
                  <a:pt x="3973146" y="14344"/>
                </a:lnTo>
                <a:lnTo>
                  <a:pt x="3926652" y="6445"/>
                </a:lnTo>
                <a:lnTo>
                  <a:pt x="3879177" y="1628"/>
                </a:lnTo>
                <a:lnTo>
                  <a:pt x="3830828" y="0"/>
                </a:lnTo>
                <a:close/>
              </a:path>
            </a:pathLst>
          </a:custGeom>
          <a:solidFill>
            <a:srgbClr val="C0504D"/>
          </a:solidFill>
        </p:spPr>
        <p:txBody>
          <a:bodyPr wrap="square" lIns="0" tIns="0" rIns="0" bIns="0" rtlCol="0"/>
          <a:lstStyle/>
          <a:p>
            <a:endParaRPr/>
          </a:p>
        </p:txBody>
      </p:sp>
      <p:sp>
        <p:nvSpPr>
          <p:cNvPr id="4" name="object 4"/>
          <p:cNvSpPr txBox="1"/>
          <p:nvPr/>
        </p:nvSpPr>
        <p:spPr>
          <a:xfrm>
            <a:off x="1556766" y="4380230"/>
            <a:ext cx="1701164" cy="1182370"/>
          </a:xfrm>
          <a:prstGeom prst="rect">
            <a:avLst/>
          </a:prstGeom>
        </p:spPr>
        <p:txBody>
          <a:bodyPr vert="horz" wrap="square" lIns="0" tIns="32384" rIns="0" bIns="0" rtlCol="0">
            <a:spAutoFit/>
          </a:bodyPr>
          <a:lstStyle/>
          <a:p>
            <a:pPr marL="12700" marR="5080">
              <a:lnSpc>
                <a:spcPct val="103600"/>
              </a:lnSpc>
              <a:spcBef>
                <a:spcPts val="254"/>
              </a:spcBef>
            </a:pPr>
            <a:r>
              <a:rPr sz="1800" spc="65" dirty="0">
                <a:solidFill>
                  <a:srgbClr val="FFFFFF"/>
                </a:solidFill>
                <a:latin typeface="Times New Roman"/>
                <a:cs typeface="Times New Roman"/>
              </a:rPr>
              <a:t>EXEC</a:t>
            </a:r>
            <a:r>
              <a:rPr sz="1800" spc="-125" dirty="0">
                <a:solidFill>
                  <a:srgbClr val="FFFFFF"/>
                </a:solidFill>
                <a:latin typeface="Times New Roman"/>
                <a:cs typeface="Times New Roman"/>
              </a:rPr>
              <a:t> </a:t>
            </a:r>
            <a:r>
              <a:rPr sz="1800" dirty="0">
                <a:solidFill>
                  <a:srgbClr val="FFFFFF"/>
                </a:solidFill>
                <a:latin typeface="Times New Roman"/>
                <a:cs typeface="Times New Roman"/>
              </a:rPr>
              <a:t>sp_rename  </a:t>
            </a:r>
            <a:r>
              <a:rPr sz="1800" spc="20" dirty="0">
                <a:solidFill>
                  <a:srgbClr val="FFFFFF"/>
                </a:solidFill>
                <a:latin typeface="Times New Roman"/>
                <a:cs typeface="Times New Roman"/>
              </a:rPr>
              <a:t>index_name,  </a:t>
            </a:r>
            <a:r>
              <a:rPr sz="1800" spc="-20" dirty="0">
                <a:solidFill>
                  <a:srgbClr val="FFFFFF"/>
                </a:solidFill>
                <a:latin typeface="Times New Roman"/>
                <a:cs typeface="Times New Roman"/>
              </a:rPr>
              <a:t>new_i</a:t>
            </a:r>
            <a:r>
              <a:rPr sz="1800" spc="-30" dirty="0">
                <a:solidFill>
                  <a:srgbClr val="FFFFFF"/>
                </a:solidFill>
                <a:latin typeface="Times New Roman"/>
                <a:cs typeface="Times New Roman"/>
              </a:rPr>
              <a:t>n</a:t>
            </a:r>
            <a:r>
              <a:rPr sz="1800" spc="5" dirty="0">
                <a:solidFill>
                  <a:srgbClr val="FFFFFF"/>
                </a:solidFill>
                <a:latin typeface="Times New Roman"/>
                <a:cs typeface="Times New Roman"/>
              </a:rPr>
              <a:t>dex_name,  </a:t>
            </a:r>
            <a:r>
              <a:rPr sz="1800" spc="75" dirty="0">
                <a:solidFill>
                  <a:srgbClr val="FFFFFF"/>
                </a:solidFill>
                <a:latin typeface="Times New Roman"/>
                <a:cs typeface="Times New Roman"/>
              </a:rPr>
              <a:t>N'INDEX';</a:t>
            </a:r>
            <a:endParaRPr sz="1800">
              <a:latin typeface="Times New Roman"/>
              <a:cs typeface="Times New Roman"/>
            </a:endParaRPr>
          </a:p>
        </p:txBody>
      </p:sp>
      <p:sp>
        <p:nvSpPr>
          <p:cNvPr id="5" name="object 5"/>
          <p:cNvSpPr txBox="1"/>
          <p:nvPr/>
        </p:nvSpPr>
        <p:spPr>
          <a:xfrm>
            <a:off x="500887" y="897890"/>
            <a:ext cx="4274820" cy="3451225"/>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Times New Roman"/>
                <a:cs typeface="Times New Roman"/>
              </a:rPr>
              <a:t>RENAME</a:t>
            </a:r>
            <a:r>
              <a:rPr sz="2400" b="1" spc="-155" dirty="0">
                <a:latin typeface="Times New Roman"/>
                <a:cs typeface="Times New Roman"/>
              </a:rPr>
              <a:t> </a:t>
            </a:r>
            <a:r>
              <a:rPr sz="2400" b="1" spc="5" dirty="0">
                <a:latin typeface="Times New Roman"/>
                <a:cs typeface="Times New Roman"/>
              </a:rPr>
              <a:t>INDEX</a:t>
            </a:r>
            <a:endParaRPr sz="2400">
              <a:latin typeface="Times New Roman"/>
              <a:cs typeface="Times New Roman"/>
            </a:endParaRPr>
          </a:p>
          <a:p>
            <a:pPr marL="496570" marR="5080" indent="-343535" algn="just">
              <a:lnSpc>
                <a:spcPct val="100000"/>
              </a:lnSpc>
              <a:spcBef>
                <a:spcPts val="2610"/>
              </a:spcBef>
              <a:buFont typeface="Wingdings"/>
              <a:buChar char=""/>
              <a:tabLst>
                <a:tab pos="497205" algn="l"/>
              </a:tabLst>
            </a:pPr>
            <a:r>
              <a:rPr sz="2200" spc="145" dirty="0">
                <a:solidFill>
                  <a:srgbClr val="FFFFFF"/>
                </a:solidFill>
                <a:latin typeface="Times New Roman"/>
                <a:cs typeface="Times New Roman"/>
              </a:rPr>
              <a:t>The </a:t>
            </a:r>
            <a:r>
              <a:rPr sz="2200" dirty="0">
                <a:solidFill>
                  <a:srgbClr val="FFFFFF"/>
                </a:solidFill>
                <a:latin typeface="Times New Roman"/>
                <a:cs typeface="Times New Roman"/>
              </a:rPr>
              <a:t>sp_rename </a:t>
            </a:r>
            <a:r>
              <a:rPr sz="2200" spc="5" dirty="0">
                <a:solidFill>
                  <a:srgbClr val="FFFFFF"/>
                </a:solidFill>
                <a:latin typeface="Times New Roman"/>
                <a:cs typeface="Times New Roman"/>
              </a:rPr>
              <a:t>is </a:t>
            </a:r>
            <a:r>
              <a:rPr sz="2200" spc="35" dirty="0">
                <a:solidFill>
                  <a:srgbClr val="FFFFFF"/>
                </a:solidFill>
                <a:latin typeface="Times New Roman"/>
                <a:cs typeface="Times New Roman"/>
              </a:rPr>
              <a:t>a</a:t>
            </a:r>
            <a:r>
              <a:rPr sz="2200" spc="620" dirty="0">
                <a:solidFill>
                  <a:srgbClr val="FFFFFF"/>
                </a:solidFill>
                <a:latin typeface="Times New Roman"/>
                <a:cs typeface="Times New Roman"/>
              </a:rPr>
              <a:t> </a:t>
            </a:r>
            <a:r>
              <a:rPr sz="2200" spc="50" dirty="0">
                <a:solidFill>
                  <a:srgbClr val="FFFFFF"/>
                </a:solidFill>
                <a:latin typeface="Times New Roman"/>
                <a:cs typeface="Times New Roman"/>
              </a:rPr>
              <a:t>system  </a:t>
            </a:r>
            <a:r>
              <a:rPr sz="2200" spc="85" dirty="0">
                <a:solidFill>
                  <a:srgbClr val="FFFFFF"/>
                </a:solidFill>
                <a:latin typeface="Times New Roman"/>
                <a:cs typeface="Times New Roman"/>
              </a:rPr>
              <a:t>stored </a:t>
            </a:r>
            <a:r>
              <a:rPr sz="2200" spc="90" dirty="0">
                <a:solidFill>
                  <a:srgbClr val="FFFFFF"/>
                </a:solidFill>
                <a:latin typeface="Times New Roman"/>
                <a:cs typeface="Times New Roman"/>
              </a:rPr>
              <a:t>procedure </a:t>
            </a:r>
            <a:r>
              <a:rPr sz="2200" spc="125" dirty="0">
                <a:solidFill>
                  <a:srgbClr val="FFFFFF"/>
                </a:solidFill>
                <a:latin typeface="Times New Roman"/>
                <a:cs typeface="Times New Roman"/>
              </a:rPr>
              <a:t>that </a:t>
            </a:r>
            <a:r>
              <a:rPr sz="2200" spc="30" dirty="0">
                <a:solidFill>
                  <a:srgbClr val="FFFFFF"/>
                </a:solidFill>
                <a:latin typeface="Times New Roman"/>
                <a:cs typeface="Times New Roman"/>
              </a:rPr>
              <a:t>allows  </a:t>
            </a:r>
            <a:r>
              <a:rPr sz="2200" spc="85" dirty="0">
                <a:solidFill>
                  <a:srgbClr val="FFFFFF"/>
                </a:solidFill>
                <a:latin typeface="Times New Roman"/>
                <a:cs typeface="Times New Roman"/>
              </a:rPr>
              <a:t>you</a:t>
            </a:r>
            <a:r>
              <a:rPr sz="2200" spc="-55"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40" dirty="0">
                <a:solidFill>
                  <a:srgbClr val="FFFFFF"/>
                </a:solidFill>
                <a:latin typeface="Times New Roman"/>
                <a:cs typeface="Times New Roman"/>
              </a:rPr>
              <a:t> </a:t>
            </a:r>
            <a:r>
              <a:rPr sz="2200" spc="85" dirty="0">
                <a:solidFill>
                  <a:srgbClr val="FFFFFF"/>
                </a:solidFill>
                <a:latin typeface="Times New Roman"/>
                <a:cs typeface="Times New Roman"/>
              </a:rPr>
              <a:t>rename</a:t>
            </a:r>
            <a:r>
              <a:rPr sz="2200" spc="-30" dirty="0">
                <a:solidFill>
                  <a:srgbClr val="FFFFFF"/>
                </a:solidFill>
                <a:latin typeface="Times New Roman"/>
                <a:cs typeface="Times New Roman"/>
              </a:rPr>
              <a:t> </a:t>
            </a:r>
            <a:r>
              <a:rPr sz="2200" spc="75" dirty="0">
                <a:solidFill>
                  <a:srgbClr val="FFFFFF"/>
                </a:solidFill>
                <a:latin typeface="Times New Roman"/>
                <a:cs typeface="Times New Roman"/>
              </a:rPr>
              <a:t>any</a:t>
            </a:r>
            <a:r>
              <a:rPr sz="2200" spc="-45" dirty="0">
                <a:solidFill>
                  <a:srgbClr val="FFFFFF"/>
                </a:solidFill>
                <a:latin typeface="Times New Roman"/>
                <a:cs typeface="Times New Roman"/>
              </a:rPr>
              <a:t> </a:t>
            </a:r>
            <a:r>
              <a:rPr sz="2200" spc="70" dirty="0">
                <a:solidFill>
                  <a:srgbClr val="FFFFFF"/>
                </a:solidFill>
                <a:latin typeface="Times New Roman"/>
                <a:cs typeface="Times New Roman"/>
              </a:rPr>
              <a:t>user-created  </a:t>
            </a:r>
            <a:r>
              <a:rPr sz="2200" spc="65" dirty="0">
                <a:solidFill>
                  <a:srgbClr val="FFFFFF"/>
                </a:solidFill>
                <a:latin typeface="Times New Roman"/>
                <a:cs typeface="Times New Roman"/>
              </a:rPr>
              <a:t>object </a:t>
            </a:r>
            <a:r>
              <a:rPr sz="2200" spc="105" dirty="0">
                <a:solidFill>
                  <a:srgbClr val="FFFFFF"/>
                </a:solidFill>
                <a:latin typeface="Times New Roman"/>
                <a:cs typeface="Times New Roman"/>
              </a:rPr>
              <a:t>in </a:t>
            </a:r>
            <a:r>
              <a:rPr sz="2200" spc="125" dirty="0">
                <a:solidFill>
                  <a:srgbClr val="FFFFFF"/>
                </a:solidFill>
                <a:latin typeface="Times New Roman"/>
                <a:cs typeface="Times New Roman"/>
              </a:rPr>
              <a:t>the </a:t>
            </a:r>
            <a:r>
              <a:rPr sz="2200" spc="105" dirty="0">
                <a:solidFill>
                  <a:srgbClr val="FFFFFF"/>
                </a:solidFill>
                <a:latin typeface="Times New Roman"/>
                <a:cs typeface="Times New Roman"/>
              </a:rPr>
              <a:t>current </a:t>
            </a:r>
            <a:r>
              <a:rPr sz="2200" spc="65" dirty="0">
                <a:solidFill>
                  <a:srgbClr val="FFFFFF"/>
                </a:solidFill>
                <a:latin typeface="Times New Roman"/>
                <a:cs typeface="Times New Roman"/>
              </a:rPr>
              <a:t>database  </a:t>
            </a:r>
            <a:r>
              <a:rPr sz="2200" spc="80" dirty="0">
                <a:solidFill>
                  <a:srgbClr val="FFFFFF"/>
                </a:solidFill>
                <a:latin typeface="Times New Roman"/>
                <a:cs typeface="Times New Roman"/>
              </a:rPr>
              <a:t>including </a:t>
            </a:r>
            <a:r>
              <a:rPr sz="2200" spc="50" dirty="0">
                <a:solidFill>
                  <a:srgbClr val="FFFFFF"/>
                </a:solidFill>
                <a:latin typeface="Times New Roman"/>
                <a:cs typeface="Times New Roman"/>
              </a:rPr>
              <a:t>table, </a:t>
            </a:r>
            <a:r>
              <a:rPr sz="2200" spc="80" dirty="0">
                <a:solidFill>
                  <a:srgbClr val="FFFFFF"/>
                </a:solidFill>
                <a:latin typeface="Times New Roman"/>
                <a:cs typeface="Times New Roman"/>
              </a:rPr>
              <a:t>index, </a:t>
            </a:r>
            <a:r>
              <a:rPr sz="2200" spc="125" dirty="0">
                <a:solidFill>
                  <a:srgbClr val="FFFFFF"/>
                </a:solidFill>
                <a:latin typeface="Times New Roman"/>
                <a:cs typeface="Times New Roman"/>
              </a:rPr>
              <a:t>and  </a:t>
            </a:r>
            <a:r>
              <a:rPr sz="2200" spc="85" dirty="0">
                <a:solidFill>
                  <a:srgbClr val="FFFFFF"/>
                </a:solidFill>
                <a:latin typeface="Times New Roman"/>
                <a:cs typeface="Times New Roman"/>
              </a:rPr>
              <a:t>column.</a:t>
            </a:r>
            <a:endParaRPr sz="2200">
              <a:latin typeface="Times New Roman"/>
              <a:cs typeface="Times New Roman"/>
            </a:endParaRPr>
          </a:p>
          <a:p>
            <a:pPr>
              <a:lnSpc>
                <a:spcPct val="100000"/>
              </a:lnSpc>
              <a:spcBef>
                <a:spcPts val="20"/>
              </a:spcBef>
            </a:pPr>
            <a:endParaRPr sz="2800">
              <a:latin typeface="Times New Roman"/>
              <a:cs typeface="Times New Roman"/>
            </a:endParaRPr>
          </a:p>
          <a:p>
            <a:pPr marL="153670">
              <a:lnSpc>
                <a:spcPct val="100000"/>
              </a:lnSpc>
              <a:spcBef>
                <a:spcPts val="5"/>
              </a:spcBef>
            </a:pPr>
            <a:r>
              <a:rPr sz="2000" b="1" spc="15" dirty="0">
                <a:solidFill>
                  <a:srgbClr val="FFFFFF"/>
                </a:solidFill>
                <a:latin typeface="Times New Roman"/>
                <a:cs typeface="Times New Roman"/>
              </a:rPr>
              <a:t>Syntax</a:t>
            </a:r>
            <a:endParaRPr sz="2000">
              <a:latin typeface="Times New Roman"/>
              <a:cs typeface="Times New Roman"/>
            </a:endParaRPr>
          </a:p>
        </p:txBody>
      </p:sp>
      <p:pic>
        <p:nvPicPr>
          <p:cNvPr id="6" name="object 6"/>
          <p:cNvPicPr/>
          <p:nvPr/>
        </p:nvPicPr>
        <p:blipFill>
          <a:blip r:embed="rId3" cstate="print"/>
          <a:stretch>
            <a:fillRect/>
          </a:stretch>
        </p:blipFill>
        <p:spPr>
          <a:xfrm>
            <a:off x="5167884" y="1824989"/>
            <a:ext cx="3652266" cy="3548634"/>
          </a:xfrm>
          <a:prstGeom prst="rect">
            <a:avLst/>
          </a:prstGeom>
        </p:spPr>
      </p:pic>
      <p:sp>
        <p:nvSpPr>
          <p:cNvPr id="7" name="object 7"/>
          <p:cNvSpPr txBox="1"/>
          <p:nvPr/>
        </p:nvSpPr>
        <p:spPr>
          <a:xfrm>
            <a:off x="6204458" y="5354320"/>
            <a:ext cx="1217295"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Renamed</a:t>
            </a:r>
            <a:r>
              <a:rPr sz="1400" b="1" spc="-135" dirty="0">
                <a:latin typeface="Times New Roman"/>
                <a:cs typeface="Times New Roman"/>
              </a:rPr>
              <a:t> </a:t>
            </a:r>
            <a:r>
              <a:rPr sz="1400" b="1" dirty="0">
                <a:latin typeface="Times New Roman"/>
                <a:cs typeface="Times New Roman"/>
              </a:rPr>
              <a:t>Index</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30</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34940" cy="574040"/>
          </a:xfrm>
          <a:prstGeom prst="rect">
            <a:avLst/>
          </a:prstGeom>
        </p:spPr>
        <p:txBody>
          <a:bodyPr vert="horz" wrap="square" lIns="0" tIns="12700" rIns="0" bIns="0" rtlCol="0">
            <a:spAutoFit/>
          </a:bodyPr>
          <a:lstStyle/>
          <a:p>
            <a:pPr marL="12700">
              <a:lnSpc>
                <a:spcPct val="100000"/>
              </a:lnSpc>
              <a:spcBef>
                <a:spcPts val="100"/>
              </a:spcBef>
            </a:pPr>
            <a:r>
              <a:rPr b="0" spc="180" dirty="0">
                <a:latin typeface="Times New Roman"/>
                <a:cs typeface="Times New Roman"/>
              </a:rPr>
              <a:t>Create</a:t>
            </a:r>
            <a:r>
              <a:rPr b="0" spc="-160" dirty="0">
                <a:latin typeface="Times New Roman"/>
                <a:cs typeface="Times New Roman"/>
              </a:rPr>
              <a:t> </a:t>
            </a:r>
            <a:r>
              <a:rPr b="0" spc="170" dirty="0">
                <a:latin typeface="Times New Roman"/>
                <a:cs typeface="Times New Roman"/>
              </a:rPr>
              <a:t>Clustered</a:t>
            </a:r>
            <a:r>
              <a:rPr b="0" spc="-165" dirty="0">
                <a:latin typeface="Times New Roman"/>
                <a:cs typeface="Times New Roman"/>
              </a:rPr>
              <a:t> </a:t>
            </a:r>
            <a:r>
              <a:rPr b="0" spc="155" dirty="0">
                <a:latin typeface="Times New Roman"/>
                <a:cs typeface="Times New Roman"/>
              </a:rPr>
              <a:t>Index</a:t>
            </a:r>
            <a:r>
              <a:rPr b="0" spc="-135" dirty="0">
                <a:latin typeface="Times New Roman"/>
                <a:cs typeface="Times New Roman"/>
              </a:rPr>
              <a:t> </a:t>
            </a:r>
            <a:r>
              <a:rPr b="0" spc="-300" dirty="0">
                <a:latin typeface="Times New Roman"/>
                <a:cs typeface="Times New Roman"/>
              </a:rPr>
              <a:t>3-5</a:t>
            </a:r>
          </a:p>
        </p:txBody>
      </p:sp>
      <p:sp>
        <p:nvSpPr>
          <p:cNvPr id="3" name="object 3"/>
          <p:cNvSpPr/>
          <p:nvPr/>
        </p:nvSpPr>
        <p:spPr>
          <a:xfrm>
            <a:off x="415290" y="1644395"/>
            <a:ext cx="4156710" cy="3870325"/>
          </a:xfrm>
          <a:custGeom>
            <a:avLst/>
            <a:gdLst/>
            <a:ahLst/>
            <a:cxnLst/>
            <a:rect l="l" t="t" r="r" b="b"/>
            <a:pathLst>
              <a:path w="4156710" h="3870325">
                <a:moveTo>
                  <a:pt x="4156710" y="645033"/>
                </a:moveTo>
                <a:lnTo>
                  <a:pt x="4154932" y="596900"/>
                </a:lnTo>
                <a:lnTo>
                  <a:pt x="4149712" y="549719"/>
                </a:lnTo>
                <a:lnTo>
                  <a:pt x="4141152" y="503631"/>
                </a:lnTo>
                <a:lnTo>
                  <a:pt x="4129392" y="458749"/>
                </a:lnTo>
                <a:lnTo>
                  <a:pt x="4114546" y="415201"/>
                </a:lnTo>
                <a:lnTo>
                  <a:pt x="4096753" y="373113"/>
                </a:lnTo>
                <a:lnTo>
                  <a:pt x="4076115" y="332613"/>
                </a:lnTo>
                <a:lnTo>
                  <a:pt x="4052786" y="293814"/>
                </a:lnTo>
                <a:lnTo>
                  <a:pt x="4026865" y="256857"/>
                </a:lnTo>
                <a:lnTo>
                  <a:pt x="3998480" y="221856"/>
                </a:lnTo>
                <a:lnTo>
                  <a:pt x="3967772" y="188937"/>
                </a:lnTo>
                <a:lnTo>
                  <a:pt x="3934853" y="158229"/>
                </a:lnTo>
                <a:lnTo>
                  <a:pt x="3899852" y="129844"/>
                </a:lnTo>
                <a:lnTo>
                  <a:pt x="3862895" y="103924"/>
                </a:lnTo>
                <a:lnTo>
                  <a:pt x="3824097" y="80594"/>
                </a:lnTo>
                <a:lnTo>
                  <a:pt x="3783596" y="59956"/>
                </a:lnTo>
                <a:lnTo>
                  <a:pt x="3741509" y="42164"/>
                </a:lnTo>
                <a:lnTo>
                  <a:pt x="3697960" y="27317"/>
                </a:lnTo>
                <a:lnTo>
                  <a:pt x="3653078" y="15557"/>
                </a:lnTo>
                <a:lnTo>
                  <a:pt x="3606990" y="6997"/>
                </a:lnTo>
                <a:lnTo>
                  <a:pt x="3559810" y="1778"/>
                </a:lnTo>
                <a:lnTo>
                  <a:pt x="3511677" y="0"/>
                </a:lnTo>
                <a:lnTo>
                  <a:pt x="645045" y="0"/>
                </a:lnTo>
                <a:lnTo>
                  <a:pt x="596900" y="1778"/>
                </a:lnTo>
                <a:lnTo>
                  <a:pt x="549719" y="6997"/>
                </a:lnTo>
                <a:lnTo>
                  <a:pt x="503631" y="15557"/>
                </a:lnTo>
                <a:lnTo>
                  <a:pt x="458736" y="27317"/>
                </a:lnTo>
                <a:lnTo>
                  <a:pt x="415188" y="42164"/>
                </a:lnTo>
                <a:lnTo>
                  <a:pt x="373100" y="59956"/>
                </a:lnTo>
                <a:lnTo>
                  <a:pt x="332600" y="80594"/>
                </a:lnTo>
                <a:lnTo>
                  <a:pt x="293801" y="103924"/>
                </a:lnTo>
                <a:lnTo>
                  <a:pt x="256844" y="129844"/>
                </a:lnTo>
                <a:lnTo>
                  <a:pt x="221843" y="158229"/>
                </a:lnTo>
                <a:lnTo>
                  <a:pt x="188925" y="188937"/>
                </a:lnTo>
                <a:lnTo>
                  <a:pt x="158216" y="221856"/>
                </a:lnTo>
                <a:lnTo>
                  <a:pt x="129832" y="256857"/>
                </a:lnTo>
                <a:lnTo>
                  <a:pt x="103911" y="293814"/>
                </a:lnTo>
                <a:lnTo>
                  <a:pt x="80581" y="332613"/>
                </a:lnTo>
                <a:lnTo>
                  <a:pt x="59944" y="373113"/>
                </a:lnTo>
                <a:lnTo>
                  <a:pt x="42151" y="415201"/>
                </a:lnTo>
                <a:lnTo>
                  <a:pt x="27305" y="458749"/>
                </a:lnTo>
                <a:lnTo>
                  <a:pt x="15544" y="503631"/>
                </a:lnTo>
                <a:lnTo>
                  <a:pt x="6985" y="549719"/>
                </a:lnTo>
                <a:lnTo>
                  <a:pt x="1765" y="596900"/>
                </a:lnTo>
                <a:lnTo>
                  <a:pt x="0" y="645033"/>
                </a:lnTo>
                <a:lnTo>
                  <a:pt x="0" y="3225165"/>
                </a:lnTo>
                <a:lnTo>
                  <a:pt x="1765" y="3273310"/>
                </a:lnTo>
                <a:lnTo>
                  <a:pt x="6985" y="3320491"/>
                </a:lnTo>
                <a:lnTo>
                  <a:pt x="15544" y="3366579"/>
                </a:lnTo>
                <a:lnTo>
                  <a:pt x="27305" y="3411461"/>
                </a:lnTo>
                <a:lnTo>
                  <a:pt x="42151" y="3455009"/>
                </a:lnTo>
                <a:lnTo>
                  <a:pt x="59944" y="3497097"/>
                </a:lnTo>
                <a:lnTo>
                  <a:pt x="80581" y="3537597"/>
                </a:lnTo>
                <a:lnTo>
                  <a:pt x="103911" y="3576396"/>
                </a:lnTo>
                <a:lnTo>
                  <a:pt x="129832" y="3613353"/>
                </a:lnTo>
                <a:lnTo>
                  <a:pt x="158216" y="3648354"/>
                </a:lnTo>
                <a:lnTo>
                  <a:pt x="188925" y="3681272"/>
                </a:lnTo>
                <a:lnTo>
                  <a:pt x="221843" y="3711981"/>
                </a:lnTo>
                <a:lnTo>
                  <a:pt x="256844" y="3740366"/>
                </a:lnTo>
                <a:lnTo>
                  <a:pt x="293801" y="3766286"/>
                </a:lnTo>
                <a:lnTo>
                  <a:pt x="332600" y="3789616"/>
                </a:lnTo>
                <a:lnTo>
                  <a:pt x="373100" y="3810254"/>
                </a:lnTo>
                <a:lnTo>
                  <a:pt x="415188" y="3828046"/>
                </a:lnTo>
                <a:lnTo>
                  <a:pt x="458736" y="3842893"/>
                </a:lnTo>
                <a:lnTo>
                  <a:pt x="503631" y="3854653"/>
                </a:lnTo>
                <a:lnTo>
                  <a:pt x="549719" y="3863213"/>
                </a:lnTo>
                <a:lnTo>
                  <a:pt x="596900" y="3868432"/>
                </a:lnTo>
                <a:lnTo>
                  <a:pt x="645045" y="3870198"/>
                </a:lnTo>
                <a:lnTo>
                  <a:pt x="3511677" y="3870198"/>
                </a:lnTo>
                <a:lnTo>
                  <a:pt x="3559810" y="3868432"/>
                </a:lnTo>
                <a:lnTo>
                  <a:pt x="3606990" y="3863213"/>
                </a:lnTo>
                <a:lnTo>
                  <a:pt x="3653078" y="3854653"/>
                </a:lnTo>
                <a:lnTo>
                  <a:pt x="3697960" y="3842893"/>
                </a:lnTo>
                <a:lnTo>
                  <a:pt x="3741509" y="3828046"/>
                </a:lnTo>
                <a:lnTo>
                  <a:pt x="3783596" y="3810254"/>
                </a:lnTo>
                <a:lnTo>
                  <a:pt x="3824097" y="3789616"/>
                </a:lnTo>
                <a:lnTo>
                  <a:pt x="3862895" y="3766286"/>
                </a:lnTo>
                <a:lnTo>
                  <a:pt x="3899852" y="3740366"/>
                </a:lnTo>
                <a:lnTo>
                  <a:pt x="3934853" y="3711981"/>
                </a:lnTo>
                <a:lnTo>
                  <a:pt x="3967772" y="3681272"/>
                </a:lnTo>
                <a:lnTo>
                  <a:pt x="3998480" y="3648354"/>
                </a:lnTo>
                <a:lnTo>
                  <a:pt x="4026865" y="3613353"/>
                </a:lnTo>
                <a:lnTo>
                  <a:pt x="4052786" y="3576396"/>
                </a:lnTo>
                <a:lnTo>
                  <a:pt x="4076115" y="3537597"/>
                </a:lnTo>
                <a:lnTo>
                  <a:pt x="4096753" y="3497097"/>
                </a:lnTo>
                <a:lnTo>
                  <a:pt x="4114546" y="3455009"/>
                </a:lnTo>
                <a:lnTo>
                  <a:pt x="4129392" y="3411461"/>
                </a:lnTo>
                <a:lnTo>
                  <a:pt x="4141152" y="3366579"/>
                </a:lnTo>
                <a:lnTo>
                  <a:pt x="4149712" y="3320491"/>
                </a:lnTo>
                <a:lnTo>
                  <a:pt x="4154932" y="3273310"/>
                </a:lnTo>
                <a:lnTo>
                  <a:pt x="4156710" y="3225165"/>
                </a:lnTo>
                <a:lnTo>
                  <a:pt x="4156710" y="2927604"/>
                </a:lnTo>
                <a:lnTo>
                  <a:pt x="4156710" y="942594"/>
                </a:lnTo>
                <a:lnTo>
                  <a:pt x="4156710" y="645033"/>
                </a:lnTo>
                <a:close/>
              </a:path>
            </a:pathLst>
          </a:custGeom>
          <a:solidFill>
            <a:srgbClr val="000000"/>
          </a:solidFill>
        </p:spPr>
        <p:txBody>
          <a:bodyPr wrap="square" lIns="0" tIns="0" rIns="0" bIns="0" rtlCol="0"/>
          <a:lstStyle/>
          <a:p>
            <a:endParaRPr/>
          </a:p>
        </p:txBody>
      </p:sp>
      <p:sp>
        <p:nvSpPr>
          <p:cNvPr id="4" name="object 4"/>
          <p:cNvSpPr txBox="1"/>
          <p:nvPr/>
        </p:nvSpPr>
        <p:spPr>
          <a:xfrm>
            <a:off x="632968" y="2042667"/>
            <a:ext cx="3741420" cy="1645920"/>
          </a:xfrm>
          <a:prstGeom prst="rect">
            <a:avLst/>
          </a:prstGeom>
        </p:spPr>
        <p:txBody>
          <a:bodyPr vert="horz" wrap="square" lIns="0" tIns="12700" rIns="0" bIns="0" rtlCol="0">
            <a:spAutoFit/>
          </a:bodyPr>
          <a:lstStyle/>
          <a:p>
            <a:pPr marL="12700" marR="5080" algn="just">
              <a:lnSpc>
                <a:spcPct val="100000"/>
              </a:lnSpc>
              <a:spcBef>
                <a:spcPts val="100"/>
              </a:spcBef>
            </a:pPr>
            <a:r>
              <a:rPr sz="2200" spc="150" dirty="0">
                <a:solidFill>
                  <a:srgbClr val="FFFFFF"/>
                </a:solidFill>
                <a:latin typeface="Times New Roman"/>
                <a:cs typeface="Times New Roman"/>
              </a:rPr>
              <a:t>To </a:t>
            </a:r>
            <a:r>
              <a:rPr sz="2200" spc="45" dirty="0">
                <a:solidFill>
                  <a:srgbClr val="FFFFFF"/>
                </a:solidFill>
                <a:latin typeface="Times New Roman"/>
                <a:cs typeface="Times New Roman"/>
              </a:rPr>
              <a:t>disable </a:t>
            </a:r>
            <a:r>
              <a:rPr sz="2200" spc="114" dirty="0">
                <a:solidFill>
                  <a:srgbClr val="FFFFFF"/>
                </a:solidFill>
                <a:latin typeface="Times New Roman"/>
                <a:cs typeface="Times New Roman"/>
              </a:rPr>
              <a:t>an </a:t>
            </a:r>
            <a:r>
              <a:rPr sz="2200" spc="80" dirty="0">
                <a:solidFill>
                  <a:srgbClr val="FFFFFF"/>
                </a:solidFill>
                <a:latin typeface="Times New Roman"/>
                <a:cs typeface="Times New Roman"/>
              </a:rPr>
              <a:t>index, </a:t>
            </a:r>
            <a:r>
              <a:rPr sz="2200" spc="95" dirty="0">
                <a:solidFill>
                  <a:srgbClr val="FFFFFF"/>
                </a:solidFill>
                <a:latin typeface="Times New Roman"/>
                <a:cs typeface="Times New Roman"/>
              </a:rPr>
              <a:t>ALTER  </a:t>
            </a:r>
            <a:r>
              <a:rPr sz="2200" spc="65" dirty="0">
                <a:solidFill>
                  <a:srgbClr val="FFFFFF"/>
                </a:solidFill>
                <a:latin typeface="Times New Roman"/>
                <a:cs typeface="Times New Roman"/>
              </a:rPr>
              <a:t>INDEX </a:t>
            </a:r>
            <a:r>
              <a:rPr sz="2200" spc="95" dirty="0">
                <a:solidFill>
                  <a:srgbClr val="FFFFFF"/>
                </a:solidFill>
                <a:latin typeface="Times New Roman"/>
                <a:cs typeface="Times New Roman"/>
              </a:rPr>
              <a:t>statement </a:t>
            </a:r>
            <a:r>
              <a:rPr sz="2200" spc="5" dirty="0">
                <a:solidFill>
                  <a:srgbClr val="FFFFFF"/>
                </a:solidFill>
                <a:latin typeface="Times New Roman"/>
                <a:cs typeface="Times New Roman"/>
              </a:rPr>
              <a:t>is </a:t>
            </a:r>
            <a:r>
              <a:rPr sz="2200" spc="90" dirty="0">
                <a:solidFill>
                  <a:srgbClr val="FFFFFF"/>
                </a:solidFill>
                <a:latin typeface="Times New Roman"/>
                <a:cs typeface="Times New Roman"/>
              </a:rPr>
              <a:t>used </a:t>
            </a:r>
            <a:r>
              <a:rPr sz="2200" spc="10" dirty="0">
                <a:solidFill>
                  <a:srgbClr val="FFFFFF"/>
                </a:solidFill>
                <a:latin typeface="Times New Roman"/>
                <a:cs typeface="Times New Roman"/>
              </a:rPr>
              <a:t>as  </a:t>
            </a:r>
            <a:r>
              <a:rPr sz="2200" spc="30" dirty="0">
                <a:solidFill>
                  <a:srgbClr val="FFFFFF"/>
                </a:solidFill>
                <a:latin typeface="Times New Roman"/>
                <a:cs typeface="Times New Roman"/>
              </a:rPr>
              <a:t>follows:</a:t>
            </a:r>
            <a:endParaRPr sz="2200">
              <a:latin typeface="Times New Roman"/>
              <a:cs typeface="Times New Roman"/>
            </a:endParaRPr>
          </a:p>
          <a:p>
            <a:pPr marL="12700">
              <a:lnSpc>
                <a:spcPct val="100000"/>
              </a:lnSpc>
              <a:spcBef>
                <a:spcPts val="2440"/>
              </a:spcBef>
            </a:pPr>
            <a:r>
              <a:rPr sz="2000" b="1" spc="15" dirty="0">
                <a:solidFill>
                  <a:srgbClr val="FFFFFF"/>
                </a:solidFill>
                <a:latin typeface="Times New Roman"/>
                <a:cs typeface="Times New Roman"/>
              </a:rPr>
              <a:t>Syntax</a:t>
            </a:r>
            <a:endParaRPr sz="2000">
              <a:latin typeface="Times New Roman"/>
              <a:cs typeface="Times New Roman"/>
            </a:endParaRPr>
          </a:p>
        </p:txBody>
      </p:sp>
      <p:sp>
        <p:nvSpPr>
          <p:cNvPr id="5" name="object 5"/>
          <p:cNvSpPr txBox="1"/>
          <p:nvPr/>
        </p:nvSpPr>
        <p:spPr>
          <a:xfrm>
            <a:off x="2606039" y="3668014"/>
            <a:ext cx="1767205" cy="299720"/>
          </a:xfrm>
          <a:prstGeom prst="rect">
            <a:avLst/>
          </a:prstGeom>
        </p:spPr>
        <p:txBody>
          <a:bodyPr vert="horz" wrap="square" lIns="0" tIns="12700" rIns="0" bIns="0" rtlCol="0">
            <a:spAutoFit/>
          </a:bodyPr>
          <a:lstStyle/>
          <a:p>
            <a:pPr marL="12700">
              <a:lnSpc>
                <a:spcPct val="100000"/>
              </a:lnSpc>
              <a:spcBef>
                <a:spcPts val="100"/>
              </a:spcBef>
              <a:tabLst>
                <a:tab pos="1376045" algn="l"/>
              </a:tabLst>
            </a:pPr>
            <a:r>
              <a:rPr sz="1800" spc="85" dirty="0">
                <a:solidFill>
                  <a:srgbClr val="FFFFFF"/>
                </a:solidFill>
                <a:latin typeface="Times New Roman"/>
                <a:cs typeface="Times New Roman"/>
              </a:rPr>
              <a:t>in</a:t>
            </a:r>
            <a:r>
              <a:rPr sz="1800" spc="100" dirty="0">
                <a:solidFill>
                  <a:srgbClr val="FFFFFF"/>
                </a:solidFill>
                <a:latin typeface="Times New Roman"/>
                <a:cs typeface="Times New Roman"/>
              </a:rPr>
              <a:t>d</a:t>
            </a:r>
            <a:r>
              <a:rPr sz="1800" spc="-10" dirty="0">
                <a:solidFill>
                  <a:srgbClr val="FFFFFF"/>
                </a:solidFill>
                <a:latin typeface="Times New Roman"/>
                <a:cs typeface="Times New Roman"/>
              </a:rPr>
              <a:t>ex_name</a:t>
            </a:r>
            <a:r>
              <a:rPr sz="1800" dirty="0">
                <a:solidFill>
                  <a:srgbClr val="FFFFFF"/>
                </a:solidFill>
                <a:latin typeface="Times New Roman"/>
                <a:cs typeface="Times New Roman"/>
              </a:rPr>
              <a:t>	</a:t>
            </a:r>
            <a:r>
              <a:rPr sz="1800" spc="185" dirty="0">
                <a:solidFill>
                  <a:srgbClr val="FFFFFF"/>
                </a:solidFill>
                <a:latin typeface="Times New Roman"/>
                <a:cs typeface="Times New Roman"/>
              </a:rPr>
              <a:t>ON</a:t>
            </a:r>
            <a:endParaRPr sz="1800">
              <a:latin typeface="Times New Roman"/>
              <a:cs typeface="Times New Roman"/>
            </a:endParaRPr>
          </a:p>
        </p:txBody>
      </p:sp>
      <p:sp>
        <p:nvSpPr>
          <p:cNvPr id="6" name="object 6"/>
          <p:cNvSpPr txBox="1"/>
          <p:nvPr/>
        </p:nvSpPr>
        <p:spPr>
          <a:xfrm>
            <a:off x="632968" y="3668014"/>
            <a:ext cx="1779905" cy="848360"/>
          </a:xfrm>
          <a:prstGeom prst="rect">
            <a:avLst/>
          </a:prstGeom>
        </p:spPr>
        <p:txBody>
          <a:bodyPr vert="horz" wrap="square" lIns="0" tIns="12700" rIns="0" bIns="0" rtlCol="0">
            <a:spAutoFit/>
          </a:bodyPr>
          <a:lstStyle/>
          <a:p>
            <a:pPr marL="12700">
              <a:lnSpc>
                <a:spcPct val="100000"/>
              </a:lnSpc>
              <a:spcBef>
                <a:spcPts val="100"/>
              </a:spcBef>
              <a:tabLst>
                <a:tab pos="1017905" algn="l"/>
              </a:tabLst>
            </a:pPr>
            <a:r>
              <a:rPr sz="1800" spc="75" dirty="0">
                <a:solidFill>
                  <a:srgbClr val="FFFFFF"/>
                </a:solidFill>
                <a:latin typeface="Times New Roman"/>
                <a:cs typeface="Times New Roman"/>
              </a:rPr>
              <a:t>ALTER	</a:t>
            </a:r>
            <a:r>
              <a:rPr sz="1800" spc="55" dirty="0">
                <a:solidFill>
                  <a:srgbClr val="FFFFFF"/>
                </a:solidFill>
                <a:latin typeface="Times New Roman"/>
                <a:cs typeface="Times New Roman"/>
              </a:rPr>
              <a:t>INDEX</a:t>
            </a:r>
            <a:endParaRPr sz="1800">
              <a:latin typeface="Times New Roman"/>
              <a:cs typeface="Times New Roman"/>
            </a:endParaRPr>
          </a:p>
          <a:p>
            <a:pPr marL="12700" marR="695325">
              <a:lnSpc>
                <a:spcPct val="100000"/>
              </a:lnSpc>
            </a:pPr>
            <a:r>
              <a:rPr sz="1800" spc="5" dirty="0">
                <a:solidFill>
                  <a:srgbClr val="FFFFFF"/>
                </a:solidFill>
                <a:latin typeface="Times New Roman"/>
                <a:cs typeface="Times New Roman"/>
              </a:rPr>
              <a:t>table_name  </a:t>
            </a:r>
            <a:r>
              <a:rPr sz="1800" spc="35" dirty="0">
                <a:solidFill>
                  <a:srgbClr val="FFFFFF"/>
                </a:solidFill>
                <a:latin typeface="Times New Roman"/>
                <a:cs typeface="Times New Roman"/>
              </a:rPr>
              <a:t>DISABLE</a:t>
            </a:r>
            <a:r>
              <a:rPr sz="1800" spc="-30" dirty="0">
                <a:solidFill>
                  <a:srgbClr val="FFFFFF"/>
                </a:solidFill>
                <a:latin typeface="Times New Roman"/>
                <a:cs typeface="Times New Roman"/>
              </a:rPr>
              <a:t>;</a:t>
            </a:r>
            <a:endParaRPr sz="1800">
              <a:latin typeface="Times New Roman"/>
              <a:cs typeface="Times New Roman"/>
            </a:endParaRPr>
          </a:p>
        </p:txBody>
      </p:sp>
      <p:sp>
        <p:nvSpPr>
          <p:cNvPr id="7" name="object 7"/>
          <p:cNvSpPr txBox="1"/>
          <p:nvPr/>
        </p:nvSpPr>
        <p:spPr>
          <a:xfrm>
            <a:off x="500887" y="897890"/>
            <a:ext cx="2386965" cy="391160"/>
          </a:xfrm>
          <a:prstGeom prst="rect">
            <a:avLst/>
          </a:prstGeom>
        </p:spPr>
        <p:txBody>
          <a:bodyPr vert="horz" wrap="square" lIns="0" tIns="12700" rIns="0" bIns="0" rtlCol="0">
            <a:spAutoFit/>
          </a:bodyPr>
          <a:lstStyle/>
          <a:p>
            <a:pPr marL="12700">
              <a:lnSpc>
                <a:spcPct val="100000"/>
              </a:lnSpc>
              <a:spcBef>
                <a:spcPts val="100"/>
              </a:spcBef>
            </a:pPr>
            <a:r>
              <a:rPr sz="2400" b="1" spc="-30" dirty="0">
                <a:latin typeface="Times New Roman"/>
                <a:cs typeface="Times New Roman"/>
              </a:rPr>
              <a:t>DISABLE</a:t>
            </a:r>
            <a:r>
              <a:rPr sz="2400" b="1" spc="-204" dirty="0">
                <a:latin typeface="Times New Roman"/>
                <a:cs typeface="Times New Roman"/>
              </a:rPr>
              <a:t> </a:t>
            </a:r>
            <a:r>
              <a:rPr sz="2400" b="1" spc="5" dirty="0">
                <a:latin typeface="Times New Roman"/>
                <a:cs typeface="Times New Roman"/>
              </a:rPr>
              <a:t>INDEX</a:t>
            </a:r>
            <a:endParaRPr sz="2400">
              <a:latin typeface="Times New Roman"/>
              <a:cs typeface="Times New Roman"/>
            </a:endParaRPr>
          </a:p>
        </p:txBody>
      </p:sp>
      <p:pic>
        <p:nvPicPr>
          <p:cNvPr id="8" name="object 8"/>
          <p:cNvPicPr/>
          <p:nvPr/>
        </p:nvPicPr>
        <p:blipFill>
          <a:blip r:embed="rId3" cstate="print"/>
          <a:stretch>
            <a:fillRect/>
          </a:stretch>
        </p:blipFill>
        <p:spPr>
          <a:xfrm>
            <a:off x="5058155" y="2143505"/>
            <a:ext cx="3599688" cy="2871216"/>
          </a:xfrm>
          <a:prstGeom prst="rect">
            <a:avLst/>
          </a:prstGeom>
        </p:spPr>
      </p:pic>
      <p:sp>
        <p:nvSpPr>
          <p:cNvPr id="9" name="object 9"/>
          <p:cNvSpPr txBox="1"/>
          <p:nvPr/>
        </p:nvSpPr>
        <p:spPr>
          <a:xfrm>
            <a:off x="6277102" y="5005577"/>
            <a:ext cx="1064895"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Disable</a:t>
            </a:r>
            <a:r>
              <a:rPr sz="1400" b="1" spc="-130" dirty="0">
                <a:latin typeface="Times New Roman"/>
                <a:cs typeface="Times New Roman"/>
              </a:rPr>
              <a:t> </a:t>
            </a:r>
            <a:r>
              <a:rPr sz="1400" b="1" dirty="0">
                <a:latin typeface="Times New Roman"/>
                <a:cs typeface="Times New Roman"/>
              </a:rPr>
              <a:t>Index</a:t>
            </a:r>
            <a:endParaRPr sz="14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31</a:t>
            </a:fld>
            <a:endParaRPr sz="1200"/>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80660" cy="574040"/>
          </a:xfrm>
          <a:prstGeom prst="rect">
            <a:avLst/>
          </a:prstGeom>
        </p:spPr>
        <p:txBody>
          <a:bodyPr vert="horz" wrap="square" lIns="0" tIns="12700" rIns="0" bIns="0" rtlCol="0">
            <a:spAutoFit/>
          </a:bodyPr>
          <a:lstStyle/>
          <a:p>
            <a:pPr marL="12700">
              <a:lnSpc>
                <a:spcPct val="100000"/>
              </a:lnSpc>
              <a:spcBef>
                <a:spcPts val="100"/>
              </a:spcBef>
            </a:pPr>
            <a:r>
              <a:rPr b="0" spc="180" dirty="0">
                <a:latin typeface="Times New Roman"/>
                <a:cs typeface="Times New Roman"/>
              </a:rPr>
              <a:t>Create</a:t>
            </a:r>
            <a:r>
              <a:rPr b="0" spc="-160" dirty="0">
                <a:latin typeface="Times New Roman"/>
                <a:cs typeface="Times New Roman"/>
              </a:rPr>
              <a:t> </a:t>
            </a:r>
            <a:r>
              <a:rPr b="0" spc="170" dirty="0">
                <a:latin typeface="Times New Roman"/>
                <a:cs typeface="Times New Roman"/>
              </a:rPr>
              <a:t>Clustered</a:t>
            </a:r>
            <a:r>
              <a:rPr b="0" spc="-165" dirty="0">
                <a:latin typeface="Times New Roman"/>
                <a:cs typeface="Times New Roman"/>
              </a:rPr>
              <a:t> </a:t>
            </a:r>
            <a:r>
              <a:rPr b="0" spc="155" dirty="0">
                <a:latin typeface="Times New Roman"/>
                <a:cs typeface="Times New Roman"/>
              </a:rPr>
              <a:t>Index</a:t>
            </a:r>
            <a:r>
              <a:rPr b="0" spc="-135" dirty="0">
                <a:latin typeface="Times New Roman"/>
                <a:cs typeface="Times New Roman"/>
              </a:rPr>
              <a:t> </a:t>
            </a:r>
            <a:r>
              <a:rPr b="0" spc="-180" dirty="0">
                <a:latin typeface="Times New Roman"/>
                <a:cs typeface="Times New Roman"/>
              </a:rPr>
              <a:t>4-5</a:t>
            </a:r>
          </a:p>
        </p:txBody>
      </p:sp>
      <p:sp>
        <p:nvSpPr>
          <p:cNvPr id="3" name="object 3"/>
          <p:cNvSpPr/>
          <p:nvPr/>
        </p:nvSpPr>
        <p:spPr>
          <a:xfrm>
            <a:off x="415290" y="1644395"/>
            <a:ext cx="4156710" cy="3870325"/>
          </a:xfrm>
          <a:custGeom>
            <a:avLst/>
            <a:gdLst/>
            <a:ahLst/>
            <a:cxnLst/>
            <a:rect l="l" t="t" r="r" b="b"/>
            <a:pathLst>
              <a:path w="4156710" h="3870325">
                <a:moveTo>
                  <a:pt x="4156710" y="645033"/>
                </a:moveTo>
                <a:lnTo>
                  <a:pt x="4154932" y="596900"/>
                </a:lnTo>
                <a:lnTo>
                  <a:pt x="4149712" y="549719"/>
                </a:lnTo>
                <a:lnTo>
                  <a:pt x="4141152" y="503631"/>
                </a:lnTo>
                <a:lnTo>
                  <a:pt x="4129392" y="458749"/>
                </a:lnTo>
                <a:lnTo>
                  <a:pt x="4114546" y="415201"/>
                </a:lnTo>
                <a:lnTo>
                  <a:pt x="4096753" y="373113"/>
                </a:lnTo>
                <a:lnTo>
                  <a:pt x="4076115" y="332613"/>
                </a:lnTo>
                <a:lnTo>
                  <a:pt x="4052786" y="293814"/>
                </a:lnTo>
                <a:lnTo>
                  <a:pt x="4026865" y="256857"/>
                </a:lnTo>
                <a:lnTo>
                  <a:pt x="3998480" y="221856"/>
                </a:lnTo>
                <a:lnTo>
                  <a:pt x="3967772" y="188937"/>
                </a:lnTo>
                <a:lnTo>
                  <a:pt x="3934853" y="158229"/>
                </a:lnTo>
                <a:lnTo>
                  <a:pt x="3899852" y="129844"/>
                </a:lnTo>
                <a:lnTo>
                  <a:pt x="3862895" y="103924"/>
                </a:lnTo>
                <a:lnTo>
                  <a:pt x="3824097" y="80594"/>
                </a:lnTo>
                <a:lnTo>
                  <a:pt x="3783596" y="59956"/>
                </a:lnTo>
                <a:lnTo>
                  <a:pt x="3741509" y="42164"/>
                </a:lnTo>
                <a:lnTo>
                  <a:pt x="3697960" y="27317"/>
                </a:lnTo>
                <a:lnTo>
                  <a:pt x="3653078" y="15557"/>
                </a:lnTo>
                <a:lnTo>
                  <a:pt x="3606990" y="6997"/>
                </a:lnTo>
                <a:lnTo>
                  <a:pt x="3559810" y="1778"/>
                </a:lnTo>
                <a:lnTo>
                  <a:pt x="3511677" y="0"/>
                </a:lnTo>
                <a:lnTo>
                  <a:pt x="645045" y="0"/>
                </a:lnTo>
                <a:lnTo>
                  <a:pt x="596900" y="1778"/>
                </a:lnTo>
                <a:lnTo>
                  <a:pt x="549719" y="6997"/>
                </a:lnTo>
                <a:lnTo>
                  <a:pt x="503631" y="15557"/>
                </a:lnTo>
                <a:lnTo>
                  <a:pt x="458736" y="27317"/>
                </a:lnTo>
                <a:lnTo>
                  <a:pt x="415188" y="42164"/>
                </a:lnTo>
                <a:lnTo>
                  <a:pt x="373100" y="59956"/>
                </a:lnTo>
                <a:lnTo>
                  <a:pt x="332600" y="80594"/>
                </a:lnTo>
                <a:lnTo>
                  <a:pt x="293801" y="103924"/>
                </a:lnTo>
                <a:lnTo>
                  <a:pt x="256844" y="129844"/>
                </a:lnTo>
                <a:lnTo>
                  <a:pt x="221843" y="158229"/>
                </a:lnTo>
                <a:lnTo>
                  <a:pt x="188925" y="188937"/>
                </a:lnTo>
                <a:lnTo>
                  <a:pt x="158216" y="221856"/>
                </a:lnTo>
                <a:lnTo>
                  <a:pt x="129832" y="256857"/>
                </a:lnTo>
                <a:lnTo>
                  <a:pt x="103911" y="293814"/>
                </a:lnTo>
                <a:lnTo>
                  <a:pt x="80581" y="332613"/>
                </a:lnTo>
                <a:lnTo>
                  <a:pt x="59944" y="373113"/>
                </a:lnTo>
                <a:lnTo>
                  <a:pt x="42151" y="415201"/>
                </a:lnTo>
                <a:lnTo>
                  <a:pt x="27305" y="458749"/>
                </a:lnTo>
                <a:lnTo>
                  <a:pt x="15544" y="503631"/>
                </a:lnTo>
                <a:lnTo>
                  <a:pt x="6985" y="549719"/>
                </a:lnTo>
                <a:lnTo>
                  <a:pt x="1765" y="596900"/>
                </a:lnTo>
                <a:lnTo>
                  <a:pt x="0" y="645033"/>
                </a:lnTo>
                <a:lnTo>
                  <a:pt x="0" y="3225165"/>
                </a:lnTo>
                <a:lnTo>
                  <a:pt x="1765" y="3273310"/>
                </a:lnTo>
                <a:lnTo>
                  <a:pt x="6985" y="3320491"/>
                </a:lnTo>
                <a:lnTo>
                  <a:pt x="15544" y="3366579"/>
                </a:lnTo>
                <a:lnTo>
                  <a:pt x="27305" y="3411461"/>
                </a:lnTo>
                <a:lnTo>
                  <a:pt x="42151" y="3455009"/>
                </a:lnTo>
                <a:lnTo>
                  <a:pt x="59944" y="3497097"/>
                </a:lnTo>
                <a:lnTo>
                  <a:pt x="80581" y="3537597"/>
                </a:lnTo>
                <a:lnTo>
                  <a:pt x="103911" y="3576396"/>
                </a:lnTo>
                <a:lnTo>
                  <a:pt x="129832" y="3613353"/>
                </a:lnTo>
                <a:lnTo>
                  <a:pt x="158216" y="3648354"/>
                </a:lnTo>
                <a:lnTo>
                  <a:pt x="188925" y="3681272"/>
                </a:lnTo>
                <a:lnTo>
                  <a:pt x="221843" y="3711981"/>
                </a:lnTo>
                <a:lnTo>
                  <a:pt x="256844" y="3740366"/>
                </a:lnTo>
                <a:lnTo>
                  <a:pt x="293801" y="3766286"/>
                </a:lnTo>
                <a:lnTo>
                  <a:pt x="332600" y="3789616"/>
                </a:lnTo>
                <a:lnTo>
                  <a:pt x="373100" y="3810254"/>
                </a:lnTo>
                <a:lnTo>
                  <a:pt x="415188" y="3828046"/>
                </a:lnTo>
                <a:lnTo>
                  <a:pt x="458736" y="3842893"/>
                </a:lnTo>
                <a:lnTo>
                  <a:pt x="503631" y="3854653"/>
                </a:lnTo>
                <a:lnTo>
                  <a:pt x="549719" y="3863213"/>
                </a:lnTo>
                <a:lnTo>
                  <a:pt x="596900" y="3868432"/>
                </a:lnTo>
                <a:lnTo>
                  <a:pt x="645045" y="3870198"/>
                </a:lnTo>
                <a:lnTo>
                  <a:pt x="3511677" y="3870198"/>
                </a:lnTo>
                <a:lnTo>
                  <a:pt x="3559810" y="3868432"/>
                </a:lnTo>
                <a:lnTo>
                  <a:pt x="3606990" y="3863213"/>
                </a:lnTo>
                <a:lnTo>
                  <a:pt x="3653078" y="3854653"/>
                </a:lnTo>
                <a:lnTo>
                  <a:pt x="3697960" y="3842893"/>
                </a:lnTo>
                <a:lnTo>
                  <a:pt x="3741509" y="3828046"/>
                </a:lnTo>
                <a:lnTo>
                  <a:pt x="3783596" y="3810254"/>
                </a:lnTo>
                <a:lnTo>
                  <a:pt x="3824097" y="3789616"/>
                </a:lnTo>
                <a:lnTo>
                  <a:pt x="3862895" y="3766286"/>
                </a:lnTo>
                <a:lnTo>
                  <a:pt x="3899852" y="3740366"/>
                </a:lnTo>
                <a:lnTo>
                  <a:pt x="3934853" y="3711981"/>
                </a:lnTo>
                <a:lnTo>
                  <a:pt x="3967772" y="3681272"/>
                </a:lnTo>
                <a:lnTo>
                  <a:pt x="3998480" y="3648354"/>
                </a:lnTo>
                <a:lnTo>
                  <a:pt x="4026865" y="3613353"/>
                </a:lnTo>
                <a:lnTo>
                  <a:pt x="4052786" y="3576396"/>
                </a:lnTo>
                <a:lnTo>
                  <a:pt x="4076115" y="3537597"/>
                </a:lnTo>
                <a:lnTo>
                  <a:pt x="4096753" y="3497097"/>
                </a:lnTo>
                <a:lnTo>
                  <a:pt x="4114546" y="3455009"/>
                </a:lnTo>
                <a:lnTo>
                  <a:pt x="4129392" y="3411461"/>
                </a:lnTo>
                <a:lnTo>
                  <a:pt x="4141152" y="3366579"/>
                </a:lnTo>
                <a:lnTo>
                  <a:pt x="4149712" y="3320491"/>
                </a:lnTo>
                <a:lnTo>
                  <a:pt x="4154932" y="3273310"/>
                </a:lnTo>
                <a:lnTo>
                  <a:pt x="4156710" y="3225165"/>
                </a:lnTo>
                <a:lnTo>
                  <a:pt x="4156710" y="2927604"/>
                </a:lnTo>
                <a:lnTo>
                  <a:pt x="4156710" y="942594"/>
                </a:lnTo>
                <a:lnTo>
                  <a:pt x="4156710" y="645033"/>
                </a:lnTo>
                <a:close/>
              </a:path>
            </a:pathLst>
          </a:custGeom>
          <a:solidFill>
            <a:srgbClr val="0580C3"/>
          </a:solidFill>
        </p:spPr>
        <p:txBody>
          <a:bodyPr wrap="square" lIns="0" tIns="0" rIns="0" bIns="0" rtlCol="0"/>
          <a:lstStyle/>
          <a:p>
            <a:endParaRPr/>
          </a:p>
        </p:txBody>
      </p:sp>
      <p:sp>
        <p:nvSpPr>
          <p:cNvPr id="4" name="object 4"/>
          <p:cNvSpPr txBox="1"/>
          <p:nvPr/>
        </p:nvSpPr>
        <p:spPr>
          <a:xfrm>
            <a:off x="864869" y="1957577"/>
            <a:ext cx="3328670" cy="2870200"/>
          </a:xfrm>
          <a:prstGeom prst="rect">
            <a:avLst/>
          </a:prstGeom>
        </p:spPr>
        <p:txBody>
          <a:bodyPr vert="horz" wrap="square" lIns="0" tIns="12700" rIns="0" bIns="0" rtlCol="0">
            <a:spAutoFit/>
          </a:bodyPr>
          <a:lstStyle/>
          <a:p>
            <a:pPr marL="12700" marR="5080" algn="just">
              <a:lnSpc>
                <a:spcPct val="100000"/>
              </a:lnSpc>
              <a:spcBef>
                <a:spcPts val="100"/>
              </a:spcBef>
            </a:pPr>
            <a:r>
              <a:rPr sz="2200" spc="105" dirty="0">
                <a:solidFill>
                  <a:srgbClr val="FFFFFF"/>
                </a:solidFill>
                <a:latin typeface="Times New Roman"/>
                <a:cs typeface="Times New Roman"/>
              </a:rPr>
              <a:t>This </a:t>
            </a:r>
            <a:r>
              <a:rPr sz="2200" spc="95" dirty="0">
                <a:solidFill>
                  <a:srgbClr val="FFFFFF"/>
                </a:solidFill>
                <a:latin typeface="Times New Roman"/>
                <a:cs typeface="Times New Roman"/>
              </a:rPr>
              <a:t>statement </a:t>
            </a:r>
            <a:r>
              <a:rPr sz="2200" spc="55" dirty="0">
                <a:solidFill>
                  <a:srgbClr val="FFFFFF"/>
                </a:solidFill>
                <a:latin typeface="Times New Roman"/>
                <a:cs typeface="Times New Roman"/>
              </a:rPr>
              <a:t>uses </a:t>
            </a:r>
            <a:r>
              <a:rPr sz="2200" spc="125" dirty="0">
                <a:solidFill>
                  <a:srgbClr val="FFFFFF"/>
                </a:solidFill>
                <a:latin typeface="Times New Roman"/>
                <a:cs typeface="Times New Roman"/>
              </a:rPr>
              <a:t>the  </a:t>
            </a:r>
            <a:r>
              <a:rPr sz="2200" spc="95" dirty="0">
                <a:solidFill>
                  <a:srgbClr val="FFFFFF"/>
                </a:solidFill>
                <a:latin typeface="Times New Roman"/>
                <a:cs typeface="Times New Roman"/>
              </a:rPr>
              <a:t>ALTER </a:t>
            </a:r>
            <a:r>
              <a:rPr sz="2200" spc="65" dirty="0">
                <a:solidFill>
                  <a:srgbClr val="FFFFFF"/>
                </a:solidFill>
                <a:latin typeface="Times New Roman"/>
                <a:cs typeface="Times New Roman"/>
              </a:rPr>
              <a:t>INDEX </a:t>
            </a:r>
            <a:r>
              <a:rPr sz="2200" spc="95" dirty="0">
                <a:solidFill>
                  <a:srgbClr val="FFFFFF"/>
                </a:solidFill>
                <a:latin typeface="Times New Roman"/>
                <a:cs typeface="Times New Roman"/>
              </a:rPr>
              <a:t>statement  </a:t>
            </a:r>
            <a:r>
              <a:rPr sz="2200" spc="120" dirty="0">
                <a:solidFill>
                  <a:srgbClr val="FFFFFF"/>
                </a:solidFill>
                <a:latin typeface="Times New Roman"/>
                <a:cs typeface="Times New Roman"/>
              </a:rPr>
              <a:t>to </a:t>
            </a:r>
            <a:r>
              <a:rPr sz="2200" spc="10" dirty="0">
                <a:solidFill>
                  <a:srgbClr val="FFFFFF"/>
                </a:solidFill>
                <a:latin typeface="Times New Roman"/>
                <a:cs typeface="Times New Roman"/>
              </a:rPr>
              <a:t>‘enable’ </a:t>
            </a:r>
            <a:r>
              <a:rPr sz="2200" spc="95" dirty="0">
                <a:solidFill>
                  <a:srgbClr val="FFFFFF"/>
                </a:solidFill>
                <a:latin typeface="Times New Roman"/>
                <a:cs typeface="Times New Roman"/>
              </a:rPr>
              <a:t>or </a:t>
            </a:r>
            <a:r>
              <a:rPr sz="2200" spc="80" dirty="0">
                <a:solidFill>
                  <a:srgbClr val="FFFFFF"/>
                </a:solidFill>
                <a:latin typeface="Times New Roman"/>
                <a:cs typeface="Times New Roman"/>
              </a:rPr>
              <a:t>rebuild </a:t>
            </a:r>
            <a:r>
              <a:rPr sz="2200" spc="110" dirty="0">
                <a:solidFill>
                  <a:srgbClr val="FFFFFF"/>
                </a:solidFill>
                <a:latin typeface="Times New Roman"/>
                <a:cs typeface="Times New Roman"/>
              </a:rPr>
              <a:t>an  </a:t>
            </a:r>
            <a:r>
              <a:rPr sz="2200" spc="100" dirty="0">
                <a:solidFill>
                  <a:srgbClr val="FFFFFF"/>
                </a:solidFill>
                <a:latin typeface="Times New Roman"/>
                <a:cs typeface="Times New Roman"/>
              </a:rPr>
              <a:t>index</a:t>
            </a:r>
            <a:r>
              <a:rPr sz="2200" spc="-110" dirty="0">
                <a:solidFill>
                  <a:srgbClr val="FFFFFF"/>
                </a:solidFill>
                <a:latin typeface="Times New Roman"/>
                <a:cs typeface="Times New Roman"/>
              </a:rPr>
              <a:t> </a:t>
            </a:r>
            <a:r>
              <a:rPr sz="2200" spc="150" dirty="0">
                <a:solidFill>
                  <a:srgbClr val="FFFFFF"/>
                </a:solidFill>
                <a:latin typeface="Times New Roman"/>
                <a:cs typeface="Times New Roman"/>
              </a:rPr>
              <a:t>on</a:t>
            </a:r>
            <a:r>
              <a:rPr sz="2200" spc="-95"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95" dirty="0">
                <a:solidFill>
                  <a:srgbClr val="FFFFFF"/>
                </a:solidFill>
                <a:latin typeface="Times New Roman"/>
                <a:cs typeface="Times New Roman"/>
              </a:rPr>
              <a:t> </a:t>
            </a:r>
            <a:r>
              <a:rPr sz="2200" spc="55" dirty="0">
                <a:solidFill>
                  <a:srgbClr val="FFFFFF"/>
                </a:solidFill>
                <a:latin typeface="Times New Roman"/>
                <a:cs typeface="Times New Roman"/>
              </a:rPr>
              <a:t>table.</a:t>
            </a:r>
            <a:endParaRPr sz="2200">
              <a:latin typeface="Times New Roman"/>
              <a:cs typeface="Times New Roman"/>
            </a:endParaRPr>
          </a:p>
          <a:p>
            <a:pPr>
              <a:lnSpc>
                <a:spcPct val="100000"/>
              </a:lnSpc>
              <a:spcBef>
                <a:spcPts val="25"/>
              </a:spcBef>
            </a:pPr>
            <a:endParaRPr sz="2450">
              <a:latin typeface="Times New Roman"/>
              <a:cs typeface="Times New Roman"/>
            </a:endParaRPr>
          </a:p>
          <a:p>
            <a:pPr marL="12700">
              <a:lnSpc>
                <a:spcPct val="100000"/>
              </a:lnSpc>
            </a:pPr>
            <a:r>
              <a:rPr sz="2000" b="1" spc="15" dirty="0">
                <a:solidFill>
                  <a:srgbClr val="FFFFFF"/>
                </a:solidFill>
                <a:latin typeface="Times New Roman"/>
                <a:cs typeface="Times New Roman"/>
              </a:rPr>
              <a:t>Syntax</a:t>
            </a:r>
            <a:endParaRPr sz="2000">
              <a:latin typeface="Times New Roman"/>
              <a:cs typeface="Times New Roman"/>
            </a:endParaRPr>
          </a:p>
          <a:p>
            <a:pPr marL="12700" marR="529590">
              <a:lnSpc>
                <a:spcPct val="100000"/>
              </a:lnSpc>
              <a:spcBef>
                <a:spcPts val="114"/>
              </a:spcBef>
            </a:pPr>
            <a:r>
              <a:rPr sz="1800" spc="75" dirty="0">
                <a:solidFill>
                  <a:srgbClr val="FFFFFF"/>
                </a:solidFill>
                <a:latin typeface="Times New Roman"/>
                <a:cs typeface="Times New Roman"/>
              </a:rPr>
              <a:t>ALTER </a:t>
            </a:r>
            <a:r>
              <a:rPr sz="1800" spc="55" dirty="0">
                <a:solidFill>
                  <a:srgbClr val="FFFFFF"/>
                </a:solidFill>
                <a:latin typeface="Times New Roman"/>
                <a:cs typeface="Times New Roman"/>
              </a:rPr>
              <a:t>INDEX</a:t>
            </a:r>
            <a:r>
              <a:rPr sz="1800" spc="-250" dirty="0">
                <a:solidFill>
                  <a:srgbClr val="FFFFFF"/>
                </a:solidFill>
                <a:latin typeface="Times New Roman"/>
                <a:cs typeface="Times New Roman"/>
              </a:rPr>
              <a:t> </a:t>
            </a:r>
            <a:r>
              <a:rPr sz="1800" spc="20" dirty="0">
                <a:solidFill>
                  <a:srgbClr val="FFFFFF"/>
                </a:solidFill>
                <a:latin typeface="Times New Roman"/>
                <a:cs typeface="Times New Roman"/>
              </a:rPr>
              <a:t>index_name  </a:t>
            </a:r>
            <a:r>
              <a:rPr sz="1800" spc="185" dirty="0">
                <a:solidFill>
                  <a:srgbClr val="FFFFFF"/>
                </a:solidFill>
                <a:latin typeface="Times New Roman"/>
                <a:cs typeface="Times New Roman"/>
              </a:rPr>
              <a:t>ON</a:t>
            </a:r>
            <a:r>
              <a:rPr sz="1800" spc="-70" dirty="0">
                <a:solidFill>
                  <a:srgbClr val="FFFFFF"/>
                </a:solidFill>
                <a:latin typeface="Times New Roman"/>
                <a:cs typeface="Times New Roman"/>
              </a:rPr>
              <a:t> </a:t>
            </a:r>
            <a:r>
              <a:rPr sz="1800" spc="5" dirty="0">
                <a:solidFill>
                  <a:srgbClr val="FFFFFF"/>
                </a:solidFill>
                <a:latin typeface="Times New Roman"/>
                <a:cs typeface="Times New Roman"/>
              </a:rPr>
              <a:t>table_name</a:t>
            </a:r>
            <a:endParaRPr sz="1800">
              <a:latin typeface="Times New Roman"/>
              <a:cs typeface="Times New Roman"/>
            </a:endParaRPr>
          </a:p>
          <a:p>
            <a:pPr marL="12700">
              <a:lnSpc>
                <a:spcPct val="100000"/>
              </a:lnSpc>
            </a:pPr>
            <a:r>
              <a:rPr sz="1800" spc="30" dirty="0">
                <a:solidFill>
                  <a:srgbClr val="FFFFFF"/>
                </a:solidFill>
                <a:latin typeface="Times New Roman"/>
                <a:cs typeface="Times New Roman"/>
              </a:rPr>
              <a:t>REBUILD;</a:t>
            </a:r>
            <a:endParaRPr sz="1800">
              <a:latin typeface="Times New Roman"/>
              <a:cs typeface="Times New Roman"/>
            </a:endParaRPr>
          </a:p>
        </p:txBody>
      </p:sp>
      <p:pic>
        <p:nvPicPr>
          <p:cNvPr id="5" name="object 5"/>
          <p:cNvPicPr/>
          <p:nvPr/>
        </p:nvPicPr>
        <p:blipFill>
          <a:blip r:embed="rId3" cstate="print"/>
          <a:stretch>
            <a:fillRect/>
          </a:stretch>
        </p:blipFill>
        <p:spPr>
          <a:xfrm>
            <a:off x="5092446" y="1946910"/>
            <a:ext cx="3565398" cy="3240786"/>
          </a:xfrm>
          <a:prstGeom prst="rect">
            <a:avLst/>
          </a:prstGeom>
        </p:spPr>
      </p:pic>
      <p:sp>
        <p:nvSpPr>
          <p:cNvPr id="6" name="object 6"/>
          <p:cNvSpPr txBox="1"/>
          <p:nvPr/>
        </p:nvSpPr>
        <p:spPr>
          <a:xfrm>
            <a:off x="6339078" y="5195570"/>
            <a:ext cx="101917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Enable</a:t>
            </a:r>
            <a:r>
              <a:rPr sz="1400" b="1" spc="-145"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32</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7" name="object 7"/>
          <p:cNvSpPr txBox="1"/>
          <p:nvPr/>
        </p:nvSpPr>
        <p:spPr>
          <a:xfrm>
            <a:off x="500887" y="897890"/>
            <a:ext cx="2292985" cy="391160"/>
          </a:xfrm>
          <a:prstGeom prst="rect">
            <a:avLst/>
          </a:prstGeom>
        </p:spPr>
        <p:txBody>
          <a:bodyPr vert="horz" wrap="square" lIns="0" tIns="12700" rIns="0" bIns="0" rtlCol="0">
            <a:spAutoFit/>
          </a:bodyPr>
          <a:lstStyle/>
          <a:p>
            <a:pPr marL="12700">
              <a:lnSpc>
                <a:spcPct val="100000"/>
              </a:lnSpc>
              <a:spcBef>
                <a:spcPts val="100"/>
              </a:spcBef>
            </a:pPr>
            <a:r>
              <a:rPr sz="2400" b="1" spc="-45" dirty="0">
                <a:latin typeface="Times New Roman"/>
                <a:cs typeface="Times New Roman"/>
              </a:rPr>
              <a:t>ENABLE</a:t>
            </a:r>
            <a:r>
              <a:rPr sz="2400" b="1" spc="-210" dirty="0">
                <a:latin typeface="Times New Roman"/>
                <a:cs typeface="Times New Roman"/>
              </a:rPr>
              <a:t> </a:t>
            </a:r>
            <a:r>
              <a:rPr sz="2400" b="1" spc="5" dirty="0">
                <a:latin typeface="Times New Roman"/>
                <a:cs typeface="Times New Roman"/>
              </a:rPr>
              <a:t>INDEX</a:t>
            </a:r>
            <a:endParaRPr sz="240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207000" cy="574040"/>
          </a:xfrm>
          <a:prstGeom prst="rect">
            <a:avLst/>
          </a:prstGeom>
        </p:spPr>
        <p:txBody>
          <a:bodyPr vert="horz" wrap="square" lIns="0" tIns="12700" rIns="0" bIns="0" rtlCol="0">
            <a:spAutoFit/>
          </a:bodyPr>
          <a:lstStyle/>
          <a:p>
            <a:pPr marL="12700">
              <a:lnSpc>
                <a:spcPct val="100000"/>
              </a:lnSpc>
              <a:spcBef>
                <a:spcPts val="100"/>
              </a:spcBef>
            </a:pPr>
            <a:r>
              <a:rPr b="0" spc="180" dirty="0">
                <a:latin typeface="Times New Roman"/>
                <a:cs typeface="Times New Roman"/>
              </a:rPr>
              <a:t>Create</a:t>
            </a:r>
            <a:r>
              <a:rPr b="0" spc="-160" dirty="0">
                <a:latin typeface="Times New Roman"/>
                <a:cs typeface="Times New Roman"/>
              </a:rPr>
              <a:t> </a:t>
            </a:r>
            <a:r>
              <a:rPr b="0" spc="170" dirty="0">
                <a:latin typeface="Times New Roman"/>
                <a:cs typeface="Times New Roman"/>
              </a:rPr>
              <a:t>Clustered</a:t>
            </a:r>
            <a:r>
              <a:rPr b="0" spc="-160" dirty="0">
                <a:latin typeface="Times New Roman"/>
                <a:cs typeface="Times New Roman"/>
              </a:rPr>
              <a:t> </a:t>
            </a:r>
            <a:r>
              <a:rPr b="0" spc="155" dirty="0">
                <a:latin typeface="Times New Roman"/>
                <a:cs typeface="Times New Roman"/>
              </a:rPr>
              <a:t>Index</a:t>
            </a:r>
            <a:r>
              <a:rPr b="0" spc="-140" dirty="0">
                <a:latin typeface="Times New Roman"/>
                <a:cs typeface="Times New Roman"/>
              </a:rPr>
              <a:t> </a:t>
            </a:r>
            <a:r>
              <a:rPr b="0" spc="-375" dirty="0">
                <a:latin typeface="Times New Roman"/>
                <a:cs typeface="Times New Roman"/>
              </a:rPr>
              <a:t>5-5</a:t>
            </a:r>
          </a:p>
        </p:txBody>
      </p:sp>
      <p:sp>
        <p:nvSpPr>
          <p:cNvPr id="3" name="object 3"/>
          <p:cNvSpPr/>
          <p:nvPr/>
        </p:nvSpPr>
        <p:spPr>
          <a:xfrm>
            <a:off x="415290" y="1447800"/>
            <a:ext cx="4619625" cy="3962400"/>
          </a:xfrm>
          <a:custGeom>
            <a:avLst/>
            <a:gdLst/>
            <a:ahLst/>
            <a:cxnLst/>
            <a:rect l="l" t="t" r="r" b="b"/>
            <a:pathLst>
              <a:path w="4619625" h="4405630">
                <a:moveTo>
                  <a:pt x="4619244" y="734187"/>
                </a:moveTo>
                <a:lnTo>
                  <a:pt x="4617682" y="685914"/>
                </a:lnTo>
                <a:lnTo>
                  <a:pt x="4613059" y="638479"/>
                </a:lnTo>
                <a:lnTo>
                  <a:pt x="4605477" y="591959"/>
                </a:lnTo>
                <a:lnTo>
                  <a:pt x="4595025" y="546481"/>
                </a:lnTo>
                <a:lnTo>
                  <a:pt x="4581817" y="502119"/>
                </a:lnTo>
                <a:lnTo>
                  <a:pt x="4565929" y="458978"/>
                </a:lnTo>
                <a:lnTo>
                  <a:pt x="4547463" y="417169"/>
                </a:lnTo>
                <a:lnTo>
                  <a:pt x="4526521" y="376758"/>
                </a:lnTo>
                <a:lnTo>
                  <a:pt x="4503204" y="337870"/>
                </a:lnTo>
                <a:lnTo>
                  <a:pt x="4477588" y="300583"/>
                </a:lnTo>
                <a:lnTo>
                  <a:pt x="4449800" y="264998"/>
                </a:lnTo>
                <a:lnTo>
                  <a:pt x="4419905" y="231216"/>
                </a:lnTo>
                <a:lnTo>
                  <a:pt x="4388028" y="199339"/>
                </a:lnTo>
                <a:lnTo>
                  <a:pt x="4354246" y="169443"/>
                </a:lnTo>
                <a:lnTo>
                  <a:pt x="4318660" y="141655"/>
                </a:lnTo>
                <a:lnTo>
                  <a:pt x="4281373" y="116039"/>
                </a:lnTo>
                <a:lnTo>
                  <a:pt x="4242486" y="92722"/>
                </a:lnTo>
                <a:lnTo>
                  <a:pt x="4202074" y="71780"/>
                </a:lnTo>
                <a:lnTo>
                  <a:pt x="4160266" y="53314"/>
                </a:lnTo>
                <a:lnTo>
                  <a:pt x="4117124" y="37426"/>
                </a:lnTo>
                <a:lnTo>
                  <a:pt x="4072763" y="24218"/>
                </a:lnTo>
                <a:lnTo>
                  <a:pt x="4027284" y="13766"/>
                </a:lnTo>
                <a:lnTo>
                  <a:pt x="3980764" y="6184"/>
                </a:lnTo>
                <a:lnTo>
                  <a:pt x="3933329" y="1562"/>
                </a:lnTo>
                <a:lnTo>
                  <a:pt x="3885057" y="0"/>
                </a:lnTo>
                <a:lnTo>
                  <a:pt x="734199" y="0"/>
                </a:lnTo>
                <a:lnTo>
                  <a:pt x="685914" y="1562"/>
                </a:lnTo>
                <a:lnTo>
                  <a:pt x="638479" y="6184"/>
                </a:lnTo>
                <a:lnTo>
                  <a:pt x="591972" y="13766"/>
                </a:lnTo>
                <a:lnTo>
                  <a:pt x="546493" y="24218"/>
                </a:lnTo>
                <a:lnTo>
                  <a:pt x="502132" y="37426"/>
                </a:lnTo>
                <a:lnTo>
                  <a:pt x="458990" y="53314"/>
                </a:lnTo>
                <a:lnTo>
                  <a:pt x="417169" y="71780"/>
                </a:lnTo>
                <a:lnTo>
                  <a:pt x="376770" y="92722"/>
                </a:lnTo>
                <a:lnTo>
                  <a:pt x="337870" y="116039"/>
                </a:lnTo>
                <a:lnTo>
                  <a:pt x="300583" y="141655"/>
                </a:lnTo>
                <a:lnTo>
                  <a:pt x="264998" y="169443"/>
                </a:lnTo>
                <a:lnTo>
                  <a:pt x="231216" y="199339"/>
                </a:lnTo>
                <a:lnTo>
                  <a:pt x="199339" y="231216"/>
                </a:lnTo>
                <a:lnTo>
                  <a:pt x="169443" y="264998"/>
                </a:lnTo>
                <a:lnTo>
                  <a:pt x="141655" y="300583"/>
                </a:lnTo>
                <a:lnTo>
                  <a:pt x="116039" y="337870"/>
                </a:lnTo>
                <a:lnTo>
                  <a:pt x="92722" y="376758"/>
                </a:lnTo>
                <a:lnTo>
                  <a:pt x="71780" y="417169"/>
                </a:lnTo>
                <a:lnTo>
                  <a:pt x="53314" y="458978"/>
                </a:lnTo>
                <a:lnTo>
                  <a:pt x="37426" y="502119"/>
                </a:lnTo>
                <a:lnTo>
                  <a:pt x="24206" y="546481"/>
                </a:lnTo>
                <a:lnTo>
                  <a:pt x="13754" y="591959"/>
                </a:lnTo>
                <a:lnTo>
                  <a:pt x="6172" y="638479"/>
                </a:lnTo>
                <a:lnTo>
                  <a:pt x="1549" y="685914"/>
                </a:lnTo>
                <a:lnTo>
                  <a:pt x="0" y="734187"/>
                </a:lnTo>
                <a:lnTo>
                  <a:pt x="0" y="3670935"/>
                </a:lnTo>
                <a:lnTo>
                  <a:pt x="1549" y="3719207"/>
                </a:lnTo>
                <a:lnTo>
                  <a:pt x="6172" y="3766655"/>
                </a:lnTo>
                <a:lnTo>
                  <a:pt x="13754" y="3813162"/>
                </a:lnTo>
                <a:lnTo>
                  <a:pt x="24206" y="3858641"/>
                </a:lnTo>
                <a:lnTo>
                  <a:pt x="37426" y="3903002"/>
                </a:lnTo>
                <a:lnTo>
                  <a:pt x="53314" y="3946131"/>
                </a:lnTo>
                <a:lnTo>
                  <a:pt x="71780" y="3987952"/>
                </a:lnTo>
                <a:lnTo>
                  <a:pt x="92722" y="4028363"/>
                </a:lnTo>
                <a:lnTo>
                  <a:pt x="116039" y="4067251"/>
                </a:lnTo>
                <a:lnTo>
                  <a:pt x="141655" y="4104538"/>
                </a:lnTo>
                <a:lnTo>
                  <a:pt x="169443" y="4140123"/>
                </a:lnTo>
                <a:lnTo>
                  <a:pt x="199339" y="4173905"/>
                </a:lnTo>
                <a:lnTo>
                  <a:pt x="231216" y="4205782"/>
                </a:lnTo>
                <a:lnTo>
                  <a:pt x="264998" y="4235678"/>
                </a:lnTo>
                <a:lnTo>
                  <a:pt x="300583" y="4263466"/>
                </a:lnTo>
                <a:lnTo>
                  <a:pt x="337870" y="4289082"/>
                </a:lnTo>
                <a:lnTo>
                  <a:pt x="376770" y="4312399"/>
                </a:lnTo>
                <a:lnTo>
                  <a:pt x="417169" y="4333341"/>
                </a:lnTo>
                <a:lnTo>
                  <a:pt x="458990" y="4351807"/>
                </a:lnTo>
                <a:lnTo>
                  <a:pt x="502132" y="4367695"/>
                </a:lnTo>
                <a:lnTo>
                  <a:pt x="546493" y="4380916"/>
                </a:lnTo>
                <a:lnTo>
                  <a:pt x="591972" y="4391368"/>
                </a:lnTo>
                <a:lnTo>
                  <a:pt x="638479" y="4398950"/>
                </a:lnTo>
                <a:lnTo>
                  <a:pt x="685914" y="4403572"/>
                </a:lnTo>
                <a:lnTo>
                  <a:pt x="734199" y="4405122"/>
                </a:lnTo>
                <a:lnTo>
                  <a:pt x="3885057" y="4405122"/>
                </a:lnTo>
                <a:lnTo>
                  <a:pt x="3933329" y="4403572"/>
                </a:lnTo>
                <a:lnTo>
                  <a:pt x="3980764" y="4398950"/>
                </a:lnTo>
                <a:lnTo>
                  <a:pt x="4027284" y="4391368"/>
                </a:lnTo>
                <a:lnTo>
                  <a:pt x="4072763" y="4380916"/>
                </a:lnTo>
                <a:lnTo>
                  <a:pt x="4117124" y="4367695"/>
                </a:lnTo>
                <a:lnTo>
                  <a:pt x="4160266" y="4351807"/>
                </a:lnTo>
                <a:lnTo>
                  <a:pt x="4202074" y="4333341"/>
                </a:lnTo>
                <a:lnTo>
                  <a:pt x="4242486" y="4312399"/>
                </a:lnTo>
                <a:lnTo>
                  <a:pt x="4281373" y="4289082"/>
                </a:lnTo>
                <a:lnTo>
                  <a:pt x="4318660" y="4263466"/>
                </a:lnTo>
                <a:lnTo>
                  <a:pt x="4354246" y="4235678"/>
                </a:lnTo>
                <a:lnTo>
                  <a:pt x="4388028" y="4205782"/>
                </a:lnTo>
                <a:lnTo>
                  <a:pt x="4419905" y="4173905"/>
                </a:lnTo>
                <a:lnTo>
                  <a:pt x="4449800" y="4140123"/>
                </a:lnTo>
                <a:lnTo>
                  <a:pt x="4477588" y="4104538"/>
                </a:lnTo>
                <a:lnTo>
                  <a:pt x="4503204" y="4067251"/>
                </a:lnTo>
                <a:lnTo>
                  <a:pt x="4526521" y="4028363"/>
                </a:lnTo>
                <a:lnTo>
                  <a:pt x="4547463" y="3987952"/>
                </a:lnTo>
                <a:lnTo>
                  <a:pt x="4565929" y="3946131"/>
                </a:lnTo>
                <a:lnTo>
                  <a:pt x="4581817" y="3903002"/>
                </a:lnTo>
                <a:lnTo>
                  <a:pt x="4595025" y="3858641"/>
                </a:lnTo>
                <a:lnTo>
                  <a:pt x="4605477" y="3813162"/>
                </a:lnTo>
                <a:lnTo>
                  <a:pt x="4613059" y="3766655"/>
                </a:lnTo>
                <a:lnTo>
                  <a:pt x="4617682" y="3719207"/>
                </a:lnTo>
                <a:lnTo>
                  <a:pt x="4619244" y="3670935"/>
                </a:lnTo>
                <a:lnTo>
                  <a:pt x="4619244" y="3332226"/>
                </a:lnTo>
                <a:lnTo>
                  <a:pt x="4619244" y="1072908"/>
                </a:lnTo>
                <a:lnTo>
                  <a:pt x="4619244" y="734187"/>
                </a:lnTo>
                <a:close/>
              </a:path>
            </a:pathLst>
          </a:custGeom>
          <a:solidFill>
            <a:srgbClr val="00AF50"/>
          </a:solidFill>
        </p:spPr>
        <p:txBody>
          <a:bodyPr wrap="square" lIns="0" tIns="0" rIns="0" bIns="0" rtlCol="0"/>
          <a:lstStyle/>
          <a:p>
            <a:endParaRPr/>
          </a:p>
        </p:txBody>
      </p:sp>
      <p:sp>
        <p:nvSpPr>
          <p:cNvPr id="4" name="object 4"/>
          <p:cNvSpPr txBox="1"/>
          <p:nvPr/>
        </p:nvSpPr>
        <p:spPr>
          <a:xfrm>
            <a:off x="829310" y="1676400"/>
            <a:ext cx="3889375" cy="2992755"/>
          </a:xfrm>
          <a:prstGeom prst="rect">
            <a:avLst/>
          </a:prstGeom>
        </p:spPr>
        <p:txBody>
          <a:bodyPr vert="horz" wrap="square" lIns="0" tIns="13335" rIns="0" bIns="0" rtlCol="0">
            <a:spAutoFit/>
          </a:bodyPr>
          <a:lstStyle/>
          <a:p>
            <a:pPr marL="12700" marR="5080" algn="just">
              <a:lnSpc>
                <a:spcPct val="100000"/>
              </a:lnSpc>
              <a:spcBef>
                <a:spcPts val="105"/>
              </a:spcBef>
            </a:pPr>
            <a:r>
              <a:rPr sz="2200" spc="135" dirty="0">
                <a:solidFill>
                  <a:srgbClr val="FFFFFF"/>
                </a:solidFill>
                <a:latin typeface="Times New Roman"/>
                <a:cs typeface="Times New Roman"/>
              </a:rPr>
              <a:t>DROP </a:t>
            </a:r>
            <a:r>
              <a:rPr sz="2200" spc="65" dirty="0">
                <a:solidFill>
                  <a:srgbClr val="FFFFFF"/>
                </a:solidFill>
                <a:latin typeface="Times New Roman"/>
                <a:cs typeface="Times New Roman"/>
              </a:rPr>
              <a:t>INDEX </a:t>
            </a:r>
            <a:r>
              <a:rPr sz="2200" spc="95" dirty="0">
                <a:solidFill>
                  <a:srgbClr val="FFFFFF"/>
                </a:solidFill>
                <a:latin typeface="Times New Roman"/>
                <a:cs typeface="Times New Roman"/>
              </a:rPr>
              <a:t>statement  </a:t>
            </a:r>
            <a:r>
              <a:rPr sz="2200" spc="65" dirty="0">
                <a:solidFill>
                  <a:srgbClr val="FFFFFF"/>
                </a:solidFill>
                <a:latin typeface="Times New Roman"/>
                <a:cs typeface="Times New Roman"/>
              </a:rPr>
              <a:t>removes </a:t>
            </a:r>
            <a:r>
              <a:rPr sz="2200" spc="114" dirty="0">
                <a:solidFill>
                  <a:srgbClr val="FFFFFF"/>
                </a:solidFill>
                <a:latin typeface="Times New Roman"/>
                <a:cs typeface="Times New Roman"/>
              </a:rPr>
              <a:t>one </a:t>
            </a:r>
            <a:r>
              <a:rPr sz="2200" spc="95" dirty="0">
                <a:solidFill>
                  <a:srgbClr val="FFFFFF"/>
                </a:solidFill>
                <a:latin typeface="Times New Roman"/>
                <a:cs typeface="Times New Roman"/>
              </a:rPr>
              <a:t>or </a:t>
            </a:r>
            <a:r>
              <a:rPr sz="2200" spc="85" dirty="0">
                <a:solidFill>
                  <a:srgbClr val="FFFFFF"/>
                </a:solidFill>
                <a:latin typeface="Times New Roman"/>
                <a:cs typeface="Times New Roman"/>
              </a:rPr>
              <a:t>more </a:t>
            </a:r>
            <a:r>
              <a:rPr sz="2200" spc="75" dirty="0">
                <a:solidFill>
                  <a:srgbClr val="FFFFFF"/>
                </a:solidFill>
                <a:latin typeface="Times New Roman"/>
                <a:cs typeface="Times New Roman"/>
              </a:rPr>
              <a:t>indexes  </a:t>
            </a:r>
            <a:r>
              <a:rPr sz="2200" spc="80" dirty="0">
                <a:solidFill>
                  <a:srgbClr val="FFFFFF"/>
                </a:solidFill>
                <a:latin typeface="Times New Roman"/>
                <a:cs typeface="Times New Roman"/>
              </a:rPr>
              <a:t>from</a:t>
            </a:r>
            <a:r>
              <a:rPr sz="2200" spc="-10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105" dirty="0">
                <a:solidFill>
                  <a:srgbClr val="FFFFFF"/>
                </a:solidFill>
                <a:latin typeface="Times New Roman"/>
                <a:cs typeface="Times New Roman"/>
              </a:rPr>
              <a:t>current</a:t>
            </a:r>
            <a:r>
              <a:rPr sz="2200" spc="-95" dirty="0">
                <a:solidFill>
                  <a:srgbClr val="FFFFFF"/>
                </a:solidFill>
                <a:latin typeface="Times New Roman"/>
                <a:cs typeface="Times New Roman"/>
              </a:rPr>
              <a:t> </a:t>
            </a:r>
            <a:r>
              <a:rPr sz="2200" spc="60" dirty="0">
                <a:solidFill>
                  <a:srgbClr val="FFFFFF"/>
                </a:solidFill>
                <a:latin typeface="Times New Roman"/>
                <a:cs typeface="Times New Roman"/>
              </a:rPr>
              <a:t>database.</a:t>
            </a:r>
            <a:endParaRPr sz="2200">
              <a:latin typeface="Times New Roman"/>
              <a:cs typeface="Times New Roman"/>
            </a:endParaRPr>
          </a:p>
          <a:p>
            <a:pPr marL="12700" marR="5080" algn="just">
              <a:lnSpc>
                <a:spcPct val="100000"/>
              </a:lnSpc>
              <a:spcBef>
                <a:spcPts val="2640"/>
              </a:spcBef>
            </a:pPr>
            <a:r>
              <a:rPr sz="2200" spc="50" dirty="0">
                <a:solidFill>
                  <a:srgbClr val="FFFFFF"/>
                </a:solidFill>
                <a:latin typeface="Times New Roman"/>
                <a:cs typeface="Times New Roman"/>
              </a:rPr>
              <a:t>Following </a:t>
            </a:r>
            <a:r>
              <a:rPr sz="2200" spc="5" dirty="0">
                <a:solidFill>
                  <a:srgbClr val="FFFFFF"/>
                </a:solidFill>
                <a:latin typeface="Times New Roman"/>
                <a:cs typeface="Times New Roman"/>
              </a:rPr>
              <a:t>is </a:t>
            </a:r>
            <a:r>
              <a:rPr sz="2200" spc="120" dirty="0">
                <a:solidFill>
                  <a:srgbClr val="FFFFFF"/>
                </a:solidFill>
                <a:latin typeface="Times New Roman"/>
                <a:cs typeface="Times New Roman"/>
              </a:rPr>
              <a:t>the </a:t>
            </a:r>
            <a:r>
              <a:rPr sz="2200" spc="80" dirty="0">
                <a:solidFill>
                  <a:srgbClr val="FFFFFF"/>
                </a:solidFill>
                <a:latin typeface="Times New Roman"/>
                <a:cs typeface="Times New Roman"/>
              </a:rPr>
              <a:t>syntax </a:t>
            </a:r>
            <a:r>
              <a:rPr sz="2200" spc="70" dirty="0">
                <a:solidFill>
                  <a:srgbClr val="FFFFFF"/>
                </a:solidFill>
                <a:latin typeface="Times New Roman"/>
                <a:cs typeface="Times New Roman"/>
              </a:rPr>
              <a:t>for  </a:t>
            </a:r>
            <a:r>
              <a:rPr sz="2200" spc="140" dirty="0">
                <a:solidFill>
                  <a:srgbClr val="FFFFFF"/>
                </a:solidFill>
                <a:latin typeface="Times New Roman"/>
                <a:cs typeface="Times New Roman"/>
              </a:rPr>
              <a:t>DROP </a:t>
            </a:r>
            <a:r>
              <a:rPr sz="2200" spc="70" dirty="0">
                <a:solidFill>
                  <a:srgbClr val="FFFFFF"/>
                </a:solidFill>
                <a:latin typeface="Times New Roman"/>
                <a:cs typeface="Times New Roman"/>
              </a:rPr>
              <a:t>INDEX</a:t>
            </a:r>
            <a:r>
              <a:rPr sz="2200" spc="-365" dirty="0">
                <a:solidFill>
                  <a:srgbClr val="FFFFFF"/>
                </a:solidFill>
                <a:latin typeface="Times New Roman"/>
                <a:cs typeface="Times New Roman"/>
              </a:rPr>
              <a:t> </a:t>
            </a:r>
            <a:r>
              <a:rPr sz="2200" spc="80" dirty="0">
                <a:solidFill>
                  <a:srgbClr val="FFFFFF"/>
                </a:solidFill>
                <a:latin typeface="Times New Roman"/>
                <a:cs typeface="Times New Roman"/>
              </a:rPr>
              <a:t>statement:</a:t>
            </a:r>
            <a:endParaRPr sz="2200">
              <a:latin typeface="Times New Roman"/>
              <a:cs typeface="Times New Roman"/>
            </a:endParaRPr>
          </a:p>
          <a:p>
            <a:pPr>
              <a:lnSpc>
                <a:spcPct val="100000"/>
              </a:lnSpc>
              <a:spcBef>
                <a:spcPts val="20"/>
              </a:spcBef>
            </a:pPr>
            <a:endParaRPr sz="2450">
              <a:latin typeface="Times New Roman"/>
              <a:cs typeface="Times New Roman"/>
            </a:endParaRPr>
          </a:p>
          <a:p>
            <a:pPr marL="12700">
              <a:lnSpc>
                <a:spcPct val="100000"/>
              </a:lnSpc>
            </a:pPr>
            <a:r>
              <a:rPr sz="2000" b="1" spc="15" dirty="0">
                <a:solidFill>
                  <a:srgbClr val="FFFFFF"/>
                </a:solidFill>
                <a:latin typeface="Times New Roman"/>
                <a:cs typeface="Times New Roman"/>
              </a:rPr>
              <a:t>Syntax</a:t>
            </a:r>
            <a:endParaRPr sz="2000">
              <a:latin typeface="Times New Roman"/>
              <a:cs typeface="Times New Roman"/>
            </a:endParaRPr>
          </a:p>
          <a:p>
            <a:pPr marL="927100">
              <a:lnSpc>
                <a:spcPct val="100000"/>
              </a:lnSpc>
              <a:spcBef>
                <a:spcPts val="120"/>
              </a:spcBef>
              <a:tabLst>
                <a:tab pos="2597785" algn="l"/>
                <a:tab pos="2992755" algn="l"/>
              </a:tabLst>
            </a:pPr>
            <a:r>
              <a:rPr sz="1800" spc="114" dirty="0">
                <a:solidFill>
                  <a:srgbClr val="FFFFFF"/>
                </a:solidFill>
                <a:latin typeface="Times New Roman"/>
                <a:cs typeface="Times New Roman"/>
              </a:rPr>
              <a:t>DROP </a:t>
            </a:r>
            <a:r>
              <a:rPr sz="1800" spc="95" dirty="0">
                <a:solidFill>
                  <a:srgbClr val="FFFFFF"/>
                </a:solidFill>
                <a:latin typeface="Times New Roman"/>
                <a:cs typeface="Times New Roman"/>
              </a:rPr>
              <a:t> </a:t>
            </a:r>
            <a:r>
              <a:rPr sz="1800" spc="55" dirty="0">
                <a:solidFill>
                  <a:srgbClr val="FFFFFF"/>
                </a:solidFill>
                <a:latin typeface="Times New Roman"/>
                <a:cs typeface="Times New Roman"/>
              </a:rPr>
              <a:t>INDEX</a:t>
            </a:r>
            <a:r>
              <a:rPr sz="1800" dirty="0">
                <a:solidFill>
                  <a:srgbClr val="FFFFFF"/>
                </a:solidFill>
                <a:latin typeface="Times New Roman"/>
                <a:cs typeface="Times New Roman"/>
              </a:rPr>
              <a:t>	</a:t>
            </a:r>
            <a:r>
              <a:rPr sz="1800" spc="-35" dirty="0">
                <a:solidFill>
                  <a:srgbClr val="FFFFFF"/>
                </a:solidFill>
                <a:latin typeface="Times New Roman"/>
                <a:cs typeface="Times New Roman"/>
              </a:rPr>
              <a:t>[IF</a:t>
            </a:r>
            <a:r>
              <a:rPr sz="1800" dirty="0">
                <a:solidFill>
                  <a:srgbClr val="FFFFFF"/>
                </a:solidFill>
                <a:latin typeface="Times New Roman"/>
                <a:cs typeface="Times New Roman"/>
              </a:rPr>
              <a:t>	</a:t>
            </a:r>
            <a:r>
              <a:rPr sz="1800" spc="10" dirty="0">
                <a:solidFill>
                  <a:srgbClr val="FFFFFF"/>
                </a:solidFill>
                <a:latin typeface="Times New Roman"/>
                <a:cs typeface="Times New Roman"/>
              </a:rPr>
              <a:t>EX</a:t>
            </a:r>
            <a:r>
              <a:rPr sz="1800" spc="-5" dirty="0">
                <a:solidFill>
                  <a:srgbClr val="FFFFFF"/>
                </a:solidFill>
                <a:latin typeface="Times New Roman"/>
                <a:cs typeface="Times New Roman"/>
              </a:rPr>
              <a:t>I</a:t>
            </a:r>
            <a:r>
              <a:rPr sz="1800" spc="55" dirty="0">
                <a:solidFill>
                  <a:srgbClr val="FFFFFF"/>
                </a:solidFill>
                <a:latin typeface="Times New Roman"/>
                <a:cs typeface="Times New Roman"/>
              </a:rPr>
              <a:t>STS]</a:t>
            </a:r>
            <a:endParaRPr sz="1800">
              <a:latin typeface="Times New Roman"/>
              <a:cs typeface="Times New Roman"/>
            </a:endParaRPr>
          </a:p>
        </p:txBody>
      </p:sp>
      <p:sp>
        <p:nvSpPr>
          <p:cNvPr id="5" name="object 5"/>
          <p:cNvSpPr txBox="1"/>
          <p:nvPr/>
        </p:nvSpPr>
        <p:spPr>
          <a:xfrm>
            <a:off x="1743964" y="4648200"/>
            <a:ext cx="1576070" cy="574675"/>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FFFFFF"/>
                </a:solidFill>
                <a:latin typeface="Times New Roman"/>
                <a:cs typeface="Times New Roman"/>
              </a:rPr>
              <a:t>index_name</a:t>
            </a:r>
            <a:endParaRPr sz="1800">
              <a:latin typeface="Times New Roman"/>
              <a:cs typeface="Times New Roman"/>
            </a:endParaRPr>
          </a:p>
          <a:p>
            <a:pPr marL="12700">
              <a:lnSpc>
                <a:spcPct val="100000"/>
              </a:lnSpc>
              <a:spcBef>
                <a:spcPts val="5"/>
              </a:spcBef>
            </a:pPr>
            <a:r>
              <a:rPr sz="1800" spc="185" dirty="0">
                <a:solidFill>
                  <a:srgbClr val="FFFFFF"/>
                </a:solidFill>
                <a:latin typeface="Times New Roman"/>
                <a:cs typeface="Times New Roman"/>
              </a:rPr>
              <a:t>ON</a:t>
            </a:r>
            <a:r>
              <a:rPr sz="1800" spc="-105" dirty="0">
                <a:solidFill>
                  <a:srgbClr val="FFFFFF"/>
                </a:solidFill>
                <a:latin typeface="Times New Roman"/>
                <a:cs typeface="Times New Roman"/>
              </a:rPr>
              <a:t> </a:t>
            </a:r>
            <a:r>
              <a:rPr sz="1800" dirty="0">
                <a:solidFill>
                  <a:srgbClr val="FFFFFF"/>
                </a:solidFill>
                <a:latin typeface="Times New Roman"/>
                <a:cs typeface="Times New Roman"/>
              </a:rPr>
              <a:t>table_name;</a:t>
            </a:r>
            <a:endParaRPr sz="1800">
              <a:latin typeface="Times New Roman"/>
              <a:cs typeface="Times New Roman"/>
            </a:endParaRPr>
          </a:p>
        </p:txBody>
      </p:sp>
      <p:sp>
        <p:nvSpPr>
          <p:cNvPr id="6" name="object 6"/>
          <p:cNvSpPr txBox="1"/>
          <p:nvPr/>
        </p:nvSpPr>
        <p:spPr>
          <a:xfrm>
            <a:off x="6686804" y="5221478"/>
            <a:ext cx="104648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Drop</a:t>
            </a:r>
            <a:r>
              <a:rPr sz="1400" b="1" spc="-135" dirty="0">
                <a:latin typeface="Times New Roman"/>
                <a:cs typeface="Times New Roman"/>
              </a:rPr>
              <a:t> </a:t>
            </a:r>
            <a:r>
              <a:rPr sz="1400" b="1" dirty="0">
                <a:latin typeface="Times New Roman"/>
                <a:cs typeface="Times New Roman"/>
              </a:rPr>
              <a:t>Indexes</a:t>
            </a:r>
            <a:endParaRPr sz="1400">
              <a:latin typeface="Times New Roman"/>
              <a:cs typeface="Times New Roman"/>
            </a:endParaRPr>
          </a:p>
        </p:txBody>
      </p:sp>
      <p:sp>
        <p:nvSpPr>
          <p:cNvPr id="7" name="object 7"/>
          <p:cNvSpPr txBox="1"/>
          <p:nvPr/>
        </p:nvSpPr>
        <p:spPr>
          <a:xfrm>
            <a:off x="500887" y="897890"/>
            <a:ext cx="1952625" cy="391160"/>
          </a:xfrm>
          <a:prstGeom prst="rect">
            <a:avLst/>
          </a:prstGeom>
        </p:spPr>
        <p:txBody>
          <a:bodyPr vert="horz" wrap="square" lIns="0" tIns="12700" rIns="0" bIns="0" rtlCol="0">
            <a:spAutoFit/>
          </a:bodyPr>
          <a:lstStyle/>
          <a:p>
            <a:pPr marL="12700">
              <a:lnSpc>
                <a:spcPct val="100000"/>
              </a:lnSpc>
              <a:spcBef>
                <a:spcPts val="100"/>
              </a:spcBef>
            </a:pPr>
            <a:r>
              <a:rPr sz="2400" b="1" spc="30" dirty="0">
                <a:latin typeface="Times New Roman"/>
                <a:cs typeface="Times New Roman"/>
              </a:rPr>
              <a:t>DROP</a:t>
            </a:r>
            <a:r>
              <a:rPr sz="2400" b="1" spc="-215" dirty="0">
                <a:latin typeface="Times New Roman"/>
                <a:cs typeface="Times New Roman"/>
              </a:rPr>
              <a:t> </a:t>
            </a:r>
            <a:r>
              <a:rPr sz="2400" b="1" spc="5" dirty="0">
                <a:latin typeface="Times New Roman"/>
                <a:cs typeface="Times New Roman"/>
              </a:rPr>
              <a:t>INDEX</a:t>
            </a:r>
            <a:endParaRPr sz="2400">
              <a:latin typeface="Times New Roman"/>
              <a:cs typeface="Times New Roman"/>
            </a:endParaRPr>
          </a:p>
        </p:txBody>
      </p:sp>
      <p:pic>
        <p:nvPicPr>
          <p:cNvPr id="8" name="object 8"/>
          <p:cNvPicPr/>
          <p:nvPr/>
        </p:nvPicPr>
        <p:blipFill>
          <a:blip r:embed="rId3" cstate="print"/>
          <a:stretch>
            <a:fillRect/>
          </a:stretch>
        </p:blipFill>
        <p:spPr>
          <a:xfrm>
            <a:off x="5369814" y="1989582"/>
            <a:ext cx="3647693" cy="3198114"/>
          </a:xfrm>
          <a:prstGeom prst="rect">
            <a:avLst/>
          </a:prstGeom>
        </p:spPr>
      </p:pic>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33</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4492625" cy="574040"/>
          </a:xfrm>
          <a:prstGeom prst="rect">
            <a:avLst/>
          </a:prstGeom>
        </p:spPr>
        <p:txBody>
          <a:bodyPr vert="horz" wrap="square" lIns="0" tIns="12700" rIns="0" bIns="0" rtlCol="0">
            <a:spAutoFit/>
          </a:bodyPr>
          <a:lstStyle/>
          <a:p>
            <a:pPr marL="12700">
              <a:lnSpc>
                <a:spcPct val="100000"/>
              </a:lnSpc>
              <a:spcBef>
                <a:spcPts val="100"/>
              </a:spcBef>
            </a:pPr>
            <a:r>
              <a:rPr b="0" spc="195" dirty="0">
                <a:latin typeface="Times New Roman"/>
                <a:cs typeface="Times New Roman"/>
              </a:rPr>
              <a:t>NonClustered</a:t>
            </a:r>
            <a:r>
              <a:rPr b="0" spc="-229" dirty="0">
                <a:latin typeface="Times New Roman"/>
                <a:cs typeface="Times New Roman"/>
              </a:rPr>
              <a:t> </a:t>
            </a:r>
            <a:r>
              <a:rPr b="0" spc="125" dirty="0">
                <a:latin typeface="Times New Roman"/>
                <a:cs typeface="Times New Roman"/>
              </a:rPr>
              <a:t>Indexes</a:t>
            </a:r>
          </a:p>
        </p:txBody>
      </p:sp>
      <p:sp>
        <p:nvSpPr>
          <p:cNvPr id="3" name="object 3"/>
          <p:cNvSpPr/>
          <p:nvPr/>
        </p:nvSpPr>
        <p:spPr>
          <a:xfrm>
            <a:off x="383286" y="862583"/>
            <a:ext cx="8377555" cy="1900555"/>
          </a:xfrm>
          <a:custGeom>
            <a:avLst/>
            <a:gdLst/>
            <a:ahLst/>
            <a:cxnLst/>
            <a:rect l="l" t="t" r="r" b="b"/>
            <a:pathLst>
              <a:path w="8377555" h="1900555">
                <a:moveTo>
                  <a:pt x="8377428" y="316738"/>
                </a:moveTo>
                <a:lnTo>
                  <a:pt x="8373986" y="269951"/>
                </a:lnTo>
                <a:lnTo>
                  <a:pt x="8364004" y="225285"/>
                </a:lnTo>
                <a:lnTo>
                  <a:pt x="8347977" y="183235"/>
                </a:lnTo>
                <a:lnTo>
                  <a:pt x="8326387" y="144297"/>
                </a:lnTo>
                <a:lnTo>
                  <a:pt x="8299717" y="108966"/>
                </a:lnTo>
                <a:lnTo>
                  <a:pt x="8268462" y="77711"/>
                </a:lnTo>
                <a:lnTo>
                  <a:pt x="8233130" y="51041"/>
                </a:lnTo>
                <a:lnTo>
                  <a:pt x="8194192" y="29451"/>
                </a:lnTo>
                <a:lnTo>
                  <a:pt x="8152143" y="13423"/>
                </a:lnTo>
                <a:lnTo>
                  <a:pt x="8107477" y="3441"/>
                </a:lnTo>
                <a:lnTo>
                  <a:pt x="8060690" y="0"/>
                </a:lnTo>
                <a:lnTo>
                  <a:pt x="316750" y="0"/>
                </a:lnTo>
                <a:lnTo>
                  <a:pt x="269938" y="3441"/>
                </a:lnTo>
                <a:lnTo>
                  <a:pt x="225259" y="13423"/>
                </a:lnTo>
                <a:lnTo>
                  <a:pt x="183210" y="29451"/>
                </a:lnTo>
                <a:lnTo>
                  <a:pt x="144272" y="51041"/>
                </a:lnTo>
                <a:lnTo>
                  <a:pt x="108927" y="77711"/>
                </a:lnTo>
                <a:lnTo>
                  <a:pt x="77685" y="108966"/>
                </a:lnTo>
                <a:lnTo>
                  <a:pt x="51028" y="144297"/>
                </a:lnTo>
                <a:lnTo>
                  <a:pt x="29438" y="183235"/>
                </a:lnTo>
                <a:lnTo>
                  <a:pt x="13398" y="225285"/>
                </a:lnTo>
                <a:lnTo>
                  <a:pt x="3429" y="269951"/>
                </a:lnTo>
                <a:lnTo>
                  <a:pt x="0" y="316738"/>
                </a:lnTo>
                <a:lnTo>
                  <a:pt x="0" y="1583690"/>
                </a:lnTo>
                <a:lnTo>
                  <a:pt x="3429" y="1630489"/>
                </a:lnTo>
                <a:lnTo>
                  <a:pt x="13398" y="1675155"/>
                </a:lnTo>
                <a:lnTo>
                  <a:pt x="29438" y="1717205"/>
                </a:lnTo>
                <a:lnTo>
                  <a:pt x="51028" y="1756143"/>
                </a:lnTo>
                <a:lnTo>
                  <a:pt x="77685" y="1791474"/>
                </a:lnTo>
                <a:lnTo>
                  <a:pt x="108927" y="1822729"/>
                </a:lnTo>
                <a:lnTo>
                  <a:pt x="144272" y="1849399"/>
                </a:lnTo>
                <a:lnTo>
                  <a:pt x="183210" y="1870989"/>
                </a:lnTo>
                <a:lnTo>
                  <a:pt x="225259" y="1887016"/>
                </a:lnTo>
                <a:lnTo>
                  <a:pt x="269938" y="1896999"/>
                </a:lnTo>
                <a:lnTo>
                  <a:pt x="316750" y="1900428"/>
                </a:lnTo>
                <a:lnTo>
                  <a:pt x="8060690" y="1900428"/>
                </a:lnTo>
                <a:lnTo>
                  <a:pt x="8107477" y="1896999"/>
                </a:lnTo>
                <a:lnTo>
                  <a:pt x="8152143" y="1887016"/>
                </a:lnTo>
                <a:lnTo>
                  <a:pt x="8194192" y="1870989"/>
                </a:lnTo>
                <a:lnTo>
                  <a:pt x="8233130" y="1849399"/>
                </a:lnTo>
                <a:lnTo>
                  <a:pt x="8268462" y="1822729"/>
                </a:lnTo>
                <a:lnTo>
                  <a:pt x="8299717" y="1791474"/>
                </a:lnTo>
                <a:lnTo>
                  <a:pt x="8326387" y="1756143"/>
                </a:lnTo>
                <a:lnTo>
                  <a:pt x="8347977" y="1717205"/>
                </a:lnTo>
                <a:lnTo>
                  <a:pt x="8364004" y="1675155"/>
                </a:lnTo>
                <a:lnTo>
                  <a:pt x="8373986" y="1630489"/>
                </a:lnTo>
                <a:lnTo>
                  <a:pt x="8377428" y="1583690"/>
                </a:lnTo>
                <a:lnTo>
                  <a:pt x="8377428" y="1437132"/>
                </a:lnTo>
                <a:lnTo>
                  <a:pt x="8377428" y="462534"/>
                </a:lnTo>
                <a:lnTo>
                  <a:pt x="8377428" y="316738"/>
                </a:lnTo>
                <a:close/>
              </a:path>
            </a:pathLst>
          </a:custGeom>
          <a:solidFill>
            <a:srgbClr val="C0504D"/>
          </a:solidFill>
        </p:spPr>
        <p:txBody>
          <a:bodyPr wrap="square" lIns="0" tIns="0" rIns="0" bIns="0" rtlCol="0"/>
          <a:lstStyle/>
          <a:p>
            <a:endParaRPr/>
          </a:p>
        </p:txBody>
      </p:sp>
      <p:sp>
        <p:nvSpPr>
          <p:cNvPr id="4" name="object 4"/>
          <p:cNvSpPr txBox="1"/>
          <p:nvPr/>
        </p:nvSpPr>
        <p:spPr>
          <a:xfrm>
            <a:off x="937005" y="1224280"/>
            <a:ext cx="7343775" cy="103187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200" spc="60" dirty="0">
                <a:solidFill>
                  <a:srgbClr val="FFFFFF"/>
                </a:solidFill>
                <a:latin typeface="Times New Roman"/>
                <a:cs typeface="Times New Roman"/>
              </a:rPr>
              <a:t>It </a:t>
            </a:r>
            <a:r>
              <a:rPr sz="2200" spc="65" dirty="0">
                <a:solidFill>
                  <a:srgbClr val="FFFFFF"/>
                </a:solidFill>
                <a:latin typeface="Times New Roman"/>
                <a:cs typeface="Times New Roman"/>
              </a:rPr>
              <a:t>improves </a:t>
            </a:r>
            <a:r>
              <a:rPr sz="2200" spc="75" dirty="0">
                <a:solidFill>
                  <a:srgbClr val="FFFFFF"/>
                </a:solidFill>
                <a:latin typeface="Times New Roman"/>
                <a:cs typeface="Times New Roman"/>
              </a:rPr>
              <a:t>speed </a:t>
            </a:r>
            <a:r>
              <a:rPr sz="2200" spc="65" dirty="0">
                <a:solidFill>
                  <a:srgbClr val="FFFFFF"/>
                </a:solidFill>
                <a:latin typeface="Times New Roman"/>
                <a:cs typeface="Times New Roman"/>
              </a:rPr>
              <a:t>of </a:t>
            </a:r>
            <a:r>
              <a:rPr sz="2200" spc="85" dirty="0">
                <a:solidFill>
                  <a:srgbClr val="FFFFFF"/>
                </a:solidFill>
                <a:latin typeface="Times New Roman"/>
                <a:cs typeface="Times New Roman"/>
              </a:rPr>
              <a:t>data </a:t>
            </a:r>
            <a:r>
              <a:rPr sz="2200" spc="55" dirty="0">
                <a:solidFill>
                  <a:srgbClr val="FFFFFF"/>
                </a:solidFill>
                <a:latin typeface="Times New Roman"/>
                <a:cs typeface="Times New Roman"/>
              </a:rPr>
              <a:t>retrieval </a:t>
            </a:r>
            <a:r>
              <a:rPr sz="2200" spc="80" dirty="0">
                <a:solidFill>
                  <a:srgbClr val="FFFFFF"/>
                </a:solidFill>
                <a:latin typeface="Times New Roman"/>
                <a:cs typeface="Times New Roman"/>
              </a:rPr>
              <a:t>from </a:t>
            </a:r>
            <a:r>
              <a:rPr sz="2200" spc="45" dirty="0">
                <a:solidFill>
                  <a:srgbClr val="FFFFFF"/>
                </a:solidFill>
                <a:latin typeface="Times New Roman"/>
                <a:cs typeface="Times New Roman"/>
              </a:rPr>
              <a:t>tables. </a:t>
            </a:r>
            <a:r>
              <a:rPr sz="2200" spc="90" dirty="0">
                <a:solidFill>
                  <a:srgbClr val="FFFFFF"/>
                </a:solidFill>
                <a:latin typeface="Times New Roman"/>
                <a:cs typeface="Times New Roman"/>
              </a:rPr>
              <a:t>Unlike </a:t>
            </a:r>
            <a:r>
              <a:rPr sz="2200" spc="35" dirty="0">
                <a:solidFill>
                  <a:srgbClr val="FFFFFF"/>
                </a:solidFill>
                <a:latin typeface="Times New Roman"/>
                <a:cs typeface="Times New Roman"/>
              </a:rPr>
              <a:t>a  </a:t>
            </a:r>
            <a:r>
              <a:rPr sz="2200" spc="70" dirty="0">
                <a:solidFill>
                  <a:srgbClr val="FFFFFF"/>
                </a:solidFill>
                <a:latin typeface="Times New Roman"/>
                <a:cs typeface="Times New Roman"/>
              </a:rPr>
              <a:t>clustered</a:t>
            </a:r>
            <a:r>
              <a:rPr sz="2200" spc="-75" dirty="0">
                <a:solidFill>
                  <a:srgbClr val="FFFFFF"/>
                </a:solidFill>
                <a:latin typeface="Times New Roman"/>
                <a:cs typeface="Times New Roman"/>
              </a:rPr>
              <a:t> </a:t>
            </a:r>
            <a:r>
              <a:rPr sz="2200" spc="80" dirty="0">
                <a:solidFill>
                  <a:srgbClr val="FFFFFF"/>
                </a:solidFill>
                <a:latin typeface="Times New Roman"/>
                <a:cs typeface="Times New Roman"/>
              </a:rPr>
              <a:t>index,</a:t>
            </a:r>
            <a:r>
              <a:rPr sz="2200" spc="-70" dirty="0">
                <a:solidFill>
                  <a:srgbClr val="FFFFFF"/>
                </a:solidFill>
                <a:latin typeface="Times New Roman"/>
                <a:cs typeface="Times New Roman"/>
              </a:rPr>
              <a:t> </a:t>
            </a:r>
            <a:r>
              <a:rPr sz="2200" spc="70" dirty="0">
                <a:solidFill>
                  <a:srgbClr val="FFFFFF"/>
                </a:solidFill>
                <a:latin typeface="Times New Roman"/>
                <a:cs typeface="Times New Roman"/>
              </a:rPr>
              <a:t>it</a:t>
            </a:r>
            <a:r>
              <a:rPr sz="2200" spc="-70" dirty="0">
                <a:solidFill>
                  <a:srgbClr val="FFFFFF"/>
                </a:solidFill>
                <a:latin typeface="Times New Roman"/>
                <a:cs typeface="Times New Roman"/>
              </a:rPr>
              <a:t> </a:t>
            </a:r>
            <a:r>
              <a:rPr sz="2200" spc="65" dirty="0">
                <a:solidFill>
                  <a:srgbClr val="FFFFFF"/>
                </a:solidFill>
                <a:latin typeface="Times New Roman"/>
                <a:cs typeface="Times New Roman"/>
              </a:rPr>
              <a:t>sorts</a:t>
            </a:r>
            <a:r>
              <a:rPr sz="2200" spc="-75" dirty="0">
                <a:solidFill>
                  <a:srgbClr val="FFFFFF"/>
                </a:solidFill>
                <a:latin typeface="Times New Roman"/>
                <a:cs typeface="Times New Roman"/>
              </a:rPr>
              <a:t> </a:t>
            </a:r>
            <a:r>
              <a:rPr sz="2200" spc="125" dirty="0">
                <a:solidFill>
                  <a:srgbClr val="FFFFFF"/>
                </a:solidFill>
                <a:latin typeface="Times New Roman"/>
                <a:cs typeface="Times New Roman"/>
              </a:rPr>
              <a:t>and</a:t>
            </a:r>
            <a:r>
              <a:rPr sz="2200" spc="-75" dirty="0">
                <a:solidFill>
                  <a:srgbClr val="FFFFFF"/>
                </a:solidFill>
                <a:latin typeface="Times New Roman"/>
                <a:cs typeface="Times New Roman"/>
              </a:rPr>
              <a:t> </a:t>
            </a:r>
            <a:r>
              <a:rPr sz="2200" spc="65" dirty="0">
                <a:solidFill>
                  <a:srgbClr val="FFFFFF"/>
                </a:solidFill>
                <a:latin typeface="Times New Roman"/>
                <a:cs typeface="Times New Roman"/>
              </a:rPr>
              <a:t>stores</a:t>
            </a:r>
            <a:r>
              <a:rPr sz="2200" spc="-80" dirty="0">
                <a:solidFill>
                  <a:srgbClr val="FFFFFF"/>
                </a:solidFill>
                <a:latin typeface="Times New Roman"/>
                <a:cs typeface="Times New Roman"/>
              </a:rPr>
              <a:t> </a:t>
            </a:r>
            <a:r>
              <a:rPr sz="2200" spc="85" dirty="0">
                <a:solidFill>
                  <a:srgbClr val="FFFFFF"/>
                </a:solidFill>
                <a:latin typeface="Times New Roman"/>
                <a:cs typeface="Times New Roman"/>
              </a:rPr>
              <a:t>data</a:t>
            </a:r>
            <a:r>
              <a:rPr sz="2200" spc="-65" dirty="0">
                <a:solidFill>
                  <a:srgbClr val="FFFFFF"/>
                </a:solidFill>
                <a:latin typeface="Times New Roman"/>
                <a:cs typeface="Times New Roman"/>
              </a:rPr>
              <a:t> </a:t>
            </a:r>
            <a:r>
              <a:rPr sz="2200" spc="50" dirty="0">
                <a:solidFill>
                  <a:srgbClr val="FFFFFF"/>
                </a:solidFill>
                <a:latin typeface="Times New Roman"/>
                <a:cs typeface="Times New Roman"/>
              </a:rPr>
              <a:t>separately</a:t>
            </a:r>
            <a:r>
              <a:rPr sz="2200" spc="-70" dirty="0">
                <a:solidFill>
                  <a:srgbClr val="FFFFFF"/>
                </a:solidFill>
                <a:latin typeface="Times New Roman"/>
                <a:cs typeface="Times New Roman"/>
              </a:rPr>
              <a:t> </a:t>
            </a:r>
            <a:r>
              <a:rPr sz="2200" spc="80" dirty="0">
                <a:solidFill>
                  <a:srgbClr val="FFFFFF"/>
                </a:solidFill>
                <a:latin typeface="Times New Roman"/>
                <a:cs typeface="Times New Roman"/>
              </a:rPr>
              <a:t>from</a:t>
            </a:r>
            <a:r>
              <a:rPr sz="2200" spc="-70" dirty="0">
                <a:solidFill>
                  <a:srgbClr val="FFFFFF"/>
                </a:solidFill>
                <a:latin typeface="Times New Roman"/>
                <a:cs typeface="Times New Roman"/>
              </a:rPr>
              <a:t> </a:t>
            </a:r>
            <a:r>
              <a:rPr sz="2200" spc="120" dirty="0">
                <a:solidFill>
                  <a:srgbClr val="FFFFFF"/>
                </a:solidFill>
                <a:latin typeface="Times New Roman"/>
                <a:cs typeface="Times New Roman"/>
              </a:rPr>
              <a:t>the  </a:t>
            </a:r>
            <a:r>
              <a:rPr sz="2200" spc="90" dirty="0">
                <a:solidFill>
                  <a:srgbClr val="FFFFFF"/>
                </a:solidFill>
                <a:latin typeface="Times New Roman"/>
                <a:cs typeface="Times New Roman"/>
              </a:rPr>
              <a:t>data</a:t>
            </a:r>
            <a:r>
              <a:rPr sz="2200" spc="-110" dirty="0">
                <a:solidFill>
                  <a:srgbClr val="FFFFFF"/>
                </a:solidFill>
                <a:latin typeface="Times New Roman"/>
                <a:cs typeface="Times New Roman"/>
              </a:rPr>
              <a:t> </a:t>
            </a:r>
            <a:r>
              <a:rPr sz="2200" spc="65" dirty="0">
                <a:solidFill>
                  <a:srgbClr val="FFFFFF"/>
                </a:solidFill>
                <a:latin typeface="Times New Roman"/>
                <a:cs typeface="Times New Roman"/>
              </a:rPr>
              <a:t>rows</a:t>
            </a:r>
            <a:r>
              <a:rPr sz="2200" spc="-105" dirty="0">
                <a:solidFill>
                  <a:srgbClr val="FFFFFF"/>
                </a:solidFill>
                <a:latin typeface="Times New Roman"/>
                <a:cs typeface="Times New Roman"/>
              </a:rPr>
              <a:t> </a:t>
            </a:r>
            <a:r>
              <a:rPr sz="2200" spc="105" dirty="0">
                <a:solidFill>
                  <a:srgbClr val="FFFFFF"/>
                </a:solidFill>
                <a:latin typeface="Times New Roman"/>
                <a:cs typeface="Times New Roman"/>
              </a:rPr>
              <a:t>in</a:t>
            </a:r>
            <a:r>
              <a:rPr sz="2200" spc="-90" dirty="0">
                <a:solidFill>
                  <a:srgbClr val="FFFFFF"/>
                </a:solidFill>
                <a:latin typeface="Times New Roman"/>
                <a:cs typeface="Times New Roman"/>
              </a:rPr>
              <a:t> </a:t>
            </a:r>
            <a:r>
              <a:rPr sz="2200" spc="55" dirty="0">
                <a:solidFill>
                  <a:srgbClr val="FFFFFF"/>
                </a:solidFill>
                <a:latin typeface="Times New Roman"/>
                <a:cs typeface="Times New Roman"/>
              </a:rPr>
              <a:t>table.</a:t>
            </a:r>
            <a:endParaRPr sz="2200">
              <a:latin typeface="Times New Roman"/>
              <a:cs typeface="Times New Roman"/>
            </a:endParaRPr>
          </a:p>
        </p:txBody>
      </p:sp>
      <p:sp>
        <p:nvSpPr>
          <p:cNvPr id="5" name="object 5"/>
          <p:cNvSpPr/>
          <p:nvPr/>
        </p:nvSpPr>
        <p:spPr>
          <a:xfrm>
            <a:off x="304800" y="3617975"/>
            <a:ext cx="4844415" cy="1080135"/>
          </a:xfrm>
          <a:custGeom>
            <a:avLst/>
            <a:gdLst/>
            <a:ahLst/>
            <a:cxnLst/>
            <a:rect l="l" t="t" r="r" b="b"/>
            <a:pathLst>
              <a:path w="4844415" h="1080135">
                <a:moveTo>
                  <a:pt x="4844034" y="179959"/>
                </a:moveTo>
                <a:lnTo>
                  <a:pt x="4837608" y="132105"/>
                </a:lnTo>
                <a:lnTo>
                  <a:pt x="4819472" y="89115"/>
                </a:lnTo>
                <a:lnTo>
                  <a:pt x="4791341" y="52692"/>
                </a:lnTo>
                <a:lnTo>
                  <a:pt x="4754918" y="24561"/>
                </a:lnTo>
                <a:lnTo>
                  <a:pt x="4711928" y="6426"/>
                </a:lnTo>
                <a:lnTo>
                  <a:pt x="4664075" y="0"/>
                </a:lnTo>
                <a:lnTo>
                  <a:pt x="179959" y="0"/>
                </a:lnTo>
                <a:lnTo>
                  <a:pt x="132118" y="6426"/>
                </a:lnTo>
                <a:lnTo>
                  <a:pt x="89128" y="24561"/>
                </a:lnTo>
                <a:lnTo>
                  <a:pt x="52705" y="52692"/>
                </a:lnTo>
                <a:lnTo>
                  <a:pt x="24561" y="89115"/>
                </a:lnTo>
                <a:lnTo>
                  <a:pt x="6426" y="132105"/>
                </a:lnTo>
                <a:lnTo>
                  <a:pt x="0" y="179959"/>
                </a:lnTo>
                <a:lnTo>
                  <a:pt x="0" y="899795"/>
                </a:lnTo>
                <a:lnTo>
                  <a:pt x="6426" y="947661"/>
                </a:lnTo>
                <a:lnTo>
                  <a:pt x="24561" y="990650"/>
                </a:lnTo>
                <a:lnTo>
                  <a:pt x="52705" y="1027074"/>
                </a:lnTo>
                <a:lnTo>
                  <a:pt x="89128" y="1055204"/>
                </a:lnTo>
                <a:lnTo>
                  <a:pt x="132118" y="1073340"/>
                </a:lnTo>
                <a:lnTo>
                  <a:pt x="179959" y="1079754"/>
                </a:lnTo>
                <a:lnTo>
                  <a:pt x="4664075" y="1079754"/>
                </a:lnTo>
                <a:lnTo>
                  <a:pt x="4711928" y="1073340"/>
                </a:lnTo>
                <a:lnTo>
                  <a:pt x="4754918" y="1055204"/>
                </a:lnTo>
                <a:lnTo>
                  <a:pt x="4791341" y="1027074"/>
                </a:lnTo>
                <a:lnTo>
                  <a:pt x="4819472" y="990650"/>
                </a:lnTo>
                <a:lnTo>
                  <a:pt x="4837608" y="947661"/>
                </a:lnTo>
                <a:lnTo>
                  <a:pt x="4844034" y="899795"/>
                </a:lnTo>
                <a:lnTo>
                  <a:pt x="4844034" y="816864"/>
                </a:lnTo>
                <a:lnTo>
                  <a:pt x="4844034" y="262890"/>
                </a:lnTo>
                <a:lnTo>
                  <a:pt x="4844034" y="179959"/>
                </a:lnTo>
                <a:close/>
              </a:path>
            </a:pathLst>
          </a:custGeom>
          <a:solidFill>
            <a:srgbClr val="C0504D"/>
          </a:solidFill>
        </p:spPr>
        <p:txBody>
          <a:bodyPr wrap="square" lIns="0" tIns="0" rIns="0" bIns="0" rtlCol="0"/>
          <a:lstStyle/>
          <a:p>
            <a:endParaRPr/>
          </a:p>
        </p:txBody>
      </p:sp>
      <p:sp>
        <p:nvSpPr>
          <p:cNvPr id="6" name="object 6"/>
          <p:cNvSpPr txBox="1"/>
          <p:nvPr/>
        </p:nvSpPr>
        <p:spPr>
          <a:xfrm>
            <a:off x="431291" y="3201416"/>
            <a:ext cx="4579620" cy="1024255"/>
          </a:xfrm>
          <a:prstGeom prst="rect">
            <a:avLst/>
          </a:prstGeom>
        </p:spPr>
        <p:txBody>
          <a:bodyPr vert="horz" wrap="square" lIns="0" tIns="12065" rIns="0" bIns="0" rtlCol="0">
            <a:spAutoFit/>
          </a:bodyPr>
          <a:lstStyle/>
          <a:p>
            <a:pPr marL="43180">
              <a:lnSpc>
                <a:spcPct val="100000"/>
              </a:lnSpc>
              <a:spcBef>
                <a:spcPts val="95"/>
              </a:spcBef>
            </a:pPr>
            <a:r>
              <a:rPr sz="2000" b="1" spc="15" dirty="0">
                <a:latin typeface="Times New Roman"/>
                <a:cs typeface="Times New Roman"/>
              </a:rPr>
              <a:t>Syntax</a:t>
            </a:r>
            <a:endParaRPr sz="2000">
              <a:latin typeface="Times New Roman"/>
              <a:cs typeface="Times New Roman"/>
            </a:endParaRPr>
          </a:p>
          <a:p>
            <a:pPr marL="12700">
              <a:lnSpc>
                <a:spcPct val="100000"/>
              </a:lnSpc>
              <a:spcBef>
                <a:spcPts val="1625"/>
              </a:spcBef>
            </a:pPr>
            <a:r>
              <a:rPr sz="1600" spc="95" dirty="0">
                <a:solidFill>
                  <a:srgbClr val="FFFFFF"/>
                </a:solidFill>
                <a:latin typeface="Times New Roman"/>
                <a:cs typeface="Times New Roman"/>
              </a:rPr>
              <a:t>CREATE</a:t>
            </a:r>
            <a:r>
              <a:rPr sz="1600" spc="-85" dirty="0">
                <a:solidFill>
                  <a:srgbClr val="FFFFFF"/>
                </a:solidFill>
                <a:latin typeface="Times New Roman"/>
                <a:cs typeface="Times New Roman"/>
              </a:rPr>
              <a:t> </a:t>
            </a:r>
            <a:r>
              <a:rPr sz="1600" spc="70" dirty="0">
                <a:solidFill>
                  <a:srgbClr val="FFFFFF"/>
                </a:solidFill>
                <a:latin typeface="Times New Roman"/>
                <a:cs typeface="Times New Roman"/>
              </a:rPr>
              <a:t>[NONCLUSTERED]</a:t>
            </a:r>
            <a:r>
              <a:rPr sz="1600" spc="-90" dirty="0">
                <a:solidFill>
                  <a:srgbClr val="FFFFFF"/>
                </a:solidFill>
                <a:latin typeface="Times New Roman"/>
                <a:cs typeface="Times New Roman"/>
              </a:rPr>
              <a:t> </a:t>
            </a:r>
            <a:r>
              <a:rPr sz="1600" spc="50" dirty="0">
                <a:solidFill>
                  <a:srgbClr val="FFFFFF"/>
                </a:solidFill>
                <a:latin typeface="Times New Roman"/>
                <a:cs typeface="Times New Roman"/>
              </a:rPr>
              <a:t>INDEX</a:t>
            </a:r>
            <a:r>
              <a:rPr sz="1600" spc="-85" dirty="0">
                <a:solidFill>
                  <a:srgbClr val="FFFFFF"/>
                </a:solidFill>
                <a:latin typeface="Times New Roman"/>
                <a:cs typeface="Times New Roman"/>
              </a:rPr>
              <a:t> </a:t>
            </a:r>
            <a:r>
              <a:rPr sz="1600" spc="20" dirty="0">
                <a:solidFill>
                  <a:srgbClr val="FFFFFF"/>
                </a:solidFill>
                <a:latin typeface="Times New Roman"/>
                <a:cs typeface="Times New Roman"/>
              </a:rPr>
              <a:t>index_name</a:t>
            </a:r>
            <a:endParaRPr sz="1600">
              <a:latin typeface="Times New Roman"/>
              <a:cs typeface="Times New Roman"/>
            </a:endParaRPr>
          </a:p>
          <a:p>
            <a:pPr marL="12700">
              <a:lnSpc>
                <a:spcPct val="100000"/>
              </a:lnSpc>
            </a:pPr>
            <a:r>
              <a:rPr sz="1600" spc="165" dirty="0">
                <a:solidFill>
                  <a:srgbClr val="FFFFFF"/>
                </a:solidFill>
                <a:latin typeface="Times New Roman"/>
                <a:cs typeface="Times New Roman"/>
              </a:rPr>
              <a:t>ON</a:t>
            </a:r>
            <a:r>
              <a:rPr sz="1600" spc="-75" dirty="0">
                <a:solidFill>
                  <a:srgbClr val="FFFFFF"/>
                </a:solidFill>
                <a:latin typeface="Times New Roman"/>
                <a:cs typeface="Times New Roman"/>
              </a:rPr>
              <a:t> </a:t>
            </a:r>
            <a:r>
              <a:rPr sz="1600" spc="5" dirty="0">
                <a:solidFill>
                  <a:srgbClr val="FFFFFF"/>
                </a:solidFill>
                <a:latin typeface="Times New Roman"/>
                <a:cs typeface="Times New Roman"/>
              </a:rPr>
              <a:t>table_name(column_list);</a:t>
            </a:r>
            <a:endParaRPr sz="1600">
              <a:latin typeface="Times New Roman"/>
              <a:cs typeface="Times New Roman"/>
            </a:endParaRPr>
          </a:p>
        </p:txBody>
      </p:sp>
      <p:pic>
        <p:nvPicPr>
          <p:cNvPr id="7" name="object 7"/>
          <p:cNvPicPr/>
          <p:nvPr/>
        </p:nvPicPr>
        <p:blipFill>
          <a:blip r:embed="rId3" cstate="print"/>
          <a:stretch>
            <a:fillRect/>
          </a:stretch>
        </p:blipFill>
        <p:spPr>
          <a:xfrm>
            <a:off x="5345429" y="2916173"/>
            <a:ext cx="3610355" cy="3387852"/>
          </a:xfrm>
          <a:prstGeom prst="rect">
            <a:avLst/>
          </a:prstGeom>
        </p:spPr>
      </p:pic>
      <p:sp>
        <p:nvSpPr>
          <p:cNvPr id="8" name="object 8"/>
          <p:cNvSpPr txBox="1"/>
          <p:nvPr/>
        </p:nvSpPr>
        <p:spPr>
          <a:xfrm>
            <a:off x="6497065" y="6253988"/>
            <a:ext cx="152400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Nonclustered</a:t>
            </a:r>
            <a:r>
              <a:rPr sz="1400" b="1" spc="-135" dirty="0">
                <a:latin typeface="Times New Roman"/>
                <a:cs typeface="Times New Roman"/>
              </a:rPr>
              <a:t> </a:t>
            </a:r>
            <a:r>
              <a:rPr sz="1400" b="1" dirty="0">
                <a:latin typeface="Times New Roman"/>
                <a:cs typeface="Times New Roman"/>
              </a:rPr>
              <a:t>Index</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34</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162300" cy="574040"/>
          </a:xfrm>
          <a:prstGeom prst="rect">
            <a:avLst/>
          </a:prstGeom>
        </p:spPr>
        <p:txBody>
          <a:bodyPr vert="horz" wrap="square" lIns="0" tIns="12700" rIns="0" bIns="0" rtlCol="0">
            <a:spAutoFit/>
          </a:bodyPr>
          <a:lstStyle/>
          <a:p>
            <a:pPr marL="12700">
              <a:lnSpc>
                <a:spcPct val="100000"/>
              </a:lnSpc>
              <a:spcBef>
                <a:spcPts val="100"/>
              </a:spcBef>
            </a:pPr>
            <a:r>
              <a:rPr b="0" spc="204" dirty="0">
                <a:latin typeface="Times New Roman"/>
                <a:cs typeface="Times New Roman"/>
              </a:rPr>
              <a:t>Unique</a:t>
            </a:r>
            <a:r>
              <a:rPr b="0" spc="-195" dirty="0">
                <a:latin typeface="Times New Roman"/>
                <a:cs typeface="Times New Roman"/>
              </a:rPr>
              <a:t> </a:t>
            </a:r>
            <a:r>
              <a:rPr b="0" spc="125" dirty="0">
                <a:latin typeface="Times New Roman"/>
                <a:cs typeface="Times New Roman"/>
              </a:rPr>
              <a:t>Indexes</a:t>
            </a:r>
          </a:p>
        </p:txBody>
      </p:sp>
      <p:sp>
        <p:nvSpPr>
          <p:cNvPr id="3" name="object 3"/>
          <p:cNvSpPr/>
          <p:nvPr/>
        </p:nvSpPr>
        <p:spPr>
          <a:xfrm>
            <a:off x="119634" y="923543"/>
            <a:ext cx="4740910" cy="4398645"/>
          </a:xfrm>
          <a:custGeom>
            <a:avLst/>
            <a:gdLst/>
            <a:ahLst/>
            <a:cxnLst/>
            <a:rect l="l" t="t" r="r" b="b"/>
            <a:pathLst>
              <a:path w="4740910" h="4398645">
                <a:moveTo>
                  <a:pt x="4740402" y="733044"/>
                </a:moveTo>
                <a:lnTo>
                  <a:pt x="4738840" y="684847"/>
                </a:lnTo>
                <a:lnTo>
                  <a:pt x="4734230" y="637476"/>
                </a:lnTo>
                <a:lnTo>
                  <a:pt x="4726648" y="591045"/>
                </a:lnTo>
                <a:lnTo>
                  <a:pt x="4716221" y="545630"/>
                </a:lnTo>
                <a:lnTo>
                  <a:pt x="4703026" y="501345"/>
                </a:lnTo>
                <a:lnTo>
                  <a:pt x="4687163" y="458266"/>
                </a:lnTo>
                <a:lnTo>
                  <a:pt x="4668736" y="416521"/>
                </a:lnTo>
                <a:lnTo>
                  <a:pt x="4647819" y="376174"/>
                </a:lnTo>
                <a:lnTo>
                  <a:pt x="4624540" y="337337"/>
                </a:lnTo>
                <a:lnTo>
                  <a:pt x="4598962" y="300113"/>
                </a:lnTo>
                <a:lnTo>
                  <a:pt x="4571212" y="264591"/>
                </a:lnTo>
                <a:lnTo>
                  <a:pt x="4541380" y="230860"/>
                </a:lnTo>
                <a:lnTo>
                  <a:pt x="4509541" y="199021"/>
                </a:lnTo>
                <a:lnTo>
                  <a:pt x="4475810" y="169189"/>
                </a:lnTo>
                <a:lnTo>
                  <a:pt x="4440288" y="141427"/>
                </a:lnTo>
                <a:lnTo>
                  <a:pt x="4403064" y="115862"/>
                </a:lnTo>
                <a:lnTo>
                  <a:pt x="4364228" y="92583"/>
                </a:lnTo>
                <a:lnTo>
                  <a:pt x="4323880" y="71666"/>
                </a:lnTo>
                <a:lnTo>
                  <a:pt x="4282135" y="53238"/>
                </a:lnTo>
                <a:lnTo>
                  <a:pt x="4239057" y="37376"/>
                </a:lnTo>
                <a:lnTo>
                  <a:pt x="4194772" y="24180"/>
                </a:lnTo>
                <a:lnTo>
                  <a:pt x="4149356" y="13754"/>
                </a:lnTo>
                <a:lnTo>
                  <a:pt x="4102925" y="6172"/>
                </a:lnTo>
                <a:lnTo>
                  <a:pt x="4055554" y="1562"/>
                </a:lnTo>
                <a:lnTo>
                  <a:pt x="4007358" y="0"/>
                </a:lnTo>
                <a:lnTo>
                  <a:pt x="733056" y="0"/>
                </a:lnTo>
                <a:lnTo>
                  <a:pt x="684847" y="1562"/>
                </a:lnTo>
                <a:lnTo>
                  <a:pt x="637489" y="6172"/>
                </a:lnTo>
                <a:lnTo>
                  <a:pt x="591045" y="13754"/>
                </a:lnTo>
                <a:lnTo>
                  <a:pt x="545642" y="24180"/>
                </a:lnTo>
                <a:lnTo>
                  <a:pt x="501345" y="37376"/>
                </a:lnTo>
                <a:lnTo>
                  <a:pt x="458279" y="53238"/>
                </a:lnTo>
                <a:lnTo>
                  <a:pt x="416521" y="71666"/>
                </a:lnTo>
                <a:lnTo>
                  <a:pt x="376186" y="92583"/>
                </a:lnTo>
                <a:lnTo>
                  <a:pt x="337350" y="115862"/>
                </a:lnTo>
                <a:lnTo>
                  <a:pt x="300113" y="141427"/>
                </a:lnTo>
                <a:lnTo>
                  <a:pt x="264591" y="169189"/>
                </a:lnTo>
                <a:lnTo>
                  <a:pt x="230860" y="199021"/>
                </a:lnTo>
                <a:lnTo>
                  <a:pt x="199034" y="230860"/>
                </a:lnTo>
                <a:lnTo>
                  <a:pt x="169189" y="264591"/>
                </a:lnTo>
                <a:lnTo>
                  <a:pt x="141427" y="300113"/>
                </a:lnTo>
                <a:lnTo>
                  <a:pt x="115862" y="337337"/>
                </a:lnTo>
                <a:lnTo>
                  <a:pt x="92570" y="376174"/>
                </a:lnTo>
                <a:lnTo>
                  <a:pt x="71666" y="416521"/>
                </a:lnTo>
                <a:lnTo>
                  <a:pt x="53225" y="458266"/>
                </a:lnTo>
                <a:lnTo>
                  <a:pt x="37363" y="501345"/>
                </a:lnTo>
                <a:lnTo>
                  <a:pt x="24168" y="545630"/>
                </a:lnTo>
                <a:lnTo>
                  <a:pt x="13741" y="591045"/>
                </a:lnTo>
                <a:lnTo>
                  <a:pt x="6172" y="637476"/>
                </a:lnTo>
                <a:lnTo>
                  <a:pt x="1549" y="684847"/>
                </a:lnTo>
                <a:lnTo>
                  <a:pt x="0" y="733044"/>
                </a:lnTo>
                <a:lnTo>
                  <a:pt x="0" y="3665220"/>
                </a:lnTo>
                <a:lnTo>
                  <a:pt x="1549" y="3713429"/>
                </a:lnTo>
                <a:lnTo>
                  <a:pt x="6172" y="3760800"/>
                </a:lnTo>
                <a:lnTo>
                  <a:pt x="13741" y="3807231"/>
                </a:lnTo>
                <a:lnTo>
                  <a:pt x="24168" y="3852646"/>
                </a:lnTo>
                <a:lnTo>
                  <a:pt x="37363" y="3896931"/>
                </a:lnTo>
                <a:lnTo>
                  <a:pt x="53225" y="3940010"/>
                </a:lnTo>
                <a:lnTo>
                  <a:pt x="71666" y="3981754"/>
                </a:lnTo>
                <a:lnTo>
                  <a:pt x="92570" y="4022102"/>
                </a:lnTo>
                <a:lnTo>
                  <a:pt x="115862" y="4060939"/>
                </a:lnTo>
                <a:lnTo>
                  <a:pt x="141427" y="4098163"/>
                </a:lnTo>
                <a:lnTo>
                  <a:pt x="169189" y="4133685"/>
                </a:lnTo>
                <a:lnTo>
                  <a:pt x="199034" y="4167416"/>
                </a:lnTo>
                <a:lnTo>
                  <a:pt x="230860" y="4199255"/>
                </a:lnTo>
                <a:lnTo>
                  <a:pt x="264591" y="4229087"/>
                </a:lnTo>
                <a:lnTo>
                  <a:pt x="300113" y="4256837"/>
                </a:lnTo>
                <a:lnTo>
                  <a:pt x="337350" y="4282414"/>
                </a:lnTo>
                <a:lnTo>
                  <a:pt x="376186" y="4305693"/>
                </a:lnTo>
                <a:lnTo>
                  <a:pt x="416521" y="4326610"/>
                </a:lnTo>
                <a:lnTo>
                  <a:pt x="458279" y="4345038"/>
                </a:lnTo>
                <a:lnTo>
                  <a:pt x="501345" y="4360900"/>
                </a:lnTo>
                <a:lnTo>
                  <a:pt x="545642" y="4374096"/>
                </a:lnTo>
                <a:lnTo>
                  <a:pt x="591045" y="4384522"/>
                </a:lnTo>
                <a:lnTo>
                  <a:pt x="637489" y="4392104"/>
                </a:lnTo>
                <a:lnTo>
                  <a:pt x="684847" y="4396714"/>
                </a:lnTo>
                <a:lnTo>
                  <a:pt x="733056" y="4398264"/>
                </a:lnTo>
                <a:lnTo>
                  <a:pt x="4007358" y="4398264"/>
                </a:lnTo>
                <a:lnTo>
                  <a:pt x="4055554" y="4396714"/>
                </a:lnTo>
                <a:lnTo>
                  <a:pt x="4102925" y="4392104"/>
                </a:lnTo>
                <a:lnTo>
                  <a:pt x="4149356" y="4384522"/>
                </a:lnTo>
                <a:lnTo>
                  <a:pt x="4194772" y="4374096"/>
                </a:lnTo>
                <a:lnTo>
                  <a:pt x="4239057" y="4360900"/>
                </a:lnTo>
                <a:lnTo>
                  <a:pt x="4282135" y="4345038"/>
                </a:lnTo>
                <a:lnTo>
                  <a:pt x="4323880" y="4326610"/>
                </a:lnTo>
                <a:lnTo>
                  <a:pt x="4364228" y="4305693"/>
                </a:lnTo>
                <a:lnTo>
                  <a:pt x="4403064" y="4282414"/>
                </a:lnTo>
                <a:lnTo>
                  <a:pt x="4440288" y="4256837"/>
                </a:lnTo>
                <a:lnTo>
                  <a:pt x="4475810" y="4229087"/>
                </a:lnTo>
                <a:lnTo>
                  <a:pt x="4509541" y="4199255"/>
                </a:lnTo>
                <a:lnTo>
                  <a:pt x="4541380" y="4167416"/>
                </a:lnTo>
                <a:lnTo>
                  <a:pt x="4571212" y="4133685"/>
                </a:lnTo>
                <a:lnTo>
                  <a:pt x="4598962" y="4098163"/>
                </a:lnTo>
                <a:lnTo>
                  <a:pt x="4624540" y="4060939"/>
                </a:lnTo>
                <a:lnTo>
                  <a:pt x="4647819" y="4022102"/>
                </a:lnTo>
                <a:lnTo>
                  <a:pt x="4668736" y="3981754"/>
                </a:lnTo>
                <a:lnTo>
                  <a:pt x="4687163" y="3940010"/>
                </a:lnTo>
                <a:lnTo>
                  <a:pt x="4703026" y="3896931"/>
                </a:lnTo>
                <a:lnTo>
                  <a:pt x="4716221" y="3852646"/>
                </a:lnTo>
                <a:lnTo>
                  <a:pt x="4726648" y="3807231"/>
                </a:lnTo>
                <a:lnTo>
                  <a:pt x="4734230" y="3760800"/>
                </a:lnTo>
                <a:lnTo>
                  <a:pt x="4738840" y="3713429"/>
                </a:lnTo>
                <a:lnTo>
                  <a:pt x="4740402" y="3665220"/>
                </a:lnTo>
                <a:lnTo>
                  <a:pt x="4740402" y="733044"/>
                </a:lnTo>
                <a:close/>
              </a:path>
            </a:pathLst>
          </a:custGeom>
          <a:solidFill>
            <a:srgbClr val="F79546"/>
          </a:solidFill>
        </p:spPr>
        <p:txBody>
          <a:bodyPr wrap="square" lIns="0" tIns="0" rIns="0" bIns="0" rtlCol="0"/>
          <a:lstStyle/>
          <a:p>
            <a:endParaRPr/>
          </a:p>
        </p:txBody>
      </p:sp>
      <p:sp>
        <p:nvSpPr>
          <p:cNvPr id="4" name="object 4"/>
          <p:cNvSpPr txBox="1"/>
          <p:nvPr/>
        </p:nvSpPr>
        <p:spPr>
          <a:xfrm>
            <a:off x="372109" y="1513840"/>
            <a:ext cx="4120515" cy="2708275"/>
          </a:xfrm>
          <a:prstGeom prst="rect">
            <a:avLst/>
          </a:prstGeom>
        </p:spPr>
        <p:txBody>
          <a:bodyPr vert="horz" wrap="square" lIns="0" tIns="12700" rIns="0" bIns="0" rtlCol="0">
            <a:spAutoFit/>
          </a:bodyPr>
          <a:lstStyle/>
          <a:p>
            <a:pPr marL="354965" marR="5080" indent="-342900" algn="just">
              <a:lnSpc>
                <a:spcPct val="100000"/>
              </a:lnSpc>
              <a:spcBef>
                <a:spcPts val="100"/>
              </a:spcBef>
              <a:buFont typeface="Wingdings"/>
              <a:buChar char=""/>
              <a:tabLst>
                <a:tab pos="355600" algn="l"/>
              </a:tabLst>
            </a:pPr>
            <a:r>
              <a:rPr sz="2200" spc="70" dirty="0">
                <a:solidFill>
                  <a:srgbClr val="FFFFFF"/>
                </a:solidFill>
                <a:latin typeface="Times New Roman"/>
                <a:cs typeface="Times New Roman"/>
              </a:rPr>
              <a:t>Ensures </a:t>
            </a:r>
            <a:r>
              <a:rPr sz="2200" spc="125" dirty="0">
                <a:solidFill>
                  <a:srgbClr val="FFFFFF"/>
                </a:solidFill>
                <a:latin typeface="Times New Roman"/>
                <a:cs typeface="Times New Roman"/>
              </a:rPr>
              <a:t>that </a:t>
            </a:r>
            <a:r>
              <a:rPr sz="2200" spc="95" dirty="0">
                <a:solidFill>
                  <a:srgbClr val="FFFFFF"/>
                </a:solidFill>
                <a:latin typeface="Times New Roman"/>
                <a:cs typeface="Times New Roman"/>
              </a:rPr>
              <a:t>index </a:t>
            </a:r>
            <a:r>
              <a:rPr sz="2200" spc="45" dirty="0">
                <a:solidFill>
                  <a:srgbClr val="FFFFFF"/>
                </a:solidFill>
                <a:latin typeface="Times New Roman"/>
                <a:cs typeface="Times New Roman"/>
              </a:rPr>
              <a:t>key  </a:t>
            </a:r>
            <a:r>
              <a:rPr sz="2200" spc="85" dirty="0">
                <a:solidFill>
                  <a:srgbClr val="FFFFFF"/>
                </a:solidFill>
                <a:latin typeface="Times New Roman"/>
                <a:cs typeface="Times New Roman"/>
              </a:rPr>
              <a:t>columns </a:t>
            </a:r>
            <a:r>
              <a:rPr sz="2200" spc="114" dirty="0">
                <a:solidFill>
                  <a:srgbClr val="FFFFFF"/>
                </a:solidFill>
                <a:latin typeface="Times New Roman"/>
                <a:cs typeface="Times New Roman"/>
              </a:rPr>
              <a:t>do </a:t>
            </a:r>
            <a:r>
              <a:rPr sz="2200" spc="140" dirty="0">
                <a:solidFill>
                  <a:srgbClr val="FFFFFF"/>
                </a:solidFill>
                <a:latin typeface="Times New Roman"/>
                <a:cs typeface="Times New Roman"/>
              </a:rPr>
              <a:t>not </a:t>
            </a:r>
            <a:r>
              <a:rPr sz="2200" spc="100" dirty="0">
                <a:solidFill>
                  <a:srgbClr val="FFFFFF"/>
                </a:solidFill>
                <a:latin typeface="Times New Roman"/>
                <a:cs typeface="Times New Roman"/>
              </a:rPr>
              <a:t>contain </a:t>
            </a:r>
            <a:r>
              <a:rPr sz="2200" spc="75" dirty="0">
                <a:solidFill>
                  <a:srgbClr val="FFFFFF"/>
                </a:solidFill>
                <a:latin typeface="Times New Roman"/>
                <a:cs typeface="Times New Roman"/>
              </a:rPr>
              <a:t>any  duplicate</a:t>
            </a:r>
            <a:r>
              <a:rPr sz="2200" spc="-105" dirty="0">
                <a:solidFill>
                  <a:srgbClr val="FFFFFF"/>
                </a:solidFill>
                <a:latin typeface="Times New Roman"/>
                <a:cs typeface="Times New Roman"/>
              </a:rPr>
              <a:t> </a:t>
            </a:r>
            <a:r>
              <a:rPr sz="2200" spc="45" dirty="0">
                <a:solidFill>
                  <a:srgbClr val="FFFFFF"/>
                </a:solidFill>
                <a:latin typeface="Times New Roman"/>
                <a:cs typeface="Times New Roman"/>
              </a:rPr>
              <a:t>values.</a:t>
            </a:r>
            <a:endParaRPr sz="2200">
              <a:latin typeface="Times New Roman"/>
              <a:cs typeface="Times New Roman"/>
            </a:endParaRPr>
          </a:p>
          <a:p>
            <a:pPr marL="354965" marR="5715" indent="-342900" algn="just">
              <a:lnSpc>
                <a:spcPct val="100000"/>
              </a:lnSpc>
              <a:buFont typeface="Wingdings"/>
              <a:buChar char=""/>
              <a:tabLst>
                <a:tab pos="355600" algn="l"/>
              </a:tabLst>
            </a:pPr>
            <a:r>
              <a:rPr sz="2200" spc="60" dirty="0">
                <a:solidFill>
                  <a:srgbClr val="FFFFFF"/>
                </a:solidFill>
                <a:latin typeface="Times New Roman"/>
                <a:cs typeface="Times New Roman"/>
              </a:rPr>
              <a:t>It </a:t>
            </a:r>
            <a:r>
              <a:rPr sz="2200" spc="45" dirty="0">
                <a:solidFill>
                  <a:srgbClr val="FFFFFF"/>
                </a:solidFill>
                <a:latin typeface="Times New Roman"/>
                <a:cs typeface="Times New Roman"/>
              </a:rPr>
              <a:t>may </a:t>
            </a:r>
            <a:r>
              <a:rPr sz="2200" spc="65" dirty="0">
                <a:solidFill>
                  <a:srgbClr val="FFFFFF"/>
                </a:solidFill>
                <a:latin typeface="Times New Roman"/>
                <a:cs typeface="Times New Roman"/>
              </a:rPr>
              <a:t>consist </a:t>
            </a:r>
            <a:r>
              <a:rPr sz="2200" spc="60" dirty="0">
                <a:solidFill>
                  <a:srgbClr val="FFFFFF"/>
                </a:solidFill>
                <a:latin typeface="Times New Roman"/>
                <a:cs typeface="Times New Roman"/>
              </a:rPr>
              <a:t>of </a:t>
            </a:r>
            <a:r>
              <a:rPr sz="2200" spc="114" dirty="0">
                <a:solidFill>
                  <a:srgbClr val="FFFFFF"/>
                </a:solidFill>
                <a:latin typeface="Times New Roman"/>
                <a:cs typeface="Times New Roman"/>
              </a:rPr>
              <a:t>one </a:t>
            </a:r>
            <a:r>
              <a:rPr sz="2200" spc="95" dirty="0">
                <a:solidFill>
                  <a:srgbClr val="FFFFFF"/>
                </a:solidFill>
                <a:latin typeface="Times New Roman"/>
                <a:cs typeface="Times New Roman"/>
              </a:rPr>
              <a:t>or </a:t>
            </a:r>
            <a:r>
              <a:rPr sz="2200" spc="85" dirty="0">
                <a:solidFill>
                  <a:srgbClr val="FFFFFF"/>
                </a:solidFill>
                <a:latin typeface="Times New Roman"/>
                <a:cs typeface="Times New Roman"/>
              </a:rPr>
              <a:t>many  </a:t>
            </a:r>
            <a:r>
              <a:rPr sz="2200" spc="75" dirty="0">
                <a:solidFill>
                  <a:srgbClr val="FFFFFF"/>
                </a:solidFill>
                <a:latin typeface="Times New Roman"/>
                <a:cs typeface="Times New Roman"/>
              </a:rPr>
              <a:t>columns.</a:t>
            </a:r>
            <a:endParaRPr sz="2200">
              <a:latin typeface="Times New Roman"/>
              <a:cs typeface="Times New Roman"/>
            </a:endParaRPr>
          </a:p>
          <a:p>
            <a:pPr marL="354965" marR="5080" indent="-342900" algn="just">
              <a:lnSpc>
                <a:spcPct val="100000"/>
              </a:lnSpc>
              <a:buFont typeface="Wingdings"/>
              <a:buChar char=""/>
              <a:tabLst>
                <a:tab pos="355600" algn="l"/>
              </a:tabLst>
            </a:pPr>
            <a:r>
              <a:rPr sz="2200" spc="90" dirty="0">
                <a:solidFill>
                  <a:srgbClr val="FFFFFF"/>
                </a:solidFill>
                <a:latin typeface="Times New Roman"/>
                <a:cs typeface="Times New Roman"/>
              </a:rPr>
              <a:t>In </a:t>
            </a:r>
            <a:r>
              <a:rPr sz="2200" spc="25" dirty="0">
                <a:solidFill>
                  <a:srgbClr val="FFFFFF"/>
                </a:solidFill>
                <a:latin typeface="Times New Roman"/>
                <a:cs typeface="Times New Roman"/>
              </a:rPr>
              <a:t>case </a:t>
            </a:r>
            <a:r>
              <a:rPr sz="2200" spc="120" dirty="0">
                <a:solidFill>
                  <a:srgbClr val="FFFFFF"/>
                </a:solidFill>
                <a:latin typeface="Times New Roman"/>
                <a:cs typeface="Times New Roman"/>
              </a:rPr>
              <a:t>the </a:t>
            </a:r>
            <a:r>
              <a:rPr sz="2200" spc="114" dirty="0">
                <a:solidFill>
                  <a:srgbClr val="FFFFFF"/>
                </a:solidFill>
                <a:latin typeface="Times New Roman"/>
                <a:cs typeface="Times New Roman"/>
              </a:rPr>
              <a:t>unique </a:t>
            </a:r>
            <a:r>
              <a:rPr sz="2200" spc="95" dirty="0">
                <a:solidFill>
                  <a:srgbClr val="FFFFFF"/>
                </a:solidFill>
                <a:latin typeface="Times New Roman"/>
                <a:cs typeface="Times New Roman"/>
              </a:rPr>
              <a:t>index </a:t>
            </a:r>
            <a:r>
              <a:rPr sz="2200" spc="75" dirty="0">
                <a:solidFill>
                  <a:srgbClr val="FFFFFF"/>
                </a:solidFill>
                <a:latin typeface="Times New Roman"/>
                <a:cs typeface="Times New Roman"/>
              </a:rPr>
              <a:t>has  multiple columns, </a:t>
            </a:r>
            <a:r>
              <a:rPr sz="2200" spc="120" dirty="0">
                <a:solidFill>
                  <a:srgbClr val="FFFFFF"/>
                </a:solidFill>
                <a:latin typeface="Times New Roman"/>
                <a:cs typeface="Times New Roman"/>
              </a:rPr>
              <a:t>the  </a:t>
            </a:r>
            <a:r>
              <a:rPr sz="2200" spc="95" dirty="0">
                <a:solidFill>
                  <a:srgbClr val="FFFFFF"/>
                </a:solidFill>
                <a:latin typeface="Times New Roman"/>
                <a:cs typeface="Times New Roman"/>
              </a:rPr>
              <a:t>combination </a:t>
            </a:r>
            <a:r>
              <a:rPr sz="2200" spc="5" dirty="0">
                <a:solidFill>
                  <a:srgbClr val="FFFFFF"/>
                </a:solidFill>
                <a:latin typeface="Times New Roman"/>
                <a:cs typeface="Times New Roman"/>
              </a:rPr>
              <a:t>is</a:t>
            </a:r>
            <a:r>
              <a:rPr sz="2200" spc="-310" dirty="0">
                <a:solidFill>
                  <a:srgbClr val="FFFFFF"/>
                </a:solidFill>
                <a:latin typeface="Times New Roman"/>
                <a:cs typeface="Times New Roman"/>
              </a:rPr>
              <a:t> </a:t>
            </a:r>
            <a:r>
              <a:rPr sz="2200" spc="100" dirty="0">
                <a:solidFill>
                  <a:srgbClr val="FFFFFF"/>
                </a:solidFill>
                <a:latin typeface="Times New Roman"/>
                <a:cs typeface="Times New Roman"/>
              </a:rPr>
              <a:t>unique.</a:t>
            </a:r>
            <a:endParaRPr sz="2200">
              <a:latin typeface="Times New Roman"/>
              <a:cs typeface="Times New Roman"/>
            </a:endParaRPr>
          </a:p>
        </p:txBody>
      </p:sp>
      <p:sp>
        <p:nvSpPr>
          <p:cNvPr id="5" name="object 5"/>
          <p:cNvSpPr/>
          <p:nvPr/>
        </p:nvSpPr>
        <p:spPr>
          <a:xfrm>
            <a:off x="5049774" y="1378457"/>
            <a:ext cx="3826510" cy="1080135"/>
          </a:xfrm>
          <a:custGeom>
            <a:avLst/>
            <a:gdLst/>
            <a:ahLst/>
            <a:cxnLst/>
            <a:rect l="l" t="t" r="r" b="b"/>
            <a:pathLst>
              <a:path w="3826509" h="1080135">
                <a:moveTo>
                  <a:pt x="3826002" y="179959"/>
                </a:moveTo>
                <a:lnTo>
                  <a:pt x="3819575" y="132105"/>
                </a:lnTo>
                <a:lnTo>
                  <a:pt x="3801440" y="89115"/>
                </a:lnTo>
                <a:lnTo>
                  <a:pt x="3773309" y="52692"/>
                </a:lnTo>
                <a:lnTo>
                  <a:pt x="3736886" y="24561"/>
                </a:lnTo>
                <a:lnTo>
                  <a:pt x="3693896" y="6426"/>
                </a:lnTo>
                <a:lnTo>
                  <a:pt x="3646043" y="0"/>
                </a:lnTo>
                <a:lnTo>
                  <a:pt x="179959" y="0"/>
                </a:lnTo>
                <a:lnTo>
                  <a:pt x="132092" y="6426"/>
                </a:lnTo>
                <a:lnTo>
                  <a:pt x="89103" y="24561"/>
                </a:lnTo>
                <a:lnTo>
                  <a:pt x="52679" y="52692"/>
                </a:lnTo>
                <a:lnTo>
                  <a:pt x="24549" y="89115"/>
                </a:lnTo>
                <a:lnTo>
                  <a:pt x="6413" y="132105"/>
                </a:lnTo>
                <a:lnTo>
                  <a:pt x="0" y="179959"/>
                </a:lnTo>
                <a:lnTo>
                  <a:pt x="0" y="899795"/>
                </a:lnTo>
                <a:lnTo>
                  <a:pt x="6413" y="947661"/>
                </a:lnTo>
                <a:lnTo>
                  <a:pt x="24549" y="990650"/>
                </a:lnTo>
                <a:lnTo>
                  <a:pt x="52679" y="1027074"/>
                </a:lnTo>
                <a:lnTo>
                  <a:pt x="89103" y="1055204"/>
                </a:lnTo>
                <a:lnTo>
                  <a:pt x="132092" y="1073340"/>
                </a:lnTo>
                <a:lnTo>
                  <a:pt x="179959" y="1079754"/>
                </a:lnTo>
                <a:lnTo>
                  <a:pt x="3646043" y="1079754"/>
                </a:lnTo>
                <a:lnTo>
                  <a:pt x="3693896" y="1073340"/>
                </a:lnTo>
                <a:lnTo>
                  <a:pt x="3736886" y="1055204"/>
                </a:lnTo>
                <a:lnTo>
                  <a:pt x="3773309" y="1027074"/>
                </a:lnTo>
                <a:lnTo>
                  <a:pt x="3801440" y="990650"/>
                </a:lnTo>
                <a:lnTo>
                  <a:pt x="3819575" y="947661"/>
                </a:lnTo>
                <a:lnTo>
                  <a:pt x="3826002" y="899795"/>
                </a:lnTo>
                <a:lnTo>
                  <a:pt x="3826002" y="816102"/>
                </a:lnTo>
                <a:lnTo>
                  <a:pt x="3826002" y="262890"/>
                </a:lnTo>
                <a:lnTo>
                  <a:pt x="3826002" y="179959"/>
                </a:lnTo>
                <a:close/>
              </a:path>
            </a:pathLst>
          </a:custGeom>
          <a:solidFill>
            <a:srgbClr val="4F81BC"/>
          </a:solidFill>
        </p:spPr>
        <p:txBody>
          <a:bodyPr wrap="square" lIns="0" tIns="0" rIns="0" bIns="0" rtlCol="0"/>
          <a:lstStyle/>
          <a:p>
            <a:endParaRPr/>
          </a:p>
        </p:txBody>
      </p:sp>
      <p:sp>
        <p:nvSpPr>
          <p:cNvPr id="6" name="object 6"/>
          <p:cNvSpPr txBox="1"/>
          <p:nvPr/>
        </p:nvSpPr>
        <p:spPr>
          <a:xfrm>
            <a:off x="5128767" y="961136"/>
            <a:ext cx="3480435" cy="1260475"/>
          </a:xfrm>
          <a:prstGeom prst="rect">
            <a:avLst/>
          </a:prstGeom>
        </p:spPr>
        <p:txBody>
          <a:bodyPr vert="horz" wrap="square" lIns="0" tIns="12065" rIns="0" bIns="0" rtlCol="0">
            <a:spAutoFit/>
          </a:bodyPr>
          <a:lstStyle/>
          <a:p>
            <a:pPr marL="12700">
              <a:lnSpc>
                <a:spcPct val="100000"/>
              </a:lnSpc>
              <a:spcBef>
                <a:spcPts val="95"/>
              </a:spcBef>
            </a:pPr>
            <a:r>
              <a:rPr sz="2000" b="1" spc="15" dirty="0">
                <a:latin typeface="Times New Roman"/>
                <a:cs typeface="Times New Roman"/>
              </a:rPr>
              <a:t>Syntax</a:t>
            </a:r>
            <a:endParaRPr sz="2000">
              <a:latin typeface="Times New Roman"/>
              <a:cs typeface="Times New Roman"/>
            </a:endParaRPr>
          </a:p>
          <a:p>
            <a:pPr marL="238760">
              <a:lnSpc>
                <a:spcPct val="100000"/>
              </a:lnSpc>
              <a:spcBef>
                <a:spcPts val="1565"/>
              </a:spcBef>
              <a:tabLst>
                <a:tab pos="1527175" algn="l"/>
                <a:tab pos="2803525" algn="l"/>
              </a:tabLst>
            </a:pPr>
            <a:r>
              <a:rPr sz="1600" spc="100" dirty="0">
                <a:solidFill>
                  <a:srgbClr val="FFFFFF"/>
                </a:solidFill>
                <a:latin typeface="Times New Roman"/>
                <a:cs typeface="Times New Roman"/>
              </a:rPr>
              <a:t>CR</a:t>
            </a:r>
            <a:r>
              <a:rPr sz="1600" spc="80" dirty="0">
                <a:solidFill>
                  <a:srgbClr val="FFFFFF"/>
                </a:solidFill>
                <a:latin typeface="Times New Roman"/>
                <a:cs typeface="Times New Roman"/>
              </a:rPr>
              <a:t>E</a:t>
            </a:r>
            <a:r>
              <a:rPr sz="1600" spc="90" dirty="0">
                <a:solidFill>
                  <a:srgbClr val="FFFFFF"/>
                </a:solidFill>
                <a:latin typeface="Times New Roman"/>
                <a:cs typeface="Times New Roman"/>
              </a:rPr>
              <a:t>ATE</a:t>
            </a:r>
            <a:r>
              <a:rPr sz="1600" dirty="0">
                <a:solidFill>
                  <a:srgbClr val="FFFFFF"/>
                </a:solidFill>
                <a:latin typeface="Times New Roman"/>
                <a:cs typeface="Times New Roman"/>
              </a:rPr>
              <a:t>	</a:t>
            </a:r>
            <a:r>
              <a:rPr sz="1600" spc="140" dirty="0">
                <a:solidFill>
                  <a:srgbClr val="FFFFFF"/>
                </a:solidFill>
                <a:latin typeface="Times New Roman"/>
                <a:cs typeface="Times New Roman"/>
              </a:rPr>
              <a:t>U</a:t>
            </a:r>
            <a:r>
              <a:rPr sz="1600" spc="90" dirty="0">
                <a:solidFill>
                  <a:srgbClr val="FFFFFF"/>
                </a:solidFill>
                <a:latin typeface="Times New Roman"/>
                <a:cs typeface="Times New Roman"/>
              </a:rPr>
              <a:t>NI</a:t>
            </a:r>
            <a:r>
              <a:rPr sz="1600" spc="110" dirty="0">
                <a:solidFill>
                  <a:srgbClr val="FFFFFF"/>
                </a:solidFill>
                <a:latin typeface="Times New Roman"/>
                <a:cs typeface="Times New Roman"/>
              </a:rPr>
              <a:t>Q</a:t>
            </a:r>
            <a:r>
              <a:rPr sz="1600" spc="70" dirty="0">
                <a:solidFill>
                  <a:srgbClr val="FFFFFF"/>
                </a:solidFill>
                <a:latin typeface="Times New Roman"/>
                <a:cs typeface="Times New Roman"/>
              </a:rPr>
              <a:t>UE</a:t>
            </a:r>
            <a:r>
              <a:rPr sz="1600" dirty="0">
                <a:solidFill>
                  <a:srgbClr val="FFFFFF"/>
                </a:solidFill>
                <a:latin typeface="Times New Roman"/>
                <a:cs typeface="Times New Roman"/>
              </a:rPr>
              <a:t>	</a:t>
            </a:r>
            <a:r>
              <a:rPr sz="1600" spc="35" dirty="0">
                <a:solidFill>
                  <a:srgbClr val="FFFFFF"/>
                </a:solidFill>
                <a:latin typeface="Times New Roman"/>
                <a:cs typeface="Times New Roman"/>
              </a:rPr>
              <a:t>I</a:t>
            </a:r>
            <a:r>
              <a:rPr sz="1600" spc="65" dirty="0">
                <a:solidFill>
                  <a:srgbClr val="FFFFFF"/>
                </a:solidFill>
                <a:latin typeface="Times New Roman"/>
                <a:cs typeface="Times New Roman"/>
              </a:rPr>
              <a:t>N</a:t>
            </a:r>
            <a:r>
              <a:rPr sz="1600" spc="55" dirty="0">
                <a:solidFill>
                  <a:srgbClr val="FFFFFF"/>
                </a:solidFill>
                <a:latin typeface="Times New Roman"/>
                <a:cs typeface="Times New Roman"/>
              </a:rPr>
              <a:t>D</a:t>
            </a:r>
            <a:r>
              <a:rPr sz="1600" spc="35" dirty="0">
                <a:solidFill>
                  <a:srgbClr val="FFFFFF"/>
                </a:solidFill>
                <a:latin typeface="Times New Roman"/>
                <a:cs typeface="Times New Roman"/>
              </a:rPr>
              <a:t>E</a:t>
            </a:r>
            <a:r>
              <a:rPr sz="1600" spc="45" dirty="0">
                <a:solidFill>
                  <a:srgbClr val="FFFFFF"/>
                </a:solidFill>
                <a:latin typeface="Times New Roman"/>
                <a:cs typeface="Times New Roman"/>
              </a:rPr>
              <a:t>X</a:t>
            </a:r>
            <a:endParaRPr sz="1600">
              <a:latin typeface="Times New Roman"/>
              <a:cs typeface="Times New Roman"/>
            </a:endParaRPr>
          </a:p>
          <a:p>
            <a:pPr marL="238760">
              <a:lnSpc>
                <a:spcPct val="100000"/>
              </a:lnSpc>
            </a:pPr>
            <a:r>
              <a:rPr sz="1600" spc="20" dirty="0">
                <a:solidFill>
                  <a:srgbClr val="FFFFFF"/>
                </a:solidFill>
                <a:latin typeface="Times New Roman"/>
                <a:cs typeface="Times New Roman"/>
              </a:rPr>
              <a:t>index_name</a:t>
            </a:r>
            <a:endParaRPr sz="1600">
              <a:latin typeface="Times New Roman"/>
              <a:cs typeface="Times New Roman"/>
            </a:endParaRPr>
          </a:p>
          <a:p>
            <a:pPr marL="238760">
              <a:lnSpc>
                <a:spcPct val="100000"/>
              </a:lnSpc>
            </a:pPr>
            <a:r>
              <a:rPr sz="1600" spc="165" dirty="0">
                <a:solidFill>
                  <a:srgbClr val="FFFFFF"/>
                </a:solidFill>
                <a:latin typeface="Times New Roman"/>
                <a:cs typeface="Times New Roman"/>
              </a:rPr>
              <a:t>ON</a:t>
            </a:r>
            <a:r>
              <a:rPr sz="1600" spc="-80" dirty="0">
                <a:solidFill>
                  <a:srgbClr val="FFFFFF"/>
                </a:solidFill>
                <a:latin typeface="Times New Roman"/>
                <a:cs typeface="Times New Roman"/>
              </a:rPr>
              <a:t> </a:t>
            </a:r>
            <a:r>
              <a:rPr sz="1600" spc="5" dirty="0">
                <a:solidFill>
                  <a:srgbClr val="FFFFFF"/>
                </a:solidFill>
                <a:latin typeface="Times New Roman"/>
                <a:cs typeface="Times New Roman"/>
              </a:rPr>
              <a:t>table_name(column_list);</a:t>
            </a:r>
            <a:endParaRPr sz="1600">
              <a:latin typeface="Times New Roman"/>
              <a:cs typeface="Times New Roman"/>
            </a:endParaRPr>
          </a:p>
        </p:txBody>
      </p:sp>
      <p:pic>
        <p:nvPicPr>
          <p:cNvPr id="7" name="object 7"/>
          <p:cNvPicPr/>
          <p:nvPr/>
        </p:nvPicPr>
        <p:blipFill>
          <a:blip r:embed="rId3" cstate="print"/>
          <a:stretch>
            <a:fillRect/>
          </a:stretch>
        </p:blipFill>
        <p:spPr>
          <a:xfrm>
            <a:off x="5415534" y="2679192"/>
            <a:ext cx="3460241" cy="3384041"/>
          </a:xfrm>
          <a:prstGeom prst="rect">
            <a:avLst/>
          </a:prstGeom>
        </p:spPr>
      </p:pic>
      <p:sp>
        <p:nvSpPr>
          <p:cNvPr id="8" name="object 8"/>
          <p:cNvSpPr txBox="1"/>
          <p:nvPr/>
        </p:nvSpPr>
        <p:spPr>
          <a:xfrm>
            <a:off x="6802628" y="6009640"/>
            <a:ext cx="1076325" cy="238760"/>
          </a:xfrm>
          <a:prstGeom prst="rect">
            <a:avLst/>
          </a:prstGeom>
        </p:spPr>
        <p:txBody>
          <a:bodyPr vert="horz" wrap="square" lIns="0" tIns="12065" rIns="0" bIns="0" rtlCol="0">
            <a:spAutoFit/>
          </a:bodyPr>
          <a:lstStyle/>
          <a:p>
            <a:pPr marL="12700">
              <a:lnSpc>
                <a:spcPct val="100000"/>
              </a:lnSpc>
              <a:spcBef>
                <a:spcPts val="95"/>
              </a:spcBef>
            </a:pPr>
            <a:r>
              <a:rPr sz="1400" b="1" spc="25" dirty="0">
                <a:latin typeface="Times New Roman"/>
                <a:cs typeface="Times New Roman"/>
              </a:rPr>
              <a:t>Unique</a:t>
            </a:r>
            <a:r>
              <a:rPr sz="1400" b="1" spc="-130"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35</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180715" cy="574040"/>
          </a:xfrm>
          <a:prstGeom prst="rect">
            <a:avLst/>
          </a:prstGeom>
        </p:spPr>
        <p:txBody>
          <a:bodyPr vert="horz" wrap="square" lIns="0" tIns="12700" rIns="0" bIns="0" rtlCol="0">
            <a:spAutoFit/>
          </a:bodyPr>
          <a:lstStyle/>
          <a:p>
            <a:pPr marL="12700">
              <a:lnSpc>
                <a:spcPct val="100000"/>
              </a:lnSpc>
              <a:spcBef>
                <a:spcPts val="100"/>
              </a:spcBef>
            </a:pPr>
            <a:r>
              <a:rPr b="0" spc="95" dirty="0">
                <a:latin typeface="Times New Roman"/>
                <a:cs typeface="Times New Roman"/>
              </a:rPr>
              <a:t>Filtered</a:t>
            </a:r>
            <a:r>
              <a:rPr b="0" spc="-180" dirty="0">
                <a:latin typeface="Times New Roman"/>
                <a:cs typeface="Times New Roman"/>
              </a:rPr>
              <a:t> </a:t>
            </a:r>
            <a:r>
              <a:rPr b="0" spc="125" dirty="0">
                <a:latin typeface="Times New Roman"/>
                <a:cs typeface="Times New Roman"/>
              </a:rPr>
              <a:t>Indexes</a:t>
            </a:r>
          </a:p>
        </p:txBody>
      </p:sp>
      <p:sp>
        <p:nvSpPr>
          <p:cNvPr id="3" name="object 3"/>
          <p:cNvSpPr/>
          <p:nvPr/>
        </p:nvSpPr>
        <p:spPr>
          <a:xfrm>
            <a:off x="569976" y="951737"/>
            <a:ext cx="8117205" cy="965200"/>
          </a:xfrm>
          <a:custGeom>
            <a:avLst/>
            <a:gdLst/>
            <a:ahLst/>
            <a:cxnLst/>
            <a:rect l="l" t="t" r="r" b="b"/>
            <a:pathLst>
              <a:path w="8117205" h="965200">
                <a:moveTo>
                  <a:pt x="8116824" y="160782"/>
                </a:moveTo>
                <a:lnTo>
                  <a:pt x="8108620" y="109982"/>
                </a:lnTo>
                <a:lnTo>
                  <a:pt x="8085785" y="65836"/>
                </a:lnTo>
                <a:lnTo>
                  <a:pt x="8050987" y="31038"/>
                </a:lnTo>
                <a:lnTo>
                  <a:pt x="8006842" y="8204"/>
                </a:lnTo>
                <a:lnTo>
                  <a:pt x="7956042" y="0"/>
                </a:lnTo>
                <a:lnTo>
                  <a:pt x="160782" y="0"/>
                </a:lnTo>
                <a:lnTo>
                  <a:pt x="109956" y="8204"/>
                </a:lnTo>
                <a:lnTo>
                  <a:pt x="65824" y="31038"/>
                </a:lnTo>
                <a:lnTo>
                  <a:pt x="31013" y="65836"/>
                </a:lnTo>
                <a:lnTo>
                  <a:pt x="8191" y="109982"/>
                </a:lnTo>
                <a:lnTo>
                  <a:pt x="0" y="160782"/>
                </a:lnTo>
                <a:lnTo>
                  <a:pt x="0" y="803910"/>
                </a:lnTo>
                <a:lnTo>
                  <a:pt x="8191" y="854722"/>
                </a:lnTo>
                <a:lnTo>
                  <a:pt x="31013" y="898855"/>
                </a:lnTo>
                <a:lnTo>
                  <a:pt x="65824" y="933665"/>
                </a:lnTo>
                <a:lnTo>
                  <a:pt x="109956" y="956500"/>
                </a:lnTo>
                <a:lnTo>
                  <a:pt x="160782" y="964692"/>
                </a:lnTo>
                <a:lnTo>
                  <a:pt x="7956042" y="964692"/>
                </a:lnTo>
                <a:lnTo>
                  <a:pt x="8006842" y="956500"/>
                </a:lnTo>
                <a:lnTo>
                  <a:pt x="8050987" y="933665"/>
                </a:lnTo>
                <a:lnTo>
                  <a:pt x="8085785" y="898855"/>
                </a:lnTo>
                <a:lnTo>
                  <a:pt x="8108620" y="854722"/>
                </a:lnTo>
                <a:lnTo>
                  <a:pt x="8116824" y="803910"/>
                </a:lnTo>
                <a:lnTo>
                  <a:pt x="8116824" y="729234"/>
                </a:lnTo>
                <a:lnTo>
                  <a:pt x="8116824" y="234696"/>
                </a:lnTo>
                <a:lnTo>
                  <a:pt x="8116824" y="160782"/>
                </a:lnTo>
                <a:close/>
              </a:path>
            </a:pathLst>
          </a:custGeom>
          <a:solidFill>
            <a:srgbClr val="00AF50"/>
          </a:solidFill>
        </p:spPr>
        <p:txBody>
          <a:bodyPr wrap="square" lIns="0" tIns="0" rIns="0" bIns="0" rtlCol="0"/>
          <a:lstStyle/>
          <a:p>
            <a:endParaRPr/>
          </a:p>
        </p:txBody>
      </p:sp>
      <p:sp>
        <p:nvSpPr>
          <p:cNvPr id="4" name="object 4"/>
          <p:cNvSpPr txBox="1"/>
          <p:nvPr/>
        </p:nvSpPr>
        <p:spPr>
          <a:xfrm>
            <a:off x="784859" y="1036319"/>
            <a:ext cx="7709534" cy="696595"/>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a:buChar char=""/>
              <a:tabLst>
                <a:tab pos="355600" algn="l"/>
                <a:tab pos="673735" algn="l"/>
                <a:tab pos="993140" algn="l"/>
                <a:tab pos="1252220" algn="l"/>
                <a:tab pos="2958465" algn="l"/>
                <a:tab pos="3772535" algn="l"/>
                <a:tab pos="4450715" algn="l"/>
                <a:tab pos="4710430" algn="l"/>
                <a:tab pos="5949315" algn="l"/>
                <a:tab pos="6562090" algn="l"/>
                <a:tab pos="7448550" algn="l"/>
              </a:tabLst>
            </a:pPr>
            <a:r>
              <a:rPr sz="2200" spc="65" dirty="0">
                <a:solidFill>
                  <a:srgbClr val="FFFFFF"/>
                </a:solidFill>
                <a:latin typeface="Times New Roman"/>
                <a:cs typeface="Times New Roman"/>
              </a:rPr>
              <a:t>I</a:t>
            </a:r>
            <a:r>
              <a:rPr sz="2200" spc="55" dirty="0">
                <a:solidFill>
                  <a:srgbClr val="FFFFFF"/>
                </a:solidFill>
                <a:latin typeface="Times New Roman"/>
                <a:cs typeface="Times New Roman"/>
              </a:rPr>
              <a:t>t</a:t>
            </a:r>
            <a:r>
              <a:rPr sz="2200" dirty="0">
                <a:solidFill>
                  <a:srgbClr val="FFFFFF"/>
                </a:solidFill>
                <a:latin typeface="Times New Roman"/>
                <a:cs typeface="Times New Roman"/>
              </a:rPr>
              <a:t>	i</a:t>
            </a:r>
            <a:r>
              <a:rPr sz="2200" spc="10" dirty="0">
                <a:solidFill>
                  <a:srgbClr val="FFFFFF"/>
                </a:solidFill>
                <a:latin typeface="Times New Roman"/>
                <a:cs typeface="Times New Roman"/>
              </a:rPr>
              <a:t>s</a:t>
            </a:r>
            <a:r>
              <a:rPr sz="220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dirty="0">
                <a:solidFill>
                  <a:srgbClr val="FFFFFF"/>
                </a:solidFill>
                <a:latin typeface="Times New Roman"/>
                <a:cs typeface="Times New Roman"/>
              </a:rPr>
              <a:t>	</a:t>
            </a:r>
            <a:r>
              <a:rPr sz="2200" spc="135" dirty="0">
                <a:solidFill>
                  <a:srgbClr val="FFFFFF"/>
                </a:solidFill>
                <a:latin typeface="Times New Roman"/>
                <a:cs typeface="Times New Roman"/>
              </a:rPr>
              <a:t>non</a:t>
            </a:r>
            <a:r>
              <a:rPr sz="2200" spc="110" dirty="0">
                <a:solidFill>
                  <a:srgbClr val="FFFFFF"/>
                </a:solidFill>
                <a:latin typeface="Times New Roman"/>
                <a:cs typeface="Times New Roman"/>
              </a:rPr>
              <a:t>c</a:t>
            </a:r>
            <a:r>
              <a:rPr sz="2200" spc="60" dirty="0">
                <a:solidFill>
                  <a:srgbClr val="FFFFFF"/>
                </a:solidFill>
                <a:latin typeface="Times New Roman"/>
                <a:cs typeface="Times New Roman"/>
              </a:rPr>
              <a:t>lu</a:t>
            </a:r>
            <a:r>
              <a:rPr sz="2200" spc="45" dirty="0">
                <a:solidFill>
                  <a:srgbClr val="FFFFFF"/>
                </a:solidFill>
                <a:latin typeface="Times New Roman"/>
                <a:cs typeface="Times New Roman"/>
              </a:rPr>
              <a:t>s</a:t>
            </a:r>
            <a:r>
              <a:rPr sz="2200" spc="95" dirty="0">
                <a:solidFill>
                  <a:srgbClr val="FFFFFF"/>
                </a:solidFill>
                <a:latin typeface="Times New Roman"/>
                <a:cs typeface="Times New Roman"/>
              </a:rPr>
              <a:t>tered</a:t>
            </a:r>
            <a:r>
              <a:rPr sz="2200" dirty="0">
                <a:solidFill>
                  <a:srgbClr val="FFFFFF"/>
                </a:solidFill>
                <a:latin typeface="Times New Roman"/>
                <a:cs typeface="Times New Roman"/>
              </a:rPr>
              <a:t>	i</a:t>
            </a:r>
            <a:r>
              <a:rPr sz="2200" spc="170" dirty="0">
                <a:solidFill>
                  <a:srgbClr val="FFFFFF"/>
                </a:solidFill>
                <a:latin typeface="Times New Roman"/>
                <a:cs typeface="Times New Roman"/>
              </a:rPr>
              <a:t>n</a:t>
            </a:r>
            <a:r>
              <a:rPr sz="2200" spc="160" dirty="0">
                <a:solidFill>
                  <a:srgbClr val="FFFFFF"/>
                </a:solidFill>
                <a:latin typeface="Times New Roman"/>
                <a:cs typeface="Times New Roman"/>
              </a:rPr>
              <a:t>d</a:t>
            </a:r>
            <a:r>
              <a:rPr sz="2200" spc="75" dirty="0">
                <a:solidFill>
                  <a:srgbClr val="FFFFFF"/>
                </a:solidFill>
                <a:latin typeface="Times New Roman"/>
                <a:cs typeface="Times New Roman"/>
              </a:rPr>
              <a:t>ex</a:t>
            </a:r>
            <a:r>
              <a:rPr sz="2200" dirty="0">
                <a:solidFill>
                  <a:srgbClr val="FFFFFF"/>
                </a:solidFill>
                <a:latin typeface="Times New Roman"/>
                <a:cs typeface="Times New Roman"/>
              </a:rPr>
              <a:t>	</a:t>
            </a:r>
            <a:r>
              <a:rPr sz="2200" spc="100" dirty="0">
                <a:solidFill>
                  <a:srgbClr val="FFFFFF"/>
                </a:solidFill>
                <a:latin typeface="Times New Roman"/>
                <a:cs typeface="Times New Roman"/>
              </a:rPr>
              <a:t>with</a:t>
            </a:r>
            <a:r>
              <a:rPr sz="220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dirty="0">
                <a:solidFill>
                  <a:srgbClr val="FFFFFF"/>
                </a:solidFill>
                <a:latin typeface="Times New Roman"/>
                <a:cs typeface="Times New Roman"/>
              </a:rPr>
              <a:t>	</a:t>
            </a:r>
            <a:r>
              <a:rPr sz="2200" spc="70" dirty="0">
                <a:solidFill>
                  <a:srgbClr val="FFFFFF"/>
                </a:solidFill>
                <a:latin typeface="Times New Roman"/>
                <a:cs typeface="Times New Roman"/>
              </a:rPr>
              <a:t>predicate</a:t>
            </a:r>
            <a:r>
              <a:rPr sz="2200" dirty="0">
                <a:solidFill>
                  <a:srgbClr val="FFFFFF"/>
                </a:solidFill>
                <a:latin typeface="Times New Roman"/>
                <a:cs typeface="Times New Roman"/>
              </a:rPr>
              <a:t>	</a:t>
            </a:r>
            <a:r>
              <a:rPr sz="2200" spc="114" dirty="0">
                <a:solidFill>
                  <a:srgbClr val="FFFFFF"/>
                </a:solidFill>
                <a:latin typeface="Times New Roman"/>
                <a:cs typeface="Times New Roman"/>
              </a:rPr>
              <a:t>th</a:t>
            </a:r>
            <a:r>
              <a:rPr sz="2200" spc="125" dirty="0">
                <a:solidFill>
                  <a:srgbClr val="FFFFFF"/>
                </a:solidFill>
                <a:latin typeface="Times New Roman"/>
                <a:cs typeface="Times New Roman"/>
              </a:rPr>
              <a:t>a</a:t>
            </a:r>
            <a:r>
              <a:rPr sz="2200" spc="140" dirty="0">
                <a:solidFill>
                  <a:srgbClr val="FFFFFF"/>
                </a:solidFill>
                <a:latin typeface="Times New Roman"/>
                <a:cs typeface="Times New Roman"/>
              </a:rPr>
              <a:t>t</a:t>
            </a:r>
            <a:r>
              <a:rPr sz="2200" dirty="0">
                <a:solidFill>
                  <a:srgbClr val="FFFFFF"/>
                </a:solidFill>
                <a:latin typeface="Times New Roman"/>
                <a:cs typeface="Times New Roman"/>
              </a:rPr>
              <a:t>	</a:t>
            </a:r>
            <a:r>
              <a:rPr sz="2200" spc="35" dirty="0">
                <a:solidFill>
                  <a:srgbClr val="FFFFFF"/>
                </a:solidFill>
                <a:latin typeface="Times New Roman"/>
                <a:cs typeface="Times New Roman"/>
              </a:rPr>
              <a:t>allows</a:t>
            </a:r>
            <a:r>
              <a:rPr sz="2200" dirty="0">
                <a:solidFill>
                  <a:srgbClr val="FFFFFF"/>
                </a:solidFill>
                <a:latin typeface="Times New Roman"/>
                <a:cs typeface="Times New Roman"/>
              </a:rPr>
              <a:t>	</a:t>
            </a:r>
            <a:r>
              <a:rPr sz="2200" spc="95" dirty="0">
                <a:solidFill>
                  <a:srgbClr val="FFFFFF"/>
                </a:solidFill>
                <a:latin typeface="Times New Roman"/>
                <a:cs typeface="Times New Roman"/>
              </a:rPr>
              <a:t>to  </a:t>
            </a:r>
            <a:r>
              <a:rPr sz="2200" spc="30" dirty="0">
                <a:solidFill>
                  <a:srgbClr val="FFFFFF"/>
                </a:solidFill>
                <a:latin typeface="Times New Roman"/>
                <a:cs typeface="Times New Roman"/>
              </a:rPr>
              <a:t>specify</a:t>
            </a:r>
            <a:r>
              <a:rPr sz="2200" spc="-85" dirty="0">
                <a:solidFill>
                  <a:srgbClr val="FFFFFF"/>
                </a:solidFill>
                <a:latin typeface="Times New Roman"/>
                <a:cs typeface="Times New Roman"/>
              </a:rPr>
              <a:t> </a:t>
            </a:r>
            <a:r>
              <a:rPr sz="2200" spc="95" dirty="0">
                <a:solidFill>
                  <a:srgbClr val="FFFFFF"/>
                </a:solidFill>
                <a:latin typeface="Times New Roman"/>
                <a:cs typeface="Times New Roman"/>
              </a:rPr>
              <a:t>which</a:t>
            </a:r>
            <a:r>
              <a:rPr sz="2200" spc="-95" dirty="0">
                <a:solidFill>
                  <a:srgbClr val="FFFFFF"/>
                </a:solidFill>
                <a:latin typeface="Times New Roman"/>
                <a:cs typeface="Times New Roman"/>
              </a:rPr>
              <a:t> </a:t>
            </a:r>
            <a:r>
              <a:rPr sz="2200" spc="65" dirty="0">
                <a:solidFill>
                  <a:srgbClr val="FFFFFF"/>
                </a:solidFill>
                <a:latin typeface="Times New Roman"/>
                <a:cs typeface="Times New Roman"/>
              </a:rPr>
              <a:t>rows</a:t>
            </a:r>
            <a:r>
              <a:rPr sz="2200" spc="-95" dirty="0">
                <a:solidFill>
                  <a:srgbClr val="FFFFFF"/>
                </a:solidFill>
                <a:latin typeface="Times New Roman"/>
                <a:cs typeface="Times New Roman"/>
              </a:rPr>
              <a:t> </a:t>
            </a:r>
            <a:r>
              <a:rPr sz="2200" spc="100" dirty="0">
                <a:solidFill>
                  <a:srgbClr val="FFFFFF"/>
                </a:solidFill>
                <a:latin typeface="Times New Roman"/>
                <a:cs typeface="Times New Roman"/>
              </a:rPr>
              <a:t>should</a:t>
            </a:r>
            <a:r>
              <a:rPr sz="2200" spc="-110" dirty="0">
                <a:solidFill>
                  <a:srgbClr val="FFFFFF"/>
                </a:solidFill>
                <a:latin typeface="Times New Roman"/>
                <a:cs typeface="Times New Roman"/>
              </a:rPr>
              <a:t> </a:t>
            </a:r>
            <a:r>
              <a:rPr sz="2200" spc="75" dirty="0">
                <a:solidFill>
                  <a:srgbClr val="FFFFFF"/>
                </a:solidFill>
                <a:latin typeface="Times New Roman"/>
                <a:cs typeface="Times New Roman"/>
              </a:rPr>
              <a:t>be</a:t>
            </a:r>
            <a:r>
              <a:rPr sz="2200" spc="-95" dirty="0">
                <a:solidFill>
                  <a:srgbClr val="FFFFFF"/>
                </a:solidFill>
                <a:latin typeface="Times New Roman"/>
                <a:cs typeface="Times New Roman"/>
              </a:rPr>
              <a:t> </a:t>
            </a:r>
            <a:r>
              <a:rPr sz="2200" spc="100" dirty="0">
                <a:solidFill>
                  <a:srgbClr val="FFFFFF"/>
                </a:solidFill>
                <a:latin typeface="Times New Roman"/>
                <a:cs typeface="Times New Roman"/>
              </a:rPr>
              <a:t>added</a:t>
            </a:r>
            <a:r>
              <a:rPr sz="2200" spc="-114"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10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95" dirty="0">
                <a:solidFill>
                  <a:srgbClr val="FFFFFF"/>
                </a:solidFill>
                <a:latin typeface="Times New Roman"/>
                <a:cs typeface="Times New Roman"/>
              </a:rPr>
              <a:t> </a:t>
            </a:r>
            <a:r>
              <a:rPr sz="2200" spc="85" dirty="0">
                <a:solidFill>
                  <a:srgbClr val="FFFFFF"/>
                </a:solidFill>
                <a:latin typeface="Times New Roman"/>
                <a:cs typeface="Times New Roman"/>
              </a:rPr>
              <a:t>index.</a:t>
            </a:r>
            <a:endParaRPr sz="2200">
              <a:latin typeface="Times New Roman"/>
              <a:cs typeface="Times New Roman"/>
            </a:endParaRPr>
          </a:p>
        </p:txBody>
      </p:sp>
      <p:pic>
        <p:nvPicPr>
          <p:cNvPr id="5" name="object 5"/>
          <p:cNvPicPr/>
          <p:nvPr/>
        </p:nvPicPr>
        <p:blipFill>
          <a:blip r:embed="rId3" cstate="print"/>
          <a:stretch>
            <a:fillRect/>
          </a:stretch>
        </p:blipFill>
        <p:spPr>
          <a:xfrm>
            <a:off x="591312" y="2789682"/>
            <a:ext cx="3179064" cy="1273302"/>
          </a:xfrm>
          <a:prstGeom prst="rect">
            <a:avLst/>
          </a:prstGeom>
        </p:spPr>
      </p:pic>
      <p:sp>
        <p:nvSpPr>
          <p:cNvPr id="6" name="object 6"/>
          <p:cNvSpPr txBox="1"/>
          <p:nvPr/>
        </p:nvSpPr>
        <p:spPr>
          <a:xfrm>
            <a:off x="784859" y="2961131"/>
            <a:ext cx="2656840" cy="757555"/>
          </a:xfrm>
          <a:prstGeom prst="rect">
            <a:avLst/>
          </a:prstGeom>
        </p:spPr>
        <p:txBody>
          <a:bodyPr vert="horz" wrap="square" lIns="0" tIns="12700" rIns="0" bIns="0" rtlCol="0">
            <a:spAutoFit/>
          </a:bodyPr>
          <a:lstStyle/>
          <a:p>
            <a:pPr marL="12700" marR="5080">
              <a:lnSpc>
                <a:spcPct val="100000"/>
              </a:lnSpc>
              <a:spcBef>
                <a:spcPts val="100"/>
              </a:spcBef>
            </a:pPr>
            <a:r>
              <a:rPr sz="1600" spc="95" dirty="0">
                <a:solidFill>
                  <a:srgbClr val="FFFFFF"/>
                </a:solidFill>
                <a:latin typeface="Times New Roman"/>
                <a:cs typeface="Times New Roman"/>
              </a:rPr>
              <a:t>CREATE</a:t>
            </a:r>
            <a:r>
              <a:rPr sz="1600" spc="-275" dirty="0">
                <a:solidFill>
                  <a:srgbClr val="FFFFFF"/>
                </a:solidFill>
                <a:latin typeface="Times New Roman"/>
                <a:cs typeface="Times New Roman"/>
              </a:rPr>
              <a:t> </a:t>
            </a:r>
            <a:r>
              <a:rPr sz="1600" spc="50" dirty="0">
                <a:solidFill>
                  <a:srgbClr val="FFFFFF"/>
                </a:solidFill>
                <a:latin typeface="Times New Roman"/>
                <a:cs typeface="Times New Roman"/>
              </a:rPr>
              <a:t>INDEX </a:t>
            </a:r>
            <a:r>
              <a:rPr sz="1600" spc="20" dirty="0">
                <a:solidFill>
                  <a:srgbClr val="FFFFFF"/>
                </a:solidFill>
                <a:latin typeface="Times New Roman"/>
                <a:cs typeface="Times New Roman"/>
              </a:rPr>
              <a:t>index_name  </a:t>
            </a:r>
            <a:r>
              <a:rPr sz="1600" spc="165" dirty="0">
                <a:solidFill>
                  <a:srgbClr val="FFFFFF"/>
                </a:solidFill>
                <a:latin typeface="Times New Roman"/>
                <a:cs typeface="Times New Roman"/>
              </a:rPr>
              <a:t>ON </a:t>
            </a:r>
            <a:r>
              <a:rPr sz="1600" spc="5" dirty="0">
                <a:solidFill>
                  <a:srgbClr val="FFFFFF"/>
                </a:solidFill>
                <a:latin typeface="Times New Roman"/>
                <a:cs typeface="Times New Roman"/>
              </a:rPr>
              <a:t>table_name(column_list)  </a:t>
            </a:r>
            <a:r>
              <a:rPr sz="1600" spc="85" dirty="0">
                <a:solidFill>
                  <a:srgbClr val="FFFFFF"/>
                </a:solidFill>
                <a:latin typeface="Times New Roman"/>
                <a:cs typeface="Times New Roman"/>
              </a:rPr>
              <a:t>WHERE</a:t>
            </a:r>
            <a:r>
              <a:rPr sz="1600" spc="-85" dirty="0">
                <a:solidFill>
                  <a:srgbClr val="FFFFFF"/>
                </a:solidFill>
                <a:latin typeface="Times New Roman"/>
                <a:cs typeface="Times New Roman"/>
              </a:rPr>
              <a:t> </a:t>
            </a:r>
            <a:r>
              <a:rPr sz="1600" spc="45" dirty="0">
                <a:solidFill>
                  <a:srgbClr val="FFFFFF"/>
                </a:solidFill>
                <a:latin typeface="Times New Roman"/>
                <a:cs typeface="Times New Roman"/>
              </a:rPr>
              <a:t>predicate;</a:t>
            </a:r>
            <a:endParaRPr sz="1600">
              <a:latin typeface="Times New Roman"/>
              <a:cs typeface="Times New Roman"/>
            </a:endParaRPr>
          </a:p>
        </p:txBody>
      </p:sp>
      <p:sp>
        <p:nvSpPr>
          <p:cNvPr id="7" name="object 7"/>
          <p:cNvSpPr txBox="1"/>
          <p:nvPr/>
        </p:nvSpPr>
        <p:spPr>
          <a:xfrm>
            <a:off x="642619" y="2220975"/>
            <a:ext cx="789305" cy="330200"/>
          </a:xfrm>
          <a:prstGeom prst="rect">
            <a:avLst/>
          </a:prstGeom>
        </p:spPr>
        <p:txBody>
          <a:bodyPr vert="horz" wrap="square" lIns="0" tIns="12065" rIns="0" bIns="0" rtlCol="0">
            <a:spAutoFit/>
          </a:bodyPr>
          <a:lstStyle/>
          <a:p>
            <a:pPr marL="12700">
              <a:lnSpc>
                <a:spcPct val="100000"/>
              </a:lnSpc>
              <a:spcBef>
                <a:spcPts val="95"/>
              </a:spcBef>
            </a:pPr>
            <a:r>
              <a:rPr sz="2000" b="1" spc="60" dirty="0">
                <a:latin typeface="Times New Roman"/>
                <a:cs typeface="Times New Roman"/>
              </a:rPr>
              <a:t>S</a:t>
            </a:r>
            <a:r>
              <a:rPr sz="2000" b="1" spc="-15" dirty="0">
                <a:latin typeface="Times New Roman"/>
                <a:cs typeface="Times New Roman"/>
              </a:rPr>
              <a:t>y</a:t>
            </a:r>
            <a:r>
              <a:rPr sz="2000" b="1" spc="50" dirty="0">
                <a:latin typeface="Times New Roman"/>
                <a:cs typeface="Times New Roman"/>
              </a:rPr>
              <a:t>n</a:t>
            </a:r>
            <a:r>
              <a:rPr sz="2000" b="1" spc="-25" dirty="0">
                <a:latin typeface="Times New Roman"/>
                <a:cs typeface="Times New Roman"/>
              </a:rPr>
              <a:t>t</a:t>
            </a:r>
            <a:r>
              <a:rPr sz="2000" b="1" spc="-60" dirty="0">
                <a:latin typeface="Times New Roman"/>
                <a:cs typeface="Times New Roman"/>
              </a:rPr>
              <a:t>a</a:t>
            </a:r>
            <a:r>
              <a:rPr sz="2000" b="1" spc="90" dirty="0">
                <a:latin typeface="Times New Roman"/>
                <a:cs typeface="Times New Roman"/>
              </a:rPr>
              <a:t>x</a:t>
            </a:r>
            <a:endParaRPr sz="2000">
              <a:latin typeface="Times New Roman"/>
              <a:cs typeface="Times New Roman"/>
            </a:endParaRPr>
          </a:p>
        </p:txBody>
      </p:sp>
      <p:pic>
        <p:nvPicPr>
          <p:cNvPr id="8" name="object 8"/>
          <p:cNvPicPr/>
          <p:nvPr/>
        </p:nvPicPr>
        <p:blipFill>
          <a:blip r:embed="rId4" cstate="print"/>
          <a:stretch>
            <a:fillRect/>
          </a:stretch>
        </p:blipFill>
        <p:spPr>
          <a:xfrm>
            <a:off x="4473702" y="2062733"/>
            <a:ext cx="4431030" cy="3736848"/>
          </a:xfrm>
          <a:prstGeom prst="rect">
            <a:avLst/>
          </a:prstGeom>
        </p:spPr>
      </p:pic>
      <p:sp>
        <p:nvSpPr>
          <p:cNvPr id="9" name="object 9"/>
          <p:cNvSpPr txBox="1"/>
          <p:nvPr/>
        </p:nvSpPr>
        <p:spPr>
          <a:xfrm>
            <a:off x="6313423" y="5871717"/>
            <a:ext cx="108394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Filtered</a:t>
            </a:r>
            <a:r>
              <a:rPr sz="1400" b="1" spc="-130" dirty="0">
                <a:latin typeface="Times New Roman"/>
                <a:cs typeface="Times New Roman"/>
              </a:rPr>
              <a:t> </a:t>
            </a:r>
            <a:r>
              <a:rPr sz="1400" b="1" dirty="0">
                <a:latin typeface="Times New Roman"/>
                <a:cs typeface="Times New Roman"/>
              </a:rPr>
              <a:t>Index</a:t>
            </a:r>
            <a:endParaRPr sz="14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36</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916930" cy="574040"/>
          </a:xfrm>
          <a:prstGeom prst="rect">
            <a:avLst/>
          </a:prstGeom>
        </p:spPr>
        <p:txBody>
          <a:bodyPr vert="horz" wrap="square" lIns="0" tIns="12700" rIns="0" bIns="0" rtlCol="0">
            <a:spAutoFit/>
          </a:bodyPr>
          <a:lstStyle/>
          <a:p>
            <a:pPr marL="12700">
              <a:lnSpc>
                <a:spcPct val="100000"/>
              </a:lnSpc>
              <a:spcBef>
                <a:spcPts val="100"/>
              </a:spcBef>
            </a:pPr>
            <a:r>
              <a:rPr b="0" spc="140" dirty="0">
                <a:latin typeface="Times New Roman"/>
                <a:cs typeface="Times New Roman"/>
              </a:rPr>
              <a:t>Partitioned</a:t>
            </a:r>
            <a:r>
              <a:rPr b="0" spc="-150" dirty="0">
                <a:latin typeface="Times New Roman"/>
                <a:cs typeface="Times New Roman"/>
              </a:rPr>
              <a:t> </a:t>
            </a:r>
            <a:r>
              <a:rPr b="0" spc="125" dirty="0">
                <a:latin typeface="Times New Roman"/>
                <a:cs typeface="Times New Roman"/>
              </a:rPr>
              <a:t>Table</a:t>
            </a:r>
            <a:r>
              <a:rPr b="0" spc="-165" dirty="0">
                <a:latin typeface="Times New Roman"/>
                <a:cs typeface="Times New Roman"/>
              </a:rPr>
              <a:t> </a:t>
            </a:r>
            <a:r>
              <a:rPr b="0" spc="204" dirty="0">
                <a:latin typeface="Times New Roman"/>
                <a:cs typeface="Times New Roman"/>
              </a:rPr>
              <a:t>and</a:t>
            </a:r>
            <a:r>
              <a:rPr b="0" spc="-150" dirty="0">
                <a:latin typeface="Times New Roman"/>
                <a:cs typeface="Times New Roman"/>
              </a:rPr>
              <a:t> </a:t>
            </a:r>
            <a:r>
              <a:rPr b="0" spc="125" dirty="0">
                <a:latin typeface="Times New Roman"/>
                <a:cs typeface="Times New Roman"/>
              </a:rPr>
              <a:t>Indexes</a:t>
            </a:r>
          </a:p>
        </p:txBody>
      </p:sp>
      <p:sp>
        <p:nvSpPr>
          <p:cNvPr id="3" name="object 3"/>
          <p:cNvSpPr/>
          <p:nvPr/>
        </p:nvSpPr>
        <p:spPr>
          <a:xfrm>
            <a:off x="569976" y="951737"/>
            <a:ext cx="8117205" cy="1622425"/>
          </a:xfrm>
          <a:custGeom>
            <a:avLst/>
            <a:gdLst/>
            <a:ahLst/>
            <a:cxnLst/>
            <a:rect l="l" t="t" r="r" b="b"/>
            <a:pathLst>
              <a:path w="8117205" h="1622425">
                <a:moveTo>
                  <a:pt x="8116824" y="270383"/>
                </a:moveTo>
                <a:lnTo>
                  <a:pt x="8112468" y="221780"/>
                </a:lnTo>
                <a:lnTo>
                  <a:pt x="8099907" y="176034"/>
                </a:lnTo>
                <a:lnTo>
                  <a:pt x="8079905" y="133908"/>
                </a:lnTo>
                <a:lnTo>
                  <a:pt x="8053235" y="96177"/>
                </a:lnTo>
                <a:lnTo>
                  <a:pt x="8020647" y="63588"/>
                </a:lnTo>
                <a:lnTo>
                  <a:pt x="7982915" y="36918"/>
                </a:lnTo>
                <a:lnTo>
                  <a:pt x="7940789" y="16916"/>
                </a:lnTo>
                <a:lnTo>
                  <a:pt x="7895044" y="4356"/>
                </a:lnTo>
                <a:lnTo>
                  <a:pt x="7846441" y="0"/>
                </a:lnTo>
                <a:lnTo>
                  <a:pt x="270383" y="0"/>
                </a:lnTo>
                <a:lnTo>
                  <a:pt x="221780" y="4356"/>
                </a:lnTo>
                <a:lnTo>
                  <a:pt x="176034" y="16916"/>
                </a:lnTo>
                <a:lnTo>
                  <a:pt x="133908" y="36918"/>
                </a:lnTo>
                <a:lnTo>
                  <a:pt x="96177" y="63588"/>
                </a:lnTo>
                <a:lnTo>
                  <a:pt x="63588" y="96177"/>
                </a:lnTo>
                <a:lnTo>
                  <a:pt x="36906" y="133908"/>
                </a:lnTo>
                <a:lnTo>
                  <a:pt x="16903" y="176034"/>
                </a:lnTo>
                <a:lnTo>
                  <a:pt x="4356" y="221780"/>
                </a:lnTo>
                <a:lnTo>
                  <a:pt x="0" y="270383"/>
                </a:lnTo>
                <a:lnTo>
                  <a:pt x="0" y="1351915"/>
                </a:lnTo>
                <a:lnTo>
                  <a:pt x="4356" y="1400530"/>
                </a:lnTo>
                <a:lnTo>
                  <a:pt x="16903" y="1446276"/>
                </a:lnTo>
                <a:lnTo>
                  <a:pt x="36906" y="1488401"/>
                </a:lnTo>
                <a:lnTo>
                  <a:pt x="63588" y="1526133"/>
                </a:lnTo>
                <a:lnTo>
                  <a:pt x="96177" y="1558721"/>
                </a:lnTo>
                <a:lnTo>
                  <a:pt x="133908" y="1585391"/>
                </a:lnTo>
                <a:lnTo>
                  <a:pt x="176034" y="1605394"/>
                </a:lnTo>
                <a:lnTo>
                  <a:pt x="221780" y="1617954"/>
                </a:lnTo>
                <a:lnTo>
                  <a:pt x="270383" y="1622298"/>
                </a:lnTo>
                <a:lnTo>
                  <a:pt x="7846441" y="1622298"/>
                </a:lnTo>
                <a:lnTo>
                  <a:pt x="7895044" y="1617954"/>
                </a:lnTo>
                <a:lnTo>
                  <a:pt x="7940789" y="1605394"/>
                </a:lnTo>
                <a:lnTo>
                  <a:pt x="7982915" y="1585391"/>
                </a:lnTo>
                <a:lnTo>
                  <a:pt x="8020647" y="1558721"/>
                </a:lnTo>
                <a:lnTo>
                  <a:pt x="8053235" y="1526133"/>
                </a:lnTo>
                <a:lnTo>
                  <a:pt x="8079905" y="1488401"/>
                </a:lnTo>
                <a:lnTo>
                  <a:pt x="8099907" y="1446276"/>
                </a:lnTo>
                <a:lnTo>
                  <a:pt x="8112468" y="1400530"/>
                </a:lnTo>
                <a:lnTo>
                  <a:pt x="8116824" y="1351915"/>
                </a:lnTo>
                <a:lnTo>
                  <a:pt x="8116824" y="1227582"/>
                </a:lnTo>
                <a:lnTo>
                  <a:pt x="8116824" y="395490"/>
                </a:lnTo>
                <a:lnTo>
                  <a:pt x="8116824" y="270383"/>
                </a:lnTo>
                <a:close/>
              </a:path>
            </a:pathLst>
          </a:custGeom>
          <a:solidFill>
            <a:srgbClr val="4F81BC"/>
          </a:solidFill>
        </p:spPr>
        <p:txBody>
          <a:bodyPr wrap="square" lIns="0" tIns="0" rIns="0" bIns="0" rtlCol="0"/>
          <a:lstStyle/>
          <a:p>
            <a:endParaRPr/>
          </a:p>
        </p:txBody>
      </p:sp>
      <p:sp>
        <p:nvSpPr>
          <p:cNvPr id="4" name="object 4"/>
          <p:cNvSpPr txBox="1"/>
          <p:nvPr/>
        </p:nvSpPr>
        <p:spPr>
          <a:xfrm>
            <a:off x="842517" y="1186687"/>
            <a:ext cx="7710805" cy="1031875"/>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5600" algn="l"/>
              </a:tabLst>
            </a:pPr>
            <a:r>
              <a:rPr sz="2200" spc="110" dirty="0">
                <a:solidFill>
                  <a:srgbClr val="FFFFFF"/>
                </a:solidFill>
                <a:latin typeface="Times New Roman"/>
                <a:cs typeface="Times New Roman"/>
              </a:rPr>
              <a:t>SQL</a:t>
            </a:r>
            <a:r>
              <a:rPr sz="2200" spc="-95" dirty="0">
                <a:solidFill>
                  <a:srgbClr val="FFFFFF"/>
                </a:solidFill>
                <a:latin typeface="Times New Roman"/>
                <a:cs typeface="Times New Roman"/>
              </a:rPr>
              <a:t> </a:t>
            </a:r>
            <a:r>
              <a:rPr sz="2200" spc="70" dirty="0">
                <a:solidFill>
                  <a:srgbClr val="FFFFFF"/>
                </a:solidFill>
                <a:latin typeface="Times New Roman"/>
                <a:cs typeface="Times New Roman"/>
              </a:rPr>
              <a:t>Server</a:t>
            </a:r>
            <a:r>
              <a:rPr sz="2200" spc="-95" dirty="0">
                <a:solidFill>
                  <a:srgbClr val="FFFFFF"/>
                </a:solidFill>
                <a:latin typeface="Times New Roman"/>
                <a:cs typeface="Times New Roman"/>
              </a:rPr>
              <a:t> </a:t>
            </a:r>
            <a:r>
              <a:rPr sz="2200" spc="95" dirty="0">
                <a:solidFill>
                  <a:srgbClr val="FFFFFF"/>
                </a:solidFill>
                <a:latin typeface="Times New Roman"/>
                <a:cs typeface="Times New Roman"/>
              </a:rPr>
              <a:t>supports</a:t>
            </a:r>
            <a:r>
              <a:rPr sz="2200" spc="-110" dirty="0">
                <a:solidFill>
                  <a:srgbClr val="FFFFFF"/>
                </a:solidFill>
                <a:latin typeface="Times New Roman"/>
                <a:cs typeface="Times New Roman"/>
              </a:rPr>
              <a:t> </a:t>
            </a:r>
            <a:r>
              <a:rPr sz="2200" spc="135" dirty="0">
                <a:solidFill>
                  <a:srgbClr val="FFFFFF"/>
                </a:solidFill>
                <a:latin typeface="Times New Roman"/>
                <a:cs typeface="Times New Roman"/>
              </a:rPr>
              <a:t>both</a:t>
            </a:r>
            <a:r>
              <a:rPr sz="2200" spc="-105" dirty="0">
                <a:solidFill>
                  <a:srgbClr val="FFFFFF"/>
                </a:solidFill>
                <a:latin typeface="Times New Roman"/>
                <a:cs typeface="Times New Roman"/>
              </a:rPr>
              <a:t> </a:t>
            </a:r>
            <a:r>
              <a:rPr sz="2200" spc="65" dirty="0">
                <a:solidFill>
                  <a:srgbClr val="FFFFFF"/>
                </a:solidFill>
                <a:latin typeface="Times New Roman"/>
                <a:cs typeface="Times New Roman"/>
              </a:rPr>
              <a:t>table</a:t>
            </a:r>
            <a:r>
              <a:rPr sz="2200" spc="-105" dirty="0">
                <a:solidFill>
                  <a:srgbClr val="FFFFFF"/>
                </a:solidFill>
                <a:latin typeface="Times New Roman"/>
                <a:cs typeface="Times New Roman"/>
              </a:rPr>
              <a:t> </a:t>
            </a:r>
            <a:r>
              <a:rPr sz="2200" spc="125" dirty="0">
                <a:solidFill>
                  <a:srgbClr val="FFFFFF"/>
                </a:solidFill>
                <a:latin typeface="Times New Roman"/>
                <a:cs typeface="Times New Roman"/>
              </a:rPr>
              <a:t>and</a:t>
            </a:r>
            <a:r>
              <a:rPr sz="2200" spc="-105" dirty="0">
                <a:solidFill>
                  <a:srgbClr val="FFFFFF"/>
                </a:solidFill>
                <a:latin typeface="Times New Roman"/>
                <a:cs typeface="Times New Roman"/>
              </a:rPr>
              <a:t> </a:t>
            </a:r>
            <a:r>
              <a:rPr sz="2200" spc="100" dirty="0">
                <a:solidFill>
                  <a:srgbClr val="FFFFFF"/>
                </a:solidFill>
                <a:latin typeface="Times New Roman"/>
                <a:cs typeface="Times New Roman"/>
              </a:rPr>
              <a:t>index</a:t>
            </a:r>
            <a:r>
              <a:rPr sz="2200" spc="-105" dirty="0">
                <a:solidFill>
                  <a:srgbClr val="FFFFFF"/>
                </a:solidFill>
                <a:latin typeface="Times New Roman"/>
                <a:cs typeface="Times New Roman"/>
              </a:rPr>
              <a:t> </a:t>
            </a:r>
            <a:r>
              <a:rPr sz="2200" spc="80" dirty="0">
                <a:solidFill>
                  <a:srgbClr val="FFFFFF"/>
                </a:solidFill>
                <a:latin typeface="Times New Roman"/>
                <a:cs typeface="Times New Roman"/>
              </a:rPr>
              <a:t>partitioning.</a:t>
            </a:r>
            <a:endParaRPr sz="2200">
              <a:latin typeface="Times New Roman"/>
              <a:cs typeface="Times New Roman"/>
            </a:endParaRPr>
          </a:p>
          <a:p>
            <a:pPr marL="355600" marR="5080" indent="-342900">
              <a:lnSpc>
                <a:spcPct val="100000"/>
              </a:lnSpc>
              <a:buFont typeface="Wingdings"/>
              <a:buChar char=""/>
              <a:tabLst>
                <a:tab pos="355600" algn="l"/>
              </a:tabLst>
            </a:pPr>
            <a:r>
              <a:rPr sz="2200" spc="75" dirty="0">
                <a:solidFill>
                  <a:srgbClr val="FFFFFF"/>
                </a:solidFill>
                <a:latin typeface="Times New Roman"/>
                <a:cs typeface="Times New Roman"/>
              </a:rPr>
              <a:t>Partitioning </a:t>
            </a:r>
            <a:r>
              <a:rPr sz="2200" spc="30" dirty="0">
                <a:solidFill>
                  <a:srgbClr val="FFFFFF"/>
                </a:solidFill>
                <a:latin typeface="Times New Roman"/>
                <a:cs typeface="Times New Roman"/>
              </a:rPr>
              <a:t>large </a:t>
            </a:r>
            <a:r>
              <a:rPr sz="2200" spc="50" dirty="0">
                <a:solidFill>
                  <a:srgbClr val="FFFFFF"/>
                </a:solidFill>
                <a:latin typeface="Times New Roman"/>
                <a:cs typeface="Times New Roman"/>
              </a:rPr>
              <a:t>tables </a:t>
            </a:r>
            <a:r>
              <a:rPr sz="2200" spc="95" dirty="0">
                <a:solidFill>
                  <a:srgbClr val="FFFFFF"/>
                </a:solidFill>
                <a:latin typeface="Times New Roman"/>
                <a:cs typeface="Times New Roman"/>
              </a:rPr>
              <a:t>or </a:t>
            </a:r>
            <a:r>
              <a:rPr sz="2200" spc="75" dirty="0">
                <a:solidFill>
                  <a:srgbClr val="FFFFFF"/>
                </a:solidFill>
                <a:latin typeface="Times New Roman"/>
                <a:cs typeface="Times New Roman"/>
              </a:rPr>
              <a:t>indexes </a:t>
            </a:r>
            <a:r>
              <a:rPr sz="2200" spc="85" dirty="0">
                <a:solidFill>
                  <a:srgbClr val="FFFFFF"/>
                </a:solidFill>
                <a:latin typeface="Times New Roman"/>
                <a:cs typeface="Times New Roman"/>
              </a:rPr>
              <a:t>can </a:t>
            </a:r>
            <a:r>
              <a:rPr sz="2200" spc="80" dirty="0">
                <a:solidFill>
                  <a:srgbClr val="FFFFFF"/>
                </a:solidFill>
                <a:latin typeface="Times New Roman"/>
                <a:cs typeface="Times New Roman"/>
              </a:rPr>
              <a:t>have </a:t>
            </a:r>
            <a:r>
              <a:rPr sz="2200" spc="120" dirty="0">
                <a:solidFill>
                  <a:srgbClr val="FFFFFF"/>
                </a:solidFill>
                <a:latin typeface="Times New Roman"/>
                <a:cs typeface="Times New Roman"/>
              </a:rPr>
              <a:t>the </a:t>
            </a:r>
            <a:r>
              <a:rPr sz="2200" spc="50" dirty="0">
                <a:solidFill>
                  <a:srgbClr val="FFFFFF"/>
                </a:solidFill>
                <a:latin typeface="Times New Roman"/>
                <a:cs typeface="Times New Roman"/>
              </a:rPr>
              <a:t>following  </a:t>
            </a:r>
            <a:r>
              <a:rPr sz="2200" spc="55" dirty="0">
                <a:solidFill>
                  <a:srgbClr val="FFFFFF"/>
                </a:solidFill>
                <a:latin typeface="Times New Roman"/>
                <a:cs typeface="Times New Roman"/>
              </a:rPr>
              <a:t>manageability</a:t>
            </a:r>
            <a:r>
              <a:rPr sz="2200" spc="-120" dirty="0">
                <a:solidFill>
                  <a:srgbClr val="FFFFFF"/>
                </a:solidFill>
                <a:latin typeface="Times New Roman"/>
                <a:cs typeface="Times New Roman"/>
              </a:rPr>
              <a:t> </a:t>
            </a:r>
            <a:r>
              <a:rPr sz="2200" spc="125" dirty="0">
                <a:solidFill>
                  <a:srgbClr val="FFFFFF"/>
                </a:solidFill>
                <a:latin typeface="Times New Roman"/>
                <a:cs typeface="Times New Roman"/>
              </a:rPr>
              <a:t>and</a:t>
            </a:r>
            <a:r>
              <a:rPr sz="2200" spc="-100" dirty="0">
                <a:solidFill>
                  <a:srgbClr val="FFFFFF"/>
                </a:solidFill>
                <a:latin typeface="Times New Roman"/>
                <a:cs typeface="Times New Roman"/>
              </a:rPr>
              <a:t> </a:t>
            </a:r>
            <a:r>
              <a:rPr sz="2200" spc="80" dirty="0">
                <a:solidFill>
                  <a:srgbClr val="FFFFFF"/>
                </a:solidFill>
                <a:latin typeface="Times New Roman"/>
                <a:cs typeface="Times New Roman"/>
              </a:rPr>
              <a:t>performance</a:t>
            </a:r>
            <a:r>
              <a:rPr sz="2200" spc="-95" dirty="0">
                <a:solidFill>
                  <a:srgbClr val="FFFFFF"/>
                </a:solidFill>
                <a:latin typeface="Times New Roman"/>
                <a:cs typeface="Times New Roman"/>
              </a:rPr>
              <a:t> </a:t>
            </a:r>
            <a:r>
              <a:rPr sz="2200" spc="65" dirty="0">
                <a:solidFill>
                  <a:srgbClr val="FFFFFF"/>
                </a:solidFill>
                <a:latin typeface="Times New Roman"/>
                <a:cs typeface="Times New Roman"/>
              </a:rPr>
              <a:t>benefits.</a:t>
            </a:r>
            <a:endParaRPr sz="2200">
              <a:latin typeface="Times New Roman"/>
              <a:cs typeface="Times New Roman"/>
            </a:endParaRPr>
          </a:p>
        </p:txBody>
      </p:sp>
      <p:pic>
        <p:nvPicPr>
          <p:cNvPr id="5" name="object 5"/>
          <p:cNvPicPr/>
          <p:nvPr/>
        </p:nvPicPr>
        <p:blipFill>
          <a:blip r:embed="rId3" cstate="print"/>
          <a:stretch>
            <a:fillRect/>
          </a:stretch>
        </p:blipFill>
        <p:spPr>
          <a:xfrm>
            <a:off x="1324355" y="2880360"/>
            <a:ext cx="7006590" cy="3733038"/>
          </a:xfrm>
          <a:prstGeom prst="rect">
            <a:avLst/>
          </a:prstGeom>
        </p:spPr>
      </p:pic>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37</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317875" cy="574040"/>
          </a:xfrm>
          <a:prstGeom prst="rect">
            <a:avLst/>
          </a:prstGeom>
        </p:spPr>
        <p:txBody>
          <a:bodyPr vert="horz" wrap="square" lIns="0" tIns="12700" rIns="0" bIns="0" rtlCol="0">
            <a:spAutoFit/>
          </a:bodyPr>
          <a:lstStyle/>
          <a:p>
            <a:pPr marL="12700">
              <a:lnSpc>
                <a:spcPct val="100000"/>
              </a:lnSpc>
              <a:spcBef>
                <a:spcPts val="100"/>
              </a:spcBef>
            </a:pPr>
            <a:r>
              <a:rPr b="0" spc="60" dirty="0">
                <a:latin typeface="Times New Roman"/>
                <a:cs typeface="Times New Roman"/>
              </a:rPr>
              <a:t>XML </a:t>
            </a:r>
            <a:r>
              <a:rPr b="0" spc="125" dirty="0">
                <a:latin typeface="Times New Roman"/>
                <a:cs typeface="Times New Roman"/>
              </a:rPr>
              <a:t>Indexes</a:t>
            </a:r>
            <a:r>
              <a:rPr b="0" spc="-420" dirty="0">
                <a:latin typeface="Times New Roman"/>
                <a:cs typeface="Times New Roman"/>
              </a:rPr>
              <a:t> </a:t>
            </a:r>
            <a:r>
              <a:rPr b="0" spc="-225" dirty="0">
                <a:latin typeface="Times New Roman"/>
                <a:cs typeface="Times New Roman"/>
              </a:rPr>
              <a:t>1-2</a:t>
            </a:r>
          </a:p>
        </p:txBody>
      </p:sp>
      <p:sp>
        <p:nvSpPr>
          <p:cNvPr id="3" name="object 3"/>
          <p:cNvSpPr/>
          <p:nvPr/>
        </p:nvSpPr>
        <p:spPr>
          <a:xfrm>
            <a:off x="541020" y="826007"/>
            <a:ext cx="8117205" cy="1663064"/>
          </a:xfrm>
          <a:custGeom>
            <a:avLst/>
            <a:gdLst/>
            <a:ahLst/>
            <a:cxnLst/>
            <a:rect l="l" t="t" r="r" b="b"/>
            <a:pathLst>
              <a:path w="8117205" h="1663064">
                <a:moveTo>
                  <a:pt x="8116824" y="277114"/>
                </a:moveTo>
                <a:lnTo>
                  <a:pt x="8112353" y="227317"/>
                </a:lnTo>
                <a:lnTo>
                  <a:pt x="8099476" y="180428"/>
                </a:lnTo>
                <a:lnTo>
                  <a:pt x="8078978" y="137261"/>
                </a:lnTo>
                <a:lnTo>
                  <a:pt x="8051635" y="98590"/>
                </a:lnTo>
                <a:lnTo>
                  <a:pt x="8018234" y="65189"/>
                </a:lnTo>
                <a:lnTo>
                  <a:pt x="7979562" y="37846"/>
                </a:lnTo>
                <a:lnTo>
                  <a:pt x="7936395" y="17348"/>
                </a:lnTo>
                <a:lnTo>
                  <a:pt x="7889507" y="4470"/>
                </a:lnTo>
                <a:lnTo>
                  <a:pt x="7839710" y="0"/>
                </a:lnTo>
                <a:lnTo>
                  <a:pt x="277126" y="0"/>
                </a:lnTo>
                <a:lnTo>
                  <a:pt x="227304" y="4470"/>
                </a:lnTo>
                <a:lnTo>
                  <a:pt x="180416" y="17348"/>
                </a:lnTo>
                <a:lnTo>
                  <a:pt x="137248" y="37846"/>
                </a:lnTo>
                <a:lnTo>
                  <a:pt x="98564" y="65189"/>
                </a:lnTo>
                <a:lnTo>
                  <a:pt x="65163" y="98590"/>
                </a:lnTo>
                <a:lnTo>
                  <a:pt x="37833" y="137261"/>
                </a:lnTo>
                <a:lnTo>
                  <a:pt x="17335" y="180428"/>
                </a:lnTo>
                <a:lnTo>
                  <a:pt x="4457" y="227317"/>
                </a:lnTo>
                <a:lnTo>
                  <a:pt x="0" y="277114"/>
                </a:lnTo>
                <a:lnTo>
                  <a:pt x="0" y="1385570"/>
                </a:lnTo>
                <a:lnTo>
                  <a:pt x="4457" y="1435379"/>
                </a:lnTo>
                <a:lnTo>
                  <a:pt x="17335" y="1482267"/>
                </a:lnTo>
                <a:lnTo>
                  <a:pt x="37833" y="1525435"/>
                </a:lnTo>
                <a:lnTo>
                  <a:pt x="65163" y="1564106"/>
                </a:lnTo>
                <a:lnTo>
                  <a:pt x="98564" y="1597507"/>
                </a:lnTo>
                <a:lnTo>
                  <a:pt x="137248" y="1624850"/>
                </a:lnTo>
                <a:lnTo>
                  <a:pt x="180416" y="1645348"/>
                </a:lnTo>
                <a:lnTo>
                  <a:pt x="227304" y="1658226"/>
                </a:lnTo>
                <a:lnTo>
                  <a:pt x="277126" y="1662684"/>
                </a:lnTo>
                <a:lnTo>
                  <a:pt x="7839710" y="1662684"/>
                </a:lnTo>
                <a:lnTo>
                  <a:pt x="7889507" y="1658226"/>
                </a:lnTo>
                <a:lnTo>
                  <a:pt x="7936395" y="1645348"/>
                </a:lnTo>
                <a:lnTo>
                  <a:pt x="7979562" y="1624850"/>
                </a:lnTo>
                <a:lnTo>
                  <a:pt x="8018234" y="1597507"/>
                </a:lnTo>
                <a:lnTo>
                  <a:pt x="8051635" y="1564106"/>
                </a:lnTo>
                <a:lnTo>
                  <a:pt x="8078978" y="1525435"/>
                </a:lnTo>
                <a:lnTo>
                  <a:pt x="8099476" y="1482267"/>
                </a:lnTo>
                <a:lnTo>
                  <a:pt x="8112353" y="1435379"/>
                </a:lnTo>
                <a:lnTo>
                  <a:pt x="8116824" y="1385570"/>
                </a:lnTo>
                <a:lnTo>
                  <a:pt x="8116824" y="1257300"/>
                </a:lnTo>
                <a:lnTo>
                  <a:pt x="8116824" y="404634"/>
                </a:lnTo>
                <a:lnTo>
                  <a:pt x="8116824" y="277114"/>
                </a:lnTo>
                <a:close/>
              </a:path>
            </a:pathLst>
          </a:custGeom>
          <a:solidFill>
            <a:srgbClr val="0580C3"/>
          </a:solidFill>
        </p:spPr>
        <p:txBody>
          <a:bodyPr wrap="square" lIns="0" tIns="0" rIns="0" bIns="0" rtlCol="0"/>
          <a:lstStyle/>
          <a:p>
            <a:endParaRPr/>
          </a:p>
        </p:txBody>
      </p:sp>
      <p:sp>
        <p:nvSpPr>
          <p:cNvPr id="4" name="object 4"/>
          <p:cNvSpPr txBox="1"/>
          <p:nvPr/>
        </p:nvSpPr>
        <p:spPr>
          <a:xfrm>
            <a:off x="842517" y="911097"/>
            <a:ext cx="7515859" cy="1367790"/>
          </a:xfrm>
          <a:prstGeom prst="rect">
            <a:avLst/>
          </a:prstGeom>
        </p:spPr>
        <p:txBody>
          <a:bodyPr vert="horz" wrap="square" lIns="0" tIns="13335" rIns="0" bIns="0" rtlCol="0">
            <a:spAutoFit/>
          </a:bodyPr>
          <a:lstStyle/>
          <a:p>
            <a:pPr marL="355600" marR="5080" indent="-342900">
              <a:lnSpc>
                <a:spcPct val="100000"/>
              </a:lnSpc>
              <a:spcBef>
                <a:spcPts val="105"/>
              </a:spcBef>
              <a:buFont typeface="Wingdings"/>
              <a:buChar char=""/>
              <a:tabLst>
                <a:tab pos="355600" algn="l"/>
              </a:tabLst>
            </a:pPr>
            <a:r>
              <a:rPr sz="2200" spc="40" dirty="0">
                <a:solidFill>
                  <a:srgbClr val="FFFFFF"/>
                </a:solidFill>
                <a:latin typeface="Times New Roman"/>
                <a:cs typeface="Times New Roman"/>
              </a:rPr>
              <a:t>XML </a:t>
            </a:r>
            <a:r>
              <a:rPr sz="2200" spc="85" dirty="0">
                <a:solidFill>
                  <a:srgbClr val="FFFFFF"/>
                </a:solidFill>
                <a:latin typeface="Times New Roman"/>
                <a:cs typeface="Times New Roman"/>
              </a:rPr>
              <a:t>data </a:t>
            </a:r>
            <a:r>
              <a:rPr sz="2200" spc="5" dirty="0">
                <a:solidFill>
                  <a:srgbClr val="FFFFFF"/>
                </a:solidFill>
                <a:latin typeface="Times New Roman"/>
                <a:cs typeface="Times New Roman"/>
              </a:rPr>
              <a:t>is </a:t>
            </a:r>
            <a:r>
              <a:rPr sz="2200" spc="85" dirty="0">
                <a:solidFill>
                  <a:srgbClr val="FFFFFF"/>
                </a:solidFill>
                <a:latin typeface="Times New Roman"/>
                <a:cs typeface="Times New Roman"/>
              </a:rPr>
              <a:t>stored </a:t>
            </a:r>
            <a:r>
              <a:rPr sz="2200" spc="105" dirty="0">
                <a:solidFill>
                  <a:srgbClr val="FFFFFF"/>
                </a:solidFill>
                <a:latin typeface="Times New Roman"/>
                <a:cs typeface="Times New Roman"/>
              </a:rPr>
              <a:t>in </a:t>
            </a:r>
            <a:r>
              <a:rPr sz="2200" spc="70" dirty="0">
                <a:solidFill>
                  <a:srgbClr val="FFFFFF"/>
                </a:solidFill>
                <a:latin typeface="Times New Roman"/>
                <a:cs typeface="Times New Roman"/>
              </a:rPr>
              <a:t>xml </a:t>
            </a:r>
            <a:r>
              <a:rPr sz="2200" spc="75" dirty="0">
                <a:solidFill>
                  <a:srgbClr val="FFFFFF"/>
                </a:solidFill>
                <a:latin typeface="Times New Roman"/>
                <a:cs typeface="Times New Roman"/>
              </a:rPr>
              <a:t>type </a:t>
            </a:r>
            <a:r>
              <a:rPr sz="2200" spc="85" dirty="0">
                <a:solidFill>
                  <a:srgbClr val="FFFFFF"/>
                </a:solidFill>
                <a:latin typeface="Times New Roman"/>
                <a:cs typeface="Times New Roman"/>
              </a:rPr>
              <a:t>columns </a:t>
            </a:r>
            <a:r>
              <a:rPr sz="2200" spc="20" dirty="0">
                <a:solidFill>
                  <a:srgbClr val="FFFFFF"/>
                </a:solidFill>
                <a:latin typeface="Times New Roman"/>
                <a:cs typeface="Times New Roman"/>
              </a:rPr>
              <a:t>as </a:t>
            </a:r>
            <a:r>
              <a:rPr sz="2200" spc="30" dirty="0">
                <a:solidFill>
                  <a:srgbClr val="FFFFFF"/>
                </a:solidFill>
                <a:latin typeface="Times New Roman"/>
                <a:cs typeface="Times New Roman"/>
              </a:rPr>
              <a:t>large </a:t>
            </a:r>
            <a:r>
              <a:rPr sz="2200" spc="70" dirty="0">
                <a:solidFill>
                  <a:srgbClr val="FFFFFF"/>
                </a:solidFill>
                <a:latin typeface="Times New Roman"/>
                <a:cs typeface="Times New Roman"/>
              </a:rPr>
              <a:t>binary  </a:t>
            </a:r>
            <a:r>
              <a:rPr sz="2200" spc="60" dirty="0">
                <a:solidFill>
                  <a:srgbClr val="FFFFFF"/>
                </a:solidFill>
                <a:latin typeface="Times New Roman"/>
                <a:cs typeface="Times New Roman"/>
              </a:rPr>
              <a:t>objects</a:t>
            </a:r>
            <a:r>
              <a:rPr sz="2200" spc="-120" dirty="0">
                <a:solidFill>
                  <a:srgbClr val="FFFFFF"/>
                </a:solidFill>
                <a:latin typeface="Times New Roman"/>
                <a:cs typeface="Times New Roman"/>
              </a:rPr>
              <a:t> </a:t>
            </a:r>
            <a:r>
              <a:rPr sz="2200" spc="10" dirty="0">
                <a:solidFill>
                  <a:srgbClr val="FFFFFF"/>
                </a:solidFill>
                <a:latin typeface="Times New Roman"/>
                <a:cs typeface="Times New Roman"/>
              </a:rPr>
              <a:t>(BLOBs).</a:t>
            </a:r>
            <a:endParaRPr sz="2200">
              <a:latin typeface="Times New Roman"/>
              <a:cs typeface="Times New Roman"/>
            </a:endParaRPr>
          </a:p>
          <a:p>
            <a:pPr marL="355600" marR="5715" indent="-342900">
              <a:lnSpc>
                <a:spcPct val="100000"/>
              </a:lnSpc>
              <a:buFont typeface="Wingdings"/>
              <a:buChar char=""/>
              <a:tabLst>
                <a:tab pos="355600" algn="l"/>
              </a:tabLst>
            </a:pPr>
            <a:r>
              <a:rPr sz="2200" spc="100" dirty="0">
                <a:solidFill>
                  <a:srgbClr val="FFFFFF"/>
                </a:solidFill>
                <a:latin typeface="Times New Roman"/>
                <a:cs typeface="Times New Roman"/>
              </a:rPr>
              <a:t>These </a:t>
            </a:r>
            <a:r>
              <a:rPr sz="2200" spc="35" dirty="0">
                <a:solidFill>
                  <a:srgbClr val="FFFFFF"/>
                </a:solidFill>
                <a:latin typeface="Times New Roman"/>
                <a:cs typeface="Times New Roman"/>
              </a:rPr>
              <a:t>XML </a:t>
            </a:r>
            <a:r>
              <a:rPr sz="2200" spc="70" dirty="0">
                <a:solidFill>
                  <a:srgbClr val="FFFFFF"/>
                </a:solidFill>
                <a:latin typeface="Times New Roman"/>
                <a:cs typeface="Times New Roman"/>
              </a:rPr>
              <a:t>instances </a:t>
            </a:r>
            <a:r>
              <a:rPr sz="2200" spc="85" dirty="0">
                <a:solidFill>
                  <a:srgbClr val="FFFFFF"/>
                </a:solidFill>
                <a:latin typeface="Times New Roman"/>
                <a:cs typeface="Times New Roman"/>
              </a:rPr>
              <a:t>can </a:t>
            </a:r>
            <a:r>
              <a:rPr sz="2200" spc="75" dirty="0">
                <a:solidFill>
                  <a:srgbClr val="FFFFFF"/>
                </a:solidFill>
                <a:latin typeface="Times New Roman"/>
                <a:cs typeface="Times New Roman"/>
              </a:rPr>
              <a:t>be </a:t>
            </a:r>
            <a:r>
              <a:rPr sz="2200" spc="30" dirty="0">
                <a:solidFill>
                  <a:srgbClr val="FFFFFF"/>
                </a:solidFill>
                <a:latin typeface="Times New Roman"/>
                <a:cs typeface="Times New Roman"/>
              </a:rPr>
              <a:t>large </a:t>
            </a:r>
            <a:r>
              <a:rPr sz="2200" spc="125" dirty="0">
                <a:solidFill>
                  <a:srgbClr val="FFFFFF"/>
                </a:solidFill>
                <a:latin typeface="Times New Roman"/>
                <a:cs typeface="Times New Roman"/>
              </a:rPr>
              <a:t>and </a:t>
            </a:r>
            <a:r>
              <a:rPr sz="2200" spc="120" dirty="0">
                <a:solidFill>
                  <a:srgbClr val="FFFFFF"/>
                </a:solidFill>
                <a:latin typeface="Times New Roman"/>
                <a:cs typeface="Times New Roman"/>
              </a:rPr>
              <a:t>the </a:t>
            </a:r>
            <a:r>
              <a:rPr sz="2200" spc="85" dirty="0">
                <a:solidFill>
                  <a:srgbClr val="FFFFFF"/>
                </a:solidFill>
                <a:latin typeface="Times New Roman"/>
                <a:cs typeface="Times New Roman"/>
              </a:rPr>
              <a:t>stored </a:t>
            </a:r>
            <a:r>
              <a:rPr sz="2200" spc="70" dirty="0">
                <a:solidFill>
                  <a:srgbClr val="FFFFFF"/>
                </a:solidFill>
                <a:latin typeface="Times New Roman"/>
                <a:cs typeface="Times New Roman"/>
              </a:rPr>
              <a:t>binary  </a:t>
            </a:r>
            <a:r>
              <a:rPr sz="2200" spc="85" dirty="0">
                <a:solidFill>
                  <a:srgbClr val="FFFFFF"/>
                </a:solidFill>
                <a:latin typeface="Times New Roman"/>
                <a:cs typeface="Times New Roman"/>
              </a:rPr>
              <a:t>representation.</a:t>
            </a:r>
            <a:endParaRPr sz="2200">
              <a:latin typeface="Times New Roman"/>
              <a:cs typeface="Times New Roman"/>
            </a:endParaRPr>
          </a:p>
        </p:txBody>
      </p:sp>
      <p:pic>
        <p:nvPicPr>
          <p:cNvPr id="5" name="object 5"/>
          <p:cNvPicPr/>
          <p:nvPr/>
        </p:nvPicPr>
        <p:blipFill>
          <a:blip r:embed="rId3" cstate="print"/>
          <a:stretch>
            <a:fillRect/>
          </a:stretch>
        </p:blipFill>
        <p:spPr>
          <a:xfrm>
            <a:off x="2222754" y="2596895"/>
            <a:ext cx="4304538" cy="3340608"/>
          </a:xfrm>
          <a:prstGeom prst="rect">
            <a:avLst/>
          </a:prstGeom>
        </p:spPr>
      </p:pic>
      <p:sp>
        <p:nvSpPr>
          <p:cNvPr id="6" name="object 6"/>
          <p:cNvSpPr txBox="1"/>
          <p:nvPr/>
        </p:nvSpPr>
        <p:spPr>
          <a:xfrm>
            <a:off x="3798061" y="5966205"/>
            <a:ext cx="822960" cy="238760"/>
          </a:xfrm>
          <a:prstGeom prst="rect">
            <a:avLst/>
          </a:prstGeom>
        </p:spPr>
        <p:txBody>
          <a:bodyPr vert="horz" wrap="square" lIns="0" tIns="12065" rIns="0" bIns="0" rtlCol="0">
            <a:spAutoFit/>
          </a:bodyPr>
          <a:lstStyle/>
          <a:p>
            <a:pPr marL="12700">
              <a:lnSpc>
                <a:spcPct val="100000"/>
              </a:lnSpc>
              <a:spcBef>
                <a:spcPts val="95"/>
              </a:spcBef>
            </a:pPr>
            <a:r>
              <a:rPr sz="1400" b="1" spc="-45" dirty="0">
                <a:latin typeface="Times New Roman"/>
                <a:cs typeface="Times New Roman"/>
              </a:rPr>
              <a:t>XML</a:t>
            </a:r>
            <a:r>
              <a:rPr sz="1400" b="1" spc="-135" dirty="0">
                <a:latin typeface="Times New Roman"/>
                <a:cs typeface="Times New Roman"/>
              </a:rPr>
              <a:t> </a:t>
            </a:r>
            <a:r>
              <a:rPr sz="1400" b="1" spc="-10" dirty="0">
                <a:latin typeface="Times New Roman"/>
                <a:cs typeface="Times New Roman"/>
              </a:rPr>
              <a:t>Data</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38</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3376295" cy="574040"/>
          </a:xfrm>
          <a:prstGeom prst="rect">
            <a:avLst/>
          </a:prstGeom>
        </p:spPr>
        <p:txBody>
          <a:bodyPr vert="horz" wrap="square" lIns="0" tIns="12700" rIns="0" bIns="0" rtlCol="0">
            <a:spAutoFit/>
          </a:bodyPr>
          <a:lstStyle/>
          <a:p>
            <a:pPr marL="12700">
              <a:lnSpc>
                <a:spcPct val="100000"/>
              </a:lnSpc>
              <a:spcBef>
                <a:spcPts val="100"/>
              </a:spcBef>
            </a:pPr>
            <a:r>
              <a:rPr b="0" spc="60" dirty="0">
                <a:latin typeface="Times New Roman"/>
                <a:cs typeface="Times New Roman"/>
              </a:rPr>
              <a:t>XML </a:t>
            </a:r>
            <a:r>
              <a:rPr b="0" spc="125" dirty="0">
                <a:latin typeface="Times New Roman"/>
                <a:cs typeface="Times New Roman"/>
              </a:rPr>
              <a:t>Indexes</a:t>
            </a:r>
            <a:r>
              <a:rPr b="0" spc="-425" dirty="0">
                <a:latin typeface="Times New Roman"/>
                <a:cs typeface="Times New Roman"/>
              </a:rPr>
              <a:t> </a:t>
            </a:r>
            <a:r>
              <a:rPr b="0" spc="-70" dirty="0">
                <a:latin typeface="Times New Roman"/>
                <a:cs typeface="Times New Roman"/>
              </a:rPr>
              <a:t>2-2</a:t>
            </a:r>
          </a:p>
        </p:txBody>
      </p:sp>
      <p:pic>
        <p:nvPicPr>
          <p:cNvPr id="3" name="object 3"/>
          <p:cNvPicPr/>
          <p:nvPr/>
        </p:nvPicPr>
        <p:blipFill>
          <a:blip r:embed="rId3" cstate="print"/>
          <a:stretch>
            <a:fillRect/>
          </a:stretch>
        </p:blipFill>
        <p:spPr>
          <a:xfrm>
            <a:off x="408431" y="2557272"/>
            <a:ext cx="3728466" cy="3284220"/>
          </a:xfrm>
          <a:prstGeom prst="rect">
            <a:avLst/>
          </a:prstGeom>
        </p:spPr>
      </p:pic>
      <p:pic>
        <p:nvPicPr>
          <p:cNvPr id="4" name="object 4"/>
          <p:cNvPicPr/>
          <p:nvPr/>
        </p:nvPicPr>
        <p:blipFill>
          <a:blip r:embed="rId4" cstate="print"/>
          <a:stretch>
            <a:fillRect/>
          </a:stretch>
        </p:blipFill>
        <p:spPr>
          <a:xfrm>
            <a:off x="4766309" y="2578607"/>
            <a:ext cx="3867149" cy="3284220"/>
          </a:xfrm>
          <a:prstGeom prst="rect">
            <a:avLst/>
          </a:prstGeom>
        </p:spPr>
      </p:pic>
      <p:sp>
        <p:nvSpPr>
          <p:cNvPr id="5" name="object 5"/>
          <p:cNvSpPr/>
          <p:nvPr/>
        </p:nvSpPr>
        <p:spPr>
          <a:xfrm>
            <a:off x="321564" y="950213"/>
            <a:ext cx="3606800" cy="1373505"/>
          </a:xfrm>
          <a:custGeom>
            <a:avLst/>
            <a:gdLst/>
            <a:ahLst/>
            <a:cxnLst/>
            <a:rect l="l" t="t" r="r" b="b"/>
            <a:pathLst>
              <a:path w="3606800" h="1373505">
                <a:moveTo>
                  <a:pt x="3606546" y="228854"/>
                </a:moveTo>
                <a:lnTo>
                  <a:pt x="3601885" y="182740"/>
                </a:lnTo>
                <a:lnTo>
                  <a:pt x="3588550" y="139788"/>
                </a:lnTo>
                <a:lnTo>
                  <a:pt x="3567442" y="100914"/>
                </a:lnTo>
                <a:lnTo>
                  <a:pt x="3539502" y="67043"/>
                </a:lnTo>
                <a:lnTo>
                  <a:pt x="3505631" y="39103"/>
                </a:lnTo>
                <a:lnTo>
                  <a:pt x="3466757" y="17995"/>
                </a:lnTo>
                <a:lnTo>
                  <a:pt x="3423805" y="4660"/>
                </a:lnTo>
                <a:lnTo>
                  <a:pt x="3377692" y="0"/>
                </a:lnTo>
                <a:lnTo>
                  <a:pt x="228854" y="0"/>
                </a:lnTo>
                <a:lnTo>
                  <a:pt x="182727" y="4660"/>
                </a:lnTo>
                <a:lnTo>
                  <a:pt x="139763" y="17995"/>
                </a:lnTo>
                <a:lnTo>
                  <a:pt x="100888" y="39103"/>
                </a:lnTo>
                <a:lnTo>
                  <a:pt x="67030" y="67043"/>
                </a:lnTo>
                <a:lnTo>
                  <a:pt x="39077" y="100914"/>
                </a:lnTo>
                <a:lnTo>
                  <a:pt x="17983" y="139788"/>
                </a:lnTo>
                <a:lnTo>
                  <a:pt x="4648" y="182740"/>
                </a:lnTo>
                <a:lnTo>
                  <a:pt x="0" y="228854"/>
                </a:lnTo>
                <a:lnTo>
                  <a:pt x="0" y="1144270"/>
                </a:lnTo>
                <a:lnTo>
                  <a:pt x="4648" y="1190396"/>
                </a:lnTo>
                <a:lnTo>
                  <a:pt x="17983" y="1233347"/>
                </a:lnTo>
                <a:lnTo>
                  <a:pt x="39077" y="1272222"/>
                </a:lnTo>
                <a:lnTo>
                  <a:pt x="67030" y="1306093"/>
                </a:lnTo>
                <a:lnTo>
                  <a:pt x="100888" y="1334033"/>
                </a:lnTo>
                <a:lnTo>
                  <a:pt x="139763" y="1355140"/>
                </a:lnTo>
                <a:lnTo>
                  <a:pt x="182727" y="1368475"/>
                </a:lnTo>
                <a:lnTo>
                  <a:pt x="228854" y="1373124"/>
                </a:lnTo>
                <a:lnTo>
                  <a:pt x="3377692" y="1373124"/>
                </a:lnTo>
                <a:lnTo>
                  <a:pt x="3423805" y="1368475"/>
                </a:lnTo>
                <a:lnTo>
                  <a:pt x="3466757" y="1355140"/>
                </a:lnTo>
                <a:lnTo>
                  <a:pt x="3505631" y="1334033"/>
                </a:lnTo>
                <a:lnTo>
                  <a:pt x="3539502" y="1306093"/>
                </a:lnTo>
                <a:lnTo>
                  <a:pt x="3567442" y="1272222"/>
                </a:lnTo>
                <a:lnTo>
                  <a:pt x="3588550" y="1233347"/>
                </a:lnTo>
                <a:lnTo>
                  <a:pt x="3601885" y="1190396"/>
                </a:lnTo>
                <a:lnTo>
                  <a:pt x="3606546" y="1144270"/>
                </a:lnTo>
                <a:lnTo>
                  <a:pt x="3606546" y="1038606"/>
                </a:lnTo>
                <a:lnTo>
                  <a:pt x="3606546" y="334518"/>
                </a:lnTo>
                <a:lnTo>
                  <a:pt x="3606546" y="228854"/>
                </a:lnTo>
                <a:close/>
              </a:path>
            </a:pathLst>
          </a:custGeom>
          <a:solidFill>
            <a:srgbClr val="C0504D"/>
          </a:solidFill>
        </p:spPr>
        <p:txBody>
          <a:bodyPr wrap="square" lIns="0" tIns="0" rIns="0" bIns="0" rtlCol="0"/>
          <a:lstStyle/>
          <a:p>
            <a:endParaRPr/>
          </a:p>
        </p:txBody>
      </p:sp>
      <p:sp>
        <p:nvSpPr>
          <p:cNvPr id="6" name="object 6"/>
          <p:cNvSpPr txBox="1"/>
          <p:nvPr/>
        </p:nvSpPr>
        <p:spPr>
          <a:xfrm>
            <a:off x="728472" y="1112012"/>
            <a:ext cx="2792095" cy="330200"/>
          </a:xfrm>
          <a:prstGeom prst="rect">
            <a:avLst/>
          </a:prstGeom>
        </p:spPr>
        <p:txBody>
          <a:bodyPr vert="horz" wrap="square" lIns="0" tIns="12065" rIns="0" bIns="0" rtlCol="0">
            <a:spAutoFit/>
          </a:bodyPr>
          <a:lstStyle/>
          <a:p>
            <a:pPr marL="355600" indent="-342900">
              <a:lnSpc>
                <a:spcPct val="100000"/>
              </a:lnSpc>
              <a:spcBef>
                <a:spcPts val="95"/>
              </a:spcBef>
              <a:buFont typeface="Wingdings"/>
              <a:buChar char=""/>
              <a:tabLst>
                <a:tab pos="354965" algn="l"/>
                <a:tab pos="355600" algn="l"/>
                <a:tab pos="1396365" algn="l"/>
                <a:tab pos="2155825" algn="l"/>
              </a:tabLst>
            </a:pPr>
            <a:r>
              <a:rPr sz="2000" spc="55" dirty="0">
                <a:solidFill>
                  <a:srgbClr val="FFFFFF"/>
                </a:solidFill>
                <a:latin typeface="Times New Roman"/>
                <a:cs typeface="Times New Roman"/>
              </a:rPr>
              <a:t>Prima</a:t>
            </a:r>
            <a:r>
              <a:rPr sz="2000" spc="25" dirty="0">
                <a:solidFill>
                  <a:srgbClr val="FFFFFF"/>
                </a:solidFill>
                <a:latin typeface="Times New Roman"/>
                <a:cs typeface="Times New Roman"/>
              </a:rPr>
              <a:t>r</a:t>
            </a:r>
            <a:r>
              <a:rPr sz="2000" spc="-5" dirty="0">
                <a:solidFill>
                  <a:srgbClr val="FFFFFF"/>
                </a:solidFill>
                <a:latin typeface="Times New Roman"/>
                <a:cs typeface="Times New Roman"/>
              </a:rPr>
              <a:t>y</a:t>
            </a:r>
            <a:r>
              <a:rPr sz="2000" dirty="0">
                <a:solidFill>
                  <a:srgbClr val="FFFFFF"/>
                </a:solidFill>
                <a:latin typeface="Times New Roman"/>
                <a:cs typeface="Times New Roman"/>
              </a:rPr>
              <a:t>	</a:t>
            </a:r>
            <a:r>
              <a:rPr sz="2000" spc="30" dirty="0">
                <a:solidFill>
                  <a:srgbClr val="FFFFFF"/>
                </a:solidFill>
                <a:latin typeface="Times New Roman"/>
                <a:cs typeface="Times New Roman"/>
              </a:rPr>
              <a:t>XML</a:t>
            </a:r>
            <a:r>
              <a:rPr sz="2000" dirty="0">
                <a:solidFill>
                  <a:srgbClr val="FFFFFF"/>
                </a:solidFill>
                <a:latin typeface="Times New Roman"/>
                <a:cs typeface="Times New Roman"/>
              </a:rPr>
              <a:t>	</a:t>
            </a:r>
            <a:r>
              <a:rPr sz="2000" spc="90" dirty="0">
                <a:solidFill>
                  <a:srgbClr val="FFFFFF"/>
                </a:solidFill>
                <a:latin typeface="Times New Roman"/>
                <a:cs typeface="Times New Roman"/>
              </a:rPr>
              <a:t>index</a:t>
            </a:r>
            <a:endParaRPr sz="2000">
              <a:latin typeface="Times New Roman"/>
              <a:cs typeface="Times New Roman"/>
            </a:endParaRPr>
          </a:p>
        </p:txBody>
      </p:sp>
      <p:sp>
        <p:nvSpPr>
          <p:cNvPr id="7" name="object 7"/>
          <p:cNvSpPr txBox="1"/>
          <p:nvPr/>
        </p:nvSpPr>
        <p:spPr>
          <a:xfrm>
            <a:off x="1071372" y="1416812"/>
            <a:ext cx="2449195" cy="635000"/>
          </a:xfrm>
          <a:prstGeom prst="rect">
            <a:avLst/>
          </a:prstGeom>
        </p:spPr>
        <p:txBody>
          <a:bodyPr vert="horz" wrap="square" lIns="0" tIns="12065" rIns="0" bIns="0" rtlCol="0">
            <a:spAutoFit/>
          </a:bodyPr>
          <a:lstStyle/>
          <a:p>
            <a:pPr marL="12700" marR="5080">
              <a:lnSpc>
                <a:spcPct val="100000"/>
              </a:lnSpc>
              <a:spcBef>
                <a:spcPts val="95"/>
              </a:spcBef>
              <a:tabLst>
                <a:tab pos="1080770" algn="l"/>
                <a:tab pos="1479550" algn="l"/>
                <a:tab pos="1971039" algn="l"/>
              </a:tabLst>
            </a:pPr>
            <a:r>
              <a:rPr sz="2000" spc="90" dirty="0">
                <a:solidFill>
                  <a:srgbClr val="FFFFFF"/>
                </a:solidFill>
                <a:latin typeface="Times New Roman"/>
                <a:cs typeface="Times New Roman"/>
              </a:rPr>
              <a:t>co</a:t>
            </a:r>
            <a:r>
              <a:rPr sz="2000" spc="105" dirty="0">
                <a:solidFill>
                  <a:srgbClr val="FFFFFF"/>
                </a:solidFill>
                <a:latin typeface="Times New Roman"/>
                <a:cs typeface="Times New Roman"/>
              </a:rPr>
              <a:t>n</a:t>
            </a:r>
            <a:r>
              <a:rPr sz="2000" spc="55" dirty="0">
                <a:solidFill>
                  <a:srgbClr val="FFFFFF"/>
                </a:solidFill>
                <a:latin typeface="Times New Roman"/>
                <a:cs typeface="Times New Roman"/>
              </a:rPr>
              <a:t>tai</a:t>
            </a:r>
            <a:r>
              <a:rPr sz="2000" spc="90" dirty="0">
                <a:solidFill>
                  <a:srgbClr val="FFFFFF"/>
                </a:solidFill>
                <a:latin typeface="Times New Roman"/>
                <a:cs typeface="Times New Roman"/>
              </a:rPr>
              <a:t>ns</a:t>
            </a:r>
            <a:r>
              <a:rPr sz="2000" dirty="0">
                <a:solidFill>
                  <a:srgbClr val="FFFFFF"/>
                </a:solidFill>
                <a:latin typeface="Times New Roman"/>
                <a:cs typeface="Times New Roman"/>
              </a:rPr>
              <a:t>	</a:t>
            </a:r>
            <a:r>
              <a:rPr sz="2000" spc="35" dirty="0">
                <a:solidFill>
                  <a:srgbClr val="FFFFFF"/>
                </a:solidFill>
                <a:latin typeface="Times New Roman"/>
                <a:cs typeface="Times New Roman"/>
              </a:rPr>
              <a:t>a</a:t>
            </a:r>
            <a:r>
              <a:rPr sz="2000" dirty="0">
                <a:solidFill>
                  <a:srgbClr val="FFFFFF"/>
                </a:solidFill>
                <a:latin typeface="Times New Roman"/>
                <a:cs typeface="Times New Roman"/>
              </a:rPr>
              <a:t>ll	</a:t>
            </a:r>
            <a:r>
              <a:rPr sz="2000" spc="110" dirty="0">
                <a:solidFill>
                  <a:srgbClr val="FFFFFF"/>
                </a:solidFill>
                <a:latin typeface="Times New Roman"/>
                <a:cs typeface="Times New Roman"/>
              </a:rPr>
              <a:t>the</a:t>
            </a:r>
            <a:r>
              <a:rPr sz="2000" dirty="0">
                <a:solidFill>
                  <a:srgbClr val="FFFFFF"/>
                </a:solidFill>
                <a:latin typeface="Times New Roman"/>
                <a:cs typeface="Times New Roman"/>
              </a:rPr>
              <a:t>	</a:t>
            </a:r>
            <a:r>
              <a:rPr sz="2000" spc="85" dirty="0">
                <a:solidFill>
                  <a:srgbClr val="FFFFFF"/>
                </a:solidFill>
                <a:latin typeface="Times New Roman"/>
                <a:cs typeface="Times New Roman"/>
              </a:rPr>
              <a:t>d</a:t>
            </a:r>
            <a:r>
              <a:rPr sz="2000" spc="80" dirty="0">
                <a:solidFill>
                  <a:srgbClr val="FFFFFF"/>
                </a:solidFill>
                <a:latin typeface="Times New Roman"/>
                <a:cs typeface="Times New Roman"/>
              </a:rPr>
              <a:t>a</a:t>
            </a:r>
            <a:r>
              <a:rPr sz="2000" spc="65" dirty="0">
                <a:solidFill>
                  <a:srgbClr val="FFFFFF"/>
                </a:solidFill>
                <a:latin typeface="Times New Roman"/>
                <a:cs typeface="Times New Roman"/>
              </a:rPr>
              <a:t>ta  </a:t>
            </a:r>
            <a:r>
              <a:rPr sz="2000" spc="95" dirty="0">
                <a:solidFill>
                  <a:srgbClr val="FFFFFF"/>
                </a:solidFill>
                <a:latin typeface="Times New Roman"/>
                <a:cs typeface="Times New Roman"/>
              </a:rPr>
              <a:t>in </a:t>
            </a:r>
            <a:r>
              <a:rPr sz="2000" spc="25" dirty="0">
                <a:solidFill>
                  <a:srgbClr val="FFFFFF"/>
                </a:solidFill>
                <a:latin typeface="Times New Roman"/>
                <a:cs typeface="Times New Roman"/>
              </a:rPr>
              <a:t>XML</a:t>
            </a:r>
            <a:r>
              <a:rPr sz="2000" spc="-260" dirty="0">
                <a:solidFill>
                  <a:srgbClr val="FFFFFF"/>
                </a:solidFill>
                <a:latin typeface="Times New Roman"/>
                <a:cs typeface="Times New Roman"/>
              </a:rPr>
              <a:t> </a:t>
            </a:r>
            <a:r>
              <a:rPr sz="2000" spc="75" dirty="0">
                <a:solidFill>
                  <a:srgbClr val="FFFFFF"/>
                </a:solidFill>
                <a:latin typeface="Times New Roman"/>
                <a:cs typeface="Times New Roman"/>
              </a:rPr>
              <a:t>column.</a:t>
            </a:r>
            <a:endParaRPr sz="2000">
              <a:latin typeface="Times New Roman"/>
              <a:cs typeface="Times New Roman"/>
            </a:endParaRPr>
          </a:p>
        </p:txBody>
      </p:sp>
      <p:sp>
        <p:nvSpPr>
          <p:cNvPr id="8" name="object 8"/>
          <p:cNvSpPr/>
          <p:nvPr/>
        </p:nvSpPr>
        <p:spPr>
          <a:xfrm>
            <a:off x="4346448" y="818387"/>
            <a:ext cx="4493260" cy="1663064"/>
          </a:xfrm>
          <a:custGeom>
            <a:avLst/>
            <a:gdLst/>
            <a:ahLst/>
            <a:cxnLst/>
            <a:rect l="l" t="t" r="r" b="b"/>
            <a:pathLst>
              <a:path w="4493259" h="1663064">
                <a:moveTo>
                  <a:pt x="4492752" y="277114"/>
                </a:moveTo>
                <a:lnTo>
                  <a:pt x="4488281" y="227317"/>
                </a:lnTo>
                <a:lnTo>
                  <a:pt x="4475404" y="180428"/>
                </a:lnTo>
                <a:lnTo>
                  <a:pt x="4454906" y="137261"/>
                </a:lnTo>
                <a:lnTo>
                  <a:pt x="4427563" y="98590"/>
                </a:lnTo>
                <a:lnTo>
                  <a:pt x="4394162" y="65189"/>
                </a:lnTo>
                <a:lnTo>
                  <a:pt x="4355490" y="37846"/>
                </a:lnTo>
                <a:lnTo>
                  <a:pt x="4312323" y="17348"/>
                </a:lnTo>
                <a:lnTo>
                  <a:pt x="4265434" y="4470"/>
                </a:lnTo>
                <a:lnTo>
                  <a:pt x="4215638" y="0"/>
                </a:lnTo>
                <a:lnTo>
                  <a:pt x="277114" y="0"/>
                </a:lnTo>
                <a:lnTo>
                  <a:pt x="227304" y="4470"/>
                </a:lnTo>
                <a:lnTo>
                  <a:pt x="180416" y="17348"/>
                </a:lnTo>
                <a:lnTo>
                  <a:pt x="137248" y="37846"/>
                </a:lnTo>
                <a:lnTo>
                  <a:pt x="98577" y="65189"/>
                </a:lnTo>
                <a:lnTo>
                  <a:pt x="65176" y="98590"/>
                </a:lnTo>
                <a:lnTo>
                  <a:pt x="37833" y="137261"/>
                </a:lnTo>
                <a:lnTo>
                  <a:pt x="17335" y="180428"/>
                </a:lnTo>
                <a:lnTo>
                  <a:pt x="4457" y="227317"/>
                </a:lnTo>
                <a:lnTo>
                  <a:pt x="0" y="277114"/>
                </a:lnTo>
                <a:lnTo>
                  <a:pt x="0" y="1385570"/>
                </a:lnTo>
                <a:lnTo>
                  <a:pt x="4457" y="1435379"/>
                </a:lnTo>
                <a:lnTo>
                  <a:pt x="17335" y="1482267"/>
                </a:lnTo>
                <a:lnTo>
                  <a:pt x="37833" y="1525435"/>
                </a:lnTo>
                <a:lnTo>
                  <a:pt x="65176" y="1564106"/>
                </a:lnTo>
                <a:lnTo>
                  <a:pt x="98577" y="1597507"/>
                </a:lnTo>
                <a:lnTo>
                  <a:pt x="137248" y="1624850"/>
                </a:lnTo>
                <a:lnTo>
                  <a:pt x="180416" y="1645348"/>
                </a:lnTo>
                <a:lnTo>
                  <a:pt x="227304" y="1658226"/>
                </a:lnTo>
                <a:lnTo>
                  <a:pt x="277114" y="1662684"/>
                </a:lnTo>
                <a:lnTo>
                  <a:pt x="4215638" y="1662684"/>
                </a:lnTo>
                <a:lnTo>
                  <a:pt x="4265434" y="1658226"/>
                </a:lnTo>
                <a:lnTo>
                  <a:pt x="4312323" y="1645348"/>
                </a:lnTo>
                <a:lnTo>
                  <a:pt x="4355490" y="1624850"/>
                </a:lnTo>
                <a:lnTo>
                  <a:pt x="4394162" y="1597507"/>
                </a:lnTo>
                <a:lnTo>
                  <a:pt x="4427563" y="1564106"/>
                </a:lnTo>
                <a:lnTo>
                  <a:pt x="4454906" y="1525435"/>
                </a:lnTo>
                <a:lnTo>
                  <a:pt x="4475404" y="1482267"/>
                </a:lnTo>
                <a:lnTo>
                  <a:pt x="4488281" y="1435379"/>
                </a:lnTo>
                <a:lnTo>
                  <a:pt x="4492752" y="1385570"/>
                </a:lnTo>
                <a:lnTo>
                  <a:pt x="4492752" y="1257300"/>
                </a:lnTo>
                <a:lnTo>
                  <a:pt x="4492752" y="405384"/>
                </a:lnTo>
                <a:lnTo>
                  <a:pt x="4492752" y="277114"/>
                </a:lnTo>
                <a:close/>
              </a:path>
            </a:pathLst>
          </a:custGeom>
          <a:solidFill>
            <a:srgbClr val="8063A1"/>
          </a:solidFill>
        </p:spPr>
        <p:txBody>
          <a:bodyPr wrap="square" lIns="0" tIns="0" rIns="0" bIns="0" rtlCol="0"/>
          <a:lstStyle/>
          <a:p>
            <a:endParaRPr/>
          </a:p>
        </p:txBody>
      </p:sp>
      <p:sp>
        <p:nvSpPr>
          <p:cNvPr id="9" name="object 9"/>
          <p:cNvSpPr txBox="1"/>
          <p:nvPr/>
        </p:nvSpPr>
        <p:spPr>
          <a:xfrm>
            <a:off x="4636515" y="1154938"/>
            <a:ext cx="3779520" cy="939800"/>
          </a:xfrm>
          <a:prstGeom prst="rect">
            <a:avLst/>
          </a:prstGeom>
        </p:spPr>
        <p:txBody>
          <a:bodyPr vert="horz" wrap="square" lIns="0" tIns="12065" rIns="0" bIns="0" rtlCol="0">
            <a:spAutoFit/>
          </a:bodyPr>
          <a:lstStyle/>
          <a:p>
            <a:pPr marL="355600" marR="5080" indent="-342900" algn="just">
              <a:lnSpc>
                <a:spcPct val="100000"/>
              </a:lnSpc>
              <a:spcBef>
                <a:spcPts val="95"/>
              </a:spcBef>
              <a:buFont typeface="Wingdings"/>
              <a:buChar char=""/>
              <a:tabLst>
                <a:tab pos="355600" algn="l"/>
              </a:tabLst>
            </a:pPr>
            <a:r>
              <a:rPr sz="2000" spc="70" dirty="0">
                <a:solidFill>
                  <a:srgbClr val="FFFFFF"/>
                </a:solidFill>
                <a:latin typeface="Times New Roman"/>
                <a:cs typeface="Times New Roman"/>
              </a:rPr>
              <a:t>Secondary </a:t>
            </a:r>
            <a:r>
              <a:rPr sz="2000" spc="30" dirty="0">
                <a:solidFill>
                  <a:srgbClr val="FFFFFF"/>
                </a:solidFill>
                <a:latin typeface="Times New Roman"/>
                <a:cs typeface="Times New Roman"/>
              </a:rPr>
              <a:t>XML </a:t>
            </a:r>
            <a:r>
              <a:rPr sz="2000" spc="90" dirty="0">
                <a:solidFill>
                  <a:srgbClr val="FFFFFF"/>
                </a:solidFill>
                <a:latin typeface="Times New Roman"/>
                <a:cs typeface="Times New Roman"/>
              </a:rPr>
              <a:t>index </a:t>
            </a:r>
            <a:r>
              <a:rPr sz="2000" spc="50" dirty="0">
                <a:solidFill>
                  <a:srgbClr val="FFFFFF"/>
                </a:solidFill>
                <a:latin typeface="Times New Roman"/>
                <a:cs typeface="Times New Roman"/>
              </a:rPr>
              <a:t>creates  </a:t>
            </a:r>
            <a:r>
              <a:rPr sz="2000" spc="30" dirty="0">
                <a:solidFill>
                  <a:srgbClr val="FFFFFF"/>
                </a:solidFill>
                <a:latin typeface="Times New Roman"/>
                <a:cs typeface="Times New Roman"/>
              </a:rPr>
              <a:t>a </a:t>
            </a:r>
            <a:r>
              <a:rPr sz="2000" spc="80" dirty="0">
                <a:solidFill>
                  <a:srgbClr val="FFFFFF"/>
                </a:solidFill>
                <a:latin typeface="Times New Roman"/>
                <a:cs typeface="Times New Roman"/>
              </a:rPr>
              <a:t>more </a:t>
            </a:r>
            <a:r>
              <a:rPr sz="2000" spc="25" dirty="0">
                <a:solidFill>
                  <a:srgbClr val="FFFFFF"/>
                </a:solidFill>
                <a:latin typeface="Times New Roman"/>
                <a:cs typeface="Times New Roman"/>
              </a:rPr>
              <a:t>specific </a:t>
            </a:r>
            <a:r>
              <a:rPr sz="2000" spc="75" dirty="0">
                <a:solidFill>
                  <a:srgbClr val="FFFFFF"/>
                </a:solidFill>
                <a:latin typeface="Times New Roman"/>
                <a:cs typeface="Times New Roman"/>
              </a:rPr>
              <a:t>index, </a:t>
            </a:r>
            <a:r>
              <a:rPr sz="2000" spc="60" dirty="0">
                <a:solidFill>
                  <a:srgbClr val="FFFFFF"/>
                </a:solidFill>
                <a:latin typeface="Times New Roman"/>
                <a:cs typeface="Times New Roman"/>
              </a:rPr>
              <a:t>based</a:t>
            </a:r>
            <a:r>
              <a:rPr sz="2000" spc="-275" dirty="0">
                <a:solidFill>
                  <a:srgbClr val="FFFFFF"/>
                </a:solidFill>
                <a:latin typeface="Times New Roman"/>
                <a:cs typeface="Times New Roman"/>
              </a:rPr>
              <a:t> </a:t>
            </a:r>
            <a:r>
              <a:rPr sz="2000" spc="140" dirty="0">
                <a:solidFill>
                  <a:srgbClr val="FFFFFF"/>
                </a:solidFill>
                <a:latin typeface="Times New Roman"/>
                <a:cs typeface="Times New Roman"/>
              </a:rPr>
              <a:t>on  </a:t>
            </a:r>
            <a:r>
              <a:rPr sz="2000" spc="110" dirty="0">
                <a:solidFill>
                  <a:srgbClr val="FFFFFF"/>
                </a:solidFill>
                <a:latin typeface="Times New Roman"/>
                <a:cs typeface="Times New Roman"/>
              </a:rPr>
              <a:t>the </a:t>
            </a:r>
            <a:r>
              <a:rPr sz="2000" spc="55" dirty="0">
                <a:solidFill>
                  <a:srgbClr val="FFFFFF"/>
                </a:solidFill>
                <a:latin typeface="Times New Roman"/>
                <a:cs typeface="Times New Roman"/>
              </a:rPr>
              <a:t>primary</a:t>
            </a:r>
            <a:r>
              <a:rPr sz="2000" spc="-250" dirty="0">
                <a:solidFill>
                  <a:srgbClr val="FFFFFF"/>
                </a:solidFill>
                <a:latin typeface="Times New Roman"/>
                <a:cs typeface="Times New Roman"/>
              </a:rPr>
              <a:t> </a:t>
            </a:r>
            <a:r>
              <a:rPr sz="2000" spc="75" dirty="0">
                <a:solidFill>
                  <a:srgbClr val="FFFFFF"/>
                </a:solidFill>
                <a:latin typeface="Times New Roman"/>
                <a:cs typeface="Times New Roman"/>
              </a:rPr>
              <a:t>index.</a:t>
            </a:r>
            <a:endParaRPr sz="20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39</a:t>
            </a:fld>
            <a:endParaRPr sz="1200"/>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0" name="object 10"/>
          <p:cNvSpPr txBox="1"/>
          <p:nvPr/>
        </p:nvSpPr>
        <p:spPr>
          <a:xfrm>
            <a:off x="1486153" y="5880608"/>
            <a:ext cx="1529080" cy="238760"/>
          </a:xfrm>
          <a:prstGeom prst="rect">
            <a:avLst/>
          </a:prstGeom>
        </p:spPr>
        <p:txBody>
          <a:bodyPr vert="horz" wrap="square" lIns="0" tIns="12700" rIns="0" bIns="0" rtlCol="0">
            <a:spAutoFit/>
          </a:bodyPr>
          <a:lstStyle/>
          <a:p>
            <a:pPr marL="12700">
              <a:lnSpc>
                <a:spcPct val="100000"/>
              </a:lnSpc>
              <a:spcBef>
                <a:spcPts val="100"/>
              </a:spcBef>
            </a:pPr>
            <a:r>
              <a:rPr sz="1400" b="1" spc="-60" dirty="0">
                <a:latin typeface="Times New Roman"/>
                <a:cs typeface="Times New Roman"/>
              </a:rPr>
              <a:t>Primary </a:t>
            </a:r>
            <a:r>
              <a:rPr sz="1400" b="1" spc="-45" dirty="0">
                <a:latin typeface="Times New Roman"/>
                <a:cs typeface="Times New Roman"/>
              </a:rPr>
              <a:t>XML</a:t>
            </a:r>
            <a:r>
              <a:rPr sz="1400" b="1" spc="-140"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
        <p:nvSpPr>
          <p:cNvPr id="11" name="object 11"/>
          <p:cNvSpPr txBox="1"/>
          <p:nvPr/>
        </p:nvSpPr>
        <p:spPr>
          <a:xfrm>
            <a:off x="5805678" y="5907532"/>
            <a:ext cx="1732914"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Times New Roman"/>
                <a:cs typeface="Times New Roman"/>
              </a:rPr>
              <a:t>Secondary </a:t>
            </a:r>
            <a:r>
              <a:rPr sz="1400" b="1" spc="-45" dirty="0">
                <a:latin typeface="Times New Roman"/>
                <a:cs typeface="Times New Roman"/>
              </a:rPr>
              <a:t>XML</a:t>
            </a:r>
            <a:r>
              <a:rPr sz="1400" b="1" spc="-210"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76200" y="122238"/>
            <a:ext cx="7620000" cy="411162"/>
          </a:xfrm>
        </p:spPr>
        <p:txBody>
          <a:bodyPr/>
          <a:lstStyle/>
          <a:p>
            <a:r>
              <a:rPr lang="en-US" dirty="0"/>
              <a:t>Types of XML Indexes 1-2</a:t>
            </a:r>
          </a:p>
        </p:txBody>
      </p:sp>
      <p:grpSp>
        <p:nvGrpSpPr>
          <p:cNvPr id="6" name="Group 5"/>
          <p:cNvGrpSpPr/>
          <p:nvPr/>
        </p:nvGrpSpPr>
        <p:grpSpPr>
          <a:xfrm>
            <a:off x="335692" y="990600"/>
            <a:ext cx="2514600" cy="457200"/>
            <a:chOff x="0" y="21039"/>
            <a:chExt cx="6096000" cy="1067040"/>
          </a:xfrm>
          <a:scene3d>
            <a:camera prst="orthographicFront"/>
            <a:lightRig rig="flat" dir="t"/>
          </a:scene3d>
        </p:grpSpPr>
        <p:sp>
          <p:nvSpPr>
            <p:cNvPr id="7" name="Rounded Rectangle 6"/>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8" name="Rounded Rectangle 4"/>
            <p:cNvSpPr/>
            <p:nvPr/>
          </p:nvSpPr>
          <p:spPr>
            <a:xfrm>
              <a:off x="52090" y="73128"/>
              <a:ext cx="5991823" cy="962861"/>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b="1" dirty="0">
                  <a:latin typeface="Calibri" pitchFamily="34" charset="0"/>
                  <a:cs typeface="Calibri" pitchFamily="34" charset="0"/>
                </a:rPr>
                <a:t>Primary XML Indexes</a:t>
              </a:r>
              <a:endParaRPr lang="en-US" sz="1800" b="1" kern="1200" dirty="0">
                <a:latin typeface="Calibri" pitchFamily="34" charset="0"/>
                <a:cs typeface="Calibri" pitchFamily="34" charset="0"/>
              </a:endParaRPr>
            </a:p>
          </p:txBody>
        </p:sp>
      </p:grpSp>
      <p:sp>
        <p:nvSpPr>
          <p:cNvPr id="9" name="TextBox 8"/>
          <p:cNvSpPr txBox="1"/>
          <p:nvPr/>
        </p:nvSpPr>
        <p:spPr>
          <a:xfrm>
            <a:off x="254344" y="1505941"/>
            <a:ext cx="8051456" cy="400110"/>
          </a:xfrm>
          <a:prstGeom prst="rect">
            <a:avLst/>
          </a:prstGeom>
          <a:noFill/>
        </p:spPr>
        <p:txBody>
          <a:bodyPr wrap="square" rtlCol="0">
            <a:spAutoFit/>
          </a:bodyPr>
          <a:lstStyle/>
          <a:p>
            <a:pPr>
              <a:lnSpc>
                <a:spcPct val="100000"/>
              </a:lnSpc>
              <a:spcBef>
                <a:spcPts val="0"/>
              </a:spcBef>
            </a:pPr>
            <a:r>
              <a:rPr lang="en-US" sz="2000" dirty="0">
                <a:latin typeface="Calibri" pitchFamily="34" charset="0"/>
                <a:cs typeface="Calibri" pitchFamily="34" charset="0"/>
              </a:rPr>
              <a:t>It is a special index created on each XML column to speed up these queries</a:t>
            </a:r>
            <a:r>
              <a:rPr lang="en-US" sz="1800" dirty="0">
                <a:latin typeface="Calibri" pitchFamily="34" charset="0"/>
                <a:cs typeface="Calibri" pitchFamily="34" charset="0"/>
              </a:rPr>
              <a:t>. </a:t>
            </a:r>
          </a:p>
        </p:txBody>
      </p:sp>
      <p:sp>
        <p:nvSpPr>
          <p:cNvPr id="11" name="TextBox 10"/>
          <p:cNvSpPr txBox="1"/>
          <p:nvPr/>
        </p:nvSpPr>
        <p:spPr>
          <a:xfrm>
            <a:off x="304800" y="1987351"/>
            <a:ext cx="8570935" cy="338554"/>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00000"/>
              </a:lnSpc>
              <a:spcBef>
                <a:spcPts val="0"/>
              </a:spcBef>
            </a:pPr>
            <a:r>
              <a:rPr lang="en-US" sz="1600" b="1">
                <a:latin typeface="Courier New" panose="02070309020205020404" pitchFamily="49" charset="0"/>
                <a:cs typeface="Courier New" panose="02070309020205020404" pitchFamily="49" charset="0"/>
              </a:rPr>
              <a:t>CREATE </a:t>
            </a:r>
            <a:r>
              <a:rPr lang="en-US" sz="1600" b="1" dirty="0">
                <a:solidFill>
                  <a:srgbClr val="FF0000"/>
                </a:solidFill>
                <a:latin typeface="Courier New" panose="02070309020205020404" pitchFamily="49" charset="0"/>
                <a:cs typeface="Courier New" panose="02070309020205020404" pitchFamily="49" charset="0"/>
              </a:rPr>
              <a:t>PRIMARY XML INDEX</a:t>
            </a:r>
            <a:r>
              <a:rPr lang="en-US" sz="1600" b="1" dirty="0">
                <a:latin typeface="Courier New" panose="02070309020205020404" pitchFamily="49" charset="0"/>
                <a:cs typeface="Courier New" panose="02070309020205020404" pitchFamily="49" charset="0"/>
              </a:rPr>
              <a:t> index_name </a:t>
            </a:r>
            <a:r>
              <a:rPr lang="en-US" sz="1600" b="1" dirty="0">
                <a:solidFill>
                  <a:srgbClr val="FF0000"/>
                </a:solidFill>
                <a:latin typeface="Courier New" panose="02070309020205020404" pitchFamily="49" charset="0"/>
                <a:cs typeface="Courier New" panose="02070309020205020404" pitchFamily="49" charset="0"/>
              </a:rPr>
              <a:t>ON</a:t>
            </a:r>
            <a:r>
              <a:rPr lang="en-US" sz="1600" dirty="0">
                <a:latin typeface="Courier New" panose="02070309020205020404" pitchFamily="49" charset="0"/>
                <a:cs typeface="Courier New" panose="02070309020205020404" pitchFamily="49" charset="0"/>
              </a:rPr>
              <a:t> </a:t>
            </a:r>
            <a:r>
              <a:rPr lang="en-US" sz="1600" b="1" dirty="0">
                <a:latin typeface="Courier New" panose="02070309020205020404" pitchFamily="49" charset="0"/>
                <a:cs typeface="Courier New" panose="02070309020205020404" pitchFamily="49" charset="0"/>
              </a:rPr>
              <a:t>&lt;table_name&gt; (</a:t>
            </a:r>
            <a:r>
              <a:rPr lang="en-US" sz="1600" b="1" dirty="0" err="1">
                <a:latin typeface="Courier New" panose="02070309020205020404" pitchFamily="49" charset="0"/>
                <a:cs typeface="Courier New" panose="02070309020205020404" pitchFamily="49" charset="0"/>
              </a:rPr>
              <a:t>column_</a:t>
            </a:r>
            <a:r>
              <a:rPr lang="en-US" sz="1600" b="1" err="1">
                <a:latin typeface="Courier New" panose="02070309020205020404" pitchFamily="49" charset="0"/>
                <a:cs typeface="Courier New" panose="02070309020205020404" pitchFamily="49" charset="0"/>
              </a:rPr>
              <a:t>name</a:t>
            </a:r>
            <a:r>
              <a:rPr lang="en-US" sz="1600" b="1">
                <a:latin typeface="Courier New" panose="02070309020205020404" pitchFamily="49" charset="0"/>
                <a:cs typeface="Courier New" panose="02070309020205020404" pitchFamily="49" charset="0"/>
              </a:rPr>
              <a:t>)</a:t>
            </a:r>
            <a:endParaRPr lang="en-US" sz="1600" b="1" dirty="0">
              <a:latin typeface="Courier New" panose="02070309020205020404" pitchFamily="49" charset="0"/>
              <a:cs typeface="Courier New" panose="02070309020205020404" pitchFamily="49" charset="0"/>
            </a:endParaRPr>
          </a:p>
        </p:txBody>
      </p:sp>
      <p:sp>
        <p:nvSpPr>
          <p:cNvPr id="12" name="TextBox 11"/>
          <p:cNvSpPr txBox="1"/>
          <p:nvPr/>
        </p:nvSpPr>
        <p:spPr>
          <a:xfrm>
            <a:off x="254344" y="2514600"/>
            <a:ext cx="1447800" cy="369332"/>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Example</a:t>
            </a:r>
          </a:p>
        </p:txBody>
      </p:sp>
      <p:sp>
        <p:nvSpPr>
          <p:cNvPr id="13" name="TextBox 12"/>
          <p:cNvSpPr txBox="1"/>
          <p:nvPr/>
        </p:nvSpPr>
        <p:spPr>
          <a:xfrm>
            <a:off x="350108" y="2971800"/>
            <a:ext cx="8507092" cy="338554"/>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00000"/>
              </a:lnSpc>
              <a:spcBef>
                <a:spcPts val="2400"/>
              </a:spcBef>
              <a:spcAft>
                <a:spcPts val="1800"/>
              </a:spcAft>
            </a:pPr>
            <a:r>
              <a:rPr lang="en-US" sz="1600" b="1" dirty="0">
                <a:latin typeface="Courier New" panose="02070309020205020404" pitchFamily="49" charset="0"/>
                <a:cs typeface="Courier New" panose="02070309020205020404" pitchFamily="49" charset="0"/>
              </a:rPr>
              <a:t>CREATE </a:t>
            </a:r>
            <a:r>
              <a:rPr lang="en-US" sz="1600" b="1" dirty="0">
                <a:solidFill>
                  <a:srgbClr val="FF0000"/>
                </a:solidFill>
                <a:latin typeface="Courier New" panose="02070309020205020404" pitchFamily="49" charset="0"/>
                <a:cs typeface="Courier New" panose="02070309020205020404" pitchFamily="49" charset="0"/>
              </a:rPr>
              <a:t>PRIMARY XML INDEX </a:t>
            </a:r>
            <a:r>
              <a:rPr lang="en-US" sz="1600" b="1" dirty="0" err="1">
                <a:latin typeface="Courier New" panose="02070309020205020404" pitchFamily="49" charset="0"/>
                <a:cs typeface="Courier New" panose="02070309020205020404" pitchFamily="49" charset="0"/>
              </a:rPr>
              <a:t>XML_Product</a:t>
            </a:r>
            <a:r>
              <a:rPr lang="en-US" sz="1600" b="1" dirty="0">
                <a:latin typeface="Courier New" panose="02070309020205020404" pitchFamily="49" charset="0"/>
                <a:cs typeface="Courier New" panose="02070309020205020404" pitchFamily="49" charset="0"/>
              </a:rPr>
              <a:t> </a:t>
            </a:r>
            <a:r>
              <a:rPr lang="en-US" sz="1600" b="1" dirty="0">
                <a:solidFill>
                  <a:srgbClr val="FF0000"/>
                </a:solidFill>
                <a:latin typeface="Courier New" panose="02070309020205020404" pitchFamily="49" charset="0"/>
                <a:cs typeface="Courier New" panose="02070309020205020404" pitchFamily="49" charset="0"/>
              </a:rPr>
              <a:t>ON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ProductModel</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CatalogDesc</a:t>
            </a:r>
            <a:r>
              <a:rPr lang="en-US" sz="1600" b="1" dirty="0">
                <a:latin typeface="Courier New" panose="02070309020205020404" pitchFamily="49" charset="0"/>
                <a:cs typeface="Courier New" panose="02070309020205020404" pitchFamily="49" charset="0"/>
              </a:rPr>
              <a:t>);</a:t>
            </a:r>
          </a:p>
        </p:txBody>
      </p:sp>
      <p:grpSp>
        <p:nvGrpSpPr>
          <p:cNvPr id="14" name="Group 13"/>
          <p:cNvGrpSpPr/>
          <p:nvPr/>
        </p:nvGrpSpPr>
        <p:grpSpPr>
          <a:xfrm>
            <a:off x="357179" y="3657600"/>
            <a:ext cx="2514600" cy="457200"/>
            <a:chOff x="0" y="21039"/>
            <a:chExt cx="6096000" cy="1067040"/>
          </a:xfrm>
          <a:scene3d>
            <a:camera prst="orthographicFront"/>
            <a:lightRig rig="flat" dir="t"/>
          </a:scene3d>
        </p:grpSpPr>
        <p:sp>
          <p:nvSpPr>
            <p:cNvPr id="15" name="Rounded Rectangle 14"/>
            <p:cNvSpPr/>
            <p:nvPr/>
          </p:nvSpPr>
          <p:spPr>
            <a:xfrm>
              <a:off x="0" y="21039"/>
              <a:ext cx="6096000" cy="1067040"/>
            </a:xfrm>
            <a:prstGeom prst="roundRect">
              <a:avLst/>
            </a:prstGeom>
            <a:sp3d prstMaterial="plastic">
              <a:bevelT w="120900" h="88900"/>
              <a:bevelB w="88900" h="31750" prst="angle"/>
            </a:sp3d>
          </p:spPr>
          <p:style>
            <a:lnRef idx="0">
              <a:schemeClr val="lt1">
                <a:hueOff val="0"/>
                <a:satOff val="0"/>
                <a:lumOff val="0"/>
                <a:alphaOff val="0"/>
              </a:schemeClr>
            </a:lnRef>
            <a:fillRef idx="3">
              <a:schemeClr val="accent4">
                <a:alpha val="90000"/>
                <a:hueOff val="0"/>
                <a:satOff val="0"/>
                <a:lumOff val="0"/>
                <a:alphaOff val="0"/>
              </a:schemeClr>
            </a:fillRef>
            <a:effectRef idx="2">
              <a:schemeClr val="accent4">
                <a:alpha val="90000"/>
                <a:hueOff val="0"/>
                <a:satOff val="0"/>
                <a:lumOff val="0"/>
                <a:alphaOff val="0"/>
              </a:schemeClr>
            </a:effectRef>
            <a:fontRef idx="minor">
              <a:schemeClr val="lt1"/>
            </a:fontRef>
          </p:style>
        </p:sp>
        <p:sp>
          <p:nvSpPr>
            <p:cNvPr id="16" name="Rounded Rectangle 4"/>
            <p:cNvSpPr/>
            <p:nvPr/>
          </p:nvSpPr>
          <p:spPr>
            <a:xfrm>
              <a:off x="52090" y="125218"/>
              <a:ext cx="5991823" cy="962861"/>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US" sz="1800" b="1" dirty="0">
                  <a:latin typeface="Calibri" pitchFamily="34" charset="0"/>
                  <a:cs typeface="Calibri" pitchFamily="34" charset="0"/>
                </a:rPr>
                <a:t>Secondary XML Indexes</a:t>
              </a:r>
              <a:endParaRPr lang="en-US" sz="1800" b="1" kern="1200" dirty="0">
                <a:latin typeface="Calibri" pitchFamily="34" charset="0"/>
                <a:cs typeface="Calibri" pitchFamily="34" charset="0"/>
              </a:endParaRPr>
            </a:p>
          </p:txBody>
        </p:sp>
      </p:grpSp>
      <p:sp>
        <p:nvSpPr>
          <p:cNvPr id="17" name="TextBox 16"/>
          <p:cNvSpPr txBox="1"/>
          <p:nvPr/>
        </p:nvSpPr>
        <p:spPr>
          <a:xfrm>
            <a:off x="304800" y="4114800"/>
            <a:ext cx="8229600" cy="1477328"/>
          </a:xfrm>
          <a:prstGeom prst="rect">
            <a:avLst/>
          </a:prstGeom>
          <a:noFill/>
        </p:spPr>
        <p:txBody>
          <a:bodyPr wrap="square" rtlCol="0">
            <a:spAutoFit/>
          </a:bodyPr>
          <a:lstStyle/>
          <a:p>
            <a:pPr>
              <a:lnSpc>
                <a:spcPct val="100000"/>
              </a:lnSpc>
              <a:spcBef>
                <a:spcPts val="0"/>
              </a:spcBef>
            </a:pPr>
            <a:r>
              <a:rPr lang="en-US" sz="1800">
                <a:latin typeface="Calibri" pitchFamily="34" charset="0"/>
                <a:cs typeface="Calibri" pitchFamily="34" charset="0"/>
              </a:rPr>
              <a:t>Can </a:t>
            </a:r>
            <a:r>
              <a:rPr lang="en-US" sz="1800" dirty="0">
                <a:latin typeface="Calibri" pitchFamily="34" charset="0"/>
                <a:cs typeface="Calibri" pitchFamily="34" charset="0"/>
              </a:rPr>
              <a:t>only be created on columns that already have a primary XML index, uses for :</a:t>
            </a:r>
          </a:p>
          <a:p>
            <a:pPr marL="682625" indent="-341313">
              <a:lnSpc>
                <a:spcPct val="100000"/>
              </a:lnSpc>
              <a:spcBef>
                <a:spcPts val="0"/>
              </a:spcBef>
              <a:buFont typeface="Arial" pitchFamily="34" charset="0"/>
              <a:buChar char="•"/>
            </a:pPr>
            <a:r>
              <a:rPr lang="en-US" sz="1800" dirty="0">
                <a:latin typeface="Calibri" pitchFamily="34" charset="0"/>
                <a:cs typeface="Calibri" pitchFamily="34" charset="0"/>
              </a:rPr>
              <a:t>Searching for values anywhere in the XML document.</a:t>
            </a:r>
          </a:p>
          <a:p>
            <a:pPr marL="682625" indent="-341313">
              <a:lnSpc>
                <a:spcPct val="100000"/>
              </a:lnSpc>
              <a:spcBef>
                <a:spcPts val="0"/>
              </a:spcBef>
              <a:buFont typeface="Arial" pitchFamily="34" charset="0"/>
              <a:buChar char="•"/>
            </a:pPr>
            <a:r>
              <a:rPr lang="en-US" sz="1800" dirty="0">
                <a:latin typeface="Calibri" pitchFamily="34" charset="0"/>
                <a:cs typeface="Calibri" pitchFamily="34" charset="0"/>
              </a:rPr>
              <a:t>Retrieving particular object properties from within an XML document.</a:t>
            </a:r>
          </a:p>
          <a:p>
            <a:pPr marL="341313" indent="-341313">
              <a:lnSpc>
                <a:spcPct val="100000"/>
              </a:lnSpc>
              <a:spcBef>
                <a:spcPts val="0"/>
              </a:spcBef>
              <a:buFont typeface="Wingdings" pitchFamily="2" charset="2"/>
              <a:buChar char="Ø"/>
            </a:pPr>
            <a:endParaRPr lang="en-US" sz="1800" dirty="0">
              <a:latin typeface="Calibri" pitchFamily="34" charset="0"/>
              <a:cs typeface="Calibri" pitchFamily="34" charset="0"/>
            </a:endParaRPr>
          </a:p>
          <a:p>
            <a:pPr marL="341313" indent="-341313">
              <a:lnSpc>
                <a:spcPct val="100000"/>
              </a:lnSpc>
              <a:spcBef>
                <a:spcPts val="0"/>
              </a:spcBef>
              <a:buFont typeface="Wingdings" pitchFamily="2" charset="2"/>
              <a:buChar char="Ø"/>
            </a:pPr>
            <a:r>
              <a:rPr lang="en-US" sz="1800" dirty="0">
                <a:latin typeface="Calibri" pitchFamily="34" charset="0"/>
                <a:cs typeface="Calibri" pitchFamily="34" charset="0"/>
              </a:rPr>
              <a:t>Example</a:t>
            </a:r>
          </a:p>
        </p:txBody>
      </p:sp>
      <p:sp>
        <p:nvSpPr>
          <p:cNvPr id="18" name="TextBox 17"/>
          <p:cNvSpPr txBox="1"/>
          <p:nvPr/>
        </p:nvSpPr>
        <p:spPr>
          <a:xfrm>
            <a:off x="1702144" y="5181600"/>
            <a:ext cx="7155056" cy="1200329"/>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a:latin typeface="Courier New" panose="02070309020205020404" pitchFamily="49" charset="0"/>
                <a:cs typeface="Courier New" panose="02070309020205020404" pitchFamily="49" charset="0"/>
              </a:rPr>
              <a:t>CREATE </a:t>
            </a:r>
            <a:r>
              <a:rPr lang="en-US" b="1" dirty="0">
                <a:solidFill>
                  <a:srgbClr val="FF0000"/>
                </a:solidFill>
                <a:latin typeface="Courier New" panose="02070309020205020404" pitchFamily="49" charset="0"/>
                <a:cs typeface="Courier New" panose="02070309020205020404" pitchFamily="49" charset="0"/>
              </a:rPr>
              <a:t>XML INDEX </a:t>
            </a:r>
            <a:r>
              <a:rPr lang="en-US" b="1" dirty="0" err="1">
                <a:latin typeface="Courier New" panose="02070309020205020404" pitchFamily="49" charset="0"/>
                <a:cs typeface="Courier New" panose="02070309020205020404" pitchFamily="49" charset="0"/>
              </a:rPr>
              <a:t>IXML_Product_Path</a:t>
            </a: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ON</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ProductModel</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CatalogDesc</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a:t>
            </a:r>
            <a:r>
              <a:rPr lang="en-US" b="1" dirty="0">
                <a:solidFill>
                  <a:srgbClr val="007E39"/>
                </a:solidFill>
                <a:latin typeface="Courier New" panose="02070309020205020404" pitchFamily="49" charset="0"/>
                <a:cs typeface="Courier New" panose="02070309020205020404" pitchFamily="49" charset="0"/>
              </a:rPr>
              <a:t>USING XML INDEX </a:t>
            </a:r>
            <a:r>
              <a:rPr lang="en-US" b="1" dirty="0" err="1">
                <a:latin typeface="Courier New" panose="02070309020205020404" pitchFamily="49" charset="0"/>
                <a:cs typeface="Courier New" panose="02070309020205020404" pitchFamily="49" charset="0"/>
              </a:rPr>
              <a:t>XML_Product</a:t>
            </a:r>
            <a:r>
              <a:rPr lang="en-US" b="1" dirty="0">
                <a:latin typeface="Courier New" panose="02070309020205020404" pitchFamily="49" charset="0"/>
                <a:cs typeface="Courier New" panose="02070309020205020404" pitchFamily="49" charset="0"/>
              </a:rPr>
              <a:t> </a:t>
            </a:r>
            <a:r>
              <a:rPr lang="en-US" b="1" dirty="0">
                <a:solidFill>
                  <a:srgbClr val="007E39"/>
                </a:solidFill>
                <a:latin typeface="Courier New" panose="02070309020205020404" pitchFamily="49" charset="0"/>
                <a:cs typeface="Courier New" panose="02070309020205020404" pitchFamily="49" charset="0"/>
              </a:rPr>
              <a:t>FOR PATH </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GO</a:t>
            </a:r>
          </a:p>
        </p:txBody>
      </p:sp>
      <p:sp>
        <p:nvSpPr>
          <p:cNvPr id="19" name="object 13">
            <a:extLst>
              <a:ext uri="{FF2B5EF4-FFF2-40B4-BE49-F238E27FC236}">
                <a16:creationId xmlns:a16="http://schemas.microsoft.com/office/drawing/2014/main" id="{6ACBA0E5-25F6-4089-A13E-C42673327012}"/>
              </a:ext>
            </a:extLst>
          </p:cNvPr>
          <p:cNvSpPr txBox="1">
            <a:spLocks/>
          </p:cNvSpPr>
          <p:nvPr/>
        </p:nvSpPr>
        <p:spPr>
          <a:xfrm>
            <a:off x="7882890" y="6569709"/>
            <a:ext cx="934720"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12" baseline="4629"/>
              <a:t>11/</a:t>
            </a:r>
            <a:r>
              <a:rPr lang="en-US" spc="-270" baseline="4629"/>
              <a:t> </a:t>
            </a:r>
            <a:fld id="{81D60167-4931-47E6-BA6A-407CBD079E47}" type="slidenum">
              <a:rPr sz="1200" spc="-5" smtClean="0"/>
              <a:pPr marL="12700">
                <a:spcBef>
                  <a:spcPts val="145"/>
                </a:spcBef>
              </a:pPr>
              <a:t>40</a:t>
            </a:fld>
            <a:endParaRPr sz="1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4284345" cy="574040"/>
          </a:xfrm>
          <a:prstGeom prst="rect">
            <a:avLst/>
          </a:prstGeom>
        </p:spPr>
        <p:txBody>
          <a:bodyPr vert="horz" wrap="square" lIns="0" tIns="12700" rIns="0" bIns="0" rtlCol="0">
            <a:spAutoFit/>
          </a:bodyPr>
          <a:lstStyle/>
          <a:p>
            <a:pPr marL="12700">
              <a:lnSpc>
                <a:spcPct val="100000"/>
              </a:lnSpc>
              <a:spcBef>
                <a:spcPts val="100"/>
              </a:spcBef>
            </a:pPr>
            <a:r>
              <a:rPr b="0" spc="190" dirty="0">
                <a:latin typeface="Times New Roman"/>
                <a:cs typeface="Times New Roman"/>
              </a:rPr>
              <a:t>Columnstore</a:t>
            </a:r>
            <a:r>
              <a:rPr b="0" spc="-225" dirty="0">
                <a:latin typeface="Times New Roman"/>
                <a:cs typeface="Times New Roman"/>
              </a:rPr>
              <a:t> </a:t>
            </a:r>
            <a:r>
              <a:rPr b="0" spc="125" dirty="0">
                <a:latin typeface="Times New Roman"/>
                <a:cs typeface="Times New Roman"/>
              </a:rPr>
              <a:t>Indexes</a:t>
            </a:r>
          </a:p>
        </p:txBody>
      </p:sp>
      <p:sp>
        <p:nvSpPr>
          <p:cNvPr id="3" name="object 3"/>
          <p:cNvSpPr/>
          <p:nvPr/>
        </p:nvSpPr>
        <p:spPr>
          <a:xfrm>
            <a:off x="304800" y="791717"/>
            <a:ext cx="3845560" cy="2242820"/>
          </a:xfrm>
          <a:custGeom>
            <a:avLst/>
            <a:gdLst/>
            <a:ahLst/>
            <a:cxnLst/>
            <a:rect l="l" t="t" r="r" b="b"/>
            <a:pathLst>
              <a:path w="3845560" h="2242820">
                <a:moveTo>
                  <a:pt x="3845052" y="373761"/>
                </a:moveTo>
                <a:lnTo>
                  <a:pt x="3842131" y="326898"/>
                </a:lnTo>
                <a:lnTo>
                  <a:pt x="3833622" y="281749"/>
                </a:lnTo>
                <a:lnTo>
                  <a:pt x="3819880" y="238696"/>
                </a:lnTo>
                <a:lnTo>
                  <a:pt x="3801249" y="198081"/>
                </a:lnTo>
                <a:lnTo>
                  <a:pt x="3778072" y="160248"/>
                </a:lnTo>
                <a:lnTo>
                  <a:pt x="3750703" y="125552"/>
                </a:lnTo>
                <a:lnTo>
                  <a:pt x="3719499" y="94348"/>
                </a:lnTo>
                <a:lnTo>
                  <a:pt x="3684803" y="66979"/>
                </a:lnTo>
                <a:lnTo>
                  <a:pt x="3646970" y="43802"/>
                </a:lnTo>
                <a:lnTo>
                  <a:pt x="3606355" y="25171"/>
                </a:lnTo>
                <a:lnTo>
                  <a:pt x="3563302" y="11430"/>
                </a:lnTo>
                <a:lnTo>
                  <a:pt x="3518154" y="2921"/>
                </a:lnTo>
                <a:lnTo>
                  <a:pt x="3471291" y="0"/>
                </a:lnTo>
                <a:lnTo>
                  <a:pt x="373773" y="0"/>
                </a:lnTo>
                <a:lnTo>
                  <a:pt x="326885" y="2921"/>
                </a:lnTo>
                <a:lnTo>
                  <a:pt x="281736" y="11430"/>
                </a:lnTo>
                <a:lnTo>
                  <a:pt x="238671" y="25171"/>
                </a:lnTo>
                <a:lnTo>
                  <a:pt x="198056" y="43802"/>
                </a:lnTo>
                <a:lnTo>
                  <a:pt x="160223" y="66979"/>
                </a:lnTo>
                <a:lnTo>
                  <a:pt x="125526" y="94348"/>
                </a:lnTo>
                <a:lnTo>
                  <a:pt x="94322" y="125552"/>
                </a:lnTo>
                <a:lnTo>
                  <a:pt x="66967" y="160248"/>
                </a:lnTo>
                <a:lnTo>
                  <a:pt x="43789" y="198081"/>
                </a:lnTo>
                <a:lnTo>
                  <a:pt x="25158" y="238696"/>
                </a:lnTo>
                <a:lnTo>
                  <a:pt x="11404" y="281749"/>
                </a:lnTo>
                <a:lnTo>
                  <a:pt x="2908" y="326898"/>
                </a:lnTo>
                <a:lnTo>
                  <a:pt x="0" y="373761"/>
                </a:lnTo>
                <a:lnTo>
                  <a:pt x="0" y="1868805"/>
                </a:lnTo>
                <a:lnTo>
                  <a:pt x="2908" y="1915680"/>
                </a:lnTo>
                <a:lnTo>
                  <a:pt x="11404" y="1960829"/>
                </a:lnTo>
                <a:lnTo>
                  <a:pt x="25158" y="2003882"/>
                </a:lnTo>
                <a:lnTo>
                  <a:pt x="43789" y="2044496"/>
                </a:lnTo>
                <a:lnTo>
                  <a:pt x="66967" y="2082330"/>
                </a:lnTo>
                <a:lnTo>
                  <a:pt x="94322" y="2117026"/>
                </a:lnTo>
                <a:lnTo>
                  <a:pt x="125526" y="2148230"/>
                </a:lnTo>
                <a:lnTo>
                  <a:pt x="160223" y="2175599"/>
                </a:lnTo>
                <a:lnTo>
                  <a:pt x="198056" y="2198776"/>
                </a:lnTo>
                <a:lnTo>
                  <a:pt x="238671" y="2217407"/>
                </a:lnTo>
                <a:lnTo>
                  <a:pt x="281736" y="2231148"/>
                </a:lnTo>
                <a:lnTo>
                  <a:pt x="326885" y="2239657"/>
                </a:lnTo>
                <a:lnTo>
                  <a:pt x="373773" y="2242566"/>
                </a:lnTo>
                <a:lnTo>
                  <a:pt x="3471291" y="2242566"/>
                </a:lnTo>
                <a:lnTo>
                  <a:pt x="3518154" y="2239657"/>
                </a:lnTo>
                <a:lnTo>
                  <a:pt x="3563302" y="2231148"/>
                </a:lnTo>
                <a:lnTo>
                  <a:pt x="3606355" y="2217407"/>
                </a:lnTo>
                <a:lnTo>
                  <a:pt x="3646970" y="2198776"/>
                </a:lnTo>
                <a:lnTo>
                  <a:pt x="3684803" y="2175599"/>
                </a:lnTo>
                <a:lnTo>
                  <a:pt x="3719499" y="2148230"/>
                </a:lnTo>
                <a:lnTo>
                  <a:pt x="3750703" y="2117026"/>
                </a:lnTo>
                <a:lnTo>
                  <a:pt x="3778072" y="2082330"/>
                </a:lnTo>
                <a:lnTo>
                  <a:pt x="3801249" y="2044496"/>
                </a:lnTo>
                <a:lnTo>
                  <a:pt x="3819880" y="2003882"/>
                </a:lnTo>
                <a:lnTo>
                  <a:pt x="3833622" y="1960829"/>
                </a:lnTo>
                <a:lnTo>
                  <a:pt x="3842131" y="1915680"/>
                </a:lnTo>
                <a:lnTo>
                  <a:pt x="3845052" y="1868805"/>
                </a:lnTo>
                <a:lnTo>
                  <a:pt x="3845052" y="1696212"/>
                </a:lnTo>
                <a:lnTo>
                  <a:pt x="3845052" y="546354"/>
                </a:lnTo>
                <a:lnTo>
                  <a:pt x="3845052" y="373761"/>
                </a:lnTo>
                <a:close/>
              </a:path>
            </a:pathLst>
          </a:custGeom>
          <a:solidFill>
            <a:srgbClr val="4AACC5"/>
          </a:solidFill>
        </p:spPr>
        <p:txBody>
          <a:bodyPr wrap="square" lIns="0" tIns="0" rIns="0" bIns="0" rtlCol="0"/>
          <a:lstStyle/>
          <a:p>
            <a:endParaRPr/>
          </a:p>
        </p:txBody>
      </p:sp>
      <p:sp>
        <p:nvSpPr>
          <p:cNvPr id="4" name="object 4"/>
          <p:cNvSpPr txBox="1"/>
          <p:nvPr/>
        </p:nvSpPr>
        <p:spPr>
          <a:xfrm>
            <a:off x="596900" y="797559"/>
            <a:ext cx="3326765" cy="2159000"/>
          </a:xfrm>
          <a:prstGeom prst="rect">
            <a:avLst/>
          </a:prstGeom>
        </p:spPr>
        <p:txBody>
          <a:bodyPr vert="horz" wrap="square" lIns="0" tIns="12065" rIns="0" bIns="0" rtlCol="0">
            <a:spAutoFit/>
          </a:bodyPr>
          <a:lstStyle/>
          <a:p>
            <a:pPr marL="355600" marR="5080" indent="-343535">
              <a:lnSpc>
                <a:spcPct val="100000"/>
              </a:lnSpc>
              <a:spcBef>
                <a:spcPts val="95"/>
              </a:spcBef>
              <a:buFont typeface="Wingdings"/>
              <a:buChar char=""/>
              <a:tabLst>
                <a:tab pos="355600" algn="l"/>
                <a:tab pos="356235" algn="l"/>
                <a:tab pos="1167130" algn="l"/>
                <a:tab pos="1491615" algn="l"/>
                <a:tab pos="1526540" algn="l"/>
                <a:tab pos="1774189" algn="l"/>
                <a:tab pos="2266315" algn="l"/>
                <a:tab pos="2720975" algn="l"/>
                <a:tab pos="2771775" algn="l"/>
              </a:tabLst>
            </a:pPr>
            <a:r>
              <a:rPr sz="2000" spc="110" dirty="0">
                <a:solidFill>
                  <a:srgbClr val="FFFFFF"/>
                </a:solidFill>
                <a:latin typeface="Times New Roman"/>
                <a:cs typeface="Times New Roman"/>
              </a:rPr>
              <a:t>Cre</a:t>
            </a:r>
            <a:r>
              <a:rPr sz="2000" spc="105" dirty="0">
                <a:solidFill>
                  <a:srgbClr val="FFFFFF"/>
                </a:solidFill>
                <a:latin typeface="Times New Roman"/>
                <a:cs typeface="Times New Roman"/>
              </a:rPr>
              <a:t>a</a:t>
            </a:r>
            <a:r>
              <a:rPr sz="2000" spc="70" dirty="0">
                <a:solidFill>
                  <a:srgbClr val="FFFFFF"/>
                </a:solidFill>
                <a:latin typeface="Times New Roman"/>
                <a:cs typeface="Times New Roman"/>
              </a:rPr>
              <a:t>ting</a:t>
            </a:r>
            <a:r>
              <a:rPr sz="200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dirty="0">
                <a:solidFill>
                  <a:srgbClr val="FFFFFF"/>
                </a:solidFill>
                <a:latin typeface="Times New Roman"/>
                <a:cs typeface="Times New Roman"/>
              </a:rPr>
              <a:t>	</a:t>
            </a:r>
            <a:r>
              <a:rPr sz="2000" spc="60" dirty="0">
                <a:solidFill>
                  <a:srgbClr val="FFFFFF"/>
                </a:solidFill>
                <a:latin typeface="Times New Roman"/>
                <a:cs typeface="Times New Roman"/>
              </a:rPr>
              <a:t>colu</a:t>
            </a:r>
            <a:r>
              <a:rPr sz="2000" spc="114" dirty="0">
                <a:solidFill>
                  <a:srgbClr val="FFFFFF"/>
                </a:solidFill>
                <a:latin typeface="Times New Roman"/>
                <a:cs typeface="Times New Roman"/>
              </a:rPr>
              <a:t>m</a:t>
            </a:r>
            <a:r>
              <a:rPr sz="2000" spc="180" dirty="0">
                <a:solidFill>
                  <a:srgbClr val="FFFFFF"/>
                </a:solidFill>
                <a:latin typeface="Times New Roman"/>
                <a:cs typeface="Times New Roman"/>
              </a:rPr>
              <a:t>n</a:t>
            </a:r>
            <a:r>
              <a:rPr sz="2000" dirty="0">
                <a:solidFill>
                  <a:srgbClr val="FFFFFF"/>
                </a:solidFill>
                <a:latin typeface="Times New Roman"/>
                <a:cs typeface="Times New Roman"/>
              </a:rPr>
              <a:t>		</a:t>
            </a:r>
            <a:r>
              <a:rPr sz="2000" spc="75" dirty="0">
                <a:solidFill>
                  <a:srgbClr val="FFFFFF"/>
                </a:solidFill>
                <a:latin typeface="Times New Roman"/>
                <a:cs typeface="Times New Roman"/>
              </a:rPr>
              <a:t>s</a:t>
            </a:r>
            <a:r>
              <a:rPr sz="2000" spc="60" dirty="0">
                <a:solidFill>
                  <a:srgbClr val="FFFFFF"/>
                </a:solidFill>
                <a:latin typeface="Times New Roman"/>
                <a:cs typeface="Times New Roman"/>
              </a:rPr>
              <a:t>tore  </a:t>
            </a:r>
            <a:r>
              <a:rPr sz="2000" spc="90" dirty="0">
                <a:solidFill>
                  <a:srgbClr val="FFFFFF"/>
                </a:solidFill>
                <a:latin typeface="Times New Roman"/>
                <a:cs typeface="Times New Roman"/>
              </a:rPr>
              <a:t>ind</a:t>
            </a:r>
            <a:r>
              <a:rPr sz="2000" spc="95" dirty="0">
                <a:solidFill>
                  <a:srgbClr val="FFFFFF"/>
                </a:solidFill>
                <a:latin typeface="Times New Roman"/>
                <a:cs typeface="Times New Roman"/>
              </a:rPr>
              <a:t>e</a:t>
            </a:r>
            <a:r>
              <a:rPr sz="2000" spc="90" dirty="0">
                <a:solidFill>
                  <a:srgbClr val="FFFFFF"/>
                </a:solidFill>
                <a:latin typeface="Times New Roman"/>
                <a:cs typeface="Times New Roman"/>
              </a:rPr>
              <a:t>x</a:t>
            </a:r>
            <a:r>
              <a:rPr sz="200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dirty="0">
                <a:solidFill>
                  <a:srgbClr val="FFFFFF"/>
                </a:solidFill>
                <a:latin typeface="Times New Roman"/>
                <a:cs typeface="Times New Roman"/>
              </a:rPr>
              <a:t>		</a:t>
            </a:r>
            <a:r>
              <a:rPr sz="2000" spc="114" dirty="0">
                <a:solidFill>
                  <a:srgbClr val="FFFFFF"/>
                </a:solidFill>
                <a:latin typeface="Times New Roman"/>
                <a:cs typeface="Times New Roman"/>
              </a:rPr>
              <a:t>d</a:t>
            </a:r>
            <a:r>
              <a:rPr sz="2000" spc="135" dirty="0">
                <a:solidFill>
                  <a:srgbClr val="FFFFFF"/>
                </a:solidFill>
                <a:latin typeface="Times New Roman"/>
                <a:cs typeface="Times New Roman"/>
              </a:rPr>
              <a:t>o</a:t>
            </a:r>
            <a:r>
              <a:rPr sz="2000" spc="145" dirty="0">
                <a:solidFill>
                  <a:srgbClr val="FFFFFF"/>
                </a:solidFill>
                <a:latin typeface="Times New Roman"/>
                <a:cs typeface="Times New Roman"/>
              </a:rPr>
              <a:t>n</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45" dirty="0">
                <a:solidFill>
                  <a:srgbClr val="FFFFFF"/>
                </a:solidFill>
                <a:latin typeface="Times New Roman"/>
                <a:cs typeface="Times New Roman"/>
              </a:rPr>
              <a:t>b</a:t>
            </a:r>
            <a:r>
              <a:rPr sz="2000" spc="40" dirty="0">
                <a:solidFill>
                  <a:srgbClr val="FFFFFF"/>
                </a:solidFill>
                <a:latin typeface="Times New Roman"/>
                <a:cs typeface="Times New Roman"/>
              </a:rPr>
              <a:t>y</a:t>
            </a:r>
            <a:r>
              <a:rPr sz="2000" dirty="0">
                <a:solidFill>
                  <a:srgbClr val="FFFFFF"/>
                </a:solidFill>
                <a:latin typeface="Times New Roman"/>
                <a:cs typeface="Times New Roman"/>
              </a:rPr>
              <a:t>	</a:t>
            </a:r>
            <a:r>
              <a:rPr sz="2000" spc="55" dirty="0">
                <a:solidFill>
                  <a:srgbClr val="FFFFFF"/>
                </a:solidFill>
                <a:latin typeface="Times New Roman"/>
                <a:cs typeface="Times New Roman"/>
              </a:rPr>
              <a:t>using  </a:t>
            </a:r>
            <a:r>
              <a:rPr sz="2000" spc="114" dirty="0">
                <a:solidFill>
                  <a:srgbClr val="FFFFFF"/>
                </a:solidFill>
                <a:latin typeface="Times New Roman"/>
                <a:cs typeface="Times New Roman"/>
              </a:rPr>
              <a:t>CREATE  </a:t>
            </a:r>
            <a:r>
              <a:rPr sz="2000" spc="135" dirty="0">
                <a:solidFill>
                  <a:srgbClr val="FFFFFF"/>
                </a:solidFill>
                <a:latin typeface="Times New Roman"/>
                <a:cs typeface="Times New Roman"/>
              </a:rPr>
              <a:t>COLUMNSTORE  </a:t>
            </a:r>
            <a:r>
              <a:rPr sz="2000" spc="60" dirty="0">
                <a:solidFill>
                  <a:srgbClr val="FFFFFF"/>
                </a:solidFill>
                <a:latin typeface="Times New Roman"/>
                <a:cs typeface="Times New Roman"/>
              </a:rPr>
              <a:t>INDEX </a:t>
            </a:r>
            <a:r>
              <a:rPr sz="2000" spc="90" dirty="0">
                <a:solidFill>
                  <a:srgbClr val="FFFFFF"/>
                </a:solidFill>
                <a:latin typeface="Times New Roman"/>
                <a:cs typeface="Times New Roman"/>
              </a:rPr>
              <a:t>command </a:t>
            </a:r>
            <a:r>
              <a:rPr sz="2000" spc="110" dirty="0">
                <a:solidFill>
                  <a:srgbClr val="FFFFFF"/>
                </a:solidFill>
                <a:latin typeface="Times New Roman"/>
                <a:cs typeface="Times New Roman"/>
              </a:rPr>
              <a:t>and </a:t>
            </a:r>
            <a:r>
              <a:rPr sz="2000" spc="70" dirty="0">
                <a:solidFill>
                  <a:srgbClr val="FFFFFF"/>
                </a:solidFill>
                <a:latin typeface="Times New Roman"/>
                <a:cs typeface="Times New Roman"/>
              </a:rPr>
              <a:t>has  </a:t>
            </a:r>
            <a:r>
              <a:rPr sz="2000" spc="75" dirty="0">
                <a:solidFill>
                  <a:srgbClr val="FFFFFF"/>
                </a:solidFill>
                <a:latin typeface="Times New Roman"/>
                <a:cs typeface="Times New Roman"/>
              </a:rPr>
              <a:t>many </a:t>
            </a:r>
            <a:r>
              <a:rPr sz="2000" spc="55" dirty="0">
                <a:solidFill>
                  <a:srgbClr val="FFFFFF"/>
                </a:solidFill>
                <a:latin typeface="Times New Roman"/>
                <a:cs typeface="Times New Roman"/>
              </a:rPr>
              <a:t>of </a:t>
            </a:r>
            <a:r>
              <a:rPr sz="2000" spc="114" dirty="0">
                <a:solidFill>
                  <a:srgbClr val="FFFFFF"/>
                </a:solidFill>
                <a:latin typeface="Times New Roman"/>
                <a:cs typeface="Times New Roman"/>
              </a:rPr>
              <a:t>the </a:t>
            </a:r>
            <a:r>
              <a:rPr sz="2000" spc="45" dirty="0">
                <a:solidFill>
                  <a:srgbClr val="FFFFFF"/>
                </a:solidFill>
                <a:latin typeface="Times New Roman"/>
                <a:cs typeface="Times New Roman"/>
              </a:rPr>
              <a:t>same </a:t>
            </a:r>
            <a:r>
              <a:rPr sz="2000" spc="90" dirty="0">
                <a:solidFill>
                  <a:srgbClr val="FFFFFF"/>
                </a:solidFill>
                <a:latin typeface="Times New Roman"/>
                <a:cs typeface="Times New Roman"/>
              </a:rPr>
              <a:t>options  </a:t>
            </a:r>
            <a:r>
              <a:rPr sz="2000" spc="20" dirty="0">
                <a:solidFill>
                  <a:srgbClr val="FFFFFF"/>
                </a:solidFill>
                <a:latin typeface="Times New Roman"/>
                <a:cs typeface="Times New Roman"/>
              </a:rPr>
              <a:t>as </a:t>
            </a:r>
            <a:r>
              <a:rPr sz="2000" spc="30" dirty="0">
                <a:solidFill>
                  <a:srgbClr val="FFFFFF"/>
                </a:solidFill>
                <a:latin typeface="Times New Roman"/>
                <a:cs typeface="Times New Roman"/>
              </a:rPr>
              <a:t>a </a:t>
            </a:r>
            <a:r>
              <a:rPr sz="2000" spc="50" dirty="0">
                <a:solidFill>
                  <a:srgbClr val="FFFFFF"/>
                </a:solidFill>
                <a:latin typeface="Times New Roman"/>
                <a:cs typeface="Times New Roman"/>
              </a:rPr>
              <a:t>regular</a:t>
            </a:r>
            <a:r>
              <a:rPr sz="2000" spc="-280" dirty="0">
                <a:solidFill>
                  <a:srgbClr val="FFFFFF"/>
                </a:solidFill>
                <a:latin typeface="Times New Roman"/>
                <a:cs typeface="Times New Roman"/>
              </a:rPr>
              <a:t> </a:t>
            </a:r>
            <a:r>
              <a:rPr sz="2000" spc="75" dirty="0">
                <a:solidFill>
                  <a:srgbClr val="FFFFFF"/>
                </a:solidFill>
                <a:latin typeface="Times New Roman"/>
                <a:cs typeface="Times New Roman"/>
              </a:rPr>
              <a:t>index.</a:t>
            </a:r>
            <a:endParaRPr sz="2000">
              <a:latin typeface="Times New Roman"/>
              <a:cs typeface="Times New Roman"/>
            </a:endParaRPr>
          </a:p>
        </p:txBody>
      </p:sp>
      <p:pic>
        <p:nvPicPr>
          <p:cNvPr id="5" name="object 5"/>
          <p:cNvPicPr/>
          <p:nvPr/>
        </p:nvPicPr>
        <p:blipFill>
          <a:blip r:embed="rId3" cstate="print"/>
          <a:stretch>
            <a:fillRect/>
          </a:stretch>
        </p:blipFill>
        <p:spPr>
          <a:xfrm>
            <a:off x="4330446" y="814577"/>
            <a:ext cx="4672584" cy="2907030"/>
          </a:xfrm>
          <a:prstGeom prst="rect">
            <a:avLst/>
          </a:prstGeom>
        </p:spPr>
      </p:pic>
      <p:sp>
        <p:nvSpPr>
          <p:cNvPr id="6" name="object 6"/>
          <p:cNvSpPr txBox="1"/>
          <p:nvPr/>
        </p:nvSpPr>
        <p:spPr>
          <a:xfrm>
            <a:off x="6138164" y="3729227"/>
            <a:ext cx="150622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Columnstore</a:t>
            </a:r>
            <a:r>
              <a:rPr sz="1400" b="1" spc="-130"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pic>
        <p:nvPicPr>
          <p:cNvPr id="7" name="object 7"/>
          <p:cNvPicPr/>
          <p:nvPr/>
        </p:nvPicPr>
        <p:blipFill>
          <a:blip r:embed="rId4" cstate="print"/>
          <a:stretch>
            <a:fillRect/>
          </a:stretch>
        </p:blipFill>
        <p:spPr>
          <a:xfrm>
            <a:off x="942594" y="4108703"/>
            <a:ext cx="7258811" cy="1934718"/>
          </a:xfrm>
          <a:prstGeom prst="rect">
            <a:avLst/>
          </a:prstGeom>
        </p:spPr>
      </p:pic>
      <p:sp>
        <p:nvSpPr>
          <p:cNvPr id="8" name="object 8"/>
          <p:cNvSpPr txBox="1"/>
          <p:nvPr/>
        </p:nvSpPr>
        <p:spPr>
          <a:xfrm>
            <a:off x="2366264" y="6065011"/>
            <a:ext cx="373062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Estimated</a:t>
            </a:r>
            <a:r>
              <a:rPr sz="1400" b="1" spc="-85" dirty="0">
                <a:latin typeface="Times New Roman"/>
                <a:cs typeface="Times New Roman"/>
              </a:rPr>
              <a:t> </a:t>
            </a:r>
            <a:r>
              <a:rPr sz="1400" b="1" spc="10" dirty="0">
                <a:latin typeface="Times New Roman"/>
                <a:cs typeface="Times New Roman"/>
              </a:rPr>
              <a:t>Execution</a:t>
            </a:r>
            <a:r>
              <a:rPr sz="1400" b="1" spc="-80" dirty="0">
                <a:latin typeface="Times New Roman"/>
                <a:cs typeface="Times New Roman"/>
              </a:rPr>
              <a:t> </a:t>
            </a:r>
            <a:r>
              <a:rPr sz="1400" b="1" spc="-25" dirty="0">
                <a:latin typeface="Times New Roman"/>
                <a:cs typeface="Times New Roman"/>
              </a:rPr>
              <a:t>Plan</a:t>
            </a:r>
            <a:r>
              <a:rPr sz="1400" b="1" spc="-85" dirty="0">
                <a:latin typeface="Times New Roman"/>
                <a:cs typeface="Times New Roman"/>
              </a:rPr>
              <a:t> </a:t>
            </a:r>
            <a:r>
              <a:rPr sz="1400" b="1" spc="-15" dirty="0">
                <a:latin typeface="Times New Roman"/>
                <a:cs typeface="Times New Roman"/>
              </a:rPr>
              <a:t>for</a:t>
            </a:r>
            <a:r>
              <a:rPr sz="1400" b="1" spc="-75" dirty="0">
                <a:latin typeface="Times New Roman"/>
                <a:cs typeface="Times New Roman"/>
              </a:rPr>
              <a:t> </a:t>
            </a:r>
            <a:r>
              <a:rPr sz="1400" b="1" spc="10" dirty="0">
                <a:latin typeface="Times New Roman"/>
                <a:cs typeface="Times New Roman"/>
              </a:rPr>
              <a:t>Columnstore</a:t>
            </a:r>
            <a:r>
              <a:rPr sz="1400" b="1" spc="-85" dirty="0">
                <a:latin typeface="Times New Roman"/>
                <a:cs typeface="Times New Roman"/>
              </a:rPr>
              <a:t> </a:t>
            </a:r>
            <a:r>
              <a:rPr sz="1400" b="1" spc="5" dirty="0">
                <a:latin typeface="Times New Roman"/>
                <a:cs typeface="Times New Roman"/>
              </a:rPr>
              <a:t>Index</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41</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25864" y="1219200"/>
            <a:ext cx="8071451" cy="984885"/>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00000"/>
              </a:lnSpc>
              <a:spcBef>
                <a:spcPts val="600"/>
              </a:spcBef>
            </a:pPr>
            <a:r>
              <a:rPr lang="en-US" sz="1600" b="1" dirty="0">
                <a:solidFill>
                  <a:srgbClr val="FF0000"/>
                </a:solidFill>
                <a:latin typeface="Courier New" panose="02070309020205020404" pitchFamily="49" charset="0"/>
                <a:cs typeface="Courier New" panose="02070309020205020404" pitchFamily="49" charset="0"/>
              </a:rPr>
              <a:t>CREATE</a:t>
            </a:r>
            <a:r>
              <a:rPr lang="en-US" sz="1600" b="1" dirty="0">
                <a:latin typeface="Courier New" panose="02070309020205020404" pitchFamily="49" charset="0"/>
                <a:cs typeface="Courier New" panose="02070309020205020404" pitchFamily="49" charset="0"/>
              </a:rPr>
              <a:t> [ NONCLUSTERED ] </a:t>
            </a:r>
            <a:r>
              <a:rPr lang="en-US" sz="1600" b="1" dirty="0">
                <a:solidFill>
                  <a:srgbClr val="FF0000"/>
                </a:solidFill>
                <a:latin typeface="Courier New" panose="02070309020205020404" pitchFamily="49" charset="0"/>
                <a:cs typeface="Courier New" panose="02070309020205020404" pitchFamily="49" charset="0"/>
              </a:rPr>
              <a:t>COLUMNSTORE INDEX </a:t>
            </a:r>
            <a:r>
              <a:rPr lang="en-US" sz="1600" b="1" dirty="0">
                <a:latin typeface="Courier New" panose="02070309020205020404" pitchFamily="49" charset="0"/>
                <a:cs typeface="Courier New" panose="02070309020205020404" pitchFamily="49" charset="0"/>
              </a:rPr>
              <a:t>index_name </a:t>
            </a:r>
            <a:r>
              <a:rPr lang="en-US" sz="1600" b="1" dirty="0">
                <a:solidFill>
                  <a:srgbClr val="FF0000"/>
                </a:solidFill>
                <a:latin typeface="Courier New" panose="02070309020205020404" pitchFamily="49" charset="0"/>
                <a:cs typeface="Courier New" panose="02070309020205020404" pitchFamily="49" charset="0"/>
              </a:rPr>
              <a:t>ON</a:t>
            </a:r>
            <a:r>
              <a:rPr lang="en-US" sz="1600" b="1" dirty="0">
                <a:latin typeface="Courier New" panose="02070309020205020404" pitchFamily="49" charset="0"/>
                <a:cs typeface="Courier New" panose="02070309020205020404" pitchFamily="49" charset="0"/>
              </a:rPr>
              <a:t> &lt;object&gt;</a:t>
            </a:r>
          </a:p>
          <a:p>
            <a:pPr>
              <a:lnSpc>
                <a:spcPct val="100000"/>
              </a:lnSpc>
              <a:spcBef>
                <a:spcPts val="600"/>
              </a:spcBef>
            </a:pPr>
            <a:r>
              <a:rPr lang="en-US" sz="1600" b="1" dirty="0">
                <a:latin typeface="Courier New" panose="02070309020205020404" pitchFamily="49" charset="0"/>
                <a:cs typeface="Courier New" panose="02070309020205020404" pitchFamily="49" charset="0"/>
              </a:rPr>
              <a:t>	( column list )</a:t>
            </a:r>
          </a:p>
          <a:p>
            <a:pPr>
              <a:lnSpc>
                <a:spcPct val="100000"/>
              </a:lnSpc>
              <a:spcBef>
                <a:spcPts val="600"/>
              </a:spcBef>
            </a:pPr>
            <a:r>
              <a:rPr lang="en-US" sz="1600" b="1" dirty="0">
                <a:latin typeface="Courier New" panose="02070309020205020404" pitchFamily="49" charset="0"/>
                <a:cs typeface="Courier New" panose="02070309020205020404" pitchFamily="49" charset="0"/>
              </a:rPr>
              <a:t>	[ WITH ( &lt;column_index_option&gt; [ ,...n ] ) ]</a:t>
            </a:r>
          </a:p>
        </p:txBody>
      </p:sp>
      <p:sp>
        <p:nvSpPr>
          <p:cNvPr id="8" name="TextBox 7"/>
          <p:cNvSpPr txBox="1"/>
          <p:nvPr/>
        </p:nvSpPr>
        <p:spPr>
          <a:xfrm>
            <a:off x="457200" y="2435020"/>
            <a:ext cx="2118862" cy="400110"/>
          </a:xfrm>
          <a:prstGeom prst="rect">
            <a:avLst/>
          </a:prstGeom>
          <a:noFill/>
        </p:spPr>
        <p:txBody>
          <a:bodyPr wrap="square" rtlCol="0">
            <a:spAutoFit/>
          </a:bodyPr>
          <a:lstStyle/>
          <a:p>
            <a:pPr marL="342900" indent="-342900">
              <a:lnSpc>
                <a:spcPct val="100000"/>
              </a:lnSpc>
              <a:spcBef>
                <a:spcPts val="0"/>
              </a:spcBef>
              <a:buFont typeface="Arial" panose="020B0604020202020204" pitchFamily="34" charset="0"/>
              <a:buChar char="•"/>
            </a:pPr>
            <a:r>
              <a:rPr lang="en-US" sz="2000">
                <a:latin typeface="Calibri" pitchFamily="34" charset="0"/>
                <a:cs typeface="Calibri" pitchFamily="34" charset="0"/>
              </a:rPr>
              <a:t>Example</a:t>
            </a:r>
            <a:r>
              <a:rPr lang="en-US" sz="2000" dirty="0">
                <a:latin typeface="Calibri" pitchFamily="34" charset="0"/>
                <a:cs typeface="Calibri" pitchFamily="34" charset="0"/>
              </a:rPr>
              <a:t>:</a:t>
            </a:r>
          </a:p>
        </p:txBody>
      </p:sp>
      <p:sp>
        <p:nvSpPr>
          <p:cNvPr id="9" name="TextBox 8"/>
          <p:cNvSpPr txBox="1"/>
          <p:nvPr/>
        </p:nvSpPr>
        <p:spPr>
          <a:xfrm>
            <a:off x="609600" y="2911233"/>
            <a:ext cx="8001000" cy="3588675"/>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00000"/>
              </a:lnSpc>
              <a:spcBef>
                <a:spcPts val="0"/>
              </a:spcBef>
            </a:pPr>
            <a:r>
              <a:rPr lang="en-US" sz="1600" b="1" dirty="0">
                <a:solidFill>
                  <a:srgbClr val="FF0000"/>
                </a:solidFill>
                <a:latin typeface="Courier New" panose="02070309020205020404" pitchFamily="49" charset="0"/>
                <a:cs typeface="Courier New" panose="02070309020205020404" pitchFamily="49" charset="0"/>
              </a:rPr>
              <a:t>CREATE COLUMNSTORE INDEX </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csindx_ResellerSales</a:t>
            </a:r>
            <a:r>
              <a:rPr lang="en-US" sz="1600" b="1" dirty="0">
                <a:latin typeface="Courier New" panose="02070309020205020404" pitchFamily="49" charset="0"/>
                <a:cs typeface="Courier New" panose="02070309020205020404" pitchFamily="49" charset="0"/>
              </a:rPr>
              <a:t>]  </a:t>
            </a:r>
            <a:r>
              <a:rPr lang="en-US" sz="1600" b="1" dirty="0">
                <a:solidFill>
                  <a:srgbClr val="FF0000"/>
                </a:solidFill>
                <a:latin typeface="Courier New" panose="02070309020205020404" pitchFamily="49" charset="0"/>
                <a:cs typeface="Courier New" panose="02070309020205020404" pitchFamily="49" charset="0"/>
              </a:rPr>
              <a:t>ON</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ResellerSalesPtnd</a:t>
            </a:r>
            <a:r>
              <a:rPr lang="en-US" sz="1600" b="1" dirty="0">
                <a:latin typeface="Courier New" panose="02070309020205020404" pitchFamily="49" charset="0"/>
                <a:cs typeface="Courier New" panose="02070309020205020404" pitchFamily="49" charset="0"/>
              </a:rPr>
              <a:t>]  </a:t>
            </a:r>
          </a:p>
          <a:p>
            <a:pPr>
              <a:lnSpc>
                <a:spcPct val="100000"/>
              </a:lnSpc>
              <a:spcBef>
                <a:spcPts val="0"/>
              </a:spcBef>
            </a:pPr>
            <a:r>
              <a:rPr lang="en-US" sz="1600" b="1" dirty="0">
                <a:latin typeface="Courier New" panose="02070309020205020404" pitchFamily="49" charset="0"/>
                <a:cs typeface="Courier New" panose="02070309020205020404" pitchFamily="49" charset="0"/>
              </a:rPr>
              <a:t>(</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ProductKey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OrderDateKey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DueDateKey</a:t>
            </a:r>
            <a:r>
              <a:rPr lang="en-US" sz="1600" b="1" dirty="0">
                <a:latin typeface="Courier New" panose="02070309020205020404" pitchFamily="49" charset="0"/>
                <a:cs typeface="Courier New" panose="02070309020205020404" pitchFamily="49" charset="0"/>
              </a:rPr>
              <a:t>],  </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ShipDateKey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CustomerKey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EmployeeKey</a:t>
            </a:r>
            <a:r>
              <a:rPr lang="en-US" sz="1600" b="1" dirty="0">
                <a:latin typeface="Courier New" panose="02070309020205020404" pitchFamily="49" charset="0"/>
                <a:cs typeface="Courier New" panose="02070309020205020404" pitchFamily="49" charset="0"/>
              </a:rPr>
              <a:t>],</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PromotionKey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CurrencyKey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SalesTerritoryKey</a:t>
            </a:r>
            <a:r>
              <a:rPr lang="en-US" sz="1600" b="1" dirty="0">
                <a:latin typeface="Courier New" panose="02070309020205020404" pitchFamily="49" charset="0"/>
                <a:cs typeface="Courier New" panose="02070309020205020404" pitchFamily="49" charset="0"/>
              </a:rPr>
              <a:t>],</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SalesOrderNumber</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SalesOrderLineNumber</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RevisionNumber</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OrderQuantity</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UnitPrice</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ExtendedAmount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UnitPriceDiscountPct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DiscountAmount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ProductStandardCost</a:t>
            </a:r>
            <a:r>
              <a:rPr lang="en-US" sz="1600" b="1" dirty="0">
                <a:latin typeface="Courier New" panose="02070309020205020404" pitchFamily="49" charset="0"/>
                <a:cs typeface="Courier New" panose="02070309020205020404" pitchFamily="49" charset="0"/>
              </a:rPr>
              <a:t>],</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TotalProductCost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SalesAmount</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TaxAmt</a:t>
            </a:r>
            <a:r>
              <a:rPr lang="en-US" sz="1600" b="1" dirty="0">
                <a:latin typeface="Courier New" panose="02070309020205020404" pitchFamily="49" charset="0"/>
                <a:cs typeface="Courier New" panose="02070309020205020404" pitchFamily="49" charset="0"/>
              </a:rPr>
              <a:t>],</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[Freight],[ </a:t>
            </a:r>
            <a:r>
              <a:rPr lang="en-US" sz="1600" b="1" dirty="0" err="1">
                <a:latin typeface="Courier New" panose="02070309020205020404" pitchFamily="49" charset="0"/>
                <a:cs typeface="Courier New" panose="02070309020205020404" pitchFamily="49" charset="0"/>
              </a:rPr>
              <a:t>CarrierTrackingNumber</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CustomerPONumber</a:t>
            </a:r>
            <a:r>
              <a:rPr lang="en-US" sz="1600" b="1" dirty="0">
                <a:latin typeface="Courier New" panose="02070309020205020404" pitchFamily="49" charset="0"/>
                <a:cs typeface="Courier New" panose="02070309020205020404" pitchFamily="49" charset="0"/>
              </a:rPr>
              <a:t>],</a:t>
            </a:r>
          </a:p>
          <a:p>
            <a:pPr lvl="1">
              <a:lnSpc>
                <a:spcPct val="100000"/>
              </a:lnSpc>
              <a:spcBef>
                <a:spcPts val="0"/>
              </a:spcBef>
            </a:pP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OrderDate</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DueDate</a:t>
            </a: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ShipDate</a:t>
            </a:r>
            <a:r>
              <a:rPr lang="en-US" sz="1600" b="1" dirty="0">
                <a:latin typeface="Courier New" panose="02070309020205020404" pitchFamily="49" charset="0"/>
                <a:cs typeface="Courier New" panose="02070309020205020404" pitchFamily="49" charset="0"/>
              </a:rPr>
              <a:t>]</a:t>
            </a:r>
          </a:p>
          <a:p>
            <a:r>
              <a:rPr lang="en-US" sz="1600" b="1" dirty="0">
                <a:latin typeface="Courier New" panose="02070309020205020404" pitchFamily="49" charset="0"/>
                <a:cs typeface="Courier New" panose="02070309020205020404" pitchFamily="49" charset="0"/>
              </a:rPr>
              <a:t>);</a:t>
            </a:r>
          </a:p>
        </p:txBody>
      </p:sp>
      <p:sp>
        <p:nvSpPr>
          <p:cNvPr id="10" name="object 2">
            <a:extLst>
              <a:ext uri="{FF2B5EF4-FFF2-40B4-BE49-F238E27FC236}">
                <a16:creationId xmlns:a16="http://schemas.microsoft.com/office/drawing/2014/main" id="{743FCDDC-9036-4808-AED1-8945E0EEAC5A}"/>
              </a:ext>
            </a:extLst>
          </p:cNvPr>
          <p:cNvSpPr txBox="1">
            <a:spLocks/>
          </p:cNvSpPr>
          <p:nvPr/>
        </p:nvSpPr>
        <p:spPr>
          <a:xfrm>
            <a:off x="383540" y="56641"/>
            <a:ext cx="4284345" cy="574040"/>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3600" kern="0" spc="190">
                <a:solidFill>
                  <a:schemeClr val="bg1"/>
                </a:solidFill>
                <a:latin typeface="Times New Roman"/>
                <a:cs typeface="Times New Roman"/>
              </a:rPr>
              <a:t>Columnstore</a:t>
            </a:r>
            <a:r>
              <a:rPr lang="en-US" sz="3600" kern="0" spc="-225">
                <a:solidFill>
                  <a:schemeClr val="bg1"/>
                </a:solidFill>
                <a:latin typeface="Times New Roman"/>
                <a:cs typeface="Times New Roman"/>
              </a:rPr>
              <a:t> </a:t>
            </a:r>
            <a:r>
              <a:rPr lang="en-US" sz="3600" kern="0" spc="125">
                <a:solidFill>
                  <a:schemeClr val="bg1"/>
                </a:solidFill>
                <a:latin typeface="Times New Roman"/>
                <a:cs typeface="Times New Roman"/>
              </a:rPr>
              <a:t>Indexes</a:t>
            </a:r>
            <a:endParaRPr lang="en-US" sz="3600" kern="0" spc="125" dirty="0">
              <a:solidFill>
                <a:schemeClr val="bg1"/>
              </a:solidFill>
              <a:latin typeface="Times New Roman"/>
              <a:cs typeface="Times New Roman"/>
            </a:endParaRPr>
          </a:p>
        </p:txBody>
      </p:sp>
      <p:sp>
        <p:nvSpPr>
          <p:cNvPr id="11" name="object 10">
            <a:extLst>
              <a:ext uri="{FF2B5EF4-FFF2-40B4-BE49-F238E27FC236}">
                <a16:creationId xmlns:a16="http://schemas.microsoft.com/office/drawing/2014/main" id="{A3796252-5008-426E-AD34-B43987D56C87}"/>
              </a:ext>
            </a:extLst>
          </p:cNvPr>
          <p:cNvSpPr txBox="1">
            <a:spLocks/>
          </p:cNvSpPr>
          <p:nvPr/>
        </p:nvSpPr>
        <p:spPr>
          <a:xfrm>
            <a:off x="7882890" y="6569709"/>
            <a:ext cx="934720"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52" baseline="4629"/>
              <a:t>Session </a:t>
            </a:r>
            <a:r>
              <a:rPr lang="en-US" spc="-112" baseline="4629"/>
              <a:t>11/</a:t>
            </a:r>
            <a:r>
              <a:rPr lang="en-US" spc="-270" baseline="4629"/>
              <a:t> </a:t>
            </a:r>
            <a:fld id="{81D60167-4931-47E6-BA6A-407CBD079E47}" type="slidenum">
              <a:rPr sz="1200" spc="-5" smtClean="0"/>
              <a:pPr marL="12700">
                <a:spcBef>
                  <a:spcPts val="145"/>
                </a:spcBef>
              </a:pPr>
              <a:t>42</a:t>
            </a:fld>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b="0" spc="155" dirty="0">
                <a:latin typeface="Times New Roman"/>
                <a:cs typeface="Times New Roman"/>
              </a:rPr>
              <a:t>Summary</a:t>
            </a:r>
            <a:endParaRPr sz="4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112" baseline="4629" dirty="0"/>
              <a:t>11/</a:t>
            </a:r>
            <a:r>
              <a:rPr sz="1800" spc="-270" baseline="4629" dirty="0"/>
              <a:t> </a:t>
            </a:r>
            <a:fld id="{81D60167-4931-47E6-BA6A-407CBD079E47}" type="slidenum">
              <a:rPr sz="1200" spc="-5" dirty="0"/>
              <a:t>43</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353695" marR="5715" indent="-341630">
              <a:lnSpc>
                <a:spcPct val="100000"/>
              </a:lnSpc>
              <a:spcBef>
                <a:spcPts val="95"/>
              </a:spcBef>
              <a:buFont typeface="Calibri"/>
              <a:buChar char="●"/>
              <a:tabLst>
                <a:tab pos="353695" algn="l"/>
                <a:tab pos="354330" algn="l"/>
              </a:tabLst>
            </a:pPr>
            <a:r>
              <a:rPr spc="70" dirty="0"/>
              <a:t>Indexes </a:t>
            </a:r>
            <a:r>
              <a:rPr spc="50" dirty="0"/>
              <a:t>increase </a:t>
            </a:r>
            <a:r>
              <a:rPr spc="110" dirty="0"/>
              <a:t>the </a:t>
            </a:r>
            <a:r>
              <a:rPr spc="65" dirty="0"/>
              <a:t>speed </a:t>
            </a:r>
            <a:r>
              <a:rPr spc="55" dirty="0"/>
              <a:t>of </a:t>
            </a:r>
            <a:r>
              <a:rPr spc="65" dirty="0"/>
              <a:t>querying </a:t>
            </a:r>
            <a:r>
              <a:rPr spc="50" dirty="0"/>
              <a:t>process </a:t>
            </a:r>
            <a:r>
              <a:rPr spc="45" dirty="0"/>
              <a:t>by </a:t>
            </a:r>
            <a:r>
              <a:rPr spc="70" dirty="0"/>
              <a:t>providing quick </a:t>
            </a:r>
            <a:r>
              <a:rPr spc="20" dirty="0"/>
              <a:t>access  </a:t>
            </a:r>
            <a:r>
              <a:rPr spc="110" dirty="0"/>
              <a:t>to</a:t>
            </a:r>
            <a:r>
              <a:rPr spc="-70" dirty="0"/>
              <a:t> </a:t>
            </a:r>
            <a:r>
              <a:rPr spc="55" dirty="0"/>
              <a:t>rows</a:t>
            </a:r>
            <a:r>
              <a:rPr spc="-65" dirty="0"/>
              <a:t> </a:t>
            </a:r>
            <a:r>
              <a:rPr spc="85" dirty="0"/>
              <a:t>or</a:t>
            </a:r>
            <a:r>
              <a:rPr spc="-70" dirty="0"/>
              <a:t> </a:t>
            </a:r>
            <a:r>
              <a:rPr spc="75" dirty="0"/>
              <a:t>columns</a:t>
            </a:r>
            <a:r>
              <a:rPr spc="-65" dirty="0"/>
              <a:t> </a:t>
            </a:r>
            <a:r>
              <a:rPr spc="95" dirty="0"/>
              <a:t>in</a:t>
            </a:r>
            <a:r>
              <a:rPr spc="-75" dirty="0"/>
              <a:t> </a:t>
            </a:r>
            <a:r>
              <a:rPr spc="30" dirty="0"/>
              <a:t>a</a:t>
            </a:r>
            <a:r>
              <a:rPr spc="-75" dirty="0"/>
              <a:t> </a:t>
            </a:r>
            <a:r>
              <a:rPr spc="80" dirty="0"/>
              <a:t>data</a:t>
            </a:r>
            <a:r>
              <a:rPr spc="-70" dirty="0"/>
              <a:t> </a:t>
            </a:r>
            <a:r>
              <a:rPr spc="50" dirty="0"/>
              <a:t>table.</a:t>
            </a:r>
          </a:p>
          <a:p>
            <a:pPr marL="353695" indent="-341630">
              <a:lnSpc>
                <a:spcPct val="100000"/>
              </a:lnSpc>
              <a:buFont typeface="Calibri"/>
              <a:buChar char="●"/>
              <a:tabLst>
                <a:tab pos="353695" algn="l"/>
                <a:tab pos="354330" algn="l"/>
              </a:tabLst>
            </a:pPr>
            <a:r>
              <a:rPr spc="90" dirty="0"/>
              <a:t>SQL</a:t>
            </a:r>
            <a:r>
              <a:rPr spc="-80" dirty="0"/>
              <a:t> </a:t>
            </a:r>
            <a:r>
              <a:rPr spc="60" dirty="0"/>
              <a:t>Server</a:t>
            </a:r>
            <a:r>
              <a:rPr spc="-60" dirty="0"/>
              <a:t> </a:t>
            </a:r>
            <a:r>
              <a:rPr spc="60" dirty="0"/>
              <a:t>stores</a:t>
            </a:r>
            <a:r>
              <a:rPr spc="-50" dirty="0"/>
              <a:t> </a:t>
            </a:r>
            <a:r>
              <a:rPr spc="80" dirty="0"/>
              <a:t>data</a:t>
            </a:r>
            <a:r>
              <a:rPr spc="-70" dirty="0"/>
              <a:t> </a:t>
            </a:r>
            <a:r>
              <a:rPr spc="95" dirty="0"/>
              <a:t>in</a:t>
            </a:r>
            <a:r>
              <a:rPr spc="-80" dirty="0"/>
              <a:t> </a:t>
            </a:r>
            <a:r>
              <a:rPr spc="50" dirty="0"/>
              <a:t>storage</a:t>
            </a:r>
            <a:r>
              <a:rPr spc="-60" dirty="0"/>
              <a:t> </a:t>
            </a:r>
            <a:r>
              <a:rPr spc="95" dirty="0"/>
              <a:t>units</a:t>
            </a:r>
            <a:r>
              <a:rPr spc="-70" dirty="0"/>
              <a:t> </a:t>
            </a:r>
            <a:r>
              <a:rPr spc="114" dirty="0"/>
              <a:t>known</a:t>
            </a:r>
            <a:r>
              <a:rPr spc="-45" dirty="0"/>
              <a:t> </a:t>
            </a:r>
            <a:r>
              <a:rPr spc="20" dirty="0"/>
              <a:t>as</a:t>
            </a:r>
            <a:r>
              <a:rPr spc="-75" dirty="0"/>
              <a:t> </a:t>
            </a:r>
            <a:r>
              <a:rPr spc="80" dirty="0"/>
              <a:t>data</a:t>
            </a:r>
            <a:r>
              <a:rPr spc="-70" dirty="0"/>
              <a:t> </a:t>
            </a:r>
            <a:r>
              <a:rPr spc="25" dirty="0"/>
              <a:t>pages.</a:t>
            </a:r>
          </a:p>
          <a:p>
            <a:pPr marL="353695" marR="6985" indent="-341630">
              <a:lnSpc>
                <a:spcPct val="100000"/>
              </a:lnSpc>
              <a:buFont typeface="Calibri"/>
              <a:buChar char="●"/>
              <a:tabLst>
                <a:tab pos="353695" algn="l"/>
                <a:tab pos="354330" algn="l"/>
              </a:tabLst>
            </a:pPr>
            <a:r>
              <a:rPr spc="60" dirty="0"/>
              <a:t>All </a:t>
            </a:r>
            <a:r>
              <a:rPr spc="114" dirty="0"/>
              <a:t>input and </a:t>
            </a:r>
            <a:r>
              <a:rPr spc="125" dirty="0"/>
              <a:t>output </a:t>
            </a:r>
            <a:r>
              <a:rPr spc="80" dirty="0"/>
              <a:t>operations </a:t>
            </a:r>
            <a:r>
              <a:rPr spc="95" dirty="0"/>
              <a:t>in </a:t>
            </a:r>
            <a:r>
              <a:rPr spc="30" dirty="0"/>
              <a:t>a </a:t>
            </a:r>
            <a:r>
              <a:rPr spc="60" dirty="0"/>
              <a:t>database </a:t>
            </a:r>
            <a:r>
              <a:rPr spc="55" dirty="0"/>
              <a:t>are </a:t>
            </a:r>
            <a:r>
              <a:rPr spc="75" dirty="0"/>
              <a:t>performed </a:t>
            </a:r>
            <a:r>
              <a:rPr spc="80" dirty="0"/>
              <a:t>at </a:t>
            </a:r>
            <a:r>
              <a:rPr spc="110" dirty="0"/>
              <a:t>the </a:t>
            </a:r>
            <a:r>
              <a:rPr spc="40" dirty="0"/>
              <a:t>page  </a:t>
            </a:r>
            <a:r>
              <a:rPr spc="20" dirty="0"/>
              <a:t>level.</a:t>
            </a:r>
          </a:p>
          <a:p>
            <a:pPr marL="353695" indent="-341630">
              <a:lnSpc>
                <a:spcPct val="100000"/>
              </a:lnSpc>
              <a:buFont typeface="Calibri"/>
              <a:buChar char="●"/>
              <a:tabLst>
                <a:tab pos="353695" algn="l"/>
                <a:tab pos="354330" algn="l"/>
              </a:tabLst>
            </a:pPr>
            <a:r>
              <a:rPr spc="175" dirty="0"/>
              <a:t>A</a:t>
            </a:r>
            <a:r>
              <a:rPr spc="305" dirty="0"/>
              <a:t> </a:t>
            </a:r>
            <a:r>
              <a:rPr spc="65" dirty="0"/>
              <a:t>clustered</a:t>
            </a:r>
            <a:r>
              <a:rPr spc="315" dirty="0"/>
              <a:t> </a:t>
            </a:r>
            <a:r>
              <a:rPr spc="90" dirty="0"/>
              <a:t>index</a:t>
            </a:r>
            <a:r>
              <a:rPr spc="315" dirty="0"/>
              <a:t> </a:t>
            </a:r>
            <a:r>
              <a:rPr spc="40" dirty="0"/>
              <a:t>causes</a:t>
            </a:r>
            <a:r>
              <a:rPr spc="320" dirty="0"/>
              <a:t> </a:t>
            </a:r>
            <a:r>
              <a:rPr spc="65" dirty="0"/>
              <a:t>records</a:t>
            </a:r>
            <a:r>
              <a:rPr spc="310" dirty="0"/>
              <a:t> </a:t>
            </a:r>
            <a:r>
              <a:rPr spc="110" dirty="0"/>
              <a:t>to</a:t>
            </a:r>
            <a:r>
              <a:rPr spc="325" dirty="0"/>
              <a:t> </a:t>
            </a:r>
            <a:r>
              <a:rPr spc="65" dirty="0"/>
              <a:t>be</a:t>
            </a:r>
            <a:r>
              <a:rPr spc="315" dirty="0"/>
              <a:t> </a:t>
            </a:r>
            <a:r>
              <a:rPr spc="35" dirty="0"/>
              <a:t>physically</a:t>
            </a:r>
            <a:r>
              <a:rPr spc="325" dirty="0"/>
              <a:t> </a:t>
            </a:r>
            <a:r>
              <a:rPr spc="80" dirty="0"/>
              <a:t>stored</a:t>
            </a:r>
            <a:r>
              <a:rPr spc="315" dirty="0"/>
              <a:t> </a:t>
            </a:r>
            <a:r>
              <a:rPr spc="95" dirty="0"/>
              <a:t>in</a:t>
            </a:r>
            <a:r>
              <a:rPr spc="315" dirty="0"/>
              <a:t> </a:t>
            </a:r>
            <a:r>
              <a:rPr spc="30" dirty="0"/>
              <a:t>a</a:t>
            </a:r>
            <a:r>
              <a:rPr spc="320" dirty="0"/>
              <a:t> </a:t>
            </a:r>
            <a:r>
              <a:rPr spc="80" dirty="0"/>
              <a:t>sorted</a:t>
            </a:r>
            <a:r>
              <a:rPr spc="325" dirty="0"/>
              <a:t> </a:t>
            </a:r>
            <a:r>
              <a:rPr spc="80" dirty="0"/>
              <a:t>or</a:t>
            </a:r>
          </a:p>
          <a:p>
            <a:pPr marL="353695">
              <a:lnSpc>
                <a:spcPct val="100000"/>
              </a:lnSpc>
              <a:spcBef>
                <a:spcPts val="5"/>
              </a:spcBef>
            </a:pPr>
            <a:r>
              <a:rPr spc="70" dirty="0"/>
              <a:t>sequential</a:t>
            </a:r>
            <a:r>
              <a:rPr spc="-60" dirty="0"/>
              <a:t> </a:t>
            </a:r>
            <a:r>
              <a:rPr spc="70" dirty="0"/>
              <a:t>order.</a:t>
            </a:r>
          </a:p>
          <a:p>
            <a:pPr marL="353695" marR="6350" indent="-341630">
              <a:lnSpc>
                <a:spcPct val="100000"/>
              </a:lnSpc>
              <a:buFont typeface="Calibri"/>
              <a:buChar char="●"/>
              <a:tabLst>
                <a:tab pos="353695" algn="l"/>
                <a:tab pos="354330" algn="l"/>
              </a:tabLst>
            </a:pPr>
            <a:r>
              <a:rPr spc="175" dirty="0"/>
              <a:t>A </a:t>
            </a:r>
            <a:r>
              <a:rPr spc="90" dirty="0"/>
              <a:t>nonclustered index </a:t>
            </a:r>
            <a:r>
              <a:rPr spc="5" dirty="0"/>
              <a:t>is </a:t>
            </a:r>
            <a:r>
              <a:rPr spc="80" dirty="0"/>
              <a:t>defined </a:t>
            </a:r>
            <a:r>
              <a:rPr spc="135" dirty="0"/>
              <a:t>on </a:t>
            </a:r>
            <a:r>
              <a:rPr spc="30" dirty="0"/>
              <a:t>a </a:t>
            </a:r>
            <a:r>
              <a:rPr spc="60" dirty="0"/>
              <a:t>table </a:t>
            </a:r>
            <a:r>
              <a:rPr spc="114" dirty="0"/>
              <a:t>that </a:t>
            </a:r>
            <a:r>
              <a:rPr spc="70" dirty="0"/>
              <a:t>has </a:t>
            </a:r>
            <a:r>
              <a:rPr spc="80" dirty="0"/>
              <a:t>data either </a:t>
            </a:r>
            <a:r>
              <a:rPr spc="95" dirty="0"/>
              <a:t>in </a:t>
            </a:r>
            <a:r>
              <a:rPr spc="30" dirty="0"/>
              <a:t>a  </a:t>
            </a:r>
            <a:r>
              <a:rPr spc="65" dirty="0"/>
              <a:t>clustered</a:t>
            </a:r>
            <a:r>
              <a:rPr spc="-70" dirty="0"/>
              <a:t> </a:t>
            </a:r>
            <a:r>
              <a:rPr spc="85" dirty="0"/>
              <a:t>structure</a:t>
            </a:r>
            <a:r>
              <a:rPr spc="-70" dirty="0"/>
              <a:t> </a:t>
            </a:r>
            <a:r>
              <a:rPr spc="85" dirty="0"/>
              <a:t>or</a:t>
            </a:r>
            <a:r>
              <a:rPr spc="-70" dirty="0"/>
              <a:t> </a:t>
            </a:r>
            <a:r>
              <a:rPr spc="30" dirty="0"/>
              <a:t>a</a:t>
            </a:r>
            <a:r>
              <a:rPr spc="-75" dirty="0"/>
              <a:t> </a:t>
            </a:r>
            <a:r>
              <a:rPr spc="70" dirty="0"/>
              <a:t>heap.</a:t>
            </a:r>
          </a:p>
          <a:p>
            <a:pPr marL="353695" indent="-341630">
              <a:lnSpc>
                <a:spcPct val="100000"/>
              </a:lnSpc>
              <a:buFont typeface="Calibri"/>
              <a:buChar char="●"/>
              <a:tabLst>
                <a:tab pos="353695" algn="l"/>
                <a:tab pos="354330" algn="l"/>
              </a:tabLst>
            </a:pPr>
            <a:r>
              <a:rPr spc="25" dirty="0"/>
              <a:t>XML</a:t>
            </a:r>
            <a:r>
              <a:rPr spc="-80" dirty="0"/>
              <a:t> </a:t>
            </a:r>
            <a:r>
              <a:rPr spc="70" dirty="0"/>
              <a:t>indexes</a:t>
            </a:r>
            <a:r>
              <a:rPr spc="-60" dirty="0"/>
              <a:t> </a:t>
            </a:r>
            <a:r>
              <a:rPr spc="75" dirty="0"/>
              <a:t>can</a:t>
            </a:r>
            <a:r>
              <a:rPr spc="-75" dirty="0"/>
              <a:t> </a:t>
            </a:r>
            <a:r>
              <a:rPr spc="65" dirty="0"/>
              <a:t>speed</a:t>
            </a:r>
            <a:r>
              <a:rPr spc="-60" dirty="0"/>
              <a:t> </a:t>
            </a:r>
            <a:r>
              <a:rPr spc="125" dirty="0"/>
              <a:t>up</a:t>
            </a:r>
            <a:r>
              <a:rPr spc="-75" dirty="0"/>
              <a:t> </a:t>
            </a:r>
            <a:r>
              <a:rPr spc="65" dirty="0"/>
              <a:t>queries</a:t>
            </a:r>
            <a:r>
              <a:rPr spc="-75" dirty="0"/>
              <a:t> </a:t>
            </a:r>
            <a:r>
              <a:rPr spc="130" dirty="0"/>
              <a:t>on</a:t>
            </a:r>
            <a:r>
              <a:rPr spc="-65" dirty="0"/>
              <a:t> </a:t>
            </a:r>
            <a:r>
              <a:rPr spc="50" dirty="0"/>
              <a:t>tables</a:t>
            </a:r>
            <a:r>
              <a:rPr spc="-50" dirty="0"/>
              <a:t> </a:t>
            </a:r>
            <a:r>
              <a:rPr spc="114" dirty="0"/>
              <a:t>that</a:t>
            </a:r>
            <a:r>
              <a:rPr spc="-60" dirty="0"/>
              <a:t> </a:t>
            </a:r>
            <a:r>
              <a:rPr spc="70" dirty="0"/>
              <a:t>have</a:t>
            </a:r>
            <a:r>
              <a:rPr spc="-60" dirty="0"/>
              <a:t> </a:t>
            </a:r>
            <a:r>
              <a:rPr spc="25" dirty="0"/>
              <a:t>XML</a:t>
            </a:r>
            <a:r>
              <a:rPr spc="-80" dirty="0"/>
              <a:t> </a:t>
            </a:r>
            <a:r>
              <a:rPr spc="65" dirty="0"/>
              <a:t>data.</a:t>
            </a:r>
          </a:p>
          <a:p>
            <a:pPr marL="353695" marR="5715" indent="-341630">
              <a:lnSpc>
                <a:spcPct val="100000"/>
              </a:lnSpc>
              <a:buFont typeface="Calibri"/>
              <a:buChar char="●"/>
              <a:tabLst>
                <a:tab pos="353695" algn="l"/>
                <a:tab pos="354330" algn="l"/>
              </a:tabLst>
            </a:pPr>
            <a:r>
              <a:rPr spc="130" dirty="0"/>
              <a:t>Column </a:t>
            </a:r>
            <a:r>
              <a:rPr spc="85" dirty="0"/>
              <a:t>Store Index enhances </a:t>
            </a:r>
            <a:r>
              <a:rPr spc="70" dirty="0"/>
              <a:t>performance </a:t>
            </a:r>
            <a:r>
              <a:rPr spc="55" dirty="0"/>
              <a:t>of </a:t>
            </a:r>
            <a:r>
              <a:rPr spc="80" dirty="0"/>
              <a:t>data </a:t>
            </a:r>
            <a:r>
              <a:rPr spc="75" dirty="0"/>
              <a:t>warehouse </a:t>
            </a:r>
            <a:r>
              <a:rPr spc="65" dirty="0"/>
              <a:t>queries  </a:t>
            </a:r>
            <a:r>
              <a:rPr spc="50" dirty="0"/>
              <a:t>extensively.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954</TotalTime>
  <Words>6576</Words>
  <Application>Microsoft Office PowerPoint</Application>
  <PresentationFormat>On-screen Show (4:3)</PresentationFormat>
  <Paragraphs>595</Paragraphs>
  <Slides>43</Slides>
  <Notes>42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Arial</vt:lpstr>
      <vt:lpstr>Book Antiqua</vt:lpstr>
      <vt:lpstr>Calibri</vt:lpstr>
      <vt:lpstr>Calisto MT</vt:lpstr>
      <vt:lpstr>Courier New</vt:lpstr>
      <vt:lpstr>Palatino Linotype</vt:lpstr>
      <vt:lpstr>Segoe UI Symbol</vt:lpstr>
      <vt:lpstr>Times New Roman</vt:lpstr>
      <vt:lpstr>Wingdings</vt:lpstr>
      <vt:lpstr>Office Theme</vt:lpstr>
      <vt:lpstr>Intelligent Data Management with  SQL Server</vt:lpstr>
      <vt:lpstr>Objectives</vt:lpstr>
      <vt:lpstr>Introduction 1-2</vt:lpstr>
      <vt:lpstr>Introduction 2-2</vt:lpstr>
      <vt:lpstr>Overview of Data Storage</vt:lpstr>
      <vt:lpstr>Data Files 1-2</vt:lpstr>
      <vt:lpstr>Data Files 2-2</vt:lpstr>
      <vt:lpstr>Requirement for Indexes</vt:lpstr>
      <vt:lpstr>Indexes</vt:lpstr>
      <vt:lpstr>Scenario</vt:lpstr>
      <vt:lpstr>Accessing Data Group-wise</vt:lpstr>
      <vt:lpstr>Index Architecture</vt:lpstr>
      <vt:lpstr>B-Tree</vt:lpstr>
      <vt:lpstr>Index B-Tree Structure 1-2</vt:lpstr>
      <vt:lpstr>Index B-Tree Structure 2-2</vt:lpstr>
      <vt:lpstr>Heap Structures</vt:lpstr>
      <vt:lpstr>Clustered Index Structures 1-2</vt:lpstr>
      <vt:lpstr>Clustered Index Structures 2-2</vt:lpstr>
      <vt:lpstr>Nonclustered Index Structures</vt:lpstr>
      <vt:lpstr>Column Store Index</vt:lpstr>
      <vt:lpstr>Column Store Index 2-4</vt:lpstr>
      <vt:lpstr>Column Store Index 3-4</vt:lpstr>
      <vt:lpstr>Hash Index 1-2</vt:lpstr>
      <vt:lpstr>Hash Index 2-2</vt:lpstr>
      <vt:lpstr>XML Indexes</vt:lpstr>
      <vt:lpstr>Spatial Indexes</vt:lpstr>
      <vt:lpstr>Full-Text Indexes</vt:lpstr>
      <vt:lpstr>Index Management</vt:lpstr>
      <vt:lpstr>Create Clustered Index 1-5</vt:lpstr>
      <vt:lpstr>Create Clustered Index 2-5</vt:lpstr>
      <vt:lpstr>Create Clustered Index 3-5</vt:lpstr>
      <vt:lpstr>Create Clustered Index 4-5</vt:lpstr>
      <vt:lpstr>Create Clustered Index 5-5</vt:lpstr>
      <vt:lpstr>NonClustered Indexes</vt:lpstr>
      <vt:lpstr>Unique Indexes</vt:lpstr>
      <vt:lpstr>Filtered Indexes</vt:lpstr>
      <vt:lpstr>Partitioned Table and Indexes</vt:lpstr>
      <vt:lpstr>XML Indexes 1-2</vt:lpstr>
      <vt:lpstr>XML Indexes 2-2</vt:lpstr>
      <vt:lpstr>Types of XML Indexes 1-2</vt:lpstr>
      <vt:lpstr>Columnstore Indexes</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315</cp:revision>
  <dcterms:created xsi:type="dcterms:W3CDTF">2021-10-11T16:10:42Z</dcterms:created>
  <dcterms:modified xsi:type="dcterms:W3CDTF">2021-10-23T04:56:16Z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