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465" r:id="rId33"/>
    <p:sldId id="468" r:id="rId34"/>
    <p:sldId id="287" r:id="rId35"/>
    <p:sldId id="288" r:id="rId36"/>
    <p:sldId id="289" r:id="rId37"/>
    <p:sldId id="481" r:id="rId38"/>
    <p:sldId id="290" r:id="rId39"/>
    <p:sldId id="291" r:id="rId40"/>
    <p:sldId id="486" r:id="rId41"/>
    <p:sldId id="487" r:id="rId42"/>
    <p:sldId id="292" r:id="rId43"/>
    <p:sldId id="488" r:id="rId44"/>
    <p:sldId id="293" r:id="rId45"/>
    <p:sldId id="485" r:id="rId46"/>
    <p:sldId id="294" r:id="rId47"/>
    <p:sldId id="295" r:id="rId48"/>
    <p:sldId id="493" r:id="rId49"/>
    <p:sldId id="296" r:id="rId50"/>
    <p:sldId id="298" r:id="rId51"/>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9125" autoAdjust="0"/>
  </p:normalViewPr>
  <p:slideViewPr>
    <p:cSldViewPr>
      <p:cViewPr varScale="1">
        <p:scale>
          <a:sx n="59" d="100"/>
          <a:sy n="59" d="100"/>
        </p:scale>
        <p:origin x="2146" y="67"/>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95917BDC-9FC8-4A99-8F4F-E08AA58D004F}" type="datetimeFigureOut">
              <a:rPr lang="en-US" smtClean="0"/>
              <a:t>10/18/2021</a:t>
            </a:fld>
            <a:endParaRPr lang="en-US"/>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E29869D5-CC05-46A1-8868-AA3255DE1B6D}" type="slidenum">
              <a:rPr lang="en-US" smtClean="0"/>
              <a:t>‹#›</a:t>
            </a:fld>
            <a:endParaRPr lang="en-US"/>
          </a:p>
        </p:txBody>
      </p:sp>
    </p:spTree>
    <p:extLst>
      <p:ext uri="{BB962C8B-B14F-4D97-AF65-F5344CB8AC3E}">
        <p14:creationId xmlns:p14="http://schemas.microsoft.com/office/powerpoint/2010/main" val="302994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Phiên 9: Các truy vấn và kết nâng cao</a:t>
            </a:r>
          </a:p>
        </p:txBody>
      </p:sp>
      <p:sp>
        <p:nvSpPr>
          <p:cNvPr id="4" name="Slide Number Placeholder 3"/>
          <p:cNvSpPr>
            <a:spLocks noGrp="1"/>
          </p:cNvSpPr>
          <p:nvPr>
            <p:ph type="sldNum" sz="quarter" idx="5"/>
          </p:nvPr>
        </p:nvSpPr>
        <p:spPr/>
        <p:txBody>
          <a:bodyPr/>
          <a:lstStyle/>
          <a:p>
            <a:fld id="{E29869D5-CC05-46A1-8868-AA3255DE1B6D}" type="slidenum">
              <a:rPr lang="en-US" smtClean="0"/>
              <a:t>1</a:t>
            </a:fld>
            <a:endParaRPr lang="en-US"/>
          </a:p>
        </p:txBody>
      </p:sp>
    </p:spTree>
    <p:extLst>
      <p:ext uri="{BB962C8B-B14F-4D97-AF65-F5344CB8AC3E}">
        <p14:creationId xmlns:p14="http://schemas.microsoft.com/office/powerpoint/2010/main" val="38878986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Mục tiêu</a:t>
            </a:r>
          </a:p>
          <a:p>
            <a:pPr marL="171450" indent="-171450">
              <a:buFont typeface="Arial" panose="020B0604020202020204" pitchFamily="34" charset="0"/>
              <a:buChar char="•"/>
            </a:pPr>
            <a:r>
              <a:rPr lang="vi-VN" b="0"/>
              <a:t>Giải thích nhóm và tổng hợp dữ liệu</a:t>
            </a:r>
          </a:p>
          <a:p>
            <a:pPr marL="171450" indent="-171450">
              <a:buFont typeface="Arial" panose="020B0604020202020204" pitchFamily="34" charset="0"/>
              <a:buChar char="•"/>
            </a:pPr>
            <a:r>
              <a:rPr lang="vi-VN" b="0"/>
              <a:t>Mô tả </a:t>
            </a:r>
            <a:r>
              <a:rPr lang="en-US" b="0"/>
              <a:t>truy vấn con</a:t>
            </a:r>
            <a:endParaRPr lang="vi-VN" b="0"/>
          </a:p>
          <a:p>
            <a:pPr marL="171450" indent="-171450">
              <a:buFont typeface="Arial" panose="020B0604020202020204" pitchFamily="34" charset="0"/>
              <a:buChar char="•"/>
            </a:pPr>
            <a:r>
              <a:rPr lang="vi-VN" b="0"/>
              <a:t>Mô tả biểu thức bảng</a:t>
            </a:r>
          </a:p>
          <a:p>
            <a:pPr marL="171450" indent="-171450">
              <a:buFont typeface="Arial" panose="020B0604020202020204" pitchFamily="34" charset="0"/>
              <a:buChar char="•"/>
            </a:pPr>
            <a:r>
              <a:rPr lang="vi-VN" b="0"/>
              <a:t>Giải thích kết</a:t>
            </a:r>
          </a:p>
          <a:p>
            <a:pPr marL="171450" indent="-171450">
              <a:buFont typeface="Arial" panose="020B0604020202020204" pitchFamily="34" charset="0"/>
              <a:buChar char="•"/>
            </a:pPr>
            <a:r>
              <a:rPr lang="vi-VN" b="0"/>
              <a:t>Mô tả các </a:t>
            </a:r>
            <a:r>
              <a:rPr lang="en-US" b="0"/>
              <a:t>kiểu</a:t>
            </a:r>
            <a:r>
              <a:rPr lang="vi-VN" b="0"/>
              <a:t> </a:t>
            </a:r>
            <a:r>
              <a:rPr lang="en-US" b="0"/>
              <a:t>nối </a:t>
            </a:r>
            <a:r>
              <a:rPr lang="vi-VN" b="0"/>
              <a:t>khác nhau</a:t>
            </a:r>
          </a:p>
          <a:p>
            <a:pPr marL="171450" indent="-171450">
              <a:buFont typeface="Arial" panose="020B0604020202020204" pitchFamily="34" charset="0"/>
              <a:buChar char="•"/>
            </a:pPr>
            <a:r>
              <a:rPr lang="vi-VN" b="0"/>
              <a:t>Giải thích việc sử dụng các toán tử </a:t>
            </a:r>
            <a:r>
              <a:rPr lang="en-US" b="0"/>
              <a:t>tập hợp</a:t>
            </a:r>
            <a:r>
              <a:rPr lang="vi-VN" b="0"/>
              <a:t> khác nhau để kết hợp dữ liệu</a:t>
            </a:r>
          </a:p>
          <a:p>
            <a:pPr marL="171450" indent="-171450">
              <a:buFont typeface="Arial" panose="020B0604020202020204" pitchFamily="34" charset="0"/>
              <a:buChar char="•"/>
            </a:pPr>
            <a:r>
              <a:rPr lang="vi-VN" b="0"/>
              <a:t>Mô tả các hoạt động thiết lập Pivotting và nhóm tập hợp</a:t>
            </a:r>
            <a:endParaRPr lang="en-US" b="0"/>
          </a:p>
        </p:txBody>
      </p:sp>
      <p:sp>
        <p:nvSpPr>
          <p:cNvPr id="4" name="Slide Number Placeholder 3"/>
          <p:cNvSpPr>
            <a:spLocks noGrp="1"/>
          </p:cNvSpPr>
          <p:nvPr>
            <p:ph type="sldNum" sz="quarter" idx="5"/>
          </p:nvPr>
        </p:nvSpPr>
        <p:spPr/>
        <p:txBody>
          <a:bodyPr/>
          <a:lstStyle/>
          <a:p>
            <a:fld id="{E29869D5-CC05-46A1-8868-AA3255DE1B6D}" type="slidenum">
              <a:rPr lang="en-US" smtClean="0"/>
              <a:t>2</a:t>
            </a:fld>
            <a:endParaRPr lang="en-US"/>
          </a:p>
        </p:txBody>
      </p:sp>
    </p:spTree>
    <p:extLst>
      <p:ext uri="{BB962C8B-B14F-4D97-AF65-F5344CB8AC3E}">
        <p14:creationId xmlns:p14="http://schemas.microsoft.com/office/powerpoint/2010/main" val="653433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Giới thiệu</a:t>
            </a:r>
          </a:p>
          <a:p>
            <a:pPr marL="171450" indent="-171450">
              <a:buFont typeface="Arial" panose="020B0604020202020204" pitchFamily="34" charset="0"/>
              <a:buChar char="•"/>
            </a:pPr>
            <a:r>
              <a:rPr lang="en-US" b="0"/>
              <a:t>SQL Server 2019 bao gồm một số tính năng truy vấn mạnh mẽ giúp truy xuất dữ liệu một cách hiệu quả và nhanh chóng.</a:t>
            </a:r>
          </a:p>
          <a:p>
            <a:pPr marL="171450" indent="-171450">
              <a:buFont typeface="Arial" panose="020B0604020202020204" pitchFamily="34" charset="0"/>
              <a:buChar char="•"/>
            </a:pPr>
            <a:r>
              <a:rPr lang="vi-VN" b="0"/>
              <a:t>Dữ liệu có thể được nhóm và / hoặc tổng hợp với nhau để trình bày thông tin tóm tắt.</a:t>
            </a:r>
          </a:p>
          <a:p>
            <a:pPr marL="171450" indent="-171450">
              <a:buFont typeface="Arial" panose="020B0604020202020204" pitchFamily="34" charset="0"/>
              <a:buChar char="•"/>
            </a:pPr>
            <a:r>
              <a:rPr lang="en-US" b="0"/>
              <a:t>Phép kết </a:t>
            </a:r>
            <a:r>
              <a:rPr lang="vi-VN" b="0"/>
              <a:t>giúp để kết hợp dữ liệu cột từ </a:t>
            </a:r>
            <a:r>
              <a:rPr lang="en-US" b="0"/>
              <a:t>2</a:t>
            </a:r>
            <a:r>
              <a:rPr lang="vi-VN" b="0"/>
              <a:t> hoặc nhiều bảng dựa trên mối quan hệ logic giữa các bảng.</a:t>
            </a:r>
          </a:p>
          <a:p>
            <a:pPr marL="171450" indent="-171450">
              <a:buFont typeface="Arial" panose="020B0604020202020204" pitchFamily="34" charset="0"/>
              <a:buChar char="•"/>
            </a:pPr>
            <a:r>
              <a:rPr lang="en-US" b="0"/>
              <a:t>T</a:t>
            </a:r>
            <a:r>
              <a:rPr lang="vi-VN" b="0"/>
              <a:t>oán tử </a:t>
            </a:r>
            <a:r>
              <a:rPr lang="en-US" b="0"/>
              <a:t>tập hợp </a:t>
            </a:r>
            <a:r>
              <a:rPr lang="vi-VN" b="0"/>
              <a:t>như </a:t>
            </a:r>
            <a:r>
              <a:rPr lang="vi-VN" b="1"/>
              <a:t>UNION</a:t>
            </a:r>
            <a:r>
              <a:rPr lang="vi-VN" b="0"/>
              <a:t> và </a:t>
            </a:r>
            <a:r>
              <a:rPr lang="vi-VN" b="1"/>
              <a:t>INTERSECT</a:t>
            </a:r>
            <a:r>
              <a:rPr lang="vi-VN" b="0"/>
              <a:t> kết hợp dữ liệu hàng từ </a:t>
            </a:r>
            <a:r>
              <a:rPr lang="en-US" b="0"/>
              <a:t>2</a:t>
            </a:r>
            <a:r>
              <a:rPr lang="vi-VN" b="0"/>
              <a:t> hoặc nhiều bảng.</a:t>
            </a:r>
          </a:p>
          <a:p>
            <a:pPr marL="171450" indent="-171450">
              <a:buFont typeface="Arial" panose="020B0604020202020204" pitchFamily="34" charset="0"/>
              <a:buChar char="•"/>
            </a:pPr>
            <a:r>
              <a:rPr lang="en-US" b="0"/>
              <a:t>Toán tử </a:t>
            </a:r>
            <a:r>
              <a:rPr lang="vi-VN" b="1"/>
              <a:t>IVOT</a:t>
            </a:r>
            <a:r>
              <a:rPr lang="vi-VN" b="0"/>
              <a:t> và </a:t>
            </a:r>
            <a:r>
              <a:rPr lang="vi-VN" b="1"/>
              <a:t>UNPIVOT</a:t>
            </a:r>
            <a:r>
              <a:rPr lang="vi-VN" b="0"/>
              <a:t> được sử dụng để chuyển đổi định hướng dữ liệu từ định hướng cột sang định hướng hàng và ngược lại.</a:t>
            </a:r>
          </a:p>
          <a:p>
            <a:pPr marL="171450" indent="-171450">
              <a:buFont typeface="Arial" panose="020B0604020202020204" pitchFamily="34" charset="0"/>
              <a:buChar char="•"/>
            </a:pPr>
            <a:r>
              <a:rPr lang="en-US" b="0"/>
              <a:t>Mệnh đề phụ </a:t>
            </a:r>
            <a:r>
              <a:rPr lang="en-US" sz="1200" b="1" spc="120">
                <a:latin typeface="Times New Roman"/>
                <a:cs typeface="Times New Roman"/>
              </a:rPr>
              <a:t>GROUPING</a:t>
            </a:r>
            <a:r>
              <a:rPr lang="en-US" sz="1200" b="1" spc="-50">
                <a:latin typeface="Times New Roman"/>
                <a:cs typeface="Times New Roman"/>
              </a:rPr>
              <a:t> </a:t>
            </a:r>
            <a:r>
              <a:rPr lang="en-US" sz="1200" b="1" spc="75">
                <a:latin typeface="Times New Roman"/>
                <a:cs typeface="Times New Roman"/>
              </a:rPr>
              <a:t>SET</a:t>
            </a:r>
            <a:r>
              <a:rPr lang="en-US" sz="1200" b="1" spc="-50">
                <a:latin typeface="Times New Roman"/>
                <a:cs typeface="Times New Roman"/>
              </a:rPr>
              <a:t> </a:t>
            </a:r>
            <a:r>
              <a:rPr lang="en-US" sz="1200" spc="-50">
                <a:latin typeface="Times New Roman"/>
                <a:cs typeface="Times New Roman"/>
              </a:rPr>
              <a:t>của </a:t>
            </a:r>
            <a:r>
              <a:rPr lang="vi-VN" b="0"/>
              <a:t>mệnh đề </a:t>
            </a:r>
            <a:r>
              <a:rPr lang="en-US" sz="1200" b="1" spc="135">
                <a:latin typeface="Times New Roman"/>
                <a:cs typeface="Times New Roman"/>
              </a:rPr>
              <a:t>GROUP</a:t>
            </a:r>
            <a:r>
              <a:rPr lang="en-US" sz="1200" b="1" spc="-50">
                <a:latin typeface="Times New Roman"/>
                <a:cs typeface="Times New Roman"/>
              </a:rPr>
              <a:t> </a:t>
            </a:r>
            <a:r>
              <a:rPr lang="en-US" sz="1200" b="1" spc="-45">
                <a:latin typeface="Times New Roman"/>
                <a:cs typeface="Times New Roman"/>
              </a:rPr>
              <a:t>BY</a:t>
            </a:r>
            <a:r>
              <a:rPr lang="en-US" sz="1200" b="1" spc="-40">
                <a:latin typeface="Times New Roman"/>
                <a:cs typeface="Times New Roman"/>
              </a:rPr>
              <a:t> </a:t>
            </a:r>
            <a:r>
              <a:rPr lang="en-US" sz="1200" spc="-40">
                <a:latin typeface="Times New Roman"/>
                <a:cs typeface="Times New Roman"/>
              </a:rPr>
              <a:t>giúp </a:t>
            </a:r>
            <a:r>
              <a:rPr lang="vi-VN" b="0"/>
              <a:t>chỉ định nhiều nhóm trong một truy vấn duy nhất.</a:t>
            </a:r>
            <a:endParaRPr lang="en-US" b="0"/>
          </a:p>
        </p:txBody>
      </p:sp>
      <p:sp>
        <p:nvSpPr>
          <p:cNvPr id="4" name="Slide Number Placeholder 3"/>
          <p:cNvSpPr>
            <a:spLocks noGrp="1"/>
          </p:cNvSpPr>
          <p:nvPr>
            <p:ph type="sldNum" sz="quarter" idx="5"/>
          </p:nvPr>
        </p:nvSpPr>
        <p:spPr/>
        <p:txBody>
          <a:bodyPr/>
          <a:lstStyle/>
          <a:p>
            <a:fld id="{E29869D5-CC05-46A1-8868-AA3255DE1B6D}" type="slidenum">
              <a:rPr lang="en-US" smtClean="0"/>
              <a:t>3</a:t>
            </a:fld>
            <a:endParaRPr lang="en-US"/>
          </a:p>
        </p:txBody>
      </p:sp>
    </p:spTree>
    <p:extLst>
      <p:ext uri="{BB962C8B-B14F-4D97-AF65-F5344CB8AC3E}">
        <p14:creationId xmlns:p14="http://schemas.microsoft.com/office/powerpoint/2010/main" val="23430736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Nhóm dữ liệu 1-5</a:t>
            </a:r>
          </a:p>
          <a:p>
            <a:r>
              <a:rPr lang="vi-VN" b="0"/>
              <a:t>Mệnh đề </a:t>
            </a:r>
            <a:r>
              <a:rPr lang="en-US" sz="1200" b="1">
                <a:latin typeface="Courier New" pitchFamily="49" charset="0"/>
                <a:cs typeface="Courier New" pitchFamily="49" charset="0"/>
              </a:rPr>
              <a:t>GROUP BY</a:t>
            </a:r>
            <a:r>
              <a:rPr lang="en-US" sz="1200" b="1">
                <a:latin typeface="Calibri" pitchFamily="34" charset="0"/>
                <a:cs typeface="Calibri" pitchFamily="34" charset="0"/>
              </a:rPr>
              <a:t> </a:t>
            </a:r>
            <a:r>
              <a:rPr lang="vi-VN" b="0"/>
              <a:t>phân vùng kết quả vào một hoặc nhiều tập hợp con và mỗi tập hợp con có các giá trị và biểu thức chung.</a:t>
            </a:r>
          </a:p>
          <a:p>
            <a:pPr marL="171450" indent="-171450">
              <a:buFont typeface="Arial" panose="020B0604020202020204" pitchFamily="34" charset="0"/>
              <a:buChar char="•"/>
            </a:pPr>
            <a:r>
              <a:rPr lang="vi-VN" b="0"/>
              <a:t>Tiếp theo là một danh sách các cột, được gọi là cột được nhóm.</a:t>
            </a:r>
          </a:p>
          <a:p>
            <a:pPr marL="171450" indent="-171450">
              <a:buFont typeface="Arial" panose="020B0604020202020204" pitchFamily="34" charset="0"/>
              <a:buChar char="•"/>
            </a:pPr>
            <a:r>
              <a:rPr lang="vi-VN" b="0"/>
              <a:t>Nó hạn chế số lượng hàng của kết quả.</a:t>
            </a:r>
            <a:endParaRPr lang="en-US" b="0"/>
          </a:p>
        </p:txBody>
      </p:sp>
      <p:sp>
        <p:nvSpPr>
          <p:cNvPr id="4" name="Slide Number Placeholder 3"/>
          <p:cNvSpPr>
            <a:spLocks noGrp="1"/>
          </p:cNvSpPr>
          <p:nvPr>
            <p:ph type="sldNum" sz="quarter" idx="5"/>
          </p:nvPr>
        </p:nvSpPr>
        <p:spPr/>
        <p:txBody>
          <a:bodyPr/>
          <a:lstStyle/>
          <a:p>
            <a:fld id="{E29869D5-CC05-46A1-8868-AA3255DE1B6D}" type="slidenum">
              <a:rPr lang="en-US" smtClean="0"/>
              <a:t>4</a:t>
            </a:fld>
            <a:endParaRPr lang="en-US"/>
          </a:p>
        </p:txBody>
      </p:sp>
    </p:spTree>
    <p:extLst>
      <p:ext uri="{BB962C8B-B14F-4D97-AF65-F5344CB8AC3E}">
        <p14:creationId xmlns:p14="http://schemas.microsoft.com/office/powerpoint/2010/main" val="32681405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Nhóm dữ liệu 2-5</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spc="20">
                <a:latin typeface="Arial"/>
                <a:cs typeface="Arial"/>
              </a:rPr>
              <a:t>GROUP </a:t>
            </a:r>
            <a:r>
              <a:rPr lang="en-US" sz="1200" b="1" spc="-235">
                <a:latin typeface="Arial"/>
                <a:cs typeface="Arial"/>
              </a:rPr>
              <a:t> </a:t>
            </a:r>
            <a:r>
              <a:rPr lang="en-US" sz="1200" b="1" spc="-70">
                <a:latin typeface="Arial"/>
                <a:cs typeface="Arial"/>
              </a:rPr>
              <a:t>BY với </a:t>
            </a:r>
            <a:r>
              <a:rPr lang="en-US" sz="1200" b="1" spc="-220">
                <a:latin typeface="Arial"/>
                <a:cs typeface="Arial"/>
              </a:rPr>
              <a:t> </a:t>
            </a:r>
            <a:r>
              <a:rPr lang="en-US" sz="1200" b="1" spc="20">
                <a:latin typeface="Arial"/>
                <a:cs typeface="Arial"/>
              </a:rPr>
              <a:t>WHERE</a:t>
            </a:r>
            <a:endParaRPr lang="en-US" sz="1200">
              <a:latin typeface="Arial"/>
              <a:cs typeface="Arial"/>
            </a:endParaRPr>
          </a:p>
          <a:p>
            <a:pPr marL="171450" indent="-171450">
              <a:buFont typeface="Arial" panose="020B0604020202020204" pitchFamily="34" charset="0"/>
              <a:buChar char="•"/>
            </a:pPr>
            <a:r>
              <a:rPr lang="en-US"/>
              <a:t>Dùng</a:t>
            </a:r>
            <a:r>
              <a:rPr lang="vi-VN"/>
              <a:t> hạn chế các hàng để nhóm.</a:t>
            </a:r>
          </a:p>
          <a:p>
            <a:pPr marL="171450" indent="-171450">
              <a:buFont typeface="Arial" panose="020B0604020202020204" pitchFamily="34" charset="0"/>
              <a:buChar char="•"/>
            </a:pPr>
            <a:r>
              <a:rPr lang="vi-VN"/>
              <a:t>Các hàng thỏa mãn tình trạng tìm kiếm được xem xét để nhóm.</a:t>
            </a:r>
          </a:p>
          <a:p>
            <a:pPr marL="171450" indent="-171450">
              <a:buFont typeface="Arial" panose="020B0604020202020204" pitchFamily="34" charset="0"/>
              <a:buChar char="•"/>
            </a:pPr>
            <a:r>
              <a:rPr lang="vi-VN"/>
              <a:t>Các hàng không đáp ứng các điều kiện trong mệnh đề WHERE được loại bỏ trước khi bất kỳ nhóm nào được thực hiện.</a:t>
            </a:r>
            <a:endParaRPr lang="en-US"/>
          </a:p>
        </p:txBody>
      </p:sp>
      <p:sp>
        <p:nvSpPr>
          <p:cNvPr id="4" name="Slide Number Placeholder 3"/>
          <p:cNvSpPr>
            <a:spLocks noGrp="1"/>
          </p:cNvSpPr>
          <p:nvPr>
            <p:ph type="sldNum" sz="quarter" idx="5"/>
          </p:nvPr>
        </p:nvSpPr>
        <p:spPr/>
        <p:txBody>
          <a:bodyPr/>
          <a:lstStyle/>
          <a:p>
            <a:fld id="{E29869D5-CC05-46A1-8868-AA3255DE1B6D}" type="slidenum">
              <a:rPr lang="en-US" smtClean="0"/>
              <a:t>5</a:t>
            </a:fld>
            <a:endParaRPr lang="en-US"/>
          </a:p>
        </p:txBody>
      </p:sp>
    </p:spTree>
    <p:extLst>
      <p:ext uri="{BB962C8B-B14F-4D97-AF65-F5344CB8AC3E}">
        <p14:creationId xmlns:p14="http://schemas.microsoft.com/office/powerpoint/2010/main" val="22419624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Nhóm dữ liệu 3-5</a:t>
            </a:r>
          </a:p>
          <a:p>
            <a:r>
              <a:rPr lang="en-US" b="1"/>
              <a:t>GROUP BY với NULL 3-5</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i="0"/>
              <a:t>Nếu cột nhóm chứa giá trị NULL, hàng đó sẽ trở thành một nhóm riêng biệt trong kết quả</a:t>
            </a:r>
          </a:p>
          <a:p>
            <a:pPr marL="171450" indent="-171450">
              <a:buFont typeface="Arial" panose="020B0604020202020204" pitchFamily="34" charset="0"/>
              <a:buChar char="•"/>
            </a:pPr>
            <a:r>
              <a:rPr lang="vi-VN" b="0" i="0"/>
              <a:t>Nếu cột nhóm chứa nhiều giá trị </a:t>
            </a:r>
            <a:r>
              <a:rPr lang="en-US" sz="1200" i="0">
                <a:latin typeface="Courier New" pitchFamily="49" charset="0"/>
                <a:cs typeface="Courier New" pitchFamily="49" charset="0"/>
              </a:rPr>
              <a:t>NULL</a:t>
            </a:r>
            <a:r>
              <a:rPr lang="vi-VN" b="0" i="0"/>
              <a:t>, các giá trị </a:t>
            </a:r>
            <a:r>
              <a:rPr lang="en-US" sz="1200" i="0">
                <a:latin typeface="Courier New" pitchFamily="49" charset="0"/>
                <a:cs typeface="Courier New" pitchFamily="49" charset="0"/>
              </a:rPr>
              <a:t>NULL</a:t>
            </a:r>
            <a:r>
              <a:rPr lang="vi-VN" b="0" i="0"/>
              <a:t> được đặt vào một </a:t>
            </a:r>
            <a:r>
              <a:rPr lang="en-US" b="0" i="0"/>
              <a:t>dòng</a:t>
            </a:r>
            <a:r>
              <a:rPr lang="vi-VN" b="0" i="0"/>
              <a:t> duy nhất</a:t>
            </a:r>
            <a:endParaRPr lang="en-US" b="0" i="0"/>
          </a:p>
          <a:p>
            <a:pPr marL="171450" indent="-171450">
              <a:buFont typeface="Arial" panose="020B0604020202020204" pitchFamily="34" charset="0"/>
              <a:buChar char="•"/>
            </a:pPr>
            <a:r>
              <a:rPr lang="en-US" b="0"/>
              <a:t>Ví dụ</a:t>
            </a:r>
          </a:p>
          <a:p>
            <a:pPr lvl="2"/>
            <a:r>
              <a:rPr lang="en-US"/>
              <a:t>SELECT Class, AVG (ListPrice) AS 'AverageListPrice' </a:t>
            </a:r>
          </a:p>
          <a:p>
            <a:pPr lvl="2"/>
            <a:r>
              <a:rPr lang="en-US"/>
              <a:t>FROM Product </a:t>
            </a:r>
          </a:p>
          <a:p>
            <a:pPr lvl="2"/>
            <a:r>
              <a:rPr lang="en-US" b="1"/>
              <a:t>GROUP BY Class</a:t>
            </a:r>
            <a:endParaRPr lang="en-US" sz="1000" b="1"/>
          </a:p>
        </p:txBody>
      </p:sp>
      <p:sp>
        <p:nvSpPr>
          <p:cNvPr id="4" name="Slide Number Placeholder 3"/>
          <p:cNvSpPr>
            <a:spLocks noGrp="1"/>
          </p:cNvSpPr>
          <p:nvPr>
            <p:ph type="sldNum" sz="quarter" idx="5"/>
          </p:nvPr>
        </p:nvSpPr>
        <p:spPr/>
        <p:txBody>
          <a:bodyPr/>
          <a:lstStyle/>
          <a:p>
            <a:fld id="{E29869D5-CC05-46A1-8868-AA3255DE1B6D}" type="slidenum">
              <a:rPr lang="en-US" smtClean="0"/>
              <a:t>6</a:t>
            </a:fld>
            <a:endParaRPr lang="en-US"/>
          </a:p>
        </p:txBody>
      </p:sp>
    </p:spTree>
    <p:extLst>
      <p:ext uri="{BB962C8B-B14F-4D97-AF65-F5344CB8AC3E}">
        <p14:creationId xmlns:p14="http://schemas.microsoft.com/office/powerpoint/2010/main" val="25455150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Nhóm dữ liệu 4-5</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b="1"/>
              <a:t>GROUP BY với ALL</a:t>
            </a:r>
          </a:p>
          <a:p>
            <a:pPr marL="171450" indent="-171450">
              <a:buFont typeface="Arial" panose="020B0604020202020204" pitchFamily="34" charset="0"/>
              <a:buChar char="•"/>
            </a:pPr>
            <a:r>
              <a:rPr lang="en-US"/>
              <a:t>T</a:t>
            </a:r>
            <a:r>
              <a:rPr lang="vi-VN"/>
              <a:t>ừ khóa </a:t>
            </a:r>
            <a:r>
              <a:rPr lang="en-US"/>
              <a:t>ALL </a:t>
            </a:r>
            <a:r>
              <a:rPr lang="vi-VN"/>
              <a:t>cũng có thể được sử dụng với mệnh đề </a:t>
            </a:r>
            <a:r>
              <a:rPr lang="en-US" sz="1200" spc="145">
                <a:solidFill>
                  <a:srgbClr val="FFFFFF"/>
                </a:solidFill>
                <a:latin typeface="Times New Roman"/>
                <a:cs typeface="Times New Roman"/>
              </a:rPr>
              <a:t>GROUP</a:t>
            </a:r>
            <a:r>
              <a:rPr lang="en-US" sz="1200" spc="-75">
                <a:solidFill>
                  <a:srgbClr val="FFFFFF"/>
                </a:solidFill>
                <a:latin typeface="Times New Roman"/>
                <a:cs typeface="Times New Roman"/>
              </a:rPr>
              <a:t> </a:t>
            </a:r>
            <a:r>
              <a:rPr lang="en-US" sz="1200" spc="-50">
                <a:solidFill>
                  <a:srgbClr val="FFFFFF"/>
                </a:solidFill>
                <a:latin typeface="Times New Roman"/>
                <a:cs typeface="Times New Roman"/>
              </a:rPr>
              <a:t>BY</a:t>
            </a:r>
            <a:endParaRPr lang="vi-VN"/>
          </a:p>
          <a:p>
            <a:pPr marL="171450" indent="-171450">
              <a:buFont typeface="Arial" panose="020B0604020202020204" pitchFamily="34" charset="0"/>
              <a:buChar char="•"/>
            </a:pPr>
            <a:r>
              <a:rPr lang="vi-VN"/>
              <a:t>Nó bao gồm tất cả các nhóm mà mệnh đề </a:t>
            </a:r>
            <a:r>
              <a:rPr lang="en-US" sz="1200" spc="145">
                <a:solidFill>
                  <a:srgbClr val="FFFFFF"/>
                </a:solidFill>
                <a:latin typeface="Times New Roman"/>
                <a:cs typeface="Times New Roman"/>
              </a:rPr>
              <a:t>GROUP</a:t>
            </a:r>
            <a:r>
              <a:rPr lang="en-US" sz="1200" spc="5">
                <a:solidFill>
                  <a:srgbClr val="FFFFFF"/>
                </a:solidFill>
                <a:latin typeface="Times New Roman"/>
                <a:cs typeface="Times New Roman"/>
              </a:rPr>
              <a:t> </a:t>
            </a:r>
            <a:r>
              <a:rPr lang="en-US" sz="1200" spc="-50">
                <a:solidFill>
                  <a:srgbClr val="FFFFFF"/>
                </a:solidFill>
                <a:latin typeface="Times New Roman"/>
                <a:cs typeface="Times New Roman"/>
              </a:rPr>
              <a:t>BY</a:t>
            </a:r>
            <a:r>
              <a:rPr lang="en-US" sz="1200">
                <a:solidFill>
                  <a:srgbClr val="FFFFFF"/>
                </a:solidFill>
                <a:latin typeface="Times New Roman"/>
                <a:cs typeface="Times New Roman"/>
              </a:rPr>
              <a:t> </a:t>
            </a:r>
            <a:r>
              <a:rPr lang="en-US"/>
              <a:t>trình bày </a:t>
            </a:r>
            <a:r>
              <a:rPr lang="vi-VN"/>
              <a:t>và thậm chí những nhóm không đáp ứng các điều kiện tìm kiếm.</a:t>
            </a:r>
            <a:endParaRPr lang="en-US"/>
          </a:p>
          <a:p>
            <a:pPr marL="171450" indent="-171450">
              <a:buFont typeface="Arial" panose="020B0604020202020204" pitchFamily="34" charset="0"/>
              <a:buChar char="•"/>
            </a:pPr>
            <a:r>
              <a:rPr lang="en-US" b="0"/>
              <a:t>Ví dụ</a:t>
            </a:r>
          </a:p>
          <a:p>
            <a:pPr lvl="1"/>
            <a:r>
              <a:rPr lang="en-US"/>
              <a:t>SELECT [Group],SUM(SalesYTD) AS 'TotalSales' </a:t>
            </a:r>
          </a:p>
          <a:p>
            <a:pPr lvl="1"/>
            <a:r>
              <a:rPr lang="en-US"/>
              <a:t>FROM SalesTerritory</a:t>
            </a:r>
          </a:p>
          <a:p>
            <a:pPr lvl="1"/>
            <a:r>
              <a:rPr lang="en-US" b="1"/>
              <a:t>WHERE [Group] LIKE 'N%' OR [Group] LIKE 'E%' </a:t>
            </a:r>
          </a:p>
          <a:p>
            <a:pPr lvl="1"/>
            <a:r>
              <a:rPr lang="en-US"/>
              <a:t>GROUP BY </a:t>
            </a:r>
            <a:r>
              <a:rPr lang="en-US" b="1"/>
              <a:t>ALL</a:t>
            </a:r>
            <a:r>
              <a:rPr lang="en-US"/>
              <a:t> [Group]</a:t>
            </a:r>
          </a:p>
        </p:txBody>
      </p:sp>
      <p:sp>
        <p:nvSpPr>
          <p:cNvPr id="4" name="Slide Number Placeholder 3"/>
          <p:cNvSpPr>
            <a:spLocks noGrp="1"/>
          </p:cNvSpPr>
          <p:nvPr>
            <p:ph type="sldNum" sz="quarter" idx="5"/>
          </p:nvPr>
        </p:nvSpPr>
        <p:spPr/>
        <p:txBody>
          <a:bodyPr/>
          <a:lstStyle/>
          <a:p>
            <a:fld id="{E29869D5-CC05-46A1-8868-AA3255DE1B6D}" type="slidenum">
              <a:rPr lang="en-US" smtClean="0"/>
              <a:t>7</a:t>
            </a:fld>
            <a:endParaRPr lang="en-US"/>
          </a:p>
        </p:txBody>
      </p:sp>
    </p:spTree>
    <p:extLst>
      <p:ext uri="{BB962C8B-B14F-4D97-AF65-F5344CB8AC3E}">
        <p14:creationId xmlns:p14="http://schemas.microsoft.com/office/powerpoint/2010/main" val="27640131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Nhóm dữ liệu 4-5</a:t>
            </a:r>
          </a:p>
          <a:p>
            <a:r>
              <a:rPr lang="en-US" b="1"/>
              <a:t>GROUP BY với HAVING</a:t>
            </a:r>
          </a:p>
          <a:p>
            <a:pPr marL="171450" indent="-171450">
              <a:buFont typeface="Arial" panose="020B0604020202020204" pitchFamily="34" charset="0"/>
              <a:buChar char="•"/>
            </a:pPr>
            <a:r>
              <a:rPr lang="vi-VN" b="0" i="0"/>
              <a:t>Mệnh đề </a:t>
            </a:r>
            <a:r>
              <a:rPr lang="en-US" sz="1200" i="0">
                <a:latin typeface="Courier New" pitchFamily="49" charset="0"/>
                <a:cs typeface="Courier New" pitchFamily="49" charset="0"/>
              </a:rPr>
              <a:t>HAVING</a:t>
            </a:r>
            <a:r>
              <a:rPr lang="vi-VN" b="0" i="0"/>
              <a:t> chỉ được sử dụng với câu lệnh </a:t>
            </a:r>
            <a:r>
              <a:rPr lang="en-US" b="0" i="0"/>
              <a:t>SELECT</a:t>
            </a:r>
            <a:r>
              <a:rPr lang="vi-VN" b="0" i="0"/>
              <a:t> để chỉ định điều kiện tìm kiếm cho một nhóm.</a:t>
            </a:r>
            <a:endParaRPr lang="en-US" b="0" i="0"/>
          </a:p>
          <a:p>
            <a:pPr marL="171450" indent="-171450">
              <a:buFont typeface="Arial" panose="020B0604020202020204" pitchFamily="34" charset="0"/>
              <a:buChar char="•"/>
            </a:pPr>
            <a:r>
              <a:rPr lang="vi-VN" sz="1200">
                <a:latin typeface="Courier New" pitchFamily="49" charset="0"/>
                <a:cs typeface="Courier New" pitchFamily="49" charset="0"/>
              </a:rPr>
              <a:t>Mệnh đề </a:t>
            </a:r>
            <a:r>
              <a:rPr lang="en-US" sz="1200" i="0">
                <a:latin typeface="Courier New" pitchFamily="49" charset="0"/>
                <a:cs typeface="Courier New" pitchFamily="49" charset="0"/>
              </a:rPr>
              <a:t>HAVING</a:t>
            </a:r>
            <a:r>
              <a:rPr lang="vi-VN" sz="1200">
                <a:latin typeface="Courier New" pitchFamily="49" charset="0"/>
                <a:cs typeface="Courier New" pitchFamily="49" charset="0"/>
              </a:rPr>
              <a:t> hoạt động như một mệnh đề WHERE ở những nơi mà mệnh đề WHERE không thể được sử dụng đối với các hàm tổng hợp như SUM()</a:t>
            </a:r>
            <a:endParaRPr lang="en-US" sz="1200">
              <a:latin typeface="Courier New" pitchFamily="49" charset="0"/>
              <a:cs typeface="Courier New" pitchFamily="49"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vi-VN" b="0" i="1"/>
              <a:t>Mệnh đề </a:t>
            </a:r>
            <a:r>
              <a:rPr lang="en-US" sz="1200" i="1">
                <a:latin typeface="Courier New" pitchFamily="49" charset="0"/>
                <a:cs typeface="Courier New" pitchFamily="49" charset="0"/>
              </a:rPr>
              <a:t>HAVING</a:t>
            </a:r>
            <a:r>
              <a:rPr lang="vi-VN" b="0" i="1"/>
              <a:t> hoạt động như một bộ lọc trên các nhóm</a:t>
            </a:r>
            <a:r>
              <a:rPr lang="vi-VN" b="0"/>
              <a:t>, tương tự như cách mà </a:t>
            </a:r>
            <a:r>
              <a:rPr lang="vi-VN" b="0" i="1"/>
              <a:t>mệnh đề WHERE hoạt động như một bộ lọc trên các </a:t>
            </a:r>
            <a:r>
              <a:rPr lang="en-US" b="0" i="1"/>
              <a:t>dòng</a:t>
            </a:r>
            <a:r>
              <a:rPr lang="vi-VN" b="0" i="1"/>
              <a:t> </a:t>
            </a:r>
            <a:r>
              <a:rPr lang="vi-VN" b="0"/>
              <a:t>được trả về bởi mệnh đề </a:t>
            </a:r>
            <a:r>
              <a:rPr lang="en-US" sz="1200">
                <a:latin typeface="Courier New" pitchFamily="49" charset="0"/>
                <a:cs typeface="Courier New" pitchFamily="49" charset="0"/>
              </a:rPr>
              <a:t>FROM</a:t>
            </a:r>
          </a:p>
          <a:p>
            <a:pPr marL="171450" indent="-171450">
              <a:buFont typeface="Arial" panose="020B0604020202020204" pitchFamily="34" charset="0"/>
              <a:buChar char="•"/>
            </a:pPr>
            <a:r>
              <a:rPr lang="en-US" b="0"/>
              <a:t>Cú pháp</a:t>
            </a:r>
          </a:p>
          <a:p>
            <a:pPr lvl="2"/>
            <a:r>
              <a:rPr lang="en-US"/>
              <a:t>SELECT &lt;column_name&gt; …    </a:t>
            </a:r>
          </a:p>
          <a:p>
            <a:pPr lvl="2"/>
            <a:r>
              <a:rPr lang="en-US"/>
              <a:t>FROM &lt;table_name&gt; </a:t>
            </a:r>
          </a:p>
          <a:p>
            <a:pPr lvl="2"/>
            <a:r>
              <a:rPr lang="en-US" b="1"/>
              <a:t>GROUP BY &lt;column_name&gt; </a:t>
            </a:r>
          </a:p>
          <a:p>
            <a:pPr lvl="2"/>
            <a:r>
              <a:rPr lang="en-US" b="1"/>
              <a:t>HAVING &lt;search_condition&gt;</a:t>
            </a:r>
          </a:p>
          <a:p>
            <a:pPr marL="171450" lvl="0" indent="-171450">
              <a:buFont typeface="Arial" panose="020B0604020202020204" pitchFamily="34" charset="0"/>
              <a:buChar char="•"/>
            </a:pPr>
            <a:r>
              <a:rPr lang="en-US"/>
              <a:t>Ví dụ:</a:t>
            </a:r>
          </a:p>
          <a:p>
            <a:pPr lvl="2"/>
            <a:r>
              <a:rPr lang="en-US"/>
              <a:t>SELECT [Group],SUM(SalesYTD) AS 'TotalSales' </a:t>
            </a:r>
          </a:p>
          <a:p>
            <a:pPr lvl="2"/>
            <a:r>
              <a:rPr lang="en-US"/>
              <a:t>FROM Sales.SalesTerritory </a:t>
            </a:r>
          </a:p>
          <a:p>
            <a:pPr lvl="2"/>
            <a:r>
              <a:rPr lang="en-US"/>
              <a:t>WHERE [Group] LIKE 'N%' OR [Group] LIKE 'E%' </a:t>
            </a:r>
          </a:p>
          <a:p>
            <a:pPr lvl="2"/>
            <a:r>
              <a:rPr lang="en-US" b="1"/>
              <a:t>GROUP BY ALL [Group]</a:t>
            </a:r>
          </a:p>
          <a:p>
            <a:pPr lvl="2"/>
            <a:r>
              <a:rPr lang="en-US" b="1"/>
              <a:t>HAVING SUM(SalesYTD) &gt; 10000</a:t>
            </a:r>
          </a:p>
        </p:txBody>
      </p:sp>
      <p:sp>
        <p:nvSpPr>
          <p:cNvPr id="4" name="Slide Number Placeholder 3"/>
          <p:cNvSpPr>
            <a:spLocks noGrp="1"/>
          </p:cNvSpPr>
          <p:nvPr>
            <p:ph type="sldNum" sz="quarter" idx="5"/>
          </p:nvPr>
        </p:nvSpPr>
        <p:spPr/>
        <p:txBody>
          <a:bodyPr/>
          <a:lstStyle/>
          <a:p>
            <a:fld id="{E29869D5-CC05-46A1-8868-AA3255DE1B6D}" type="slidenum">
              <a:rPr lang="en-US" smtClean="0"/>
              <a:t>8</a:t>
            </a:fld>
            <a:endParaRPr lang="en-US"/>
          </a:p>
        </p:txBody>
      </p:sp>
    </p:spTree>
    <p:extLst>
      <p:ext uri="{BB962C8B-B14F-4D97-AF65-F5344CB8AC3E}">
        <p14:creationId xmlns:p14="http://schemas.microsoft.com/office/powerpoint/2010/main" val="29221098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Tóm tắt dữ liệu 1-4</a:t>
            </a:r>
          </a:p>
          <a:p>
            <a:pPr marL="171450" indent="-171450">
              <a:buFont typeface="Arial" panose="020B0604020202020204" pitchFamily="34" charset="0"/>
              <a:buChar char="•"/>
            </a:pPr>
            <a:r>
              <a:rPr lang="vi-VN" b="0" i="0"/>
              <a:t>Mệnh đề </a:t>
            </a:r>
            <a:r>
              <a:rPr lang="en-US" sz="1200" b="1" spc="180">
                <a:solidFill>
                  <a:srgbClr val="FFFFFF"/>
                </a:solidFill>
                <a:latin typeface="Arial (Body)"/>
                <a:cs typeface="Arial" panose="020B0604020202020204" pitchFamily="34" charset="0"/>
              </a:rPr>
              <a:t>GROUP </a:t>
            </a:r>
            <a:r>
              <a:rPr lang="en-US" sz="1200" b="1" spc="-60">
                <a:solidFill>
                  <a:srgbClr val="FFFFFF"/>
                </a:solidFill>
                <a:latin typeface="Arial (Body)"/>
                <a:cs typeface="Arial" panose="020B0604020202020204" pitchFamily="34" charset="0"/>
              </a:rPr>
              <a:t>BY  </a:t>
            </a:r>
            <a:r>
              <a:rPr lang="vi-VN" b="0" i="0"/>
              <a:t>cũng sử dụng các toán tử như </a:t>
            </a:r>
            <a:r>
              <a:rPr lang="vi-VN" b="1" i="0"/>
              <a:t>CUBE</a:t>
            </a:r>
            <a:r>
              <a:rPr lang="vi-VN" b="0" i="0"/>
              <a:t> và </a:t>
            </a:r>
            <a:r>
              <a:rPr lang="vi-VN" b="1" i="0"/>
              <a:t>ROLLUP</a:t>
            </a:r>
            <a:r>
              <a:rPr lang="vi-VN" b="0" i="0"/>
              <a:t> để trả về dữ liệu tóm tắt.</a:t>
            </a:r>
            <a:endParaRPr lang="en-US" b="0" i="0"/>
          </a:p>
          <a:p>
            <a:pPr marL="171450" indent="-171450">
              <a:buFont typeface="Arial" panose="020B0604020202020204" pitchFamily="34" charset="0"/>
              <a:buChar char="•"/>
            </a:pPr>
            <a:r>
              <a:rPr lang="vi-VN" b="0" i="0"/>
              <a:t>Số lượng cột trong mệnh đề </a:t>
            </a:r>
            <a:r>
              <a:rPr lang="en-US" sz="1200" b="1" spc="145">
                <a:solidFill>
                  <a:srgbClr val="FFFFFF"/>
                </a:solidFill>
                <a:latin typeface="Times New Roman"/>
                <a:cs typeface="Times New Roman"/>
              </a:rPr>
              <a:t>GROUP </a:t>
            </a:r>
            <a:r>
              <a:rPr lang="en-US" sz="1200" b="1" spc="-50">
                <a:solidFill>
                  <a:srgbClr val="FFFFFF"/>
                </a:solidFill>
                <a:latin typeface="Times New Roman"/>
                <a:cs typeface="Times New Roman"/>
              </a:rPr>
              <a:t>BY  </a:t>
            </a:r>
            <a:r>
              <a:rPr lang="vi-VN" b="0" i="0"/>
              <a:t>xác định số lượng hàng tóm tắt trong kết quả.</a:t>
            </a:r>
            <a:endParaRPr lang="en-US" b="0" i="0"/>
          </a:p>
        </p:txBody>
      </p:sp>
      <p:sp>
        <p:nvSpPr>
          <p:cNvPr id="4" name="Slide Number Placeholder 3"/>
          <p:cNvSpPr>
            <a:spLocks noGrp="1"/>
          </p:cNvSpPr>
          <p:nvPr>
            <p:ph type="sldNum" sz="quarter" idx="5"/>
          </p:nvPr>
        </p:nvSpPr>
        <p:spPr/>
        <p:txBody>
          <a:bodyPr/>
          <a:lstStyle/>
          <a:p>
            <a:fld id="{E29869D5-CC05-46A1-8868-AA3255DE1B6D}" type="slidenum">
              <a:rPr lang="en-US" smtClean="0"/>
              <a:t>9</a:t>
            </a:fld>
            <a:endParaRPr lang="en-US"/>
          </a:p>
        </p:txBody>
      </p:sp>
    </p:spTree>
    <p:extLst>
      <p:ext uri="{BB962C8B-B14F-4D97-AF65-F5344CB8AC3E}">
        <p14:creationId xmlns:p14="http://schemas.microsoft.com/office/powerpoint/2010/main" val="17896055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Tóm tắt dữ liệu 2-4</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a:t>CUBE</a:t>
            </a:r>
          </a:p>
          <a:p>
            <a:pPr marL="171450" indent="-171450">
              <a:buFont typeface="Arial" panose="020B0604020202020204" pitchFamily="34" charset="0"/>
              <a:buChar char="•"/>
            </a:pPr>
            <a:r>
              <a:rPr lang="en-US" sz="1200">
                <a:latin typeface="Courier New" pitchFamily="49" charset="0"/>
                <a:cs typeface="Courier New" pitchFamily="49" charset="0"/>
              </a:rPr>
              <a:t>CUBE</a:t>
            </a:r>
            <a:r>
              <a:rPr lang="en-US" b="0"/>
              <a:t> là một toán tử tổng hợp tạo ra một dòng siêu tổng hợp</a:t>
            </a:r>
          </a:p>
          <a:p>
            <a:pPr marL="171450" indent="-171450">
              <a:buFont typeface="Arial" panose="020B0604020202020204" pitchFamily="34" charset="0"/>
              <a:buChar char="•"/>
            </a:pPr>
            <a:r>
              <a:rPr lang="vi-VN" b="0"/>
              <a:t>Ngoài các </a:t>
            </a:r>
            <a:r>
              <a:rPr lang="en-US" b="0"/>
              <a:t>dòng</a:t>
            </a:r>
            <a:r>
              <a:rPr lang="vi-VN" b="0"/>
              <a:t> thông thường </a:t>
            </a:r>
            <a:r>
              <a:rPr lang="en-US" b="0"/>
              <a:t>đ</a:t>
            </a:r>
            <a:r>
              <a:rPr lang="vi-VN" b="0"/>
              <a:t>ư</a:t>
            </a:r>
            <a:r>
              <a:rPr lang="en-US" b="0"/>
              <a:t>ợc </a:t>
            </a:r>
            <a:r>
              <a:rPr lang="vi-VN" b="0"/>
              <a:t>cung cấp bởi</a:t>
            </a:r>
            <a:r>
              <a:rPr lang="en-US" b="0"/>
              <a:t> </a:t>
            </a:r>
            <a:r>
              <a:rPr lang="en-US" sz="1200">
                <a:latin typeface="Courier New" pitchFamily="49" charset="0"/>
                <a:cs typeface="Courier New" pitchFamily="49" charset="0"/>
              </a:rPr>
              <a:t>GROUP BY</a:t>
            </a:r>
            <a:r>
              <a:rPr lang="vi-VN" b="0"/>
              <a:t>, nó cũng cung cấp bản tóm tắt các </a:t>
            </a:r>
            <a:r>
              <a:rPr lang="en-US" b="0"/>
              <a:t>dòng</a:t>
            </a:r>
            <a:r>
              <a:rPr lang="vi-VN" b="0"/>
              <a:t> mà </a:t>
            </a:r>
            <a:r>
              <a:rPr lang="en-US" b="0"/>
              <a:t>m</a:t>
            </a:r>
            <a:r>
              <a:rPr lang="vi-VN" b="0"/>
              <a:t>ệnh đề </a:t>
            </a:r>
            <a:r>
              <a:rPr lang="en-US" sz="1200">
                <a:latin typeface="Courier New" pitchFamily="49" charset="0"/>
                <a:cs typeface="Courier New" pitchFamily="49" charset="0"/>
              </a:rPr>
              <a:t>GROUP BY</a:t>
            </a:r>
            <a:r>
              <a:rPr lang="en-US" sz="1200">
                <a:latin typeface="Calibri" pitchFamily="34" charset="0"/>
                <a:cs typeface="Calibri" pitchFamily="34" charset="0"/>
              </a:rPr>
              <a:t> </a:t>
            </a:r>
            <a:r>
              <a:rPr lang="vi-VN" b="0"/>
              <a:t>tạo ra</a:t>
            </a:r>
            <a:endParaRPr lang="en-US" b="0"/>
          </a:p>
        </p:txBody>
      </p:sp>
      <p:sp>
        <p:nvSpPr>
          <p:cNvPr id="4" name="Slide Number Placeholder 3"/>
          <p:cNvSpPr>
            <a:spLocks noGrp="1"/>
          </p:cNvSpPr>
          <p:nvPr>
            <p:ph type="sldNum" sz="quarter" idx="5"/>
          </p:nvPr>
        </p:nvSpPr>
        <p:spPr/>
        <p:txBody>
          <a:bodyPr/>
          <a:lstStyle/>
          <a:p>
            <a:fld id="{E29869D5-CC05-46A1-8868-AA3255DE1B6D}" type="slidenum">
              <a:rPr lang="en-US" smtClean="0"/>
              <a:t>10</a:t>
            </a:fld>
            <a:endParaRPr lang="en-US"/>
          </a:p>
        </p:txBody>
      </p:sp>
    </p:spTree>
    <p:extLst>
      <p:ext uri="{BB962C8B-B14F-4D97-AF65-F5344CB8AC3E}">
        <p14:creationId xmlns:p14="http://schemas.microsoft.com/office/powerpoint/2010/main" val="8603795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Tóm tắt dữ liệu 3-4</a:t>
            </a:r>
          </a:p>
          <a:p>
            <a:r>
              <a:rPr lang="en-US" b="1"/>
              <a:t>ROLLUP</a:t>
            </a:r>
          </a:p>
          <a:p>
            <a:pPr marL="171450" indent="-171450">
              <a:buFont typeface="Arial" panose="020B0604020202020204" pitchFamily="34" charset="0"/>
              <a:buChar char="•"/>
            </a:pPr>
            <a:r>
              <a:rPr lang="vi-VN" b="0"/>
              <a:t>Nó giới thiệu các hàng tóm tắt vào kết quả.</a:t>
            </a:r>
          </a:p>
          <a:p>
            <a:pPr marL="171450" indent="-171450">
              <a:buFont typeface="Arial" panose="020B0604020202020204" pitchFamily="34" charset="0"/>
              <a:buChar char="•"/>
            </a:pPr>
            <a:r>
              <a:rPr lang="vi-VN" b="0"/>
              <a:t>Tạo một kết quả cho thấy các nhóm được sắp xếp theo thứ tự phân cấp.</a:t>
            </a:r>
          </a:p>
          <a:p>
            <a:pPr marL="171450" indent="-171450">
              <a:buFont typeface="Arial" panose="020B0604020202020204" pitchFamily="34" charset="0"/>
              <a:buChar char="•"/>
            </a:pPr>
            <a:r>
              <a:rPr lang="vi-VN" b="0"/>
              <a:t>Nó sắp xếp các nhóm từ mức thấp nhất đến cao nhất</a:t>
            </a:r>
            <a:endParaRPr lang="en-US" b="0"/>
          </a:p>
          <a:p>
            <a:pPr marL="171450" indent="-171450">
              <a:buFont typeface="Arial" panose="020B0604020202020204" pitchFamily="34" charset="0"/>
              <a:buChar char="•"/>
            </a:pPr>
            <a:r>
              <a:rPr lang="vi-VN" b="0"/>
              <a:t>ROLLUP giả định một hệ thống phân cấp trong số các cột kích thước và chỉ tạo các bộ nhóm dựa trên hệ thống phân cấp này.</a:t>
            </a:r>
          </a:p>
          <a:p>
            <a:pPr marL="171450" indent="-171450">
              <a:buFont typeface="Arial" panose="020B0604020202020204" pitchFamily="34" charset="0"/>
              <a:buChar char="•"/>
            </a:pPr>
            <a:r>
              <a:rPr lang="vi-VN" b="0"/>
              <a:t>ROLLUP thường được sử dụng để tạo tổng phụ và tổng số cho mục đích báo cáo.</a:t>
            </a:r>
          </a:p>
          <a:p>
            <a:pPr marL="171450" indent="-171450">
              <a:buFont typeface="Arial" panose="020B0604020202020204" pitchFamily="34" charset="0"/>
              <a:buChar char="•"/>
            </a:pPr>
            <a:r>
              <a:rPr lang="vi-VN" b="0"/>
              <a:t>ROLLUP thường được sử dụng để tính tổng số</a:t>
            </a:r>
            <a:r>
              <a:rPr lang="en-US" b="0"/>
              <a:t> d</a:t>
            </a:r>
            <a:r>
              <a:rPr lang="vi-VN" b="0"/>
              <a:t>ữ liệu phân cấp như bán hàng theo </a:t>
            </a:r>
            <a:r>
              <a:rPr lang="en-US" b="0"/>
              <a:t>N</a:t>
            </a:r>
            <a:r>
              <a:rPr lang="vi-VN" b="0"/>
              <a:t>ăm → Quý → Tháng.</a:t>
            </a:r>
            <a:endParaRPr lang="en-US" b="0"/>
          </a:p>
        </p:txBody>
      </p:sp>
      <p:sp>
        <p:nvSpPr>
          <p:cNvPr id="4" name="Slide Number Placeholder 3"/>
          <p:cNvSpPr>
            <a:spLocks noGrp="1"/>
          </p:cNvSpPr>
          <p:nvPr>
            <p:ph type="sldNum" sz="quarter" idx="5"/>
          </p:nvPr>
        </p:nvSpPr>
        <p:spPr/>
        <p:txBody>
          <a:bodyPr/>
          <a:lstStyle/>
          <a:p>
            <a:fld id="{E29869D5-CC05-46A1-8868-AA3255DE1B6D}" type="slidenum">
              <a:rPr lang="en-US" smtClean="0"/>
              <a:t>11</a:t>
            </a:fld>
            <a:endParaRPr lang="en-US"/>
          </a:p>
        </p:txBody>
      </p:sp>
    </p:spTree>
    <p:extLst>
      <p:ext uri="{BB962C8B-B14F-4D97-AF65-F5344CB8AC3E}">
        <p14:creationId xmlns:p14="http://schemas.microsoft.com/office/powerpoint/2010/main" val="4069904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Tóm tắt dữ liệu 4-4</a:t>
            </a:r>
          </a:p>
          <a:p>
            <a:endParaRPr lang="en-US"/>
          </a:p>
        </p:txBody>
      </p:sp>
      <p:sp>
        <p:nvSpPr>
          <p:cNvPr id="4" name="Slide Number Placeholder 3"/>
          <p:cNvSpPr>
            <a:spLocks noGrp="1"/>
          </p:cNvSpPr>
          <p:nvPr>
            <p:ph type="sldNum" sz="quarter" idx="5"/>
          </p:nvPr>
        </p:nvSpPr>
        <p:spPr/>
        <p:txBody>
          <a:bodyPr/>
          <a:lstStyle/>
          <a:p>
            <a:fld id="{E29869D5-CC05-46A1-8868-AA3255DE1B6D}" type="slidenum">
              <a:rPr lang="en-US" smtClean="0"/>
              <a:t>12</a:t>
            </a:fld>
            <a:endParaRPr lang="en-US"/>
          </a:p>
        </p:txBody>
      </p:sp>
    </p:spTree>
    <p:extLst>
      <p:ext uri="{BB962C8B-B14F-4D97-AF65-F5344CB8AC3E}">
        <p14:creationId xmlns:p14="http://schemas.microsoft.com/office/powerpoint/2010/main" val="36429383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Hàm tổng hợp 1-3</a:t>
            </a:r>
          </a:p>
          <a:p>
            <a:pPr marL="171450" indent="-171450">
              <a:buFont typeface="Arial" panose="020B0604020202020204" pitchFamily="34" charset="0"/>
              <a:buChar char="•"/>
            </a:pPr>
            <a:r>
              <a:rPr lang="vi-VN" b="0"/>
              <a:t>Các nhà phát triển yêu cầu thực hiện phân tích trên các hàng, chẳng hạn như đếm hàng, đáp ứng các tiêu chí cụ thể hoặc tóm tắt tổng doanh số cho tất cả các đơn đặt hàng</a:t>
            </a:r>
          </a:p>
          <a:p>
            <a:pPr marL="171450" indent="-171450">
              <a:buFont typeface="Arial" panose="020B0604020202020204" pitchFamily="34" charset="0"/>
              <a:buChar char="•"/>
            </a:pPr>
            <a:r>
              <a:rPr lang="vi-VN" b="0"/>
              <a:t>Các hàm tổng hợp cho phép thực hiện nó</a:t>
            </a:r>
            <a:endParaRPr lang="en-US" b="0"/>
          </a:p>
          <a:p>
            <a:pPr marL="171450" indent="-171450">
              <a:buFont typeface="Arial" panose="020B0604020202020204" pitchFamily="34" charset="0"/>
              <a:buChar char="•"/>
            </a:pPr>
            <a:r>
              <a:rPr lang="vi-VN" b="0"/>
              <a:t>Các hàm tổng hợp bỏ qua NULL, ngoại trừ khi sử dụng </a:t>
            </a:r>
            <a:r>
              <a:rPr lang="vi-VN" b="1"/>
              <a:t>Count(*)</a:t>
            </a:r>
          </a:p>
          <a:p>
            <a:pPr marL="171450" indent="-171450">
              <a:buFont typeface="Arial" panose="020B0604020202020204" pitchFamily="34" charset="0"/>
              <a:buChar char="•"/>
            </a:pPr>
            <a:r>
              <a:rPr lang="vi-VN" b="0"/>
              <a:t>Các hàm tổng hợp trong một danh sách </a:t>
            </a:r>
            <a:r>
              <a:rPr lang="en-US" sz="1200" spc="80">
                <a:solidFill>
                  <a:srgbClr val="FFFFFF"/>
                </a:solidFill>
                <a:latin typeface="Times New Roman"/>
                <a:cs typeface="Times New Roman"/>
              </a:rPr>
              <a:t>SELECT</a:t>
            </a:r>
            <a:r>
              <a:rPr lang="vi-VN" b="0"/>
              <a:t> không tạo bí danh cột</a:t>
            </a:r>
          </a:p>
          <a:p>
            <a:pPr marL="171450" indent="-171450">
              <a:buFont typeface="Arial" panose="020B0604020202020204" pitchFamily="34" charset="0"/>
              <a:buChar char="•"/>
            </a:pPr>
            <a:r>
              <a:rPr lang="vi-VN" b="0"/>
              <a:t>Các chức năng tổng hợp trong một mệnh đề </a:t>
            </a:r>
            <a:r>
              <a:rPr lang="en-US" sz="1200" spc="80">
                <a:solidFill>
                  <a:srgbClr val="FFFFFF"/>
                </a:solidFill>
                <a:latin typeface="Times New Roman"/>
                <a:cs typeface="Times New Roman"/>
              </a:rPr>
              <a:t>SELECT</a:t>
            </a:r>
            <a:r>
              <a:rPr lang="vi-VN" b="0"/>
              <a:t> hoạt động trên tất cả các hàng được chuyển đến giai đoạn </a:t>
            </a:r>
            <a:r>
              <a:rPr lang="en-US" sz="1200" spc="80">
                <a:solidFill>
                  <a:srgbClr val="FFFFFF"/>
                </a:solidFill>
                <a:latin typeface="Times New Roman"/>
                <a:cs typeface="Times New Roman"/>
              </a:rPr>
              <a:t>SELECT</a:t>
            </a:r>
            <a:endParaRPr lang="en-US" b="0"/>
          </a:p>
        </p:txBody>
      </p:sp>
      <p:sp>
        <p:nvSpPr>
          <p:cNvPr id="4" name="Slide Number Placeholder 3"/>
          <p:cNvSpPr>
            <a:spLocks noGrp="1"/>
          </p:cNvSpPr>
          <p:nvPr>
            <p:ph type="sldNum" sz="quarter" idx="5"/>
          </p:nvPr>
        </p:nvSpPr>
        <p:spPr/>
        <p:txBody>
          <a:bodyPr/>
          <a:lstStyle/>
          <a:p>
            <a:fld id="{E29869D5-CC05-46A1-8868-AA3255DE1B6D}" type="slidenum">
              <a:rPr lang="en-US" smtClean="0"/>
              <a:t>13</a:t>
            </a:fld>
            <a:endParaRPr lang="en-US"/>
          </a:p>
        </p:txBody>
      </p:sp>
    </p:spTree>
    <p:extLst>
      <p:ext uri="{BB962C8B-B14F-4D97-AF65-F5344CB8AC3E}">
        <p14:creationId xmlns:p14="http://schemas.microsoft.com/office/powerpoint/2010/main" val="37752665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Các hàm tổng hợp 2-3</a:t>
            </a:r>
          </a:p>
          <a:p>
            <a:endParaRPr lang="en-US"/>
          </a:p>
        </p:txBody>
      </p:sp>
      <p:sp>
        <p:nvSpPr>
          <p:cNvPr id="4" name="Slide Number Placeholder 3"/>
          <p:cNvSpPr>
            <a:spLocks noGrp="1"/>
          </p:cNvSpPr>
          <p:nvPr>
            <p:ph type="sldNum" sz="quarter" idx="5"/>
          </p:nvPr>
        </p:nvSpPr>
        <p:spPr/>
        <p:txBody>
          <a:bodyPr/>
          <a:lstStyle/>
          <a:p>
            <a:fld id="{E29869D5-CC05-46A1-8868-AA3255DE1B6D}" type="slidenum">
              <a:rPr lang="en-US" smtClean="0"/>
              <a:t>14</a:t>
            </a:fld>
            <a:endParaRPr lang="en-US"/>
          </a:p>
        </p:txBody>
      </p:sp>
    </p:spTree>
    <p:extLst>
      <p:ext uri="{BB962C8B-B14F-4D97-AF65-F5344CB8AC3E}">
        <p14:creationId xmlns:p14="http://schemas.microsoft.com/office/powerpoint/2010/main" val="24671794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Các hàm tổng hợp 3-3</a:t>
            </a:r>
          </a:p>
          <a:p>
            <a:endParaRPr lang="en-US"/>
          </a:p>
        </p:txBody>
      </p:sp>
      <p:sp>
        <p:nvSpPr>
          <p:cNvPr id="4" name="Slide Number Placeholder 3"/>
          <p:cNvSpPr>
            <a:spLocks noGrp="1"/>
          </p:cNvSpPr>
          <p:nvPr>
            <p:ph type="sldNum" sz="quarter" idx="5"/>
          </p:nvPr>
        </p:nvSpPr>
        <p:spPr/>
        <p:txBody>
          <a:bodyPr/>
          <a:lstStyle/>
          <a:p>
            <a:fld id="{E29869D5-CC05-46A1-8868-AA3255DE1B6D}" type="slidenum">
              <a:rPr lang="en-US" smtClean="0"/>
              <a:t>15</a:t>
            </a:fld>
            <a:endParaRPr lang="en-US"/>
          </a:p>
        </p:txBody>
      </p:sp>
    </p:spTree>
    <p:extLst>
      <p:ext uri="{BB962C8B-B14F-4D97-AF65-F5344CB8AC3E}">
        <p14:creationId xmlns:p14="http://schemas.microsoft.com/office/powerpoint/2010/main" val="42445177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Tổng hợp không gian 1-3</a:t>
            </a:r>
          </a:p>
          <a:p>
            <a:pPr marL="171450" indent="-171450">
              <a:buFont typeface="Arial" panose="020B0604020202020204" pitchFamily="34" charset="0"/>
              <a:buChar char="•"/>
            </a:pPr>
            <a:r>
              <a:rPr lang="vi-VN" b="0"/>
              <a:t>SQL Server cung cấp một số phương thức giúp tổng hợp hai mục riêng lẻ về hình học hoặc dữ liệu địa lý</a:t>
            </a:r>
            <a:endParaRPr lang="en-US" b="0"/>
          </a:p>
          <a:p>
            <a:pPr marL="171450" indent="-171450">
              <a:buFont typeface="Arial" panose="020B0604020202020204" pitchFamily="34" charset="0"/>
              <a:buChar char="•"/>
            </a:pPr>
            <a:r>
              <a:rPr lang="en-US" b="1"/>
              <a:t>STUnion</a:t>
            </a:r>
            <a:r>
              <a:rPr lang="en-US" b="0"/>
              <a:t>: </a:t>
            </a:r>
            <a:r>
              <a:rPr lang="vi-VN" b="0"/>
              <a:t>Trả về một đối tượng đại diện cho sự kết hợp của một thể hiện hình học/địa lý với một thể hiện hình học/địa lý khác</a:t>
            </a:r>
            <a:endParaRPr lang="en-US" b="0"/>
          </a:p>
          <a:p>
            <a:pPr marL="171450" indent="-171450">
              <a:buFont typeface="Arial" panose="020B0604020202020204" pitchFamily="34" charset="0"/>
              <a:buChar char="•"/>
            </a:pPr>
            <a:r>
              <a:rPr lang="en-US" b="1"/>
              <a:t>STIntersection</a:t>
            </a:r>
            <a:r>
              <a:rPr lang="en-US" b="0"/>
              <a:t>: </a:t>
            </a:r>
            <a:r>
              <a:rPr lang="vi-VN" b="0"/>
              <a:t>Trả về một đối tượng đại diện cho các điểm trong đó một thể hiện hình học/địa lý giao nhau cho một thể hiện hình học/địa lý khác</a:t>
            </a:r>
            <a:endParaRPr lang="en-US" b="0"/>
          </a:p>
          <a:p>
            <a:pPr marL="171450" indent="-171450">
              <a:buFont typeface="Arial" panose="020B0604020202020204" pitchFamily="34" charset="0"/>
              <a:buChar char="•"/>
            </a:pPr>
            <a:r>
              <a:rPr lang="en-US" b="1"/>
              <a:t>STConvexHull</a:t>
            </a:r>
            <a:r>
              <a:rPr lang="en-US" b="0"/>
              <a:t>:  </a:t>
            </a:r>
            <a:r>
              <a:rPr lang="vi-VN" b="0"/>
              <a:t>Trả về một đối tượng đại diện cho </a:t>
            </a:r>
            <a:r>
              <a:rPr lang="en-US" b="0"/>
              <a:t>phần </a:t>
            </a:r>
            <a:r>
              <a:rPr lang="vi-VN" b="0"/>
              <a:t>lồi của một thể hiện hình học/địa lý. Một bộ </a:t>
            </a:r>
            <a:r>
              <a:rPr lang="en-US" b="0"/>
              <a:t>các </a:t>
            </a:r>
            <a:r>
              <a:rPr lang="vi-VN" b="0"/>
              <a:t>điểm được gọi là lồi nếu cho bất kỳ </a:t>
            </a:r>
            <a:r>
              <a:rPr lang="en-US" b="0"/>
              <a:t>2</a:t>
            </a:r>
            <a:r>
              <a:rPr lang="vi-VN" b="0"/>
              <a:t> điểm nào,</a:t>
            </a:r>
            <a:r>
              <a:rPr lang="en-US" b="0"/>
              <a:t> </a:t>
            </a:r>
            <a:r>
              <a:rPr lang="vi-VN" b="0"/>
              <a:t>toàn bộ phân khúc được chứa trong bộ. </a:t>
            </a:r>
            <a:r>
              <a:rPr lang="en-US" b="0"/>
              <a:t>Phần </a:t>
            </a:r>
            <a:r>
              <a:rPr lang="vi-VN" b="0"/>
              <a:t>lồi của một bộ điểm là bộ lồi nhỏ nhất có chứa bộ.</a:t>
            </a:r>
            <a:r>
              <a:rPr lang="en-US" b="0"/>
              <a:t> </a:t>
            </a:r>
            <a:r>
              <a:rPr lang="vi-VN" b="0"/>
              <a:t>Đối với bất kỳ bộ điểm nhất định, chỉ có một </a:t>
            </a:r>
            <a:r>
              <a:rPr lang="en-US" b="0"/>
              <a:t>phần</a:t>
            </a:r>
            <a:r>
              <a:rPr lang="vi-VN" b="0"/>
              <a:t> lồi.</a:t>
            </a:r>
            <a:endParaRPr lang="en-US" b="0"/>
          </a:p>
        </p:txBody>
      </p:sp>
      <p:sp>
        <p:nvSpPr>
          <p:cNvPr id="4" name="Slide Number Placeholder 3"/>
          <p:cNvSpPr>
            <a:spLocks noGrp="1"/>
          </p:cNvSpPr>
          <p:nvPr>
            <p:ph type="sldNum" sz="quarter" idx="5"/>
          </p:nvPr>
        </p:nvSpPr>
        <p:spPr/>
        <p:txBody>
          <a:bodyPr/>
          <a:lstStyle/>
          <a:p>
            <a:fld id="{E29869D5-CC05-46A1-8868-AA3255DE1B6D}" type="slidenum">
              <a:rPr lang="en-US" smtClean="0"/>
              <a:t>16</a:t>
            </a:fld>
            <a:endParaRPr lang="en-US"/>
          </a:p>
        </p:txBody>
      </p:sp>
    </p:spTree>
    <p:extLst>
      <p:ext uri="{BB962C8B-B14F-4D97-AF65-F5344CB8AC3E}">
        <p14:creationId xmlns:p14="http://schemas.microsoft.com/office/powerpoint/2010/main" val="22868269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Tổng hợp không gian 2-3</a:t>
            </a:r>
          </a:p>
        </p:txBody>
      </p:sp>
      <p:sp>
        <p:nvSpPr>
          <p:cNvPr id="4" name="Slide Number Placeholder 3"/>
          <p:cNvSpPr>
            <a:spLocks noGrp="1"/>
          </p:cNvSpPr>
          <p:nvPr>
            <p:ph type="sldNum" sz="quarter" idx="5"/>
          </p:nvPr>
        </p:nvSpPr>
        <p:spPr/>
        <p:txBody>
          <a:bodyPr/>
          <a:lstStyle/>
          <a:p>
            <a:fld id="{E29869D5-CC05-46A1-8868-AA3255DE1B6D}" type="slidenum">
              <a:rPr lang="en-US" smtClean="0"/>
              <a:t>17</a:t>
            </a:fld>
            <a:endParaRPr lang="en-US"/>
          </a:p>
        </p:txBody>
      </p:sp>
    </p:spTree>
    <p:extLst>
      <p:ext uri="{BB962C8B-B14F-4D97-AF65-F5344CB8AC3E}">
        <p14:creationId xmlns:p14="http://schemas.microsoft.com/office/powerpoint/2010/main" val="8583862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Tổng hợp không gian 3-3</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a:t>Ví dụ 1:</a:t>
            </a:r>
          </a:p>
          <a:p>
            <a:pPr lvl="1"/>
            <a:r>
              <a:rPr lang="en-US" sz="1800">
                <a:solidFill>
                  <a:srgbClr val="0000FF"/>
                </a:solidFill>
                <a:latin typeface="Consolas" panose="020B0609020204030204" pitchFamily="49" charset="0"/>
              </a:rPr>
              <a:t>DECLARE</a:t>
            </a:r>
            <a:r>
              <a:rPr lang="en-US" sz="1800">
                <a:solidFill>
                  <a:srgbClr val="000000"/>
                </a:solidFill>
                <a:latin typeface="Consolas" panose="020B0609020204030204" pitchFamily="49" charset="0"/>
              </a:rPr>
              <a:t> @Sq </a:t>
            </a:r>
            <a:r>
              <a:rPr lang="en-US" sz="1800">
                <a:solidFill>
                  <a:srgbClr val="0000FF"/>
                </a:solidFill>
                <a:latin typeface="Consolas" panose="020B0609020204030204" pitchFamily="49" charset="0"/>
              </a:rPr>
              <a:t>geometry</a:t>
            </a:r>
            <a:r>
              <a:rPr lang="en-US" sz="1800">
                <a:solidFill>
                  <a:srgbClr val="000000"/>
                </a:solidFill>
                <a:latin typeface="Consolas" panose="020B0609020204030204" pitchFamily="49" charset="0"/>
              </a:rPr>
              <a:t> </a:t>
            </a:r>
            <a:r>
              <a:rPr lang="en-US" sz="1800">
                <a:solidFill>
                  <a:srgbClr val="808080"/>
                </a:solidFill>
                <a:latin typeface="Consolas" panose="020B0609020204030204" pitchFamily="49" charset="0"/>
              </a:rPr>
              <a:t>=</a:t>
            </a: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geometry</a:t>
            </a:r>
            <a:r>
              <a:rPr lang="en-US" sz="1800">
                <a:solidFill>
                  <a:srgbClr val="808080"/>
                </a:solidFill>
                <a:latin typeface="Consolas" panose="020B0609020204030204" pitchFamily="49" charset="0"/>
              </a:rPr>
              <a:t>::</a:t>
            </a:r>
            <a:r>
              <a:rPr lang="en-US" sz="1800">
                <a:solidFill>
                  <a:srgbClr val="000000"/>
                </a:solidFill>
                <a:latin typeface="Consolas" panose="020B0609020204030204" pitchFamily="49" charset="0"/>
              </a:rPr>
              <a:t>STGeomFromText</a:t>
            </a:r>
            <a:r>
              <a:rPr lang="en-US" sz="1800">
                <a:solidFill>
                  <a:srgbClr val="808080"/>
                </a:solidFill>
                <a:latin typeface="Consolas" panose="020B0609020204030204" pitchFamily="49" charset="0"/>
              </a:rPr>
              <a:t>(</a:t>
            </a:r>
            <a:r>
              <a:rPr lang="en-US" sz="1800">
                <a:solidFill>
                  <a:srgbClr val="FF0000"/>
                </a:solidFill>
                <a:latin typeface="Consolas" panose="020B0609020204030204" pitchFamily="49" charset="0"/>
              </a:rPr>
              <a:t>'POLYGON((15 15, 15 250, 250 250, 250 15, 15 15))'</a:t>
            </a:r>
            <a:r>
              <a:rPr lang="en-US" sz="1800">
                <a:solidFill>
                  <a:srgbClr val="808080"/>
                </a:solidFill>
                <a:latin typeface="Consolas" panose="020B0609020204030204" pitchFamily="49" charset="0"/>
              </a:rPr>
              <a:t>,</a:t>
            </a:r>
            <a:r>
              <a:rPr lang="en-US" sz="1800">
                <a:solidFill>
                  <a:srgbClr val="000000"/>
                </a:solidFill>
                <a:latin typeface="Consolas" panose="020B0609020204030204" pitchFamily="49" charset="0"/>
              </a:rPr>
              <a:t> 0</a:t>
            </a:r>
            <a:r>
              <a:rPr lang="en-US" sz="1800">
                <a:solidFill>
                  <a:srgbClr val="808080"/>
                </a:solidFill>
                <a:latin typeface="Consolas" panose="020B0609020204030204" pitchFamily="49" charset="0"/>
              </a:rPr>
              <a:t>),</a:t>
            </a:r>
            <a:endParaRPr lang="en-US" sz="1800">
              <a:solidFill>
                <a:srgbClr val="000000"/>
              </a:solidFill>
              <a:latin typeface="Consolas" panose="020B0609020204030204" pitchFamily="49" charset="0"/>
            </a:endParaRPr>
          </a:p>
          <a:p>
            <a:pPr lvl="1"/>
            <a:r>
              <a:rPr lang="en-US" sz="1800">
                <a:solidFill>
                  <a:srgbClr val="000000"/>
                </a:solidFill>
                <a:latin typeface="Consolas" panose="020B0609020204030204" pitchFamily="49" charset="0"/>
              </a:rPr>
              <a:t>@Tri </a:t>
            </a:r>
            <a:r>
              <a:rPr lang="en-US" sz="1800">
                <a:solidFill>
                  <a:srgbClr val="0000FF"/>
                </a:solidFill>
                <a:latin typeface="Consolas" panose="020B0609020204030204" pitchFamily="49" charset="0"/>
              </a:rPr>
              <a:t>geometry</a:t>
            </a:r>
            <a:r>
              <a:rPr lang="en-US" sz="1800">
                <a:solidFill>
                  <a:srgbClr val="000000"/>
                </a:solidFill>
                <a:latin typeface="Consolas" panose="020B0609020204030204" pitchFamily="49" charset="0"/>
              </a:rPr>
              <a:t> </a:t>
            </a:r>
            <a:r>
              <a:rPr lang="en-US" sz="1800">
                <a:solidFill>
                  <a:srgbClr val="808080"/>
                </a:solidFill>
                <a:latin typeface="Consolas" panose="020B0609020204030204" pitchFamily="49" charset="0"/>
              </a:rPr>
              <a:t>=</a:t>
            </a: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geometry</a:t>
            </a:r>
            <a:r>
              <a:rPr lang="en-US" sz="1800">
                <a:solidFill>
                  <a:srgbClr val="808080"/>
                </a:solidFill>
                <a:latin typeface="Consolas" panose="020B0609020204030204" pitchFamily="49" charset="0"/>
              </a:rPr>
              <a:t>::</a:t>
            </a:r>
            <a:r>
              <a:rPr lang="en-US" sz="1800">
                <a:solidFill>
                  <a:srgbClr val="000000"/>
                </a:solidFill>
                <a:latin typeface="Consolas" panose="020B0609020204030204" pitchFamily="49" charset="0"/>
              </a:rPr>
              <a:t>STGeomFromText</a:t>
            </a:r>
            <a:r>
              <a:rPr lang="en-US" sz="1800">
                <a:solidFill>
                  <a:srgbClr val="808080"/>
                </a:solidFill>
                <a:latin typeface="Consolas" panose="020B0609020204030204" pitchFamily="49" charset="0"/>
              </a:rPr>
              <a:t>(</a:t>
            </a:r>
            <a:r>
              <a:rPr lang="en-US" sz="1800">
                <a:solidFill>
                  <a:srgbClr val="FF0000"/>
                </a:solidFill>
                <a:latin typeface="Consolas" panose="020B0609020204030204" pitchFamily="49" charset="0"/>
              </a:rPr>
              <a:t>'POLYGON((100 100,200 300,300 100, 100 100))'</a:t>
            </a:r>
            <a:r>
              <a:rPr lang="en-US" sz="1800">
                <a:solidFill>
                  <a:srgbClr val="808080"/>
                </a:solidFill>
                <a:latin typeface="Consolas" panose="020B0609020204030204" pitchFamily="49" charset="0"/>
              </a:rPr>
              <a:t>,</a:t>
            </a:r>
            <a:r>
              <a:rPr lang="en-US" sz="1800">
                <a:solidFill>
                  <a:srgbClr val="000000"/>
                </a:solidFill>
                <a:latin typeface="Consolas" panose="020B0609020204030204" pitchFamily="49" charset="0"/>
              </a:rPr>
              <a:t> 0</a:t>
            </a:r>
            <a:r>
              <a:rPr lang="en-US" sz="1800">
                <a:solidFill>
                  <a:srgbClr val="808080"/>
                </a:solidFill>
                <a:latin typeface="Consolas" panose="020B0609020204030204" pitchFamily="49" charset="0"/>
              </a:rPr>
              <a:t>);</a:t>
            </a:r>
            <a:endParaRPr lang="en-US" sz="1800">
              <a:solidFill>
                <a:srgbClr val="000000"/>
              </a:solidFill>
              <a:latin typeface="Consolas" panose="020B0609020204030204" pitchFamily="49" charset="0"/>
            </a:endParaRPr>
          </a:p>
          <a:p>
            <a:pPr lvl="1"/>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SELECT</a:t>
            </a:r>
            <a:r>
              <a:rPr lang="en-US" sz="1800">
                <a:solidFill>
                  <a:srgbClr val="000000"/>
                </a:solidFill>
                <a:latin typeface="Consolas" panose="020B0609020204030204" pitchFamily="49" charset="0"/>
              </a:rPr>
              <a:t> @Sq</a:t>
            </a:r>
            <a:r>
              <a:rPr lang="en-US" sz="1800">
                <a:solidFill>
                  <a:srgbClr val="808080"/>
                </a:solidFill>
                <a:latin typeface="Consolas" panose="020B0609020204030204" pitchFamily="49" charset="0"/>
              </a:rPr>
              <a:t>.</a:t>
            </a:r>
            <a:r>
              <a:rPr lang="en-US" sz="1800">
                <a:solidFill>
                  <a:srgbClr val="000000"/>
                </a:solidFill>
                <a:latin typeface="Consolas" panose="020B0609020204030204" pitchFamily="49" charset="0"/>
              </a:rPr>
              <a:t>STUnion</a:t>
            </a:r>
            <a:r>
              <a:rPr lang="en-US" sz="1800">
                <a:solidFill>
                  <a:srgbClr val="808080"/>
                </a:solidFill>
                <a:latin typeface="Consolas" panose="020B0609020204030204" pitchFamily="49" charset="0"/>
              </a:rPr>
              <a:t>(</a:t>
            </a:r>
            <a:r>
              <a:rPr lang="en-US" sz="1800">
                <a:solidFill>
                  <a:srgbClr val="000000"/>
                </a:solidFill>
                <a:latin typeface="Consolas" panose="020B0609020204030204" pitchFamily="49" charset="0"/>
              </a:rPr>
              <a:t>@Tri</a:t>
            </a:r>
            <a:r>
              <a:rPr lang="en-US" sz="1800">
                <a:solidFill>
                  <a:srgbClr val="808080"/>
                </a:solidFill>
                <a:latin typeface="Consolas" panose="020B0609020204030204" pitchFamily="49" charset="0"/>
              </a:rPr>
              <a:t>)</a:t>
            </a:r>
          </a:p>
          <a:p>
            <a:pPr lvl="0"/>
            <a:r>
              <a:rPr lang="en-US" b="0">
                <a:solidFill>
                  <a:srgbClr val="808080"/>
                </a:solidFill>
                <a:latin typeface="Consolas" panose="020B0609020204030204" pitchFamily="49" charset="0"/>
              </a:rPr>
              <a:t>Ví dụ 2:</a:t>
            </a:r>
          </a:p>
          <a:p>
            <a:pPr lvl="1"/>
            <a:r>
              <a:rPr lang="en-US">
                <a:effectLst/>
              </a:rPr>
              <a:t>DECLARE @Sq geometry = geometry::STGeomFromText('POLYGON((15 15, 15 250, 250 250, 250 15, 15 15))', 0),</a:t>
            </a:r>
          </a:p>
          <a:p>
            <a:pPr lvl="1"/>
            <a:r>
              <a:rPr lang="en-US">
                <a:effectLst/>
              </a:rPr>
              <a:t>@Tri geometry = geometry::STGeomFromText('POLYGON((100 100,200 300,300 100, 100 100))', 0);</a:t>
            </a:r>
          </a:p>
          <a:p>
            <a:pPr lvl="1"/>
            <a:r>
              <a:rPr lang="en-US">
                <a:effectLst/>
              </a:rPr>
              <a:t>SELECT @Sq.STIntersection(@Tri)</a:t>
            </a:r>
          </a:p>
        </p:txBody>
      </p:sp>
      <p:sp>
        <p:nvSpPr>
          <p:cNvPr id="4" name="Slide Number Placeholder 3"/>
          <p:cNvSpPr>
            <a:spLocks noGrp="1"/>
          </p:cNvSpPr>
          <p:nvPr>
            <p:ph type="sldNum" sz="quarter" idx="5"/>
          </p:nvPr>
        </p:nvSpPr>
        <p:spPr/>
        <p:txBody>
          <a:bodyPr/>
          <a:lstStyle/>
          <a:p>
            <a:fld id="{E29869D5-CC05-46A1-8868-AA3255DE1B6D}" type="slidenum">
              <a:rPr lang="en-US" smtClean="0"/>
              <a:t>18</a:t>
            </a:fld>
            <a:endParaRPr lang="en-US"/>
          </a:p>
        </p:txBody>
      </p:sp>
    </p:spTree>
    <p:extLst>
      <p:ext uri="{BB962C8B-B14F-4D97-AF65-F5344CB8AC3E}">
        <p14:creationId xmlns:p14="http://schemas.microsoft.com/office/powerpoint/2010/main" val="175469033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Nhiều t</a:t>
            </a:r>
            <a:r>
              <a:rPr lang="vi-VN" b="1"/>
              <a:t>ổng hợp không gian</a:t>
            </a:r>
            <a:r>
              <a:rPr lang="en-US" b="1"/>
              <a:t> </a:t>
            </a:r>
            <a:r>
              <a:rPr lang="vi-VN" b="1"/>
              <a:t>1-5</a:t>
            </a:r>
            <a:endParaRPr lang="en-US" b="1"/>
          </a:p>
          <a:p>
            <a:pPr marL="171450" indent="-171450">
              <a:buFont typeface="Arial" panose="020B0604020202020204" pitchFamily="34" charset="0"/>
              <a:buChar char="•"/>
            </a:pPr>
            <a:r>
              <a:rPr lang="en-US" sz="1200" spc="30">
                <a:solidFill>
                  <a:srgbClr val="FFFFFF"/>
                </a:solidFill>
                <a:latin typeface="Times New Roman"/>
                <a:cs typeface="Times New Roman"/>
              </a:rPr>
              <a:t>Aggregate </a:t>
            </a:r>
            <a:r>
              <a:rPr lang="en-US" b="0"/>
              <a:t>Union</a:t>
            </a:r>
          </a:p>
          <a:p>
            <a:pPr marL="171450" indent="-171450">
              <a:buFont typeface="Arial" panose="020B0604020202020204" pitchFamily="34" charset="0"/>
              <a:buChar char="•"/>
            </a:pPr>
            <a:r>
              <a:rPr lang="en-US" sz="1200" spc="30">
                <a:solidFill>
                  <a:srgbClr val="FFFFFF"/>
                </a:solidFill>
                <a:latin typeface="Times New Roman"/>
                <a:cs typeface="Times New Roman"/>
              </a:rPr>
              <a:t>Aggregate</a:t>
            </a:r>
            <a:r>
              <a:rPr lang="en-US" b="0"/>
              <a:t>Envelope</a:t>
            </a:r>
          </a:p>
          <a:p>
            <a:pPr marL="171450" indent="-171450">
              <a:buFont typeface="Arial" panose="020B0604020202020204" pitchFamily="34" charset="0"/>
              <a:buChar char="•"/>
            </a:pPr>
            <a:r>
              <a:rPr lang="en-US" sz="1200" spc="30">
                <a:solidFill>
                  <a:srgbClr val="FFFFFF"/>
                </a:solidFill>
                <a:latin typeface="Times New Roman"/>
                <a:cs typeface="Times New Roman"/>
              </a:rPr>
              <a:t>Aggregate </a:t>
            </a:r>
            <a:r>
              <a:rPr lang="en-US" b="0"/>
              <a:t>Collection</a:t>
            </a:r>
          </a:p>
          <a:p>
            <a:pPr marL="171450" indent="-171450">
              <a:buFont typeface="Arial" panose="020B0604020202020204" pitchFamily="34" charset="0"/>
              <a:buChar char="•"/>
            </a:pPr>
            <a:r>
              <a:rPr lang="en-US" sz="1200" spc="30">
                <a:solidFill>
                  <a:srgbClr val="FFFFFF"/>
                </a:solidFill>
                <a:latin typeface="Times New Roman"/>
                <a:cs typeface="Times New Roman"/>
              </a:rPr>
              <a:t>Aggregate </a:t>
            </a:r>
            <a:r>
              <a:rPr lang="en-US" b="0"/>
              <a:t>Convex Hull</a:t>
            </a:r>
          </a:p>
          <a:p>
            <a:pPr marL="171450" indent="-171450">
              <a:buFont typeface="Arial" panose="020B0604020202020204" pitchFamily="34" charset="0"/>
              <a:buChar char="•"/>
            </a:pPr>
            <a:r>
              <a:rPr lang="vi-VN" b="0"/>
              <a:t>Các tổng hợp này được triển khai dưới dạng các phương thức tĩnh, hoạt động cho các loại dữ liệu địa lý hoặc hình học.</a:t>
            </a:r>
            <a:endParaRPr lang="en-US" b="0"/>
          </a:p>
        </p:txBody>
      </p:sp>
      <p:sp>
        <p:nvSpPr>
          <p:cNvPr id="4" name="Slide Number Placeholder 3"/>
          <p:cNvSpPr>
            <a:spLocks noGrp="1"/>
          </p:cNvSpPr>
          <p:nvPr>
            <p:ph type="sldNum" sz="quarter" idx="5"/>
          </p:nvPr>
        </p:nvSpPr>
        <p:spPr/>
        <p:txBody>
          <a:bodyPr/>
          <a:lstStyle/>
          <a:p>
            <a:fld id="{E29869D5-CC05-46A1-8868-AA3255DE1B6D}" type="slidenum">
              <a:rPr lang="en-US" smtClean="0"/>
              <a:t>19</a:t>
            </a:fld>
            <a:endParaRPr lang="en-US"/>
          </a:p>
        </p:txBody>
      </p:sp>
    </p:spTree>
    <p:extLst>
      <p:ext uri="{BB962C8B-B14F-4D97-AF65-F5344CB8AC3E}">
        <p14:creationId xmlns:p14="http://schemas.microsoft.com/office/powerpoint/2010/main" val="130989062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Nhiều t</a:t>
            </a:r>
            <a:r>
              <a:rPr lang="vi-VN" b="1"/>
              <a:t>ổng hợp không gian</a:t>
            </a:r>
            <a:r>
              <a:rPr lang="en-US" b="1"/>
              <a:t> 2</a:t>
            </a:r>
            <a:r>
              <a:rPr lang="vi-VN" b="1"/>
              <a:t>-5</a:t>
            </a:r>
            <a:endParaRPr lang="en-US" b="1"/>
          </a:p>
          <a:p>
            <a:pPr marL="12700">
              <a:lnSpc>
                <a:spcPct val="100000"/>
              </a:lnSpc>
              <a:spcBef>
                <a:spcPts val="1350"/>
              </a:spcBef>
            </a:pPr>
            <a:r>
              <a:rPr lang="en-US" sz="1200" b="1" spc="-20">
                <a:latin typeface="Arial"/>
                <a:cs typeface="Arial"/>
              </a:rPr>
              <a:t>Union</a:t>
            </a:r>
            <a:r>
              <a:rPr lang="en-US" sz="1200" b="1" spc="-204">
                <a:latin typeface="Arial"/>
                <a:cs typeface="Arial"/>
              </a:rPr>
              <a:t> </a:t>
            </a:r>
            <a:r>
              <a:rPr lang="en-US" sz="1200" b="1" spc="-170">
                <a:latin typeface="Arial"/>
                <a:cs typeface="Arial"/>
              </a:rPr>
              <a:t>Aggregate</a:t>
            </a:r>
            <a:endParaRPr lang="en-US" sz="1200">
              <a:latin typeface="Arial"/>
              <a:cs typeface="Arial"/>
            </a:endParaRPr>
          </a:p>
          <a:p>
            <a:pPr marL="171450" indent="-171450">
              <a:buFont typeface="Arial" panose="020B0604020202020204" pitchFamily="34" charset="0"/>
              <a:buChar char="•"/>
            </a:pPr>
            <a:r>
              <a:rPr lang="vi-VN"/>
              <a:t>Nó thực hiện một hoạt động của sự kết hợp trên một tập hợp các đối tượng hình học.</a:t>
            </a:r>
          </a:p>
          <a:p>
            <a:pPr marL="171450" indent="-171450">
              <a:buFont typeface="Arial" panose="020B0604020202020204" pitchFamily="34" charset="0"/>
              <a:buChar char="•"/>
            </a:pPr>
            <a:r>
              <a:rPr lang="vi-VN"/>
              <a:t>Nó kết hợp nhiều đối tượng không gian thành một đối tượng không gian duy nhất, loại bỏ ranh giới </a:t>
            </a:r>
            <a:r>
              <a:rPr lang="en-US"/>
              <a:t>phần trong</a:t>
            </a:r>
            <a:r>
              <a:rPr lang="vi-VN"/>
              <a:t>, nếu có.</a:t>
            </a:r>
            <a:endParaRPr lang="en-US"/>
          </a:p>
        </p:txBody>
      </p:sp>
      <p:sp>
        <p:nvSpPr>
          <p:cNvPr id="4" name="Slide Number Placeholder 3"/>
          <p:cNvSpPr>
            <a:spLocks noGrp="1"/>
          </p:cNvSpPr>
          <p:nvPr>
            <p:ph type="sldNum" sz="quarter" idx="5"/>
          </p:nvPr>
        </p:nvSpPr>
        <p:spPr/>
        <p:txBody>
          <a:bodyPr/>
          <a:lstStyle/>
          <a:p>
            <a:fld id="{E29869D5-CC05-46A1-8868-AA3255DE1B6D}" type="slidenum">
              <a:rPr lang="en-US" smtClean="0"/>
              <a:t>20</a:t>
            </a:fld>
            <a:endParaRPr lang="en-US"/>
          </a:p>
        </p:txBody>
      </p:sp>
    </p:spTree>
    <p:extLst>
      <p:ext uri="{BB962C8B-B14F-4D97-AF65-F5344CB8AC3E}">
        <p14:creationId xmlns:p14="http://schemas.microsoft.com/office/powerpoint/2010/main" val="314474922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Nhiều t</a:t>
            </a:r>
            <a:r>
              <a:rPr lang="vi-VN" b="1"/>
              <a:t>ổng hợp không gian</a:t>
            </a:r>
            <a:r>
              <a:rPr lang="en-US" b="1"/>
              <a:t> 3</a:t>
            </a:r>
            <a:r>
              <a:rPr lang="vi-VN" b="1"/>
              <a:t>-5</a:t>
            </a:r>
            <a:endParaRPr lang="en-US" b="1"/>
          </a:p>
          <a:p>
            <a:pPr marL="12700">
              <a:lnSpc>
                <a:spcPct val="100000"/>
              </a:lnSpc>
              <a:spcBef>
                <a:spcPts val="100"/>
              </a:spcBef>
            </a:pPr>
            <a:r>
              <a:rPr lang="en-US" sz="1200" b="1" spc="-145">
                <a:latin typeface="Arial"/>
                <a:cs typeface="Arial"/>
              </a:rPr>
              <a:t>Envelope</a:t>
            </a:r>
            <a:r>
              <a:rPr lang="en-US" sz="1200" b="1" spc="-215">
                <a:latin typeface="Arial"/>
                <a:cs typeface="Arial"/>
              </a:rPr>
              <a:t>    </a:t>
            </a:r>
            <a:r>
              <a:rPr lang="en-US" sz="1200" b="1" spc="-170">
                <a:latin typeface="Arial"/>
                <a:cs typeface="Arial"/>
              </a:rPr>
              <a:t>Aggregate</a:t>
            </a:r>
            <a:endParaRPr lang="en-US" sz="1200">
              <a:latin typeface="Arial"/>
              <a:cs typeface="Arial"/>
            </a:endParaRPr>
          </a:p>
          <a:p>
            <a:pPr marL="171450" indent="-171450">
              <a:buFont typeface="Arial" panose="020B0604020202020204" pitchFamily="34" charset="0"/>
              <a:buChar char="•"/>
            </a:pPr>
            <a:r>
              <a:rPr lang="en-US" sz="1200" spc="65">
                <a:solidFill>
                  <a:srgbClr val="FFFFFF"/>
                </a:solidFill>
                <a:latin typeface="Times New Roman"/>
                <a:cs typeface="Times New Roman"/>
              </a:rPr>
              <a:t>Envelope </a:t>
            </a:r>
            <a:r>
              <a:rPr lang="en-US" sz="1200" spc="45">
                <a:solidFill>
                  <a:srgbClr val="FFFFFF"/>
                </a:solidFill>
                <a:latin typeface="Times New Roman"/>
                <a:cs typeface="Times New Roman"/>
              </a:rPr>
              <a:t>Aggregate </a:t>
            </a:r>
            <a:r>
              <a:rPr lang="vi-VN"/>
              <a:t>trả về một khu vực giới hạn cho một tập hợp các đối tượng hình học hoặc địa lý nhất định.</a:t>
            </a:r>
          </a:p>
          <a:p>
            <a:pPr marL="171450" indent="-171450">
              <a:buFont typeface="Arial" panose="020B0604020202020204" pitchFamily="34" charset="0"/>
              <a:buChar char="•"/>
            </a:pPr>
            <a:r>
              <a:rPr lang="vi-VN"/>
              <a:t>Nó thể hiện các hành vi khác nhau về các loại địa lý và hình học.</a:t>
            </a:r>
            <a:endParaRPr lang="en-US"/>
          </a:p>
        </p:txBody>
      </p:sp>
      <p:sp>
        <p:nvSpPr>
          <p:cNvPr id="4" name="Slide Number Placeholder 3"/>
          <p:cNvSpPr>
            <a:spLocks noGrp="1"/>
          </p:cNvSpPr>
          <p:nvPr>
            <p:ph type="sldNum" sz="quarter" idx="5"/>
          </p:nvPr>
        </p:nvSpPr>
        <p:spPr/>
        <p:txBody>
          <a:bodyPr/>
          <a:lstStyle/>
          <a:p>
            <a:fld id="{E29869D5-CC05-46A1-8868-AA3255DE1B6D}" type="slidenum">
              <a:rPr lang="en-US" smtClean="0"/>
              <a:t>21</a:t>
            </a:fld>
            <a:endParaRPr lang="en-US"/>
          </a:p>
        </p:txBody>
      </p:sp>
    </p:spTree>
    <p:extLst>
      <p:ext uri="{BB962C8B-B14F-4D97-AF65-F5344CB8AC3E}">
        <p14:creationId xmlns:p14="http://schemas.microsoft.com/office/powerpoint/2010/main" val="101682849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Nhiều t</a:t>
            </a:r>
            <a:r>
              <a:rPr lang="vi-VN" b="1"/>
              <a:t>ổng hợp không gian</a:t>
            </a:r>
            <a:r>
              <a:rPr lang="en-US" b="1"/>
              <a:t> 4</a:t>
            </a:r>
            <a:r>
              <a:rPr lang="vi-VN" b="1"/>
              <a:t>-5</a:t>
            </a:r>
            <a:endParaRPr lang="en-US" b="1"/>
          </a:p>
          <a:p>
            <a:pPr marL="12700">
              <a:lnSpc>
                <a:spcPct val="100000"/>
              </a:lnSpc>
              <a:spcBef>
                <a:spcPts val="100"/>
              </a:spcBef>
            </a:pPr>
            <a:r>
              <a:rPr lang="en-US" sz="1200" b="1" spc="-75">
                <a:latin typeface="Arial"/>
                <a:cs typeface="Arial"/>
              </a:rPr>
              <a:t>Collection</a:t>
            </a:r>
            <a:r>
              <a:rPr lang="en-US" sz="1200" b="1" spc="-210">
                <a:latin typeface="Arial"/>
                <a:cs typeface="Arial"/>
              </a:rPr>
              <a:t> </a:t>
            </a:r>
            <a:r>
              <a:rPr lang="en-US" sz="1200" b="1" spc="-170">
                <a:latin typeface="Arial"/>
                <a:cs typeface="Arial"/>
              </a:rPr>
              <a:t>Aggregate</a:t>
            </a:r>
            <a:endParaRPr lang="en-US" sz="1200">
              <a:latin typeface="Arial"/>
              <a:cs typeface="Arial"/>
            </a:endParaRPr>
          </a:p>
          <a:p>
            <a:pPr marL="171450" indent="-171450">
              <a:buFont typeface="Arial" panose="020B0604020202020204" pitchFamily="34" charset="0"/>
              <a:buChar char="•"/>
            </a:pPr>
            <a:r>
              <a:rPr lang="vi-VN" sz="1200" spc="65">
                <a:solidFill>
                  <a:srgbClr val="FFFFFF"/>
                </a:solidFill>
                <a:latin typeface="Times New Roman"/>
                <a:cs typeface="Times New Roman"/>
              </a:rPr>
              <a:t>Nó trả về một phiên bản </a:t>
            </a:r>
            <a:r>
              <a:rPr lang="en-US" sz="1200" spc="85">
                <a:solidFill>
                  <a:srgbClr val="FFFFFF"/>
                </a:solidFill>
                <a:latin typeface="Times New Roman"/>
                <a:cs typeface="Times New Roman"/>
              </a:rPr>
              <a:t>GeometryCollection/GeographyCollection </a:t>
            </a:r>
            <a:r>
              <a:rPr lang="vi-VN" sz="1200" spc="65">
                <a:solidFill>
                  <a:srgbClr val="FFFFFF"/>
                </a:solidFill>
                <a:latin typeface="Times New Roman"/>
                <a:cs typeface="Times New Roman"/>
              </a:rPr>
              <a:t>với một phần hình học/địa lý cho mỗi đối tượng không gian trong bộ lựa chọn.</a:t>
            </a:r>
            <a:endParaRPr lang="en-US" sz="1200" spc="65">
              <a:solidFill>
                <a:srgbClr val="FFFFFF"/>
              </a:solidFill>
              <a:latin typeface="Times New Roman"/>
              <a:cs typeface="Times New Roman"/>
            </a:endParaRPr>
          </a:p>
          <a:p>
            <a:pPr marL="171450" indent="-171450">
              <a:buFont typeface="Arial" panose="020B0604020202020204" pitchFamily="34" charset="0"/>
              <a:buChar char="•"/>
            </a:pPr>
            <a:r>
              <a:rPr lang="en-US" sz="1200" spc="65">
                <a:solidFill>
                  <a:srgbClr val="FFFFFF"/>
                </a:solidFill>
                <a:latin typeface="Times New Roman"/>
                <a:cs typeface="Times New Roman"/>
              </a:rPr>
              <a:t>Ví dụ:</a:t>
            </a:r>
          </a:p>
          <a:p>
            <a:pPr marL="914400" lvl="2" indent="0">
              <a:buFont typeface="Arial" panose="020B0604020202020204" pitchFamily="34" charset="0"/>
              <a:buNone/>
            </a:pPr>
            <a:r>
              <a:rPr lang="en-US"/>
              <a:t>DECLARE @Geom TABLE </a:t>
            </a:r>
          </a:p>
          <a:p>
            <a:pPr marL="914400" lvl="2" indent="0">
              <a:buFont typeface="Arial" panose="020B0604020202020204" pitchFamily="34" charset="0"/>
              <a:buNone/>
            </a:pPr>
            <a:r>
              <a:rPr lang="en-US"/>
              <a:t>(shape geometry, </a:t>
            </a:r>
          </a:p>
          <a:p>
            <a:pPr marL="914400" lvl="2" indent="0">
              <a:buFont typeface="Arial" panose="020B0604020202020204" pitchFamily="34" charset="0"/>
              <a:buNone/>
            </a:pPr>
            <a:r>
              <a:rPr lang="en-US"/>
              <a:t>shapeType nvarchar(50) ) </a:t>
            </a:r>
          </a:p>
          <a:p>
            <a:pPr marL="914400" lvl="2" indent="0">
              <a:buFont typeface="Arial" panose="020B0604020202020204" pitchFamily="34" charset="0"/>
              <a:buNone/>
            </a:pPr>
            <a:r>
              <a:rPr lang="en-US"/>
              <a:t>INSERT INTO @Geom(shape,shapeType) VALUES('CURVEPOLYGON(CIRCULARSTRING(2 3, 4 1, 6 3, 4 5, 2 3))', 'Circle’), ('POLYGON((1 1, 4 1, 4 5, 1 5, 1 1))', 'Rectangle’); </a:t>
            </a:r>
          </a:p>
          <a:p>
            <a:pPr marL="914400" lvl="2" indent="0">
              <a:buFont typeface="Arial" panose="020B0604020202020204" pitchFamily="34" charset="0"/>
              <a:buNone/>
            </a:pPr>
            <a:r>
              <a:rPr lang="en-US"/>
              <a:t>SELECT geometry::CollectionAggregate(shape)</a:t>
            </a:r>
          </a:p>
          <a:p>
            <a:pPr marL="914400" lvl="2" indent="0">
              <a:buFont typeface="Arial" panose="020B0604020202020204" pitchFamily="34" charset="0"/>
              <a:buNone/>
            </a:pPr>
            <a:r>
              <a:rPr lang="en-US"/>
              <a:t>FROM @Geom;</a:t>
            </a:r>
          </a:p>
        </p:txBody>
      </p:sp>
      <p:sp>
        <p:nvSpPr>
          <p:cNvPr id="4" name="Slide Number Placeholder 3"/>
          <p:cNvSpPr>
            <a:spLocks noGrp="1"/>
          </p:cNvSpPr>
          <p:nvPr>
            <p:ph type="sldNum" sz="quarter" idx="5"/>
          </p:nvPr>
        </p:nvSpPr>
        <p:spPr/>
        <p:txBody>
          <a:bodyPr/>
          <a:lstStyle/>
          <a:p>
            <a:fld id="{E29869D5-CC05-46A1-8868-AA3255DE1B6D}" type="slidenum">
              <a:rPr lang="en-US" smtClean="0"/>
              <a:t>22</a:t>
            </a:fld>
            <a:endParaRPr lang="en-US"/>
          </a:p>
        </p:txBody>
      </p:sp>
    </p:spTree>
    <p:extLst>
      <p:ext uri="{BB962C8B-B14F-4D97-AF65-F5344CB8AC3E}">
        <p14:creationId xmlns:p14="http://schemas.microsoft.com/office/powerpoint/2010/main" val="219945627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Nhiều t</a:t>
            </a:r>
            <a:r>
              <a:rPr lang="vi-VN" b="1"/>
              <a:t>ổng hợp không gian</a:t>
            </a:r>
            <a:r>
              <a:rPr lang="en-US" b="1"/>
              <a:t> 5</a:t>
            </a:r>
            <a:r>
              <a:rPr lang="vi-VN" b="1"/>
              <a:t>-5</a:t>
            </a:r>
            <a:endParaRPr lang="en-US" b="1"/>
          </a:p>
          <a:p>
            <a:pPr marL="12700">
              <a:lnSpc>
                <a:spcPct val="100000"/>
              </a:lnSpc>
              <a:spcBef>
                <a:spcPts val="100"/>
              </a:spcBef>
            </a:pPr>
            <a:r>
              <a:rPr lang="en-US" sz="1200" b="1" spc="-75">
                <a:latin typeface="Arial"/>
                <a:cs typeface="Arial"/>
              </a:rPr>
              <a:t>Convex </a:t>
            </a:r>
            <a:r>
              <a:rPr lang="en-US" sz="1200" b="1" spc="5">
                <a:latin typeface="Arial"/>
                <a:cs typeface="Arial"/>
              </a:rPr>
              <a:t>Hull</a:t>
            </a:r>
            <a:r>
              <a:rPr lang="en-US" sz="1200" b="1" spc="-335">
                <a:latin typeface="Arial"/>
                <a:cs typeface="Arial"/>
              </a:rPr>
              <a:t> </a:t>
            </a:r>
            <a:r>
              <a:rPr lang="en-US" sz="1200" b="1" spc="-170">
                <a:latin typeface="Arial"/>
                <a:cs typeface="Arial"/>
              </a:rPr>
              <a:t>Aggregate</a:t>
            </a:r>
            <a:endParaRPr lang="en-US" sz="1200">
              <a:latin typeface="Arial"/>
              <a:cs typeface="Arial"/>
            </a:endParaRPr>
          </a:p>
          <a:p>
            <a:pPr marL="171450" indent="-171450">
              <a:buFont typeface="Arial" panose="020B0604020202020204" pitchFamily="34" charset="0"/>
              <a:buChar char="•"/>
            </a:pPr>
            <a:r>
              <a:rPr lang="vi-VN"/>
              <a:t>Nó trả về một đa giác thân lồi, bao quanh một hoặc nhiều đối tượng không gian cho một tập hợp các đối tượng hình học/địa lý nhất định</a:t>
            </a:r>
            <a:endParaRPr lang="en-US"/>
          </a:p>
          <a:p>
            <a:pPr marL="171450" indent="-171450">
              <a:buFont typeface="Arial" panose="020B0604020202020204" pitchFamily="34" charset="0"/>
              <a:buChar char="•"/>
            </a:pPr>
            <a:r>
              <a:rPr lang="en-US"/>
              <a:t>Ví dụ:</a:t>
            </a:r>
          </a:p>
          <a:p>
            <a:pPr lvl="1"/>
            <a:r>
              <a:rPr lang="en-US" sz="1800">
                <a:solidFill>
                  <a:srgbClr val="008000"/>
                </a:solidFill>
                <a:latin typeface="Consolas" panose="020B0609020204030204" pitchFamily="49" charset="0"/>
              </a:rPr>
              <a:t>-- Setup table variable for ConvexHullAggregate example  </a:t>
            </a:r>
            <a:endParaRPr lang="en-US" sz="1800">
              <a:solidFill>
                <a:srgbClr val="000000"/>
              </a:solidFill>
              <a:latin typeface="Consolas" panose="020B0609020204030204" pitchFamily="49" charset="0"/>
            </a:endParaRPr>
          </a:p>
          <a:p>
            <a:pPr lvl="1"/>
            <a:r>
              <a:rPr lang="en-US" sz="1800">
                <a:solidFill>
                  <a:srgbClr val="0000FF"/>
                </a:solidFill>
                <a:latin typeface="Consolas" panose="020B0609020204030204" pitchFamily="49" charset="0"/>
              </a:rPr>
              <a:t>DECLARE</a:t>
            </a:r>
            <a:r>
              <a:rPr lang="en-US" sz="1800">
                <a:solidFill>
                  <a:srgbClr val="000000"/>
                </a:solidFill>
                <a:latin typeface="Consolas" panose="020B0609020204030204" pitchFamily="49" charset="0"/>
              </a:rPr>
              <a:t> @Geom </a:t>
            </a:r>
            <a:r>
              <a:rPr lang="en-US" sz="1800">
                <a:solidFill>
                  <a:srgbClr val="0000FF"/>
                </a:solidFill>
                <a:latin typeface="Consolas" panose="020B0609020204030204" pitchFamily="49" charset="0"/>
              </a:rPr>
              <a:t>TABLE</a:t>
            </a:r>
            <a:r>
              <a:rPr lang="en-US" sz="1800">
                <a:solidFill>
                  <a:srgbClr val="000000"/>
                </a:solidFill>
                <a:latin typeface="Consolas" panose="020B0609020204030204" pitchFamily="49" charset="0"/>
              </a:rPr>
              <a:t>  </a:t>
            </a:r>
          </a:p>
          <a:p>
            <a:pPr lvl="1"/>
            <a:r>
              <a:rPr lang="en-US" sz="1800">
                <a:solidFill>
                  <a:srgbClr val="808080"/>
                </a:solidFill>
                <a:latin typeface="Consolas" panose="020B0609020204030204" pitchFamily="49" charset="0"/>
              </a:rPr>
              <a:t>(</a:t>
            </a:r>
            <a:r>
              <a:rPr lang="en-US" sz="1800">
                <a:solidFill>
                  <a:srgbClr val="000000"/>
                </a:solidFill>
                <a:latin typeface="Consolas" panose="020B0609020204030204" pitchFamily="49" charset="0"/>
              </a:rPr>
              <a:t>  </a:t>
            </a:r>
          </a:p>
          <a:p>
            <a:pPr lvl="1"/>
            <a:r>
              <a:rPr lang="en-US" sz="1800">
                <a:solidFill>
                  <a:srgbClr val="000000"/>
                </a:solidFill>
                <a:latin typeface="Consolas" panose="020B0609020204030204" pitchFamily="49" charset="0"/>
              </a:rPr>
              <a:t>shape </a:t>
            </a:r>
            <a:r>
              <a:rPr lang="en-US" sz="1800">
                <a:solidFill>
                  <a:srgbClr val="0000FF"/>
                </a:solidFill>
                <a:latin typeface="Consolas" panose="020B0609020204030204" pitchFamily="49" charset="0"/>
              </a:rPr>
              <a:t>geometry</a:t>
            </a:r>
            <a:r>
              <a:rPr lang="en-US" sz="1800">
                <a:solidFill>
                  <a:srgbClr val="808080"/>
                </a:solidFill>
                <a:latin typeface="Consolas" panose="020B0609020204030204" pitchFamily="49" charset="0"/>
              </a:rPr>
              <a:t>,</a:t>
            </a:r>
            <a:r>
              <a:rPr lang="en-US" sz="1800">
                <a:solidFill>
                  <a:srgbClr val="000000"/>
                </a:solidFill>
                <a:latin typeface="Consolas" panose="020B0609020204030204" pitchFamily="49" charset="0"/>
              </a:rPr>
              <a:t>  </a:t>
            </a:r>
          </a:p>
          <a:p>
            <a:pPr lvl="1"/>
            <a:r>
              <a:rPr lang="en-US" sz="1800">
                <a:solidFill>
                  <a:srgbClr val="000000"/>
                </a:solidFill>
                <a:latin typeface="Consolas" panose="020B0609020204030204" pitchFamily="49" charset="0"/>
              </a:rPr>
              <a:t>shapeType </a:t>
            </a:r>
            <a:r>
              <a:rPr lang="en-US" sz="1800">
                <a:solidFill>
                  <a:srgbClr val="0000FF"/>
                </a:solidFill>
                <a:latin typeface="Consolas" panose="020B0609020204030204" pitchFamily="49" charset="0"/>
              </a:rPr>
              <a:t>nvarchar</a:t>
            </a:r>
            <a:r>
              <a:rPr lang="en-US" sz="1800">
                <a:solidFill>
                  <a:srgbClr val="808080"/>
                </a:solidFill>
                <a:latin typeface="Consolas" panose="020B0609020204030204" pitchFamily="49" charset="0"/>
              </a:rPr>
              <a:t>(</a:t>
            </a:r>
            <a:r>
              <a:rPr lang="en-US" sz="1800">
                <a:solidFill>
                  <a:srgbClr val="000000"/>
                </a:solidFill>
                <a:latin typeface="Consolas" panose="020B0609020204030204" pitchFamily="49" charset="0"/>
              </a:rPr>
              <a:t>50</a:t>
            </a:r>
            <a:r>
              <a:rPr lang="en-US" sz="1800">
                <a:solidFill>
                  <a:srgbClr val="808080"/>
                </a:solidFill>
                <a:latin typeface="Consolas" panose="020B0609020204030204" pitchFamily="49" charset="0"/>
              </a:rPr>
              <a:t>)</a:t>
            </a:r>
            <a:r>
              <a:rPr lang="en-US" sz="1800">
                <a:solidFill>
                  <a:srgbClr val="000000"/>
                </a:solidFill>
                <a:latin typeface="Consolas" panose="020B0609020204030204" pitchFamily="49" charset="0"/>
              </a:rPr>
              <a:t>  </a:t>
            </a:r>
          </a:p>
          <a:p>
            <a:pPr lvl="1"/>
            <a:r>
              <a:rPr lang="en-US" sz="1800">
                <a:solidFill>
                  <a:srgbClr val="808080"/>
                </a:solidFill>
                <a:latin typeface="Consolas" panose="020B0609020204030204" pitchFamily="49" charset="0"/>
              </a:rPr>
              <a:t>)</a:t>
            </a:r>
            <a:r>
              <a:rPr lang="en-US" sz="1800">
                <a:solidFill>
                  <a:srgbClr val="000000"/>
                </a:solidFill>
                <a:latin typeface="Consolas" panose="020B0609020204030204" pitchFamily="49" charset="0"/>
              </a:rPr>
              <a:t>  </a:t>
            </a:r>
          </a:p>
          <a:p>
            <a:pPr lvl="1"/>
            <a:r>
              <a:rPr lang="en-US" sz="1800">
                <a:solidFill>
                  <a:srgbClr val="0000FF"/>
                </a:solidFill>
                <a:latin typeface="Consolas" panose="020B0609020204030204" pitchFamily="49" charset="0"/>
              </a:rPr>
              <a:t>INSERT</a:t>
            </a: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INTO</a:t>
            </a:r>
            <a:r>
              <a:rPr lang="en-US" sz="1800">
                <a:solidFill>
                  <a:srgbClr val="000000"/>
                </a:solidFill>
                <a:latin typeface="Consolas" panose="020B0609020204030204" pitchFamily="49" charset="0"/>
              </a:rPr>
              <a:t> @Geom</a:t>
            </a:r>
            <a:r>
              <a:rPr lang="en-US" sz="1800">
                <a:solidFill>
                  <a:srgbClr val="808080"/>
                </a:solidFill>
                <a:latin typeface="Consolas" panose="020B0609020204030204" pitchFamily="49" charset="0"/>
              </a:rPr>
              <a:t>(</a:t>
            </a:r>
            <a:r>
              <a:rPr lang="en-US" sz="1800">
                <a:solidFill>
                  <a:srgbClr val="000000"/>
                </a:solidFill>
                <a:latin typeface="Consolas" panose="020B0609020204030204" pitchFamily="49" charset="0"/>
              </a:rPr>
              <a:t>shape</a:t>
            </a:r>
            <a:r>
              <a:rPr lang="en-US" sz="1800">
                <a:solidFill>
                  <a:srgbClr val="808080"/>
                </a:solidFill>
                <a:latin typeface="Consolas" panose="020B0609020204030204" pitchFamily="49" charset="0"/>
              </a:rPr>
              <a:t>,</a:t>
            </a:r>
            <a:r>
              <a:rPr lang="en-US" sz="1800">
                <a:solidFill>
                  <a:srgbClr val="000000"/>
                </a:solidFill>
                <a:latin typeface="Consolas" panose="020B0609020204030204" pitchFamily="49" charset="0"/>
              </a:rPr>
              <a:t>shapeType</a:t>
            </a:r>
            <a:r>
              <a:rPr lang="en-US" sz="1800">
                <a:solidFill>
                  <a:srgbClr val="808080"/>
                </a:solidFill>
                <a:latin typeface="Consolas" panose="020B0609020204030204" pitchFamily="49" charset="0"/>
              </a:rPr>
              <a:t>)</a:t>
            </a: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VALUES</a:t>
            </a:r>
            <a:r>
              <a:rPr lang="en-US" sz="1800">
                <a:solidFill>
                  <a:srgbClr val="808080"/>
                </a:solidFill>
                <a:latin typeface="Consolas" panose="020B0609020204030204" pitchFamily="49" charset="0"/>
              </a:rPr>
              <a:t>(</a:t>
            </a:r>
            <a:r>
              <a:rPr lang="en-US" sz="1800">
                <a:solidFill>
                  <a:srgbClr val="FF0000"/>
                </a:solidFill>
                <a:latin typeface="Consolas" panose="020B0609020204030204" pitchFamily="49" charset="0"/>
              </a:rPr>
              <a:t>'CURVEPOLYGON(CIRCULARSTRING(2 3, 4 1, 6 3, 4 5, 2 3))'</a:t>
            </a:r>
            <a:r>
              <a:rPr lang="en-US" sz="1800">
                <a:solidFill>
                  <a:srgbClr val="808080"/>
                </a:solidFill>
                <a:latin typeface="Consolas" panose="020B0609020204030204" pitchFamily="49" charset="0"/>
              </a:rPr>
              <a:t>,</a:t>
            </a:r>
            <a:r>
              <a:rPr lang="en-US" sz="1800">
                <a:solidFill>
                  <a:srgbClr val="000000"/>
                </a:solidFill>
                <a:latin typeface="Consolas" panose="020B0609020204030204" pitchFamily="49" charset="0"/>
              </a:rPr>
              <a:t> </a:t>
            </a:r>
            <a:r>
              <a:rPr lang="en-US" sz="1800">
                <a:solidFill>
                  <a:srgbClr val="FF0000"/>
                </a:solidFill>
                <a:latin typeface="Consolas" panose="020B0609020204030204" pitchFamily="49" charset="0"/>
              </a:rPr>
              <a:t>'Circle'</a:t>
            </a:r>
            <a:r>
              <a:rPr lang="en-US" sz="1800">
                <a:solidFill>
                  <a:srgbClr val="808080"/>
                </a:solidFill>
                <a:latin typeface="Consolas" panose="020B0609020204030204" pitchFamily="49" charset="0"/>
              </a:rPr>
              <a:t>),</a:t>
            </a:r>
            <a:r>
              <a:rPr lang="en-US" sz="1800">
                <a:solidFill>
                  <a:srgbClr val="000000"/>
                </a:solidFill>
                <a:latin typeface="Consolas" panose="020B0609020204030204" pitchFamily="49" charset="0"/>
              </a:rPr>
              <a:t>  </a:t>
            </a:r>
          </a:p>
          <a:p>
            <a:pPr lvl="1"/>
            <a:r>
              <a:rPr lang="en-US" sz="1800">
                <a:solidFill>
                  <a:srgbClr val="808080"/>
                </a:solidFill>
                <a:latin typeface="Consolas" panose="020B0609020204030204" pitchFamily="49" charset="0"/>
              </a:rPr>
              <a:t>(</a:t>
            </a:r>
            <a:r>
              <a:rPr lang="en-US" sz="1800">
                <a:solidFill>
                  <a:srgbClr val="FF0000"/>
                </a:solidFill>
                <a:latin typeface="Consolas" panose="020B0609020204030204" pitchFamily="49" charset="0"/>
              </a:rPr>
              <a:t>'POLYGON((1 1, 4 1, 4 5, 1 5, 1 1))'</a:t>
            </a:r>
            <a:r>
              <a:rPr lang="en-US" sz="1800">
                <a:solidFill>
                  <a:srgbClr val="808080"/>
                </a:solidFill>
                <a:latin typeface="Consolas" panose="020B0609020204030204" pitchFamily="49" charset="0"/>
              </a:rPr>
              <a:t>,</a:t>
            </a:r>
            <a:r>
              <a:rPr lang="en-US" sz="1800">
                <a:solidFill>
                  <a:srgbClr val="000000"/>
                </a:solidFill>
                <a:latin typeface="Consolas" panose="020B0609020204030204" pitchFamily="49" charset="0"/>
              </a:rPr>
              <a:t> </a:t>
            </a:r>
            <a:r>
              <a:rPr lang="en-US" sz="1800">
                <a:solidFill>
                  <a:srgbClr val="FF0000"/>
                </a:solidFill>
                <a:latin typeface="Consolas" panose="020B0609020204030204" pitchFamily="49" charset="0"/>
              </a:rPr>
              <a:t>'Rectangle'</a:t>
            </a:r>
            <a:r>
              <a:rPr lang="en-US" sz="1800">
                <a:solidFill>
                  <a:srgbClr val="808080"/>
                </a:solidFill>
                <a:latin typeface="Consolas" panose="020B0609020204030204" pitchFamily="49" charset="0"/>
              </a:rPr>
              <a:t>);</a:t>
            </a:r>
            <a:r>
              <a:rPr lang="en-US" sz="1800">
                <a:solidFill>
                  <a:srgbClr val="000000"/>
                </a:solidFill>
                <a:latin typeface="Consolas" panose="020B0609020204030204" pitchFamily="49" charset="0"/>
              </a:rPr>
              <a:t>  </a:t>
            </a:r>
          </a:p>
          <a:p>
            <a:pPr lvl="1"/>
            <a:r>
              <a:rPr lang="en-US" sz="1800">
                <a:solidFill>
                  <a:srgbClr val="008000"/>
                </a:solidFill>
                <a:latin typeface="Consolas" panose="020B0609020204030204" pitchFamily="49" charset="0"/>
              </a:rPr>
              <a:t>-- Perform ConvexHullAggregate on @Geom.shape column  </a:t>
            </a:r>
            <a:endParaRPr lang="en-US" sz="1800">
              <a:solidFill>
                <a:srgbClr val="000000"/>
              </a:solidFill>
              <a:latin typeface="Consolas" panose="020B0609020204030204" pitchFamily="49" charset="0"/>
            </a:endParaRPr>
          </a:p>
          <a:p>
            <a:pPr lvl="1"/>
            <a:r>
              <a:rPr lang="en-US" sz="1800">
                <a:solidFill>
                  <a:srgbClr val="0000FF"/>
                </a:solidFill>
                <a:latin typeface="Consolas" panose="020B0609020204030204" pitchFamily="49" charset="0"/>
              </a:rPr>
              <a:t>SELECT</a:t>
            </a: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geometry</a:t>
            </a:r>
            <a:r>
              <a:rPr lang="en-US" sz="1800">
                <a:solidFill>
                  <a:srgbClr val="808080"/>
                </a:solidFill>
                <a:latin typeface="Consolas" panose="020B0609020204030204" pitchFamily="49" charset="0"/>
              </a:rPr>
              <a:t>::</a:t>
            </a:r>
            <a:r>
              <a:rPr lang="en-US" sz="1800">
                <a:solidFill>
                  <a:srgbClr val="000000"/>
                </a:solidFill>
                <a:latin typeface="Consolas" panose="020B0609020204030204" pitchFamily="49" charset="0"/>
              </a:rPr>
              <a:t>ConvexHullAggregate</a:t>
            </a:r>
            <a:r>
              <a:rPr lang="en-US" sz="1800">
                <a:solidFill>
                  <a:srgbClr val="808080"/>
                </a:solidFill>
                <a:latin typeface="Consolas" panose="020B0609020204030204" pitchFamily="49" charset="0"/>
              </a:rPr>
              <a:t>(</a:t>
            </a:r>
            <a:r>
              <a:rPr lang="en-US" sz="1800">
                <a:solidFill>
                  <a:srgbClr val="000000"/>
                </a:solidFill>
                <a:latin typeface="Consolas" panose="020B0609020204030204" pitchFamily="49" charset="0"/>
              </a:rPr>
              <a:t>shape</a:t>
            </a:r>
            <a:r>
              <a:rPr lang="en-US" sz="1800">
                <a:solidFill>
                  <a:srgbClr val="808080"/>
                </a:solidFill>
                <a:latin typeface="Consolas" panose="020B0609020204030204" pitchFamily="49" charset="0"/>
              </a:rPr>
              <a:t>)</a:t>
            </a:r>
            <a:r>
              <a:rPr lang="en-US" sz="1800">
                <a:solidFill>
                  <a:srgbClr val="000000"/>
                </a:solidFill>
                <a:latin typeface="Consolas" panose="020B0609020204030204" pitchFamily="49" charset="0"/>
              </a:rPr>
              <a:t> </a:t>
            </a:r>
          </a:p>
          <a:p>
            <a:pPr lvl="1"/>
            <a:r>
              <a:rPr lang="en-US" sz="1800">
                <a:solidFill>
                  <a:srgbClr val="0000FF"/>
                </a:solidFill>
                <a:latin typeface="Consolas" panose="020B0609020204030204" pitchFamily="49" charset="0"/>
              </a:rPr>
              <a:t>FROM</a:t>
            </a:r>
            <a:r>
              <a:rPr lang="en-US" sz="1800">
                <a:solidFill>
                  <a:srgbClr val="000000"/>
                </a:solidFill>
                <a:latin typeface="Consolas" panose="020B0609020204030204" pitchFamily="49" charset="0"/>
              </a:rPr>
              <a:t> @Geom</a:t>
            </a:r>
            <a:r>
              <a:rPr lang="en-US" sz="1800">
                <a:solidFill>
                  <a:srgbClr val="808080"/>
                </a:solidFill>
                <a:latin typeface="Consolas" panose="020B0609020204030204" pitchFamily="49" charset="0"/>
              </a:rPr>
              <a:t>;</a:t>
            </a:r>
            <a:endParaRPr lang="en-US"/>
          </a:p>
        </p:txBody>
      </p:sp>
      <p:sp>
        <p:nvSpPr>
          <p:cNvPr id="4" name="Slide Number Placeholder 3"/>
          <p:cNvSpPr>
            <a:spLocks noGrp="1"/>
          </p:cNvSpPr>
          <p:nvPr>
            <p:ph type="sldNum" sz="quarter" idx="5"/>
          </p:nvPr>
        </p:nvSpPr>
        <p:spPr/>
        <p:txBody>
          <a:bodyPr/>
          <a:lstStyle/>
          <a:p>
            <a:fld id="{E29869D5-CC05-46A1-8868-AA3255DE1B6D}" type="slidenum">
              <a:rPr lang="en-US" smtClean="0"/>
              <a:t>23</a:t>
            </a:fld>
            <a:endParaRPr lang="en-US"/>
          </a:p>
        </p:txBody>
      </p:sp>
    </p:spTree>
    <p:extLst>
      <p:ext uri="{BB962C8B-B14F-4D97-AF65-F5344CB8AC3E}">
        <p14:creationId xmlns:p14="http://schemas.microsoft.com/office/powerpoint/2010/main" val="16686203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Truy vấn con</a:t>
            </a:r>
          </a:p>
          <a:p>
            <a:pPr marL="171450" indent="-171450">
              <a:buFont typeface="Arial" panose="020B0604020202020204" pitchFamily="34" charset="0"/>
              <a:buChar char="•"/>
            </a:pPr>
            <a:r>
              <a:rPr lang="vi-VN" b="0"/>
              <a:t>Truy vấn bên ngoài được gọi là Truy vấn cha và truy vấn bên trong được gọi là </a:t>
            </a:r>
            <a:r>
              <a:rPr lang="en-US" b="0"/>
              <a:t>Truy vấn con</a:t>
            </a:r>
            <a:r>
              <a:rPr lang="vi-VN" b="0"/>
              <a:t>.</a:t>
            </a:r>
          </a:p>
          <a:p>
            <a:pPr marL="171450" indent="-171450">
              <a:buFont typeface="Arial" panose="020B0604020202020204" pitchFamily="34" charset="0"/>
              <a:buChar char="•"/>
            </a:pPr>
            <a:r>
              <a:rPr lang="vi-VN" b="0"/>
              <a:t>Mục đích của một truy vấn con là trả về kết quả vào truy vấn bên ngoài.</a:t>
            </a:r>
          </a:p>
          <a:p>
            <a:pPr marL="171450" indent="-171450">
              <a:buFont typeface="Arial" panose="020B0604020202020204" pitchFamily="34" charset="0"/>
              <a:buChar char="•"/>
            </a:pPr>
            <a:r>
              <a:rPr lang="vi-VN" b="0"/>
              <a:t>Nói cách khác, câu lệnh truy vấn bên trong sẽ trả về cột hoặc cột được sử dụng trong tiêu chí của câu lệnh truy vấn bên ngoài.</a:t>
            </a:r>
            <a:endParaRPr lang="en-US" b="0"/>
          </a:p>
          <a:p>
            <a:pPr marL="171450" indent="-171450">
              <a:buFont typeface="Arial" panose="020B0604020202020204" pitchFamily="34" charset="0"/>
              <a:buChar char="•"/>
            </a:pPr>
            <a:r>
              <a:rPr lang="en-US" b="0"/>
              <a:t>Cú pháp:</a:t>
            </a:r>
          </a:p>
          <a:p>
            <a:pPr lvl="2"/>
            <a:r>
              <a:rPr lang="en-US"/>
              <a:t>SELECT &lt;ColumnName&gt; FROM &lt;table&gt;</a:t>
            </a:r>
          </a:p>
          <a:p>
            <a:pPr lvl="2"/>
            <a:r>
              <a:rPr lang="en-US"/>
              <a:t>WHERE &lt;ColumnName&gt; = </a:t>
            </a:r>
          </a:p>
          <a:p>
            <a:pPr lvl="2"/>
            <a:r>
              <a:rPr lang="en-US" b="1"/>
              <a:t>(SELECT &lt;ColumnName&gt; FROM &lt;Table&gt; WHERE &lt;ColumnName&gt; = &lt;Condition&gt;&gt;)</a:t>
            </a:r>
            <a:endParaRPr lang="en-US" b="0"/>
          </a:p>
          <a:p>
            <a:endParaRPr lang="en-US"/>
          </a:p>
        </p:txBody>
      </p:sp>
      <p:sp>
        <p:nvSpPr>
          <p:cNvPr id="4" name="Slide Number Placeholder 3"/>
          <p:cNvSpPr>
            <a:spLocks noGrp="1"/>
          </p:cNvSpPr>
          <p:nvPr>
            <p:ph type="sldNum" sz="quarter" idx="5"/>
          </p:nvPr>
        </p:nvSpPr>
        <p:spPr/>
        <p:txBody>
          <a:bodyPr/>
          <a:lstStyle/>
          <a:p>
            <a:fld id="{E29869D5-CC05-46A1-8868-AA3255DE1B6D}" type="slidenum">
              <a:rPr lang="en-US" smtClean="0"/>
              <a:t>24</a:t>
            </a:fld>
            <a:endParaRPr lang="en-US"/>
          </a:p>
        </p:txBody>
      </p:sp>
    </p:spTree>
    <p:extLst>
      <p:ext uri="{BB962C8B-B14F-4D97-AF65-F5344CB8AC3E}">
        <p14:creationId xmlns:p14="http://schemas.microsoft.com/office/powerpoint/2010/main" val="196155092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1"/>
              <a:t>Truy vấn con</a:t>
            </a:r>
          </a:p>
          <a:p>
            <a:pPr marL="171450" indent="-171450">
              <a:buFont typeface="Arial" panose="020B0604020202020204" pitchFamily="34" charset="0"/>
              <a:buChar char="•"/>
            </a:pPr>
            <a:r>
              <a:rPr lang="vi-VN"/>
              <a:t>Dựa trên kết quả được trả về bởi truy vấn bên trong, một truy vấn con có thể được phân loại như sau:</a:t>
            </a:r>
            <a:endParaRPr lang="en-US"/>
          </a:p>
          <a:p>
            <a:pPr marL="6286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sz="1200" b="1">
                <a:latin typeface="Calibri" pitchFamily="34" charset="0"/>
                <a:cs typeface="Calibri" pitchFamily="34" charset="0"/>
              </a:rPr>
              <a:t>Truy vấn con </a:t>
            </a:r>
            <a:r>
              <a:rPr lang="vi-VN" sz="1200" b="1">
                <a:latin typeface="Calibri" pitchFamily="34" charset="0"/>
                <a:cs typeface="Calibri" pitchFamily="34" charset="0"/>
              </a:rPr>
              <a:t>vô hướng</a:t>
            </a:r>
            <a:endParaRPr lang="en-US" sz="1200" b="1">
              <a:latin typeface="Calibri" pitchFamily="34" charset="0"/>
              <a:cs typeface="Calibri" pitchFamily="34" charset="0"/>
            </a:endParaRPr>
          </a:p>
          <a:p>
            <a:pPr marL="1085850" marR="0" lvl="2"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sz="1200" spc="40">
                <a:solidFill>
                  <a:srgbClr val="FFFFFF"/>
                </a:solidFill>
                <a:latin typeface="Times New Roman"/>
                <a:cs typeface="Times New Roman"/>
              </a:rPr>
              <a:t>Scalar</a:t>
            </a:r>
            <a:r>
              <a:rPr lang="en-US" sz="1200" spc="-100">
                <a:solidFill>
                  <a:srgbClr val="FFFFFF"/>
                </a:solidFill>
                <a:latin typeface="Times New Roman"/>
                <a:cs typeface="Times New Roman"/>
              </a:rPr>
              <a:t> </a:t>
            </a:r>
            <a:r>
              <a:rPr lang="en-US" sz="1200" spc="70">
                <a:solidFill>
                  <a:srgbClr val="FFFFFF"/>
                </a:solidFill>
                <a:latin typeface="Times New Roman"/>
                <a:cs typeface="Times New Roman"/>
              </a:rPr>
              <a:t>subqueries</a:t>
            </a:r>
            <a:r>
              <a:rPr lang="en-US" sz="1200" spc="-90">
                <a:solidFill>
                  <a:srgbClr val="FFFFFF"/>
                </a:solidFill>
                <a:latin typeface="Times New Roman"/>
                <a:cs typeface="Times New Roman"/>
              </a:rPr>
              <a:t> t</a:t>
            </a:r>
            <a:r>
              <a:rPr lang="vi-VN"/>
              <a:t>rả về một giá trị duy nhất. Ở đây, truy vấn bên ngoài phải được viết để xử lý một kết quả duy nhất.</a:t>
            </a:r>
            <a:endParaRPr lang="en-US"/>
          </a:p>
          <a:p>
            <a:pPr marL="6286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sz="1200" b="1">
                <a:latin typeface="Calibri" pitchFamily="34" charset="0"/>
                <a:cs typeface="Calibri" pitchFamily="34" charset="0"/>
              </a:rPr>
              <a:t>Truy vấn con đa giá trị</a:t>
            </a:r>
          </a:p>
          <a:p>
            <a:pPr marL="1085850" lvl="2" indent="-171450">
              <a:buFont typeface="Arial" panose="020B0604020202020204" pitchFamily="34" charset="0"/>
              <a:buChar char="•"/>
            </a:pPr>
            <a:r>
              <a:rPr lang="en-US" sz="1200" spc="60">
                <a:solidFill>
                  <a:srgbClr val="FFFFFF"/>
                </a:solidFill>
                <a:latin typeface="Times New Roman"/>
                <a:cs typeface="Times New Roman"/>
              </a:rPr>
              <a:t>Multi-valued </a:t>
            </a:r>
            <a:r>
              <a:rPr lang="en-US" sz="1200" spc="70">
                <a:solidFill>
                  <a:srgbClr val="FFFFFF"/>
                </a:solidFill>
                <a:latin typeface="Times New Roman"/>
                <a:cs typeface="Times New Roman"/>
              </a:rPr>
              <a:t>subqueries </a:t>
            </a:r>
            <a:r>
              <a:rPr lang="vi-VN"/>
              <a:t>trả về một kết quả tương tự như bảng một cột. Ở đây, truy vấn bên ngoài phải được viết để xử lý nhiều kết quả có thể.</a:t>
            </a:r>
            <a:endParaRPr lang="en-US"/>
          </a:p>
        </p:txBody>
      </p:sp>
      <p:sp>
        <p:nvSpPr>
          <p:cNvPr id="4" name="Slide Number Placeholder 3"/>
          <p:cNvSpPr>
            <a:spLocks noGrp="1"/>
          </p:cNvSpPr>
          <p:nvPr>
            <p:ph type="sldNum" sz="quarter" idx="5"/>
          </p:nvPr>
        </p:nvSpPr>
        <p:spPr/>
        <p:txBody>
          <a:bodyPr/>
          <a:lstStyle/>
          <a:p>
            <a:fld id="{E29869D5-CC05-46A1-8868-AA3255DE1B6D}" type="slidenum">
              <a:rPr lang="en-US" smtClean="0"/>
              <a:t>25</a:t>
            </a:fld>
            <a:endParaRPr lang="en-US"/>
          </a:p>
        </p:txBody>
      </p:sp>
    </p:spTree>
    <p:extLst>
      <p:ext uri="{BB962C8B-B14F-4D97-AF65-F5344CB8AC3E}">
        <p14:creationId xmlns:p14="http://schemas.microsoft.com/office/powerpoint/2010/main" val="17076008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1"/>
              <a:t>Làm việc với các truy vấn đa giá trị</a:t>
            </a:r>
          </a:p>
          <a:p>
            <a:pPr marL="171450" indent="-171450">
              <a:buFont typeface="Arial" panose="020B0604020202020204" pitchFamily="34" charset="0"/>
              <a:buChar char="•"/>
            </a:pPr>
            <a:r>
              <a:rPr lang="en-US"/>
              <a:t>Hãy nhớ các điểm sau khi sử dụng các truy vấn con:</a:t>
            </a:r>
          </a:p>
          <a:p>
            <a:pPr marL="6286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a:t>Không thể sử dụng các kiểu dữ liệu </a:t>
            </a:r>
            <a:r>
              <a:rPr lang="en-US" b="1"/>
              <a:t>ntext</a:t>
            </a:r>
            <a:r>
              <a:rPr lang="en-US"/>
              <a:t>, </a:t>
            </a:r>
            <a:r>
              <a:rPr lang="en-US" b="1"/>
              <a:t>text</a:t>
            </a:r>
            <a:r>
              <a:rPr lang="en-US"/>
              <a:t> và </a:t>
            </a:r>
            <a:r>
              <a:rPr lang="en-US" sz="1200" b="1">
                <a:latin typeface="Courier New" pitchFamily="49" charset="0"/>
                <a:cs typeface="Courier New" pitchFamily="49" charset="0"/>
              </a:rPr>
              <a:t>image</a:t>
            </a:r>
            <a:r>
              <a:rPr lang="en-US" sz="1200" b="0">
                <a:latin typeface="Courier New" pitchFamily="49" charset="0"/>
                <a:cs typeface="Courier New" pitchFamily="49" charset="0"/>
              </a:rPr>
              <a:t> </a:t>
            </a:r>
            <a:r>
              <a:rPr lang="en-US"/>
              <a:t>trong danh sách </a:t>
            </a:r>
            <a:r>
              <a:rPr lang="en-US" sz="1200" b="1">
                <a:latin typeface="Courier New" pitchFamily="49" charset="0"/>
                <a:cs typeface="Courier New" pitchFamily="49" charset="0"/>
              </a:rPr>
              <a:t>SELECT</a:t>
            </a:r>
            <a:r>
              <a:rPr lang="en-US" sz="1200" b="1">
                <a:latin typeface="Calibri" pitchFamily="34" charset="0"/>
                <a:cs typeface="Calibri" pitchFamily="34" charset="0"/>
              </a:rPr>
              <a:t> </a:t>
            </a:r>
            <a:r>
              <a:rPr lang="en-US" sz="1200" b="0">
                <a:latin typeface="Calibri" pitchFamily="34" charset="0"/>
                <a:cs typeface="Calibri" pitchFamily="34" charset="0"/>
              </a:rPr>
              <a:t>của</a:t>
            </a:r>
            <a:r>
              <a:rPr lang="en-US" sz="1200" b="1">
                <a:latin typeface="Calibri" pitchFamily="34" charset="0"/>
                <a:cs typeface="Calibri" pitchFamily="34" charset="0"/>
              </a:rPr>
              <a:t> </a:t>
            </a:r>
            <a:r>
              <a:rPr lang="en-US"/>
              <a:t>các truy vấn con.</a:t>
            </a:r>
          </a:p>
          <a:p>
            <a:pPr marL="6286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vi-VN"/>
              <a:t>Danh sách </a:t>
            </a:r>
            <a:r>
              <a:rPr lang="en-US" sz="1200" b="1">
                <a:latin typeface="Courier New" pitchFamily="49" charset="0"/>
                <a:cs typeface="Courier New" pitchFamily="49" charset="0"/>
              </a:rPr>
              <a:t>SELECT</a:t>
            </a:r>
            <a:r>
              <a:rPr lang="vi-VN"/>
              <a:t> </a:t>
            </a:r>
            <a:r>
              <a:rPr lang="en-US"/>
              <a:t>của truy vấn </a:t>
            </a:r>
            <a:r>
              <a:rPr lang="vi-VN"/>
              <a:t>con được giới thiệu với một </a:t>
            </a:r>
            <a:r>
              <a:rPr lang="en-US"/>
              <a:t>toán tử </a:t>
            </a:r>
            <a:r>
              <a:rPr lang="vi-VN"/>
              <a:t>so sánh có thể chỉ có một biểu thức hoặc tên cột</a:t>
            </a:r>
            <a:endParaRPr lang="en-US"/>
          </a:p>
          <a:p>
            <a:pPr marL="6286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vi-VN"/>
              <a:t>Các truy vấn </a:t>
            </a:r>
            <a:r>
              <a:rPr lang="en-US"/>
              <a:t>con </a:t>
            </a:r>
            <a:r>
              <a:rPr lang="vi-VN"/>
              <a:t>được giới thiệu bởi một </a:t>
            </a:r>
            <a:r>
              <a:rPr lang="en-US"/>
              <a:t>toán tử </a:t>
            </a:r>
            <a:r>
              <a:rPr lang="vi-VN"/>
              <a:t>so sánh không theo sau bởi từ khóa </a:t>
            </a:r>
            <a:r>
              <a:rPr lang="en-US" sz="1200" b="1">
                <a:latin typeface="Courier New" pitchFamily="49" charset="0"/>
                <a:cs typeface="Courier New" pitchFamily="49" charset="0"/>
              </a:rPr>
              <a:t>ANY</a:t>
            </a:r>
            <a:r>
              <a:rPr lang="en-US" sz="1200" b="0">
                <a:latin typeface="Courier New" pitchFamily="49" charset="0"/>
                <a:cs typeface="Courier New" pitchFamily="49" charset="0"/>
              </a:rPr>
              <a:t> </a:t>
            </a:r>
            <a:r>
              <a:rPr lang="vi-VN"/>
              <a:t>hoặc </a:t>
            </a:r>
            <a:r>
              <a:rPr lang="en-US" sz="1200" b="1">
                <a:latin typeface="Courier New" pitchFamily="49" charset="0"/>
                <a:cs typeface="Courier New" pitchFamily="49" charset="0"/>
              </a:rPr>
              <a:t>ALL</a:t>
            </a:r>
            <a:r>
              <a:rPr lang="en-US" sz="1200" b="0">
                <a:latin typeface="Courier New" pitchFamily="49" charset="0"/>
                <a:cs typeface="Courier New" pitchFamily="49" charset="0"/>
              </a:rPr>
              <a:t> </a:t>
            </a:r>
            <a:r>
              <a:rPr lang="vi-VN"/>
              <a:t>không bao gồm các mệnh đề</a:t>
            </a:r>
            <a:r>
              <a:rPr lang="en-US"/>
              <a:t> </a:t>
            </a:r>
            <a:r>
              <a:rPr lang="en-US" sz="1200" b="1">
                <a:latin typeface="Courier New" pitchFamily="49" charset="0"/>
                <a:cs typeface="Courier New" pitchFamily="49" charset="0"/>
              </a:rPr>
              <a:t>GROUP BY </a:t>
            </a:r>
            <a:r>
              <a:rPr lang="vi-VN"/>
              <a:t>theo và </a:t>
            </a:r>
            <a:r>
              <a:rPr lang="en-US" sz="1200" b="1">
                <a:latin typeface="Courier New" pitchFamily="49" charset="0"/>
                <a:cs typeface="Courier New" pitchFamily="49" charset="0"/>
              </a:rPr>
              <a:t>HAVING</a:t>
            </a:r>
            <a:r>
              <a:rPr lang="vi-VN"/>
              <a:t>.</a:t>
            </a:r>
            <a:endParaRPr lang="en-US"/>
          </a:p>
          <a:p>
            <a:pPr marL="6286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a:t>Bạn không thể sử dụng từ khóa </a:t>
            </a:r>
            <a:r>
              <a:rPr lang="en-US" sz="1200" b="1">
                <a:latin typeface="Courier New" pitchFamily="49" charset="0"/>
                <a:cs typeface="Courier New" pitchFamily="49" charset="0"/>
              </a:rPr>
              <a:t>DISTINCT</a:t>
            </a:r>
            <a:r>
              <a:rPr lang="en-US" sz="1200" b="0">
                <a:latin typeface="Courier New" pitchFamily="49" charset="0"/>
                <a:cs typeface="Courier New" pitchFamily="49" charset="0"/>
              </a:rPr>
              <a:t> </a:t>
            </a:r>
            <a:r>
              <a:rPr lang="en-US"/>
              <a:t>với các truy vấn con bao gồm </a:t>
            </a:r>
            <a:r>
              <a:rPr lang="en-US" sz="1200" b="1">
                <a:latin typeface="Courier New" pitchFamily="49" charset="0"/>
                <a:cs typeface="Courier New" pitchFamily="49" charset="0"/>
              </a:rPr>
              <a:t>GROUP BY</a:t>
            </a:r>
          </a:p>
          <a:p>
            <a:pPr marL="6286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vi-VN" b="0"/>
              <a:t>Bạn có thể chỉ định </a:t>
            </a:r>
            <a:r>
              <a:rPr lang="en-US" sz="1200" b="1">
                <a:latin typeface="Courier New" pitchFamily="49" charset="0"/>
                <a:cs typeface="Courier New" pitchFamily="49" charset="0"/>
              </a:rPr>
              <a:t>ORDER BY</a:t>
            </a:r>
            <a:r>
              <a:rPr lang="en-US" sz="1200" b="1">
                <a:latin typeface="Calibri" pitchFamily="34" charset="0"/>
                <a:cs typeface="Calibri" pitchFamily="34" charset="0"/>
              </a:rPr>
              <a:t> </a:t>
            </a:r>
            <a:r>
              <a:rPr lang="vi-VN" b="0"/>
              <a:t>chỉ khi </a:t>
            </a:r>
            <a:r>
              <a:rPr lang="en-US" sz="1200" b="1">
                <a:latin typeface="Courier New" pitchFamily="49" charset="0"/>
                <a:cs typeface="Courier New" pitchFamily="49" charset="0"/>
              </a:rPr>
              <a:t>TOP</a:t>
            </a:r>
            <a:r>
              <a:rPr lang="en-US" sz="1200" b="0">
                <a:latin typeface="Courier New" pitchFamily="49" charset="0"/>
                <a:cs typeface="Courier New" pitchFamily="49" charset="0"/>
              </a:rPr>
              <a:t> </a:t>
            </a:r>
            <a:r>
              <a:rPr lang="vi-VN" b="0"/>
              <a:t>cũng được chỉ định</a:t>
            </a:r>
            <a:endParaRPr lang="en-US" b="0"/>
          </a:p>
        </p:txBody>
      </p:sp>
      <p:sp>
        <p:nvSpPr>
          <p:cNvPr id="4" name="Slide Number Placeholder 3"/>
          <p:cNvSpPr>
            <a:spLocks noGrp="1"/>
          </p:cNvSpPr>
          <p:nvPr>
            <p:ph type="sldNum" sz="quarter" idx="5"/>
          </p:nvPr>
        </p:nvSpPr>
        <p:spPr/>
        <p:txBody>
          <a:bodyPr/>
          <a:lstStyle/>
          <a:p>
            <a:fld id="{E29869D5-CC05-46A1-8868-AA3255DE1B6D}" type="slidenum">
              <a:rPr lang="en-US" smtClean="0"/>
              <a:t>26</a:t>
            </a:fld>
            <a:endParaRPr lang="en-US"/>
          </a:p>
        </p:txBody>
      </p:sp>
    </p:spTree>
    <p:extLst>
      <p:ext uri="{BB962C8B-B14F-4D97-AF65-F5344CB8AC3E}">
        <p14:creationId xmlns:p14="http://schemas.microsoft.com/office/powerpoint/2010/main" val="407129975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a:latin typeface="Calibri" pitchFamily="34" charset="0"/>
                <a:cs typeface="Calibri" pitchFamily="34" charset="0"/>
              </a:rPr>
              <a:t>Truy vấn con lồng nhau</a:t>
            </a:r>
          </a:p>
          <a:p>
            <a:pPr marL="171450" indent="-171450">
              <a:buFont typeface="Arial" panose="020B0604020202020204" pitchFamily="34" charset="0"/>
              <a:buChar char="•"/>
            </a:pPr>
            <a:r>
              <a:rPr lang="vi-VN" b="0"/>
              <a:t>Một truy vấn con được xác định bên trong một truy vấn con khác được gọi là truy vấn con lồng nhau.</a:t>
            </a:r>
          </a:p>
          <a:p>
            <a:pPr marL="171450" indent="-171450">
              <a:buFont typeface="Arial" panose="020B0604020202020204" pitchFamily="34" charset="0"/>
              <a:buChar char="•"/>
            </a:pPr>
            <a:r>
              <a:rPr lang="vi-VN" b="0"/>
              <a:t>Ví dụ</a:t>
            </a:r>
            <a:endParaRPr lang="en-US" b="0"/>
          </a:p>
        </p:txBody>
      </p:sp>
      <p:sp>
        <p:nvSpPr>
          <p:cNvPr id="4" name="Slide Number Placeholder 3"/>
          <p:cNvSpPr>
            <a:spLocks noGrp="1"/>
          </p:cNvSpPr>
          <p:nvPr>
            <p:ph type="sldNum" sz="quarter" idx="5"/>
          </p:nvPr>
        </p:nvSpPr>
        <p:spPr/>
        <p:txBody>
          <a:bodyPr/>
          <a:lstStyle/>
          <a:p>
            <a:fld id="{E29869D5-CC05-46A1-8868-AA3255DE1B6D}" type="slidenum">
              <a:rPr lang="en-US" smtClean="0"/>
              <a:t>27</a:t>
            </a:fld>
            <a:endParaRPr lang="en-US"/>
          </a:p>
        </p:txBody>
      </p:sp>
    </p:spTree>
    <p:extLst>
      <p:ext uri="{BB962C8B-B14F-4D97-AF65-F5344CB8AC3E}">
        <p14:creationId xmlns:p14="http://schemas.microsoft.com/office/powerpoint/2010/main" val="178705751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b="1">
                <a:latin typeface="Calibri" pitchFamily="34" charset="0"/>
                <a:cs typeface="Calibri" pitchFamily="34" charset="0"/>
              </a:rPr>
              <a:t>Truy vấn con quan hệ</a:t>
            </a:r>
          </a:p>
          <a:p>
            <a:pPr marL="171450" indent="-171450">
              <a:buFont typeface="Arial" panose="020B0604020202020204" pitchFamily="34" charset="0"/>
              <a:buChar char="•"/>
            </a:pPr>
            <a:r>
              <a:rPr lang="vi-VN"/>
              <a:t>Khi một truy vấn con lấy tham số từ truy vấn cha của nó, nó được gọi là truy vấn con </a:t>
            </a:r>
            <a:r>
              <a:rPr lang="en-US" sz="1200" b="0">
                <a:latin typeface="Calibri" pitchFamily="34" charset="0"/>
                <a:cs typeface="Calibri" pitchFamily="34" charset="0"/>
              </a:rPr>
              <a:t>quan hệ</a:t>
            </a:r>
          </a:p>
        </p:txBody>
      </p:sp>
      <p:sp>
        <p:nvSpPr>
          <p:cNvPr id="4" name="Slide Number Placeholder 3"/>
          <p:cNvSpPr>
            <a:spLocks noGrp="1"/>
          </p:cNvSpPr>
          <p:nvPr>
            <p:ph type="sldNum" sz="quarter" idx="5"/>
          </p:nvPr>
        </p:nvSpPr>
        <p:spPr/>
        <p:txBody>
          <a:bodyPr/>
          <a:lstStyle/>
          <a:p>
            <a:fld id="{E29869D5-CC05-46A1-8868-AA3255DE1B6D}" type="slidenum">
              <a:rPr lang="en-US" smtClean="0"/>
              <a:t>28</a:t>
            </a:fld>
            <a:endParaRPr lang="en-US"/>
          </a:p>
        </p:txBody>
      </p:sp>
    </p:spTree>
    <p:extLst>
      <p:ext uri="{BB962C8B-B14F-4D97-AF65-F5344CB8AC3E}">
        <p14:creationId xmlns:p14="http://schemas.microsoft.com/office/powerpoint/2010/main" val="101610303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Phép kết</a:t>
            </a:r>
          </a:p>
          <a:p>
            <a:pPr marL="171450" indent="-171450">
              <a:buFont typeface="Arial" panose="020B0604020202020204" pitchFamily="34" charset="0"/>
              <a:buChar char="•"/>
            </a:pPr>
            <a:r>
              <a:rPr lang="en-US" b="0"/>
              <a:t>Phép kết </a:t>
            </a:r>
            <a:r>
              <a:rPr lang="vi-VN" b="0"/>
              <a:t>được sử dụng để lấy dữ liệu từ hai hoặc nhiều bảng dựa trên mối quan hệ logic giữa các bảng</a:t>
            </a:r>
            <a:r>
              <a:rPr lang="en-US" b="0"/>
              <a:t>. </a:t>
            </a:r>
            <a:r>
              <a:rPr lang="vi-VN" b="0"/>
              <a:t>Một </a:t>
            </a:r>
            <a:r>
              <a:rPr lang="en-US" b="0"/>
              <a:t>phép kết </a:t>
            </a:r>
            <a:r>
              <a:rPr lang="vi-VN" b="0"/>
              <a:t>thông thường chỉ định khóa ngoại từ một bảng và </a:t>
            </a:r>
            <a:r>
              <a:rPr lang="en-US" b="0"/>
              <a:t>khóa</a:t>
            </a:r>
            <a:r>
              <a:rPr lang="vi-VN" b="0"/>
              <a:t> được liên kết của nó trong bảng khác.</a:t>
            </a:r>
            <a:endParaRPr lang="en-US" b="0"/>
          </a:p>
          <a:p>
            <a:pPr marL="171450" indent="-171450">
              <a:buFont typeface="Arial" panose="020B0604020202020204" pitchFamily="34" charset="0"/>
              <a:buChar char="•"/>
            </a:pPr>
            <a:r>
              <a:rPr lang="vi-VN" b="0"/>
              <a:t>Chỉ định một toán tử như =, &lt;&gt; sẽ được sử dụng trong các giá trị so sánh từ các cột.</a:t>
            </a:r>
            <a:endParaRPr lang="en-US" b="0"/>
          </a:p>
          <a:p>
            <a:pPr marL="171450" indent="-171450">
              <a:buFont typeface="Arial" panose="020B0604020202020204" pitchFamily="34" charset="0"/>
              <a:buChar char="•"/>
            </a:pPr>
            <a:r>
              <a:rPr lang="en-US" sz="1200" b="0">
                <a:cs typeface="Courier New" pitchFamily="49" charset="0"/>
              </a:rPr>
              <a:t>Cú pháp:</a:t>
            </a:r>
          </a:p>
          <a:p>
            <a:pPr lvl="2">
              <a:lnSpc>
                <a:spcPct val="100000"/>
              </a:lnSpc>
              <a:spcBef>
                <a:spcPts val="600"/>
              </a:spcBef>
            </a:pPr>
            <a:r>
              <a:rPr lang="en-US" b="1"/>
              <a:t>SELECT</a:t>
            </a:r>
            <a:r>
              <a:rPr lang="en-US"/>
              <a:t> &lt;ColumnName1&gt;, &lt;ColumnName2&gt;...&lt;ColumnNameN&gt;</a:t>
            </a:r>
          </a:p>
          <a:p>
            <a:pPr lvl="2">
              <a:lnSpc>
                <a:spcPct val="100000"/>
              </a:lnSpc>
              <a:spcBef>
                <a:spcPts val="600"/>
              </a:spcBef>
            </a:pPr>
            <a:r>
              <a:rPr lang="en-US" b="1"/>
              <a:t>   FROM</a:t>
            </a:r>
            <a:r>
              <a:rPr lang="en-US"/>
              <a:t> Table_A AS </a:t>
            </a:r>
            <a:r>
              <a:rPr lang="en-US">
                <a:solidFill>
                  <a:srgbClr val="FF0000"/>
                </a:solidFill>
              </a:rPr>
              <a:t>Alias_A</a:t>
            </a:r>
            <a:r>
              <a:rPr lang="en-US"/>
              <a:t> </a:t>
            </a:r>
            <a:r>
              <a:rPr lang="en-US" b="1"/>
              <a:t>JOIN</a:t>
            </a:r>
            <a:r>
              <a:rPr lang="en-US"/>
              <a:t> Table_B AS </a:t>
            </a:r>
            <a:r>
              <a:rPr lang="en-US">
                <a:solidFill>
                  <a:srgbClr val="FF0000"/>
                </a:solidFill>
              </a:rPr>
              <a:t>Alias_B </a:t>
            </a:r>
            <a:r>
              <a:rPr lang="en-US" b="1"/>
              <a:t>ON</a:t>
            </a:r>
            <a:r>
              <a:rPr lang="en-US"/>
              <a:t>  </a:t>
            </a:r>
            <a:r>
              <a:rPr lang="en-US">
                <a:solidFill>
                  <a:srgbClr val="FF0000"/>
                </a:solidFill>
              </a:rPr>
              <a:t>Alias_A</a:t>
            </a:r>
            <a:r>
              <a:rPr lang="en-US"/>
              <a:t>.&lt;CommonColumn&gt; </a:t>
            </a:r>
            <a:r>
              <a:rPr lang="en-US">
                <a:solidFill>
                  <a:srgbClr val="0036A2"/>
                </a:solidFill>
              </a:rPr>
              <a:t>=</a:t>
            </a:r>
            <a:r>
              <a:rPr lang="en-US"/>
              <a:t> </a:t>
            </a:r>
            <a:r>
              <a:rPr lang="en-US">
                <a:solidFill>
                  <a:srgbClr val="FF0000"/>
                </a:solidFill>
              </a:rPr>
              <a:t>Alias_B.</a:t>
            </a:r>
            <a:r>
              <a:rPr lang="en-US"/>
              <a:t>&lt;CommonColumn&gt;</a:t>
            </a:r>
          </a:p>
          <a:p>
            <a:pPr marL="171450" lvl="0" indent="-171450">
              <a:lnSpc>
                <a:spcPct val="100000"/>
              </a:lnSpc>
              <a:spcBef>
                <a:spcPts val="600"/>
              </a:spcBef>
              <a:buFont typeface="Arial" panose="020B0604020202020204" pitchFamily="34" charset="0"/>
              <a:buChar char="•"/>
            </a:pPr>
            <a:r>
              <a:rPr lang="en-US" sz="1000"/>
              <a:t>Ví dụ:</a:t>
            </a:r>
          </a:p>
          <a:p>
            <a:pPr lvl="2">
              <a:lnSpc>
                <a:spcPct val="100000"/>
              </a:lnSpc>
              <a:spcBef>
                <a:spcPts val="600"/>
              </a:spcBef>
            </a:pPr>
            <a:r>
              <a:rPr lang="en-US" sz="1050"/>
              <a:t>SELECT A.FirstName, A.LastName, B.JobTitle</a:t>
            </a:r>
          </a:p>
          <a:p>
            <a:pPr lvl="2">
              <a:lnSpc>
                <a:spcPct val="100000"/>
              </a:lnSpc>
              <a:spcBef>
                <a:spcPts val="600"/>
              </a:spcBef>
            </a:pPr>
            <a:r>
              <a:rPr lang="en-US" sz="1050"/>
              <a:t>    FROM Person </a:t>
            </a:r>
            <a:r>
              <a:rPr lang="en-US" sz="1050">
                <a:solidFill>
                  <a:srgbClr val="F61828"/>
                </a:solidFill>
              </a:rPr>
              <a:t>A</a:t>
            </a:r>
            <a:r>
              <a:rPr lang="en-US" sz="1050"/>
              <a:t> </a:t>
            </a:r>
            <a:r>
              <a:rPr lang="en-US" sz="1050" b="1"/>
              <a:t>JOIN</a:t>
            </a:r>
            <a:r>
              <a:rPr lang="en-US" sz="1050"/>
              <a:t> Employee </a:t>
            </a:r>
            <a:r>
              <a:rPr lang="en-US" sz="1050">
                <a:solidFill>
                  <a:srgbClr val="F61828"/>
                </a:solidFill>
              </a:rPr>
              <a:t>B</a:t>
            </a:r>
            <a:r>
              <a:rPr lang="en-US" sz="1050"/>
              <a:t> </a:t>
            </a:r>
            <a:r>
              <a:rPr lang="en-US" sz="1050" b="1"/>
              <a:t>ON</a:t>
            </a:r>
            <a:r>
              <a:rPr lang="en-US" sz="1050"/>
              <a:t>  </a:t>
            </a:r>
            <a:r>
              <a:rPr lang="en-US" sz="1050">
                <a:solidFill>
                  <a:srgbClr val="F61828"/>
                </a:solidFill>
              </a:rPr>
              <a:t>A</a:t>
            </a:r>
            <a:r>
              <a:rPr lang="en-US" sz="1050"/>
              <a:t>.BusinessID = </a:t>
            </a:r>
            <a:r>
              <a:rPr lang="en-US" sz="1050">
                <a:solidFill>
                  <a:srgbClr val="F61828"/>
                </a:solidFill>
              </a:rPr>
              <a:t>B</a:t>
            </a:r>
            <a:r>
              <a:rPr lang="en-US" sz="1050"/>
              <a:t>.BusinessID;</a:t>
            </a:r>
            <a:endParaRPr lang="en-US" sz="800"/>
          </a:p>
        </p:txBody>
      </p:sp>
      <p:sp>
        <p:nvSpPr>
          <p:cNvPr id="4" name="Slide Number Placeholder 3"/>
          <p:cNvSpPr>
            <a:spLocks noGrp="1"/>
          </p:cNvSpPr>
          <p:nvPr>
            <p:ph type="sldNum" sz="quarter" idx="5"/>
          </p:nvPr>
        </p:nvSpPr>
        <p:spPr/>
        <p:txBody>
          <a:bodyPr/>
          <a:lstStyle/>
          <a:p>
            <a:fld id="{E29869D5-CC05-46A1-8868-AA3255DE1B6D}" type="slidenum">
              <a:rPr lang="en-US" smtClean="0"/>
              <a:t>29</a:t>
            </a:fld>
            <a:endParaRPr lang="en-US"/>
          </a:p>
        </p:txBody>
      </p:sp>
    </p:spTree>
    <p:extLst>
      <p:ext uri="{BB962C8B-B14F-4D97-AF65-F5344CB8AC3E}">
        <p14:creationId xmlns:p14="http://schemas.microsoft.com/office/powerpoint/2010/main" val="363810669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Phép kết trong</a:t>
            </a:r>
          </a:p>
          <a:p>
            <a:pPr marL="171450" indent="-171450">
              <a:buFont typeface="Arial" panose="020B0604020202020204" pitchFamily="34" charset="0"/>
              <a:buChar char="•"/>
            </a:pPr>
            <a:r>
              <a:rPr lang="vi-VN" b="0"/>
              <a:t>Một </a:t>
            </a:r>
            <a:r>
              <a:rPr lang="en-US" b="0"/>
              <a:t>phép kết </a:t>
            </a:r>
            <a:r>
              <a:rPr lang="vi-VN" b="0"/>
              <a:t>trong được hình thành khi các </a:t>
            </a:r>
            <a:r>
              <a:rPr lang="en-US" b="0"/>
              <a:t>mẫu tin </a:t>
            </a:r>
            <a:r>
              <a:rPr lang="vi-VN" b="0"/>
              <a:t>từ hai bảng chỉ được kết hợp </a:t>
            </a:r>
            <a:r>
              <a:rPr lang="vi-VN" b="1" i="1"/>
              <a:t>nếu các </a:t>
            </a:r>
            <a:r>
              <a:rPr lang="en-US" b="1" i="1"/>
              <a:t>mẫu tin</a:t>
            </a:r>
            <a:r>
              <a:rPr lang="vi-VN" b="1" i="1"/>
              <a:t> từ cả hai bảng được khớp dựa trên một cột chung</a:t>
            </a:r>
            <a:r>
              <a:rPr lang="vi-VN" b="0"/>
              <a:t>.</a:t>
            </a:r>
            <a:endParaRPr lang="en-US" b="0"/>
          </a:p>
          <a:p>
            <a:pPr marL="171450" indent="-171450">
              <a:buFont typeface="Arial" panose="020B0604020202020204" pitchFamily="34" charset="0"/>
              <a:buChar char="•"/>
            </a:pPr>
            <a:r>
              <a:rPr lang="en-US" b="0"/>
              <a:t>Cú pháp:</a:t>
            </a:r>
          </a:p>
          <a:p>
            <a:pPr lvl="2">
              <a:lnSpc>
                <a:spcPct val="100000"/>
              </a:lnSpc>
              <a:spcBef>
                <a:spcPts val="600"/>
              </a:spcBef>
            </a:pPr>
            <a:r>
              <a:rPr lang="en-US" b="1"/>
              <a:t>SELECT</a:t>
            </a:r>
            <a:r>
              <a:rPr lang="en-US"/>
              <a:t> &lt;ColumnName1&gt;, &lt;ColumnName2&gt;...&lt;ColumnNameN&gt;</a:t>
            </a:r>
          </a:p>
          <a:p>
            <a:pPr lvl="2">
              <a:lnSpc>
                <a:spcPct val="100000"/>
              </a:lnSpc>
              <a:spcBef>
                <a:spcPts val="600"/>
              </a:spcBef>
            </a:pPr>
            <a:r>
              <a:rPr lang="en-US" b="1"/>
              <a:t>   FROM</a:t>
            </a:r>
            <a:r>
              <a:rPr lang="en-US"/>
              <a:t> Table_A  AS  </a:t>
            </a:r>
            <a:r>
              <a:rPr lang="en-US">
                <a:solidFill>
                  <a:srgbClr val="FF0000"/>
                </a:solidFill>
              </a:rPr>
              <a:t>Alias_A</a:t>
            </a:r>
            <a:r>
              <a:rPr lang="en-US"/>
              <a:t>  </a:t>
            </a:r>
            <a:r>
              <a:rPr lang="en-US" b="1"/>
              <a:t>INNER </a:t>
            </a:r>
            <a:r>
              <a:rPr lang="en-US" b="1">
                <a:solidFill>
                  <a:srgbClr val="004E4C"/>
                </a:solidFill>
              </a:rPr>
              <a:t>JOIN </a:t>
            </a:r>
            <a:r>
              <a:rPr lang="en-US">
                <a:solidFill>
                  <a:srgbClr val="004E4C"/>
                </a:solidFill>
              </a:rPr>
              <a:t> </a:t>
            </a:r>
            <a:r>
              <a:rPr lang="en-US"/>
              <a:t>Table_B  AS  </a:t>
            </a:r>
            <a:r>
              <a:rPr lang="en-US">
                <a:solidFill>
                  <a:srgbClr val="FF0000"/>
                </a:solidFill>
              </a:rPr>
              <a:t>Alias_B </a:t>
            </a:r>
            <a:r>
              <a:rPr lang="en-US" b="1"/>
              <a:t>ON</a:t>
            </a:r>
            <a:r>
              <a:rPr lang="en-US"/>
              <a:t>  </a:t>
            </a:r>
            <a:r>
              <a:rPr lang="en-US">
                <a:solidFill>
                  <a:srgbClr val="FF0000"/>
                </a:solidFill>
              </a:rPr>
              <a:t>Alias_A</a:t>
            </a:r>
            <a:r>
              <a:rPr lang="en-US"/>
              <a:t>.&lt;CommonColumn&gt; </a:t>
            </a:r>
            <a:r>
              <a:rPr lang="en-US">
                <a:solidFill>
                  <a:srgbClr val="0036A2"/>
                </a:solidFill>
              </a:rPr>
              <a:t>=</a:t>
            </a:r>
            <a:r>
              <a:rPr lang="en-US"/>
              <a:t> </a:t>
            </a:r>
            <a:r>
              <a:rPr lang="en-US">
                <a:solidFill>
                  <a:srgbClr val="FF0000"/>
                </a:solidFill>
              </a:rPr>
              <a:t>Alias_B.</a:t>
            </a:r>
            <a:r>
              <a:rPr lang="en-US"/>
              <a:t>&lt;CommonColumn&gt;</a:t>
            </a:r>
            <a:endParaRPr lang="en-US" sz="1000"/>
          </a:p>
          <a:p>
            <a:pPr marL="171450" indent="-171450">
              <a:buFont typeface="Arial" panose="020B0604020202020204" pitchFamily="34" charset="0"/>
              <a:buChar char="•"/>
            </a:pPr>
            <a:r>
              <a:rPr lang="en-US" b="0"/>
              <a:t>Ví dụ:</a:t>
            </a:r>
          </a:p>
          <a:p>
            <a:pPr lvl="2">
              <a:lnSpc>
                <a:spcPct val="100000"/>
              </a:lnSpc>
              <a:spcBef>
                <a:spcPts val="600"/>
              </a:spcBef>
            </a:pPr>
            <a:r>
              <a:rPr lang="en-US"/>
              <a:t>SELECT A.FirstName, A.LastName, B.JobTitle</a:t>
            </a:r>
          </a:p>
          <a:p>
            <a:pPr lvl="2">
              <a:lnSpc>
                <a:spcPct val="100000"/>
              </a:lnSpc>
              <a:spcBef>
                <a:spcPts val="600"/>
              </a:spcBef>
            </a:pPr>
            <a:r>
              <a:rPr lang="en-US"/>
              <a:t>     FROM Person A </a:t>
            </a:r>
            <a:r>
              <a:rPr lang="en-US" b="1"/>
              <a:t>INNER JOIN </a:t>
            </a:r>
            <a:r>
              <a:rPr lang="en-US"/>
              <a:t>Employee B  </a:t>
            </a:r>
            <a:r>
              <a:rPr lang="en-US" b="1"/>
              <a:t>ON</a:t>
            </a:r>
            <a:r>
              <a:rPr lang="en-US"/>
              <a:t> A.BusinessID = B.BusinessID; </a:t>
            </a:r>
            <a:endParaRPr lang="en-US" sz="1000"/>
          </a:p>
        </p:txBody>
      </p:sp>
      <p:sp>
        <p:nvSpPr>
          <p:cNvPr id="4" name="Slide Number Placeholder 3"/>
          <p:cNvSpPr>
            <a:spLocks noGrp="1"/>
          </p:cNvSpPr>
          <p:nvPr>
            <p:ph type="sldNum" sz="quarter" idx="5"/>
          </p:nvPr>
        </p:nvSpPr>
        <p:spPr/>
        <p:txBody>
          <a:bodyPr/>
          <a:lstStyle/>
          <a:p>
            <a:fld id="{E29869D5-CC05-46A1-8868-AA3255DE1B6D}" type="slidenum">
              <a:rPr lang="en-US" smtClean="0"/>
              <a:t>30</a:t>
            </a:fld>
            <a:endParaRPr lang="en-US"/>
          </a:p>
        </p:txBody>
      </p:sp>
    </p:spTree>
    <p:extLst>
      <p:ext uri="{BB962C8B-B14F-4D97-AF65-F5344CB8AC3E}">
        <p14:creationId xmlns:p14="http://schemas.microsoft.com/office/powerpoint/2010/main" val="39311201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1"/>
              <a:t>Phép kết ngoài</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vi-VN" b="0" i="1"/>
              <a:t>Trả về tất cả các hàng </a:t>
            </a:r>
            <a:r>
              <a:rPr lang="en-US" b="0" i="1"/>
              <a:t>(mẫu tin) </a:t>
            </a:r>
            <a:r>
              <a:rPr lang="vi-VN" b="0" i="1"/>
              <a:t>từ ít nhất một trong các bảng được chỉ định trong mệnh đề </a:t>
            </a:r>
            <a:r>
              <a:rPr lang="en-US" sz="1200" b="1" i="1">
                <a:latin typeface="Courier New" pitchFamily="49" charset="0"/>
                <a:cs typeface="Courier New" pitchFamily="49" charset="0"/>
              </a:rPr>
              <a:t>FROM</a:t>
            </a:r>
            <a:r>
              <a:rPr lang="vi-VN" b="0"/>
              <a:t>, miễn là các hàng đó đáp ứng bất kỳ </a:t>
            </a:r>
            <a:r>
              <a:rPr lang="en-US" b="0"/>
              <a:t>các </a:t>
            </a:r>
            <a:r>
              <a:rPr lang="vi-VN" b="0"/>
              <a:t>điều kiện </a:t>
            </a:r>
            <a:r>
              <a:rPr lang="en-US" sz="1200" b="1">
                <a:latin typeface="Courier New" pitchFamily="49" charset="0"/>
                <a:cs typeface="Courier New" pitchFamily="49" charset="0"/>
              </a:rPr>
              <a:t>WHERE</a:t>
            </a:r>
            <a:r>
              <a:rPr lang="vi-VN" b="0"/>
              <a:t> hoặc </a:t>
            </a:r>
            <a:r>
              <a:rPr lang="en-US" sz="1200" b="1">
                <a:latin typeface="Courier New" pitchFamily="49" charset="0"/>
                <a:cs typeface="Courier New" pitchFamily="49" charset="0"/>
              </a:rPr>
              <a:t>HAVING</a:t>
            </a:r>
            <a:r>
              <a:rPr lang="vi-VN" b="0"/>
              <a:t> của câu lệnh </a:t>
            </a:r>
            <a:r>
              <a:rPr lang="en-US" sz="1200" b="1">
                <a:latin typeface="Courier New" pitchFamily="49" charset="0"/>
                <a:cs typeface="Courier New" pitchFamily="49" charset="0"/>
              </a:rPr>
              <a:t>SELECT</a:t>
            </a:r>
            <a:r>
              <a:rPr lang="vi-VN" b="0"/>
              <a:t>.</a:t>
            </a:r>
            <a:endParaRPr lang="en-US" b="0"/>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b="0"/>
              <a:t>Có 2</a:t>
            </a:r>
            <a:r>
              <a:rPr lang="vi-VN" b="0"/>
              <a:t> loại </a:t>
            </a:r>
            <a:r>
              <a:rPr lang="en-US" b="0"/>
              <a:t>phép kết </a:t>
            </a:r>
            <a:r>
              <a:rPr lang="vi-VN" b="0"/>
              <a:t>bên ngoài thường được sử dụng như sau:</a:t>
            </a:r>
            <a:endParaRPr lang="en-US" b="0"/>
          </a:p>
          <a:p>
            <a:pPr marL="6286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b="0"/>
              <a:t>Phép kết ngoài bên trái</a:t>
            </a:r>
          </a:p>
          <a:p>
            <a:pPr marL="6286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b="0"/>
              <a:t>Phép kết ngoài bên phải</a:t>
            </a:r>
          </a:p>
        </p:txBody>
      </p:sp>
      <p:sp>
        <p:nvSpPr>
          <p:cNvPr id="4" name="Slide Number Placeholder 3"/>
          <p:cNvSpPr>
            <a:spLocks noGrp="1"/>
          </p:cNvSpPr>
          <p:nvPr>
            <p:ph type="sldNum" sz="quarter" idx="5"/>
          </p:nvPr>
        </p:nvSpPr>
        <p:spPr/>
        <p:txBody>
          <a:bodyPr/>
          <a:lstStyle/>
          <a:p>
            <a:fld id="{E29869D5-CC05-46A1-8868-AA3255DE1B6D}" type="slidenum">
              <a:rPr lang="en-US" smtClean="0"/>
              <a:t>31</a:t>
            </a:fld>
            <a:endParaRPr lang="en-US"/>
          </a:p>
        </p:txBody>
      </p:sp>
    </p:spTree>
    <p:extLst>
      <p:ext uri="{BB962C8B-B14F-4D97-AF65-F5344CB8AC3E}">
        <p14:creationId xmlns:p14="http://schemas.microsoft.com/office/powerpoint/2010/main" val="352135794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1"/>
              <a:t>Phép kết ngoài bên trái</a:t>
            </a:r>
          </a:p>
          <a:p>
            <a:pPr marL="171450" indent="-171450">
              <a:buFont typeface="Arial" panose="020B0604020202020204" pitchFamily="34" charset="0"/>
              <a:buChar char="•"/>
            </a:pPr>
            <a:r>
              <a:rPr lang="en-US"/>
              <a:t>Trả về tất cả các mẫu tin từ bảng bên trái và chỉ khớp các mẫu tin từ bảng bên phải.</a:t>
            </a:r>
          </a:p>
          <a:p>
            <a:pPr marL="171450" indent="-171450">
              <a:buFont typeface="Arial" panose="020B0604020202020204" pitchFamily="34" charset="0"/>
              <a:buChar char="•"/>
            </a:pPr>
            <a:r>
              <a:rPr lang="en-US"/>
              <a:t>Cú pháp:</a:t>
            </a:r>
          </a:p>
          <a:p>
            <a:pPr lvl="2">
              <a:lnSpc>
                <a:spcPct val="100000"/>
              </a:lnSpc>
              <a:spcBef>
                <a:spcPts val="600"/>
              </a:spcBef>
            </a:pPr>
            <a:r>
              <a:rPr lang="en-US" b="1"/>
              <a:t>SELECT</a:t>
            </a:r>
            <a:r>
              <a:rPr lang="en-US"/>
              <a:t> &lt;ColumnName1&gt;, &lt;ColumnName2&gt;...&lt;ColumnNameN&gt;</a:t>
            </a:r>
          </a:p>
          <a:p>
            <a:pPr lvl="2">
              <a:lnSpc>
                <a:spcPct val="100000"/>
              </a:lnSpc>
              <a:spcBef>
                <a:spcPts val="600"/>
              </a:spcBef>
            </a:pPr>
            <a:r>
              <a:rPr lang="en-US" b="1"/>
              <a:t>   FROM</a:t>
            </a:r>
            <a:r>
              <a:rPr lang="en-US"/>
              <a:t> Table_A  AS  </a:t>
            </a:r>
            <a:r>
              <a:rPr lang="en-US">
                <a:solidFill>
                  <a:srgbClr val="FF0000"/>
                </a:solidFill>
              </a:rPr>
              <a:t>Alias_A</a:t>
            </a:r>
            <a:r>
              <a:rPr lang="en-US"/>
              <a:t>  </a:t>
            </a:r>
            <a:r>
              <a:rPr lang="en-US" b="1">
                <a:solidFill>
                  <a:srgbClr val="004E4C"/>
                </a:solidFill>
              </a:rPr>
              <a:t>LEFT OUTER JOIN </a:t>
            </a:r>
            <a:r>
              <a:rPr lang="en-US">
                <a:solidFill>
                  <a:srgbClr val="004E4C"/>
                </a:solidFill>
              </a:rPr>
              <a:t> </a:t>
            </a:r>
            <a:r>
              <a:rPr lang="en-US"/>
              <a:t>Table_B  AS  </a:t>
            </a:r>
            <a:r>
              <a:rPr lang="en-US">
                <a:solidFill>
                  <a:srgbClr val="FF0000"/>
                </a:solidFill>
              </a:rPr>
              <a:t>Alias_B</a:t>
            </a:r>
          </a:p>
          <a:p>
            <a:pPr lvl="2">
              <a:lnSpc>
                <a:spcPct val="100000"/>
              </a:lnSpc>
              <a:spcBef>
                <a:spcPts val="600"/>
              </a:spcBef>
            </a:pPr>
            <a:r>
              <a:rPr lang="en-US" b="1"/>
              <a:t>        ON</a:t>
            </a:r>
            <a:r>
              <a:rPr lang="en-US"/>
              <a:t>  </a:t>
            </a:r>
            <a:r>
              <a:rPr lang="en-US">
                <a:solidFill>
                  <a:srgbClr val="FF0000"/>
                </a:solidFill>
              </a:rPr>
              <a:t>Alias_A</a:t>
            </a:r>
            <a:r>
              <a:rPr lang="en-US"/>
              <a:t>.&lt;CommonColumn&gt; </a:t>
            </a:r>
            <a:r>
              <a:rPr lang="en-US">
                <a:solidFill>
                  <a:srgbClr val="0036A2"/>
                </a:solidFill>
              </a:rPr>
              <a:t>=</a:t>
            </a:r>
            <a:r>
              <a:rPr lang="en-US"/>
              <a:t> </a:t>
            </a:r>
            <a:r>
              <a:rPr lang="en-US">
                <a:solidFill>
                  <a:srgbClr val="FF0000"/>
                </a:solidFill>
              </a:rPr>
              <a:t>Alias_B.</a:t>
            </a:r>
            <a:r>
              <a:rPr lang="en-US"/>
              <a:t>&lt;CommonColumn&gt;</a:t>
            </a:r>
            <a:endParaRPr lang="en-US" sz="1000"/>
          </a:p>
        </p:txBody>
      </p:sp>
      <p:sp>
        <p:nvSpPr>
          <p:cNvPr id="4" name="Slide Number Placeholder 3"/>
          <p:cNvSpPr>
            <a:spLocks noGrp="1"/>
          </p:cNvSpPr>
          <p:nvPr>
            <p:ph type="sldNum" sz="quarter" idx="5"/>
          </p:nvPr>
        </p:nvSpPr>
        <p:spPr/>
        <p:txBody>
          <a:bodyPr/>
          <a:lstStyle/>
          <a:p>
            <a:pPr>
              <a:defRPr/>
            </a:pPr>
            <a:fld id="{6AE1F710-3F4D-4CB2-B8EF-AD2B0CD37885}" type="slidenum">
              <a:rPr lang="en-US" smtClean="0"/>
              <a:pPr>
                <a:defRPr/>
              </a:pPr>
              <a:t>32</a:t>
            </a:fld>
            <a:endParaRPr lang="en-US" dirty="0"/>
          </a:p>
        </p:txBody>
      </p:sp>
    </p:spTree>
    <p:extLst>
      <p:ext uri="{BB962C8B-B14F-4D97-AF65-F5344CB8AC3E}">
        <p14:creationId xmlns:p14="http://schemas.microsoft.com/office/powerpoint/2010/main" val="156556660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1"/>
              <a:t>Phép kết ngoài bên phải</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b="0"/>
              <a:t>Lấy tất cả các mẫu tin từ bảng thứ 2 trong phần kết bất kể có dữ liệu phù hợp trong bảng đầu tiên hay không.</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b="0"/>
              <a:t>Cú pháp:</a:t>
            </a:r>
          </a:p>
          <a:p>
            <a:pPr lvl="2">
              <a:lnSpc>
                <a:spcPct val="100000"/>
              </a:lnSpc>
              <a:spcBef>
                <a:spcPts val="600"/>
              </a:spcBef>
            </a:pPr>
            <a:r>
              <a:rPr lang="en-US" b="1"/>
              <a:t>SELECT</a:t>
            </a:r>
            <a:r>
              <a:rPr lang="en-US"/>
              <a:t> &lt;Column List&gt;</a:t>
            </a:r>
          </a:p>
          <a:p>
            <a:pPr lvl="2">
              <a:lnSpc>
                <a:spcPct val="100000"/>
              </a:lnSpc>
              <a:spcBef>
                <a:spcPts val="600"/>
              </a:spcBef>
            </a:pPr>
            <a:r>
              <a:rPr lang="en-US" b="1"/>
              <a:t>   FROM</a:t>
            </a:r>
            <a:r>
              <a:rPr lang="en-US"/>
              <a:t> Table_A  AS  </a:t>
            </a:r>
            <a:r>
              <a:rPr lang="en-US">
                <a:solidFill>
                  <a:srgbClr val="FF0000"/>
                </a:solidFill>
              </a:rPr>
              <a:t>Alias_A</a:t>
            </a:r>
            <a:r>
              <a:rPr lang="en-US"/>
              <a:t>  </a:t>
            </a:r>
            <a:r>
              <a:rPr lang="en-US" b="1">
                <a:solidFill>
                  <a:srgbClr val="004E4C"/>
                </a:solidFill>
              </a:rPr>
              <a:t>RIGHT OUTER JOIN </a:t>
            </a:r>
            <a:r>
              <a:rPr lang="en-US">
                <a:solidFill>
                  <a:srgbClr val="004E4C"/>
                </a:solidFill>
              </a:rPr>
              <a:t> </a:t>
            </a:r>
            <a:r>
              <a:rPr lang="en-US"/>
              <a:t>Table_B  AS  </a:t>
            </a:r>
            <a:r>
              <a:rPr lang="en-US">
                <a:solidFill>
                  <a:srgbClr val="FF0000"/>
                </a:solidFill>
              </a:rPr>
              <a:t>Alias_B</a:t>
            </a:r>
          </a:p>
          <a:p>
            <a:pPr lvl="2">
              <a:lnSpc>
                <a:spcPct val="100000"/>
              </a:lnSpc>
              <a:spcBef>
                <a:spcPts val="600"/>
              </a:spcBef>
            </a:pPr>
            <a:r>
              <a:rPr lang="en-US" b="1"/>
              <a:t>        ON</a:t>
            </a:r>
            <a:r>
              <a:rPr lang="en-US"/>
              <a:t>  </a:t>
            </a:r>
            <a:r>
              <a:rPr lang="en-US">
                <a:solidFill>
                  <a:srgbClr val="FF0000"/>
                </a:solidFill>
              </a:rPr>
              <a:t>Alias_A</a:t>
            </a:r>
            <a:r>
              <a:rPr lang="en-US"/>
              <a:t>.&lt;CommonColumn&gt; </a:t>
            </a:r>
            <a:r>
              <a:rPr lang="en-US">
                <a:solidFill>
                  <a:srgbClr val="0036A2"/>
                </a:solidFill>
              </a:rPr>
              <a:t>=</a:t>
            </a:r>
            <a:r>
              <a:rPr lang="en-US"/>
              <a:t> </a:t>
            </a:r>
            <a:r>
              <a:rPr lang="en-US">
                <a:solidFill>
                  <a:srgbClr val="FF0000"/>
                </a:solidFill>
              </a:rPr>
              <a:t>Alias_B.</a:t>
            </a:r>
            <a:r>
              <a:rPr lang="en-US"/>
              <a:t>&lt;CommonColumn&gt;</a:t>
            </a:r>
            <a:endParaRPr lang="en-US" sz="1000"/>
          </a:p>
        </p:txBody>
      </p:sp>
      <p:sp>
        <p:nvSpPr>
          <p:cNvPr id="4" name="Slide Number Placeholder 3"/>
          <p:cNvSpPr>
            <a:spLocks noGrp="1"/>
          </p:cNvSpPr>
          <p:nvPr>
            <p:ph type="sldNum" sz="quarter" idx="5"/>
          </p:nvPr>
        </p:nvSpPr>
        <p:spPr/>
        <p:txBody>
          <a:bodyPr/>
          <a:lstStyle/>
          <a:p>
            <a:pPr>
              <a:defRPr/>
            </a:pPr>
            <a:fld id="{6AE1F710-3F4D-4CB2-B8EF-AD2B0CD37885}" type="slidenum">
              <a:rPr lang="en-US" smtClean="0"/>
              <a:pPr>
                <a:defRPr/>
              </a:pPr>
              <a:t>33</a:t>
            </a:fld>
            <a:endParaRPr lang="en-US" dirty="0"/>
          </a:p>
        </p:txBody>
      </p:sp>
    </p:spTree>
    <p:extLst>
      <p:ext uri="{BB962C8B-B14F-4D97-AF65-F5344CB8AC3E}">
        <p14:creationId xmlns:p14="http://schemas.microsoft.com/office/powerpoint/2010/main" val="409713820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Self-Join (Tự kết)</a:t>
            </a:r>
          </a:p>
          <a:p>
            <a:pPr marL="171450" indent="-171450">
              <a:buFont typeface="Arial" panose="020B0604020202020204" pitchFamily="34" charset="0"/>
              <a:buChar char="•"/>
            </a:pPr>
            <a:r>
              <a:rPr lang="en-US" b="0"/>
              <a:t>Đ</a:t>
            </a:r>
            <a:r>
              <a:rPr lang="vi-VN" b="0"/>
              <a:t>ược sử dụng để tìm các </a:t>
            </a:r>
            <a:r>
              <a:rPr lang="en-US" b="0"/>
              <a:t>mẫu tin </a:t>
            </a:r>
            <a:r>
              <a:rPr lang="vi-VN" b="0"/>
              <a:t>trong một bảng có liên quan đến các </a:t>
            </a:r>
            <a:r>
              <a:rPr lang="en-US" b="0"/>
              <a:t>mẫu tin </a:t>
            </a:r>
            <a:r>
              <a:rPr lang="vi-VN" b="0"/>
              <a:t>khác trong cùng một bảng.</a:t>
            </a:r>
            <a:endParaRPr lang="en-US" b="0"/>
          </a:p>
          <a:p>
            <a:pPr marL="171450" indent="-171450">
              <a:buFont typeface="Arial" panose="020B0604020202020204" pitchFamily="34" charset="0"/>
              <a:buChar char="•"/>
            </a:pPr>
            <a:r>
              <a:rPr lang="vi-VN" b="0"/>
              <a:t>Một bảng </a:t>
            </a:r>
            <a:r>
              <a:rPr lang="en-US" b="0"/>
              <a:t>tự kết </a:t>
            </a:r>
            <a:r>
              <a:rPr lang="vi-VN" b="0"/>
              <a:t>vào chính nó trong một </a:t>
            </a:r>
            <a:r>
              <a:rPr lang="en-US" b="0"/>
              <a:t>Self-Join</a:t>
            </a:r>
          </a:p>
          <a:p>
            <a:endParaRPr lang="en-US"/>
          </a:p>
        </p:txBody>
      </p:sp>
      <p:sp>
        <p:nvSpPr>
          <p:cNvPr id="4" name="Slide Number Placeholder 3"/>
          <p:cNvSpPr>
            <a:spLocks noGrp="1"/>
          </p:cNvSpPr>
          <p:nvPr>
            <p:ph type="sldNum" sz="quarter" idx="5"/>
          </p:nvPr>
        </p:nvSpPr>
        <p:spPr/>
        <p:txBody>
          <a:bodyPr/>
          <a:lstStyle/>
          <a:p>
            <a:fld id="{E29869D5-CC05-46A1-8868-AA3255DE1B6D}" type="slidenum">
              <a:rPr lang="en-US" smtClean="0"/>
              <a:t>34</a:t>
            </a:fld>
            <a:endParaRPr lang="en-US"/>
          </a:p>
        </p:txBody>
      </p:sp>
    </p:spTree>
    <p:extLst>
      <p:ext uri="{BB962C8B-B14F-4D97-AF65-F5344CB8AC3E}">
        <p14:creationId xmlns:p14="http://schemas.microsoft.com/office/powerpoint/2010/main" val="425522322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Phát biểu MERGE</a:t>
            </a:r>
          </a:p>
          <a:p>
            <a:pPr marL="171450" indent="-171450">
              <a:buFont typeface="Arial" panose="020B0604020202020204" pitchFamily="34" charset="0"/>
              <a:buChar char="•"/>
            </a:pPr>
            <a:r>
              <a:rPr lang="en-US" b="0"/>
              <a:t>Có thể thực hiện các hành động sau trong một câu lệnh Merge:</a:t>
            </a:r>
          </a:p>
          <a:p>
            <a:pPr marL="628650" lvl="1" indent="-171450">
              <a:buFont typeface="Arial" panose="020B0604020202020204" pitchFamily="34" charset="0"/>
              <a:buChar char="•"/>
            </a:pPr>
            <a:r>
              <a:rPr lang="en-US" b="0"/>
              <a:t>Chèn một dòng (mẫu tin) mới từ nguồn nếu dòng (mẫu tin) bị thiếu trong mục tiêu</a:t>
            </a:r>
          </a:p>
          <a:p>
            <a:pPr marL="628650" lvl="1" indent="-171450">
              <a:buFont typeface="Arial" panose="020B0604020202020204" pitchFamily="34" charset="0"/>
              <a:buChar char="•"/>
            </a:pPr>
            <a:r>
              <a:rPr lang="en-US" b="0"/>
              <a:t>Cập nhật một dòng (mẫu tin) mục tiêu nếu một mẫu tin đã tồn tại trong bảng nguồn</a:t>
            </a:r>
          </a:p>
          <a:p>
            <a:pPr marL="628650" lvl="1" indent="-171450">
              <a:buFont typeface="Arial" panose="020B0604020202020204" pitchFamily="34" charset="0"/>
              <a:buChar char="•"/>
            </a:pPr>
            <a:r>
              <a:rPr lang="en-US" b="0"/>
              <a:t>Xóa một dòng (mẫu tin) mục tiêu nếu dòng (mẫu tin) bị thiếu trong bảng nguồn</a:t>
            </a:r>
          </a:p>
          <a:p>
            <a:pPr marL="171450" lvl="0" indent="-171450">
              <a:buFont typeface="Arial" panose="020B0604020202020204" pitchFamily="34" charset="0"/>
              <a:buChar char="•"/>
            </a:pPr>
            <a:r>
              <a:rPr lang="vi-VN" b="0"/>
              <a:t>Ví dụ: </a:t>
            </a:r>
            <a:r>
              <a:rPr lang="en-US" b="0"/>
              <a:t>G</a:t>
            </a:r>
            <a:r>
              <a:rPr lang="vi-VN" b="0"/>
              <a:t>iả sử bạn có một bảng </a:t>
            </a:r>
            <a:r>
              <a:rPr lang="en-US" sz="1200" b="1">
                <a:cs typeface="Courier New" pitchFamily="49" charset="0"/>
              </a:rPr>
              <a:t>Products</a:t>
            </a:r>
            <a:r>
              <a:rPr lang="en-US" sz="1200">
                <a:cs typeface="Courier New" pitchFamily="49" charset="0"/>
              </a:rPr>
              <a:t> </a:t>
            </a:r>
            <a:r>
              <a:rPr lang="vi-VN" b="0"/>
              <a:t>duy trì </a:t>
            </a:r>
            <a:r>
              <a:rPr lang="en-US" b="0"/>
              <a:t>mẫu tin </a:t>
            </a:r>
            <a:r>
              <a:rPr lang="vi-VN" b="0"/>
              <a:t>của tất cả các sản phẩm.</a:t>
            </a:r>
            <a:endParaRPr lang="en-US" b="0"/>
          </a:p>
          <a:p>
            <a:pPr marL="628650" lvl="1" indent="-171450">
              <a:buFont typeface="Arial" panose="020B0604020202020204" pitchFamily="34" charset="0"/>
              <a:buChar char="•"/>
            </a:pPr>
            <a:r>
              <a:rPr lang="vi-VN" b="0"/>
              <a:t>Một bảng </a:t>
            </a:r>
            <a:r>
              <a:rPr lang="en-US" sz="1200" b="1">
                <a:cs typeface="Courier New" pitchFamily="49" charset="0"/>
              </a:rPr>
              <a:t>NewProducts </a:t>
            </a:r>
            <a:r>
              <a:rPr lang="vi-VN" b="0"/>
              <a:t>duy trì </a:t>
            </a:r>
            <a:r>
              <a:rPr lang="en-US" b="0"/>
              <a:t>mẫu tin </a:t>
            </a:r>
            <a:r>
              <a:rPr lang="vi-VN" b="0"/>
              <a:t>của các sản phẩm mới.</a:t>
            </a:r>
            <a:endParaRPr lang="en-US" b="0"/>
          </a:p>
          <a:p>
            <a:pPr marL="628650" lvl="1" indent="-171450">
              <a:buFont typeface="Arial" panose="020B0604020202020204" pitchFamily="34" charset="0"/>
              <a:buChar char="•"/>
            </a:pPr>
            <a:r>
              <a:rPr lang="en-US" b="0"/>
              <a:t>Bạn muốn cập nhật bảng </a:t>
            </a:r>
            <a:r>
              <a:rPr lang="en-US" sz="1200" b="1">
                <a:cs typeface="Courier New" pitchFamily="49" charset="0"/>
              </a:rPr>
              <a:t>Products </a:t>
            </a:r>
            <a:r>
              <a:rPr lang="en-US" b="0"/>
              <a:t>với các mẫu tin từ bảng </a:t>
            </a:r>
            <a:r>
              <a:rPr lang="en-US" sz="1200" b="1">
                <a:cs typeface="Courier New" pitchFamily="49" charset="0"/>
              </a:rPr>
              <a:t>NewProducts</a:t>
            </a:r>
            <a:endParaRPr lang="en-US" b="0"/>
          </a:p>
        </p:txBody>
      </p:sp>
      <p:sp>
        <p:nvSpPr>
          <p:cNvPr id="4" name="Slide Number Placeholder 3"/>
          <p:cNvSpPr>
            <a:spLocks noGrp="1"/>
          </p:cNvSpPr>
          <p:nvPr>
            <p:ph type="sldNum" sz="quarter" idx="5"/>
          </p:nvPr>
        </p:nvSpPr>
        <p:spPr/>
        <p:txBody>
          <a:bodyPr/>
          <a:lstStyle/>
          <a:p>
            <a:fld id="{E29869D5-CC05-46A1-8868-AA3255DE1B6D}" type="slidenum">
              <a:rPr lang="en-US" smtClean="0"/>
              <a:t>35</a:t>
            </a:fld>
            <a:endParaRPr lang="en-US"/>
          </a:p>
        </p:txBody>
      </p:sp>
    </p:spTree>
    <p:extLst>
      <p:ext uri="{BB962C8B-B14F-4D97-AF65-F5344CB8AC3E}">
        <p14:creationId xmlns:p14="http://schemas.microsoft.com/office/powerpoint/2010/main" val="199451458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a:t>Biểu thức bảng thông </a:t>
            </a:r>
            <a:r>
              <a:rPr lang="en-US" b="1"/>
              <a:t>dụng</a:t>
            </a:r>
          </a:p>
          <a:p>
            <a:pPr marL="171450" indent="-171450">
              <a:buFont typeface="Arial" panose="020B0604020202020204" pitchFamily="34" charset="0"/>
              <a:buChar char="•"/>
            </a:pPr>
            <a:r>
              <a:rPr lang="vi-VN" b="0"/>
              <a:t>CTE tương tự như một kết quả tạm thời được định </a:t>
            </a:r>
            <a:r>
              <a:rPr lang="en-US" b="0"/>
              <a:t>nghĩa </a:t>
            </a:r>
            <a:r>
              <a:rPr lang="vi-VN" b="0"/>
              <a:t>trong phạm vi thực thi của </a:t>
            </a:r>
            <a:r>
              <a:rPr lang="en-US" b="0"/>
              <a:t>phát biểu </a:t>
            </a:r>
            <a:r>
              <a:rPr lang="en-US" sz="1200" b="1">
                <a:latin typeface="Courier New" pitchFamily="49" charset="0"/>
                <a:cs typeface="Courier New" pitchFamily="49" charset="0"/>
              </a:rPr>
              <a:t>SELECT</a:t>
            </a:r>
            <a:r>
              <a:rPr lang="en-US" sz="1200">
                <a:latin typeface="Calibri" pitchFamily="34" charset="0"/>
                <a:cs typeface="Calibri" pitchFamily="34" charset="0"/>
              </a:rPr>
              <a:t>, </a:t>
            </a:r>
            <a:r>
              <a:rPr lang="en-US" sz="1200" b="1">
                <a:latin typeface="Courier New" pitchFamily="49" charset="0"/>
                <a:cs typeface="Courier New" pitchFamily="49" charset="0"/>
              </a:rPr>
              <a:t>INSERT</a:t>
            </a:r>
            <a:r>
              <a:rPr lang="en-US" sz="1200">
                <a:latin typeface="Calibri" pitchFamily="34" charset="0"/>
                <a:cs typeface="Calibri" pitchFamily="34" charset="0"/>
              </a:rPr>
              <a:t>, </a:t>
            </a:r>
            <a:r>
              <a:rPr lang="en-US" sz="1200" b="1">
                <a:latin typeface="Courier New" pitchFamily="49" charset="0"/>
                <a:cs typeface="Courier New" pitchFamily="49" charset="0"/>
              </a:rPr>
              <a:t>UPDATE</a:t>
            </a:r>
            <a:r>
              <a:rPr lang="en-US" sz="1200">
                <a:latin typeface="Calibri" pitchFamily="34" charset="0"/>
                <a:cs typeface="Calibri" pitchFamily="34" charset="0"/>
              </a:rPr>
              <a:t>, </a:t>
            </a:r>
            <a:r>
              <a:rPr lang="en-US" sz="1200" b="1">
                <a:latin typeface="Courier New" pitchFamily="49" charset="0"/>
                <a:cs typeface="Courier New" pitchFamily="49" charset="0"/>
              </a:rPr>
              <a:t>DELETE</a:t>
            </a:r>
            <a:r>
              <a:rPr lang="en-US" sz="1200">
                <a:latin typeface="Calibri" pitchFamily="34" charset="0"/>
                <a:cs typeface="Calibri" pitchFamily="34" charset="0"/>
              </a:rPr>
              <a:t>, hoặc </a:t>
            </a:r>
            <a:r>
              <a:rPr lang="en-US" sz="1200" b="1">
                <a:latin typeface="Courier New" pitchFamily="49" charset="0"/>
                <a:cs typeface="Courier New" pitchFamily="49" charset="0"/>
              </a:rPr>
              <a:t>CREATE VIEW</a:t>
            </a:r>
            <a:r>
              <a:rPr lang="en-US" sz="1200" b="0">
                <a:latin typeface="Courier New" pitchFamily="49" charset="0"/>
                <a:cs typeface="Courier New" pitchFamily="49" charset="0"/>
              </a:rPr>
              <a:t>. </a:t>
            </a:r>
            <a:r>
              <a:rPr lang="en-US" b="0"/>
              <a:t>Một </a:t>
            </a:r>
            <a:r>
              <a:rPr lang="vi-VN" b="0"/>
              <a:t>CTE là một biểu thức có tên được định </a:t>
            </a:r>
            <a:r>
              <a:rPr lang="en-US" b="0"/>
              <a:t>nghĩa </a:t>
            </a:r>
            <a:r>
              <a:rPr lang="vi-VN" b="0"/>
              <a:t>trong một truy vấn.</a:t>
            </a:r>
            <a:endParaRPr lang="en-US" b="0"/>
          </a:p>
          <a:p>
            <a:pPr marL="171450" indent="-171450">
              <a:buFont typeface="Arial" panose="020B0604020202020204" pitchFamily="34" charset="0"/>
              <a:buChar char="•"/>
            </a:pPr>
            <a:r>
              <a:rPr lang="vi-VN" b="0"/>
              <a:t>CTE bao gồm các </a:t>
            </a:r>
            <a:r>
              <a:rPr lang="en-US" b="0"/>
              <a:t>các </a:t>
            </a:r>
            <a:r>
              <a:rPr lang="vi-VN" b="0"/>
              <a:t>tham </a:t>
            </a:r>
            <a:r>
              <a:rPr lang="en-US" b="0"/>
              <a:t>chiếu</a:t>
            </a:r>
            <a:r>
              <a:rPr lang="vi-VN" b="0"/>
              <a:t> về chính nó </a:t>
            </a:r>
            <a:r>
              <a:rPr lang="en-US" b="0"/>
              <a:t>còn </a:t>
            </a:r>
            <a:r>
              <a:rPr lang="vi-VN" b="0"/>
              <a:t>được gọi là CTE đệ quy</a:t>
            </a:r>
            <a:endParaRPr lang="en-US" b="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b="0"/>
              <a:t>CTE bị giới hạn ở phạm vi để thực hiện truy vấn bên ngoài. Do đó, khi truy vấn bên ngoài kết thúc, thời gian sống của CTE sẽ kết thúc.</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vi-VN" sz="1000" b="0"/>
              <a:t>Bạn cần định </a:t>
            </a:r>
            <a:r>
              <a:rPr lang="en-US" sz="1000" b="0"/>
              <a:t>nghĩa </a:t>
            </a:r>
            <a:r>
              <a:rPr lang="vi-VN" sz="1000" b="0"/>
              <a:t>tên cho CTE và </a:t>
            </a:r>
            <a:r>
              <a:rPr lang="en-US" sz="1000" b="0"/>
              <a:t>cũng </a:t>
            </a:r>
            <a:r>
              <a:rPr lang="vi-VN" sz="1000" b="0"/>
              <a:t>xác định tên duy nhất cho mỗi cột được tham chiếu trong mệnh đề SELECT của CTE</a:t>
            </a:r>
            <a:r>
              <a:rPr lang="en-US" sz="1000" b="0"/>
              <a: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b="0"/>
              <a:t>Có thể sử dụng các bí danh nội tuyến hoặc bên ngoài cho các cột trong CTE.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vi-VN" sz="1000" b="0"/>
              <a:t>Một CTE duy nhất có thể được tham chiếu nhiều lần trong cùng một truy vấn với một định nghĩa.</a:t>
            </a:r>
            <a:endParaRPr lang="en-US" sz="1000" b="0"/>
          </a:p>
        </p:txBody>
      </p:sp>
      <p:sp>
        <p:nvSpPr>
          <p:cNvPr id="4" name="Slide Number Placeholder 3"/>
          <p:cNvSpPr>
            <a:spLocks noGrp="1"/>
          </p:cNvSpPr>
          <p:nvPr>
            <p:ph type="sldNum" sz="quarter" idx="5"/>
          </p:nvPr>
        </p:nvSpPr>
        <p:spPr/>
        <p:txBody>
          <a:bodyPr/>
          <a:lstStyle/>
          <a:p>
            <a:fld id="{E29869D5-CC05-46A1-8868-AA3255DE1B6D}" type="slidenum">
              <a:rPr lang="en-US" smtClean="0"/>
              <a:t>36</a:t>
            </a:fld>
            <a:endParaRPr lang="en-US"/>
          </a:p>
        </p:txBody>
      </p:sp>
    </p:spTree>
    <p:extLst>
      <p:ext uri="{BB962C8B-B14F-4D97-AF65-F5344CB8AC3E}">
        <p14:creationId xmlns:p14="http://schemas.microsoft.com/office/powerpoint/2010/main" val="320626657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vi-VN" b="1"/>
              <a:t>Biểu thức bảng thông </a:t>
            </a:r>
            <a:r>
              <a:rPr lang="en-US" b="1"/>
              <a:t>dụng</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b="0"/>
              <a:t>Đoạn mã sau định nghĩa 2 CTE bằng cách sử dụng một mệnh đề </a:t>
            </a:r>
            <a:r>
              <a:rPr lang="en-US" sz="1200" b="1">
                <a:cs typeface="Courier New" pitchFamily="49" charset="0"/>
              </a:rPr>
              <a:t>WITH</a:t>
            </a:r>
            <a:r>
              <a:rPr lang="en-US" sz="1200">
                <a:cs typeface="Courier New" pitchFamily="49" charset="0"/>
              </a:rPr>
              <a:t> </a:t>
            </a:r>
            <a:r>
              <a:rPr lang="en-US" b="0"/>
              <a:t>duy nhất:</a:t>
            </a:r>
          </a:p>
          <a:p>
            <a:pPr marL="6286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b="0"/>
              <a:t>Mã xác định 2 CTE bằng cách sử dụng một mệnh đề </a:t>
            </a:r>
            <a:r>
              <a:rPr lang="en-US" sz="1200" b="1">
                <a:cs typeface="Courier New" pitchFamily="49" charset="0"/>
              </a:rPr>
              <a:t>WITH</a:t>
            </a:r>
          </a:p>
          <a:p>
            <a:pPr marL="6286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vi-VN" b="0"/>
              <a:t>Đoạn </a:t>
            </a:r>
            <a:r>
              <a:rPr lang="en-US" b="0"/>
              <a:t>mã</a:t>
            </a:r>
            <a:r>
              <a:rPr lang="vi-VN" b="0"/>
              <a:t> này giả định rằng </a:t>
            </a:r>
            <a:r>
              <a:rPr lang="en-US" b="0"/>
              <a:t>3</a:t>
            </a:r>
            <a:r>
              <a:rPr lang="vi-VN" b="0"/>
              <a:t> bảng tên là </a:t>
            </a:r>
            <a:r>
              <a:rPr lang="en-US" sz="1200" b="1">
                <a:cs typeface="Courier New" pitchFamily="49" charset="0"/>
              </a:rPr>
              <a:t>Student</a:t>
            </a:r>
            <a:r>
              <a:rPr lang="vi-VN" b="0"/>
              <a:t>, </a:t>
            </a:r>
            <a:r>
              <a:rPr lang="en-US" sz="1200" b="1">
                <a:cs typeface="Courier New" pitchFamily="49" charset="0"/>
              </a:rPr>
              <a:t>City</a:t>
            </a:r>
            <a:r>
              <a:rPr lang="en-US" sz="1200">
                <a:cs typeface="Courier New" pitchFamily="49" charset="0"/>
              </a:rPr>
              <a:t> </a:t>
            </a:r>
            <a:r>
              <a:rPr lang="vi-VN" b="0"/>
              <a:t>và </a:t>
            </a:r>
            <a:r>
              <a:rPr lang="en-US" sz="1200" b="1">
                <a:cs typeface="Courier New" pitchFamily="49" charset="0"/>
              </a:rPr>
              <a:t>Status</a:t>
            </a:r>
            <a:r>
              <a:rPr lang="en-US" sz="1200">
                <a:cs typeface="Courier New" pitchFamily="49" charset="0"/>
              </a:rPr>
              <a:t> đã </a:t>
            </a:r>
            <a:r>
              <a:rPr lang="vi-VN" b="0"/>
              <a:t>được tạo ra.</a:t>
            </a:r>
            <a:endParaRPr lang="en-US" b="0"/>
          </a:p>
          <a:p>
            <a:pPr marL="6286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vi-VN" b="0"/>
              <a:t>Giả sử một số </a:t>
            </a:r>
            <a:r>
              <a:rPr lang="en-US" b="0"/>
              <a:t>mẫu tin </a:t>
            </a:r>
            <a:r>
              <a:rPr lang="vi-VN" b="0"/>
              <a:t>được chèn vào cả </a:t>
            </a:r>
            <a:r>
              <a:rPr lang="en-US" b="0"/>
              <a:t>3</a:t>
            </a:r>
            <a:r>
              <a:rPr lang="vi-VN" b="0"/>
              <a:t> bảng, đầu ra có thể được hiển thị trong hình dưới đây</a:t>
            </a:r>
            <a:endParaRPr lang="en-US" b="0"/>
          </a:p>
          <a:p>
            <a:endParaRPr lang="en-US"/>
          </a:p>
        </p:txBody>
      </p:sp>
      <p:sp>
        <p:nvSpPr>
          <p:cNvPr id="4" name="Slide Number Placeholder 3"/>
          <p:cNvSpPr>
            <a:spLocks noGrp="1"/>
          </p:cNvSpPr>
          <p:nvPr>
            <p:ph type="sldNum" sz="quarter" idx="5"/>
          </p:nvPr>
        </p:nvSpPr>
        <p:spPr/>
        <p:txBody>
          <a:bodyPr/>
          <a:lstStyle/>
          <a:p>
            <a:pPr>
              <a:defRPr/>
            </a:pPr>
            <a:fld id="{6AE1F710-3F4D-4CB2-B8EF-AD2B0CD37885}" type="slidenum">
              <a:rPr lang="en-US" smtClean="0"/>
              <a:pPr>
                <a:defRPr/>
              </a:pPr>
              <a:t>37</a:t>
            </a:fld>
            <a:endParaRPr lang="en-US" dirty="0"/>
          </a:p>
        </p:txBody>
      </p:sp>
    </p:spTree>
    <p:extLst>
      <p:ext uri="{BB962C8B-B14F-4D97-AF65-F5344CB8AC3E}">
        <p14:creationId xmlns:p14="http://schemas.microsoft.com/office/powerpoint/2010/main" val="62853444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Kết hợp dữ liệu bằng cách sử dụng các toán tử tập hợp</a:t>
            </a:r>
          </a:p>
          <a:p>
            <a:pPr marL="171450" indent="-171450">
              <a:buFont typeface="Arial" panose="020B0604020202020204" pitchFamily="34" charset="0"/>
              <a:buChar char="•"/>
            </a:pPr>
            <a:r>
              <a:rPr lang="vi-VN" b="0"/>
              <a:t>SQL Server 2019 cung cấp một số từ khóa nhất định, còn được gọi là toán tử, để kết hợp dữ liệu từ nhiều bảng.</a:t>
            </a:r>
            <a:endParaRPr lang="en-US" b="0"/>
          </a:p>
          <a:p>
            <a:pPr marL="628650" lvl="1" indent="-171450">
              <a:buFont typeface="Arial" panose="020B0604020202020204" pitchFamily="34" charset="0"/>
              <a:buChar char="•"/>
            </a:pPr>
            <a:r>
              <a:rPr lang="vi-VN" b="0"/>
              <a:t>Những </a:t>
            </a:r>
            <a:r>
              <a:rPr lang="en-US" b="0"/>
              <a:t>toán tử </a:t>
            </a:r>
            <a:r>
              <a:rPr lang="vi-VN" b="0"/>
              <a:t>như sau:</a:t>
            </a:r>
          </a:p>
          <a:p>
            <a:pPr marL="1085850" lvl="2" indent="-171450">
              <a:buFont typeface="Arial" panose="020B0604020202020204" pitchFamily="34" charset="0"/>
              <a:buChar char="•"/>
            </a:pPr>
            <a:r>
              <a:rPr lang="en-US" b="0"/>
              <a:t>PHÉP KẾT</a:t>
            </a:r>
            <a:endParaRPr lang="vi-VN" b="0"/>
          </a:p>
          <a:p>
            <a:pPr marL="1085850" lvl="2" indent="-171450">
              <a:buFont typeface="Arial" panose="020B0604020202020204" pitchFamily="34" charset="0"/>
              <a:buChar char="•"/>
            </a:pPr>
            <a:r>
              <a:rPr lang="en-US" b="0"/>
              <a:t>PHÉP GIAO</a:t>
            </a:r>
            <a:endParaRPr lang="vi-VN" b="0"/>
          </a:p>
          <a:p>
            <a:pPr marL="1085850" lvl="2" indent="-171450">
              <a:buFont typeface="Arial" panose="020B0604020202020204" pitchFamily="34" charset="0"/>
              <a:buChar char="•"/>
            </a:pPr>
            <a:r>
              <a:rPr lang="en-US" b="0"/>
              <a:t>PHÉP LOẠI</a:t>
            </a:r>
            <a:r>
              <a:rPr lang="vi-VN" b="0"/>
              <a:t> TRỪ</a:t>
            </a:r>
            <a:endParaRPr lang="en-US" b="0"/>
          </a:p>
        </p:txBody>
      </p:sp>
      <p:sp>
        <p:nvSpPr>
          <p:cNvPr id="4" name="Slide Number Placeholder 3"/>
          <p:cNvSpPr>
            <a:spLocks noGrp="1"/>
          </p:cNvSpPr>
          <p:nvPr>
            <p:ph type="sldNum" sz="quarter" idx="5"/>
          </p:nvPr>
        </p:nvSpPr>
        <p:spPr/>
        <p:txBody>
          <a:bodyPr/>
          <a:lstStyle/>
          <a:p>
            <a:fld id="{E29869D5-CC05-46A1-8868-AA3255DE1B6D}" type="slidenum">
              <a:rPr lang="en-US" smtClean="0"/>
              <a:t>38</a:t>
            </a:fld>
            <a:endParaRPr lang="en-US"/>
          </a:p>
        </p:txBody>
      </p:sp>
    </p:spTree>
    <p:extLst>
      <p:ext uri="{BB962C8B-B14F-4D97-AF65-F5344CB8AC3E}">
        <p14:creationId xmlns:p14="http://schemas.microsoft.com/office/powerpoint/2010/main" val="412706471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Toán tử UNION</a:t>
            </a:r>
          </a:p>
          <a:p>
            <a:pPr marL="171450" indent="-171450">
              <a:buFont typeface="Arial" panose="020B0604020202020204" pitchFamily="34" charset="0"/>
              <a:buChar char="•"/>
            </a:pPr>
            <a:r>
              <a:rPr lang="vi-VN" b="0"/>
              <a:t>Các kết quả từ hai câu lệnh truy vấn khác nhau có thể được kết hợp thành một kết quả duy nhất bằng cách sử dụng toán tử </a:t>
            </a:r>
            <a:r>
              <a:rPr lang="en-US" sz="1200" b="1">
                <a:latin typeface="Courier New" pitchFamily="49" charset="0"/>
                <a:cs typeface="Courier New" pitchFamily="49" charset="0"/>
              </a:rPr>
              <a:t>UNION</a:t>
            </a:r>
          </a:p>
          <a:p>
            <a:pPr marL="171450" indent="-171450">
              <a:buFont typeface="Arial" panose="020B0604020202020204" pitchFamily="34" charset="0"/>
              <a:buChar char="•"/>
            </a:pPr>
            <a:r>
              <a:rPr lang="vi-VN" b="0"/>
              <a:t>Các câu lệnh truy vấn phải có các loại cột tương thích và số lượng cột bằng nhau.</a:t>
            </a:r>
            <a:endParaRPr lang="en-US" b="0"/>
          </a:p>
          <a:p>
            <a:pPr marL="171450" indent="-171450">
              <a:buFont typeface="Arial" panose="020B0604020202020204" pitchFamily="34" charset="0"/>
              <a:buChar char="•"/>
            </a:pPr>
            <a:r>
              <a:rPr lang="vi-VN" b="0"/>
              <a:t>Tên cột có thể khác nhau trong mỗi câu lệnh nhưng các loại dữ liệu phải tương thích.</a:t>
            </a:r>
            <a:endParaRPr lang="en-US" b="0"/>
          </a:p>
          <a:p>
            <a:pPr marL="171450" indent="-171450">
              <a:buFont typeface="Arial" panose="020B0604020202020204" pitchFamily="34" charset="0"/>
              <a:buChar char="•"/>
            </a:pPr>
            <a:r>
              <a:rPr lang="vi-VN" b="0"/>
              <a:t>Bởi các loại dữ liệu tương thích, điều đó có nghĩa là có thể chuyển đổi nội dung của một trong các cột thành một cột khác</a:t>
            </a:r>
            <a:endParaRPr lang="en-US" b="0"/>
          </a:p>
          <a:p>
            <a:pPr marL="171450" indent="-171450">
              <a:buFont typeface="Arial" panose="020B0604020202020204" pitchFamily="34" charset="0"/>
              <a:buChar char="•"/>
            </a:pPr>
            <a:r>
              <a:rPr lang="en-US" b="0"/>
              <a:t>Cú pháp:</a:t>
            </a:r>
          </a:p>
          <a:p>
            <a:pPr lvl="2"/>
            <a:r>
              <a:rPr lang="en-US" sz="1200" b="0"/>
              <a:t>Query_Statement1</a:t>
            </a:r>
          </a:p>
          <a:p>
            <a:pPr lvl="2"/>
            <a:r>
              <a:rPr lang="en-US" sz="1200" b="1"/>
              <a:t>UNION [ALL]</a:t>
            </a:r>
          </a:p>
          <a:p>
            <a:pPr lvl="2"/>
            <a:r>
              <a:rPr lang="en-US" sz="1200" b="0"/>
              <a:t>Query_Statement2</a:t>
            </a:r>
          </a:p>
          <a:p>
            <a:pPr marL="171450" lvl="0" indent="-171450">
              <a:buFont typeface="Arial" panose="020B0604020202020204" pitchFamily="34" charset="0"/>
              <a:buChar char="•"/>
            </a:pPr>
            <a:r>
              <a:rPr lang="vi-VN" sz="1200" b="1"/>
              <a:t>Query_Statement1 </a:t>
            </a:r>
            <a:r>
              <a:rPr lang="vi-VN" sz="1200" b="0"/>
              <a:t>và </a:t>
            </a:r>
            <a:r>
              <a:rPr lang="vi-VN" sz="1200" b="1"/>
              <a:t>Query_Statement2 </a:t>
            </a:r>
            <a:r>
              <a:rPr lang="en-US" sz="1200" b="0"/>
              <a:t>là phát biểu </a:t>
            </a:r>
            <a:r>
              <a:rPr lang="en-US" sz="1200" b="1">
                <a:cs typeface="Courier New" pitchFamily="49" charset="0"/>
              </a:rPr>
              <a:t>SELECT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vi-VN"/>
              <a:t>Nếu bạn bao gồm mệnh đề</a:t>
            </a:r>
            <a:r>
              <a:rPr lang="en-US"/>
              <a:t> </a:t>
            </a:r>
            <a:r>
              <a:rPr lang="en-US" sz="1200" b="1">
                <a:cs typeface="Courier New" pitchFamily="49" charset="0"/>
              </a:rPr>
              <a:t>ALL</a:t>
            </a:r>
            <a:r>
              <a:rPr lang="vi-VN"/>
              <a:t>, tất cả các </a:t>
            </a:r>
            <a:r>
              <a:rPr lang="en-US"/>
              <a:t>dòng</a:t>
            </a:r>
            <a:r>
              <a:rPr lang="vi-VN"/>
              <a:t> được bao gồm trong kết quả bao gồm các </a:t>
            </a:r>
            <a:r>
              <a:rPr lang="en-US"/>
              <a:t>mẫu tin </a:t>
            </a:r>
            <a:r>
              <a:rPr lang="vi-VN"/>
              <a:t>trùng lặp.</a:t>
            </a:r>
            <a:endParaRPr lang="en-US"/>
          </a:p>
        </p:txBody>
      </p:sp>
      <p:sp>
        <p:nvSpPr>
          <p:cNvPr id="4" name="Slide Number Placeholder 3"/>
          <p:cNvSpPr>
            <a:spLocks noGrp="1"/>
          </p:cNvSpPr>
          <p:nvPr>
            <p:ph type="sldNum" sz="quarter" idx="5"/>
          </p:nvPr>
        </p:nvSpPr>
        <p:spPr/>
        <p:txBody>
          <a:bodyPr/>
          <a:lstStyle/>
          <a:p>
            <a:fld id="{E29869D5-CC05-46A1-8868-AA3255DE1B6D}" type="slidenum">
              <a:rPr lang="en-US" smtClean="0"/>
              <a:t>39</a:t>
            </a:fld>
            <a:endParaRPr lang="en-US"/>
          </a:p>
        </p:txBody>
      </p:sp>
    </p:spTree>
    <p:extLst>
      <p:ext uri="{BB962C8B-B14F-4D97-AF65-F5344CB8AC3E}">
        <p14:creationId xmlns:p14="http://schemas.microsoft.com/office/powerpoint/2010/main" val="330270774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1"/>
              <a:t>Toán tử UNION</a:t>
            </a:r>
          </a:p>
        </p:txBody>
      </p:sp>
      <p:sp>
        <p:nvSpPr>
          <p:cNvPr id="4" name="Slide Number Placeholder 3"/>
          <p:cNvSpPr>
            <a:spLocks noGrp="1"/>
          </p:cNvSpPr>
          <p:nvPr>
            <p:ph type="sldNum" sz="quarter" idx="5"/>
          </p:nvPr>
        </p:nvSpPr>
        <p:spPr/>
        <p:txBody>
          <a:bodyPr/>
          <a:lstStyle/>
          <a:p>
            <a:pPr>
              <a:defRPr/>
            </a:pPr>
            <a:fld id="{6AE1F710-3F4D-4CB2-B8EF-AD2B0CD37885}" type="slidenum">
              <a:rPr lang="en-US" smtClean="0"/>
              <a:pPr>
                <a:defRPr/>
              </a:pPr>
              <a:t>40</a:t>
            </a:fld>
            <a:endParaRPr lang="en-US" dirty="0"/>
          </a:p>
        </p:txBody>
      </p:sp>
    </p:spTree>
    <p:extLst>
      <p:ext uri="{BB962C8B-B14F-4D97-AF65-F5344CB8AC3E}">
        <p14:creationId xmlns:p14="http://schemas.microsoft.com/office/powerpoint/2010/main" val="184862832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1"/>
              <a:t>Toán tử UNION</a:t>
            </a:r>
          </a:p>
        </p:txBody>
      </p:sp>
      <p:sp>
        <p:nvSpPr>
          <p:cNvPr id="4" name="Slide Number Placeholder 3"/>
          <p:cNvSpPr>
            <a:spLocks noGrp="1"/>
          </p:cNvSpPr>
          <p:nvPr>
            <p:ph type="sldNum" sz="quarter" idx="5"/>
          </p:nvPr>
        </p:nvSpPr>
        <p:spPr/>
        <p:txBody>
          <a:bodyPr/>
          <a:lstStyle/>
          <a:p>
            <a:pPr>
              <a:defRPr/>
            </a:pPr>
            <a:fld id="{6AE1F710-3F4D-4CB2-B8EF-AD2B0CD37885}" type="slidenum">
              <a:rPr lang="en-US" smtClean="0"/>
              <a:pPr>
                <a:defRPr/>
              </a:pPr>
              <a:t>41</a:t>
            </a:fld>
            <a:endParaRPr lang="en-US" dirty="0"/>
          </a:p>
        </p:txBody>
      </p:sp>
    </p:spTree>
    <p:extLst>
      <p:ext uri="{BB962C8B-B14F-4D97-AF65-F5344CB8AC3E}">
        <p14:creationId xmlns:p14="http://schemas.microsoft.com/office/powerpoint/2010/main" val="177226653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Toán tử Giao</a:t>
            </a:r>
          </a:p>
          <a:p>
            <a:pPr marL="171450" indent="-171450">
              <a:buFont typeface="Arial" panose="020B0604020202020204" pitchFamily="34" charset="0"/>
              <a:buChar char="•"/>
            </a:pPr>
            <a:r>
              <a:rPr lang="en-US" b="0"/>
              <a:t>Đ</a:t>
            </a:r>
            <a:r>
              <a:rPr lang="vi-VN" b="0"/>
              <a:t>ược sử dụng với </a:t>
            </a:r>
            <a:r>
              <a:rPr lang="en-US" b="0"/>
              <a:t>2</a:t>
            </a:r>
            <a:r>
              <a:rPr lang="vi-VN" b="0"/>
              <a:t> câu lệnh truy vấn để trả về một tập hợp các hàng </a:t>
            </a:r>
            <a:r>
              <a:rPr lang="en-US" b="0"/>
              <a:t>riêng</a:t>
            </a:r>
            <a:r>
              <a:rPr lang="vi-VN" b="0"/>
              <a:t> biệt </a:t>
            </a:r>
            <a:r>
              <a:rPr lang="en-US" b="0"/>
              <a:t>chung </a:t>
            </a:r>
            <a:r>
              <a:rPr lang="vi-VN" b="0"/>
              <a:t>cho cả </a:t>
            </a:r>
            <a:r>
              <a:rPr lang="en-US" b="0"/>
              <a:t>2</a:t>
            </a:r>
            <a:r>
              <a:rPr lang="vi-VN" b="0"/>
              <a:t> câu lệnh truy vấn.</a:t>
            </a:r>
            <a:endParaRPr lang="en-US" b="0"/>
          </a:p>
          <a:p>
            <a:pPr marL="171450" indent="-171450">
              <a:buFont typeface="Arial" panose="020B0604020202020204" pitchFamily="34" charset="0"/>
              <a:buChar char="•"/>
            </a:pPr>
            <a:r>
              <a:rPr lang="vi-VN" b="0"/>
              <a:t>Các quy tắc cơ bản để sử dụng giao nhau như sau:</a:t>
            </a:r>
            <a:endParaRPr lang="en-US" b="0"/>
          </a:p>
          <a:p>
            <a:pPr marL="628650" lvl="1" indent="-171450">
              <a:buFont typeface="Arial" panose="020B0604020202020204" pitchFamily="34" charset="0"/>
              <a:buChar char="•"/>
            </a:pPr>
            <a:r>
              <a:rPr lang="vi-VN" b="0"/>
              <a:t>Số lượng cột và thứ tự mà chúng được cung cấp phải giống nhau trong cả hai truy vấn.</a:t>
            </a:r>
            <a:endParaRPr lang="en-US" b="0"/>
          </a:p>
          <a:p>
            <a:pPr marL="628650" lvl="1" indent="-171450">
              <a:buFont typeface="Arial" panose="020B0604020202020204" pitchFamily="34" charset="0"/>
              <a:buChar char="•"/>
            </a:pPr>
            <a:r>
              <a:rPr lang="vi-VN" b="0"/>
              <a:t>Các loại dữ liệu của các cột đang được sử dụng phải tương thích.</a:t>
            </a:r>
            <a:endParaRPr lang="en-US" b="0"/>
          </a:p>
          <a:p>
            <a:pPr marL="171450" lvl="0" indent="-171450">
              <a:buFont typeface="Arial" panose="020B0604020202020204" pitchFamily="34" charset="0"/>
              <a:buChar char="•"/>
            </a:pPr>
            <a:r>
              <a:rPr lang="en-US" b="0"/>
              <a:t>Cú pháp:</a:t>
            </a:r>
          </a:p>
          <a:p>
            <a:pPr lvl="2">
              <a:lnSpc>
                <a:spcPct val="100000"/>
              </a:lnSpc>
              <a:spcBef>
                <a:spcPts val="800"/>
              </a:spcBef>
            </a:pPr>
            <a:r>
              <a:rPr lang="en-US"/>
              <a:t>Query_statement1</a:t>
            </a:r>
          </a:p>
          <a:p>
            <a:pPr lvl="2">
              <a:lnSpc>
                <a:spcPct val="100000"/>
              </a:lnSpc>
              <a:spcBef>
                <a:spcPts val="800"/>
              </a:spcBef>
            </a:pPr>
            <a:r>
              <a:rPr lang="en-US" b="1"/>
              <a:t>INTERSECT</a:t>
            </a:r>
          </a:p>
          <a:p>
            <a:pPr lvl="2">
              <a:lnSpc>
                <a:spcPct val="100000"/>
              </a:lnSpc>
              <a:spcBef>
                <a:spcPts val="800"/>
              </a:spcBef>
            </a:pPr>
            <a:r>
              <a:rPr lang="en-US"/>
              <a:t>Query_statement2</a:t>
            </a:r>
            <a:endParaRPr lang="en-US" b="0"/>
          </a:p>
          <a:p>
            <a:endParaRPr lang="en-US"/>
          </a:p>
        </p:txBody>
      </p:sp>
      <p:sp>
        <p:nvSpPr>
          <p:cNvPr id="4" name="Slide Number Placeholder 3"/>
          <p:cNvSpPr>
            <a:spLocks noGrp="1"/>
          </p:cNvSpPr>
          <p:nvPr>
            <p:ph type="sldNum" sz="quarter" idx="5"/>
          </p:nvPr>
        </p:nvSpPr>
        <p:spPr/>
        <p:txBody>
          <a:bodyPr/>
          <a:lstStyle/>
          <a:p>
            <a:fld id="{E29869D5-CC05-46A1-8868-AA3255DE1B6D}" type="slidenum">
              <a:rPr lang="en-US" smtClean="0"/>
              <a:t>42</a:t>
            </a:fld>
            <a:endParaRPr lang="en-US"/>
          </a:p>
        </p:txBody>
      </p:sp>
    </p:spTree>
    <p:extLst>
      <p:ext uri="{BB962C8B-B14F-4D97-AF65-F5344CB8AC3E}">
        <p14:creationId xmlns:p14="http://schemas.microsoft.com/office/powerpoint/2010/main" val="25948578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Toán tử Giao</a:t>
            </a:r>
          </a:p>
          <a:p>
            <a:endParaRPr lang="en-US"/>
          </a:p>
        </p:txBody>
      </p:sp>
      <p:sp>
        <p:nvSpPr>
          <p:cNvPr id="4" name="Slide Number Placeholder 3"/>
          <p:cNvSpPr>
            <a:spLocks noGrp="1"/>
          </p:cNvSpPr>
          <p:nvPr>
            <p:ph type="sldNum" sz="quarter" idx="5"/>
          </p:nvPr>
        </p:nvSpPr>
        <p:spPr/>
        <p:txBody>
          <a:bodyPr/>
          <a:lstStyle/>
          <a:p>
            <a:fld id="{E29869D5-CC05-46A1-8868-AA3255DE1B6D}" type="slidenum">
              <a:rPr lang="en-US" smtClean="0"/>
              <a:t>43</a:t>
            </a:fld>
            <a:endParaRPr lang="en-US"/>
          </a:p>
        </p:txBody>
      </p:sp>
    </p:spTree>
    <p:extLst>
      <p:ext uri="{BB962C8B-B14F-4D97-AF65-F5344CB8AC3E}">
        <p14:creationId xmlns:p14="http://schemas.microsoft.com/office/powerpoint/2010/main" val="261098175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Toán tử EXCEPT</a:t>
            </a:r>
          </a:p>
          <a:p>
            <a:pPr marL="171450" indent="-171450">
              <a:buFont typeface="Arial" panose="020B0604020202020204" pitchFamily="34" charset="0"/>
              <a:buChar char="•"/>
            </a:pPr>
            <a:r>
              <a:rPr lang="vi-VN" b="0"/>
              <a:t>Trả về tất cả các hàng riêng biệt từ truy vấn được đưa ra ở bên trái của toán tử </a:t>
            </a:r>
            <a:r>
              <a:rPr lang="en-US" sz="1200">
                <a:latin typeface="Courier New" pitchFamily="49" charset="0"/>
                <a:cs typeface="Courier New" pitchFamily="49" charset="0"/>
              </a:rPr>
              <a:t>EXCEPT </a:t>
            </a:r>
            <a:r>
              <a:rPr lang="vi-VN" b="0"/>
              <a:t>và loại bỏ tất cả các hàng khỏi kết quả khớp với các hàng ở bên phải của toán tử </a:t>
            </a:r>
            <a:r>
              <a:rPr lang="en-US" sz="1200">
                <a:latin typeface="Courier New" pitchFamily="49" charset="0"/>
                <a:cs typeface="Courier New" pitchFamily="49" charset="0"/>
              </a:rPr>
              <a:t>EXCEPT</a:t>
            </a:r>
            <a:r>
              <a:rPr lang="vi-VN" b="0"/>
              <a:t>.</a:t>
            </a:r>
            <a:endParaRPr lang="en-US" b="0"/>
          </a:p>
          <a:p>
            <a:pPr marL="171450" indent="-171450">
              <a:buFont typeface="Arial" panose="020B0604020202020204" pitchFamily="34" charset="0"/>
              <a:buChar char="•"/>
            </a:pPr>
            <a:r>
              <a:rPr lang="en-US" b="0"/>
              <a:t>Cú pháp:</a:t>
            </a:r>
          </a:p>
          <a:p>
            <a:pPr lvl="2">
              <a:lnSpc>
                <a:spcPct val="100000"/>
              </a:lnSpc>
              <a:spcBef>
                <a:spcPts val="800"/>
              </a:spcBef>
            </a:pPr>
            <a:r>
              <a:rPr lang="en-US"/>
              <a:t>Query_statement1</a:t>
            </a:r>
          </a:p>
          <a:p>
            <a:pPr lvl="2">
              <a:lnSpc>
                <a:spcPct val="100000"/>
              </a:lnSpc>
              <a:spcBef>
                <a:spcPts val="800"/>
              </a:spcBef>
            </a:pPr>
            <a:r>
              <a:rPr lang="en-US" b="1"/>
              <a:t>EXCEPT</a:t>
            </a:r>
          </a:p>
          <a:p>
            <a:pPr lvl="2">
              <a:lnSpc>
                <a:spcPct val="100000"/>
              </a:lnSpc>
              <a:spcBef>
                <a:spcPts val="800"/>
              </a:spcBef>
            </a:pPr>
            <a:r>
              <a:rPr lang="en-US"/>
              <a:t>Query_statement2</a:t>
            </a:r>
          </a:p>
          <a:p>
            <a:pPr marL="171450" lvl="0" indent="-171450">
              <a:lnSpc>
                <a:spcPct val="100000"/>
              </a:lnSpc>
              <a:spcBef>
                <a:spcPts val="800"/>
              </a:spcBef>
              <a:buFont typeface="Arial" panose="020B0604020202020204" pitchFamily="34" charset="0"/>
              <a:buChar char="•"/>
            </a:pPr>
            <a:r>
              <a:rPr lang="en-US"/>
              <a:t>2</a:t>
            </a:r>
            <a:r>
              <a:rPr lang="vi-VN"/>
              <a:t> quy tắc áp dụng cho người </a:t>
            </a:r>
            <a:r>
              <a:rPr lang="en-US"/>
              <a:t>toán tử </a:t>
            </a:r>
            <a:r>
              <a:rPr lang="en-US" sz="1200">
                <a:cs typeface="Courier New" pitchFamily="49" charset="0"/>
              </a:rPr>
              <a:t>INTERSECT </a:t>
            </a:r>
            <a:r>
              <a:rPr lang="vi-VN"/>
              <a:t>cũng được áp dụng cho </a:t>
            </a:r>
            <a:r>
              <a:rPr lang="en-US"/>
              <a:t>toán tử </a:t>
            </a:r>
            <a:r>
              <a:rPr lang="en-US" sz="1200">
                <a:cs typeface="Courier New" pitchFamily="49" charset="0"/>
              </a:rPr>
              <a:t>EXCEPT</a:t>
            </a:r>
            <a:r>
              <a:rPr lang="vi-VN"/>
              <a:t>.</a:t>
            </a:r>
            <a:endParaRPr lang="en-US"/>
          </a:p>
          <a:p>
            <a:pPr marL="171450" lvl="0" indent="-171450">
              <a:lnSpc>
                <a:spcPct val="100000"/>
              </a:lnSpc>
              <a:spcBef>
                <a:spcPts val="800"/>
              </a:spcBef>
              <a:buFont typeface="Arial" panose="020B0604020202020204" pitchFamily="34" charset="0"/>
              <a:buChar char="•"/>
            </a:pPr>
            <a:r>
              <a:rPr lang="en-US"/>
              <a:t>Ví dụ:</a:t>
            </a:r>
          </a:p>
          <a:p>
            <a:pPr lvl="2">
              <a:lnSpc>
                <a:spcPct val="100000"/>
              </a:lnSpc>
              <a:spcBef>
                <a:spcPts val="800"/>
              </a:spcBef>
            </a:pPr>
            <a:r>
              <a:rPr lang="en-US"/>
              <a:t>SELECT ProductId FROM Product</a:t>
            </a:r>
          </a:p>
          <a:p>
            <a:pPr lvl="2">
              <a:lnSpc>
                <a:spcPct val="100000"/>
              </a:lnSpc>
              <a:spcBef>
                <a:spcPts val="800"/>
              </a:spcBef>
            </a:pPr>
            <a:r>
              <a:rPr lang="en-US" b="1"/>
              <a:t>EXCEPT</a:t>
            </a:r>
          </a:p>
          <a:p>
            <a:pPr lvl="2">
              <a:lnSpc>
                <a:spcPct val="100000"/>
              </a:lnSpc>
              <a:spcBef>
                <a:spcPts val="800"/>
              </a:spcBef>
            </a:pPr>
            <a:r>
              <a:rPr lang="en-US"/>
              <a:t>SELECT ProductId FROM SalesOrderDetail</a:t>
            </a:r>
          </a:p>
        </p:txBody>
      </p:sp>
      <p:sp>
        <p:nvSpPr>
          <p:cNvPr id="4" name="Slide Number Placeholder 3"/>
          <p:cNvSpPr>
            <a:spLocks noGrp="1"/>
          </p:cNvSpPr>
          <p:nvPr>
            <p:ph type="sldNum" sz="quarter" idx="5"/>
          </p:nvPr>
        </p:nvSpPr>
        <p:spPr/>
        <p:txBody>
          <a:bodyPr/>
          <a:lstStyle/>
          <a:p>
            <a:fld id="{E29869D5-CC05-46A1-8868-AA3255DE1B6D}" type="slidenum">
              <a:rPr lang="en-US" smtClean="0"/>
              <a:t>44</a:t>
            </a:fld>
            <a:endParaRPr lang="en-US"/>
          </a:p>
        </p:txBody>
      </p:sp>
    </p:spTree>
    <p:extLst>
      <p:ext uri="{BB962C8B-B14F-4D97-AF65-F5344CB8AC3E}">
        <p14:creationId xmlns:p14="http://schemas.microsoft.com/office/powerpoint/2010/main" val="399402043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Toán tử EXCEPT</a:t>
            </a:r>
          </a:p>
        </p:txBody>
      </p:sp>
      <p:sp>
        <p:nvSpPr>
          <p:cNvPr id="4" name="Slide Number Placeholder 3"/>
          <p:cNvSpPr>
            <a:spLocks noGrp="1"/>
          </p:cNvSpPr>
          <p:nvPr>
            <p:ph type="sldNum" sz="quarter" idx="5"/>
          </p:nvPr>
        </p:nvSpPr>
        <p:spPr/>
        <p:txBody>
          <a:bodyPr/>
          <a:lstStyle/>
          <a:p>
            <a:fld id="{E29869D5-CC05-46A1-8868-AA3255DE1B6D}" type="slidenum">
              <a:rPr lang="en-US" smtClean="0"/>
              <a:t>45</a:t>
            </a:fld>
            <a:endParaRPr lang="en-US"/>
          </a:p>
        </p:txBody>
      </p:sp>
    </p:spTree>
    <p:extLst>
      <p:ext uri="{BB962C8B-B14F-4D97-AF65-F5344CB8AC3E}">
        <p14:creationId xmlns:p14="http://schemas.microsoft.com/office/powerpoint/2010/main" val="291407680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Các toán tử xoay và nhóm tập hợp</a:t>
            </a:r>
          </a:p>
          <a:p>
            <a:pPr marL="171450" indent="-171450">
              <a:buFont typeface="Arial" panose="020B0604020202020204" pitchFamily="34" charset="0"/>
              <a:buChar char="•"/>
            </a:pPr>
            <a:r>
              <a:rPr lang="vi-VN" b="0"/>
              <a:t>Quá trình chuyển đổi dữ liệu từ hướng dựa trên hàng sang định hướng dựa trên cột được gọi là xoay.</a:t>
            </a:r>
            <a:endParaRPr lang="en-US" b="0"/>
          </a:p>
          <a:p>
            <a:pPr marL="171450" indent="-171450">
              <a:buFont typeface="Arial" panose="020B0604020202020204" pitchFamily="34" charset="0"/>
              <a:buChar char="•"/>
            </a:pPr>
            <a:r>
              <a:rPr lang="vi-VN" b="0"/>
              <a:t>Các </a:t>
            </a:r>
            <a:r>
              <a:rPr lang="en-US" b="0"/>
              <a:t>toán tử </a:t>
            </a:r>
            <a:r>
              <a:rPr lang="vi-VN" b="0"/>
              <a:t>PIVOT và UNPIVOT của SQL Server giúp thay đổi hướng dữ liệu từ định hướng cột sang định hướng hàng và ngược lại.</a:t>
            </a:r>
            <a:endParaRPr lang="en-US" b="0"/>
          </a:p>
        </p:txBody>
      </p:sp>
      <p:sp>
        <p:nvSpPr>
          <p:cNvPr id="4" name="Slide Number Placeholder 3"/>
          <p:cNvSpPr>
            <a:spLocks noGrp="1"/>
          </p:cNvSpPr>
          <p:nvPr>
            <p:ph type="sldNum" sz="quarter" idx="5"/>
          </p:nvPr>
        </p:nvSpPr>
        <p:spPr/>
        <p:txBody>
          <a:bodyPr/>
          <a:lstStyle/>
          <a:p>
            <a:fld id="{E29869D5-CC05-46A1-8868-AA3255DE1B6D}" type="slidenum">
              <a:rPr lang="en-US" smtClean="0"/>
              <a:t>46</a:t>
            </a:fld>
            <a:endParaRPr lang="en-US"/>
          </a:p>
        </p:txBody>
      </p:sp>
    </p:spTree>
    <p:extLst>
      <p:ext uri="{BB962C8B-B14F-4D97-AF65-F5344CB8AC3E}">
        <p14:creationId xmlns:p14="http://schemas.microsoft.com/office/powerpoint/2010/main" val="385311562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1"/>
              <a:t>Toán tử PIVOT</a:t>
            </a:r>
          </a:p>
          <a:p>
            <a:pPr marL="171450" indent="-171450">
              <a:buFont typeface="Arial" panose="020B0604020202020204" pitchFamily="34" charset="0"/>
              <a:buChar char="•"/>
            </a:pPr>
            <a:r>
              <a:rPr lang="vi-VN"/>
              <a:t>Trong các điều khoản đơn giản hơn, để sử dụng toán tử </a:t>
            </a:r>
            <a:r>
              <a:rPr lang="en-US" sz="1200">
                <a:cs typeface="Courier New" pitchFamily="49" charset="0"/>
              </a:rPr>
              <a:t>PIVOT (toán tử </a:t>
            </a:r>
            <a:r>
              <a:rPr lang="vi-VN"/>
              <a:t>xoay</a:t>
            </a:r>
            <a:r>
              <a:rPr lang="en-US"/>
              <a:t>)</a:t>
            </a:r>
            <a:r>
              <a:rPr lang="vi-VN"/>
              <a:t>, bạn cần cung cấp </a:t>
            </a:r>
            <a:r>
              <a:rPr lang="en-US"/>
              <a:t>3</a:t>
            </a:r>
            <a:r>
              <a:rPr lang="vi-VN"/>
              <a:t> yếu tố cho </a:t>
            </a:r>
            <a:r>
              <a:rPr lang="en-US"/>
              <a:t>toán tử</a:t>
            </a:r>
            <a:r>
              <a:rPr lang="vi-VN"/>
              <a:t>:</a:t>
            </a:r>
            <a:endParaRPr lang="en-US"/>
          </a:p>
          <a:p>
            <a:pPr marL="628650" lvl="1" indent="-171450">
              <a:buFont typeface="Arial" panose="020B0604020202020204" pitchFamily="34" charset="0"/>
              <a:buChar char="•"/>
            </a:pPr>
            <a:r>
              <a:rPr lang="en-US" b="1"/>
              <a:t>Nhóm</a:t>
            </a:r>
          </a:p>
          <a:p>
            <a:pPr marL="1085850" marR="0" lvl="2"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vi-VN"/>
              <a:t>Trong mệnh đề </a:t>
            </a:r>
            <a:r>
              <a:rPr lang="en-US" sz="1200">
                <a:latin typeface="Courier New" pitchFamily="49" charset="0"/>
                <a:cs typeface="Courier New" pitchFamily="49" charset="0"/>
              </a:rPr>
              <a:t>FROM</a:t>
            </a:r>
            <a:r>
              <a:rPr lang="vi-VN"/>
              <a:t>, các cột đầu vào phải được cung cấp.</a:t>
            </a:r>
            <a:r>
              <a:rPr lang="en-US"/>
              <a:t> Toán tử </a:t>
            </a:r>
            <a:r>
              <a:rPr lang="en-US" sz="1200">
                <a:latin typeface="Courier New" pitchFamily="49" charset="0"/>
                <a:cs typeface="Courier New" pitchFamily="49" charset="0"/>
              </a:rPr>
              <a:t>PIVOT</a:t>
            </a:r>
            <a:r>
              <a:rPr lang="en-US"/>
              <a:t> sử dụng các cột đó để xác định (các) cột nào sẽ sử dụng để nhóm dữ liệu cho tập hợp</a:t>
            </a:r>
          </a:p>
          <a:p>
            <a:pPr marL="6286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b="1"/>
              <a:t>Mở </a:t>
            </a:r>
            <a:r>
              <a:rPr lang="vi-VN" b="1"/>
              <a:t>ra</a:t>
            </a:r>
            <a:endParaRPr lang="en-US" b="1"/>
          </a:p>
          <a:p>
            <a:pPr marL="1085850" marR="0" lvl="2"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vi-VN" b="0"/>
              <a:t>Ở đây, một danh sách các giá trị được phân tách bằng dấu phẩy xảy ra trong dữ liệu nguồn được cung cấp sẽ được sử dụng </a:t>
            </a:r>
            <a:r>
              <a:rPr lang="en-US" b="0"/>
              <a:t>để </a:t>
            </a:r>
            <a:r>
              <a:rPr lang="vi-VN" b="0"/>
              <a:t>làm tiêu đề cột cho dữ liệu được xoay.</a:t>
            </a:r>
            <a:endParaRPr lang="en-US" b="0"/>
          </a:p>
          <a:p>
            <a:pPr marL="6286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b="1"/>
              <a:t>Tổng hợp</a:t>
            </a:r>
          </a:p>
          <a:p>
            <a:pPr marL="1085850" marR="0" lvl="2"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vi-VN" b="0"/>
              <a:t>Một hàm tổng hợp, chẳng hạn như </a:t>
            </a:r>
            <a:r>
              <a:rPr lang="en-US" sz="1200">
                <a:latin typeface="Courier New" pitchFamily="49" charset="0"/>
                <a:cs typeface="Courier New" pitchFamily="49" charset="0"/>
              </a:rPr>
              <a:t>SUM</a:t>
            </a:r>
            <a:r>
              <a:rPr lang="en-US" sz="1200" b="0">
                <a:latin typeface="Courier New" pitchFamily="49" charset="0"/>
                <a:cs typeface="Courier New" pitchFamily="49" charset="0"/>
              </a:rPr>
              <a:t> (Tính </a:t>
            </a:r>
            <a:r>
              <a:rPr lang="vi-VN" b="0"/>
              <a:t>tổng</a:t>
            </a:r>
            <a:r>
              <a:rPr lang="en-US" b="0"/>
              <a:t>)</a:t>
            </a:r>
            <a:r>
              <a:rPr lang="vi-VN" b="0"/>
              <a:t>, được thực hiện trên các hàng được nhóm.</a:t>
            </a:r>
            <a:endParaRPr lang="en-US" b="0"/>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vi-VN" b="0"/>
              <a:t>Đoạn mã sau được hiển thị mà không có </a:t>
            </a:r>
            <a:r>
              <a:rPr lang="en-US" b="0"/>
              <a:t>toán tử </a:t>
            </a:r>
            <a:r>
              <a:rPr lang="en-US" sz="1200">
                <a:cs typeface="Courier New" pitchFamily="49" charset="0"/>
              </a:rPr>
              <a:t>PIVOT</a:t>
            </a:r>
            <a:r>
              <a:rPr lang="vi-VN" b="0"/>
              <a:t> và thể hiện một tập hợp</a:t>
            </a:r>
            <a:r>
              <a:rPr lang="en-US" b="0"/>
              <a:t> </a:t>
            </a:r>
            <a:r>
              <a:rPr lang="vi-VN" b="0"/>
              <a:t>đơn giản</a:t>
            </a:r>
            <a:r>
              <a:rPr lang="en-US" b="0"/>
              <a:t> </a:t>
            </a:r>
            <a:r>
              <a:rPr lang="en-US" sz="1200" b="1">
                <a:cs typeface="Courier New" pitchFamily="49" charset="0"/>
              </a:rPr>
              <a:t>GROUP BY</a:t>
            </a:r>
          </a:p>
        </p:txBody>
      </p:sp>
      <p:sp>
        <p:nvSpPr>
          <p:cNvPr id="4" name="Slide Number Placeholder 3"/>
          <p:cNvSpPr>
            <a:spLocks noGrp="1"/>
          </p:cNvSpPr>
          <p:nvPr>
            <p:ph type="sldNum" sz="quarter" idx="5"/>
          </p:nvPr>
        </p:nvSpPr>
        <p:spPr/>
        <p:txBody>
          <a:bodyPr/>
          <a:lstStyle/>
          <a:p>
            <a:fld id="{E29869D5-CC05-46A1-8868-AA3255DE1B6D}" type="slidenum">
              <a:rPr lang="en-US" smtClean="0"/>
              <a:t>47</a:t>
            </a:fld>
            <a:endParaRPr lang="en-US"/>
          </a:p>
        </p:txBody>
      </p:sp>
    </p:spTree>
    <p:extLst>
      <p:ext uri="{BB962C8B-B14F-4D97-AF65-F5344CB8AC3E}">
        <p14:creationId xmlns:p14="http://schemas.microsoft.com/office/powerpoint/2010/main" val="2324299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1"/>
              <a:t>Toán tử PIVOT</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b="0"/>
              <a:t>H</a:t>
            </a:r>
            <a:r>
              <a:rPr lang="vi-VN" b="0"/>
              <a:t>iển thị</a:t>
            </a:r>
            <a:r>
              <a:rPr lang="en-US" b="0"/>
              <a:t> Top b</a:t>
            </a:r>
            <a:r>
              <a:rPr lang="vi-VN" b="0"/>
              <a:t>án hàng 5 năm cho đến nay cùng với tên lãnh thổ được nhóm theo tên lãnh thổ</a:t>
            </a:r>
            <a:endParaRPr lang="en-US" b="0"/>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vi-VN" b="0"/>
              <a:t>Cùng một truy vấn được viết lại trong đoạn mã sau bằng cách sử dụng </a:t>
            </a:r>
            <a:r>
              <a:rPr lang="en-US" b="0"/>
              <a:t>một </a:t>
            </a:r>
            <a:r>
              <a:rPr lang="en-US" sz="1200">
                <a:cs typeface="Courier New" pitchFamily="49" charset="0"/>
              </a:rPr>
              <a:t>PIVOT</a:t>
            </a:r>
            <a:r>
              <a:rPr lang="vi-VN" b="0"/>
              <a:t> để dữ liệu được chuyển đổi từ hướng dựa trên hàng sang hướng dựa trên cột</a:t>
            </a:r>
            <a:endParaRPr lang="en-US" b="0"/>
          </a:p>
        </p:txBody>
      </p:sp>
      <p:sp>
        <p:nvSpPr>
          <p:cNvPr id="4" name="Slide Number Placeholder 3"/>
          <p:cNvSpPr>
            <a:spLocks noGrp="1"/>
          </p:cNvSpPr>
          <p:nvPr>
            <p:ph type="sldNum" sz="quarter" idx="5"/>
          </p:nvPr>
        </p:nvSpPr>
        <p:spPr/>
        <p:txBody>
          <a:bodyPr/>
          <a:lstStyle/>
          <a:p>
            <a:pPr>
              <a:defRPr/>
            </a:pPr>
            <a:fld id="{6AE1F710-3F4D-4CB2-B8EF-AD2B0CD37885}" type="slidenum">
              <a:rPr lang="en-US" smtClean="0"/>
              <a:pPr>
                <a:defRPr/>
              </a:pPr>
              <a:t>48</a:t>
            </a:fld>
            <a:endParaRPr lang="en-US" dirty="0"/>
          </a:p>
        </p:txBody>
      </p:sp>
    </p:spTree>
    <p:extLst>
      <p:ext uri="{BB962C8B-B14F-4D97-AF65-F5344CB8AC3E}">
        <p14:creationId xmlns:p14="http://schemas.microsoft.com/office/powerpoint/2010/main" val="364929341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Toán tử UNPIVOT</a:t>
            </a:r>
          </a:p>
          <a:p>
            <a:pPr marL="171450" indent="-171450">
              <a:buFont typeface="Arial" panose="020B0604020202020204" pitchFamily="34" charset="0"/>
              <a:buChar char="•"/>
            </a:pPr>
            <a:r>
              <a:rPr lang="en-US" sz="1200">
                <a:cs typeface="Courier New" pitchFamily="49" charset="0"/>
              </a:rPr>
              <a:t>UNPIVOT</a:t>
            </a:r>
            <a:r>
              <a:rPr lang="vi-VN" b="0"/>
              <a:t> thực hiện hầu hết các hoạt động ngược của </a:t>
            </a:r>
            <a:r>
              <a:rPr lang="en-US" sz="1200">
                <a:cs typeface="Courier New" pitchFamily="49" charset="0"/>
              </a:rPr>
              <a:t>PIVOT</a:t>
            </a:r>
            <a:r>
              <a:rPr lang="vi-VN" b="0"/>
              <a:t>, bằng cách </a:t>
            </a:r>
            <a:r>
              <a:rPr lang="vi-VN" b="0" i="1"/>
              <a:t>xoay các cột thành các hàng</a:t>
            </a:r>
            <a:r>
              <a:rPr lang="vi-VN" b="0"/>
              <a:t>.</a:t>
            </a:r>
            <a:endParaRPr lang="en-US" b="0"/>
          </a:p>
          <a:p>
            <a:pPr marL="171450" indent="-171450">
              <a:buFont typeface="Arial" panose="020B0604020202020204" pitchFamily="34" charset="0"/>
              <a:buChar char="•"/>
            </a:pPr>
            <a:r>
              <a:rPr lang="vi-VN" b="0"/>
              <a:t>Để sử dụng toán tử </a:t>
            </a:r>
            <a:r>
              <a:rPr lang="en-US" sz="1200">
                <a:cs typeface="Courier New" pitchFamily="49" charset="0"/>
              </a:rPr>
              <a:t>UNPIVOT</a:t>
            </a:r>
            <a:r>
              <a:rPr lang="vi-VN" b="0"/>
              <a:t>, bạn cần cung cấp ba yếu tố như sau</a:t>
            </a:r>
            <a:r>
              <a:rPr lang="en-US" b="0"/>
              <a:t>:</a:t>
            </a:r>
          </a:p>
          <a:p>
            <a:pPr marL="6286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vi-VN" b="0"/>
              <a:t>Các cột nguồn sẽ được </a:t>
            </a:r>
            <a:r>
              <a:rPr lang="en-US" sz="1200" b="0">
                <a:latin typeface="Calibri" pitchFamily="34" charset="0"/>
                <a:cs typeface="Calibri" pitchFamily="34" charset="0"/>
              </a:rPr>
              <a:t>unpivoted</a:t>
            </a:r>
            <a:endParaRPr lang="en-US" b="0"/>
          </a:p>
          <a:p>
            <a:pPr marL="6286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b="0"/>
              <a:t>Tên cho cột mới sẽ hiển thị các giá trị </a:t>
            </a:r>
            <a:r>
              <a:rPr lang="en-US" sz="1200" b="0">
                <a:latin typeface="Calibri" pitchFamily="34" charset="0"/>
                <a:cs typeface="Calibri" pitchFamily="34" charset="0"/>
              </a:rPr>
              <a:t>unpivoted</a:t>
            </a:r>
            <a:endParaRPr lang="en-US" b="0"/>
          </a:p>
          <a:p>
            <a:pPr marL="628650" lvl="1" indent="-171450">
              <a:buFont typeface="Arial" panose="020B0604020202020204" pitchFamily="34" charset="0"/>
              <a:buChar char="•"/>
            </a:pPr>
            <a:r>
              <a:rPr lang="vi-VN" b="0"/>
              <a:t>Tên cho cột sẽ hiển thị tên của các giá trị </a:t>
            </a:r>
            <a:r>
              <a:rPr lang="en-US" sz="1200" b="0">
                <a:latin typeface="Calibri" pitchFamily="34" charset="0"/>
                <a:cs typeface="Calibri" pitchFamily="34" charset="0"/>
              </a:rPr>
              <a:t>unpivoted</a:t>
            </a:r>
            <a:endParaRPr lang="en-US" b="0"/>
          </a:p>
        </p:txBody>
      </p:sp>
      <p:sp>
        <p:nvSpPr>
          <p:cNvPr id="4" name="Slide Number Placeholder 3"/>
          <p:cNvSpPr>
            <a:spLocks noGrp="1"/>
          </p:cNvSpPr>
          <p:nvPr>
            <p:ph type="sldNum" sz="quarter" idx="5"/>
          </p:nvPr>
        </p:nvSpPr>
        <p:spPr/>
        <p:txBody>
          <a:bodyPr/>
          <a:lstStyle/>
          <a:p>
            <a:fld id="{E29869D5-CC05-46A1-8868-AA3255DE1B6D}" type="slidenum">
              <a:rPr lang="en-US" smtClean="0"/>
              <a:t>49</a:t>
            </a:fld>
            <a:endParaRPr lang="en-US"/>
          </a:p>
        </p:txBody>
      </p:sp>
    </p:spTree>
    <p:extLst>
      <p:ext uri="{BB962C8B-B14F-4D97-AF65-F5344CB8AC3E}">
        <p14:creationId xmlns:p14="http://schemas.microsoft.com/office/powerpoint/2010/main" val="364631163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a:t>Tóm lược</a:t>
            </a:r>
            <a:endParaRPr lang="en-US" b="1"/>
          </a:p>
          <a:p>
            <a:pPr marL="171450" indent="-171450">
              <a:buFont typeface="Arial" panose="020B0604020202020204" pitchFamily="34" charset="0"/>
              <a:buChar char="•"/>
            </a:pPr>
            <a:r>
              <a:rPr lang="vi-VN" b="0"/>
              <a:t>Các hàm theo mệnh đề và </a:t>
            </a:r>
            <a:r>
              <a:rPr lang="en-US" sz="1200">
                <a:latin typeface="Calibri" pitchFamily="34" charset="0"/>
                <a:cs typeface="Calibri" pitchFamily="34" charset="0"/>
              </a:rPr>
              <a:t>GROUP BY (</a:t>
            </a:r>
            <a:r>
              <a:rPr lang="vi-VN" b="0"/>
              <a:t>tổng hợp nhóm</a:t>
            </a:r>
            <a:r>
              <a:rPr lang="en-US" b="0"/>
              <a:t>)</a:t>
            </a:r>
            <a:r>
              <a:rPr lang="vi-VN" b="0"/>
              <a:t> được kích hoạt vào dữ liệu nhóm và / hoặc tổng hợp với nhau để trình bày thông tin tóm tắt.</a:t>
            </a:r>
            <a:endParaRPr lang="en-US" b="0"/>
          </a:p>
          <a:p>
            <a:pPr marL="171450" indent="-171450">
              <a:buFont typeface="Arial" panose="020B0604020202020204" pitchFamily="34" charset="0"/>
              <a:buChar char="•"/>
            </a:pPr>
            <a:r>
              <a:rPr lang="vi-VN" b="0"/>
              <a:t>Các chức năng tổng hợp mới được giới thiệu trong SQL Server 2012</a:t>
            </a:r>
            <a:r>
              <a:rPr lang="en-US" b="0"/>
              <a:t> </a:t>
            </a:r>
            <a:r>
              <a:rPr lang="vi-VN" b="0"/>
              <a:t>và được hỗ trợ trong SQL Server 2019 là tốt</a:t>
            </a:r>
            <a:endParaRPr lang="en-US" b="0"/>
          </a:p>
          <a:p>
            <a:pPr marL="171450" indent="-171450">
              <a:buFont typeface="Arial" panose="020B0604020202020204" pitchFamily="34" charset="0"/>
              <a:buChar char="•"/>
            </a:pPr>
            <a:r>
              <a:rPr lang="en-US" b="0"/>
              <a:t>Truy vấn con</a:t>
            </a:r>
            <a:r>
              <a:rPr lang="vi-VN" b="0"/>
              <a:t> cho phép kết quả của một câu lệnh </a:t>
            </a:r>
            <a:r>
              <a:rPr lang="en-US" sz="1200">
                <a:latin typeface="Calibri" pitchFamily="34" charset="0"/>
                <a:cs typeface="Calibri" pitchFamily="34" charset="0"/>
              </a:rPr>
              <a:t>SELECT</a:t>
            </a:r>
            <a:r>
              <a:rPr lang="vi-VN" b="0"/>
              <a:t> được sử dụng làm tiêu chí cho một câu lệnh </a:t>
            </a:r>
            <a:r>
              <a:rPr lang="en-US" sz="1200">
                <a:latin typeface="Calibri" pitchFamily="34" charset="0"/>
                <a:cs typeface="Calibri" pitchFamily="34" charset="0"/>
              </a:rPr>
              <a:t>SELECT</a:t>
            </a:r>
            <a:r>
              <a:rPr lang="vi-VN" b="0"/>
              <a:t> khác.</a:t>
            </a:r>
            <a:endParaRPr lang="en-US" b="0"/>
          </a:p>
          <a:p>
            <a:pPr marL="171450" indent="-171450">
              <a:buFont typeface="Arial" panose="020B0604020202020204" pitchFamily="34" charset="0"/>
              <a:buChar char="•"/>
            </a:pPr>
            <a:r>
              <a:rPr lang="en-US" sz="1200">
                <a:latin typeface="Calibri" pitchFamily="34" charset="0"/>
                <a:cs typeface="Calibri" pitchFamily="34" charset="0"/>
              </a:rPr>
              <a:t>Joins </a:t>
            </a:r>
            <a:r>
              <a:rPr lang="en-US" b="0"/>
              <a:t>giúp bạn kết hợp dữ liệu cột từ hai hoặc nhiều bảng dựa trên mối quan hệ logic giữa các bảng.</a:t>
            </a:r>
          </a:p>
          <a:p>
            <a:pPr marL="171450" indent="-171450">
              <a:buFont typeface="Arial" panose="020B0604020202020204" pitchFamily="34" charset="0"/>
              <a:buChar char="•"/>
            </a:pPr>
            <a:r>
              <a:rPr lang="en-US" b="0"/>
              <a:t>Tập hợp</a:t>
            </a:r>
            <a:r>
              <a:rPr lang="vi-VN" b="0"/>
              <a:t> các toán tử như </a:t>
            </a:r>
            <a:r>
              <a:rPr lang="en-US" sz="1200">
                <a:latin typeface="Calibri" pitchFamily="34" charset="0"/>
                <a:cs typeface="Calibri" pitchFamily="34" charset="0"/>
              </a:rPr>
              <a:t>UNION</a:t>
            </a:r>
            <a:r>
              <a:rPr lang="vi-VN" b="0"/>
              <a:t> và </a:t>
            </a:r>
            <a:r>
              <a:rPr lang="en-US" sz="1200">
                <a:latin typeface="Calibri" pitchFamily="34" charset="0"/>
                <a:cs typeface="Calibri" pitchFamily="34" charset="0"/>
              </a:rPr>
              <a:t>INTERSECT</a:t>
            </a:r>
            <a:r>
              <a:rPr lang="vi-VN" b="0"/>
              <a:t> giúp bạn kết hợp dữ liệu hàng từ hai hoặc nhiều bảng.</a:t>
            </a:r>
            <a:endParaRPr lang="en-US" b="0"/>
          </a:p>
          <a:p>
            <a:pPr marL="171450" indent="-171450">
              <a:buFont typeface="Arial" panose="020B0604020202020204" pitchFamily="34" charset="0"/>
              <a:buChar char="•"/>
            </a:pPr>
            <a:r>
              <a:rPr lang="en-US" b="0"/>
              <a:t>Toán tử </a:t>
            </a:r>
            <a:r>
              <a:rPr lang="en-US" sz="1200">
                <a:latin typeface="Calibri" pitchFamily="34" charset="0"/>
                <a:cs typeface="Calibri" pitchFamily="34" charset="0"/>
              </a:rPr>
              <a:t>PIVOT</a:t>
            </a:r>
            <a:r>
              <a:rPr lang="vi-VN" b="0"/>
              <a:t> và </a:t>
            </a:r>
            <a:r>
              <a:rPr lang="en-US" sz="1200">
                <a:latin typeface="Calibri" pitchFamily="34" charset="0"/>
                <a:cs typeface="Calibri" pitchFamily="34" charset="0"/>
              </a:rPr>
              <a:t>UNPIVOT</a:t>
            </a:r>
            <a:r>
              <a:rPr lang="vi-VN" b="0"/>
              <a:t> giúp thay đổi hướng dữ liệu từ định hướng cột sang định hướng hàng và ngược lại.</a:t>
            </a:r>
            <a:endParaRPr lang="en-US" b="0"/>
          </a:p>
        </p:txBody>
      </p:sp>
      <p:sp>
        <p:nvSpPr>
          <p:cNvPr id="4" name="Slide Number Placeholder 3"/>
          <p:cNvSpPr>
            <a:spLocks noGrp="1"/>
          </p:cNvSpPr>
          <p:nvPr>
            <p:ph type="sldNum" sz="quarter" idx="5"/>
          </p:nvPr>
        </p:nvSpPr>
        <p:spPr/>
        <p:txBody>
          <a:bodyPr/>
          <a:lstStyle/>
          <a:p>
            <a:fld id="{E29869D5-CC05-46A1-8868-AA3255DE1B6D}" type="slidenum">
              <a:rPr lang="en-US" smtClean="0"/>
              <a:t>50</a:t>
            </a:fld>
            <a:endParaRPr lang="en-US"/>
          </a:p>
        </p:txBody>
      </p:sp>
    </p:spTree>
    <p:extLst>
      <p:ext uri="{BB962C8B-B14F-4D97-AF65-F5344CB8AC3E}">
        <p14:creationId xmlns:p14="http://schemas.microsoft.com/office/powerpoint/2010/main" val="6260082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200" b="0" i="1">
                <a:solidFill>
                  <a:schemeClr val="tx1"/>
                </a:solidFill>
                <a:latin typeface="Palatino Linotype"/>
                <a:cs typeface="Palatino Linotype"/>
              </a:defRPr>
            </a:lvl1p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10/18/2021</a:t>
            </a:fld>
            <a:endParaRPr lang="en-US"/>
          </a:p>
        </p:txBody>
      </p:sp>
      <p:sp>
        <p:nvSpPr>
          <p:cNvPr id="6" name="Holder 6"/>
          <p:cNvSpPr>
            <a:spLocks noGrp="1"/>
          </p:cNvSpPr>
          <p:nvPr>
            <p:ph type="sldNum" sz="quarter" idx="7"/>
          </p:nvPr>
        </p:nvSpPr>
        <p:spPr/>
        <p:txBody>
          <a:bodyPr lIns="0" tIns="0" rIns="0" bIns="0"/>
          <a:lstStyle>
            <a:lvl1pPr>
              <a:defRPr sz="1200" b="0" i="0">
                <a:solidFill>
                  <a:schemeClr val="tx1"/>
                </a:solidFill>
                <a:latin typeface="Times New Roman"/>
                <a:cs typeface="Times New Roman"/>
              </a:defRPr>
            </a:lvl1pPr>
          </a:lstStyle>
          <a:p>
            <a:pPr marL="12700">
              <a:lnSpc>
                <a:spcPct val="100000"/>
              </a:lnSpc>
              <a:spcBef>
                <a:spcPts val="145"/>
              </a:spcBef>
            </a:pPr>
            <a:r>
              <a:rPr sz="1800" spc="52" baseline="4629" dirty="0"/>
              <a:t>Session </a:t>
            </a:r>
            <a:r>
              <a:rPr sz="1800" spc="104" baseline="4629" dirty="0"/>
              <a:t>9/</a:t>
            </a:r>
            <a:r>
              <a:rPr sz="1800" spc="-262" baseline="4629" dirty="0"/>
              <a:t> </a:t>
            </a:r>
            <a:fld id="{81D60167-4931-47E6-BA6A-407CBD079E47}" type="slidenum">
              <a:rPr sz="1200" spc="15" dirty="0"/>
              <a:t>‹#›</a:t>
            </a:fld>
            <a:endParaRPr sz="12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0" i="0">
                <a:solidFill>
                  <a:schemeClr val="bg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20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200" b="0" i="1">
                <a:solidFill>
                  <a:schemeClr val="tx1"/>
                </a:solidFill>
                <a:latin typeface="Palatino Linotype"/>
                <a:cs typeface="Palatino Linotype"/>
              </a:defRPr>
            </a:lvl1p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10/18/2021</a:t>
            </a:fld>
            <a:endParaRPr lang="en-US"/>
          </a:p>
        </p:txBody>
      </p:sp>
      <p:sp>
        <p:nvSpPr>
          <p:cNvPr id="6" name="Holder 6"/>
          <p:cNvSpPr>
            <a:spLocks noGrp="1"/>
          </p:cNvSpPr>
          <p:nvPr>
            <p:ph type="sldNum" sz="quarter" idx="7"/>
          </p:nvPr>
        </p:nvSpPr>
        <p:spPr/>
        <p:txBody>
          <a:bodyPr lIns="0" tIns="0" rIns="0" bIns="0"/>
          <a:lstStyle>
            <a:lvl1pPr>
              <a:defRPr sz="1200" b="0" i="0">
                <a:solidFill>
                  <a:schemeClr val="tx1"/>
                </a:solidFill>
                <a:latin typeface="Times New Roman"/>
                <a:cs typeface="Times New Roman"/>
              </a:defRPr>
            </a:lvl1pPr>
          </a:lstStyle>
          <a:p>
            <a:pPr marL="12700">
              <a:lnSpc>
                <a:spcPct val="100000"/>
              </a:lnSpc>
              <a:spcBef>
                <a:spcPts val="145"/>
              </a:spcBef>
            </a:pPr>
            <a:r>
              <a:rPr sz="1800" spc="52" baseline="4629" dirty="0"/>
              <a:t>Session </a:t>
            </a:r>
            <a:r>
              <a:rPr sz="1800" spc="104" baseline="4629" dirty="0"/>
              <a:t>9/</a:t>
            </a:r>
            <a:r>
              <a:rPr sz="1800" spc="-262" baseline="4629" dirty="0"/>
              <a:t> </a:t>
            </a:r>
            <a:fld id="{81D60167-4931-47E6-BA6A-407CBD079E47}" type="slidenum">
              <a:rPr sz="1200" spc="15" dirty="0"/>
              <a:t>‹#›</a:t>
            </a:fld>
            <a:endParaRPr sz="120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0" i="0">
                <a:solidFill>
                  <a:schemeClr val="bg1"/>
                </a:solidFill>
                <a:latin typeface="Times New Roman"/>
                <a:cs typeface="Times New Roman"/>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200" b="0" i="1">
                <a:solidFill>
                  <a:schemeClr val="tx1"/>
                </a:solidFill>
                <a:latin typeface="Palatino Linotype"/>
                <a:cs typeface="Palatino Linotype"/>
              </a:defRPr>
            </a:lvl1p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10/18/2021</a:t>
            </a:fld>
            <a:endParaRPr lang="en-US"/>
          </a:p>
        </p:txBody>
      </p:sp>
      <p:sp>
        <p:nvSpPr>
          <p:cNvPr id="7" name="Holder 7"/>
          <p:cNvSpPr>
            <a:spLocks noGrp="1"/>
          </p:cNvSpPr>
          <p:nvPr>
            <p:ph type="sldNum" sz="quarter" idx="7"/>
          </p:nvPr>
        </p:nvSpPr>
        <p:spPr/>
        <p:txBody>
          <a:bodyPr lIns="0" tIns="0" rIns="0" bIns="0"/>
          <a:lstStyle>
            <a:lvl1pPr>
              <a:defRPr sz="1200" b="0" i="0">
                <a:solidFill>
                  <a:schemeClr val="tx1"/>
                </a:solidFill>
                <a:latin typeface="Times New Roman"/>
                <a:cs typeface="Times New Roman"/>
              </a:defRPr>
            </a:lvl1pPr>
          </a:lstStyle>
          <a:p>
            <a:pPr marL="12700">
              <a:lnSpc>
                <a:spcPct val="100000"/>
              </a:lnSpc>
              <a:spcBef>
                <a:spcPts val="145"/>
              </a:spcBef>
            </a:pPr>
            <a:r>
              <a:rPr sz="1800" spc="52" baseline="4629" dirty="0"/>
              <a:t>Session </a:t>
            </a:r>
            <a:r>
              <a:rPr sz="1800" spc="104" baseline="4629" dirty="0"/>
              <a:t>9/</a:t>
            </a:r>
            <a:r>
              <a:rPr sz="1800" spc="-262" baseline="4629" dirty="0"/>
              <a:t> </a:t>
            </a:r>
            <a:fld id="{81D60167-4931-47E6-BA6A-407CBD079E47}" type="slidenum">
              <a:rPr sz="1200" spc="15" dirty="0"/>
              <a:t>‹#›</a:t>
            </a:fld>
            <a:endParaRPr sz="120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0" i="0">
                <a:solidFill>
                  <a:schemeClr val="bg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defRPr sz="1200" b="0" i="1">
                <a:solidFill>
                  <a:schemeClr val="tx1"/>
                </a:solidFill>
                <a:latin typeface="Palatino Linotype"/>
                <a:cs typeface="Palatino Linotype"/>
              </a:defRPr>
            </a:lvl1p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10/18/2021</a:t>
            </a:fld>
            <a:endParaRPr lang="en-US"/>
          </a:p>
        </p:txBody>
      </p:sp>
      <p:sp>
        <p:nvSpPr>
          <p:cNvPr id="5" name="Holder 5"/>
          <p:cNvSpPr>
            <a:spLocks noGrp="1"/>
          </p:cNvSpPr>
          <p:nvPr>
            <p:ph type="sldNum" sz="quarter" idx="7"/>
          </p:nvPr>
        </p:nvSpPr>
        <p:spPr/>
        <p:txBody>
          <a:bodyPr lIns="0" tIns="0" rIns="0" bIns="0"/>
          <a:lstStyle>
            <a:lvl1pPr>
              <a:defRPr sz="1200" b="0" i="0">
                <a:solidFill>
                  <a:schemeClr val="tx1"/>
                </a:solidFill>
                <a:latin typeface="Times New Roman"/>
                <a:cs typeface="Times New Roman"/>
              </a:defRPr>
            </a:lvl1pPr>
          </a:lstStyle>
          <a:p>
            <a:pPr marL="12700">
              <a:lnSpc>
                <a:spcPct val="100000"/>
              </a:lnSpc>
              <a:spcBef>
                <a:spcPts val="145"/>
              </a:spcBef>
            </a:pPr>
            <a:r>
              <a:rPr sz="1800" spc="52" baseline="4629" dirty="0"/>
              <a:t>Session </a:t>
            </a:r>
            <a:r>
              <a:rPr sz="1800" spc="104" baseline="4629" dirty="0"/>
              <a:t>9/</a:t>
            </a:r>
            <a:r>
              <a:rPr sz="1800" spc="-262" baseline="4629" dirty="0"/>
              <a:t> </a:t>
            </a:r>
            <a:fld id="{81D60167-4931-47E6-BA6A-407CBD079E47}" type="slidenum">
              <a:rPr sz="1200" spc="15" dirty="0"/>
              <a:t>‹#›</a:t>
            </a:fld>
            <a:endParaRPr sz="120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200" b="0" i="1">
                <a:solidFill>
                  <a:schemeClr val="tx1"/>
                </a:solidFill>
                <a:latin typeface="Palatino Linotype"/>
                <a:cs typeface="Palatino Linotype"/>
              </a:defRPr>
            </a:lvl1p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10/18/2021</a:t>
            </a:fld>
            <a:endParaRPr lang="en-US"/>
          </a:p>
        </p:txBody>
      </p:sp>
      <p:sp>
        <p:nvSpPr>
          <p:cNvPr id="4" name="Holder 4"/>
          <p:cNvSpPr>
            <a:spLocks noGrp="1"/>
          </p:cNvSpPr>
          <p:nvPr>
            <p:ph type="sldNum" sz="quarter" idx="7"/>
          </p:nvPr>
        </p:nvSpPr>
        <p:spPr/>
        <p:txBody>
          <a:bodyPr lIns="0" tIns="0" rIns="0" bIns="0"/>
          <a:lstStyle>
            <a:lvl1pPr>
              <a:defRPr sz="1200" b="0" i="0">
                <a:solidFill>
                  <a:schemeClr val="tx1"/>
                </a:solidFill>
                <a:latin typeface="Times New Roman"/>
                <a:cs typeface="Times New Roman"/>
              </a:defRPr>
            </a:lvl1pPr>
          </a:lstStyle>
          <a:p>
            <a:pPr marL="12700">
              <a:lnSpc>
                <a:spcPct val="100000"/>
              </a:lnSpc>
              <a:spcBef>
                <a:spcPts val="145"/>
              </a:spcBef>
            </a:pPr>
            <a:r>
              <a:rPr sz="1800" spc="52" baseline="4629" dirty="0"/>
              <a:t>Session </a:t>
            </a:r>
            <a:r>
              <a:rPr sz="1800" spc="104" baseline="4629" dirty="0"/>
              <a:t>9/</a:t>
            </a:r>
            <a:r>
              <a:rPr sz="1800" spc="-262" baseline="4629" dirty="0"/>
              <a:t> </a:t>
            </a:r>
            <a:fld id="{81D60167-4931-47E6-BA6A-407CBD079E47}" type="slidenum">
              <a:rPr sz="1200" spc="15" dirty="0"/>
              <a:t>‹#›</a:t>
            </a:fld>
            <a:endParaRPr sz="120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8" name="Slide Number Placeholder 5"/>
          <p:cNvSpPr>
            <a:spLocks noGrp="1"/>
          </p:cNvSpPr>
          <p:nvPr>
            <p:ph type="sldNum" sz="quarter" idx="10"/>
          </p:nvPr>
        </p:nvSpPr>
        <p:spPr/>
        <p:txBody>
          <a:bodyPr/>
          <a:lstStyle>
            <a:lvl1pPr>
              <a:defRPr smtClean="0">
                <a:solidFill>
                  <a:schemeClr val="tx1"/>
                </a:solidFill>
              </a:defRPr>
            </a:lvl1pPr>
          </a:lstStyle>
          <a:p>
            <a:pPr>
              <a:defRPr/>
            </a:pPr>
            <a:fld id="{00955DD6-A7F2-49FA-B365-0779B3D93175}" type="slidenum">
              <a:rPr lang="en-US"/>
              <a:pPr>
                <a:defRPr/>
              </a:pPr>
              <a:t>‹#›</a:t>
            </a:fld>
            <a:endParaRPr lang="en-US"/>
          </a:p>
        </p:txBody>
      </p:sp>
      <p:sp>
        <p:nvSpPr>
          <p:cNvPr id="9" name="Footer Placeholder 4"/>
          <p:cNvSpPr>
            <a:spLocks noGrp="1"/>
          </p:cNvSpPr>
          <p:nvPr>
            <p:ph type="ftr" sz="quarter" idx="11"/>
          </p:nvPr>
        </p:nvSpPr>
        <p:spPr/>
        <p:txBody>
          <a:bodyPr/>
          <a:lstStyle>
            <a:lvl1pPr>
              <a:defRPr smtClean="0">
                <a:solidFill>
                  <a:schemeClr val="tx1"/>
                </a:solidFill>
              </a:defRPr>
            </a:lvl1pPr>
          </a:lstStyle>
          <a:p>
            <a:pPr>
              <a:defRPr/>
            </a:pPr>
            <a:r>
              <a:rPr lang="en-US"/>
              <a:t>Advanced Queries and Joins/ Session 9 </a:t>
            </a:r>
            <a:endParaRPr lang="en-US" dirty="0"/>
          </a:p>
        </p:txBody>
      </p:sp>
      <p:sp>
        <p:nvSpPr>
          <p:cNvPr id="11" name="Title 1"/>
          <p:cNvSpPr>
            <a:spLocks noGrp="1"/>
          </p:cNvSpPr>
          <p:nvPr>
            <p:ph type="title" hasCustomPrompt="1"/>
          </p:nvPr>
        </p:nvSpPr>
        <p:spPr>
          <a:xfrm>
            <a:off x="1066800" y="228600"/>
            <a:ext cx="7620000" cy="430887"/>
          </a:xfrm>
          <a:noFill/>
          <a:ln>
            <a:noFill/>
          </a:ln>
          <a:effectLst>
            <a:glow rad="63500">
              <a:schemeClr val="accent4">
                <a:satMod val="175000"/>
                <a:alpha val="40000"/>
              </a:schemeClr>
            </a:glow>
          </a:effectLst>
        </p:spPr>
        <p:txBody>
          <a:bodyPr/>
          <a:lstStyle>
            <a:lvl1pPr algn="l">
              <a:defRPr sz="2800" b="0" i="0" cap="none" spc="0" baseline="0">
                <a:ln w="900" cmpd="sng">
                  <a:solidFill>
                    <a:srgbClr val="C00000">
                      <a:alpha val="55000"/>
                    </a:srgbClr>
                  </a:solidFill>
                  <a:prstDash val="solid"/>
                </a:ln>
                <a:solidFill>
                  <a:schemeClr val="bg1"/>
                </a:solidFill>
                <a:effectLst/>
                <a:latin typeface="Book Antiqua" pitchFamily="18" charset="0"/>
              </a:defRPr>
            </a:lvl1pPr>
          </a:lstStyle>
          <a:p>
            <a:r>
              <a:rPr lang="en-US" dirty="0"/>
              <a:t>Click to add title</a:t>
            </a:r>
          </a:p>
        </p:txBody>
      </p:sp>
      <p:sp>
        <p:nvSpPr>
          <p:cNvPr id="14" name="Footer Placeholder 4"/>
          <p:cNvSpPr txBox="1">
            <a:spLocks/>
          </p:cNvSpPr>
          <p:nvPr userDrawn="1"/>
        </p:nvSpPr>
        <p:spPr>
          <a:xfrm>
            <a:off x="0" y="6613525"/>
            <a:ext cx="3048000" cy="244475"/>
          </a:xfrm>
          <a:prstGeom prst="rect">
            <a:avLst/>
          </a:prstGeom>
        </p:spPr>
        <p:txBody>
          <a:bodyPr vert="horz" wrap="square" lIns="91440" tIns="45720" rIns="91440" bIns="45720" numCol="1" anchor="ctr" anchorCtr="0" compatLnSpc="1">
            <a:prstTxWarp prst="textNoShape">
              <a:avLst/>
            </a:prstTxWarp>
          </a:bodyPr>
          <a:lstStyle>
            <a:defPPr>
              <a:defRPr lang="en-US"/>
            </a:defPPr>
            <a:lvl1pPr algn="l" rtl="0" fontAlgn="base">
              <a:lnSpc>
                <a:spcPct val="70000"/>
              </a:lnSpc>
              <a:spcBef>
                <a:spcPct val="50000"/>
              </a:spcBef>
              <a:spcAft>
                <a:spcPct val="0"/>
              </a:spcAft>
              <a:defRPr sz="1400" kern="1200">
                <a:solidFill>
                  <a:schemeClr val="tx1"/>
                </a:solidFill>
                <a:latin typeface="Courier New" pitchFamily="49" charset="0"/>
                <a:ea typeface="+mn-ea"/>
                <a:cs typeface="+mn-cs"/>
              </a:defRPr>
            </a:lvl1pPr>
            <a:lvl2pPr marL="457200" algn="l" rtl="0" fontAlgn="base">
              <a:lnSpc>
                <a:spcPct val="70000"/>
              </a:lnSpc>
              <a:spcBef>
                <a:spcPct val="50000"/>
              </a:spcBef>
              <a:spcAft>
                <a:spcPct val="0"/>
              </a:spcAft>
              <a:defRPr sz="1400" kern="1200">
                <a:solidFill>
                  <a:schemeClr val="tx1"/>
                </a:solidFill>
                <a:latin typeface="Courier New" pitchFamily="49" charset="0"/>
                <a:ea typeface="+mn-ea"/>
                <a:cs typeface="+mn-cs"/>
              </a:defRPr>
            </a:lvl2pPr>
            <a:lvl3pPr marL="914400" algn="l" rtl="0" fontAlgn="base">
              <a:lnSpc>
                <a:spcPct val="70000"/>
              </a:lnSpc>
              <a:spcBef>
                <a:spcPct val="50000"/>
              </a:spcBef>
              <a:spcAft>
                <a:spcPct val="0"/>
              </a:spcAft>
              <a:defRPr sz="1400" kern="1200">
                <a:solidFill>
                  <a:schemeClr val="tx1"/>
                </a:solidFill>
                <a:latin typeface="Courier New" pitchFamily="49" charset="0"/>
                <a:ea typeface="+mn-ea"/>
                <a:cs typeface="+mn-cs"/>
              </a:defRPr>
            </a:lvl3pPr>
            <a:lvl4pPr marL="1371600" algn="l" rtl="0" fontAlgn="base">
              <a:lnSpc>
                <a:spcPct val="70000"/>
              </a:lnSpc>
              <a:spcBef>
                <a:spcPct val="50000"/>
              </a:spcBef>
              <a:spcAft>
                <a:spcPct val="0"/>
              </a:spcAft>
              <a:defRPr sz="1400" kern="1200">
                <a:solidFill>
                  <a:schemeClr val="tx1"/>
                </a:solidFill>
                <a:latin typeface="Courier New" pitchFamily="49" charset="0"/>
                <a:ea typeface="+mn-ea"/>
                <a:cs typeface="+mn-cs"/>
              </a:defRPr>
            </a:lvl4pPr>
            <a:lvl5pPr marL="1828800" algn="l" rtl="0" fontAlgn="base">
              <a:lnSpc>
                <a:spcPct val="70000"/>
              </a:lnSpc>
              <a:spcBef>
                <a:spcPct val="50000"/>
              </a:spcBef>
              <a:spcAft>
                <a:spcPct val="0"/>
              </a:spcAft>
              <a:defRPr sz="1400" kern="1200">
                <a:solidFill>
                  <a:schemeClr val="tx1"/>
                </a:solidFill>
                <a:latin typeface="Courier New" pitchFamily="49" charset="0"/>
                <a:ea typeface="+mn-ea"/>
                <a:cs typeface="+mn-cs"/>
              </a:defRPr>
            </a:lvl5pPr>
            <a:lvl6pPr marL="2286000" algn="l" defTabSz="914400" rtl="0" eaLnBrk="1" latinLnBrk="0" hangingPunct="1">
              <a:defRPr sz="1400" kern="1200">
                <a:solidFill>
                  <a:schemeClr val="tx1"/>
                </a:solidFill>
                <a:latin typeface="Courier New" pitchFamily="49" charset="0"/>
                <a:ea typeface="+mn-ea"/>
                <a:cs typeface="+mn-cs"/>
              </a:defRPr>
            </a:lvl6pPr>
            <a:lvl7pPr marL="2743200" algn="l" defTabSz="914400" rtl="0" eaLnBrk="1" latinLnBrk="0" hangingPunct="1">
              <a:defRPr sz="1400" kern="1200">
                <a:solidFill>
                  <a:schemeClr val="tx1"/>
                </a:solidFill>
                <a:latin typeface="Courier New" pitchFamily="49" charset="0"/>
                <a:ea typeface="+mn-ea"/>
                <a:cs typeface="+mn-cs"/>
              </a:defRPr>
            </a:lvl7pPr>
            <a:lvl8pPr marL="3200400" algn="l" defTabSz="914400" rtl="0" eaLnBrk="1" latinLnBrk="0" hangingPunct="1">
              <a:defRPr sz="1400" kern="1200">
                <a:solidFill>
                  <a:schemeClr val="tx1"/>
                </a:solidFill>
                <a:latin typeface="Courier New" pitchFamily="49" charset="0"/>
                <a:ea typeface="+mn-ea"/>
                <a:cs typeface="+mn-cs"/>
              </a:defRPr>
            </a:lvl8pPr>
            <a:lvl9pPr marL="3657600" algn="l" defTabSz="914400" rtl="0" eaLnBrk="1" latinLnBrk="0" hangingPunct="1">
              <a:defRPr sz="1400" kern="1200">
                <a:solidFill>
                  <a:schemeClr val="tx1"/>
                </a:solidFill>
                <a:latin typeface="Courier New" pitchFamily="49" charset="0"/>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fr-FR" sz="1200" b="0" i="0" u="none" strike="noStrike" kern="1200" cap="none" spc="0" normalizeH="0" baseline="0" noProof="0" dirty="0">
                <a:ln>
                  <a:noFill/>
                </a:ln>
                <a:solidFill>
                  <a:schemeClr val="tx1"/>
                </a:solidFill>
                <a:effectLst/>
                <a:uLnTx/>
                <a:uFillTx/>
                <a:latin typeface="Calibri" pitchFamily="34" charset="0"/>
                <a:ea typeface="+mn-ea"/>
                <a:cs typeface="+mn-cs"/>
              </a:rPr>
              <a:t>© </a:t>
            </a:r>
            <a:r>
              <a:rPr kumimoji="0" lang="fr-FR" sz="1200" b="0" i="1" u="none" strike="noStrike" kern="1200" cap="none" spc="0" normalizeH="0" baseline="0" noProof="0" dirty="0" err="1">
                <a:ln>
                  <a:noFill/>
                </a:ln>
                <a:solidFill>
                  <a:schemeClr val="tx1"/>
                </a:solidFill>
                <a:effectLst/>
                <a:uLnTx/>
                <a:uFillTx/>
                <a:latin typeface="Calibri" pitchFamily="34" charset="0"/>
                <a:ea typeface="+mn-ea"/>
                <a:cs typeface="+mn-cs"/>
              </a:rPr>
              <a:t>Aptech</a:t>
            </a:r>
            <a:r>
              <a:rPr kumimoji="0" lang="fr-FR" sz="1200" b="0" i="1" u="none" strike="noStrike" kern="1200" cap="none" spc="0" normalizeH="0" baseline="0" noProof="0" dirty="0">
                <a:ln>
                  <a:noFill/>
                </a:ln>
                <a:solidFill>
                  <a:schemeClr val="tx1"/>
                </a:solidFill>
                <a:effectLst/>
                <a:uLnTx/>
                <a:uFillTx/>
                <a:latin typeface="Calibri" pitchFamily="34" charset="0"/>
                <a:ea typeface="+mn-ea"/>
                <a:cs typeface="+mn-cs"/>
              </a:rPr>
              <a:t> Ltd. </a:t>
            </a:r>
            <a:endParaRPr kumimoji="0" lang="en-US" sz="1200" b="0" i="1" u="none" strike="noStrike" kern="1200" cap="none" spc="0" normalizeH="0" baseline="0" noProof="0" dirty="0">
              <a:ln>
                <a:noFill/>
              </a:ln>
              <a:solidFill>
                <a:schemeClr val="tx1"/>
              </a:solidFill>
              <a:effectLst/>
              <a:uLnTx/>
              <a:uFillTx/>
              <a:latin typeface="Calibri" pitchFamily="34" charset="0"/>
              <a:ea typeface="+mn-ea"/>
              <a:cs typeface="+mn-cs"/>
            </a:endParaRPr>
          </a:p>
        </p:txBody>
      </p:sp>
    </p:spTree>
    <p:extLst>
      <p:ext uri="{BB962C8B-B14F-4D97-AF65-F5344CB8AC3E}">
        <p14:creationId xmlns:p14="http://schemas.microsoft.com/office/powerpoint/2010/main" val="22464051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8" name="Slide Number Placeholder 5"/>
          <p:cNvSpPr>
            <a:spLocks noGrp="1"/>
          </p:cNvSpPr>
          <p:nvPr>
            <p:ph type="sldNum" sz="quarter" idx="10"/>
          </p:nvPr>
        </p:nvSpPr>
        <p:spPr/>
        <p:txBody>
          <a:bodyPr/>
          <a:lstStyle>
            <a:lvl1pPr>
              <a:defRPr smtClean="0">
                <a:solidFill>
                  <a:schemeClr val="tx1"/>
                </a:solidFill>
              </a:defRPr>
            </a:lvl1pPr>
          </a:lstStyle>
          <a:p>
            <a:pPr>
              <a:defRPr/>
            </a:pPr>
            <a:fld id="{00955DD6-A7F2-49FA-B365-0779B3D93175}" type="slidenum">
              <a:rPr lang="en-US"/>
              <a:pPr>
                <a:defRPr/>
              </a:pPr>
              <a:t>‹#›</a:t>
            </a:fld>
            <a:endParaRPr lang="en-US"/>
          </a:p>
        </p:txBody>
      </p:sp>
      <p:sp>
        <p:nvSpPr>
          <p:cNvPr id="9" name="Footer Placeholder 4"/>
          <p:cNvSpPr>
            <a:spLocks noGrp="1"/>
          </p:cNvSpPr>
          <p:nvPr>
            <p:ph type="ftr" sz="quarter" idx="11"/>
          </p:nvPr>
        </p:nvSpPr>
        <p:spPr/>
        <p:txBody>
          <a:bodyPr/>
          <a:lstStyle>
            <a:lvl1pPr>
              <a:defRPr smtClean="0">
                <a:solidFill>
                  <a:schemeClr val="tx1"/>
                </a:solidFill>
              </a:defRPr>
            </a:lvl1pPr>
          </a:lstStyle>
          <a:p>
            <a:pPr>
              <a:defRPr/>
            </a:pPr>
            <a:r>
              <a:rPr lang="en-US"/>
              <a:t>Advanced Queries and Joins/ Session 9 </a:t>
            </a:r>
            <a:endParaRPr lang="en-US" dirty="0"/>
          </a:p>
        </p:txBody>
      </p:sp>
      <p:sp>
        <p:nvSpPr>
          <p:cNvPr id="14" name="Footer Placeholder 4"/>
          <p:cNvSpPr txBox="1">
            <a:spLocks/>
          </p:cNvSpPr>
          <p:nvPr userDrawn="1"/>
        </p:nvSpPr>
        <p:spPr>
          <a:xfrm>
            <a:off x="0" y="6613525"/>
            <a:ext cx="3048000" cy="244475"/>
          </a:xfrm>
          <a:prstGeom prst="rect">
            <a:avLst/>
          </a:prstGeom>
        </p:spPr>
        <p:txBody>
          <a:bodyPr vert="horz" wrap="square" lIns="91440" tIns="45720" rIns="91440" bIns="45720" numCol="1" anchor="ctr" anchorCtr="0" compatLnSpc="1">
            <a:prstTxWarp prst="textNoShape">
              <a:avLst/>
            </a:prstTxWarp>
          </a:bodyPr>
          <a:lstStyle>
            <a:defPPr>
              <a:defRPr lang="en-US"/>
            </a:defPPr>
            <a:lvl1pPr algn="l" rtl="0" fontAlgn="base">
              <a:lnSpc>
                <a:spcPct val="70000"/>
              </a:lnSpc>
              <a:spcBef>
                <a:spcPct val="50000"/>
              </a:spcBef>
              <a:spcAft>
                <a:spcPct val="0"/>
              </a:spcAft>
              <a:defRPr sz="1400" kern="1200">
                <a:solidFill>
                  <a:schemeClr val="tx1"/>
                </a:solidFill>
                <a:latin typeface="Courier New" pitchFamily="49" charset="0"/>
                <a:ea typeface="+mn-ea"/>
                <a:cs typeface="+mn-cs"/>
              </a:defRPr>
            </a:lvl1pPr>
            <a:lvl2pPr marL="457200" algn="l" rtl="0" fontAlgn="base">
              <a:lnSpc>
                <a:spcPct val="70000"/>
              </a:lnSpc>
              <a:spcBef>
                <a:spcPct val="50000"/>
              </a:spcBef>
              <a:spcAft>
                <a:spcPct val="0"/>
              </a:spcAft>
              <a:defRPr sz="1400" kern="1200">
                <a:solidFill>
                  <a:schemeClr val="tx1"/>
                </a:solidFill>
                <a:latin typeface="Courier New" pitchFamily="49" charset="0"/>
                <a:ea typeface="+mn-ea"/>
                <a:cs typeface="+mn-cs"/>
              </a:defRPr>
            </a:lvl2pPr>
            <a:lvl3pPr marL="914400" algn="l" rtl="0" fontAlgn="base">
              <a:lnSpc>
                <a:spcPct val="70000"/>
              </a:lnSpc>
              <a:spcBef>
                <a:spcPct val="50000"/>
              </a:spcBef>
              <a:spcAft>
                <a:spcPct val="0"/>
              </a:spcAft>
              <a:defRPr sz="1400" kern="1200">
                <a:solidFill>
                  <a:schemeClr val="tx1"/>
                </a:solidFill>
                <a:latin typeface="Courier New" pitchFamily="49" charset="0"/>
                <a:ea typeface="+mn-ea"/>
                <a:cs typeface="+mn-cs"/>
              </a:defRPr>
            </a:lvl3pPr>
            <a:lvl4pPr marL="1371600" algn="l" rtl="0" fontAlgn="base">
              <a:lnSpc>
                <a:spcPct val="70000"/>
              </a:lnSpc>
              <a:spcBef>
                <a:spcPct val="50000"/>
              </a:spcBef>
              <a:spcAft>
                <a:spcPct val="0"/>
              </a:spcAft>
              <a:defRPr sz="1400" kern="1200">
                <a:solidFill>
                  <a:schemeClr val="tx1"/>
                </a:solidFill>
                <a:latin typeface="Courier New" pitchFamily="49" charset="0"/>
                <a:ea typeface="+mn-ea"/>
                <a:cs typeface="+mn-cs"/>
              </a:defRPr>
            </a:lvl4pPr>
            <a:lvl5pPr marL="1828800" algn="l" rtl="0" fontAlgn="base">
              <a:lnSpc>
                <a:spcPct val="70000"/>
              </a:lnSpc>
              <a:spcBef>
                <a:spcPct val="50000"/>
              </a:spcBef>
              <a:spcAft>
                <a:spcPct val="0"/>
              </a:spcAft>
              <a:defRPr sz="1400" kern="1200">
                <a:solidFill>
                  <a:schemeClr val="tx1"/>
                </a:solidFill>
                <a:latin typeface="Courier New" pitchFamily="49" charset="0"/>
                <a:ea typeface="+mn-ea"/>
                <a:cs typeface="+mn-cs"/>
              </a:defRPr>
            </a:lvl5pPr>
            <a:lvl6pPr marL="2286000" algn="l" defTabSz="914400" rtl="0" eaLnBrk="1" latinLnBrk="0" hangingPunct="1">
              <a:defRPr sz="1400" kern="1200">
                <a:solidFill>
                  <a:schemeClr val="tx1"/>
                </a:solidFill>
                <a:latin typeface="Courier New" pitchFamily="49" charset="0"/>
                <a:ea typeface="+mn-ea"/>
                <a:cs typeface="+mn-cs"/>
              </a:defRPr>
            </a:lvl6pPr>
            <a:lvl7pPr marL="2743200" algn="l" defTabSz="914400" rtl="0" eaLnBrk="1" latinLnBrk="0" hangingPunct="1">
              <a:defRPr sz="1400" kern="1200">
                <a:solidFill>
                  <a:schemeClr val="tx1"/>
                </a:solidFill>
                <a:latin typeface="Courier New" pitchFamily="49" charset="0"/>
                <a:ea typeface="+mn-ea"/>
                <a:cs typeface="+mn-cs"/>
              </a:defRPr>
            </a:lvl7pPr>
            <a:lvl8pPr marL="3200400" algn="l" defTabSz="914400" rtl="0" eaLnBrk="1" latinLnBrk="0" hangingPunct="1">
              <a:defRPr sz="1400" kern="1200">
                <a:solidFill>
                  <a:schemeClr val="tx1"/>
                </a:solidFill>
                <a:latin typeface="Courier New" pitchFamily="49" charset="0"/>
                <a:ea typeface="+mn-ea"/>
                <a:cs typeface="+mn-cs"/>
              </a:defRPr>
            </a:lvl8pPr>
            <a:lvl9pPr marL="3657600" algn="l" defTabSz="914400" rtl="0" eaLnBrk="1" latinLnBrk="0" hangingPunct="1">
              <a:defRPr sz="1400" kern="1200">
                <a:solidFill>
                  <a:schemeClr val="tx1"/>
                </a:solidFill>
                <a:latin typeface="Courier New" pitchFamily="49" charset="0"/>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fr-FR" sz="1200" b="0" i="0" u="none" strike="noStrike" kern="1200" cap="none" spc="0" normalizeH="0" baseline="0" noProof="0" dirty="0">
                <a:ln>
                  <a:noFill/>
                </a:ln>
                <a:solidFill>
                  <a:schemeClr val="tx1"/>
                </a:solidFill>
                <a:effectLst/>
                <a:uLnTx/>
                <a:uFillTx/>
                <a:latin typeface="Calibri" pitchFamily="34" charset="0"/>
                <a:ea typeface="+mn-ea"/>
                <a:cs typeface="+mn-cs"/>
              </a:rPr>
              <a:t>© </a:t>
            </a:r>
            <a:r>
              <a:rPr kumimoji="0" lang="fr-FR" sz="1200" b="0" i="1" u="none" strike="noStrike" kern="1200" cap="none" spc="0" normalizeH="0" baseline="0" noProof="0" dirty="0" err="1">
                <a:ln>
                  <a:noFill/>
                </a:ln>
                <a:solidFill>
                  <a:schemeClr val="tx1"/>
                </a:solidFill>
                <a:effectLst/>
                <a:uLnTx/>
                <a:uFillTx/>
                <a:latin typeface="Calibri" pitchFamily="34" charset="0"/>
                <a:ea typeface="+mn-ea"/>
                <a:cs typeface="+mn-cs"/>
              </a:rPr>
              <a:t>Aptech</a:t>
            </a:r>
            <a:r>
              <a:rPr kumimoji="0" lang="fr-FR" sz="1200" b="0" i="1" u="none" strike="noStrike" kern="1200" cap="none" spc="0" normalizeH="0" baseline="0" noProof="0" dirty="0">
                <a:ln>
                  <a:noFill/>
                </a:ln>
                <a:solidFill>
                  <a:schemeClr val="tx1"/>
                </a:solidFill>
                <a:effectLst/>
                <a:uLnTx/>
                <a:uFillTx/>
                <a:latin typeface="Calibri" pitchFamily="34" charset="0"/>
                <a:ea typeface="+mn-ea"/>
                <a:cs typeface="+mn-cs"/>
              </a:rPr>
              <a:t> Ltd. </a:t>
            </a:r>
            <a:endParaRPr kumimoji="0" lang="en-US" sz="1200" b="0" i="1" u="none" strike="noStrike" kern="1200" cap="none" spc="0" normalizeH="0" baseline="0" noProof="0" dirty="0">
              <a:ln>
                <a:noFill/>
              </a:ln>
              <a:solidFill>
                <a:schemeClr val="tx1"/>
              </a:solidFill>
              <a:effectLst/>
              <a:uLnTx/>
              <a:uFillTx/>
              <a:latin typeface="Calibri" pitchFamily="34" charset="0"/>
              <a:ea typeface="+mn-ea"/>
              <a:cs typeface="+mn-cs"/>
            </a:endParaRPr>
          </a:p>
        </p:txBody>
      </p:sp>
    </p:spTree>
    <p:extLst>
      <p:ext uri="{BB962C8B-B14F-4D97-AF65-F5344CB8AC3E}">
        <p14:creationId xmlns:p14="http://schemas.microsoft.com/office/powerpoint/2010/main" val="3264415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8" name="Slide Number Placeholder 5"/>
          <p:cNvSpPr>
            <a:spLocks noGrp="1"/>
          </p:cNvSpPr>
          <p:nvPr>
            <p:ph type="sldNum" sz="quarter" idx="10"/>
          </p:nvPr>
        </p:nvSpPr>
        <p:spPr/>
        <p:txBody>
          <a:bodyPr/>
          <a:lstStyle>
            <a:lvl1pPr>
              <a:defRPr smtClean="0">
                <a:solidFill>
                  <a:schemeClr val="tx1"/>
                </a:solidFill>
              </a:defRPr>
            </a:lvl1pPr>
          </a:lstStyle>
          <a:p>
            <a:pPr>
              <a:defRPr/>
            </a:pPr>
            <a:fld id="{00955DD6-A7F2-49FA-B365-0779B3D93175}" type="slidenum">
              <a:rPr lang="en-US"/>
              <a:pPr>
                <a:defRPr/>
              </a:pPr>
              <a:t>‹#›</a:t>
            </a:fld>
            <a:endParaRPr lang="en-US"/>
          </a:p>
        </p:txBody>
      </p:sp>
      <p:sp>
        <p:nvSpPr>
          <p:cNvPr id="9" name="Footer Placeholder 4"/>
          <p:cNvSpPr>
            <a:spLocks noGrp="1"/>
          </p:cNvSpPr>
          <p:nvPr>
            <p:ph type="ftr" sz="quarter" idx="11"/>
          </p:nvPr>
        </p:nvSpPr>
        <p:spPr/>
        <p:txBody>
          <a:bodyPr/>
          <a:lstStyle>
            <a:lvl1pPr>
              <a:defRPr smtClean="0">
                <a:solidFill>
                  <a:schemeClr val="tx1"/>
                </a:solidFill>
              </a:defRPr>
            </a:lvl1pPr>
          </a:lstStyle>
          <a:p>
            <a:pPr>
              <a:defRPr/>
            </a:pPr>
            <a:r>
              <a:rPr lang="en-US"/>
              <a:t>Advanced Queries and Joins/ Session 9 </a:t>
            </a:r>
            <a:endParaRPr lang="en-US" dirty="0"/>
          </a:p>
        </p:txBody>
      </p:sp>
      <p:sp>
        <p:nvSpPr>
          <p:cNvPr id="14" name="Footer Placeholder 4"/>
          <p:cNvSpPr txBox="1">
            <a:spLocks/>
          </p:cNvSpPr>
          <p:nvPr userDrawn="1"/>
        </p:nvSpPr>
        <p:spPr>
          <a:xfrm>
            <a:off x="0" y="6613525"/>
            <a:ext cx="3048000" cy="244475"/>
          </a:xfrm>
          <a:prstGeom prst="rect">
            <a:avLst/>
          </a:prstGeom>
        </p:spPr>
        <p:txBody>
          <a:bodyPr vert="horz" wrap="square" lIns="91440" tIns="45720" rIns="91440" bIns="45720" numCol="1" anchor="ctr" anchorCtr="0" compatLnSpc="1">
            <a:prstTxWarp prst="textNoShape">
              <a:avLst/>
            </a:prstTxWarp>
          </a:bodyPr>
          <a:lstStyle>
            <a:defPPr>
              <a:defRPr lang="en-US"/>
            </a:defPPr>
            <a:lvl1pPr algn="l" rtl="0" fontAlgn="base">
              <a:lnSpc>
                <a:spcPct val="70000"/>
              </a:lnSpc>
              <a:spcBef>
                <a:spcPct val="50000"/>
              </a:spcBef>
              <a:spcAft>
                <a:spcPct val="0"/>
              </a:spcAft>
              <a:defRPr sz="1400" kern="1200">
                <a:solidFill>
                  <a:schemeClr val="tx1"/>
                </a:solidFill>
                <a:latin typeface="Courier New" pitchFamily="49" charset="0"/>
                <a:ea typeface="+mn-ea"/>
                <a:cs typeface="+mn-cs"/>
              </a:defRPr>
            </a:lvl1pPr>
            <a:lvl2pPr marL="457200" algn="l" rtl="0" fontAlgn="base">
              <a:lnSpc>
                <a:spcPct val="70000"/>
              </a:lnSpc>
              <a:spcBef>
                <a:spcPct val="50000"/>
              </a:spcBef>
              <a:spcAft>
                <a:spcPct val="0"/>
              </a:spcAft>
              <a:defRPr sz="1400" kern="1200">
                <a:solidFill>
                  <a:schemeClr val="tx1"/>
                </a:solidFill>
                <a:latin typeface="Courier New" pitchFamily="49" charset="0"/>
                <a:ea typeface="+mn-ea"/>
                <a:cs typeface="+mn-cs"/>
              </a:defRPr>
            </a:lvl2pPr>
            <a:lvl3pPr marL="914400" algn="l" rtl="0" fontAlgn="base">
              <a:lnSpc>
                <a:spcPct val="70000"/>
              </a:lnSpc>
              <a:spcBef>
                <a:spcPct val="50000"/>
              </a:spcBef>
              <a:spcAft>
                <a:spcPct val="0"/>
              </a:spcAft>
              <a:defRPr sz="1400" kern="1200">
                <a:solidFill>
                  <a:schemeClr val="tx1"/>
                </a:solidFill>
                <a:latin typeface="Courier New" pitchFamily="49" charset="0"/>
                <a:ea typeface="+mn-ea"/>
                <a:cs typeface="+mn-cs"/>
              </a:defRPr>
            </a:lvl3pPr>
            <a:lvl4pPr marL="1371600" algn="l" rtl="0" fontAlgn="base">
              <a:lnSpc>
                <a:spcPct val="70000"/>
              </a:lnSpc>
              <a:spcBef>
                <a:spcPct val="50000"/>
              </a:spcBef>
              <a:spcAft>
                <a:spcPct val="0"/>
              </a:spcAft>
              <a:defRPr sz="1400" kern="1200">
                <a:solidFill>
                  <a:schemeClr val="tx1"/>
                </a:solidFill>
                <a:latin typeface="Courier New" pitchFamily="49" charset="0"/>
                <a:ea typeface="+mn-ea"/>
                <a:cs typeface="+mn-cs"/>
              </a:defRPr>
            </a:lvl4pPr>
            <a:lvl5pPr marL="1828800" algn="l" rtl="0" fontAlgn="base">
              <a:lnSpc>
                <a:spcPct val="70000"/>
              </a:lnSpc>
              <a:spcBef>
                <a:spcPct val="50000"/>
              </a:spcBef>
              <a:spcAft>
                <a:spcPct val="0"/>
              </a:spcAft>
              <a:defRPr sz="1400" kern="1200">
                <a:solidFill>
                  <a:schemeClr val="tx1"/>
                </a:solidFill>
                <a:latin typeface="Courier New" pitchFamily="49" charset="0"/>
                <a:ea typeface="+mn-ea"/>
                <a:cs typeface="+mn-cs"/>
              </a:defRPr>
            </a:lvl5pPr>
            <a:lvl6pPr marL="2286000" algn="l" defTabSz="914400" rtl="0" eaLnBrk="1" latinLnBrk="0" hangingPunct="1">
              <a:defRPr sz="1400" kern="1200">
                <a:solidFill>
                  <a:schemeClr val="tx1"/>
                </a:solidFill>
                <a:latin typeface="Courier New" pitchFamily="49" charset="0"/>
                <a:ea typeface="+mn-ea"/>
                <a:cs typeface="+mn-cs"/>
              </a:defRPr>
            </a:lvl6pPr>
            <a:lvl7pPr marL="2743200" algn="l" defTabSz="914400" rtl="0" eaLnBrk="1" latinLnBrk="0" hangingPunct="1">
              <a:defRPr sz="1400" kern="1200">
                <a:solidFill>
                  <a:schemeClr val="tx1"/>
                </a:solidFill>
                <a:latin typeface="Courier New" pitchFamily="49" charset="0"/>
                <a:ea typeface="+mn-ea"/>
                <a:cs typeface="+mn-cs"/>
              </a:defRPr>
            </a:lvl7pPr>
            <a:lvl8pPr marL="3200400" algn="l" defTabSz="914400" rtl="0" eaLnBrk="1" latinLnBrk="0" hangingPunct="1">
              <a:defRPr sz="1400" kern="1200">
                <a:solidFill>
                  <a:schemeClr val="tx1"/>
                </a:solidFill>
                <a:latin typeface="Courier New" pitchFamily="49" charset="0"/>
                <a:ea typeface="+mn-ea"/>
                <a:cs typeface="+mn-cs"/>
              </a:defRPr>
            </a:lvl8pPr>
            <a:lvl9pPr marL="3657600" algn="l" defTabSz="914400" rtl="0" eaLnBrk="1" latinLnBrk="0" hangingPunct="1">
              <a:defRPr sz="1400" kern="1200">
                <a:solidFill>
                  <a:schemeClr val="tx1"/>
                </a:solidFill>
                <a:latin typeface="Courier New" pitchFamily="49" charset="0"/>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fr-FR" sz="1200" b="0" i="0" u="none" strike="noStrike" kern="1200" cap="none" spc="0" normalizeH="0" baseline="0" noProof="0" dirty="0">
                <a:ln>
                  <a:noFill/>
                </a:ln>
                <a:solidFill>
                  <a:schemeClr val="tx1"/>
                </a:solidFill>
                <a:effectLst/>
                <a:uLnTx/>
                <a:uFillTx/>
                <a:latin typeface="Calibri" pitchFamily="34" charset="0"/>
                <a:ea typeface="+mn-ea"/>
                <a:cs typeface="+mn-cs"/>
              </a:rPr>
              <a:t>© </a:t>
            </a:r>
            <a:r>
              <a:rPr kumimoji="0" lang="fr-FR" sz="1200" b="0" i="1" u="none" strike="noStrike" kern="1200" cap="none" spc="0" normalizeH="0" baseline="0" noProof="0" dirty="0" err="1">
                <a:ln>
                  <a:noFill/>
                </a:ln>
                <a:solidFill>
                  <a:schemeClr val="tx1"/>
                </a:solidFill>
                <a:effectLst/>
                <a:uLnTx/>
                <a:uFillTx/>
                <a:latin typeface="Calibri" pitchFamily="34" charset="0"/>
                <a:ea typeface="+mn-ea"/>
                <a:cs typeface="+mn-cs"/>
              </a:rPr>
              <a:t>Aptech</a:t>
            </a:r>
            <a:r>
              <a:rPr kumimoji="0" lang="fr-FR" sz="1200" b="0" i="1" u="none" strike="noStrike" kern="1200" cap="none" spc="0" normalizeH="0" baseline="0" noProof="0" dirty="0">
                <a:ln>
                  <a:noFill/>
                </a:ln>
                <a:solidFill>
                  <a:schemeClr val="tx1"/>
                </a:solidFill>
                <a:effectLst/>
                <a:uLnTx/>
                <a:uFillTx/>
                <a:latin typeface="Calibri" pitchFamily="34" charset="0"/>
                <a:ea typeface="+mn-ea"/>
                <a:cs typeface="+mn-cs"/>
              </a:rPr>
              <a:t> Ltd. </a:t>
            </a:r>
            <a:endParaRPr kumimoji="0" lang="en-US" sz="1200" b="0" i="1" u="none" strike="noStrike" kern="1200" cap="none" spc="0" normalizeH="0" baseline="0" noProof="0" dirty="0">
              <a:ln>
                <a:noFill/>
              </a:ln>
              <a:solidFill>
                <a:schemeClr val="tx1"/>
              </a:solidFill>
              <a:effectLst/>
              <a:uLnTx/>
              <a:uFillTx/>
              <a:latin typeface="Calibri" pitchFamily="34" charset="0"/>
              <a:ea typeface="+mn-ea"/>
              <a:cs typeface="+mn-cs"/>
            </a:endParaRPr>
          </a:p>
        </p:txBody>
      </p:sp>
    </p:spTree>
    <p:extLst>
      <p:ext uri="{BB962C8B-B14F-4D97-AF65-F5344CB8AC3E}">
        <p14:creationId xmlns:p14="http://schemas.microsoft.com/office/powerpoint/2010/main" val="5274740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8" name="Slide Number Placeholder 5"/>
          <p:cNvSpPr>
            <a:spLocks noGrp="1"/>
          </p:cNvSpPr>
          <p:nvPr>
            <p:ph type="sldNum" sz="quarter" idx="10"/>
          </p:nvPr>
        </p:nvSpPr>
        <p:spPr/>
        <p:txBody>
          <a:bodyPr/>
          <a:lstStyle>
            <a:lvl1pPr>
              <a:defRPr smtClean="0">
                <a:solidFill>
                  <a:schemeClr val="tx1"/>
                </a:solidFill>
              </a:defRPr>
            </a:lvl1pPr>
          </a:lstStyle>
          <a:p>
            <a:pPr>
              <a:defRPr/>
            </a:pPr>
            <a:fld id="{00955DD6-A7F2-49FA-B365-0779B3D93175}" type="slidenum">
              <a:rPr lang="en-US"/>
              <a:pPr>
                <a:defRPr/>
              </a:pPr>
              <a:t>‹#›</a:t>
            </a:fld>
            <a:endParaRPr lang="en-US"/>
          </a:p>
        </p:txBody>
      </p:sp>
      <p:sp>
        <p:nvSpPr>
          <p:cNvPr id="14" name="Footer Placeholder 4"/>
          <p:cNvSpPr txBox="1">
            <a:spLocks/>
          </p:cNvSpPr>
          <p:nvPr userDrawn="1"/>
        </p:nvSpPr>
        <p:spPr>
          <a:xfrm>
            <a:off x="0" y="6613525"/>
            <a:ext cx="3048000" cy="244475"/>
          </a:xfrm>
          <a:prstGeom prst="rect">
            <a:avLst/>
          </a:prstGeom>
        </p:spPr>
        <p:txBody>
          <a:bodyPr vert="horz" wrap="square" lIns="91440" tIns="45720" rIns="91440" bIns="45720" numCol="1" anchor="ctr" anchorCtr="0" compatLnSpc="1">
            <a:prstTxWarp prst="textNoShape">
              <a:avLst/>
            </a:prstTxWarp>
          </a:bodyPr>
          <a:lstStyle>
            <a:defPPr>
              <a:defRPr lang="en-US"/>
            </a:defPPr>
            <a:lvl1pPr algn="l" rtl="0" fontAlgn="base">
              <a:lnSpc>
                <a:spcPct val="70000"/>
              </a:lnSpc>
              <a:spcBef>
                <a:spcPct val="50000"/>
              </a:spcBef>
              <a:spcAft>
                <a:spcPct val="0"/>
              </a:spcAft>
              <a:defRPr sz="1400" kern="1200">
                <a:solidFill>
                  <a:schemeClr val="tx1"/>
                </a:solidFill>
                <a:latin typeface="Courier New" pitchFamily="49" charset="0"/>
                <a:ea typeface="+mn-ea"/>
                <a:cs typeface="+mn-cs"/>
              </a:defRPr>
            </a:lvl1pPr>
            <a:lvl2pPr marL="457200" algn="l" rtl="0" fontAlgn="base">
              <a:lnSpc>
                <a:spcPct val="70000"/>
              </a:lnSpc>
              <a:spcBef>
                <a:spcPct val="50000"/>
              </a:spcBef>
              <a:spcAft>
                <a:spcPct val="0"/>
              </a:spcAft>
              <a:defRPr sz="1400" kern="1200">
                <a:solidFill>
                  <a:schemeClr val="tx1"/>
                </a:solidFill>
                <a:latin typeface="Courier New" pitchFamily="49" charset="0"/>
                <a:ea typeface="+mn-ea"/>
                <a:cs typeface="+mn-cs"/>
              </a:defRPr>
            </a:lvl2pPr>
            <a:lvl3pPr marL="914400" algn="l" rtl="0" fontAlgn="base">
              <a:lnSpc>
                <a:spcPct val="70000"/>
              </a:lnSpc>
              <a:spcBef>
                <a:spcPct val="50000"/>
              </a:spcBef>
              <a:spcAft>
                <a:spcPct val="0"/>
              </a:spcAft>
              <a:defRPr sz="1400" kern="1200">
                <a:solidFill>
                  <a:schemeClr val="tx1"/>
                </a:solidFill>
                <a:latin typeface="Courier New" pitchFamily="49" charset="0"/>
                <a:ea typeface="+mn-ea"/>
                <a:cs typeface="+mn-cs"/>
              </a:defRPr>
            </a:lvl3pPr>
            <a:lvl4pPr marL="1371600" algn="l" rtl="0" fontAlgn="base">
              <a:lnSpc>
                <a:spcPct val="70000"/>
              </a:lnSpc>
              <a:spcBef>
                <a:spcPct val="50000"/>
              </a:spcBef>
              <a:spcAft>
                <a:spcPct val="0"/>
              </a:spcAft>
              <a:defRPr sz="1400" kern="1200">
                <a:solidFill>
                  <a:schemeClr val="tx1"/>
                </a:solidFill>
                <a:latin typeface="Courier New" pitchFamily="49" charset="0"/>
                <a:ea typeface="+mn-ea"/>
                <a:cs typeface="+mn-cs"/>
              </a:defRPr>
            </a:lvl4pPr>
            <a:lvl5pPr marL="1828800" algn="l" rtl="0" fontAlgn="base">
              <a:lnSpc>
                <a:spcPct val="70000"/>
              </a:lnSpc>
              <a:spcBef>
                <a:spcPct val="50000"/>
              </a:spcBef>
              <a:spcAft>
                <a:spcPct val="0"/>
              </a:spcAft>
              <a:defRPr sz="1400" kern="1200">
                <a:solidFill>
                  <a:schemeClr val="tx1"/>
                </a:solidFill>
                <a:latin typeface="Courier New" pitchFamily="49" charset="0"/>
                <a:ea typeface="+mn-ea"/>
                <a:cs typeface="+mn-cs"/>
              </a:defRPr>
            </a:lvl5pPr>
            <a:lvl6pPr marL="2286000" algn="l" defTabSz="914400" rtl="0" eaLnBrk="1" latinLnBrk="0" hangingPunct="1">
              <a:defRPr sz="1400" kern="1200">
                <a:solidFill>
                  <a:schemeClr val="tx1"/>
                </a:solidFill>
                <a:latin typeface="Courier New" pitchFamily="49" charset="0"/>
                <a:ea typeface="+mn-ea"/>
                <a:cs typeface="+mn-cs"/>
              </a:defRPr>
            </a:lvl6pPr>
            <a:lvl7pPr marL="2743200" algn="l" defTabSz="914400" rtl="0" eaLnBrk="1" latinLnBrk="0" hangingPunct="1">
              <a:defRPr sz="1400" kern="1200">
                <a:solidFill>
                  <a:schemeClr val="tx1"/>
                </a:solidFill>
                <a:latin typeface="Courier New" pitchFamily="49" charset="0"/>
                <a:ea typeface="+mn-ea"/>
                <a:cs typeface="+mn-cs"/>
              </a:defRPr>
            </a:lvl7pPr>
            <a:lvl8pPr marL="3200400" algn="l" defTabSz="914400" rtl="0" eaLnBrk="1" latinLnBrk="0" hangingPunct="1">
              <a:defRPr sz="1400" kern="1200">
                <a:solidFill>
                  <a:schemeClr val="tx1"/>
                </a:solidFill>
                <a:latin typeface="Courier New" pitchFamily="49" charset="0"/>
                <a:ea typeface="+mn-ea"/>
                <a:cs typeface="+mn-cs"/>
              </a:defRPr>
            </a:lvl8pPr>
            <a:lvl9pPr marL="3657600" algn="l" defTabSz="914400" rtl="0" eaLnBrk="1" latinLnBrk="0" hangingPunct="1">
              <a:defRPr sz="1400" kern="1200">
                <a:solidFill>
                  <a:schemeClr val="tx1"/>
                </a:solidFill>
                <a:latin typeface="Courier New" pitchFamily="49" charset="0"/>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fr-FR" sz="1200" b="0" i="0" u="none" strike="noStrike" kern="1200" cap="none" spc="0" normalizeH="0" baseline="0" noProof="0" dirty="0">
                <a:ln>
                  <a:noFill/>
                </a:ln>
                <a:solidFill>
                  <a:schemeClr val="tx1"/>
                </a:solidFill>
                <a:effectLst/>
                <a:uLnTx/>
                <a:uFillTx/>
                <a:latin typeface="Calibri" pitchFamily="34" charset="0"/>
                <a:ea typeface="+mn-ea"/>
                <a:cs typeface="+mn-cs"/>
              </a:rPr>
              <a:t>© </a:t>
            </a:r>
            <a:r>
              <a:rPr kumimoji="0" lang="fr-FR" sz="1200" b="0" i="1" u="none" strike="noStrike" kern="1200" cap="none" spc="0" normalizeH="0" baseline="0" noProof="0" dirty="0" err="1">
                <a:ln>
                  <a:noFill/>
                </a:ln>
                <a:solidFill>
                  <a:schemeClr val="tx1"/>
                </a:solidFill>
                <a:effectLst/>
                <a:uLnTx/>
                <a:uFillTx/>
                <a:latin typeface="Calibri" pitchFamily="34" charset="0"/>
                <a:ea typeface="+mn-ea"/>
                <a:cs typeface="+mn-cs"/>
              </a:rPr>
              <a:t>Aptech</a:t>
            </a:r>
            <a:r>
              <a:rPr kumimoji="0" lang="fr-FR" sz="1200" b="0" i="1" u="none" strike="noStrike" kern="1200" cap="none" spc="0" normalizeH="0" baseline="0" noProof="0" dirty="0">
                <a:ln>
                  <a:noFill/>
                </a:ln>
                <a:solidFill>
                  <a:schemeClr val="tx1"/>
                </a:solidFill>
                <a:effectLst/>
                <a:uLnTx/>
                <a:uFillTx/>
                <a:latin typeface="Calibri" pitchFamily="34" charset="0"/>
                <a:ea typeface="+mn-ea"/>
                <a:cs typeface="+mn-cs"/>
              </a:rPr>
              <a:t> Ltd. </a:t>
            </a:r>
            <a:endParaRPr kumimoji="0" lang="en-US" sz="1200" b="0" i="1" u="none" strike="noStrike" kern="1200" cap="none" spc="0" normalizeH="0" baseline="0" noProof="0" dirty="0">
              <a:ln>
                <a:noFill/>
              </a:ln>
              <a:solidFill>
                <a:schemeClr val="tx1"/>
              </a:solidFill>
              <a:effectLst/>
              <a:uLnTx/>
              <a:uFillTx/>
              <a:latin typeface="Calibri" pitchFamily="34" charset="0"/>
              <a:ea typeface="+mn-ea"/>
              <a:cs typeface="+mn-cs"/>
            </a:endParaRPr>
          </a:p>
        </p:txBody>
      </p:sp>
    </p:spTree>
    <p:extLst>
      <p:ext uri="{BB962C8B-B14F-4D97-AF65-F5344CB8AC3E}">
        <p14:creationId xmlns:p14="http://schemas.microsoft.com/office/powerpoint/2010/main" val="2359816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11" cstate="print"/>
          <a:stretch>
            <a:fillRect/>
          </a:stretch>
        </p:blipFill>
        <p:spPr>
          <a:xfrm>
            <a:off x="0" y="0"/>
            <a:ext cx="9144000" cy="6857999"/>
          </a:xfrm>
          <a:prstGeom prst="rect">
            <a:avLst/>
          </a:prstGeom>
        </p:spPr>
      </p:pic>
      <p:sp>
        <p:nvSpPr>
          <p:cNvPr id="17" name="bg object 17"/>
          <p:cNvSpPr/>
          <p:nvPr/>
        </p:nvSpPr>
        <p:spPr>
          <a:xfrm>
            <a:off x="0" y="0"/>
            <a:ext cx="9144000" cy="762000"/>
          </a:xfrm>
          <a:custGeom>
            <a:avLst/>
            <a:gdLst/>
            <a:ahLst/>
            <a:cxnLst/>
            <a:rect l="l" t="t" r="r" b="b"/>
            <a:pathLst>
              <a:path w="9144000" h="762000">
                <a:moveTo>
                  <a:pt x="9144000" y="0"/>
                </a:moveTo>
                <a:lnTo>
                  <a:pt x="0" y="0"/>
                </a:lnTo>
                <a:lnTo>
                  <a:pt x="0" y="762000"/>
                </a:lnTo>
                <a:lnTo>
                  <a:pt x="9144000" y="762000"/>
                </a:lnTo>
                <a:lnTo>
                  <a:pt x="9144000" y="0"/>
                </a:lnTo>
                <a:close/>
              </a:path>
            </a:pathLst>
          </a:custGeom>
          <a:solidFill>
            <a:srgbClr val="964705"/>
          </a:solidFill>
        </p:spPr>
        <p:txBody>
          <a:bodyPr wrap="square" lIns="0" tIns="0" rIns="0" bIns="0" rtlCol="0"/>
          <a:lstStyle/>
          <a:p>
            <a:endParaRPr/>
          </a:p>
        </p:txBody>
      </p:sp>
      <p:sp>
        <p:nvSpPr>
          <p:cNvPr id="2" name="Holder 2"/>
          <p:cNvSpPr>
            <a:spLocks noGrp="1"/>
          </p:cNvSpPr>
          <p:nvPr>
            <p:ph type="title"/>
          </p:nvPr>
        </p:nvSpPr>
        <p:spPr>
          <a:xfrm>
            <a:off x="304164" y="15493"/>
            <a:ext cx="8535670" cy="635635"/>
          </a:xfrm>
          <a:prstGeom prst="rect">
            <a:avLst/>
          </a:prstGeom>
        </p:spPr>
        <p:txBody>
          <a:bodyPr wrap="square" lIns="0" tIns="0" rIns="0" bIns="0">
            <a:spAutoFit/>
          </a:bodyPr>
          <a:lstStyle>
            <a:lvl1pPr>
              <a:defRPr sz="4000" b="0" i="0">
                <a:solidFill>
                  <a:schemeClr val="bg1"/>
                </a:solidFill>
                <a:latin typeface="Times New Roman"/>
                <a:cs typeface="Times New Roman"/>
              </a:defRPr>
            </a:lvl1pPr>
          </a:lstStyle>
          <a:p>
            <a:endParaRPr/>
          </a:p>
        </p:txBody>
      </p:sp>
      <p:sp>
        <p:nvSpPr>
          <p:cNvPr id="3" name="Holder 3"/>
          <p:cNvSpPr>
            <a:spLocks noGrp="1"/>
          </p:cNvSpPr>
          <p:nvPr>
            <p:ph type="body" idx="1"/>
          </p:nvPr>
        </p:nvSpPr>
        <p:spPr>
          <a:xfrm>
            <a:off x="383540" y="1125473"/>
            <a:ext cx="8452485" cy="4293235"/>
          </a:xfrm>
          <a:prstGeom prst="rect">
            <a:avLst/>
          </a:prstGeom>
        </p:spPr>
        <p:txBody>
          <a:bodyPr wrap="square" lIns="0" tIns="0" rIns="0" bIns="0">
            <a:spAutoFit/>
          </a:bodyPr>
          <a:lstStyle>
            <a:lvl1pPr>
              <a:defRPr sz="20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78739" y="6607809"/>
            <a:ext cx="892810" cy="245109"/>
          </a:xfrm>
          <a:prstGeom prst="rect">
            <a:avLst/>
          </a:prstGeom>
        </p:spPr>
        <p:txBody>
          <a:bodyPr wrap="square" lIns="0" tIns="0" rIns="0" bIns="0">
            <a:spAutoFit/>
          </a:bodyPr>
          <a:lstStyle>
            <a:lvl1pPr>
              <a:defRPr sz="1200" b="0" i="1">
                <a:solidFill>
                  <a:schemeClr val="tx1"/>
                </a:solidFill>
                <a:latin typeface="Palatino Linotype"/>
                <a:cs typeface="Palatino Linotype"/>
              </a:defRPr>
            </a:lvl1p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10/18/2021</a:t>
            </a:fld>
            <a:endParaRPr lang="en-US"/>
          </a:p>
        </p:txBody>
      </p:sp>
      <p:sp>
        <p:nvSpPr>
          <p:cNvPr id="6" name="Holder 6"/>
          <p:cNvSpPr>
            <a:spLocks noGrp="1"/>
          </p:cNvSpPr>
          <p:nvPr>
            <p:ph type="sldNum" sz="quarter" idx="7"/>
          </p:nvPr>
        </p:nvSpPr>
        <p:spPr>
          <a:xfrm>
            <a:off x="7912607" y="6569709"/>
            <a:ext cx="909954" cy="256540"/>
          </a:xfrm>
          <a:prstGeom prst="rect">
            <a:avLst/>
          </a:prstGeom>
        </p:spPr>
        <p:txBody>
          <a:bodyPr wrap="square" lIns="0" tIns="0" rIns="0" bIns="0">
            <a:spAutoFit/>
          </a:bodyPr>
          <a:lstStyle>
            <a:lvl1pPr>
              <a:defRPr sz="1200" b="0" i="0">
                <a:solidFill>
                  <a:schemeClr val="tx1"/>
                </a:solidFill>
                <a:latin typeface="Times New Roman"/>
                <a:cs typeface="Times New Roman"/>
              </a:defRPr>
            </a:lvl1pPr>
          </a:lstStyle>
          <a:p>
            <a:pPr marL="12700">
              <a:lnSpc>
                <a:spcPct val="100000"/>
              </a:lnSpc>
              <a:spcBef>
                <a:spcPts val="145"/>
              </a:spcBef>
            </a:pPr>
            <a:r>
              <a:rPr sz="1800" spc="52" baseline="4629" dirty="0"/>
              <a:t>Session </a:t>
            </a:r>
            <a:r>
              <a:rPr sz="1800" spc="104" baseline="4629" dirty="0"/>
              <a:t>9/</a:t>
            </a:r>
            <a:r>
              <a:rPr sz="1800" spc="-262" baseline="4629" dirty="0"/>
              <a:t> </a:t>
            </a:r>
            <a:fld id="{81D60167-4931-47E6-BA6A-407CBD079E47}" type="slidenum">
              <a:rPr sz="1200" spc="15" dirty="0"/>
              <a:t>‹#›</a:t>
            </a:fld>
            <a:endParaRPr sz="120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7.jp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0.jpg"/><Relationship Id="rId5" Type="http://schemas.openxmlformats.org/officeDocument/2006/relationships/image" Target="../media/image13.jp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1.jpg"/></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24.jpg"/><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27.jpg"/><Relationship Id="rId4" Type="http://schemas.openxmlformats.org/officeDocument/2006/relationships/image" Target="../media/image26.jpg"/></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20.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35.jpg"/></Relationships>
</file>

<file path=ppt/slides/_rels/slide22.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2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29.xml.rels><?xml version="1.0" encoding="UTF-8" standalone="yes"?>
<Relationships xmlns="http://schemas.openxmlformats.org/package/2006/relationships"><Relationship Id="rId3" Type="http://schemas.openxmlformats.org/officeDocument/2006/relationships/image" Target="../media/image46.jpg"/><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image" Target="../media/image48.png"/><Relationship Id="rId4" Type="http://schemas.openxmlformats.org/officeDocument/2006/relationships/image" Target="../media/image47.jpg"/></Relationships>
</file>

<file path=ppt/slides/_rels/slide30.xml.rels><?xml version="1.0" encoding="UTF-8" standalone="yes"?>
<Relationships xmlns="http://schemas.openxmlformats.org/package/2006/relationships"><Relationship Id="rId3" Type="http://schemas.openxmlformats.org/officeDocument/2006/relationships/image" Target="../media/image49.jp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51.png"/></Relationships>
</file>

<file path=ppt/slides/_rels/slide32.xml.rels><?xml version="1.0" encoding="UTF-8" standalone="yes"?>
<Relationships xmlns="http://schemas.openxmlformats.org/package/2006/relationships"><Relationship Id="rId3" Type="http://schemas.openxmlformats.org/officeDocument/2006/relationships/image" Target="../media/image52.tiff"/><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53.tiff"/><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54.tiff"/></Relationships>
</file>

<file path=ppt/slides/_rels/slide35.xml.rels><?xml version="1.0" encoding="UTF-8" standalone="yes"?>
<Relationships xmlns="http://schemas.openxmlformats.org/package/2006/relationships"><Relationship Id="rId3" Type="http://schemas.openxmlformats.org/officeDocument/2006/relationships/image" Target="../media/image55.jp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56.tiff"/></Relationships>
</file>

<file path=ppt/slides/_rels/slide36.xml.rels><?xml version="1.0" encoding="UTF-8" standalone="yes"?>
<Relationships xmlns="http://schemas.openxmlformats.org/package/2006/relationships"><Relationship Id="rId3" Type="http://schemas.openxmlformats.org/officeDocument/2006/relationships/image" Target="../media/image57.png"/><Relationship Id="rId7" Type="http://schemas.openxmlformats.org/officeDocument/2006/relationships/image" Target="../media/image61.jpg"/><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s>
</file>

<file path=ppt/slides/_rels/slide37.xml.rels><?xml version="1.0" encoding="UTF-8" standalone="yes"?>
<Relationships xmlns="http://schemas.openxmlformats.org/package/2006/relationships"><Relationship Id="rId3" Type="http://schemas.openxmlformats.org/officeDocument/2006/relationships/image" Target="../media/image62.tiff"/><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64.png"/></Relationships>
</file>

<file path=ppt/slides/_rels/slide39.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40.xml"/><Relationship Id="rId1" Type="http://schemas.openxmlformats.org/officeDocument/2006/relationships/slideLayout" Target="../slideLayouts/slideLayout8.xml"/><Relationship Id="rId6" Type="http://schemas.openxmlformats.org/officeDocument/2006/relationships/image" Target="../media/image69.png"/><Relationship Id="rId5" Type="http://schemas.openxmlformats.org/officeDocument/2006/relationships/image" Target="../media/image68.png"/><Relationship Id="rId4" Type="http://schemas.openxmlformats.org/officeDocument/2006/relationships/image" Target="../media/image67.png"/></Relationships>
</file>

<file path=ppt/slides/_rels/slide41.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41.xml"/><Relationship Id="rId1" Type="http://schemas.openxmlformats.org/officeDocument/2006/relationships/slideLayout" Target="../slideLayouts/slideLayout8.xml"/><Relationship Id="rId6" Type="http://schemas.openxmlformats.org/officeDocument/2006/relationships/image" Target="../media/image71.png"/><Relationship Id="rId5" Type="http://schemas.openxmlformats.org/officeDocument/2006/relationships/image" Target="../media/image70.png"/><Relationship Id="rId4" Type="http://schemas.openxmlformats.org/officeDocument/2006/relationships/image" Target="../media/image67.png"/></Relationships>
</file>

<file path=ppt/slides/_rels/slide42.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45.xml"/><Relationship Id="rId1" Type="http://schemas.openxmlformats.org/officeDocument/2006/relationships/slideLayout" Target="../slideLayouts/slideLayout2.xml"/><Relationship Id="rId6" Type="http://schemas.openxmlformats.org/officeDocument/2006/relationships/image" Target="../media/image80.png"/><Relationship Id="rId5" Type="http://schemas.openxmlformats.org/officeDocument/2006/relationships/image" Target="../media/image79.png"/><Relationship Id="rId4" Type="http://schemas.openxmlformats.org/officeDocument/2006/relationships/image" Target="../media/image78.png"/></Relationships>
</file>

<file path=ppt/slides/_rels/slide46.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46.xml"/><Relationship Id="rId1" Type="http://schemas.openxmlformats.org/officeDocument/2006/relationships/slideLayout" Target="../slideLayouts/slideLayout2.xml"/><Relationship Id="rId5" Type="http://schemas.openxmlformats.org/officeDocument/2006/relationships/image" Target="../media/image83.png"/><Relationship Id="rId4" Type="http://schemas.openxmlformats.org/officeDocument/2006/relationships/image" Target="../media/image82.png"/></Relationships>
</file>

<file path=ppt/slides/_rels/slide47.xml.rels><?xml version="1.0" encoding="UTF-8" standalone="yes"?>
<Relationships xmlns="http://schemas.openxmlformats.org/package/2006/relationships"><Relationship Id="rId3" Type="http://schemas.openxmlformats.org/officeDocument/2006/relationships/image" Target="../media/image84.jpg"/><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image" Target="../media/image85.jpg"/></Relationships>
</file>

<file path=ppt/slides/_rels/slide48.xml.rels><?xml version="1.0" encoding="UTF-8" standalone="yes"?>
<Relationships xmlns="http://schemas.openxmlformats.org/package/2006/relationships"><Relationship Id="rId3" Type="http://schemas.openxmlformats.org/officeDocument/2006/relationships/image" Target="../media/image86.tiff"/><Relationship Id="rId2" Type="http://schemas.openxmlformats.org/officeDocument/2006/relationships/notesSlide" Target="../notesSlides/notesSlide48.xml"/><Relationship Id="rId1" Type="http://schemas.openxmlformats.org/officeDocument/2006/relationships/slideLayout" Target="../slideLayouts/slideLayout9.xml"/></Relationships>
</file>

<file path=ppt/slides/_rels/slide49.xml.rels><?xml version="1.0" encoding="UTF-8" standalone="yes"?>
<Relationships xmlns="http://schemas.openxmlformats.org/package/2006/relationships"><Relationship Id="rId3" Type="http://schemas.openxmlformats.org/officeDocument/2006/relationships/image" Target="../media/image87.jpg"/><Relationship Id="rId2" Type="http://schemas.openxmlformats.org/officeDocument/2006/relationships/notesSlide" Target="../notesSlides/notesSlide49.xml"/><Relationship Id="rId1" Type="http://schemas.openxmlformats.org/officeDocument/2006/relationships/slideLayout" Target="../slideLayouts/slideLayout2.xml"/><Relationship Id="rId5" Type="http://schemas.openxmlformats.org/officeDocument/2006/relationships/image" Target="../media/image89.png"/><Relationship Id="rId4" Type="http://schemas.openxmlformats.org/officeDocument/2006/relationships/image" Target="../media/image88.jp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0" cy="6858000"/>
            <a:chOff x="0" y="0"/>
            <a:chExt cx="9144000" cy="6858000"/>
          </a:xfrm>
        </p:grpSpPr>
        <p:sp>
          <p:nvSpPr>
            <p:cNvPr id="3" name="object 3"/>
            <p:cNvSpPr/>
            <p:nvPr/>
          </p:nvSpPr>
          <p:spPr>
            <a:xfrm>
              <a:off x="17525" y="3810000"/>
              <a:ext cx="9126855" cy="3048000"/>
            </a:xfrm>
            <a:custGeom>
              <a:avLst/>
              <a:gdLst/>
              <a:ahLst/>
              <a:cxnLst/>
              <a:rect l="l" t="t" r="r" b="b"/>
              <a:pathLst>
                <a:path w="9126855" h="3048000">
                  <a:moveTo>
                    <a:pt x="9126474" y="0"/>
                  </a:moveTo>
                  <a:lnTo>
                    <a:pt x="0" y="0"/>
                  </a:lnTo>
                  <a:lnTo>
                    <a:pt x="0" y="3047999"/>
                  </a:lnTo>
                  <a:lnTo>
                    <a:pt x="9126474" y="3048000"/>
                  </a:lnTo>
                  <a:lnTo>
                    <a:pt x="9126474" y="0"/>
                  </a:lnTo>
                  <a:close/>
                </a:path>
              </a:pathLst>
            </a:custGeom>
            <a:solidFill>
              <a:srgbClr val="DFAA85">
                <a:alpha val="66665"/>
              </a:srgbClr>
            </a:solidFill>
          </p:spPr>
          <p:txBody>
            <a:bodyPr wrap="square" lIns="0" tIns="0" rIns="0" bIns="0" rtlCol="0"/>
            <a:lstStyle/>
            <a:p>
              <a:endParaRPr/>
            </a:p>
          </p:txBody>
        </p:sp>
        <p:pic>
          <p:nvPicPr>
            <p:cNvPr id="4" name="object 4"/>
            <p:cNvPicPr/>
            <p:nvPr/>
          </p:nvPicPr>
          <p:blipFill>
            <a:blip r:embed="rId3" cstate="print"/>
            <a:stretch>
              <a:fillRect/>
            </a:stretch>
          </p:blipFill>
          <p:spPr>
            <a:xfrm>
              <a:off x="1161288" y="0"/>
              <a:ext cx="7982711" cy="3928110"/>
            </a:xfrm>
            <a:prstGeom prst="rect">
              <a:avLst/>
            </a:prstGeom>
          </p:spPr>
        </p:pic>
        <p:pic>
          <p:nvPicPr>
            <p:cNvPr id="5" name="object 5"/>
            <p:cNvPicPr/>
            <p:nvPr/>
          </p:nvPicPr>
          <p:blipFill>
            <a:blip r:embed="rId4" cstate="print"/>
            <a:stretch>
              <a:fillRect/>
            </a:stretch>
          </p:blipFill>
          <p:spPr>
            <a:xfrm>
              <a:off x="0" y="0"/>
              <a:ext cx="2615946" cy="3932681"/>
            </a:xfrm>
            <a:prstGeom prst="rect">
              <a:avLst/>
            </a:prstGeom>
          </p:spPr>
        </p:pic>
      </p:grpSp>
      <p:sp>
        <p:nvSpPr>
          <p:cNvPr id="6" name="object 6"/>
          <p:cNvSpPr txBox="1"/>
          <p:nvPr/>
        </p:nvSpPr>
        <p:spPr>
          <a:xfrm>
            <a:off x="1430274" y="4147173"/>
            <a:ext cx="6028055" cy="1999614"/>
          </a:xfrm>
          <a:prstGeom prst="rect">
            <a:avLst/>
          </a:prstGeom>
        </p:spPr>
        <p:txBody>
          <a:bodyPr vert="horz" wrap="square" lIns="0" tIns="77470" rIns="0" bIns="0" rtlCol="0">
            <a:spAutoFit/>
          </a:bodyPr>
          <a:lstStyle/>
          <a:p>
            <a:pPr marL="12700">
              <a:lnSpc>
                <a:spcPct val="100000"/>
              </a:lnSpc>
              <a:spcBef>
                <a:spcPts val="610"/>
              </a:spcBef>
            </a:pPr>
            <a:r>
              <a:rPr sz="2800" b="1" dirty="0">
                <a:latin typeface="Book Antiqua"/>
                <a:cs typeface="Book Antiqua"/>
              </a:rPr>
              <a:t>Session:</a:t>
            </a:r>
            <a:r>
              <a:rPr sz="2800" b="1" spc="-5" dirty="0">
                <a:latin typeface="Book Antiqua"/>
                <a:cs typeface="Book Antiqua"/>
              </a:rPr>
              <a:t> </a:t>
            </a:r>
            <a:r>
              <a:rPr sz="2800" b="1" dirty="0">
                <a:latin typeface="Book Antiqua"/>
                <a:cs typeface="Book Antiqua"/>
              </a:rPr>
              <a:t>9</a:t>
            </a:r>
            <a:endParaRPr sz="2800">
              <a:latin typeface="Book Antiqua"/>
              <a:cs typeface="Book Antiqua"/>
            </a:endParaRPr>
          </a:p>
          <a:p>
            <a:pPr marL="2506980" marR="5080" indent="-2207260">
              <a:lnSpc>
                <a:spcPct val="101000"/>
              </a:lnSpc>
              <a:spcBef>
                <a:spcPts val="765"/>
              </a:spcBef>
              <a:tabLst>
                <a:tab pos="5061585" algn="l"/>
              </a:tabLst>
            </a:pPr>
            <a:r>
              <a:rPr sz="4500" b="1" i="1" spc="-5" dirty="0">
                <a:latin typeface="Book Antiqua"/>
                <a:cs typeface="Book Antiqua"/>
              </a:rPr>
              <a:t>Advance</a:t>
            </a:r>
            <a:r>
              <a:rPr sz="4500" b="1" i="1" dirty="0">
                <a:latin typeface="Book Antiqua"/>
                <a:cs typeface="Book Antiqua"/>
              </a:rPr>
              <a:t>d</a:t>
            </a:r>
            <a:r>
              <a:rPr sz="4500" b="1" i="1" spc="-5" dirty="0">
                <a:latin typeface="Book Antiqua"/>
                <a:cs typeface="Book Antiqua"/>
              </a:rPr>
              <a:t> Querie</a:t>
            </a:r>
            <a:r>
              <a:rPr sz="4500" b="1" i="1" dirty="0">
                <a:latin typeface="Book Antiqua"/>
                <a:cs typeface="Book Antiqua"/>
              </a:rPr>
              <a:t>s	</a:t>
            </a:r>
            <a:r>
              <a:rPr sz="4500" b="1" i="1" spc="-5" dirty="0">
                <a:latin typeface="Book Antiqua"/>
                <a:cs typeface="Book Antiqua"/>
              </a:rPr>
              <a:t>and  Joins</a:t>
            </a:r>
            <a:endParaRPr sz="4500">
              <a:latin typeface="Book Antiqua"/>
              <a:cs typeface="Book Antiqua"/>
            </a:endParaRPr>
          </a:p>
        </p:txBody>
      </p:sp>
      <p:sp>
        <p:nvSpPr>
          <p:cNvPr id="7" name="object 7"/>
          <p:cNvSpPr txBox="1">
            <a:spLocks noGrp="1"/>
          </p:cNvSpPr>
          <p:nvPr>
            <p:ph type="title"/>
          </p:nvPr>
        </p:nvSpPr>
        <p:spPr>
          <a:xfrm>
            <a:off x="3504691" y="1228090"/>
            <a:ext cx="4346575" cy="1671320"/>
          </a:xfrm>
          <a:prstGeom prst="rect">
            <a:avLst/>
          </a:prstGeom>
        </p:spPr>
        <p:txBody>
          <a:bodyPr vert="horz" wrap="square" lIns="0" tIns="12700" rIns="0" bIns="0" rtlCol="0">
            <a:spAutoFit/>
          </a:bodyPr>
          <a:lstStyle/>
          <a:p>
            <a:pPr marL="12065" marR="5080" indent="-635" algn="ctr">
              <a:lnSpc>
                <a:spcPct val="100000"/>
              </a:lnSpc>
              <a:spcBef>
                <a:spcPts val="100"/>
              </a:spcBef>
            </a:pPr>
            <a:r>
              <a:rPr sz="3600" b="1" dirty="0">
                <a:latin typeface="Goudy Old Style"/>
                <a:cs typeface="Goudy Old Style"/>
              </a:rPr>
              <a:t>Intelligent </a:t>
            </a:r>
            <a:r>
              <a:rPr sz="3600" b="1" spc="-5" dirty="0">
                <a:latin typeface="Goudy Old Style"/>
                <a:cs typeface="Goudy Old Style"/>
              </a:rPr>
              <a:t>Data  </a:t>
            </a:r>
            <a:r>
              <a:rPr sz="3600" b="1" dirty="0">
                <a:latin typeface="Goudy Old Style"/>
                <a:cs typeface="Goudy Old Style"/>
              </a:rPr>
              <a:t>Management with</a:t>
            </a:r>
            <a:r>
              <a:rPr sz="3600" b="1" spc="-95" dirty="0">
                <a:latin typeface="Goudy Old Style"/>
                <a:cs typeface="Goudy Old Style"/>
              </a:rPr>
              <a:t> </a:t>
            </a:r>
            <a:r>
              <a:rPr sz="3600" b="1" dirty="0">
                <a:latin typeface="Goudy Old Style"/>
                <a:cs typeface="Goudy Old Style"/>
              </a:rPr>
              <a:t>SQL  </a:t>
            </a:r>
            <a:r>
              <a:rPr sz="3600" b="1" spc="-5" dirty="0">
                <a:latin typeface="Goudy Old Style"/>
                <a:cs typeface="Goudy Old Style"/>
              </a:rPr>
              <a:t>Server</a:t>
            </a:r>
            <a:endParaRPr sz="3600">
              <a:latin typeface="Goudy Old Style"/>
              <a:cs typeface="Goudy Old Style"/>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
            <a:ext cx="2367280" cy="635635"/>
          </a:xfrm>
          <a:prstGeom prst="rect">
            <a:avLst/>
          </a:prstGeom>
        </p:spPr>
        <p:txBody>
          <a:bodyPr vert="horz" wrap="square" lIns="0" tIns="12700" rIns="0" bIns="0" rtlCol="0">
            <a:spAutoFit/>
          </a:bodyPr>
          <a:lstStyle/>
          <a:p>
            <a:pPr marL="12700">
              <a:lnSpc>
                <a:spcPct val="100000"/>
              </a:lnSpc>
              <a:spcBef>
                <a:spcPts val="100"/>
              </a:spcBef>
            </a:pPr>
            <a:r>
              <a:rPr spc="130" dirty="0"/>
              <a:t>Objectives</a:t>
            </a:r>
          </a:p>
        </p:txBody>
      </p:sp>
      <p:sp>
        <p:nvSpPr>
          <p:cNvPr id="5" name="object 5"/>
          <p:cNvSpPr txBox="1"/>
          <p:nvPr/>
        </p:nvSpPr>
        <p:spPr>
          <a:xfrm>
            <a:off x="7912607" y="6569709"/>
            <a:ext cx="828675" cy="256540"/>
          </a:xfrm>
          <a:prstGeom prst="rect">
            <a:avLst/>
          </a:prstGeom>
        </p:spPr>
        <p:txBody>
          <a:bodyPr vert="horz" wrap="square" lIns="0" tIns="18415" rIns="0" bIns="0" rtlCol="0">
            <a:spAutoFit/>
          </a:bodyPr>
          <a:lstStyle/>
          <a:p>
            <a:pPr marL="12700">
              <a:lnSpc>
                <a:spcPct val="100000"/>
              </a:lnSpc>
              <a:spcBef>
                <a:spcPts val="145"/>
              </a:spcBef>
            </a:pPr>
            <a:r>
              <a:rPr sz="1800" spc="52" baseline="4629" dirty="0">
                <a:latin typeface="Times New Roman"/>
                <a:cs typeface="Times New Roman"/>
              </a:rPr>
              <a:t>Session </a:t>
            </a:r>
            <a:r>
              <a:rPr sz="1800" spc="104" baseline="4629" dirty="0">
                <a:latin typeface="Times New Roman"/>
                <a:cs typeface="Times New Roman"/>
              </a:rPr>
              <a:t>9/</a:t>
            </a:r>
            <a:r>
              <a:rPr sz="1800" spc="-270" baseline="4629" dirty="0">
                <a:latin typeface="Times New Roman"/>
                <a:cs typeface="Times New Roman"/>
              </a:rPr>
              <a:t> </a:t>
            </a:r>
            <a:fld id="{81D60167-4931-47E6-BA6A-407CBD079E47}" type="slidenum">
              <a:rPr sz="1200" dirty="0">
                <a:latin typeface="Times New Roman"/>
                <a:cs typeface="Times New Roman"/>
              </a:rPr>
              <a:t>2</a:t>
            </a:fld>
            <a:endParaRPr sz="1200">
              <a:latin typeface="Times New Roman"/>
              <a:cs typeface="Times New Roman"/>
            </a:endParaRPr>
          </a:p>
        </p:txBody>
      </p:sp>
      <p:sp>
        <p:nvSpPr>
          <p:cNvPr id="6" name="object 6"/>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3" name="object 3"/>
          <p:cNvSpPr txBox="1"/>
          <p:nvPr/>
        </p:nvSpPr>
        <p:spPr>
          <a:xfrm>
            <a:off x="383540" y="1463040"/>
            <a:ext cx="7628890" cy="2586355"/>
          </a:xfrm>
          <a:prstGeom prst="rect">
            <a:avLst/>
          </a:prstGeom>
        </p:spPr>
        <p:txBody>
          <a:bodyPr vert="horz" wrap="square" lIns="0" tIns="12700" rIns="0" bIns="0" rtlCol="0">
            <a:spAutoFit/>
          </a:bodyPr>
          <a:lstStyle/>
          <a:p>
            <a:pPr marL="353695" indent="-341630">
              <a:lnSpc>
                <a:spcPct val="100000"/>
              </a:lnSpc>
              <a:spcBef>
                <a:spcPts val="100"/>
              </a:spcBef>
              <a:buFont typeface="Calibri"/>
              <a:buChar char="●"/>
              <a:tabLst>
                <a:tab pos="353695" algn="l"/>
                <a:tab pos="354330" algn="l"/>
              </a:tabLst>
            </a:pPr>
            <a:r>
              <a:rPr sz="2400" spc="70" dirty="0">
                <a:latin typeface="Times New Roman"/>
                <a:cs typeface="Times New Roman"/>
              </a:rPr>
              <a:t>Explain</a:t>
            </a:r>
            <a:r>
              <a:rPr sz="2400" spc="-80" dirty="0">
                <a:latin typeface="Times New Roman"/>
                <a:cs typeface="Times New Roman"/>
              </a:rPr>
              <a:t> </a:t>
            </a:r>
            <a:r>
              <a:rPr sz="2400" spc="85" dirty="0">
                <a:latin typeface="Times New Roman"/>
                <a:cs typeface="Times New Roman"/>
              </a:rPr>
              <a:t>grouping</a:t>
            </a:r>
            <a:r>
              <a:rPr sz="2400" spc="-75" dirty="0">
                <a:latin typeface="Times New Roman"/>
                <a:cs typeface="Times New Roman"/>
              </a:rPr>
              <a:t> </a:t>
            </a:r>
            <a:r>
              <a:rPr sz="2400" spc="135" dirty="0">
                <a:latin typeface="Times New Roman"/>
                <a:cs typeface="Times New Roman"/>
              </a:rPr>
              <a:t>and</a:t>
            </a:r>
            <a:r>
              <a:rPr sz="2400" spc="-90" dirty="0">
                <a:latin typeface="Times New Roman"/>
                <a:cs typeface="Times New Roman"/>
              </a:rPr>
              <a:t> </a:t>
            </a:r>
            <a:r>
              <a:rPr sz="2400" spc="45" dirty="0">
                <a:latin typeface="Times New Roman"/>
                <a:cs typeface="Times New Roman"/>
              </a:rPr>
              <a:t>aggregating</a:t>
            </a:r>
            <a:r>
              <a:rPr sz="2400" spc="-60" dirty="0">
                <a:latin typeface="Times New Roman"/>
                <a:cs typeface="Times New Roman"/>
              </a:rPr>
              <a:t> </a:t>
            </a:r>
            <a:r>
              <a:rPr sz="2400" spc="95" dirty="0">
                <a:latin typeface="Times New Roman"/>
                <a:cs typeface="Times New Roman"/>
              </a:rPr>
              <a:t>data</a:t>
            </a:r>
            <a:endParaRPr sz="2400">
              <a:latin typeface="Times New Roman"/>
              <a:cs typeface="Times New Roman"/>
            </a:endParaRPr>
          </a:p>
          <a:p>
            <a:pPr marL="353695" indent="-341630">
              <a:lnSpc>
                <a:spcPct val="100000"/>
              </a:lnSpc>
              <a:buFont typeface="Calibri"/>
              <a:buChar char="●"/>
              <a:tabLst>
                <a:tab pos="353695" algn="l"/>
                <a:tab pos="354330" algn="l"/>
              </a:tabLst>
            </a:pPr>
            <a:r>
              <a:rPr sz="2400" spc="65" dirty="0">
                <a:latin typeface="Times New Roman"/>
                <a:cs typeface="Times New Roman"/>
              </a:rPr>
              <a:t>Describe</a:t>
            </a:r>
            <a:r>
              <a:rPr sz="2400" spc="-100" dirty="0">
                <a:latin typeface="Times New Roman"/>
                <a:cs typeface="Times New Roman"/>
              </a:rPr>
              <a:t> </a:t>
            </a:r>
            <a:r>
              <a:rPr sz="2400" spc="85" dirty="0">
                <a:latin typeface="Times New Roman"/>
                <a:cs typeface="Times New Roman"/>
              </a:rPr>
              <a:t>subqueries</a:t>
            </a:r>
            <a:endParaRPr sz="2400">
              <a:latin typeface="Times New Roman"/>
              <a:cs typeface="Times New Roman"/>
            </a:endParaRPr>
          </a:p>
          <a:p>
            <a:pPr marL="353695" indent="-341630">
              <a:lnSpc>
                <a:spcPct val="100000"/>
              </a:lnSpc>
              <a:buFont typeface="Calibri"/>
              <a:buChar char="●"/>
              <a:tabLst>
                <a:tab pos="353695" algn="l"/>
                <a:tab pos="354330" algn="l"/>
              </a:tabLst>
            </a:pPr>
            <a:r>
              <a:rPr sz="2400" spc="65" dirty="0">
                <a:latin typeface="Times New Roman"/>
                <a:cs typeface="Times New Roman"/>
              </a:rPr>
              <a:t>Describe </a:t>
            </a:r>
            <a:r>
              <a:rPr sz="2400" spc="70" dirty="0">
                <a:latin typeface="Times New Roman"/>
                <a:cs typeface="Times New Roman"/>
              </a:rPr>
              <a:t>table</a:t>
            </a:r>
            <a:r>
              <a:rPr sz="2400" spc="-245" dirty="0">
                <a:latin typeface="Times New Roman"/>
                <a:cs typeface="Times New Roman"/>
              </a:rPr>
              <a:t> </a:t>
            </a:r>
            <a:r>
              <a:rPr sz="2400" spc="70" dirty="0">
                <a:latin typeface="Times New Roman"/>
                <a:cs typeface="Times New Roman"/>
              </a:rPr>
              <a:t>expressions</a:t>
            </a:r>
            <a:endParaRPr sz="2400">
              <a:latin typeface="Times New Roman"/>
              <a:cs typeface="Times New Roman"/>
            </a:endParaRPr>
          </a:p>
          <a:p>
            <a:pPr marL="353695" indent="-341630">
              <a:lnSpc>
                <a:spcPct val="100000"/>
              </a:lnSpc>
              <a:buFont typeface="Calibri"/>
              <a:buChar char="●"/>
              <a:tabLst>
                <a:tab pos="353695" algn="l"/>
                <a:tab pos="354330" algn="l"/>
              </a:tabLst>
            </a:pPr>
            <a:r>
              <a:rPr sz="2400" spc="70" dirty="0">
                <a:latin typeface="Times New Roman"/>
                <a:cs typeface="Times New Roman"/>
              </a:rPr>
              <a:t>Explain</a:t>
            </a:r>
            <a:r>
              <a:rPr sz="2400" spc="-80" dirty="0">
                <a:latin typeface="Times New Roman"/>
                <a:cs typeface="Times New Roman"/>
              </a:rPr>
              <a:t> </a:t>
            </a:r>
            <a:r>
              <a:rPr sz="2400" spc="20" dirty="0">
                <a:latin typeface="Times New Roman"/>
                <a:cs typeface="Times New Roman"/>
              </a:rPr>
              <a:t>Joins</a:t>
            </a:r>
            <a:endParaRPr sz="2400">
              <a:latin typeface="Times New Roman"/>
              <a:cs typeface="Times New Roman"/>
            </a:endParaRPr>
          </a:p>
          <a:p>
            <a:pPr marL="353695" indent="-341630">
              <a:lnSpc>
                <a:spcPct val="100000"/>
              </a:lnSpc>
              <a:buFont typeface="Calibri"/>
              <a:buChar char="●"/>
              <a:tabLst>
                <a:tab pos="353695" algn="l"/>
                <a:tab pos="354330" algn="l"/>
              </a:tabLst>
            </a:pPr>
            <a:r>
              <a:rPr sz="2400" spc="65" dirty="0">
                <a:latin typeface="Times New Roman"/>
                <a:cs typeface="Times New Roman"/>
              </a:rPr>
              <a:t>Describe</a:t>
            </a:r>
            <a:r>
              <a:rPr sz="2400" spc="-110" dirty="0">
                <a:latin typeface="Times New Roman"/>
                <a:cs typeface="Times New Roman"/>
              </a:rPr>
              <a:t> </a:t>
            </a:r>
            <a:r>
              <a:rPr sz="2400" spc="70" dirty="0">
                <a:latin typeface="Times New Roman"/>
                <a:cs typeface="Times New Roman"/>
              </a:rPr>
              <a:t>various</a:t>
            </a:r>
            <a:r>
              <a:rPr sz="2400" spc="-85" dirty="0">
                <a:latin typeface="Times New Roman"/>
                <a:cs typeface="Times New Roman"/>
              </a:rPr>
              <a:t> </a:t>
            </a:r>
            <a:r>
              <a:rPr sz="2400" spc="65" dirty="0">
                <a:latin typeface="Times New Roman"/>
                <a:cs typeface="Times New Roman"/>
              </a:rPr>
              <a:t>types</a:t>
            </a:r>
            <a:r>
              <a:rPr sz="2400" spc="-95" dirty="0">
                <a:latin typeface="Times New Roman"/>
                <a:cs typeface="Times New Roman"/>
              </a:rPr>
              <a:t> </a:t>
            </a:r>
            <a:r>
              <a:rPr sz="2400" spc="70" dirty="0">
                <a:latin typeface="Times New Roman"/>
                <a:cs typeface="Times New Roman"/>
              </a:rPr>
              <a:t>of</a:t>
            </a:r>
            <a:r>
              <a:rPr sz="2400" spc="-95" dirty="0">
                <a:latin typeface="Times New Roman"/>
                <a:cs typeface="Times New Roman"/>
              </a:rPr>
              <a:t> </a:t>
            </a:r>
            <a:r>
              <a:rPr sz="2400" spc="20" dirty="0">
                <a:latin typeface="Times New Roman"/>
                <a:cs typeface="Times New Roman"/>
              </a:rPr>
              <a:t>Joins</a:t>
            </a:r>
            <a:endParaRPr sz="2400">
              <a:latin typeface="Times New Roman"/>
              <a:cs typeface="Times New Roman"/>
            </a:endParaRPr>
          </a:p>
          <a:p>
            <a:pPr marL="353695" indent="-341630">
              <a:lnSpc>
                <a:spcPct val="100000"/>
              </a:lnSpc>
              <a:buFont typeface="Calibri"/>
              <a:buChar char="●"/>
              <a:tabLst>
                <a:tab pos="353695" algn="l"/>
                <a:tab pos="354330" algn="l"/>
              </a:tabLst>
            </a:pPr>
            <a:r>
              <a:rPr sz="2400" spc="70" dirty="0">
                <a:latin typeface="Times New Roman"/>
                <a:cs typeface="Times New Roman"/>
              </a:rPr>
              <a:t>Explain</a:t>
            </a:r>
            <a:r>
              <a:rPr sz="2400" spc="-75" dirty="0">
                <a:latin typeface="Times New Roman"/>
                <a:cs typeface="Times New Roman"/>
              </a:rPr>
              <a:t> </a:t>
            </a:r>
            <a:r>
              <a:rPr sz="2400" spc="135" dirty="0">
                <a:latin typeface="Times New Roman"/>
                <a:cs typeface="Times New Roman"/>
              </a:rPr>
              <a:t>the</a:t>
            </a:r>
            <a:r>
              <a:rPr sz="2400" spc="-90" dirty="0">
                <a:latin typeface="Times New Roman"/>
                <a:cs typeface="Times New Roman"/>
              </a:rPr>
              <a:t> </a:t>
            </a:r>
            <a:r>
              <a:rPr sz="2400" spc="80" dirty="0">
                <a:latin typeface="Times New Roman"/>
                <a:cs typeface="Times New Roman"/>
              </a:rPr>
              <a:t>use</a:t>
            </a:r>
            <a:r>
              <a:rPr sz="2400" spc="-90" dirty="0">
                <a:latin typeface="Times New Roman"/>
                <a:cs typeface="Times New Roman"/>
              </a:rPr>
              <a:t> </a:t>
            </a:r>
            <a:r>
              <a:rPr sz="2400" spc="70" dirty="0">
                <a:latin typeface="Times New Roman"/>
                <a:cs typeface="Times New Roman"/>
              </a:rPr>
              <a:t>of</a:t>
            </a:r>
            <a:r>
              <a:rPr sz="2400" spc="-95" dirty="0">
                <a:latin typeface="Times New Roman"/>
                <a:cs typeface="Times New Roman"/>
              </a:rPr>
              <a:t> </a:t>
            </a:r>
            <a:r>
              <a:rPr sz="2400" spc="70" dirty="0">
                <a:latin typeface="Times New Roman"/>
                <a:cs typeface="Times New Roman"/>
              </a:rPr>
              <a:t>various</a:t>
            </a:r>
            <a:r>
              <a:rPr sz="2400" spc="-85" dirty="0">
                <a:latin typeface="Times New Roman"/>
                <a:cs typeface="Times New Roman"/>
              </a:rPr>
              <a:t> </a:t>
            </a:r>
            <a:r>
              <a:rPr sz="2400" spc="70" dirty="0">
                <a:latin typeface="Times New Roman"/>
                <a:cs typeface="Times New Roman"/>
              </a:rPr>
              <a:t>set</a:t>
            </a:r>
            <a:r>
              <a:rPr sz="2400" spc="-95" dirty="0">
                <a:latin typeface="Times New Roman"/>
                <a:cs typeface="Times New Roman"/>
              </a:rPr>
              <a:t> </a:t>
            </a:r>
            <a:r>
              <a:rPr sz="2400" spc="90" dirty="0">
                <a:latin typeface="Times New Roman"/>
                <a:cs typeface="Times New Roman"/>
              </a:rPr>
              <a:t>operators</a:t>
            </a:r>
            <a:r>
              <a:rPr sz="2400" spc="-80" dirty="0">
                <a:latin typeface="Times New Roman"/>
                <a:cs typeface="Times New Roman"/>
              </a:rPr>
              <a:t> </a:t>
            </a:r>
            <a:r>
              <a:rPr sz="2400" spc="130" dirty="0">
                <a:latin typeface="Times New Roman"/>
                <a:cs typeface="Times New Roman"/>
              </a:rPr>
              <a:t>to</a:t>
            </a:r>
            <a:r>
              <a:rPr sz="2400" spc="-85" dirty="0">
                <a:latin typeface="Times New Roman"/>
                <a:cs typeface="Times New Roman"/>
              </a:rPr>
              <a:t> </a:t>
            </a:r>
            <a:r>
              <a:rPr sz="2400" spc="90" dirty="0">
                <a:latin typeface="Times New Roman"/>
                <a:cs typeface="Times New Roman"/>
              </a:rPr>
              <a:t>combine</a:t>
            </a:r>
            <a:r>
              <a:rPr sz="2400" spc="-95" dirty="0">
                <a:latin typeface="Times New Roman"/>
                <a:cs typeface="Times New Roman"/>
              </a:rPr>
              <a:t> </a:t>
            </a:r>
            <a:r>
              <a:rPr sz="2400" spc="95" dirty="0">
                <a:latin typeface="Times New Roman"/>
                <a:cs typeface="Times New Roman"/>
              </a:rPr>
              <a:t>data</a:t>
            </a:r>
            <a:endParaRPr sz="2400">
              <a:latin typeface="Times New Roman"/>
              <a:cs typeface="Times New Roman"/>
            </a:endParaRPr>
          </a:p>
          <a:p>
            <a:pPr marL="353695" indent="-341630">
              <a:lnSpc>
                <a:spcPct val="100000"/>
              </a:lnSpc>
              <a:buFont typeface="Calibri"/>
              <a:buChar char="●"/>
              <a:tabLst>
                <a:tab pos="353695" algn="l"/>
                <a:tab pos="354330" algn="l"/>
              </a:tabLst>
            </a:pPr>
            <a:r>
              <a:rPr sz="2400" spc="65" dirty="0">
                <a:latin typeface="Times New Roman"/>
                <a:cs typeface="Times New Roman"/>
              </a:rPr>
              <a:t>Describe</a:t>
            </a:r>
            <a:r>
              <a:rPr sz="2400" spc="-95" dirty="0">
                <a:latin typeface="Times New Roman"/>
                <a:cs typeface="Times New Roman"/>
              </a:rPr>
              <a:t> </a:t>
            </a:r>
            <a:r>
              <a:rPr sz="2400" spc="80" dirty="0">
                <a:latin typeface="Times New Roman"/>
                <a:cs typeface="Times New Roman"/>
              </a:rPr>
              <a:t>pivoting</a:t>
            </a:r>
            <a:r>
              <a:rPr sz="2400" spc="-80" dirty="0">
                <a:latin typeface="Times New Roman"/>
                <a:cs typeface="Times New Roman"/>
              </a:rPr>
              <a:t> </a:t>
            </a:r>
            <a:r>
              <a:rPr sz="2400" spc="135" dirty="0">
                <a:latin typeface="Times New Roman"/>
                <a:cs typeface="Times New Roman"/>
              </a:rPr>
              <a:t>and</a:t>
            </a:r>
            <a:r>
              <a:rPr sz="2400" spc="-90" dirty="0">
                <a:latin typeface="Times New Roman"/>
                <a:cs typeface="Times New Roman"/>
              </a:rPr>
              <a:t> </a:t>
            </a:r>
            <a:r>
              <a:rPr sz="2400" spc="85" dirty="0">
                <a:latin typeface="Times New Roman"/>
                <a:cs typeface="Times New Roman"/>
              </a:rPr>
              <a:t>grouping</a:t>
            </a:r>
            <a:r>
              <a:rPr sz="2400" spc="-70" dirty="0">
                <a:latin typeface="Times New Roman"/>
                <a:cs typeface="Times New Roman"/>
              </a:rPr>
              <a:t> </a:t>
            </a:r>
            <a:r>
              <a:rPr sz="2400" spc="70" dirty="0">
                <a:latin typeface="Times New Roman"/>
                <a:cs typeface="Times New Roman"/>
              </a:rPr>
              <a:t>set</a:t>
            </a:r>
            <a:r>
              <a:rPr sz="2400" spc="-95" dirty="0">
                <a:latin typeface="Times New Roman"/>
                <a:cs typeface="Times New Roman"/>
              </a:rPr>
              <a:t> </a:t>
            </a:r>
            <a:r>
              <a:rPr sz="2400" spc="90" dirty="0">
                <a:latin typeface="Times New Roman"/>
                <a:cs typeface="Times New Roman"/>
              </a:rPr>
              <a:t>operations</a:t>
            </a:r>
            <a:endParaRPr sz="2400">
              <a:latin typeface="Times New Roman"/>
              <a:cs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
            <a:ext cx="2841625" cy="635635"/>
          </a:xfrm>
          <a:prstGeom prst="rect">
            <a:avLst/>
          </a:prstGeom>
        </p:spPr>
        <p:txBody>
          <a:bodyPr vert="horz" wrap="square" lIns="0" tIns="12700" rIns="0" bIns="0" rtlCol="0">
            <a:spAutoFit/>
          </a:bodyPr>
          <a:lstStyle/>
          <a:p>
            <a:pPr marL="12700">
              <a:lnSpc>
                <a:spcPct val="100000"/>
              </a:lnSpc>
              <a:spcBef>
                <a:spcPts val="100"/>
              </a:spcBef>
            </a:pPr>
            <a:r>
              <a:rPr spc="195" dirty="0"/>
              <a:t>Introduction</a:t>
            </a:r>
          </a:p>
        </p:txBody>
      </p:sp>
      <p:sp>
        <p:nvSpPr>
          <p:cNvPr id="3" name="object 3"/>
          <p:cNvSpPr txBox="1"/>
          <p:nvPr/>
        </p:nvSpPr>
        <p:spPr>
          <a:xfrm>
            <a:off x="252475" y="1479803"/>
            <a:ext cx="6288405" cy="599440"/>
          </a:xfrm>
          <a:prstGeom prst="rect">
            <a:avLst/>
          </a:prstGeom>
        </p:spPr>
        <p:txBody>
          <a:bodyPr vert="horz" wrap="square" lIns="0" tIns="46990" rIns="0" bIns="0" rtlCol="0">
            <a:spAutoFit/>
          </a:bodyPr>
          <a:lstStyle/>
          <a:p>
            <a:pPr marL="353695" marR="5080" indent="-341630">
              <a:lnSpc>
                <a:spcPts val="2160"/>
              </a:lnSpc>
              <a:spcBef>
                <a:spcPts val="370"/>
              </a:spcBef>
            </a:pPr>
            <a:r>
              <a:rPr sz="2000" spc="-5" dirty="0">
                <a:latin typeface="Segoe UI Symbol"/>
                <a:cs typeface="Segoe UI Symbol"/>
              </a:rPr>
              <a:t>⮚ </a:t>
            </a:r>
            <a:r>
              <a:rPr sz="1800" spc="85" dirty="0">
                <a:latin typeface="Times New Roman"/>
                <a:cs typeface="Times New Roman"/>
              </a:rPr>
              <a:t>SQL </a:t>
            </a:r>
            <a:r>
              <a:rPr sz="1800" spc="55" dirty="0">
                <a:latin typeface="Times New Roman"/>
                <a:cs typeface="Times New Roman"/>
              </a:rPr>
              <a:t>Server </a:t>
            </a:r>
            <a:r>
              <a:rPr sz="1800" spc="-80" dirty="0">
                <a:latin typeface="Times New Roman"/>
                <a:cs typeface="Times New Roman"/>
              </a:rPr>
              <a:t>2019 </a:t>
            </a:r>
            <a:r>
              <a:rPr sz="1800" spc="60" dirty="0">
                <a:latin typeface="Times New Roman"/>
                <a:cs typeface="Times New Roman"/>
              </a:rPr>
              <a:t>includes </a:t>
            </a:r>
            <a:r>
              <a:rPr sz="1800" spc="30" dirty="0">
                <a:latin typeface="Times New Roman"/>
                <a:cs typeface="Times New Roman"/>
              </a:rPr>
              <a:t>several </a:t>
            </a:r>
            <a:r>
              <a:rPr sz="1800" spc="60" dirty="0">
                <a:latin typeface="Times New Roman"/>
                <a:cs typeface="Times New Roman"/>
              </a:rPr>
              <a:t>powerful </a:t>
            </a:r>
            <a:r>
              <a:rPr sz="1800" spc="70" dirty="0">
                <a:latin typeface="Times New Roman"/>
                <a:cs typeface="Times New Roman"/>
              </a:rPr>
              <a:t>query </a:t>
            </a:r>
            <a:r>
              <a:rPr sz="1800" spc="55" dirty="0">
                <a:latin typeface="Times New Roman"/>
                <a:cs typeface="Times New Roman"/>
              </a:rPr>
              <a:t>features  </a:t>
            </a:r>
            <a:r>
              <a:rPr sz="1800" spc="100" dirty="0">
                <a:latin typeface="Times New Roman"/>
                <a:cs typeface="Times New Roman"/>
              </a:rPr>
              <a:t>that</a:t>
            </a:r>
            <a:r>
              <a:rPr sz="1800" spc="-75" dirty="0">
                <a:latin typeface="Times New Roman"/>
                <a:cs typeface="Times New Roman"/>
              </a:rPr>
              <a:t> </a:t>
            </a:r>
            <a:r>
              <a:rPr sz="1800" spc="60" dirty="0">
                <a:latin typeface="Times New Roman"/>
                <a:cs typeface="Times New Roman"/>
              </a:rPr>
              <a:t>helps</a:t>
            </a:r>
            <a:r>
              <a:rPr sz="1800" spc="-55" dirty="0">
                <a:latin typeface="Times New Roman"/>
                <a:cs typeface="Times New Roman"/>
              </a:rPr>
              <a:t> </a:t>
            </a:r>
            <a:r>
              <a:rPr sz="1800" spc="100" dirty="0">
                <a:latin typeface="Times New Roman"/>
                <a:cs typeface="Times New Roman"/>
              </a:rPr>
              <a:t>to</a:t>
            </a:r>
            <a:r>
              <a:rPr sz="1800" spc="-65" dirty="0">
                <a:latin typeface="Times New Roman"/>
                <a:cs typeface="Times New Roman"/>
              </a:rPr>
              <a:t> </a:t>
            </a:r>
            <a:r>
              <a:rPr sz="1800" spc="55" dirty="0">
                <a:latin typeface="Times New Roman"/>
                <a:cs typeface="Times New Roman"/>
              </a:rPr>
              <a:t>retrieve</a:t>
            </a:r>
            <a:r>
              <a:rPr sz="1800" spc="-65" dirty="0">
                <a:latin typeface="Times New Roman"/>
                <a:cs typeface="Times New Roman"/>
              </a:rPr>
              <a:t> </a:t>
            </a:r>
            <a:r>
              <a:rPr sz="1800" spc="70" dirty="0">
                <a:latin typeface="Times New Roman"/>
                <a:cs typeface="Times New Roman"/>
              </a:rPr>
              <a:t>data</a:t>
            </a:r>
            <a:r>
              <a:rPr sz="1800" spc="-95" dirty="0">
                <a:latin typeface="Times New Roman"/>
                <a:cs typeface="Times New Roman"/>
              </a:rPr>
              <a:t> </a:t>
            </a:r>
            <a:r>
              <a:rPr sz="1800" spc="40" dirty="0">
                <a:latin typeface="Times New Roman"/>
                <a:cs typeface="Times New Roman"/>
              </a:rPr>
              <a:t>efficiently</a:t>
            </a:r>
            <a:r>
              <a:rPr sz="1800" spc="-65" dirty="0">
                <a:latin typeface="Times New Roman"/>
                <a:cs typeface="Times New Roman"/>
              </a:rPr>
              <a:t> </a:t>
            </a:r>
            <a:r>
              <a:rPr sz="1800" spc="100" dirty="0">
                <a:latin typeface="Times New Roman"/>
                <a:cs typeface="Times New Roman"/>
              </a:rPr>
              <a:t>and</a:t>
            </a:r>
            <a:r>
              <a:rPr sz="1800" spc="-70" dirty="0">
                <a:latin typeface="Times New Roman"/>
                <a:cs typeface="Times New Roman"/>
              </a:rPr>
              <a:t> </a:t>
            </a:r>
            <a:r>
              <a:rPr sz="1800" spc="40" dirty="0">
                <a:latin typeface="Times New Roman"/>
                <a:cs typeface="Times New Roman"/>
              </a:rPr>
              <a:t>quickly.</a:t>
            </a:r>
            <a:endParaRPr sz="1800">
              <a:latin typeface="Times New Roman"/>
              <a:cs typeface="Times New Roman"/>
            </a:endParaRPr>
          </a:p>
        </p:txBody>
      </p:sp>
      <p:sp>
        <p:nvSpPr>
          <p:cNvPr id="4" name="object 4"/>
          <p:cNvSpPr txBox="1"/>
          <p:nvPr/>
        </p:nvSpPr>
        <p:spPr>
          <a:xfrm>
            <a:off x="252475" y="2028698"/>
            <a:ext cx="6289675" cy="3068320"/>
          </a:xfrm>
          <a:prstGeom prst="rect">
            <a:avLst/>
          </a:prstGeom>
        </p:spPr>
        <p:txBody>
          <a:bodyPr vert="horz" wrap="square" lIns="0" tIns="46990" rIns="0" bIns="0" rtlCol="0">
            <a:spAutoFit/>
          </a:bodyPr>
          <a:lstStyle/>
          <a:p>
            <a:pPr marL="353695" marR="6350" indent="-341630">
              <a:lnSpc>
                <a:spcPts val="2160"/>
              </a:lnSpc>
              <a:spcBef>
                <a:spcPts val="370"/>
              </a:spcBef>
            </a:pPr>
            <a:r>
              <a:rPr sz="2000" spc="-5" dirty="0">
                <a:latin typeface="Segoe UI Symbol"/>
                <a:cs typeface="Segoe UI Symbol"/>
              </a:rPr>
              <a:t>⮚ </a:t>
            </a:r>
            <a:r>
              <a:rPr sz="1800" spc="70" dirty="0">
                <a:latin typeface="Times New Roman"/>
                <a:cs typeface="Times New Roman"/>
              </a:rPr>
              <a:t>Data </a:t>
            </a:r>
            <a:r>
              <a:rPr sz="1800" spc="65" dirty="0">
                <a:latin typeface="Times New Roman"/>
                <a:cs typeface="Times New Roman"/>
              </a:rPr>
              <a:t>can </a:t>
            </a:r>
            <a:r>
              <a:rPr sz="1800" spc="55" dirty="0">
                <a:latin typeface="Times New Roman"/>
                <a:cs typeface="Times New Roman"/>
              </a:rPr>
              <a:t>be </a:t>
            </a:r>
            <a:r>
              <a:rPr sz="1800" spc="75" dirty="0">
                <a:latin typeface="Times New Roman"/>
                <a:cs typeface="Times New Roman"/>
              </a:rPr>
              <a:t>grouped </a:t>
            </a:r>
            <a:r>
              <a:rPr sz="1800" spc="114" dirty="0">
                <a:latin typeface="Times New Roman"/>
                <a:cs typeface="Times New Roman"/>
              </a:rPr>
              <a:t>and/or </a:t>
            </a:r>
            <a:r>
              <a:rPr sz="1800" spc="35" dirty="0">
                <a:latin typeface="Times New Roman"/>
                <a:cs typeface="Times New Roman"/>
              </a:rPr>
              <a:t>aggregated </a:t>
            </a:r>
            <a:r>
              <a:rPr sz="1800" spc="70" dirty="0">
                <a:latin typeface="Times New Roman"/>
                <a:cs typeface="Times New Roman"/>
              </a:rPr>
              <a:t>together </a:t>
            </a:r>
            <a:r>
              <a:rPr sz="1800" spc="85" dirty="0">
                <a:latin typeface="Times New Roman"/>
                <a:cs typeface="Times New Roman"/>
              </a:rPr>
              <a:t>in </a:t>
            </a:r>
            <a:r>
              <a:rPr sz="1800" spc="75" dirty="0">
                <a:latin typeface="Times New Roman"/>
                <a:cs typeface="Times New Roman"/>
              </a:rPr>
              <a:t>order </a:t>
            </a:r>
            <a:r>
              <a:rPr sz="1800" spc="95" dirty="0">
                <a:latin typeface="Times New Roman"/>
                <a:cs typeface="Times New Roman"/>
              </a:rPr>
              <a:t>to  </a:t>
            </a:r>
            <a:r>
              <a:rPr sz="1800" spc="75" dirty="0">
                <a:latin typeface="Times New Roman"/>
                <a:cs typeface="Times New Roman"/>
              </a:rPr>
              <a:t>present </a:t>
            </a:r>
            <a:r>
              <a:rPr sz="1800" spc="45" dirty="0">
                <a:latin typeface="Times New Roman"/>
                <a:cs typeface="Times New Roman"/>
              </a:rPr>
              <a:t>summarized</a:t>
            </a:r>
            <a:r>
              <a:rPr sz="1800" spc="-225" dirty="0">
                <a:latin typeface="Times New Roman"/>
                <a:cs typeface="Times New Roman"/>
              </a:rPr>
              <a:t> </a:t>
            </a:r>
            <a:r>
              <a:rPr sz="1800" spc="70" dirty="0">
                <a:latin typeface="Times New Roman"/>
                <a:cs typeface="Times New Roman"/>
              </a:rPr>
              <a:t>information.</a:t>
            </a:r>
            <a:endParaRPr sz="1800">
              <a:latin typeface="Times New Roman"/>
              <a:cs typeface="Times New Roman"/>
            </a:endParaRPr>
          </a:p>
          <a:p>
            <a:pPr marL="355600" marR="6350" indent="-342900" algn="just">
              <a:lnSpc>
                <a:spcPts val="2160"/>
              </a:lnSpc>
              <a:buSzPct val="111111"/>
              <a:buFont typeface="Wingdings"/>
              <a:buChar char=""/>
              <a:tabLst>
                <a:tab pos="355600" algn="l"/>
              </a:tabLst>
            </a:pPr>
            <a:r>
              <a:rPr sz="1800" spc="15" dirty="0">
                <a:latin typeface="Times New Roman"/>
                <a:cs typeface="Times New Roman"/>
              </a:rPr>
              <a:t>Joins </a:t>
            </a:r>
            <a:r>
              <a:rPr sz="1800" spc="75" dirty="0">
                <a:latin typeface="Times New Roman"/>
                <a:cs typeface="Times New Roman"/>
              </a:rPr>
              <a:t>help </a:t>
            </a:r>
            <a:r>
              <a:rPr sz="1800" spc="100" dirty="0">
                <a:latin typeface="Times New Roman"/>
                <a:cs typeface="Times New Roman"/>
              </a:rPr>
              <a:t>to </a:t>
            </a:r>
            <a:r>
              <a:rPr sz="1800" spc="65" dirty="0">
                <a:latin typeface="Times New Roman"/>
                <a:cs typeface="Times New Roman"/>
              </a:rPr>
              <a:t>combine </a:t>
            </a:r>
            <a:r>
              <a:rPr sz="1800" spc="80" dirty="0">
                <a:latin typeface="Times New Roman"/>
                <a:cs typeface="Times New Roman"/>
              </a:rPr>
              <a:t>column </a:t>
            </a:r>
            <a:r>
              <a:rPr sz="1800" spc="70" dirty="0">
                <a:latin typeface="Times New Roman"/>
                <a:cs typeface="Times New Roman"/>
              </a:rPr>
              <a:t>data </a:t>
            </a:r>
            <a:r>
              <a:rPr sz="1800" spc="65" dirty="0">
                <a:latin typeface="Times New Roman"/>
                <a:cs typeface="Times New Roman"/>
              </a:rPr>
              <a:t>from </a:t>
            </a:r>
            <a:r>
              <a:rPr sz="1800" spc="80" dirty="0">
                <a:latin typeface="Times New Roman"/>
                <a:cs typeface="Times New Roman"/>
              </a:rPr>
              <a:t>two </a:t>
            </a:r>
            <a:r>
              <a:rPr sz="1800" spc="75" dirty="0">
                <a:latin typeface="Times New Roman"/>
                <a:cs typeface="Times New Roman"/>
              </a:rPr>
              <a:t>or </a:t>
            </a:r>
            <a:r>
              <a:rPr sz="1800" spc="70" dirty="0">
                <a:latin typeface="Times New Roman"/>
                <a:cs typeface="Times New Roman"/>
              </a:rPr>
              <a:t>more</a:t>
            </a:r>
            <a:r>
              <a:rPr sz="1800" spc="-40" dirty="0">
                <a:latin typeface="Times New Roman"/>
                <a:cs typeface="Times New Roman"/>
              </a:rPr>
              <a:t> </a:t>
            </a:r>
            <a:r>
              <a:rPr sz="1800" spc="45" dirty="0">
                <a:latin typeface="Times New Roman"/>
                <a:cs typeface="Times New Roman"/>
              </a:rPr>
              <a:t>tables  </a:t>
            </a:r>
            <a:r>
              <a:rPr sz="1800" spc="55" dirty="0">
                <a:latin typeface="Times New Roman"/>
                <a:cs typeface="Times New Roman"/>
              </a:rPr>
              <a:t>based</a:t>
            </a:r>
            <a:r>
              <a:rPr sz="1800" spc="-70" dirty="0">
                <a:latin typeface="Times New Roman"/>
                <a:cs typeface="Times New Roman"/>
              </a:rPr>
              <a:t> </a:t>
            </a:r>
            <a:r>
              <a:rPr sz="1800" spc="120" dirty="0">
                <a:latin typeface="Times New Roman"/>
                <a:cs typeface="Times New Roman"/>
              </a:rPr>
              <a:t>on</a:t>
            </a:r>
            <a:r>
              <a:rPr sz="1800" spc="-65" dirty="0">
                <a:latin typeface="Times New Roman"/>
                <a:cs typeface="Times New Roman"/>
              </a:rPr>
              <a:t> </a:t>
            </a:r>
            <a:r>
              <a:rPr sz="1800" spc="30" dirty="0">
                <a:latin typeface="Times New Roman"/>
                <a:cs typeface="Times New Roman"/>
              </a:rPr>
              <a:t>a</a:t>
            </a:r>
            <a:r>
              <a:rPr sz="1800" spc="-70" dirty="0">
                <a:latin typeface="Times New Roman"/>
                <a:cs typeface="Times New Roman"/>
              </a:rPr>
              <a:t> </a:t>
            </a:r>
            <a:r>
              <a:rPr sz="1800" spc="15" dirty="0">
                <a:latin typeface="Times New Roman"/>
                <a:cs typeface="Times New Roman"/>
              </a:rPr>
              <a:t>logical</a:t>
            </a:r>
            <a:r>
              <a:rPr sz="1800" spc="-70" dirty="0">
                <a:latin typeface="Times New Roman"/>
                <a:cs typeface="Times New Roman"/>
              </a:rPr>
              <a:t> </a:t>
            </a:r>
            <a:r>
              <a:rPr sz="1800" spc="65" dirty="0">
                <a:latin typeface="Times New Roman"/>
                <a:cs typeface="Times New Roman"/>
              </a:rPr>
              <a:t>relationship</a:t>
            </a:r>
            <a:r>
              <a:rPr sz="1800" spc="-65" dirty="0">
                <a:latin typeface="Times New Roman"/>
                <a:cs typeface="Times New Roman"/>
              </a:rPr>
              <a:t> </a:t>
            </a:r>
            <a:r>
              <a:rPr sz="1800" spc="75" dirty="0">
                <a:latin typeface="Times New Roman"/>
                <a:cs typeface="Times New Roman"/>
              </a:rPr>
              <a:t>between</a:t>
            </a:r>
            <a:r>
              <a:rPr sz="1800" spc="-65" dirty="0">
                <a:latin typeface="Times New Roman"/>
                <a:cs typeface="Times New Roman"/>
              </a:rPr>
              <a:t> </a:t>
            </a:r>
            <a:r>
              <a:rPr sz="1800" spc="100" dirty="0">
                <a:latin typeface="Times New Roman"/>
                <a:cs typeface="Times New Roman"/>
              </a:rPr>
              <a:t>the</a:t>
            </a:r>
            <a:r>
              <a:rPr sz="1800" spc="-65" dirty="0">
                <a:latin typeface="Times New Roman"/>
                <a:cs typeface="Times New Roman"/>
              </a:rPr>
              <a:t> </a:t>
            </a:r>
            <a:r>
              <a:rPr sz="1800" spc="40" dirty="0">
                <a:latin typeface="Times New Roman"/>
                <a:cs typeface="Times New Roman"/>
              </a:rPr>
              <a:t>tables.</a:t>
            </a:r>
            <a:endParaRPr sz="1800">
              <a:latin typeface="Times New Roman"/>
              <a:cs typeface="Times New Roman"/>
            </a:endParaRPr>
          </a:p>
          <a:p>
            <a:pPr marL="355600" marR="6985" indent="-342900" algn="just">
              <a:lnSpc>
                <a:spcPts val="2160"/>
              </a:lnSpc>
              <a:buSzPct val="111111"/>
              <a:buFont typeface="Wingdings"/>
              <a:buChar char=""/>
              <a:tabLst>
                <a:tab pos="355600" algn="l"/>
              </a:tabLst>
            </a:pPr>
            <a:r>
              <a:rPr sz="1800" spc="75" dirty="0">
                <a:latin typeface="Times New Roman"/>
                <a:cs typeface="Times New Roman"/>
              </a:rPr>
              <a:t>Set </a:t>
            </a:r>
            <a:r>
              <a:rPr sz="1800" spc="65" dirty="0">
                <a:latin typeface="Times New Roman"/>
                <a:cs typeface="Times New Roman"/>
              </a:rPr>
              <a:t>operators </a:t>
            </a:r>
            <a:r>
              <a:rPr sz="1800" spc="80" dirty="0">
                <a:latin typeface="Times New Roman"/>
                <a:cs typeface="Times New Roman"/>
              </a:rPr>
              <a:t>such </a:t>
            </a:r>
            <a:r>
              <a:rPr sz="1800" spc="15" dirty="0">
                <a:latin typeface="Times New Roman"/>
                <a:cs typeface="Times New Roman"/>
              </a:rPr>
              <a:t>as </a:t>
            </a:r>
            <a:r>
              <a:rPr sz="1800" spc="130" dirty="0">
                <a:latin typeface="Times New Roman"/>
                <a:cs typeface="Times New Roman"/>
              </a:rPr>
              <a:t>UNION </a:t>
            </a:r>
            <a:r>
              <a:rPr sz="1800" spc="100" dirty="0">
                <a:latin typeface="Times New Roman"/>
                <a:cs typeface="Times New Roman"/>
              </a:rPr>
              <a:t>and </a:t>
            </a:r>
            <a:r>
              <a:rPr sz="1800" spc="90" dirty="0">
                <a:latin typeface="Times New Roman"/>
                <a:cs typeface="Times New Roman"/>
              </a:rPr>
              <a:t>INTERSECT </a:t>
            </a:r>
            <a:r>
              <a:rPr sz="1800" spc="60" dirty="0">
                <a:latin typeface="Times New Roman"/>
                <a:cs typeface="Times New Roman"/>
              </a:rPr>
              <a:t>combines  </a:t>
            </a:r>
            <a:r>
              <a:rPr sz="1800" spc="65" dirty="0">
                <a:latin typeface="Times New Roman"/>
                <a:cs typeface="Times New Roman"/>
              </a:rPr>
              <a:t>row</a:t>
            </a:r>
            <a:r>
              <a:rPr sz="1800" spc="-60" dirty="0">
                <a:latin typeface="Times New Roman"/>
                <a:cs typeface="Times New Roman"/>
              </a:rPr>
              <a:t> </a:t>
            </a:r>
            <a:r>
              <a:rPr sz="1800" spc="70" dirty="0">
                <a:latin typeface="Times New Roman"/>
                <a:cs typeface="Times New Roman"/>
              </a:rPr>
              <a:t>data</a:t>
            </a:r>
            <a:r>
              <a:rPr sz="1800" spc="-85" dirty="0">
                <a:latin typeface="Times New Roman"/>
                <a:cs typeface="Times New Roman"/>
              </a:rPr>
              <a:t> </a:t>
            </a:r>
            <a:r>
              <a:rPr sz="1800" spc="65" dirty="0">
                <a:latin typeface="Times New Roman"/>
                <a:cs typeface="Times New Roman"/>
              </a:rPr>
              <a:t>from</a:t>
            </a:r>
            <a:r>
              <a:rPr sz="1800" spc="-60" dirty="0">
                <a:latin typeface="Times New Roman"/>
                <a:cs typeface="Times New Roman"/>
              </a:rPr>
              <a:t> </a:t>
            </a:r>
            <a:r>
              <a:rPr sz="1800" spc="80" dirty="0">
                <a:latin typeface="Times New Roman"/>
                <a:cs typeface="Times New Roman"/>
              </a:rPr>
              <a:t>two</a:t>
            </a:r>
            <a:r>
              <a:rPr sz="1800" spc="-60" dirty="0">
                <a:latin typeface="Times New Roman"/>
                <a:cs typeface="Times New Roman"/>
              </a:rPr>
              <a:t> </a:t>
            </a:r>
            <a:r>
              <a:rPr sz="1800" spc="75" dirty="0">
                <a:latin typeface="Times New Roman"/>
                <a:cs typeface="Times New Roman"/>
              </a:rPr>
              <a:t>or</a:t>
            </a:r>
            <a:r>
              <a:rPr sz="1800" spc="-60" dirty="0">
                <a:latin typeface="Times New Roman"/>
                <a:cs typeface="Times New Roman"/>
              </a:rPr>
              <a:t> </a:t>
            </a:r>
            <a:r>
              <a:rPr sz="1800" spc="70" dirty="0">
                <a:latin typeface="Times New Roman"/>
                <a:cs typeface="Times New Roman"/>
              </a:rPr>
              <a:t>more</a:t>
            </a:r>
            <a:r>
              <a:rPr sz="1800" spc="-65" dirty="0">
                <a:latin typeface="Times New Roman"/>
                <a:cs typeface="Times New Roman"/>
              </a:rPr>
              <a:t> </a:t>
            </a:r>
            <a:r>
              <a:rPr sz="1800" spc="40" dirty="0">
                <a:latin typeface="Times New Roman"/>
                <a:cs typeface="Times New Roman"/>
              </a:rPr>
              <a:t>tables.</a:t>
            </a:r>
            <a:endParaRPr sz="1800">
              <a:latin typeface="Times New Roman"/>
              <a:cs typeface="Times New Roman"/>
            </a:endParaRPr>
          </a:p>
          <a:p>
            <a:pPr marL="355600" marR="5080" indent="-342900" algn="just">
              <a:lnSpc>
                <a:spcPts val="2160"/>
              </a:lnSpc>
              <a:buSzPct val="111111"/>
              <a:buFont typeface="Wingdings"/>
              <a:buChar char=""/>
              <a:tabLst>
                <a:tab pos="355600" algn="l"/>
              </a:tabLst>
            </a:pPr>
            <a:r>
              <a:rPr sz="1800" spc="135" dirty="0">
                <a:latin typeface="Times New Roman"/>
                <a:cs typeface="Times New Roman"/>
              </a:rPr>
              <a:t>IVOT </a:t>
            </a:r>
            <a:r>
              <a:rPr sz="1800" spc="100" dirty="0">
                <a:latin typeface="Times New Roman"/>
                <a:cs typeface="Times New Roman"/>
              </a:rPr>
              <a:t>and </a:t>
            </a:r>
            <a:r>
              <a:rPr sz="1800" spc="120" dirty="0">
                <a:latin typeface="Times New Roman"/>
                <a:cs typeface="Times New Roman"/>
              </a:rPr>
              <a:t>UNPIVOT </a:t>
            </a:r>
            <a:r>
              <a:rPr sz="1800" spc="65" dirty="0">
                <a:latin typeface="Times New Roman"/>
                <a:cs typeface="Times New Roman"/>
              </a:rPr>
              <a:t>operators </a:t>
            </a:r>
            <a:r>
              <a:rPr sz="1800" spc="45" dirty="0">
                <a:latin typeface="Times New Roman"/>
                <a:cs typeface="Times New Roman"/>
              </a:rPr>
              <a:t>are </a:t>
            </a:r>
            <a:r>
              <a:rPr sz="1800" spc="75" dirty="0">
                <a:latin typeface="Times New Roman"/>
                <a:cs typeface="Times New Roman"/>
              </a:rPr>
              <a:t>used </a:t>
            </a:r>
            <a:r>
              <a:rPr sz="1800" spc="100" dirty="0">
                <a:latin typeface="Times New Roman"/>
                <a:cs typeface="Times New Roman"/>
              </a:rPr>
              <a:t>to </a:t>
            </a:r>
            <a:r>
              <a:rPr sz="1800" spc="70" dirty="0">
                <a:latin typeface="Times New Roman"/>
                <a:cs typeface="Times New Roman"/>
              </a:rPr>
              <a:t>transform </a:t>
            </a:r>
            <a:r>
              <a:rPr sz="1800" spc="105" dirty="0">
                <a:latin typeface="Times New Roman"/>
                <a:cs typeface="Times New Roman"/>
              </a:rPr>
              <a:t>the  </a:t>
            </a:r>
            <a:r>
              <a:rPr sz="1800" spc="80" dirty="0">
                <a:latin typeface="Times New Roman"/>
                <a:cs typeface="Times New Roman"/>
              </a:rPr>
              <a:t>orientation </a:t>
            </a:r>
            <a:r>
              <a:rPr sz="1800" spc="50" dirty="0">
                <a:latin typeface="Times New Roman"/>
                <a:cs typeface="Times New Roman"/>
              </a:rPr>
              <a:t>of </a:t>
            </a:r>
            <a:r>
              <a:rPr sz="1800" spc="70" dirty="0">
                <a:latin typeface="Times New Roman"/>
                <a:cs typeface="Times New Roman"/>
              </a:rPr>
              <a:t>data </a:t>
            </a:r>
            <a:r>
              <a:rPr sz="1800" spc="65" dirty="0">
                <a:latin typeface="Times New Roman"/>
                <a:cs typeface="Times New Roman"/>
              </a:rPr>
              <a:t>from </a:t>
            </a:r>
            <a:r>
              <a:rPr sz="1800" spc="75" dirty="0">
                <a:latin typeface="Times New Roman"/>
                <a:cs typeface="Times New Roman"/>
              </a:rPr>
              <a:t>column-oriented </a:t>
            </a:r>
            <a:r>
              <a:rPr sz="1800" spc="100" dirty="0">
                <a:latin typeface="Times New Roman"/>
                <a:cs typeface="Times New Roman"/>
              </a:rPr>
              <a:t>to </a:t>
            </a:r>
            <a:r>
              <a:rPr sz="1800" spc="70" dirty="0">
                <a:latin typeface="Times New Roman"/>
                <a:cs typeface="Times New Roman"/>
              </a:rPr>
              <a:t>row-oriented  </a:t>
            </a:r>
            <a:r>
              <a:rPr sz="1800" spc="100" dirty="0">
                <a:latin typeface="Times New Roman"/>
                <a:cs typeface="Times New Roman"/>
              </a:rPr>
              <a:t>and </a:t>
            </a:r>
            <a:r>
              <a:rPr sz="1800" spc="25" dirty="0">
                <a:latin typeface="Times New Roman"/>
                <a:cs typeface="Times New Roman"/>
              </a:rPr>
              <a:t>vice</a:t>
            </a:r>
            <a:r>
              <a:rPr sz="1800" spc="-245" dirty="0">
                <a:latin typeface="Times New Roman"/>
                <a:cs typeface="Times New Roman"/>
              </a:rPr>
              <a:t> </a:t>
            </a:r>
            <a:r>
              <a:rPr sz="1800" spc="30" dirty="0">
                <a:latin typeface="Times New Roman"/>
                <a:cs typeface="Times New Roman"/>
              </a:rPr>
              <a:t>versa.</a:t>
            </a:r>
            <a:endParaRPr sz="1800">
              <a:latin typeface="Times New Roman"/>
              <a:cs typeface="Times New Roman"/>
            </a:endParaRPr>
          </a:p>
          <a:p>
            <a:pPr marL="355600" indent="-342900">
              <a:lnSpc>
                <a:spcPts val="2090"/>
              </a:lnSpc>
              <a:buSzPct val="111111"/>
              <a:buFont typeface="Wingdings"/>
              <a:buChar char=""/>
              <a:tabLst>
                <a:tab pos="354965" algn="l"/>
                <a:tab pos="355600" algn="l"/>
              </a:tabLst>
            </a:pPr>
            <a:r>
              <a:rPr sz="1800" spc="120" dirty="0">
                <a:latin typeface="Times New Roman"/>
                <a:cs typeface="Times New Roman"/>
              </a:rPr>
              <a:t>GROUPING</a:t>
            </a:r>
            <a:r>
              <a:rPr sz="1800" spc="-50" dirty="0">
                <a:latin typeface="Times New Roman"/>
                <a:cs typeface="Times New Roman"/>
              </a:rPr>
              <a:t> </a:t>
            </a:r>
            <a:r>
              <a:rPr sz="1800" spc="75" dirty="0">
                <a:latin typeface="Times New Roman"/>
                <a:cs typeface="Times New Roman"/>
              </a:rPr>
              <a:t>SET</a:t>
            </a:r>
            <a:r>
              <a:rPr sz="1800" spc="-50" dirty="0">
                <a:latin typeface="Times New Roman"/>
                <a:cs typeface="Times New Roman"/>
              </a:rPr>
              <a:t> </a:t>
            </a:r>
            <a:r>
              <a:rPr sz="1800" spc="50" dirty="0">
                <a:latin typeface="Times New Roman"/>
                <a:cs typeface="Times New Roman"/>
              </a:rPr>
              <a:t>subclause</a:t>
            </a:r>
            <a:r>
              <a:rPr sz="1800" spc="-50" dirty="0">
                <a:latin typeface="Times New Roman"/>
                <a:cs typeface="Times New Roman"/>
              </a:rPr>
              <a:t> </a:t>
            </a:r>
            <a:r>
              <a:rPr sz="1800" spc="50" dirty="0">
                <a:latin typeface="Times New Roman"/>
                <a:cs typeface="Times New Roman"/>
              </a:rPr>
              <a:t>of</a:t>
            </a:r>
            <a:r>
              <a:rPr sz="1800" spc="-40" dirty="0">
                <a:latin typeface="Times New Roman"/>
                <a:cs typeface="Times New Roman"/>
              </a:rPr>
              <a:t> </a:t>
            </a:r>
            <a:r>
              <a:rPr sz="1800" spc="100" dirty="0">
                <a:latin typeface="Times New Roman"/>
                <a:cs typeface="Times New Roman"/>
              </a:rPr>
              <a:t>the</a:t>
            </a:r>
            <a:r>
              <a:rPr sz="1800" spc="-45" dirty="0">
                <a:latin typeface="Times New Roman"/>
                <a:cs typeface="Times New Roman"/>
              </a:rPr>
              <a:t> </a:t>
            </a:r>
            <a:r>
              <a:rPr sz="1800" spc="135" dirty="0">
                <a:latin typeface="Times New Roman"/>
                <a:cs typeface="Times New Roman"/>
              </a:rPr>
              <a:t>GROUP</a:t>
            </a:r>
            <a:r>
              <a:rPr sz="1800" spc="-50" dirty="0">
                <a:latin typeface="Times New Roman"/>
                <a:cs typeface="Times New Roman"/>
              </a:rPr>
              <a:t> </a:t>
            </a:r>
            <a:r>
              <a:rPr sz="1800" spc="-45" dirty="0">
                <a:latin typeface="Times New Roman"/>
                <a:cs typeface="Times New Roman"/>
              </a:rPr>
              <a:t>BY</a:t>
            </a:r>
            <a:r>
              <a:rPr sz="1800" spc="-40" dirty="0">
                <a:latin typeface="Times New Roman"/>
                <a:cs typeface="Times New Roman"/>
              </a:rPr>
              <a:t> </a:t>
            </a:r>
            <a:r>
              <a:rPr sz="1800" spc="35" dirty="0">
                <a:latin typeface="Times New Roman"/>
                <a:cs typeface="Times New Roman"/>
              </a:rPr>
              <a:t>clause</a:t>
            </a:r>
            <a:r>
              <a:rPr sz="1800" spc="-35" dirty="0">
                <a:latin typeface="Times New Roman"/>
                <a:cs typeface="Times New Roman"/>
              </a:rPr>
              <a:t> </a:t>
            </a:r>
            <a:r>
              <a:rPr sz="1800" spc="60" dirty="0">
                <a:latin typeface="Times New Roman"/>
                <a:cs typeface="Times New Roman"/>
              </a:rPr>
              <a:t>helps</a:t>
            </a:r>
            <a:endParaRPr sz="1800">
              <a:latin typeface="Times New Roman"/>
              <a:cs typeface="Times New Roman"/>
            </a:endParaRPr>
          </a:p>
          <a:p>
            <a:pPr marL="355600">
              <a:lnSpc>
                <a:spcPct val="100000"/>
              </a:lnSpc>
            </a:pPr>
            <a:r>
              <a:rPr sz="1800" spc="100" dirty="0">
                <a:latin typeface="Times New Roman"/>
                <a:cs typeface="Times New Roman"/>
              </a:rPr>
              <a:t>to</a:t>
            </a:r>
            <a:r>
              <a:rPr sz="1800" spc="-70" dirty="0">
                <a:latin typeface="Times New Roman"/>
                <a:cs typeface="Times New Roman"/>
              </a:rPr>
              <a:t> </a:t>
            </a:r>
            <a:r>
              <a:rPr sz="1800" spc="25" dirty="0">
                <a:latin typeface="Times New Roman"/>
                <a:cs typeface="Times New Roman"/>
              </a:rPr>
              <a:t>specify</a:t>
            </a:r>
            <a:r>
              <a:rPr sz="1800" spc="-55" dirty="0">
                <a:latin typeface="Times New Roman"/>
                <a:cs typeface="Times New Roman"/>
              </a:rPr>
              <a:t> </a:t>
            </a:r>
            <a:r>
              <a:rPr sz="1800" spc="60" dirty="0">
                <a:latin typeface="Times New Roman"/>
                <a:cs typeface="Times New Roman"/>
              </a:rPr>
              <a:t>multiple</a:t>
            </a:r>
            <a:r>
              <a:rPr sz="1800" spc="-75" dirty="0">
                <a:latin typeface="Times New Roman"/>
                <a:cs typeface="Times New Roman"/>
              </a:rPr>
              <a:t> </a:t>
            </a:r>
            <a:r>
              <a:rPr sz="1800" spc="55" dirty="0">
                <a:latin typeface="Times New Roman"/>
                <a:cs typeface="Times New Roman"/>
              </a:rPr>
              <a:t>groupings</a:t>
            </a:r>
            <a:r>
              <a:rPr sz="1800" spc="-65" dirty="0">
                <a:latin typeface="Times New Roman"/>
                <a:cs typeface="Times New Roman"/>
              </a:rPr>
              <a:t> </a:t>
            </a:r>
            <a:r>
              <a:rPr sz="1800" spc="85" dirty="0">
                <a:latin typeface="Times New Roman"/>
                <a:cs typeface="Times New Roman"/>
              </a:rPr>
              <a:t>in</a:t>
            </a:r>
            <a:r>
              <a:rPr sz="1800" spc="-65" dirty="0">
                <a:latin typeface="Times New Roman"/>
                <a:cs typeface="Times New Roman"/>
              </a:rPr>
              <a:t> </a:t>
            </a:r>
            <a:r>
              <a:rPr sz="1800" spc="30" dirty="0">
                <a:latin typeface="Times New Roman"/>
                <a:cs typeface="Times New Roman"/>
              </a:rPr>
              <a:t>a</a:t>
            </a:r>
            <a:r>
              <a:rPr sz="1800" spc="-65" dirty="0">
                <a:latin typeface="Times New Roman"/>
                <a:cs typeface="Times New Roman"/>
              </a:rPr>
              <a:t> </a:t>
            </a:r>
            <a:r>
              <a:rPr sz="1800" spc="30" dirty="0">
                <a:latin typeface="Times New Roman"/>
                <a:cs typeface="Times New Roman"/>
              </a:rPr>
              <a:t>single</a:t>
            </a:r>
            <a:r>
              <a:rPr sz="1800" spc="-65" dirty="0">
                <a:latin typeface="Times New Roman"/>
                <a:cs typeface="Times New Roman"/>
              </a:rPr>
              <a:t> </a:t>
            </a:r>
            <a:r>
              <a:rPr sz="1800" spc="55" dirty="0">
                <a:latin typeface="Times New Roman"/>
                <a:cs typeface="Times New Roman"/>
              </a:rPr>
              <a:t>query.</a:t>
            </a:r>
            <a:endParaRPr sz="1800">
              <a:latin typeface="Times New Roman"/>
              <a:cs typeface="Times New Roman"/>
            </a:endParaRPr>
          </a:p>
        </p:txBody>
      </p:sp>
      <p:grpSp>
        <p:nvGrpSpPr>
          <p:cNvPr id="5" name="object 5"/>
          <p:cNvGrpSpPr/>
          <p:nvPr/>
        </p:nvGrpSpPr>
        <p:grpSpPr>
          <a:xfrm>
            <a:off x="7213727" y="799211"/>
            <a:ext cx="1381760" cy="1244600"/>
            <a:chOff x="7213727" y="799211"/>
            <a:chExt cx="1381760" cy="1244600"/>
          </a:xfrm>
        </p:grpSpPr>
        <p:sp>
          <p:nvSpPr>
            <p:cNvPr id="6" name="object 6"/>
            <p:cNvSpPr/>
            <p:nvPr/>
          </p:nvSpPr>
          <p:spPr>
            <a:xfrm>
              <a:off x="7226427" y="811911"/>
              <a:ext cx="1356360" cy="1219200"/>
            </a:xfrm>
            <a:custGeom>
              <a:avLst/>
              <a:gdLst/>
              <a:ahLst/>
              <a:cxnLst/>
              <a:rect l="l" t="t" r="r" b="b"/>
              <a:pathLst>
                <a:path w="1356359" h="1219200">
                  <a:moveTo>
                    <a:pt x="678180" y="0"/>
                  </a:moveTo>
                  <a:lnTo>
                    <a:pt x="627569" y="1672"/>
                  </a:lnTo>
                  <a:lnTo>
                    <a:pt x="577969" y="6609"/>
                  </a:lnTo>
                  <a:lnTo>
                    <a:pt x="529509" y="14694"/>
                  </a:lnTo>
                  <a:lnTo>
                    <a:pt x="482321" y="25809"/>
                  </a:lnTo>
                  <a:lnTo>
                    <a:pt x="436537" y="39836"/>
                  </a:lnTo>
                  <a:lnTo>
                    <a:pt x="392287" y="56657"/>
                  </a:lnTo>
                  <a:lnTo>
                    <a:pt x="349702" y="76154"/>
                  </a:lnTo>
                  <a:lnTo>
                    <a:pt x="308915" y="98209"/>
                  </a:lnTo>
                  <a:lnTo>
                    <a:pt x="270055" y="122704"/>
                  </a:lnTo>
                  <a:lnTo>
                    <a:pt x="233254" y="149523"/>
                  </a:lnTo>
                  <a:lnTo>
                    <a:pt x="198643" y="178546"/>
                  </a:lnTo>
                  <a:lnTo>
                    <a:pt x="166354" y="209655"/>
                  </a:lnTo>
                  <a:lnTo>
                    <a:pt x="136518" y="242734"/>
                  </a:lnTo>
                  <a:lnTo>
                    <a:pt x="109265" y="277664"/>
                  </a:lnTo>
                  <a:lnTo>
                    <a:pt x="84727" y="314327"/>
                  </a:lnTo>
                  <a:lnTo>
                    <a:pt x="63035" y="352606"/>
                  </a:lnTo>
                  <a:lnTo>
                    <a:pt x="44321" y="392382"/>
                  </a:lnTo>
                  <a:lnTo>
                    <a:pt x="28715" y="433537"/>
                  </a:lnTo>
                  <a:lnTo>
                    <a:pt x="16349" y="475955"/>
                  </a:lnTo>
                  <a:lnTo>
                    <a:pt x="7353" y="519516"/>
                  </a:lnTo>
                  <a:lnTo>
                    <a:pt x="1860" y="564104"/>
                  </a:lnTo>
                  <a:lnTo>
                    <a:pt x="0" y="609600"/>
                  </a:lnTo>
                  <a:lnTo>
                    <a:pt x="1860" y="655095"/>
                  </a:lnTo>
                  <a:lnTo>
                    <a:pt x="7353" y="699683"/>
                  </a:lnTo>
                  <a:lnTo>
                    <a:pt x="16349" y="743244"/>
                  </a:lnTo>
                  <a:lnTo>
                    <a:pt x="28715" y="785662"/>
                  </a:lnTo>
                  <a:lnTo>
                    <a:pt x="44321" y="826817"/>
                  </a:lnTo>
                  <a:lnTo>
                    <a:pt x="63035" y="866593"/>
                  </a:lnTo>
                  <a:lnTo>
                    <a:pt x="84727" y="904872"/>
                  </a:lnTo>
                  <a:lnTo>
                    <a:pt x="109265" y="941535"/>
                  </a:lnTo>
                  <a:lnTo>
                    <a:pt x="136518" y="976465"/>
                  </a:lnTo>
                  <a:lnTo>
                    <a:pt x="166354" y="1009544"/>
                  </a:lnTo>
                  <a:lnTo>
                    <a:pt x="198643" y="1040653"/>
                  </a:lnTo>
                  <a:lnTo>
                    <a:pt x="233254" y="1069676"/>
                  </a:lnTo>
                  <a:lnTo>
                    <a:pt x="270055" y="1096495"/>
                  </a:lnTo>
                  <a:lnTo>
                    <a:pt x="308915" y="1120990"/>
                  </a:lnTo>
                  <a:lnTo>
                    <a:pt x="349702" y="1143045"/>
                  </a:lnTo>
                  <a:lnTo>
                    <a:pt x="392287" y="1162542"/>
                  </a:lnTo>
                  <a:lnTo>
                    <a:pt x="436537" y="1179363"/>
                  </a:lnTo>
                  <a:lnTo>
                    <a:pt x="482321" y="1193390"/>
                  </a:lnTo>
                  <a:lnTo>
                    <a:pt x="529509" y="1204505"/>
                  </a:lnTo>
                  <a:lnTo>
                    <a:pt x="577969" y="1212590"/>
                  </a:lnTo>
                  <a:lnTo>
                    <a:pt x="627569" y="1217527"/>
                  </a:lnTo>
                  <a:lnTo>
                    <a:pt x="678180" y="1219200"/>
                  </a:lnTo>
                  <a:lnTo>
                    <a:pt x="728790" y="1217527"/>
                  </a:lnTo>
                  <a:lnTo>
                    <a:pt x="778390" y="1212590"/>
                  </a:lnTo>
                  <a:lnTo>
                    <a:pt x="826850" y="1204505"/>
                  </a:lnTo>
                  <a:lnTo>
                    <a:pt x="874038" y="1193390"/>
                  </a:lnTo>
                  <a:lnTo>
                    <a:pt x="919822" y="1179363"/>
                  </a:lnTo>
                  <a:lnTo>
                    <a:pt x="964072" y="1162542"/>
                  </a:lnTo>
                  <a:lnTo>
                    <a:pt x="1006657" y="1143045"/>
                  </a:lnTo>
                  <a:lnTo>
                    <a:pt x="1047444" y="1120990"/>
                  </a:lnTo>
                  <a:lnTo>
                    <a:pt x="1086304" y="1096495"/>
                  </a:lnTo>
                  <a:lnTo>
                    <a:pt x="1123105" y="1069676"/>
                  </a:lnTo>
                  <a:lnTo>
                    <a:pt x="1157716" y="1040653"/>
                  </a:lnTo>
                  <a:lnTo>
                    <a:pt x="1190005" y="1009544"/>
                  </a:lnTo>
                  <a:lnTo>
                    <a:pt x="1219841" y="976465"/>
                  </a:lnTo>
                  <a:lnTo>
                    <a:pt x="1247094" y="941535"/>
                  </a:lnTo>
                  <a:lnTo>
                    <a:pt x="1271632" y="904872"/>
                  </a:lnTo>
                  <a:lnTo>
                    <a:pt x="1293324" y="866593"/>
                  </a:lnTo>
                  <a:lnTo>
                    <a:pt x="1312038" y="826817"/>
                  </a:lnTo>
                  <a:lnTo>
                    <a:pt x="1327644" y="785662"/>
                  </a:lnTo>
                  <a:lnTo>
                    <a:pt x="1340010" y="743244"/>
                  </a:lnTo>
                  <a:lnTo>
                    <a:pt x="1349006" y="699683"/>
                  </a:lnTo>
                  <a:lnTo>
                    <a:pt x="1354499" y="655095"/>
                  </a:lnTo>
                  <a:lnTo>
                    <a:pt x="1356360" y="609600"/>
                  </a:lnTo>
                  <a:lnTo>
                    <a:pt x="1354499" y="564104"/>
                  </a:lnTo>
                  <a:lnTo>
                    <a:pt x="1349006" y="519516"/>
                  </a:lnTo>
                  <a:lnTo>
                    <a:pt x="1340010" y="475955"/>
                  </a:lnTo>
                  <a:lnTo>
                    <a:pt x="1327644" y="433537"/>
                  </a:lnTo>
                  <a:lnTo>
                    <a:pt x="1312038" y="392382"/>
                  </a:lnTo>
                  <a:lnTo>
                    <a:pt x="1293324" y="352606"/>
                  </a:lnTo>
                  <a:lnTo>
                    <a:pt x="1271632" y="314327"/>
                  </a:lnTo>
                  <a:lnTo>
                    <a:pt x="1247094" y="277664"/>
                  </a:lnTo>
                  <a:lnTo>
                    <a:pt x="1219841" y="242734"/>
                  </a:lnTo>
                  <a:lnTo>
                    <a:pt x="1190005" y="209655"/>
                  </a:lnTo>
                  <a:lnTo>
                    <a:pt x="1157716" y="178546"/>
                  </a:lnTo>
                  <a:lnTo>
                    <a:pt x="1123105" y="149523"/>
                  </a:lnTo>
                  <a:lnTo>
                    <a:pt x="1086304" y="122704"/>
                  </a:lnTo>
                  <a:lnTo>
                    <a:pt x="1047444" y="98209"/>
                  </a:lnTo>
                  <a:lnTo>
                    <a:pt x="1006657" y="76154"/>
                  </a:lnTo>
                  <a:lnTo>
                    <a:pt x="964072" y="56657"/>
                  </a:lnTo>
                  <a:lnTo>
                    <a:pt x="919822" y="39836"/>
                  </a:lnTo>
                  <a:lnTo>
                    <a:pt x="874038" y="25809"/>
                  </a:lnTo>
                  <a:lnTo>
                    <a:pt x="826850" y="14694"/>
                  </a:lnTo>
                  <a:lnTo>
                    <a:pt x="778390" y="6609"/>
                  </a:lnTo>
                  <a:lnTo>
                    <a:pt x="728790" y="1672"/>
                  </a:lnTo>
                  <a:lnTo>
                    <a:pt x="678180" y="0"/>
                  </a:lnTo>
                  <a:close/>
                </a:path>
              </a:pathLst>
            </a:custGeom>
            <a:solidFill>
              <a:srgbClr val="4AACC5">
                <a:alpha val="50195"/>
              </a:srgbClr>
            </a:solidFill>
          </p:spPr>
          <p:txBody>
            <a:bodyPr wrap="square" lIns="0" tIns="0" rIns="0" bIns="0" rtlCol="0"/>
            <a:lstStyle/>
            <a:p>
              <a:endParaRPr/>
            </a:p>
          </p:txBody>
        </p:sp>
        <p:sp>
          <p:nvSpPr>
            <p:cNvPr id="7" name="object 7"/>
            <p:cNvSpPr/>
            <p:nvPr/>
          </p:nvSpPr>
          <p:spPr>
            <a:xfrm>
              <a:off x="7226427" y="811911"/>
              <a:ext cx="1356360" cy="1219200"/>
            </a:xfrm>
            <a:custGeom>
              <a:avLst/>
              <a:gdLst/>
              <a:ahLst/>
              <a:cxnLst/>
              <a:rect l="l" t="t" r="r" b="b"/>
              <a:pathLst>
                <a:path w="1356359" h="1219200">
                  <a:moveTo>
                    <a:pt x="0" y="609600"/>
                  </a:moveTo>
                  <a:lnTo>
                    <a:pt x="1860" y="564104"/>
                  </a:lnTo>
                  <a:lnTo>
                    <a:pt x="7353" y="519516"/>
                  </a:lnTo>
                  <a:lnTo>
                    <a:pt x="16349" y="475955"/>
                  </a:lnTo>
                  <a:lnTo>
                    <a:pt x="28715" y="433537"/>
                  </a:lnTo>
                  <a:lnTo>
                    <a:pt x="44321" y="392382"/>
                  </a:lnTo>
                  <a:lnTo>
                    <a:pt x="63035" y="352606"/>
                  </a:lnTo>
                  <a:lnTo>
                    <a:pt x="84727" y="314327"/>
                  </a:lnTo>
                  <a:lnTo>
                    <a:pt x="109265" y="277664"/>
                  </a:lnTo>
                  <a:lnTo>
                    <a:pt x="136518" y="242734"/>
                  </a:lnTo>
                  <a:lnTo>
                    <a:pt x="166354" y="209655"/>
                  </a:lnTo>
                  <a:lnTo>
                    <a:pt x="198643" y="178546"/>
                  </a:lnTo>
                  <a:lnTo>
                    <a:pt x="233254" y="149523"/>
                  </a:lnTo>
                  <a:lnTo>
                    <a:pt x="270055" y="122704"/>
                  </a:lnTo>
                  <a:lnTo>
                    <a:pt x="308915" y="98209"/>
                  </a:lnTo>
                  <a:lnTo>
                    <a:pt x="349702" y="76154"/>
                  </a:lnTo>
                  <a:lnTo>
                    <a:pt x="392287" y="56657"/>
                  </a:lnTo>
                  <a:lnTo>
                    <a:pt x="436537" y="39836"/>
                  </a:lnTo>
                  <a:lnTo>
                    <a:pt x="482321" y="25809"/>
                  </a:lnTo>
                  <a:lnTo>
                    <a:pt x="529509" y="14694"/>
                  </a:lnTo>
                  <a:lnTo>
                    <a:pt x="577969" y="6609"/>
                  </a:lnTo>
                  <a:lnTo>
                    <a:pt x="627569" y="1672"/>
                  </a:lnTo>
                  <a:lnTo>
                    <a:pt x="678180" y="0"/>
                  </a:lnTo>
                  <a:lnTo>
                    <a:pt x="728790" y="1672"/>
                  </a:lnTo>
                  <a:lnTo>
                    <a:pt x="778390" y="6609"/>
                  </a:lnTo>
                  <a:lnTo>
                    <a:pt x="826850" y="14694"/>
                  </a:lnTo>
                  <a:lnTo>
                    <a:pt x="874038" y="25809"/>
                  </a:lnTo>
                  <a:lnTo>
                    <a:pt x="919822" y="39836"/>
                  </a:lnTo>
                  <a:lnTo>
                    <a:pt x="964072" y="56657"/>
                  </a:lnTo>
                  <a:lnTo>
                    <a:pt x="1006657" y="76154"/>
                  </a:lnTo>
                  <a:lnTo>
                    <a:pt x="1047444" y="98209"/>
                  </a:lnTo>
                  <a:lnTo>
                    <a:pt x="1086304" y="122704"/>
                  </a:lnTo>
                  <a:lnTo>
                    <a:pt x="1123105" y="149523"/>
                  </a:lnTo>
                  <a:lnTo>
                    <a:pt x="1157716" y="178546"/>
                  </a:lnTo>
                  <a:lnTo>
                    <a:pt x="1190005" y="209655"/>
                  </a:lnTo>
                  <a:lnTo>
                    <a:pt x="1219841" y="242734"/>
                  </a:lnTo>
                  <a:lnTo>
                    <a:pt x="1247094" y="277664"/>
                  </a:lnTo>
                  <a:lnTo>
                    <a:pt x="1271632" y="314327"/>
                  </a:lnTo>
                  <a:lnTo>
                    <a:pt x="1293324" y="352606"/>
                  </a:lnTo>
                  <a:lnTo>
                    <a:pt x="1312038" y="392382"/>
                  </a:lnTo>
                  <a:lnTo>
                    <a:pt x="1327644" y="433537"/>
                  </a:lnTo>
                  <a:lnTo>
                    <a:pt x="1340010" y="475955"/>
                  </a:lnTo>
                  <a:lnTo>
                    <a:pt x="1349006" y="519516"/>
                  </a:lnTo>
                  <a:lnTo>
                    <a:pt x="1354499" y="564104"/>
                  </a:lnTo>
                  <a:lnTo>
                    <a:pt x="1356360" y="609600"/>
                  </a:lnTo>
                  <a:lnTo>
                    <a:pt x="1354499" y="655095"/>
                  </a:lnTo>
                  <a:lnTo>
                    <a:pt x="1349006" y="699683"/>
                  </a:lnTo>
                  <a:lnTo>
                    <a:pt x="1340010" y="743244"/>
                  </a:lnTo>
                  <a:lnTo>
                    <a:pt x="1327644" y="785662"/>
                  </a:lnTo>
                  <a:lnTo>
                    <a:pt x="1312038" y="826817"/>
                  </a:lnTo>
                  <a:lnTo>
                    <a:pt x="1293324" y="866593"/>
                  </a:lnTo>
                  <a:lnTo>
                    <a:pt x="1271632" y="904872"/>
                  </a:lnTo>
                  <a:lnTo>
                    <a:pt x="1247094" y="941535"/>
                  </a:lnTo>
                  <a:lnTo>
                    <a:pt x="1219841" y="976465"/>
                  </a:lnTo>
                  <a:lnTo>
                    <a:pt x="1190005" y="1009544"/>
                  </a:lnTo>
                  <a:lnTo>
                    <a:pt x="1157716" y="1040653"/>
                  </a:lnTo>
                  <a:lnTo>
                    <a:pt x="1123105" y="1069676"/>
                  </a:lnTo>
                  <a:lnTo>
                    <a:pt x="1086304" y="1096495"/>
                  </a:lnTo>
                  <a:lnTo>
                    <a:pt x="1047444" y="1120990"/>
                  </a:lnTo>
                  <a:lnTo>
                    <a:pt x="1006657" y="1143045"/>
                  </a:lnTo>
                  <a:lnTo>
                    <a:pt x="964072" y="1162542"/>
                  </a:lnTo>
                  <a:lnTo>
                    <a:pt x="919822" y="1179363"/>
                  </a:lnTo>
                  <a:lnTo>
                    <a:pt x="874038" y="1193390"/>
                  </a:lnTo>
                  <a:lnTo>
                    <a:pt x="826850" y="1204505"/>
                  </a:lnTo>
                  <a:lnTo>
                    <a:pt x="778390" y="1212590"/>
                  </a:lnTo>
                  <a:lnTo>
                    <a:pt x="728790" y="1217527"/>
                  </a:lnTo>
                  <a:lnTo>
                    <a:pt x="678180" y="1219200"/>
                  </a:lnTo>
                  <a:lnTo>
                    <a:pt x="627569" y="1217527"/>
                  </a:lnTo>
                  <a:lnTo>
                    <a:pt x="577969" y="1212590"/>
                  </a:lnTo>
                  <a:lnTo>
                    <a:pt x="529509" y="1204505"/>
                  </a:lnTo>
                  <a:lnTo>
                    <a:pt x="482321" y="1193390"/>
                  </a:lnTo>
                  <a:lnTo>
                    <a:pt x="436537" y="1179363"/>
                  </a:lnTo>
                  <a:lnTo>
                    <a:pt x="392287" y="1162542"/>
                  </a:lnTo>
                  <a:lnTo>
                    <a:pt x="349702" y="1143045"/>
                  </a:lnTo>
                  <a:lnTo>
                    <a:pt x="308915" y="1120990"/>
                  </a:lnTo>
                  <a:lnTo>
                    <a:pt x="270055" y="1096495"/>
                  </a:lnTo>
                  <a:lnTo>
                    <a:pt x="233254" y="1069676"/>
                  </a:lnTo>
                  <a:lnTo>
                    <a:pt x="198643" y="1040653"/>
                  </a:lnTo>
                  <a:lnTo>
                    <a:pt x="166354" y="1009544"/>
                  </a:lnTo>
                  <a:lnTo>
                    <a:pt x="136518" y="976465"/>
                  </a:lnTo>
                  <a:lnTo>
                    <a:pt x="109265" y="941535"/>
                  </a:lnTo>
                  <a:lnTo>
                    <a:pt x="84727" y="904872"/>
                  </a:lnTo>
                  <a:lnTo>
                    <a:pt x="63035" y="866593"/>
                  </a:lnTo>
                  <a:lnTo>
                    <a:pt x="44321" y="826817"/>
                  </a:lnTo>
                  <a:lnTo>
                    <a:pt x="28715" y="785662"/>
                  </a:lnTo>
                  <a:lnTo>
                    <a:pt x="16349" y="743244"/>
                  </a:lnTo>
                  <a:lnTo>
                    <a:pt x="7353" y="699683"/>
                  </a:lnTo>
                  <a:lnTo>
                    <a:pt x="1860" y="655095"/>
                  </a:lnTo>
                  <a:lnTo>
                    <a:pt x="0" y="609600"/>
                  </a:lnTo>
                  <a:close/>
                </a:path>
              </a:pathLst>
            </a:custGeom>
            <a:ln w="25146">
              <a:solidFill>
                <a:srgbClr val="FFFFFF"/>
              </a:solidFill>
            </a:ln>
          </p:spPr>
          <p:txBody>
            <a:bodyPr wrap="square" lIns="0" tIns="0" rIns="0" bIns="0" rtlCol="0"/>
            <a:lstStyle/>
            <a:p>
              <a:endParaRPr/>
            </a:p>
          </p:txBody>
        </p:sp>
      </p:grpSp>
      <p:sp>
        <p:nvSpPr>
          <p:cNvPr id="8" name="object 8"/>
          <p:cNvSpPr txBox="1"/>
          <p:nvPr/>
        </p:nvSpPr>
        <p:spPr>
          <a:xfrm>
            <a:off x="7652004" y="1068832"/>
            <a:ext cx="506730" cy="193040"/>
          </a:xfrm>
          <a:prstGeom prst="rect">
            <a:avLst/>
          </a:prstGeom>
        </p:spPr>
        <p:txBody>
          <a:bodyPr vert="horz" wrap="square" lIns="0" tIns="12065" rIns="0" bIns="0" rtlCol="0">
            <a:spAutoFit/>
          </a:bodyPr>
          <a:lstStyle/>
          <a:p>
            <a:pPr marL="12700">
              <a:lnSpc>
                <a:spcPct val="100000"/>
              </a:lnSpc>
              <a:spcBef>
                <a:spcPts val="95"/>
              </a:spcBef>
            </a:pPr>
            <a:r>
              <a:rPr sz="1100" b="1" spc="-5" dirty="0">
                <a:latin typeface="Arial"/>
                <a:cs typeface="Arial"/>
              </a:rPr>
              <a:t>Table</a:t>
            </a:r>
            <a:r>
              <a:rPr sz="1100" b="1" spc="-65" dirty="0">
                <a:latin typeface="Arial"/>
                <a:cs typeface="Arial"/>
              </a:rPr>
              <a:t> </a:t>
            </a:r>
            <a:r>
              <a:rPr sz="1100" b="1" spc="-5" dirty="0">
                <a:latin typeface="Arial"/>
                <a:cs typeface="Arial"/>
              </a:rPr>
              <a:t>1</a:t>
            </a:r>
            <a:endParaRPr sz="1100">
              <a:latin typeface="Arial"/>
              <a:cs typeface="Arial"/>
            </a:endParaRPr>
          </a:p>
        </p:txBody>
      </p:sp>
      <p:grpSp>
        <p:nvGrpSpPr>
          <p:cNvPr id="9" name="object 9"/>
          <p:cNvGrpSpPr/>
          <p:nvPr/>
        </p:nvGrpSpPr>
        <p:grpSpPr>
          <a:xfrm>
            <a:off x="7703693" y="1561211"/>
            <a:ext cx="1381125" cy="1244600"/>
            <a:chOff x="7703693" y="1561211"/>
            <a:chExt cx="1381125" cy="1244600"/>
          </a:xfrm>
        </p:grpSpPr>
        <p:sp>
          <p:nvSpPr>
            <p:cNvPr id="10" name="object 10"/>
            <p:cNvSpPr/>
            <p:nvPr/>
          </p:nvSpPr>
          <p:spPr>
            <a:xfrm>
              <a:off x="7716393" y="1573911"/>
              <a:ext cx="1355725" cy="1219200"/>
            </a:xfrm>
            <a:custGeom>
              <a:avLst/>
              <a:gdLst/>
              <a:ahLst/>
              <a:cxnLst/>
              <a:rect l="l" t="t" r="r" b="b"/>
              <a:pathLst>
                <a:path w="1355725" h="1219200">
                  <a:moveTo>
                    <a:pt x="677799" y="0"/>
                  </a:moveTo>
                  <a:lnTo>
                    <a:pt x="627206" y="1672"/>
                  </a:lnTo>
                  <a:lnTo>
                    <a:pt x="577625" y="6609"/>
                  </a:lnTo>
                  <a:lnTo>
                    <a:pt x="529186" y="14694"/>
                  </a:lnTo>
                  <a:lnTo>
                    <a:pt x="482020" y="25809"/>
                  </a:lnTo>
                  <a:lnTo>
                    <a:pt x="436258" y="39836"/>
                  </a:lnTo>
                  <a:lnTo>
                    <a:pt x="392030" y="56657"/>
                  </a:lnTo>
                  <a:lnTo>
                    <a:pt x="349469" y="76154"/>
                  </a:lnTo>
                  <a:lnTo>
                    <a:pt x="308704" y="98209"/>
                  </a:lnTo>
                  <a:lnTo>
                    <a:pt x="269867" y="122704"/>
                  </a:lnTo>
                  <a:lnTo>
                    <a:pt x="233089" y="149523"/>
                  </a:lnTo>
                  <a:lnTo>
                    <a:pt x="198500" y="178546"/>
                  </a:lnTo>
                  <a:lnTo>
                    <a:pt x="166233" y="209655"/>
                  </a:lnTo>
                  <a:lnTo>
                    <a:pt x="136416" y="242734"/>
                  </a:lnTo>
                  <a:lnTo>
                    <a:pt x="109182" y="277664"/>
                  </a:lnTo>
                  <a:lnTo>
                    <a:pt x="84662" y="314327"/>
                  </a:lnTo>
                  <a:lnTo>
                    <a:pt x="62986" y="352606"/>
                  </a:lnTo>
                  <a:lnTo>
                    <a:pt x="44286" y="392382"/>
                  </a:lnTo>
                  <a:lnTo>
                    <a:pt x="28692" y="433537"/>
                  </a:lnTo>
                  <a:lnTo>
                    <a:pt x="16336" y="475955"/>
                  </a:lnTo>
                  <a:lnTo>
                    <a:pt x="7347" y="519516"/>
                  </a:lnTo>
                  <a:lnTo>
                    <a:pt x="1858" y="564104"/>
                  </a:lnTo>
                  <a:lnTo>
                    <a:pt x="0" y="609600"/>
                  </a:lnTo>
                  <a:lnTo>
                    <a:pt x="1858" y="655095"/>
                  </a:lnTo>
                  <a:lnTo>
                    <a:pt x="7347" y="699683"/>
                  </a:lnTo>
                  <a:lnTo>
                    <a:pt x="16336" y="743244"/>
                  </a:lnTo>
                  <a:lnTo>
                    <a:pt x="28692" y="785662"/>
                  </a:lnTo>
                  <a:lnTo>
                    <a:pt x="44286" y="826817"/>
                  </a:lnTo>
                  <a:lnTo>
                    <a:pt x="62986" y="866593"/>
                  </a:lnTo>
                  <a:lnTo>
                    <a:pt x="84662" y="904872"/>
                  </a:lnTo>
                  <a:lnTo>
                    <a:pt x="109182" y="941535"/>
                  </a:lnTo>
                  <a:lnTo>
                    <a:pt x="136416" y="976465"/>
                  </a:lnTo>
                  <a:lnTo>
                    <a:pt x="166233" y="1009544"/>
                  </a:lnTo>
                  <a:lnTo>
                    <a:pt x="198500" y="1040653"/>
                  </a:lnTo>
                  <a:lnTo>
                    <a:pt x="233089" y="1069676"/>
                  </a:lnTo>
                  <a:lnTo>
                    <a:pt x="269867" y="1096495"/>
                  </a:lnTo>
                  <a:lnTo>
                    <a:pt x="308704" y="1120990"/>
                  </a:lnTo>
                  <a:lnTo>
                    <a:pt x="349469" y="1143045"/>
                  </a:lnTo>
                  <a:lnTo>
                    <a:pt x="392030" y="1162542"/>
                  </a:lnTo>
                  <a:lnTo>
                    <a:pt x="436258" y="1179363"/>
                  </a:lnTo>
                  <a:lnTo>
                    <a:pt x="482020" y="1193390"/>
                  </a:lnTo>
                  <a:lnTo>
                    <a:pt x="529186" y="1204505"/>
                  </a:lnTo>
                  <a:lnTo>
                    <a:pt x="577625" y="1212590"/>
                  </a:lnTo>
                  <a:lnTo>
                    <a:pt x="627206" y="1217527"/>
                  </a:lnTo>
                  <a:lnTo>
                    <a:pt x="677799" y="1219200"/>
                  </a:lnTo>
                  <a:lnTo>
                    <a:pt x="728391" y="1217527"/>
                  </a:lnTo>
                  <a:lnTo>
                    <a:pt x="777972" y="1212590"/>
                  </a:lnTo>
                  <a:lnTo>
                    <a:pt x="826411" y="1204505"/>
                  </a:lnTo>
                  <a:lnTo>
                    <a:pt x="873577" y="1193390"/>
                  </a:lnTo>
                  <a:lnTo>
                    <a:pt x="919339" y="1179363"/>
                  </a:lnTo>
                  <a:lnTo>
                    <a:pt x="963567" y="1162542"/>
                  </a:lnTo>
                  <a:lnTo>
                    <a:pt x="1006128" y="1143045"/>
                  </a:lnTo>
                  <a:lnTo>
                    <a:pt x="1046893" y="1120990"/>
                  </a:lnTo>
                  <a:lnTo>
                    <a:pt x="1085730" y="1096495"/>
                  </a:lnTo>
                  <a:lnTo>
                    <a:pt x="1122508" y="1069676"/>
                  </a:lnTo>
                  <a:lnTo>
                    <a:pt x="1157096" y="1040653"/>
                  </a:lnTo>
                  <a:lnTo>
                    <a:pt x="1189364" y="1009544"/>
                  </a:lnTo>
                  <a:lnTo>
                    <a:pt x="1219181" y="976465"/>
                  </a:lnTo>
                  <a:lnTo>
                    <a:pt x="1246415" y="941535"/>
                  </a:lnTo>
                  <a:lnTo>
                    <a:pt x="1270935" y="904872"/>
                  </a:lnTo>
                  <a:lnTo>
                    <a:pt x="1292611" y="866593"/>
                  </a:lnTo>
                  <a:lnTo>
                    <a:pt x="1311311" y="826817"/>
                  </a:lnTo>
                  <a:lnTo>
                    <a:pt x="1326905" y="785662"/>
                  </a:lnTo>
                  <a:lnTo>
                    <a:pt x="1339261" y="743244"/>
                  </a:lnTo>
                  <a:lnTo>
                    <a:pt x="1348250" y="699683"/>
                  </a:lnTo>
                  <a:lnTo>
                    <a:pt x="1353739" y="655095"/>
                  </a:lnTo>
                  <a:lnTo>
                    <a:pt x="1355598" y="609600"/>
                  </a:lnTo>
                  <a:lnTo>
                    <a:pt x="1353739" y="564104"/>
                  </a:lnTo>
                  <a:lnTo>
                    <a:pt x="1348250" y="519516"/>
                  </a:lnTo>
                  <a:lnTo>
                    <a:pt x="1339261" y="475955"/>
                  </a:lnTo>
                  <a:lnTo>
                    <a:pt x="1326905" y="433537"/>
                  </a:lnTo>
                  <a:lnTo>
                    <a:pt x="1311311" y="392382"/>
                  </a:lnTo>
                  <a:lnTo>
                    <a:pt x="1292611" y="352606"/>
                  </a:lnTo>
                  <a:lnTo>
                    <a:pt x="1270935" y="314327"/>
                  </a:lnTo>
                  <a:lnTo>
                    <a:pt x="1246415" y="277664"/>
                  </a:lnTo>
                  <a:lnTo>
                    <a:pt x="1219181" y="242734"/>
                  </a:lnTo>
                  <a:lnTo>
                    <a:pt x="1189364" y="209655"/>
                  </a:lnTo>
                  <a:lnTo>
                    <a:pt x="1157097" y="178546"/>
                  </a:lnTo>
                  <a:lnTo>
                    <a:pt x="1122508" y="149523"/>
                  </a:lnTo>
                  <a:lnTo>
                    <a:pt x="1085730" y="122704"/>
                  </a:lnTo>
                  <a:lnTo>
                    <a:pt x="1046893" y="98209"/>
                  </a:lnTo>
                  <a:lnTo>
                    <a:pt x="1006128" y="76154"/>
                  </a:lnTo>
                  <a:lnTo>
                    <a:pt x="963567" y="56657"/>
                  </a:lnTo>
                  <a:lnTo>
                    <a:pt x="919339" y="39836"/>
                  </a:lnTo>
                  <a:lnTo>
                    <a:pt x="873577" y="25809"/>
                  </a:lnTo>
                  <a:lnTo>
                    <a:pt x="826411" y="14694"/>
                  </a:lnTo>
                  <a:lnTo>
                    <a:pt x="777972" y="6609"/>
                  </a:lnTo>
                  <a:lnTo>
                    <a:pt x="728391" y="1672"/>
                  </a:lnTo>
                  <a:lnTo>
                    <a:pt x="677799" y="0"/>
                  </a:lnTo>
                  <a:close/>
                </a:path>
              </a:pathLst>
            </a:custGeom>
            <a:solidFill>
              <a:srgbClr val="5FE046">
                <a:alpha val="50195"/>
              </a:srgbClr>
            </a:solidFill>
          </p:spPr>
          <p:txBody>
            <a:bodyPr wrap="square" lIns="0" tIns="0" rIns="0" bIns="0" rtlCol="0"/>
            <a:lstStyle/>
            <a:p>
              <a:endParaRPr/>
            </a:p>
          </p:txBody>
        </p:sp>
        <p:sp>
          <p:nvSpPr>
            <p:cNvPr id="11" name="object 11"/>
            <p:cNvSpPr/>
            <p:nvPr/>
          </p:nvSpPr>
          <p:spPr>
            <a:xfrm>
              <a:off x="7716393" y="1573911"/>
              <a:ext cx="1355725" cy="1219200"/>
            </a:xfrm>
            <a:custGeom>
              <a:avLst/>
              <a:gdLst/>
              <a:ahLst/>
              <a:cxnLst/>
              <a:rect l="l" t="t" r="r" b="b"/>
              <a:pathLst>
                <a:path w="1355725" h="1219200">
                  <a:moveTo>
                    <a:pt x="0" y="609600"/>
                  </a:moveTo>
                  <a:lnTo>
                    <a:pt x="1858" y="564104"/>
                  </a:lnTo>
                  <a:lnTo>
                    <a:pt x="7347" y="519516"/>
                  </a:lnTo>
                  <a:lnTo>
                    <a:pt x="16336" y="475955"/>
                  </a:lnTo>
                  <a:lnTo>
                    <a:pt x="28692" y="433537"/>
                  </a:lnTo>
                  <a:lnTo>
                    <a:pt x="44286" y="392382"/>
                  </a:lnTo>
                  <a:lnTo>
                    <a:pt x="62986" y="352606"/>
                  </a:lnTo>
                  <a:lnTo>
                    <a:pt x="84662" y="314327"/>
                  </a:lnTo>
                  <a:lnTo>
                    <a:pt x="109182" y="277664"/>
                  </a:lnTo>
                  <a:lnTo>
                    <a:pt x="136416" y="242734"/>
                  </a:lnTo>
                  <a:lnTo>
                    <a:pt x="166233" y="209655"/>
                  </a:lnTo>
                  <a:lnTo>
                    <a:pt x="198500" y="178546"/>
                  </a:lnTo>
                  <a:lnTo>
                    <a:pt x="233089" y="149523"/>
                  </a:lnTo>
                  <a:lnTo>
                    <a:pt x="269867" y="122704"/>
                  </a:lnTo>
                  <a:lnTo>
                    <a:pt x="308704" y="98209"/>
                  </a:lnTo>
                  <a:lnTo>
                    <a:pt x="349469" y="76154"/>
                  </a:lnTo>
                  <a:lnTo>
                    <a:pt x="392030" y="56657"/>
                  </a:lnTo>
                  <a:lnTo>
                    <a:pt x="436258" y="39836"/>
                  </a:lnTo>
                  <a:lnTo>
                    <a:pt x="482020" y="25809"/>
                  </a:lnTo>
                  <a:lnTo>
                    <a:pt x="529186" y="14694"/>
                  </a:lnTo>
                  <a:lnTo>
                    <a:pt x="577625" y="6609"/>
                  </a:lnTo>
                  <a:lnTo>
                    <a:pt x="627206" y="1672"/>
                  </a:lnTo>
                  <a:lnTo>
                    <a:pt x="677799" y="0"/>
                  </a:lnTo>
                  <a:lnTo>
                    <a:pt x="728391" y="1672"/>
                  </a:lnTo>
                  <a:lnTo>
                    <a:pt x="777972" y="6609"/>
                  </a:lnTo>
                  <a:lnTo>
                    <a:pt x="826411" y="14694"/>
                  </a:lnTo>
                  <a:lnTo>
                    <a:pt x="873577" y="25809"/>
                  </a:lnTo>
                  <a:lnTo>
                    <a:pt x="919339" y="39836"/>
                  </a:lnTo>
                  <a:lnTo>
                    <a:pt x="963567" y="56657"/>
                  </a:lnTo>
                  <a:lnTo>
                    <a:pt x="1006128" y="76154"/>
                  </a:lnTo>
                  <a:lnTo>
                    <a:pt x="1046893" y="98209"/>
                  </a:lnTo>
                  <a:lnTo>
                    <a:pt x="1085730" y="122704"/>
                  </a:lnTo>
                  <a:lnTo>
                    <a:pt x="1122508" y="149523"/>
                  </a:lnTo>
                  <a:lnTo>
                    <a:pt x="1157097" y="178546"/>
                  </a:lnTo>
                  <a:lnTo>
                    <a:pt x="1189364" y="209655"/>
                  </a:lnTo>
                  <a:lnTo>
                    <a:pt x="1219181" y="242734"/>
                  </a:lnTo>
                  <a:lnTo>
                    <a:pt x="1246415" y="277664"/>
                  </a:lnTo>
                  <a:lnTo>
                    <a:pt x="1270935" y="314327"/>
                  </a:lnTo>
                  <a:lnTo>
                    <a:pt x="1292611" y="352606"/>
                  </a:lnTo>
                  <a:lnTo>
                    <a:pt x="1311311" y="392382"/>
                  </a:lnTo>
                  <a:lnTo>
                    <a:pt x="1326905" y="433537"/>
                  </a:lnTo>
                  <a:lnTo>
                    <a:pt x="1339261" y="475955"/>
                  </a:lnTo>
                  <a:lnTo>
                    <a:pt x="1348250" y="519516"/>
                  </a:lnTo>
                  <a:lnTo>
                    <a:pt x="1353739" y="564104"/>
                  </a:lnTo>
                  <a:lnTo>
                    <a:pt x="1355598" y="609600"/>
                  </a:lnTo>
                  <a:lnTo>
                    <a:pt x="1353739" y="655095"/>
                  </a:lnTo>
                  <a:lnTo>
                    <a:pt x="1348250" y="699683"/>
                  </a:lnTo>
                  <a:lnTo>
                    <a:pt x="1339261" y="743244"/>
                  </a:lnTo>
                  <a:lnTo>
                    <a:pt x="1326905" y="785662"/>
                  </a:lnTo>
                  <a:lnTo>
                    <a:pt x="1311311" y="826817"/>
                  </a:lnTo>
                  <a:lnTo>
                    <a:pt x="1292611" y="866593"/>
                  </a:lnTo>
                  <a:lnTo>
                    <a:pt x="1270935" y="904872"/>
                  </a:lnTo>
                  <a:lnTo>
                    <a:pt x="1246415" y="941535"/>
                  </a:lnTo>
                  <a:lnTo>
                    <a:pt x="1219181" y="976465"/>
                  </a:lnTo>
                  <a:lnTo>
                    <a:pt x="1189364" y="1009544"/>
                  </a:lnTo>
                  <a:lnTo>
                    <a:pt x="1157096" y="1040653"/>
                  </a:lnTo>
                  <a:lnTo>
                    <a:pt x="1122508" y="1069676"/>
                  </a:lnTo>
                  <a:lnTo>
                    <a:pt x="1085730" y="1096495"/>
                  </a:lnTo>
                  <a:lnTo>
                    <a:pt x="1046893" y="1120990"/>
                  </a:lnTo>
                  <a:lnTo>
                    <a:pt x="1006128" y="1143045"/>
                  </a:lnTo>
                  <a:lnTo>
                    <a:pt x="963567" y="1162542"/>
                  </a:lnTo>
                  <a:lnTo>
                    <a:pt x="919339" y="1179363"/>
                  </a:lnTo>
                  <a:lnTo>
                    <a:pt x="873577" y="1193390"/>
                  </a:lnTo>
                  <a:lnTo>
                    <a:pt x="826411" y="1204505"/>
                  </a:lnTo>
                  <a:lnTo>
                    <a:pt x="777972" y="1212590"/>
                  </a:lnTo>
                  <a:lnTo>
                    <a:pt x="728391" y="1217527"/>
                  </a:lnTo>
                  <a:lnTo>
                    <a:pt x="677799" y="1219200"/>
                  </a:lnTo>
                  <a:lnTo>
                    <a:pt x="627206" y="1217527"/>
                  </a:lnTo>
                  <a:lnTo>
                    <a:pt x="577625" y="1212590"/>
                  </a:lnTo>
                  <a:lnTo>
                    <a:pt x="529186" y="1204505"/>
                  </a:lnTo>
                  <a:lnTo>
                    <a:pt x="482020" y="1193390"/>
                  </a:lnTo>
                  <a:lnTo>
                    <a:pt x="436258" y="1179363"/>
                  </a:lnTo>
                  <a:lnTo>
                    <a:pt x="392030" y="1162542"/>
                  </a:lnTo>
                  <a:lnTo>
                    <a:pt x="349469" y="1143045"/>
                  </a:lnTo>
                  <a:lnTo>
                    <a:pt x="308704" y="1120990"/>
                  </a:lnTo>
                  <a:lnTo>
                    <a:pt x="269867" y="1096495"/>
                  </a:lnTo>
                  <a:lnTo>
                    <a:pt x="233089" y="1069676"/>
                  </a:lnTo>
                  <a:lnTo>
                    <a:pt x="198500" y="1040653"/>
                  </a:lnTo>
                  <a:lnTo>
                    <a:pt x="166233" y="1009544"/>
                  </a:lnTo>
                  <a:lnTo>
                    <a:pt x="136416" y="976465"/>
                  </a:lnTo>
                  <a:lnTo>
                    <a:pt x="109182" y="941535"/>
                  </a:lnTo>
                  <a:lnTo>
                    <a:pt x="84662" y="904872"/>
                  </a:lnTo>
                  <a:lnTo>
                    <a:pt x="62986" y="866593"/>
                  </a:lnTo>
                  <a:lnTo>
                    <a:pt x="44286" y="826817"/>
                  </a:lnTo>
                  <a:lnTo>
                    <a:pt x="28692" y="785662"/>
                  </a:lnTo>
                  <a:lnTo>
                    <a:pt x="16336" y="743244"/>
                  </a:lnTo>
                  <a:lnTo>
                    <a:pt x="7347" y="699683"/>
                  </a:lnTo>
                  <a:lnTo>
                    <a:pt x="1858" y="655095"/>
                  </a:lnTo>
                  <a:lnTo>
                    <a:pt x="0" y="609600"/>
                  </a:lnTo>
                  <a:close/>
                </a:path>
              </a:pathLst>
            </a:custGeom>
            <a:ln w="25146">
              <a:solidFill>
                <a:srgbClr val="FFFFFF"/>
              </a:solidFill>
            </a:ln>
          </p:spPr>
          <p:txBody>
            <a:bodyPr wrap="square" lIns="0" tIns="0" rIns="0" bIns="0" rtlCol="0"/>
            <a:lstStyle/>
            <a:p>
              <a:endParaRPr/>
            </a:p>
          </p:txBody>
        </p:sp>
      </p:grpSp>
      <p:sp>
        <p:nvSpPr>
          <p:cNvPr id="12" name="object 12"/>
          <p:cNvSpPr txBox="1"/>
          <p:nvPr/>
        </p:nvSpPr>
        <p:spPr>
          <a:xfrm>
            <a:off x="8456930" y="2080768"/>
            <a:ext cx="390525" cy="344170"/>
          </a:xfrm>
          <a:prstGeom prst="rect">
            <a:avLst/>
          </a:prstGeom>
        </p:spPr>
        <p:txBody>
          <a:bodyPr vert="horz" wrap="square" lIns="0" tIns="31115" rIns="0" bIns="0" rtlCol="0">
            <a:spAutoFit/>
          </a:bodyPr>
          <a:lstStyle/>
          <a:p>
            <a:pPr marL="156210" marR="5080" indent="-144145">
              <a:lnSpc>
                <a:spcPts val="1190"/>
              </a:lnSpc>
              <a:spcBef>
                <a:spcPts val="245"/>
              </a:spcBef>
            </a:pPr>
            <a:r>
              <a:rPr sz="1100" b="1" spc="-5" dirty="0">
                <a:latin typeface="Arial"/>
                <a:cs typeface="Arial"/>
              </a:rPr>
              <a:t>Table  2</a:t>
            </a:r>
            <a:endParaRPr sz="1100">
              <a:latin typeface="Arial"/>
              <a:cs typeface="Arial"/>
            </a:endParaRPr>
          </a:p>
        </p:txBody>
      </p:sp>
      <p:grpSp>
        <p:nvGrpSpPr>
          <p:cNvPr id="13" name="object 13"/>
          <p:cNvGrpSpPr/>
          <p:nvPr/>
        </p:nvGrpSpPr>
        <p:grpSpPr>
          <a:xfrm>
            <a:off x="6724650" y="1561338"/>
            <a:ext cx="1381760" cy="1244600"/>
            <a:chOff x="6724650" y="1561338"/>
            <a:chExt cx="1381760" cy="1244600"/>
          </a:xfrm>
        </p:grpSpPr>
        <p:sp>
          <p:nvSpPr>
            <p:cNvPr id="14" name="object 14"/>
            <p:cNvSpPr/>
            <p:nvPr/>
          </p:nvSpPr>
          <p:spPr>
            <a:xfrm>
              <a:off x="6737223" y="1573911"/>
              <a:ext cx="1356360" cy="1219200"/>
            </a:xfrm>
            <a:custGeom>
              <a:avLst/>
              <a:gdLst/>
              <a:ahLst/>
              <a:cxnLst/>
              <a:rect l="l" t="t" r="r" b="b"/>
              <a:pathLst>
                <a:path w="1356359" h="1219200">
                  <a:moveTo>
                    <a:pt x="678180" y="0"/>
                  </a:moveTo>
                  <a:lnTo>
                    <a:pt x="627569" y="1672"/>
                  </a:lnTo>
                  <a:lnTo>
                    <a:pt x="577969" y="6609"/>
                  </a:lnTo>
                  <a:lnTo>
                    <a:pt x="529509" y="14694"/>
                  </a:lnTo>
                  <a:lnTo>
                    <a:pt x="482321" y="25809"/>
                  </a:lnTo>
                  <a:lnTo>
                    <a:pt x="436537" y="39836"/>
                  </a:lnTo>
                  <a:lnTo>
                    <a:pt x="392287" y="56657"/>
                  </a:lnTo>
                  <a:lnTo>
                    <a:pt x="349702" y="76154"/>
                  </a:lnTo>
                  <a:lnTo>
                    <a:pt x="308915" y="98209"/>
                  </a:lnTo>
                  <a:lnTo>
                    <a:pt x="270055" y="122704"/>
                  </a:lnTo>
                  <a:lnTo>
                    <a:pt x="233254" y="149523"/>
                  </a:lnTo>
                  <a:lnTo>
                    <a:pt x="198643" y="178546"/>
                  </a:lnTo>
                  <a:lnTo>
                    <a:pt x="166354" y="209655"/>
                  </a:lnTo>
                  <a:lnTo>
                    <a:pt x="136518" y="242734"/>
                  </a:lnTo>
                  <a:lnTo>
                    <a:pt x="109265" y="277664"/>
                  </a:lnTo>
                  <a:lnTo>
                    <a:pt x="84727" y="314327"/>
                  </a:lnTo>
                  <a:lnTo>
                    <a:pt x="63035" y="352606"/>
                  </a:lnTo>
                  <a:lnTo>
                    <a:pt x="44321" y="392382"/>
                  </a:lnTo>
                  <a:lnTo>
                    <a:pt x="28715" y="433537"/>
                  </a:lnTo>
                  <a:lnTo>
                    <a:pt x="16349" y="475955"/>
                  </a:lnTo>
                  <a:lnTo>
                    <a:pt x="7353" y="519516"/>
                  </a:lnTo>
                  <a:lnTo>
                    <a:pt x="1860" y="564104"/>
                  </a:lnTo>
                  <a:lnTo>
                    <a:pt x="0" y="609600"/>
                  </a:lnTo>
                  <a:lnTo>
                    <a:pt x="1860" y="655095"/>
                  </a:lnTo>
                  <a:lnTo>
                    <a:pt x="7353" y="699683"/>
                  </a:lnTo>
                  <a:lnTo>
                    <a:pt x="16349" y="743244"/>
                  </a:lnTo>
                  <a:lnTo>
                    <a:pt x="28715" y="785662"/>
                  </a:lnTo>
                  <a:lnTo>
                    <a:pt x="44321" y="826817"/>
                  </a:lnTo>
                  <a:lnTo>
                    <a:pt x="63035" y="866593"/>
                  </a:lnTo>
                  <a:lnTo>
                    <a:pt x="84727" y="904872"/>
                  </a:lnTo>
                  <a:lnTo>
                    <a:pt x="109265" y="941535"/>
                  </a:lnTo>
                  <a:lnTo>
                    <a:pt x="136518" y="976465"/>
                  </a:lnTo>
                  <a:lnTo>
                    <a:pt x="166354" y="1009544"/>
                  </a:lnTo>
                  <a:lnTo>
                    <a:pt x="198643" y="1040653"/>
                  </a:lnTo>
                  <a:lnTo>
                    <a:pt x="233254" y="1069676"/>
                  </a:lnTo>
                  <a:lnTo>
                    <a:pt x="270055" y="1096495"/>
                  </a:lnTo>
                  <a:lnTo>
                    <a:pt x="308915" y="1120990"/>
                  </a:lnTo>
                  <a:lnTo>
                    <a:pt x="349702" y="1143045"/>
                  </a:lnTo>
                  <a:lnTo>
                    <a:pt x="392287" y="1162542"/>
                  </a:lnTo>
                  <a:lnTo>
                    <a:pt x="436537" y="1179363"/>
                  </a:lnTo>
                  <a:lnTo>
                    <a:pt x="482321" y="1193390"/>
                  </a:lnTo>
                  <a:lnTo>
                    <a:pt x="529509" y="1204505"/>
                  </a:lnTo>
                  <a:lnTo>
                    <a:pt x="577969" y="1212590"/>
                  </a:lnTo>
                  <a:lnTo>
                    <a:pt x="627569" y="1217527"/>
                  </a:lnTo>
                  <a:lnTo>
                    <a:pt x="678180" y="1219200"/>
                  </a:lnTo>
                  <a:lnTo>
                    <a:pt x="728790" y="1217527"/>
                  </a:lnTo>
                  <a:lnTo>
                    <a:pt x="778390" y="1212590"/>
                  </a:lnTo>
                  <a:lnTo>
                    <a:pt x="826850" y="1204505"/>
                  </a:lnTo>
                  <a:lnTo>
                    <a:pt x="874038" y="1193390"/>
                  </a:lnTo>
                  <a:lnTo>
                    <a:pt x="919822" y="1179363"/>
                  </a:lnTo>
                  <a:lnTo>
                    <a:pt x="964072" y="1162542"/>
                  </a:lnTo>
                  <a:lnTo>
                    <a:pt x="1006657" y="1143045"/>
                  </a:lnTo>
                  <a:lnTo>
                    <a:pt x="1047444" y="1120990"/>
                  </a:lnTo>
                  <a:lnTo>
                    <a:pt x="1086304" y="1096495"/>
                  </a:lnTo>
                  <a:lnTo>
                    <a:pt x="1123105" y="1069676"/>
                  </a:lnTo>
                  <a:lnTo>
                    <a:pt x="1157716" y="1040653"/>
                  </a:lnTo>
                  <a:lnTo>
                    <a:pt x="1190005" y="1009544"/>
                  </a:lnTo>
                  <a:lnTo>
                    <a:pt x="1219841" y="976465"/>
                  </a:lnTo>
                  <a:lnTo>
                    <a:pt x="1247094" y="941535"/>
                  </a:lnTo>
                  <a:lnTo>
                    <a:pt x="1271632" y="904872"/>
                  </a:lnTo>
                  <a:lnTo>
                    <a:pt x="1293324" y="866593"/>
                  </a:lnTo>
                  <a:lnTo>
                    <a:pt x="1312038" y="826817"/>
                  </a:lnTo>
                  <a:lnTo>
                    <a:pt x="1327644" y="785662"/>
                  </a:lnTo>
                  <a:lnTo>
                    <a:pt x="1340010" y="743244"/>
                  </a:lnTo>
                  <a:lnTo>
                    <a:pt x="1349006" y="699683"/>
                  </a:lnTo>
                  <a:lnTo>
                    <a:pt x="1354499" y="655095"/>
                  </a:lnTo>
                  <a:lnTo>
                    <a:pt x="1356360" y="609600"/>
                  </a:lnTo>
                  <a:lnTo>
                    <a:pt x="1354499" y="564104"/>
                  </a:lnTo>
                  <a:lnTo>
                    <a:pt x="1349006" y="519516"/>
                  </a:lnTo>
                  <a:lnTo>
                    <a:pt x="1340010" y="475955"/>
                  </a:lnTo>
                  <a:lnTo>
                    <a:pt x="1327644" y="433537"/>
                  </a:lnTo>
                  <a:lnTo>
                    <a:pt x="1312038" y="392382"/>
                  </a:lnTo>
                  <a:lnTo>
                    <a:pt x="1293324" y="352606"/>
                  </a:lnTo>
                  <a:lnTo>
                    <a:pt x="1271632" y="314327"/>
                  </a:lnTo>
                  <a:lnTo>
                    <a:pt x="1247094" y="277664"/>
                  </a:lnTo>
                  <a:lnTo>
                    <a:pt x="1219841" y="242734"/>
                  </a:lnTo>
                  <a:lnTo>
                    <a:pt x="1190005" y="209655"/>
                  </a:lnTo>
                  <a:lnTo>
                    <a:pt x="1157716" y="178546"/>
                  </a:lnTo>
                  <a:lnTo>
                    <a:pt x="1123105" y="149523"/>
                  </a:lnTo>
                  <a:lnTo>
                    <a:pt x="1086304" y="122704"/>
                  </a:lnTo>
                  <a:lnTo>
                    <a:pt x="1047444" y="98209"/>
                  </a:lnTo>
                  <a:lnTo>
                    <a:pt x="1006657" y="76154"/>
                  </a:lnTo>
                  <a:lnTo>
                    <a:pt x="964072" y="56657"/>
                  </a:lnTo>
                  <a:lnTo>
                    <a:pt x="919822" y="39836"/>
                  </a:lnTo>
                  <a:lnTo>
                    <a:pt x="874038" y="25809"/>
                  </a:lnTo>
                  <a:lnTo>
                    <a:pt x="826850" y="14694"/>
                  </a:lnTo>
                  <a:lnTo>
                    <a:pt x="778390" y="6609"/>
                  </a:lnTo>
                  <a:lnTo>
                    <a:pt x="728790" y="1672"/>
                  </a:lnTo>
                  <a:lnTo>
                    <a:pt x="678180" y="0"/>
                  </a:lnTo>
                  <a:close/>
                </a:path>
              </a:pathLst>
            </a:custGeom>
            <a:solidFill>
              <a:srgbClr val="F79546">
                <a:alpha val="50195"/>
              </a:srgbClr>
            </a:solidFill>
          </p:spPr>
          <p:txBody>
            <a:bodyPr wrap="square" lIns="0" tIns="0" rIns="0" bIns="0" rtlCol="0"/>
            <a:lstStyle/>
            <a:p>
              <a:endParaRPr/>
            </a:p>
          </p:txBody>
        </p:sp>
        <p:sp>
          <p:nvSpPr>
            <p:cNvPr id="15" name="object 15"/>
            <p:cNvSpPr/>
            <p:nvPr/>
          </p:nvSpPr>
          <p:spPr>
            <a:xfrm>
              <a:off x="6737223" y="1573911"/>
              <a:ext cx="1356360" cy="1219200"/>
            </a:xfrm>
            <a:custGeom>
              <a:avLst/>
              <a:gdLst/>
              <a:ahLst/>
              <a:cxnLst/>
              <a:rect l="l" t="t" r="r" b="b"/>
              <a:pathLst>
                <a:path w="1356359" h="1219200">
                  <a:moveTo>
                    <a:pt x="0" y="609600"/>
                  </a:moveTo>
                  <a:lnTo>
                    <a:pt x="1860" y="564104"/>
                  </a:lnTo>
                  <a:lnTo>
                    <a:pt x="7353" y="519516"/>
                  </a:lnTo>
                  <a:lnTo>
                    <a:pt x="16349" y="475955"/>
                  </a:lnTo>
                  <a:lnTo>
                    <a:pt x="28715" y="433537"/>
                  </a:lnTo>
                  <a:lnTo>
                    <a:pt x="44321" y="392382"/>
                  </a:lnTo>
                  <a:lnTo>
                    <a:pt x="63035" y="352606"/>
                  </a:lnTo>
                  <a:lnTo>
                    <a:pt x="84727" y="314327"/>
                  </a:lnTo>
                  <a:lnTo>
                    <a:pt x="109265" y="277664"/>
                  </a:lnTo>
                  <a:lnTo>
                    <a:pt x="136518" y="242734"/>
                  </a:lnTo>
                  <a:lnTo>
                    <a:pt x="166354" y="209655"/>
                  </a:lnTo>
                  <a:lnTo>
                    <a:pt x="198643" y="178546"/>
                  </a:lnTo>
                  <a:lnTo>
                    <a:pt x="233254" y="149523"/>
                  </a:lnTo>
                  <a:lnTo>
                    <a:pt x="270055" y="122704"/>
                  </a:lnTo>
                  <a:lnTo>
                    <a:pt x="308915" y="98209"/>
                  </a:lnTo>
                  <a:lnTo>
                    <a:pt x="349702" y="76154"/>
                  </a:lnTo>
                  <a:lnTo>
                    <a:pt x="392287" y="56657"/>
                  </a:lnTo>
                  <a:lnTo>
                    <a:pt x="436537" y="39836"/>
                  </a:lnTo>
                  <a:lnTo>
                    <a:pt x="482321" y="25809"/>
                  </a:lnTo>
                  <a:lnTo>
                    <a:pt x="529509" y="14694"/>
                  </a:lnTo>
                  <a:lnTo>
                    <a:pt x="577969" y="6609"/>
                  </a:lnTo>
                  <a:lnTo>
                    <a:pt x="627569" y="1672"/>
                  </a:lnTo>
                  <a:lnTo>
                    <a:pt x="678180" y="0"/>
                  </a:lnTo>
                  <a:lnTo>
                    <a:pt x="728790" y="1672"/>
                  </a:lnTo>
                  <a:lnTo>
                    <a:pt x="778390" y="6609"/>
                  </a:lnTo>
                  <a:lnTo>
                    <a:pt x="826850" y="14694"/>
                  </a:lnTo>
                  <a:lnTo>
                    <a:pt x="874038" y="25809"/>
                  </a:lnTo>
                  <a:lnTo>
                    <a:pt x="919822" y="39836"/>
                  </a:lnTo>
                  <a:lnTo>
                    <a:pt x="964072" y="56657"/>
                  </a:lnTo>
                  <a:lnTo>
                    <a:pt x="1006657" y="76154"/>
                  </a:lnTo>
                  <a:lnTo>
                    <a:pt x="1047444" y="98209"/>
                  </a:lnTo>
                  <a:lnTo>
                    <a:pt x="1086304" y="122704"/>
                  </a:lnTo>
                  <a:lnTo>
                    <a:pt x="1123105" y="149523"/>
                  </a:lnTo>
                  <a:lnTo>
                    <a:pt x="1157716" y="178546"/>
                  </a:lnTo>
                  <a:lnTo>
                    <a:pt x="1190005" y="209655"/>
                  </a:lnTo>
                  <a:lnTo>
                    <a:pt x="1219841" y="242734"/>
                  </a:lnTo>
                  <a:lnTo>
                    <a:pt x="1247094" y="277664"/>
                  </a:lnTo>
                  <a:lnTo>
                    <a:pt x="1271632" y="314327"/>
                  </a:lnTo>
                  <a:lnTo>
                    <a:pt x="1293324" y="352606"/>
                  </a:lnTo>
                  <a:lnTo>
                    <a:pt x="1312038" y="392382"/>
                  </a:lnTo>
                  <a:lnTo>
                    <a:pt x="1327644" y="433537"/>
                  </a:lnTo>
                  <a:lnTo>
                    <a:pt x="1340010" y="475955"/>
                  </a:lnTo>
                  <a:lnTo>
                    <a:pt x="1349006" y="519516"/>
                  </a:lnTo>
                  <a:lnTo>
                    <a:pt x="1354499" y="564104"/>
                  </a:lnTo>
                  <a:lnTo>
                    <a:pt x="1356360" y="609600"/>
                  </a:lnTo>
                  <a:lnTo>
                    <a:pt x="1354499" y="655095"/>
                  </a:lnTo>
                  <a:lnTo>
                    <a:pt x="1349006" y="699683"/>
                  </a:lnTo>
                  <a:lnTo>
                    <a:pt x="1340010" y="743244"/>
                  </a:lnTo>
                  <a:lnTo>
                    <a:pt x="1327644" y="785662"/>
                  </a:lnTo>
                  <a:lnTo>
                    <a:pt x="1312038" y="826817"/>
                  </a:lnTo>
                  <a:lnTo>
                    <a:pt x="1293324" y="866593"/>
                  </a:lnTo>
                  <a:lnTo>
                    <a:pt x="1271632" y="904872"/>
                  </a:lnTo>
                  <a:lnTo>
                    <a:pt x="1247094" y="941535"/>
                  </a:lnTo>
                  <a:lnTo>
                    <a:pt x="1219841" y="976465"/>
                  </a:lnTo>
                  <a:lnTo>
                    <a:pt x="1190005" y="1009544"/>
                  </a:lnTo>
                  <a:lnTo>
                    <a:pt x="1157716" y="1040653"/>
                  </a:lnTo>
                  <a:lnTo>
                    <a:pt x="1123105" y="1069676"/>
                  </a:lnTo>
                  <a:lnTo>
                    <a:pt x="1086304" y="1096495"/>
                  </a:lnTo>
                  <a:lnTo>
                    <a:pt x="1047444" y="1120990"/>
                  </a:lnTo>
                  <a:lnTo>
                    <a:pt x="1006657" y="1143045"/>
                  </a:lnTo>
                  <a:lnTo>
                    <a:pt x="964072" y="1162542"/>
                  </a:lnTo>
                  <a:lnTo>
                    <a:pt x="919822" y="1179363"/>
                  </a:lnTo>
                  <a:lnTo>
                    <a:pt x="874038" y="1193390"/>
                  </a:lnTo>
                  <a:lnTo>
                    <a:pt x="826850" y="1204505"/>
                  </a:lnTo>
                  <a:lnTo>
                    <a:pt x="778390" y="1212590"/>
                  </a:lnTo>
                  <a:lnTo>
                    <a:pt x="728790" y="1217527"/>
                  </a:lnTo>
                  <a:lnTo>
                    <a:pt x="678180" y="1219200"/>
                  </a:lnTo>
                  <a:lnTo>
                    <a:pt x="627569" y="1217527"/>
                  </a:lnTo>
                  <a:lnTo>
                    <a:pt x="577969" y="1212590"/>
                  </a:lnTo>
                  <a:lnTo>
                    <a:pt x="529509" y="1204505"/>
                  </a:lnTo>
                  <a:lnTo>
                    <a:pt x="482321" y="1193390"/>
                  </a:lnTo>
                  <a:lnTo>
                    <a:pt x="436537" y="1179363"/>
                  </a:lnTo>
                  <a:lnTo>
                    <a:pt x="392287" y="1162542"/>
                  </a:lnTo>
                  <a:lnTo>
                    <a:pt x="349702" y="1143045"/>
                  </a:lnTo>
                  <a:lnTo>
                    <a:pt x="308915" y="1120990"/>
                  </a:lnTo>
                  <a:lnTo>
                    <a:pt x="270055" y="1096495"/>
                  </a:lnTo>
                  <a:lnTo>
                    <a:pt x="233254" y="1069676"/>
                  </a:lnTo>
                  <a:lnTo>
                    <a:pt x="198643" y="1040653"/>
                  </a:lnTo>
                  <a:lnTo>
                    <a:pt x="166354" y="1009544"/>
                  </a:lnTo>
                  <a:lnTo>
                    <a:pt x="136518" y="976465"/>
                  </a:lnTo>
                  <a:lnTo>
                    <a:pt x="109265" y="941535"/>
                  </a:lnTo>
                  <a:lnTo>
                    <a:pt x="84727" y="904872"/>
                  </a:lnTo>
                  <a:lnTo>
                    <a:pt x="63035" y="866593"/>
                  </a:lnTo>
                  <a:lnTo>
                    <a:pt x="44321" y="826817"/>
                  </a:lnTo>
                  <a:lnTo>
                    <a:pt x="28715" y="785662"/>
                  </a:lnTo>
                  <a:lnTo>
                    <a:pt x="16349" y="743244"/>
                  </a:lnTo>
                  <a:lnTo>
                    <a:pt x="7353" y="699683"/>
                  </a:lnTo>
                  <a:lnTo>
                    <a:pt x="1860" y="655095"/>
                  </a:lnTo>
                  <a:lnTo>
                    <a:pt x="0" y="609600"/>
                  </a:lnTo>
                  <a:close/>
                </a:path>
              </a:pathLst>
            </a:custGeom>
            <a:ln w="25146">
              <a:solidFill>
                <a:srgbClr val="FFFFFF"/>
              </a:solidFill>
            </a:ln>
          </p:spPr>
          <p:txBody>
            <a:bodyPr wrap="square" lIns="0" tIns="0" rIns="0" bIns="0" rtlCol="0"/>
            <a:lstStyle/>
            <a:p>
              <a:endParaRPr/>
            </a:p>
          </p:txBody>
        </p:sp>
      </p:grpSp>
      <p:sp>
        <p:nvSpPr>
          <p:cNvPr id="16" name="object 16"/>
          <p:cNvSpPr txBox="1"/>
          <p:nvPr/>
        </p:nvSpPr>
        <p:spPr>
          <a:xfrm>
            <a:off x="6961885" y="2080768"/>
            <a:ext cx="390525" cy="344170"/>
          </a:xfrm>
          <a:prstGeom prst="rect">
            <a:avLst/>
          </a:prstGeom>
        </p:spPr>
        <p:txBody>
          <a:bodyPr vert="horz" wrap="square" lIns="0" tIns="31115" rIns="0" bIns="0" rtlCol="0">
            <a:spAutoFit/>
          </a:bodyPr>
          <a:lstStyle/>
          <a:p>
            <a:pPr marL="156210" marR="5080" indent="-144145">
              <a:lnSpc>
                <a:spcPts val="1190"/>
              </a:lnSpc>
              <a:spcBef>
                <a:spcPts val="245"/>
              </a:spcBef>
            </a:pPr>
            <a:r>
              <a:rPr sz="1100" b="1" spc="-5" dirty="0">
                <a:latin typeface="Arial"/>
                <a:cs typeface="Arial"/>
              </a:rPr>
              <a:t>Table  3</a:t>
            </a:r>
            <a:endParaRPr sz="1100">
              <a:latin typeface="Arial"/>
              <a:cs typeface="Arial"/>
            </a:endParaRPr>
          </a:p>
        </p:txBody>
      </p:sp>
      <p:grpSp>
        <p:nvGrpSpPr>
          <p:cNvPr id="17" name="object 17"/>
          <p:cNvGrpSpPr/>
          <p:nvPr/>
        </p:nvGrpSpPr>
        <p:grpSpPr>
          <a:xfrm>
            <a:off x="6570960" y="3283508"/>
            <a:ext cx="2506345" cy="1828164"/>
            <a:chOff x="6570960" y="3283508"/>
            <a:chExt cx="2506345" cy="1828164"/>
          </a:xfrm>
        </p:grpSpPr>
        <p:sp>
          <p:nvSpPr>
            <p:cNvPr id="18" name="object 18"/>
            <p:cNvSpPr/>
            <p:nvPr/>
          </p:nvSpPr>
          <p:spPr>
            <a:xfrm>
              <a:off x="7601330" y="4877943"/>
              <a:ext cx="445770" cy="220979"/>
            </a:xfrm>
            <a:custGeom>
              <a:avLst/>
              <a:gdLst/>
              <a:ahLst/>
              <a:cxnLst/>
              <a:rect l="l" t="t" r="r" b="b"/>
              <a:pathLst>
                <a:path w="445770" h="220979">
                  <a:moveTo>
                    <a:pt x="334264" y="0"/>
                  </a:moveTo>
                  <a:lnTo>
                    <a:pt x="111379" y="0"/>
                  </a:lnTo>
                  <a:lnTo>
                    <a:pt x="111379" y="110489"/>
                  </a:lnTo>
                  <a:lnTo>
                    <a:pt x="0" y="110489"/>
                  </a:lnTo>
                  <a:lnTo>
                    <a:pt x="222885" y="220979"/>
                  </a:lnTo>
                  <a:lnTo>
                    <a:pt x="445770" y="110489"/>
                  </a:lnTo>
                  <a:lnTo>
                    <a:pt x="334264" y="110489"/>
                  </a:lnTo>
                  <a:lnTo>
                    <a:pt x="334264" y="0"/>
                  </a:lnTo>
                  <a:close/>
                </a:path>
              </a:pathLst>
            </a:custGeom>
            <a:solidFill>
              <a:srgbClr val="5F497A"/>
            </a:solidFill>
          </p:spPr>
          <p:txBody>
            <a:bodyPr wrap="square" lIns="0" tIns="0" rIns="0" bIns="0" rtlCol="0"/>
            <a:lstStyle/>
            <a:p>
              <a:endParaRPr/>
            </a:p>
          </p:txBody>
        </p:sp>
        <p:sp>
          <p:nvSpPr>
            <p:cNvPr id="19" name="object 19"/>
            <p:cNvSpPr/>
            <p:nvPr/>
          </p:nvSpPr>
          <p:spPr>
            <a:xfrm>
              <a:off x="7601330" y="4877943"/>
              <a:ext cx="445770" cy="220979"/>
            </a:xfrm>
            <a:custGeom>
              <a:avLst/>
              <a:gdLst/>
              <a:ahLst/>
              <a:cxnLst/>
              <a:rect l="l" t="t" r="r" b="b"/>
              <a:pathLst>
                <a:path w="445770" h="220979">
                  <a:moveTo>
                    <a:pt x="0" y="110489"/>
                  </a:moveTo>
                  <a:lnTo>
                    <a:pt x="111379" y="110489"/>
                  </a:lnTo>
                  <a:lnTo>
                    <a:pt x="111379" y="0"/>
                  </a:lnTo>
                  <a:lnTo>
                    <a:pt x="334264" y="0"/>
                  </a:lnTo>
                  <a:lnTo>
                    <a:pt x="334264" y="110489"/>
                  </a:lnTo>
                  <a:lnTo>
                    <a:pt x="445770" y="110489"/>
                  </a:lnTo>
                  <a:lnTo>
                    <a:pt x="222885" y="220979"/>
                  </a:lnTo>
                  <a:lnTo>
                    <a:pt x="0" y="110489"/>
                  </a:lnTo>
                  <a:close/>
                </a:path>
              </a:pathLst>
            </a:custGeom>
            <a:ln w="25146">
              <a:solidFill>
                <a:srgbClr val="FFFFFF"/>
              </a:solidFill>
            </a:ln>
          </p:spPr>
          <p:txBody>
            <a:bodyPr wrap="square" lIns="0" tIns="0" rIns="0" bIns="0" rtlCol="0"/>
            <a:lstStyle/>
            <a:p>
              <a:endParaRPr/>
            </a:p>
          </p:txBody>
        </p:sp>
        <p:pic>
          <p:nvPicPr>
            <p:cNvPr id="20" name="object 20"/>
            <p:cNvPicPr/>
            <p:nvPr/>
          </p:nvPicPr>
          <p:blipFill>
            <a:blip r:embed="rId3" cstate="print"/>
            <a:stretch>
              <a:fillRect/>
            </a:stretch>
          </p:blipFill>
          <p:spPr>
            <a:xfrm>
              <a:off x="6570960" y="3283508"/>
              <a:ext cx="2505983" cy="1555048"/>
            </a:xfrm>
            <a:prstGeom prst="rect">
              <a:avLst/>
            </a:prstGeom>
          </p:spPr>
        </p:pic>
      </p:grpSp>
      <p:sp>
        <p:nvSpPr>
          <p:cNvPr id="21" name="object 21"/>
          <p:cNvSpPr txBox="1"/>
          <p:nvPr/>
        </p:nvSpPr>
        <p:spPr>
          <a:xfrm>
            <a:off x="7336535" y="5161026"/>
            <a:ext cx="974725" cy="178435"/>
          </a:xfrm>
          <a:prstGeom prst="rect">
            <a:avLst/>
          </a:prstGeom>
        </p:spPr>
        <p:txBody>
          <a:bodyPr vert="horz" wrap="square" lIns="0" tIns="12700" rIns="0" bIns="0" rtlCol="0">
            <a:spAutoFit/>
          </a:bodyPr>
          <a:lstStyle/>
          <a:p>
            <a:pPr marL="12700">
              <a:lnSpc>
                <a:spcPct val="100000"/>
              </a:lnSpc>
              <a:spcBef>
                <a:spcPts val="100"/>
              </a:spcBef>
            </a:pPr>
            <a:r>
              <a:rPr sz="1000" b="1" spc="-5" dirty="0">
                <a:latin typeface="Arial"/>
                <a:cs typeface="Arial"/>
              </a:rPr>
              <a:t>Processed</a:t>
            </a:r>
            <a:r>
              <a:rPr sz="1000" b="1" spc="-80" dirty="0">
                <a:latin typeface="Arial"/>
                <a:cs typeface="Arial"/>
              </a:rPr>
              <a:t> </a:t>
            </a:r>
            <a:r>
              <a:rPr sz="1000" b="1" dirty="0">
                <a:latin typeface="Arial"/>
                <a:cs typeface="Arial"/>
              </a:rPr>
              <a:t>Data</a:t>
            </a:r>
            <a:endParaRPr sz="1000">
              <a:latin typeface="Arial"/>
              <a:cs typeface="Arial"/>
            </a:endParaRPr>
          </a:p>
        </p:txBody>
      </p:sp>
      <p:sp>
        <p:nvSpPr>
          <p:cNvPr id="26" name="object 26"/>
          <p:cNvSpPr txBox="1"/>
          <p:nvPr/>
        </p:nvSpPr>
        <p:spPr>
          <a:xfrm>
            <a:off x="7912607" y="6569709"/>
            <a:ext cx="828675" cy="256540"/>
          </a:xfrm>
          <a:prstGeom prst="rect">
            <a:avLst/>
          </a:prstGeom>
        </p:spPr>
        <p:txBody>
          <a:bodyPr vert="horz" wrap="square" lIns="0" tIns="18415" rIns="0" bIns="0" rtlCol="0">
            <a:spAutoFit/>
          </a:bodyPr>
          <a:lstStyle/>
          <a:p>
            <a:pPr marL="12700">
              <a:lnSpc>
                <a:spcPct val="100000"/>
              </a:lnSpc>
              <a:spcBef>
                <a:spcPts val="145"/>
              </a:spcBef>
            </a:pPr>
            <a:r>
              <a:rPr sz="1800" spc="52" baseline="4629" dirty="0">
                <a:latin typeface="Times New Roman"/>
                <a:cs typeface="Times New Roman"/>
              </a:rPr>
              <a:t>Session </a:t>
            </a:r>
            <a:r>
              <a:rPr sz="1800" spc="104" baseline="4629" dirty="0">
                <a:latin typeface="Times New Roman"/>
                <a:cs typeface="Times New Roman"/>
              </a:rPr>
              <a:t>9/</a:t>
            </a:r>
            <a:r>
              <a:rPr sz="1800" spc="-270" baseline="4629" dirty="0">
                <a:latin typeface="Times New Roman"/>
                <a:cs typeface="Times New Roman"/>
              </a:rPr>
              <a:t> </a:t>
            </a:r>
            <a:fld id="{81D60167-4931-47E6-BA6A-407CBD079E47}" type="slidenum">
              <a:rPr sz="1200" dirty="0">
                <a:latin typeface="Times New Roman"/>
                <a:cs typeface="Times New Roman"/>
              </a:rPr>
              <a:t>3</a:t>
            </a:fld>
            <a:endParaRPr sz="1200">
              <a:latin typeface="Times New Roman"/>
              <a:cs typeface="Times New Roman"/>
            </a:endParaRPr>
          </a:p>
        </p:txBody>
      </p:sp>
      <p:sp>
        <p:nvSpPr>
          <p:cNvPr id="27" name="object 27"/>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22" name="object 22"/>
          <p:cNvSpPr txBox="1"/>
          <p:nvPr/>
        </p:nvSpPr>
        <p:spPr>
          <a:xfrm>
            <a:off x="7756906" y="4240529"/>
            <a:ext cx="301625" cy="178435"/>
          </a:xfrm>
          <a:prstGeom prst="rect">
            <a:avLst/>
          </a:prstGeom>
        </p:spPr>
        <p:txBody>
          <a:bodyPr vert="horz" wrap="square" lIns="0" tIns="12700" rIns="0" bIns="0" rtlCol="0">
            <a:spAutoFit/>
          </a:bodyPr>
          <a:lstStyle/>
          <a:p>
            <a:pPr marL="12700">
              <a:lnSpc>
                <a:spcPct val="100000"/>
              </a:lnSpc>
              <a:spcBef>
                <a:spcPts val="100"/>
              </a:spcBef>
            </a:pPr>
            <a:r>
              <a:rPr sz="1000" b="1" dirty="0">
                <a:solidFill>
                  <a:srgbClr val="FFFFFF"/>
                </a:solidFill>
                <a:latin typeface="Arial"/>
                <a:cs typeface="Arial"/>
              </a:rPr>
              <a:t>Data</a:t>
            </a:r>
            <a:endParaRPr sz="1000">
              <a:latin typeface="Arial"/>
              <a:cs typeface="Arial"/>
            </a:endParaRPr>
          </a:p>
        </p:txBody>
      </p:sp>
      <p:sp>
        <p:nvSpPr>
          <p:cNvPr id="23" name="object 23"/>
          <p:cNvSpPr txBox="1"/>
          <p:nvPr/>
        </p:nvSpPr>
        <p:spPr>
          <a:xfrm>
            <a:off x="7182611" y="3774694"/>
            <a:ext cx="301625" cy="178435"/>
          </a:xfrm>
          <a:prstGeom prst="rect">
            <a:avLst/>
          </a:prstGeom>
        </p:spPr>
        <p:txBody>
          <a:bodyPr vert="horz" wrap="square" lIns="0" tIns="12700" rIns="0" bIns="0" rtlCol="0">
            <a:spAutoFit/>
          </a:bodyPr>
          <a:lstStyle/>
          <a:p>
            <a:pPr marL="12700">
              <a:lnSpc>
                <a:spcPct val="100000"/>
              </a:lnSpc>
              <a:spcBef>
                <a:spcPts val="100"/>
              </a:spcBef>
            </a:pPr>
            <a:r>
              <a:rPr sz="1000" b="1" dirty="0">
                <a:solidFill>
                  <a:srgbClr val="FFFFFF"/>
                </a:solidFill>
                <a:latin typeface="Arial"/>
                <a:cs typeface="Arial"/>
              </a:rPr>
              <a:t>Data</a:t>
            </a:r>
            <a:endParaRPr sz="1000">
              <a:latin typeface="Arial"/>
              <a:cs typeface="Arial"/>
            </a:endParaRPr>
          </a:p>
        </p:txBody>
      </p:sp>
      <p:sp>
        <p:nvSpPr>
          <p:cNvPr id="24" name="object 24"/>
          <p:cNvSpPr txBox="1"/>
          <p:nvPr/>
        </p:nvSpPr>
        <p:spPr>
          <a:xfrm>
            <a:off x="8003031" y="3624579"/>
            <a:ext cx="301625" cy="178435"/>
          </a:xfrm>
          <a:prstGeom prst="rect">
            <a:avLst/>
          </a:prstGeom>
        </p:spPr>
        <p:txBody>
          <a:bodyPr vert="horz" wrap="square" lIns="0" tIns="12700" rIns="0" bIns="0" rtlCol="0">
            <a:spAutoFit/>
          </a:bodyPr>
          <a:lstStyle/>
          <a:p>
            <a:pPr marL="12700">
              <a:lnSpc>
                <a:spcPct val="100000"/>
              </a:lnSpc>
              <a:spcBef>
                <a:spcPts val="100"/>
              </a:spcBef>
            </a:pPr>
            <a:r>
              <a:rPr sz="1000" b="1" dirty="0">
                <a:solidFill>
                  <a:srgbClr val="FFFFFF"/>
                </a:solidFill>
                <a:latin typeface="Arial"/>
                <a:cs typeface="Arial"/>
              </a:rPr>
              <a:t>Data</a:t>
            </a:r>
            <a:endParaRPr sz="1000">
              <a:latin typeface="Arial"/>
              <a:cs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24383"/>
            <a:ext cx="3957320" cy="635635"/>
          </a:xfrm>
          <a:prstGeom prst="rect">
            <a:avLst/>
          </a:prstGeom>
        </p:spPr>
        <p:txBody>
          <a:bodyPr vert="horz" wrap="square" lIns="0" tIns="12700" rIns="0" bIns="0" rtlCol="0">
            <a:spAutoFit/>
          </a:bodyPr>
          <a:lstStyle/>
          <a:p>
            <a:pPr marL="12700">
              <a:lnSpc>
                <a:spcPct val="100000"/>
              </a:lnSpc>
              <a:spcBef>
                <a:spcPts val="100"/>
              </a:spcBef>
            </a:pPr>
            <a:r>
              <a:rPr spc="200" dirty="0"/>
              <a:t>Grouping </a:t>
            </a:r>
            <a:r>
              <a:rPr spc="170" dirty="0"/>
              <a:t>Data</a:t>
            </a:r>
            <a:r>
              <a:rPr spc="-595" dirty="0"/>
              <a:t> </a:t>
            </a:r>
            <a:r>
              <a:rPr spc="-415" dirty="0"/>
              <a:t>1-5</a:t>
            </a:r>
          </a:p>
        </p:txBody>
      </p:sp>
      <p:grpSp>
        <p:nvGrpSpPr>
          <p:cNvPr id="3" name="object 3"/>
          <p:cNvGrpSpPr/>
          <p:nvPr/>
        </p:nvGrpSpPr>
        <p:grpSpPr>
          <a:xfrm>
            <a:off x="105155" y="882396"/>
            <a:ext cx="8848725" cy="2396490"/>
            <a:chOff x="105155" y="882396"/>
            <a:chExt cx="8848725" cy="2396490"/>
          </a:xfrm>
        </p:grpSpPr>
        <p:pic>
          <p:nvPicPr>
            <p:cNvPr id="4" name="object 4"/>
            <p:cNvPicPr/>
            <p:nvPr/>
          </p:nvPicPr>
          <p:blipFill>
            <a:blip r:embed="rId3" cstate="print"/>
            <a:stretch>
              <a:fillRect/>
            </a:stretch>
          </p:blipFill>
          <p:spPr>
            <a:xfrm>
              <a:off x="105155" y="882396"/>
              <a:ext cx="8848344" cy="2396490"/>
            </a:xfrm>
            <a:prstGeom prst="rect">
              <a:avLst/>
            </a:prstGeom>
          </p:spPr>
        </p:pic>
        <p:pic>
          <p:nvPicPr>
            <p:cNvPr id="5" name="object 5"/>
            <p:cNvPicPr/>
            <p:nvPr/>
          </p:nvPicPr>
          <p:blipFill>
            <a:blip r:embed="rId4" cstate="print"/>
            <a:stretch>
              <a:fillRect/>
            </a:stretch>
          </p:blipFill>
          <p:spPr>
            <a:xfrm>
              <a:off x="146303" y="900684"/>
              <a:ext cx="8772906" cy="2321052"/>
            </a:xfrm>
            <a:prstGeom prst="rect">
              <a:avLst/>
            </a:prstGeom>
          </p:spPr>
        </p:pic>
      </p:grpSp>
      <p:sp>
        <p:nvSpPr>
          <p:cNvPr id="6" name="object 6"/>
          <p:cNvSpPr txBox="1"/>
          <p:nvPr/>
        </p:nvSpPr>
        <p:spPr>
          <a:xfrm>
            <a:off x="284988" y="1322323"/>
            <a:ext cx="8496300" cy="1501140"/>
          </a:xfrm>
          <a:prstGeom prst="rect">
            <a:avLst/>
          </a:prstGeom>
        </p:spPr>
        <p:txBody>
          <a:bodyPr vert="horz" wrap="square" lIns="0" tIns="53975" rIns="0" bIns="0" rtlCol="0">
            <a:spAutoFit/>
          </a:bodyPr>
          <a:lstStyle/>
          <a:p>
            <a:pPr marL="12700" marR="5080">
              <a:lnSpc>
                <a:spcPts val="2590"/>
              </a:lnSpc>
              <a:spcBef>
                <a:spcPts val="425"/>
              </a:spcBef>
            </a:pPr>
            <a:r>
              <a:rPr sz="2400" spc="110" dirty="0">
                <a:solidFill>
                  <a:srgbClr val="FFFFFF"/>
                </a:solidFill>
                <a:latin typeface="Times New Roman"/>
                <a:cs typeface="Times New Roman"/>
              </a:rPr>
              <a:t>This </a:t>
            </a:r>
            <a:r>
              <a:rPr sz="2400" spc="50" dirty="0">
                <a:solidFill>
                  <a:srgbClr val="FFFFFF"/>
                </a:solidFill>
                <a:latin typeface="Times New Roman"/>
                <a:cs typeface="Times New Roman"/>
              </a:rPr>
              <a:t>clause </a:t>
            </a:r>
            <a:r>
              <a:rPr sz="2400" spc="95" dirty="0">
                <a:solidFill>
                  <a:srgbClr val="FFFFFF"/>
                </a:solidFill>
                <a:latin typeface="Times New Roman"/>
                <a:cs typeface="Times New Roman"/>
              </a:rPr>
              <a:t>partitions </a:t>
            </a:r>
            <a:r>
              <a:rPr sz="2400" spc="135" dirty="0">
                <a:solidFill>
                  <a:srgbClr val="FFFFFF"/>
                </a:solidFill>
                <a:latin typeface="Times New Roman"/>
                <a:cs typeface="Times New Roman"/>
              </a:rPr>
              <a:t>the </a:t>
            </a:r>
            <a:r>
              <a:rPr sz="2400" spc="75" dirty="0">
                <a:solidFill>
                  <a:srgbClr val="FFFFFF"/>
                </a:solidFill>
                <a:latin typeface="Times New Roman"/>
                <a:cs typeface="Times New Roman"/>
              </a:rPr>
              <a:t>resultset </a:t>
            </a:r>
            <a:r>
              <a:rPr sz="2400" spc="125" dirty="0">
                <a:solidFill>
                  <a:srgbClr val="FFFFFF"/>
                </a:solidFill>
                <a:latin typeface="Times New Roman"/>
                <a:cs typeface="Times New Roman"/>
              </a:rPr>
              <a:t>into one </a:t>
            </a:r>
            <a:r>
              <a:rPr sz="2400" spc="105" dirty="0">
                <a:solidFill>
                  <a:srgbClr val="FFFFFF"/>
                </a:solidFill>
                <a:latin typeface="Times New Roman"/>
                <a:cs typeface="Times New Roman"/>
              </a:rPr>
              <a:t>or </a:t>
            </a:r>
            <a:r>
              <a:rPr sz="2400" spc="95" dirty="0">
                <a:solidFill>
                  <a:srgbClr val="FFFFFF"/>
                </a:solidFill>
                <a:latin typeface="Times New Roman"/>
                <a:cs typeface="Times New Roman"/>
              </a:rPr>
              <a:t>more </a:t>
            </a:r>
            <a:r>
              <a:rPr sz="2400" spc="70" dirty="0">
                <a:solidFill>
                  <a:srgbClr val="FFFFFF"/>
                </a:solidFill>
                <a:latin typeface="Times New Roman"/>
                <a:cs typeface="Times New Roman"/>
              </a:rPr>
              <a:t>subsets</a:t>
            </a:r>
            <a:r>
              <a:rPr sz="2400" spc="-270" dirty="0">
                <a:solidFill>
                  <a:srgbClr val="FFFFFF"/>
                </a:solidFill>
                <a:latin typeface="Times New Roman"/>
                <a:cs typeface="Times New Roman"/>
              </a:rPr>
              <a:t> </a:t>
            </a:r>
            <a:r>
              <a:rPr sz="2400" spc="130" dirty="0">
                <a:solidFill>
                  <a:srgbClr val="FFFFFF"/>
                </a:solidFill>
                <a:latin typeface="Times New Roman"/>
                <a:cs typeface="Times New Roman"/>
              </a:rPr>
              <a:t>and  </a:t>
            </a:r>
            <a:r>
              <a:rPr sz="2400" spc="80" dirty="0">
                <a:solidFill>
                  <a:srgbClr val="FFFFFF"/>
                </a:solidFill>
                <a:latin typeface="Times New Roman"/>
                <a:cs typeface="Times New Roman"/>
              </a:rPr>
              <a:t>each</a:t>
            </a:r>
            <a:r>
              <a:rPr sz="2400" spc="-85" dirty="0">
                <a:solidFill>
                  <a:srgbClr val="FFFFFF"/>
                </a:solidFill>
                <a:latin typeface="Times New Roman"/>
                <a:cs typeface="Times New Roman"/>
              </a:rPr>
              <a:t> </a:t>
            </a:r>
            <a:r>
              <a:rPr sz="2400" spc="85" dirty="0">
                <a:solidFill>
                  <a:srgbClr val="FFFFFF"/>
                </a:solidFill>
                <a:latin typeface="Times New Roman"/>
                <a:cs typeface="Times New Roman"/>
              </a:rPr>
              <a:t>subset</a:t>
            </a:r>
            <a:r>
              <a:rPr sz="2400" spc="-95" dirty="0">
                <a:solidFill>
                  <a:srgbClr val="FFFFFF"/>
                </a:solidFill>
                <a:latin typeface="Times New Roman"/>
                <a:cs typeface="Times New Roman"/>
              </a:rPr>
              <a:t> </a:t>
            </a:r>
            <a:r>
              <a:rPr sz="2400" spc="85" dirty="0">
                <a:solidFill>
                  <a:srgbClr val="FFFFFF"/>
                </a:solidFill>
                <a:latin typeface="Times New Roman"/>
                <a:cs typeface="Times New Roman"/>
              </a:rPr>
              <a:t>has</a:t>
            </a:r>
            <a:r>
              <a:rPr sz="2400" spc="-90" dirty="0">
                <a:solidFill>
                  <a:srgbClr val="FFFFFF"/>
                </a:solidFill>
                <a:latin typeface="Times New Roman"/>
                <a:cs typeface="Times New Roman"/>
              </a:rPr>
              <a:t> </a:t>
            </a:r>
            <a:r>
              <a:rPr sz="2400" spc="55" dirty="0">
                <a:solidFill>
                  <a:srgbClr val="FFFFFF"/>
                </a:solidFill>
                <a:latin typeface="Times New Roman"/>
                <a:cs typeface="Times New Roman"/>
              </a:rPr>
              <a:t>values</a:t>
            </a:r>
            <a:r>
              <a:rPr sz="2400" spc="-90" dirty="0">
                <a:solidFill>
                  <a:srgbClr val="FFFFFF"/>
                </a:solidFill>
                <a:latin typeface="Times New Roman"/>
                <a:cs typeface="Times New Roman"/>
              </a:rPr>
              <a:t> </a:t>
            </a:r>
            <a:r>
              <a:rPr sz="2400" spc="135" dirty="0">
                <a:solidFill>
                  <a:srgbClr val="FFFFFF"/>
                </a:solidFill>
                <a:latin typeface="Times New Roman"/>
                <a:cs typeface="Times New Roman"/>
              </a:rPr>
              <a:t>and</a:t>
            </a:r>
            <a:r>
              <a:rPr sz="2400" spc="-90" dirty="0">
                <a:solidFill>
                  <a:srgbClr val="FFFFFF"/>
                </a:solidFill>
                <a:latin typeface="Times New Roman"/>
                <a:cs typeface="Times New Roman"/>
              </a:rPr>
              <a:t> </a:t>
            </a:r>
            <a:r>
              <a:rPr sz="2400" spc="70" dirty="0">
                <a:solidFill>
                  <a:srgbClr val="FFFFFF"/>
                </a:solidFill>
                <a:latin typeface="Times New Roman"/>
                <a:cs typeface="Times New Roman"/>
              </a:rPr>
              <a:t>expressions</a:t>
            </a:r>
            <a:r>
              <a:rPr sz="2400" spc="-105" dirty="0">
                <a:solidFill>
                  <a:srgbClr val="FFFFFF"/>
                </a:solidFill>
                <a:latin typeface="Times New Roman"/>
                <a:cs typeface="Times New Roman"/>
              </a:rPr>
              <a:t> </a:t>
            </a:r>
            <a:r>
              <a:rPr sz="2400" spc="114" dirty="0">
                <a:solidFill>
                  <a:srgbClr val="FFFFFF"/>
                </a:solidFill>
                <a:latin typeface="Times New Roman"/>
                <a:cs typeface="Times New Roman"/>
              </a:rPr>
              <a:t>in</a:t>
            </a:r>
            <a:r>
              <a:rPr sz="2400" spc="-95" dirty="0">
                <a:solidFill>
                  <a:srgbClr val="FFFFFF"/>
                </a:solidFill>
                <a:latin typeface="Times New Roman"/>
                <a:cs typeface="Times New Roman"/>
              </a:rPr>
              <a:t> </a:t>
            </a:r>
            <a:r>
              <a:rPr sz="2400" spc="95" dirty="0">
                <a:solidFill>
                  <a:srgbClr val="FFFFFF"/>
                </a:solidFill>
                <a:latin typeface="Times New Roman"/>
                <a:cs typeface="Times New Roman"/>
              </a:rPr>
              <a:t>common.</a:t>
            </a:r>
            <a:endParaRPr sz="2400">
              <a:latin typeface="Times New Roman"/>
              <a:cs typeface="Times New Roman"/>
            </a:endParaRPr>
          </a:p>
          <a:p>
            <a:pPr marL="298450" indent="-285750">
              <a:lnSpc>
                <a:spcPts val="2055"/>
              </a:lnSpc>
              <a:spcBef>
                <a:spcPts val="2005"/>
              </a:spcBef>
              <a:buFont typeface="Wingdings"/>
              <a:buChar char=""/>
              <a:tabLst>
                <a:tab pos="298450" algn="l"/>
              </a:tabLst>
            </a:pPr>
            <a:r>
              <a:rPr sz="1800" spc="50" dirty="0">
                <a:solidFill>
                  <a:srgbClr val="FFFFFF"/>
                </a:solidFill>
                <a:latin typeface="Times New Roman"/>
                <a:cs typeface="Times New Roman"/>
              </a:rPr>
              <a:t>It</a:t>
            </a:r>
            <a:r>
              <a:rPr sz="1800" spc="-65" dirty="0">
                <a:solidFill>
                  <a:srgbClr val="FFFFFF"/>
                </a:solidFill>
                <a:latin typeface="Times New Roman"/>
                <a:cs typeface="Times New Roman"/>
              </a:rPr>
              <a:t> </a:t>
            </a:r>
            <a:r>
              <a:rPr sz="1800" spc="5" dirty="0">
                <a:solidFill>
                  <a:srgbClr val="FFFFFF"/>
                </a:solidFill>
                <a:latin typeface="Times New Roman"/>
                <a:cs typeface="Times New Roman"/>
              </a:rPr>
              <a:t>is</a:t>
            </a:r>
            <a:r>
              <a:rPr sz="1800" spc="-60" dirty="0">
                <a:solidFill>
                  <a:srgbClr val="FFFFFF"/>
                </a:solidFill>
                <a:latin typeface="Times New Roman"/>
                <a:cs typeface="Times New Roman"/>
              </a:rPr>
              <a:t> </a:t>
            </a:r>
            <a:r>
              <a:rPr sz="1800" spc="45" dirty="0">
                <a:solidFill>
                  <a:srgbClr val="FFFFFF"/>
                </a:solidFill>
                <a:latin typeface="Times New Roman"/>
                <a:cs typeface="Times New Roman"/>
              </a:rPr>
              <a:t>followed</a:t>
            </a:r>
            <a:r>
              <a:rPr sz="1800" spc="-65" dirty="0">
                <a:solidFill>
                  <a:srgbClr val="FFFFFF"/>
                </a:solidFill>
                <a:latin typeface="Times New Roman"/>
                <a:cs typeface="Times New Roman"/>
              </a:rPr>
              <a:t> </a:t>
            </a:r>
            <a:r>
              <a:rPr sz="1800" spc="35" dirty="0">
                <a:solidFill>
                  <a:srgbClr val="FFFFFF"/>
                </a:solidFill>
                <a:latin typeface="Times New Roman"/>
                <a:cs typeface="Times New Roman"/>
              </a:rPr>
              <a:t>by</a:t>
            </a:r>
            <a:r>
              <a:rPr sz="1800" spc="-60" dirty="0">
                <a:solidFill>
                  <a:srgbClr val="FFFFFF"/>
                </a:solidFill>
                <a:latin typeface="Times New Roman"/>
                <a:cs typeface="Times New Roman"/>
              </a:rPr>
              <a:t> </a:t>
            </a:r>
            <a:r>
              <a:rPr sz="1800" spc="30" dirty="0">
                <a:solidFill>
                  <a:srgbClr val="FFFFFF"/>
                </a:solidFill>
                <a:latin typeface="Times New Roman"/>
                <a:cs typeface="Times New Roman"/>
              </a:rPr>
              <a:t>a</a:t>
            </a:r>
            <a:r>
              <a:rPr sz="1800" spc="-65" dirty="0">
                <a:solidFill>
                  <a:srgbClr val="FFFFFF"/>
                </a:solidFill>
                <a:latin typeface="Times New Roman"/>
                <a:cs typeface="Times New Roman"/>
              </a:rPr>
              <a:t> </a:t>
            </a:r>
            <a:r>
              <a:rPr sz="1800" spc="30" dirty="0">
                <a:solidFill>
                  <a:srgbClr val="FFFFFF"/>
                </a:solidFill>
                <a:latin typeface="Times New Roman"/>
                <a:cs typeface="Times New Roman"/>
              </a:rPr>
              <a:t>list</a:t>
            </a:r>
            <a:r>
              <a:rPr sz="1800" spc="-65" dirty="0">
                <a:solidFill>
                  <a:srgbClr val="FFFFFF"/>
                </a:solidFill>
                <a:latin typeface="Times New Roman"/>
                <a:cs typeface="Times New Roman"/>
              </a:rPr>
              <a:t> </a:t>
            </a:r>
            <a:r>
              <a:rPr sz="1800" spc="50" dirty="0">
                <a:solidFill>
                  <a:srgbClr val="FFFFFF"/>
                </a:solidFill>
                <a:latin typeface="Times New Roman"/>
                <a:cs typeface="Times New Roman"/>
              </a:rPr>
              <a:t>of</a:t>
            </a:r>
            <a:r>
              <a:rPr sz="1800" spc="-60" dirty="0">
                <a:solidFill>
                  <a:srgbClr val="FFFFFF"/>
                </a:solidFill>
                <a:latin typeface="Times New Roman"/>
                <a:cs typeface="Times New Roman"/>
              </a:rPr>
              <a:t> </a:t>
            </a:r>
            <a:r>
              <a:rPr sz="1800" spc="60" dirty="0">
                <a:solidFill>
                  <a:srgbClr val="FFFFFF"/>
                </a:solidFill>
                <a:latin typeface="Times New Roman"/>
                <a:cs typeface="Times New Roman"/>
              </a:rPr>
              <a:t>columns,</a:t>
            </a:r>
            <a:r>
              <a:rPr sz="1800" spc="-60" dirty="0">
                <a:solidFill>
                  <a:srgbClr val="FFFFFF"/>
                </a:solidFill>
                <a:latin typeface="Times New Roman"/>
                <a:cs typeface="Times New Roman"/>
              </a:rPr>
              <a:t> </a:t>
            </a:r>
            <a:r>
              <a:rPr sz="1800" spc="105" dirty="0">
                <a:solidFill>
                  <a:srgbClr val="FFFFFF"/>
                </a:solidFill>
                <a:latin typeface="Times New Roman"/>
                <a:cs typeface="Times New Roman"/>
              </a:rPr>
              <a:t>known</a:t>
            </a:r>
            <a:r>
              <a:rPr sz="1800" spc="-70" dirty="0">
                <a:solidFill>
                  <a:srgbClr val="FFFFFF"/>
                </a:solidFill>
                <a:latin typeface="Times New Roman"/>
                <a:cs typeface="Times New Roman"/>
              </a:rPr>
              <a:t> </a:t>
            </a:r>
            <a:r>
              <a:rPr sz="1800" spc="15" dirty="0">
                <a:solidFill>
                  <a:srgbClr val="FFFFFF"/>
                </a:solidFill>
                <a:latin typeface="Times New Roman"/>
                <a:cs typeface="Times New Roman"/>
              </a:rPr>
              <a:t>as</a:t>
            </a:r>
            <a:r>
              <a:rPr sz="1800" spc="-55" dirty="0">
                <a:solidFill>
                  <a:srgbClr val="FFFFFF"/>
                </a:solidFill>
                <a:latin typeface="Times New Roman"/>
                <a:cs typeface="Times New Roman"/>
              </a:rPr>
              <a:t> </a:t>
            </a:r>
            <a:r>
              <a:rPr sz="1800" spc="75" dirty="0">
                <a:solidFill>
                  <a:srgbClr val="FFFFFF"/>
                </a:solidFill>
                <a:latin typeface="Times New Roman"/>
                <a:cs typeface="Times New Roman"/>
              </a:rPr>
              <a:t>grouped</a:t>
            </a:r>
            <a:r>
              <a:rPr sz="1800" spc="-65" dirty="0">
                <a:solidFill>
                  <a:srgbClr val="FFFFFF"/>
                </a:solidFill>
                <a:latin typeface="Times New Roman"/>
                <a:cs typeface="Times New Roman"/>
              </a:rPr>
              <a:t> </a:t>
            </a:r>
            <a:r>
              <a:rPr sz="1800" spc="60" dirty="0">
                <a:solidFill>
                  <a:srgbClr val="FFFFFF"/>
                </a:solidFill>
                <a:latin typeface="Times New Roman"/>
                <a:cs typeface="Times New Roman"/>
              </a:rPr>
              <a:t>columns.</a:t>
            </a:r>
            <a:endParaRPr sz="1800">
              <a:latin typeface="Times New Roman"/>
              <a:cs typeface="Times New Roman"/>
            </a:endParaRPr>
          </a:p>
          <a:p>
            <a:pPr marL="298450" indent="-285750">
              <a:lnSpc>
                <a:spcPts val="2055"/>
              </a:lnSpc>
              <a:buFont typeface="Wingdings"/>
              <a:buChar char=""/>
              <a:tabLst>
                <a:tab pos="298450" algn="l"/>
              </a:tabLst>
            </a:pPr>
            <a:r>
              <a:rPr sz="1800" spc="50" dirty="0">
                <a:solidFill>
                  <a:srgbClr val="FFFFFF"/>
                </a:solidFill>
                <a:latin typeface="Times New Roman"/>
                <a:cs typeface="Times New Roman"/>
              </a:rPr>
              <a:t>It</a:t>
            </a:r>
            <a:r>
              <a:rPr sz="1800" spc="-65" dirty="0">
                <a:solidFill>
                  <a:srgbClr val="FFFFFF"/>
                </a:solidFill>
                <a:latin typeface="Times New Roman"/>
                <a:cs typeface="Times New Roman"/>
              </a:rPr>
              <a:t> </a:t>
            </a:r>
            <a:r>
              <a:rPr sz="1800" spc="50" dirty="0">
                <a:solidFill>
                  <a:srgbClr val="FFFFFF"/>
                </a:solidFill>
                <a:latin typeface="Times New Roman"/>
                <a:cs typeface="Times New Roman"/>
              </a:rPr>
              <a:t>restricts</a:t>
            </a:r>
            <a:r>
              <a:rPr sz="1800" spc="-75" dirty="0">
                <a:solidFill>
                  <a:srgbClr val="FFFFFF"/>
                </a:solidFill>
                <a:latin typeface="Times New Roman"/>
                <a:cs typeface="Times New Roman"/>
              </a:rPr>
              <a:t> </a:t>
            </a:r>
            <a:r>
              <a:rPr sz="1800" spc="100" dirty="0">
                <a:solidFill>
                  <a:srgbClr val="FFFFFF"/>
                </a:solidFill>
                <a:latin typeface="Times New Roman"/>
                <a:cs typeface="Times New Roman"/>
              </a:rPr>
              <a:t>the</a:t>
            </a:r>
            <a:r>
              <a:rPr sz="1800" spc="-60" dirty="0">
                <a:solidFill>
                  <a:srgbClr val="FFFFFF"/>
                </a:solidFill>
                <a:latin typeface="Times New Roman"/>
                <a:cs typeface="Times New Roman"/>
              </a:rPr>
              <a:t> </a:t>
            </a:r>
            <a:r>
              <a:rPr sz="1800" spc="95" dirty="0">
                <a:solidFill>
                  <a:srgbClr val="FFFFFF"/>
                </a:solidFill>
                <a:latin typeface="Times New Roman"/>
                <a:cs typeface="Times New Roman"/>
              </a:rPr>
              <a:t>number</a:t>
            </a:r>
            <a:r>
              <a:rPr sz="1800" spc="-65" dirty="0">
                <a:solidFill>
                  <a:srgbClr val="FFFFFF"/>
                </a:solidFill>
                <a:latin typeface="Times New Roman"/>
                <a:cs typeface="Times New Roman"/>
              </a:rPr>
              <a:t> </a:t>
            </a:r>
            <a:r>
              <a:rPr sz="1800" spc="50" dirty="0">
                <a:solidFill>
                  <a:srgbClr val="FFFFFF"/>
                </a:solidFill>
                <a:latin typeface="Times New Roman"/>
                <a:cs typeface="Times New Roman"/>
              </a:rPr>
              <a:t>of</a:t>
            </a:r>
            <a:r>
              <a:rPr sz="1800" spc="-60" dirty="0">
                <a:solidFill>
                  <a:srgbClr val="FFFFFF"/>
                </a:solidFill>
                <a:latin typeface="Times New Roman"/>
                <a:cs typeface="Times New Roman"/>
              </a:rPr>
              <a:t> </a:t>
            </a:r>
            <a:r>
              <a:rPr sz="1800" spc="50" dirty="0">
                <a:solidFill>
                  <a:srgbClr val="FFFFFF"/>
                </a:solidFill>
                <a:latin typeface="Times New Roman"/>
                <a:cs typeface="Times New Roman"/>
              </a:rPr>
              <a:t>rows</a:t>
            </a:r>
            <a:r>
              <a:rPr sz="1800" spc="-50" dirty="0">
                <a:solidFill>
                  <a:srgbClr val="FFFFFF"/>
                </a:solidFill>
                <a:latin typeface="Times New Roman"/>
                <a:cs typeface="Times New Roman"/>
              </a:rPr>
              <a:t> </a:t>
            </a:r>
            <a:r>
              <a:rPr sz="1800" spc="50" dirty="0">
                <a:solidFill>
                  <a:srgbClr val="FFFFFF"/>
                </a:solidFill>
                <a:latin typeface="Times New Roman"/>
                <a:cs typeface="Times New Roman"/>
              </a:rPr>
              <a:t>of</a:t>
            </a:r>
            <a:r>
              <a:rPr sz="1800" spc="-60" dirty="0">
                <a:solidFill>
                  <a:srgbClr val="FFFFFF"/>
                </a:solidFill>
                <a:latin typeface="Times New Roman"/>
                <a:cs typeface="Times New Roman"/>
              </a:rPr>
              <a:t> </a:t>
            </a:r>
            <a:r>
              <a:rPr sz="1800" spc="100" dirty="0">
                <a:solidFill>
                  <a:srgbClr val="FFFFFF"/>
                </a:solidFill>
                <a:latin typeface="Times New Roman"/>
                <a:cs typeface="Times New Roman"/>
              </a:rPr>
              <a:t>the</a:t>
            </a:r>
            <a:r>
              <a:rPr sz="1800" spc="-65" dirty="0">
                <a:solidFill>
                  <a:srgbClr val="FFFFFF"/>
                </a:solidFill>
                <a:latin typeface="Times New Roman"/>
                <a:cs typeface="Times New Roman"/>
              </a:rPr>
              <a:t> </a:t>
            </a:r>
            <a:r>
              <a:rPr sz="1800" spc="50" dirty="0">
                <a:solidFill>
                  <a:srgbClr val="FFFFFF"/>
                </a:solidFill>
                <a:latin typeface="Times New Roman"/>
                <a:cs typeface="Times New Roman"/>
              </a:rPr>
              <a:t>resultset.</a:t>
            </a:r>
            <a:endParaRPr sz="1800">
              <a:latin typeface="Times New Roman"/>
              <a:cs typeface="Times New Roman"/>
            </a:endParaRPr>
          </a:p>
        </p:txBody>
      </p:sp>
      <p:pic>
        <p:nvPicPr>
          <p:cNvPr id="7" name="object 7"/>
          <p:cNvPicPr/>
          <p:nvPr/>
        </p:nvPicPr>
        <p:blipFill>
          <a:blip r:embed="rId5" cstate="print"/>
          <a:stretch>
            <a:fillRect/>
          </a:stretch>
        </p:blipFill>
        <p:spPr>
          <a:xfrm>
            <a:off x="2667000" y="3473196"/>
            <a:ext cx="3573017" cy="2484119"/>
          </a:xfrm>
          <a:prstGeom prst="rect">
            <a:avLst/>
          </a:prstGeom>
        </p:spPr>
      </p:pic>
      <p:sp>
        <p:nvSpPr>
          <p:cNvPr id="8" name="object 8"/>
          <p:cNvSpPr txBox="1"/>
          <p:nvPr/>
        </p:nvSpPr>
        <p:spPr>
          <a:xfrm>
            <a:off x="3501390" y="5955538"/>
            <a:ext cx="2006600" cy="238760"/>
          </a:xfrm>
          <a:prstGeom prst="rect">
            <a:avLst/>
          </a:prstGeom>
        </p:spPr>
        <p:txBody>
          <a:bodyPr vert="horz" wrap="square" lIns="0" tIns="12065" rIns="0" bIns="0" rtlCol="0">
            <a:spAutoFit/>
          </a:bodyPr>
          <a:lstStyle/>
          <a:p>
            <a:pPr marL="12700">
              <a:lnSpc>
                <a:spcPct val="100000"/>
              </a:lnSpc>
              <a:spcBef>
                <a:spcPts val="95"/>
              </a:spcBef>
            </a:pPr>
            <a:r>
              <a:rPr sz="1400" b="1" spc="-70" dirty="0">
                <a:latin typeface="Arial"/>
                <a:cs typeface="Arial"/>
              </a:rPr>
              <a:t>Using </a:t>
            </a:r>
            <a:r>
              <a:rPr sz="1400" b="1" spc="10" dirty="0">
                <a:latin typeface="Arial"/>
                <a:cs typeface="Arial"/>
              </a:rPr>
              <a:t>GROUP</a:t>
            </a:r>
            <a:r>
              <a:rPr sz="1400" b="1" spc="-275" dirty="0">
                <a:latin typeface="Arial"/>
                <a:cs typeface="Arial"/>
              </a:rPr>
              <a:t> </a:t>
            </a:r>
            <a:r>
              <a:rPr sz="1400" b="1" spc="-45" dirty="0">
                <a:latin typeface="Arial"/>
                <a:cs typeface="Arial"/>
              </a:rPr>
              <a:t>BY </a:t>
            </a:r>
            <a:r>
              <a:rPr sz="1400" b="1" spc="-80" dirty="0">
                <a:latin typeface="Arial"/>
                <a:cs typeface="Arial"/>
              </a:rPr>
              <a:t>Clause</a:t>
            </a:r>
            <a:endParaRPr sz="1400">
              <a:latin typeface="Arial"/>
              <a:cs typeface="Arial"/>
            </a:endParaRPr>
          </a:p>
        </p:txBody>
      </p:sp>
      <p:sp>
        <p:nvSpPr>
          <p:cNvPr id="10" name="object 10"/>
          <p:cNvSpPr txBox="1"/>
          <p:nvPr/>
        </p:nvSpPr>
        <p:spPr>
          <a:xfrm>
            <a:off x="7912607" y="6569709"/>
            <a:ext cx="828675" cy="256540"/>
          </a:xfrm>
          <a:prstGeom prst="rect">
            <a:avLst/>
          </a:prstGeom>
        </p:spPr>
        <p:txBody>
          <a:bodyPr vert="horz" wrap="square" lIns="0" tIns="18415" rIns="0" bIns="0" rtlCol="0">
            <a:spAutoFit/>
          </a:bodyPr>
          <a:lstStyle/>
          <a:p>
            <a:pPr marL="12700">
              <a:lnSpc>
                <a:spcPct val="100000"/>
              </a:lnSpc>
              <a:spcBef>
                <a:spcPts val="145"/>
              </a:spcBef>
            </a:pPr>
            <a:r>
              <a:rPr sz="1800" spc="52" baseline="4629" dirty="0">
                <a:latin typeface="Times New Roman"/>
                <a:cs typeface="Times New Roman"/>
              </a:rPr>
              <a:t>Session </a:t>
            </a:r>
            <a:r>
              <a:rPr sz="1800" spc="104" baseline="4629" dirty="0">
                <a:latin typeface="Times New Roman"/>
                <a:cs typeface="Times New Roman"/>
              </a:rPr>
              <a:t>9/</a:t>
            </a:r>
            <a:r>
              <a:rPr sz="1800" spc="-270" baseline="4629" dirty="0">
                <a:latin typeface="Times New Roman"/>
                <a:cs typeface="Times New Roman"/>
              </a:rPr>
              <a:t> </a:t>
            </a:r>
            <a:fld id="{81D60167-4931-47E6-BA6A-407CBD079E47}" type="slidenum">
              <a:rPr sz="1200" dirty="0">
                <a:latin typeface="Times New Roman"/>
                <a:cs typeface="Times New Roman"/>
              </a:rPr>
              <a:t>4</a:t>
            </a:fld>
            <a:endParaRPr sz="1200">
              <a:latin typeface="Times New Roman"/>
              <a:cs typeface="Times New Roman"/>
            </a:endParaRPr>
          </a:p>
        </p:txBody>
      </p:sp>
      <p:sp>
        <p:nvSpPr>
          <p:cNvPr id="11" name="object 11"/>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70586" y="0"/>
            <a:ext cx="4022090" cy="635635"/>
          </a:xfrm>
          <a:prstGeom prst="rect">
            <a:avLst/>
          </a:prstGeom>
        </p:spPr>
        <p:txBody>
          <a:bodyPr vert="horz" wrap="square" lIns="0" tIns="12700" rIns="0" bIns="0" rtlCol="0">
            <a:spAutoFit/>
          </a:bodyPr>
          <a:lstStyle/>
          <a:p>
            <a:pPr marL="12700">
              <a:lnSpc>
                <a:spcPct val="100000"/>
              </a:lnSpc>
              <a:spcBef>
                <a:spcPts val="100"/>
              </a:spcBef>
            </a:pPr>
            <a:r>
              <a:rPr spc="200" dirty="0"/>
              <a:t>Grouping </a:t>
            </a:r>
            <a:r>
              <a:rPr spc="165" dirty="0"/>
              <a:t>Data</a:t>
            </a:r>
            <a:r>
              <a:rPr spc="-580" dirty="0"/>
              <a:t> </a:t>
            </a:r>
            <a:r>
              <a:rPr spc="-245" dirty="0"/>
              <a:t>2-5</a:t>
            </a:r>
          </a:p>
        </p:txBody>
      </p:sp>
      <p:sp>
        <p:nvSpPr>
          <p:cNvPr id="3" name="object 3"/>
          <p:cNvSpPr/>
          <p:nvPr/>
        </p:nvSpPr>
        <p:spPr>
          <a:xfrm>
            <a:off x="845820" y="1758695"/>
            <a:ext cx="7359650" cy="1814830"/>
          </a:xfrm>
          <a:custGeom>
            <a:avLst/>
            <a:gdLst/>
            <a:ahLst/>
            <a:cxnLst/>
            <a:rect l="l" t="t" r="r" b="b"/>
            <a:pathLst>
              <a:path w="7359650" h="1814829">
                <a:moveTo>
                  <a:pt x="7359396" y="302387"/>
                </a:moveTo>
                <a:lnTo>
                  <a:pt x="7355433" y="253339"/>
                </a:lnTo>
                <a:lnTo>
                  <a:pt x="7343978" y="206819"/>
                </a:lnTo>
                <a:lnTo>
                  <a:pt x="7325639" y="163423"/>
                </a:lnTo>
                <a:lnTo>
                  <a:pt x="7301052" y="123812"/>
                </a:lnTo>
                <a:lnTo>
                  <a:pt x="7270826" y="88569"/>
                </a:lnTo>
                <a:lnTo>
                  <a:pt x="7235584" y="58343"/>
                </a:lnTo>
                <a:lnTo>
                  <a:pt x="7195972" y="33756"/>
                </a:lnTo>
                <a:lnTo>
                  <a:pt x="7152576" y="15417"/>
                </a:lnTo>
                <a:lnTo>
                  <a:pt x="7106056" y="3962"/>
                </a:lnTo>
                <a:lnTo>
                  <a:pt x="7057009" y="0"/>
                </a:lnTo>
                <a:lnTo>
                  <a:pt x="302387" y="0"/>
                </a:lnTo>
                <a:lnTo>
                  <a:pt x="253326" y="3962"/>
                </a:lnTo>
                <a:lnTo>
                  <a:pt x="206806" y="15417"/>
                </a:lnTo>
                <a:lnTo>
                  <a:pt x="163410" y="33756"/>
                </a:lnTo>
                <a:lnTo>
                  <a:pt x="123799" y="58343"/>
                </a:lnTo>
                <a:lnTo>
                  <a:pt x="88557" y="88569"/>
                </a:lnTo>
                <a:lnTo>
                  <a:pt x="58331" y="123812"/>
                </a:lnTo>
                <a:lnTo>
                  <a:pt x="33743" y="163423"/>
                </a:lnTo>
                <a:lnTo>
                  <a:pt x="15405" y="206819"/>
                </a:lnTo>
                <a:lnTo>
                  <a:pt x="3949" y="253339"/>
                </a:lnTo>
                <a:lnTo>
                  <a:pt x="0" y="302387"/>
                </a:lnTo>
                <a:lnTo>
                  <a:pt x="0" y="1511935"/>
                </a:lnTo>
                <a:lnTo>
                  <a:pt x="3949" y="1560995"/>
                </a:lnTo>
                <a:lnTo>
                  <a:pt x="15405" y="1607515"/>
                </a:lnTo>
                <a:lnTo>
                  <a:pt x="33743" y="1650911"/>
                </a:lnTo>
                <a:lnTo>
                  <a:pt x="58331" y="1690522"/>
                </a:lnTo>
                <a:lnTo>
                  <a:pt x="88557" y="1725764"/>
                </a:lnTo>
                <a:lnTo>
                  <a:pt x="123799" y="1755990"/>
                </a:lnTo>
                <a:lnTo>
                  <a:pt x="163410" y="1780578"/>
                </a:lnTo>
                <a:lnTo>
                  <a:pt x="206806" y="1798916"/>
                </a:lnTo>
                <a:lnTo>
                  <a:pt x="253326" y="1810372"/>
                </a:lnTo>
                <a:lnTo>
                  <a:pt x="302387" y="1814322"/>
                </a:lnTo>
                <a:lnTo>
                  <a:pt x="7057009" y="1814322"/>
                </a:lnTo>
                <a:lnTo>
                  <a:pt x="7106056" y="1810372"/>
                </a:lnTo>
                <a:lnTo>
                  <a:pt x="7152576" y="1798916"/>
                </a:lnTo>
                <a:lnTo>
                  <a:pt x="7195972" y="1780578"/>
                </a:lnTo>
                <a:lnTo>
                  <a:pt x="7235584" y="1755990"/>
                </a:lnTo>
                <a:lnTo>
                  <a:pt x="7270826" y="1725764"/>
                </a:lnTo>
                <a:lnTo>
                  <a:pt x="7301052" y="1690522"/>
                </a:lnTo>
                <a:lnTo>
                  <a:pt x="7325639" y="1650911"/>
                </a:lnTo>
                <a:lnTo>
                  <a:pt x="7343978" y="1607515"/>
                </a:lnTo>
                <a:lnTo>
                  <a:pt x="7355433" y="1560995"/>
                </a:lnTo>
                <a:lnTo>
                  <a:pt x="7359396" y="1511935"/>
                </a:lnTo>
                <a:lnTo>
                  <a:pt x="7359396" y="302387"/>
                </a:lnTo>
                <a:close/>
              </a:path>
            </a:pathLst>
          </a:custGeom>
          <a:solidFill>
            <a:srgbClr val="C0504D"/>
          </a:solidFill>
        </p:spPr>
        <p:txBody>
          <a:bodyPr wrap="square" lIns="0" tIns="0" rIns="0" bIns="0" rtlCol="0"/>
          <a:lstStyle/>
          <a:p>
            <a:endParaRPr/>
          </a:p>
        </p:txBody>
      </p:sp>
      <p:sp>
        <p:nvSpPr>
          <p:cNvPr id="4" name="object 4"/>
          <p:cNvSpPr txBox="1"/>
          <p:nvPr/>
        </p:nvSpPr>
        <p:spPr>
          <a:xfrm>
            <a:off x="972566" y="1894586"/>
            <a:ext cx="7106920" cy="1427480"/>
          </a:xfrm>
          <a:prstGeom prst="rect">
            <a:avLst/>
          </a:prstGeom>
        </p:spPr>
        <p:txBody>
          <a:bodyPr vert="horz" wrap="square" lIns="0" tIns="12065" rIns="0" bIns="0" rtlCol="0">
            <a:spAutoFit/>
          </a:bodyPr>
          <a:lstStyle/>
          <a:p>
            <a:pPr marL="355600" indent="-342900">
              <a:lnSpc>
                <a:spcPts val="2280"/>
              </a:lnSpc>
              <a:spcBef>
                <a:spcPts val="95"/>
              </a:spcBef>
              <a:buFont typeface="Wingdings"/>
              <a:buChar char=""/>
              <a:tabLst>
                <a:tab pos="354965" algn="l"/>
                <a:tab pos="355600" algn="l"/>
              </a:tabLst>
            </a:pPr>
            <a:r>
              <a:rPr sz="2000" spc="135" dirty="0">
                <a:solidFill>
                  <a:srgbClr val="FFFFFF"/>
                </a:solidFill>
                <a:latin typeface="Times New Roman"/>
                <a:cs typeface="Times New Roman"/>
              </a:rPr>
              <a:t>To</a:t>
            </a:r>
            <a:r>
              <a:rPr sz="2000" spc="-75" dirty="0">
                <a:solidFill>
                  <a:srgbClr val="FFFFFF"/>
                </a:solidFill>
                <a:latin typeface="Times New Roman"/>
                <a:cs typeface="Times New Roman"/>
              </a:rPr>
              <a:t> </a:t>
            </a:r>
            <a:r>
              <a:rPr sz="2000" spc="60" dirty="0">
                <a:solidFill>
                  <a:srgbClr val="FFFFFF"/>
                </a:solidFill>
                <a:latin typeface="Times New Roman"/>
                <a:cs typeface="Times New Roman"/>
              </a:rPr>
              <a:t>restrict</a:t>
            </a:r>
            <a:r>
              <a:rPr sz="2000" spc="-75" dirty="0">
                <a:solidFill>
                  <a:srgbClr val="FFFFFF"/>
                </a:solidFill>
                <a:latin typeface="Times New Roman"/>
                <a:cs typeface="Times New Roman"/>
              </a:rPr>
              <a:t> </a:t>
            </a:r>
            <a:r>
              <a:rPr sz="2000" spc="110" dirty="0">
                <a:solidFill>
                  <a:srgbClr val="FFFFFF"/>
                </a:solidFill>
                <a:latin typeface="Times New Roman"/>
                <a:cs typeface="Times New Roman"/>
              </a:rPr>
              <a:t>the</a:t>
            </a:r>
            <a:r>
              <a:rPr sz="2000" spc="-70" dirty="0">
                <a:solidFill>
                  <a:srgbClr val="FFFFFF"/>
                </a:solidFill>
                <a:latin typeface="Times New Roman"/>
                <a:cs typeface="Times New Roman"/>
              </a:rPr>
              <a:t> </a:t>
            </a:r>
            <a:r>
              <a:rPr sz="2000" spc="55" dirty="0">
                <a:solidFill>
                  <a:srgbClr val="FFFFFF"/>
                </a:solidFill>
                <a:latin typeface="Times New Roman"/>
                <a:cs typeface="Times New Roman"/>
              </a:rPr>
              <a:t>rows</a:t>
            </a:r>
            <a:r>
              <a:rPr sz="2000" spc="-60" dirty="0">
                <a:solidFill>
                  <a:srgbClr val="FFFFFF"/>
                </a:solidFill>
                <a:latin typeface="Times New Roman"/>
                <a:cs typeface="Times New Roman"/>
              </a:rPr>
              <a:t> </a:t>
            </a:r>
            <a:r>
              <a:rPr sz="2000" spc="65" dirty="0">
                <a:solidFill>
                  <a:srgbClr val="FFFFFF"/>
                </a:solidFill>
                <a:latin typeface="Times New Roman"/>
                <a:cs typeface="Times New Roman"/>
              </a:rPr>
              <a:t>for</a:t>
            </a:r>
            <a:r>
              <a:rPr sz="2000" spc="-75" dirty="0">
                <a:solidFill>
                  <a:srgbClr val="FFFFFF"/>
                </a:solidFill>
                <a:latin typeface="Times New Roman"/>
                <a:cs typeface="Times New Roman"/>
              </a:rPr>
              <a:t> </a:t>
            </a:r>
            <a:r>
              <a:rPr sz="2000" spc="65" dirty="0">
                <a:solidFill>
                  <a:srgbClr val="FFFFFF"/>
                </a:solidFill>
                <a:latin typeface="Times New Roman"/>
                <a:cs typeface="Times New Roman"/>
              </a:rPr>
              <a:t>grouping.</a:t>
            </a:r>
            <a:endParaRPr sz="2000">
              <a:latin typeface="Times New Roman"/>
              <a:cs typeface="Times New Roman"/>
            </a:endParaRPr>
          </a:p>
          <a:p>
            <a:pPr marL="355600" marR="5080" indent="-342900">
              <a:lnSpc>
                <a:spcPts val="2160"/>
              </a:lnSpc>
              <a:spcBef>
                <a:spcPts val="155"/>
              </a:spcBef>
              <a:buFont typeface="Wingdings"/>
              <a:buChar char=""/>
              <a:tabLst>
                <a:tab pos="354965" algn="l"/>
                <a:tab pos="355600" algn="l"/>
                <a:tab pos="939165" algn="l"/>
                <a:tab pos="1603375" algn="l"/>
                <a:tab pos="2432685" algn="l"/>
                <a:tab pos="2925445" algn="l"/>
                <a:tab pos="3761104" algn="l"/>
                <a:tab pos="4966970" algn="l"/>
                <a:tab pos="5438140" algn="l"/>
                <a:tab pos="6771640" algn="l"/>
              </a:tabLst>
            </a:pPr>
            <a:r>
              <a:rPr sz="2000" spc="130" dirty="0">
                <a:solidFill>
                  <a:srgbClr val="FFFFFF"/>
                </a:solidFill>
                <a:latin typeface="Times New Roman"/>
                <a:cs typeface="Times New Roman"/>
              </a:rPr>
              <a:t>The	</a:t>
            </a:r>
            <a:r>
              <a:rPr sz="2000" spc="80" dirty="0">
                <a:solidFill>
                  <a:srgbClr val="FFFFFF"/>
                </a:solidFill>
                <a:latin typeface="Times New Roman"/>
                <a:cs typeface="Times New Roman"/>
              </a:rPr>
              <a:t>r</a:t>
            </a:r>
            <a:r>
              <a:rPr sz="2000" spc="55" dirty="0">
                <a:solidFill>
                  <a:srgbClr val="FFFFFF"/>
                </a:solidFill>
                <a:latin typeface="Times New Roman"/>
                <a:cs typeface="Times New Roman"/>
              </a:rPr>
              <a:t>o</a:t>
            </a:r>
            <a:r>
              <a:rPr sz="2000" spc="85" dirty="0">
                <a:solidFill>
                  <a:srgbClr val="FFFFFF"/>
                </a:solidFill>
                <a:latin typeface="Times New Roman"/>
                <a:cs typeface="Times New Roman"/>
              </a:rPr>
              <a:t>w</a:t>
            </a:r>
            <a:r>
              <a:rPr sz="2000" spc="5" dirty="0">
                <a:solidFill>
                  <a:srgbClr val="FFFFFF"/>
                </a:solidFill>
                <a:latin typeface="Times New Roman"/>
                <a:cs typeface="Times New Roman"/>
              </a:rPr>
              <a:t>s</a:t>
            </a:r>
            <a:r>
              <a:rPr sz="2000" dirty="0">
                <a:solidFill>
                  <a:srgbClr val="FFFFFF"/>
                </a:solidFill>
                <a:latin typeface="Times New Roman"/>
                <a:cs typeface="Times New Roman"/>
              </a:rPr>
              <a:t>	</a:t>
            </a:r>
            <a:r>
              <a:rPr sz="2000" spc="40" dirty="0">
                <a:solidFill>
                  <a:srgbClr val="FFFFFF"/>
                </a:solidFill>
                <a:latin typeface="Times New Roman"/>
                <a:cs typeface="Times New Roman"/>
              </a:rPr>
              <a:t>sati</a:t>
            </a:r>
            <a:r>
              <a:rPr sz="2000" spc="5" dirty="0">
                <a:solidFill>
                  <a:srgbClr val="FFFFFF"/>
                </a:solidFill>
                <a:latin typeface="Times New Roman"/>
                <a:cs typeface="Times New Roman"/>
              </a:rPr>
              <a:t>sfy</a:t>
            </a:r>
            <a:r>
              <a:rPr sz="2000" dirty="0">
                <a:solidFill>
                  <a:srgbClr val="FFFFFF"/>
                </a:solidFill>
                <a:latin typeface="Times New Roman"/>
                <a:cs typeface="Times New Roman"/>
              </a:rPr>
              <a:t>	</a:t>
            </a:r>
            <a:r>
              <a:rPr sz="2000" spc="110" dirty="0">
                <a:solidFill>
                  <a:srgbClr val="FFFFFF"/>
                </a:solidFill>
                <a:latin typeface="Times New Roman"/>
                <a:cs typeface="Times New Roman"/>
              </a:rPr>
              <a:t>the</a:t>
            </a:r>
            <a:r>
              <a:rPr sz="2000" dirty="0">
                <a:solidFill>
                  <a:srgbClr val="FFFFFF"/>
                </a:solidFill>
                <a:latin typeface="Times New Roman"/>
                <a:cs typeface="Times New Roman"/>
              </a:rPr>
              <a:t>	</a:t>
            </a:r>
            <a:r>
              <a:rPr sz="2000" spc="5" dirty="0">
                <a:solidFill>
                  <a:srgbClr val="FFFFFF"/>
                </a:solidFill>
                <a:latin typeface="Times New Roman"/>
                <a:cs typeface="Times New Roman"/>
              </a:rPr>
              <a:t>s</a:t>
            </a:r>
            <a:r>
              <a:rPr sz="2000" spc="50" dirty="0">
                <a:solidFill>
                  <a:srgbClr val="FFFFFF"/>
                </a:solidFill>
                <a:latin typeface="Times New Roman"/>
                <a:cs typeface="Times New Roman"/>
              </a:rPr>
              <a:t>e</a:t>
            </a:r>
            <a:r>
              <a:rPr sz="2000" spc="40" dirty="0">
                <a:solidFill>
                  <a:srgbClr val="FFFFFF"/>
                </a:solidFill>
                <a:latin typeface="Times New Roman"/>
                <a:cs typeface="Times New Roman"/>
              </a:rPr>
              <a:t>ar</a:t>
            </a:r>
            <a:r>
              <a:rPr sz="2000" spc="50" dirty="0">
                <a:solidFill>
                  <a:srgbClr val="FFFFFF"/>
                </a:solidFill>
                <a:latin typeface="Times New Roman"/>
                <a:cs typeface="Times New Roman"/>
              </a:rPr>
              <a:t>c</a:t>
            </a:r>
            <a:r>
              <a:rPr sz="2000" spc="170" dirty="0">
                <a:solidFill>
                  <a:srgbClr val="FFFFFF"/>
                </a:solidFill>
                <a:latin typeface="Times New Roman"/>
                <a:cs typeface="Times New Roman"/>
              </a:rPr>
              <a:t>h</a:t>
            </a:r>
            <a:r>
              <a:rPr sz="2000" dirty="0">
                <a:solidFill>
                  <a:srgbClr val="FFFFFF"/>
                </a:solidFill>
                <a:latin typeface="Times New Roman"/>
                <a:cs typeface="Times New Roman"/>
              </a:rPr>
              <a:t>	</a:t>
            </a:r>
            <a:r>
              <a:rPr sz="2000" spc="80" dirty="0">
                <a:solidFill>
                  <a:srgbClr val="FFFFFF"/>
                </a:solidFill>
                <a:latin typeface="Times New Roman"/>
                <a:cs typeface="Times New Roman"/>
              </a:rPr>
              <a:t>conditi</a:t>
            </a:r>
            <a:r>
              <a:rPr sz="2000" spc="105" dirty="0">
                <a:solidFill>
                  <a:srgbClr val="FFFFFF"/>
                </a:solidFill>
                <a:latin typeface="Times New Roman"/>
                <a:cs typeface="Times New Roman"/>
              </a:rPr>
              <a:t>o</a:t>
            </a:r>
            <a:r>
              <a:rPr sz="2000" spc="180" dirty="0">
                <a:solidFill>
                  <a:srgbClr val="FFFFFF"/>
                </a:solidFill>
                <a:latin typeface="Times New Roman"/>
                <a:cs typeface="Times New Roman"/>
              </a:rPr>
              <a:t>n</a:t>
            </a:r>
            <a:r>
              <a:rPr sz="2000" dirty="0">
                <a:solidFill>
                  <a:srgbClr val="FFFFFF"/>
                </a:solidFill>
                <a:latin typeface="Times New Roman"/>
                <a:cs typeface="Times New Roman"/>
              </a:rPr>
              <a:t>	</a:t>
            </a:r>
            <a:r>
              <a:rPr sz="2000" spc="65" dirty="0">
                <a:solidFill>
                  <a:srgbClr val="FFFFFF"/>
                </a:solidFill>
                <a:latin typeface="Times New Roman"/>
                <a:cs typeface="Times New Roman"/>
              </a:rPr>
              <a:t>a</a:t>
            </a:r>
            <a:r>
              <a:rPr sz="2000" spc="55" dirty="0">
                <a:solidFill>
                  <a:srgbClr val="FFFFFF"/>
                </a:solidFill>
                <a:latin typeface="Times New Roman"/>
                <a:cs typeface="Times New Roman"/>
              </a:rPr>
              <a:t>r</a:t>
            </a:r>
            <a:r>
              <a:rPr sz="2000" spc="40" dirty="0">
                <a:solidFill>
                  <a:srgbClr val="FFFFFF"/>
                </a:solidFill>
                <a:latin typeface="Times New Roman"/>
                <a:cs typeface="Times New Roman"/>
              </a:rPr>
              <a:t>e</a:t>
            </a:r>
            <a:r>
              <a:rPr sz="2000" dirty="0">
                <a:solidFill>
                  <a:srgbClr val="FFFFFF"/>
                </a:solidFill>
                <a:latin typeface="Times New Roman"/>
                <a:cs typeface="Times New Roman"/>
              </a:rPr>
              <a:t>	</a:t>
            </a:r>
            <a:r>
              <a:rPr sz="2000" spc="60" dirty="0">
                <a:solidFill>
                  <a:srgbClr val="FFFFFF"/>
                </a:solidFill>
                <a:latin typeface="Times New Roman"/>
                <a:cs typeface="Times New Roman"/>
              </a:rPr>
              <a:t>consi</a:t>
            </a:r>
            <a:r>
              <a:rPr sz="2000" spc="85" dirty="0">
                <a:solidFill>
                  <a:srgbClr val="FFFFFF"/>
                </a:solidFill>
                <a:latin typeface="Times New Roman"/>
                <a:cs typeface="Times New Roman"/>
              </a:rPr>
              <a:t>dered</a:t>
            </a:r>
            <a:r>
              <a:rPr sz="2000" dirty="0">
                <a:solidFill>
                  <a:srgbClr val="FFFFFF"/>
                </a:solidFill>
                <a:latin typeface="Times New Roman"/>
                <a:cs typeface="Times New Roman"/>
              </a:rPr>
              <a:t>	</a:t>
            </a:r>
            <a:r>
              <a:rPr sz="2000" spc="55" dirty="0">
                <a:solidFill>
                  <a:srgbClr val="FFFFFF"/>
                </a:solidFill>
                <a:latin typeface="Times New Roman"/>
                <a:cs typeface="Times New Roman"/>
              </a:rPr>
              <a:t>for  </a:t>
            </a:r>
            <a:r>
              <a:rPr sz="2000" spc="65" dirty="0">
                <a:solidFill>
                  <a:srgbClr val="FFFFFF"/>
                </a:solidFill>
                <a:latin typeface="Times New Roman"/>
                <a:cs typeface="Times New Roman"/>
              </a:rPr>
              <a:t>grouping.</a:t>
            </a:r>
            <a:endParaRPr sz="2000">
              <a:latin typeface="Times New Roman"/>
              <a:cs typeface="Times New Roman"/>
            </a:endParaRPr>
          </a:p>
          <a:p>
            <a:pPr marL="355600" marR="5715" indent="-342900">
              <a:lnSpc>
                <a:spcPts val="2160"/>
              </a:lnSpc>
              <a:buFont typeface="Wingdings"/>
              <a:buChar char=""/>
              <a:tabLst>
                <a:tab pos="354965" algn="l"/>
                <a:tab pos="355600" algn="l"/>
              </a:tabLst>
            </a:pPr>
            <a:r>
              <a:rPr sz="2000" spc="130" dirty="0">
                <a:solidFill>
                  <a:srgbClr val="FFFFFF"/>
                </a:solidFill>
                <a:latin typeface="Times New Roman"/>
                <a:cs typeface="Times New Roman"/>
              </a:rPr>
              <a:t>The </a:t>
            </a:r>
            <a:r>
              <a:rPr sz="2000" spc="55" dirty="0">
                <a:solidFill>
                  <a:srgbClr val="FFFFFF"/>
                </a:solidFill>
                <a:latin typeface="Times New Roman"/>
                <a:cs typeface="Times New Roman"/>
              </a:rPr>
              <a:t>rows </a:t>
            </a:r>
            <a:r>
              <a:rPr sz="2000" spc="114" dirty="0">
                <a:solidFill>
                  <a:srgbClr val="FFFFFF"/>
                </a:solidFill>
                <a:latin typeface="Times New Roman"/>
                <a:cs typeface="Times New Roman"/>
              </a:rPr>
              <a:t>that </a:t>
            </a:r>
            <a:r>
              <a:rPr sz="2000" spc="110" dirty="0">
                <a:solidFill>
                  <a:srgbClr val="FFFFFF"/>
                </a:solidFill>
                <a:latin typeface="Times New Roman"/>
                <a:cs typeface="Times New Roman"/>
              </a:rPr>
              <a:t>do </a:t>
            </a:r>
            <a:r>
              <a:rPr sz="2000" spc="135" dirty="0">
                <a:solidFill>
                  <a:srgbClr val="FFFFFF"/>
                </a:solidFill>
                <a:latin typeface="Times New Roman"/>
                <a:cs typeface="Times New Roman"/>
              </a:rPr>
              <a:t>not </a:t>
            </a:r>
            <a:r>
              <a:rPr sz="2000" spc="75" dirty="0">
                <a:solidFill>
                  <a:srgbClr val="FFFFFF"/>
                </a:solidFill>
                <a:latin typeface="Times New Roman"/>
                <a:cs typeface="Times New Roman"/>
              </a:rPr>
              <a:t>meet </a:t>
            </a:r>
            <a:r>
              <a:rPr sz="2000" spc="110" dirty="0">
                <a:solidFill>
                  <a:srgbClr val="FFFFFF"/>
                </a:solidFill>
                <a:latin typeface="Times New Roman"/>
                <a:cs typeface="Times New Roman"/>
              </a:rPr>
              <a:t>the </a:t>
            </a:r>
            <a:r>
              <a:rPr sz="2000" spc="85" dirty="0">
                <a:solidFill>
                  <a:srgbClr val="FFFFFF"/>
                </a:solidFill>
                <a:latin typeface="Times New Roman"/>
                <a:cs typeface="Times New Roman"/>
              </a:rPr>
              <a:t>conditions </a:t>
            </a:r>
            <a:r>
              <a:rPr sz="2000" spc="95" dirty="0">
                <a:solidFill>
                  <a:srgbClr val="FFFFFF"/>
                </a:solidFill>
                <a:latin typeface="Times New Roman"/>
                <a:cs typeface="Times New Roman"/>
              </a:rPr>
              <a:t>in </a:t>
            </a:r>
            <a:r>
              <a:rPr sz="2000" spc="110" dirty="0">
                <a:solidFill>
                  <a:srgbClr val="FFFFFF"/>
                </a:solidFill>
                <a:latin typeface="Times New Roman"/>
                <a:cs typeface="Times New Roman"/>
              </a:rPr>
              <a:t>the WHERE  </a:t>
            </a:r>
            <a:r>
              <a:rPr sz="2000" spc="40" dirty="0">
                <a:solidFill>
                  <a:srgbClr val="FFFFFF"/>
                </a:solidFill>
                <a:latin typeface="Times New Roman"/>
                <a:cs typeface="Times New Roman"/>
              </a:rPr>
              <a:t>clause</a:t>
            </a:r>
            <a:r>
              <a:rPr sz="2000" spc="-70" dirty="0">
                <a:solidFill>
                  <a:srgbClr val="FFFFFF"/>
                </a:solidFill>
                <a:latin typeface="Times New Roman"/>
                <a:cs typeface="Times New Roman"/>
              </a:rPr>
              <a:t> </a:t>
            </a:r>
            <a:r>
              <a:rPr sz="2000" spc="50" dirty="0">
                <a:solidFill>
                  <a:srgbClr val="FFFFFF"/>
                </a:solidFill>
                <a:latin typeface="Times New Roman"/>
                <a:cs typeface="Times New Roman"/>
              </a:rPr>
              <a:t>are</a:t>
            </a:r>
            <a:r>
              <a:rPr sz="2000" spc="-70" dirty="0">
                <a:solidFill>
                  <a:srgbClr val="FFFFFF"/>
                </a:solidFill>
                <a:latin typeface="Times New Roman"/>
                <a:cs typeface="Times New Roman"/>
              </a:rPr>
              <a:t> </a:t>
            </a:r>
            <a:r>
              <a:rPr sz="2000" spc="65" dirty="0">
                <a:solidFill>
                  <a:srgbClr val="FFFFFF"/>
                </a:solidFill>
                <a:latin typeface="Times New Roman"/>
                <a:cs typeface="Times New Roman"/>
              </a:rPr>
              <a:t>eliminated</a:t>
            </a:r>
            <a:r>
              <a:rPr sz="2000" spc="-70" dirty="0">
                <a:solidFill>
                  <a:srgbClr val="FFFFFF"/>
                </a:solidFill>
                <a:latin typeface="Times New Roman"/>
                <a:cs typeface="Times New Roman"/>
              </a:rPr>
              <a:t> </a:t>
            </a:r>
            <a:r>
              <a:rPr sz="2000" spc="60" dirty="0">
                <a:solidFill>
                  <a:srgbClr val="FFFFFF"/>
                </a:solidFill>
                <a:latin typeface="Times New Roman"/>
                <a:cs typeface="Times New Roman"/>
              </a:rPr>
              <a:t>before</a:t>
            </a:r>
            <a:r>
              <a:rPr sz="2000" spc="-45" dirty="0">
                <a:solidFill>
                  <a:srgbClr val="FFFFFF"/>
                </a:solidFill>
                <a:latin typeface="Times New Roman"/>
                <a:cs typeface="Times New Roman"/>
              </a:rPr>
              <a:t> </a:t>
            </a:r>
            <a:r>
              <a:rPr sz="2000" spc="70" dirty="0">
                <a:solidFill>
                  <a:srgbClr val="FFFFFF"/>
                </a:solidFill>
                <a:latin typeface="Times New Roman"/>
                <a:cs typeface="Times New Roman"/>
              </a:rPr>
              <a:t>any</a:t>
            </a:r>
            <a:r>
              <a:rPr sz="2000" spc="-70" dirty="0">
                <a:solidFill>
                  <a:srgbClr val="FFFFFF"/>
                </a:solidFill>
                <a:latin typeface="Times New Roman"/>
                <a:cs typeface="Times New Roman"/>
              </a:rPr>
              <a:t> </a:t>
            </a:r>
            <a:r>
              <a:rPr sz="2000" spc="70" dirty="0">
                <a:solidFill>
                  <a:srgbClr val="FFFFFF"/>
                </a:solidFill>
                <a:latin typeface="Times New Roman"/>
                <a:cs typeface="Times New Roman"/>
              </a:rPr>
              <a:t>grouping</a:t>
            </a:r>
            <a:r>
              <a:rPr sz="2000" spc="-65" dirty="0">
                <a:solidFill>
                  <a:srgbClr val="FFFFFF"/>
                </a:solidFill>
                <a:latin typeface="Times New Roman"/>
                <a:cs typeface="Times New Roman"/>
              </a:rPr>
              <a:t> </a:t>
            </a:r>
            <a:r>
              <a:rPr sz="2000" spc="10" dirty="0">
                <a:solidFill>
                  <a:srgbClr val="FFFFFF"/>
                </a:solidFill>
                <a:latin typeface="Times New Roman"/>
                <a:cs typeface="Times New Roman"/>
              </a:rPr>
              <a:t>is</a:t>
            </a:r>
            <a:r>
              <a:rPr sz="2000" spc="-80" dirty="0">
                <a:solidFill>
                  <a:srgbClr val="FFFFFF"/>
                </a:solidFill>
                <a:latin typeface="Times New Roman"/>
                <a:cs typeface="Times New Roman"/>
              </a:rPr>
              <a:t> </a:t>
            </a:r>
            <a:r>
              <a:rPr sz="2000" spc="85" dirty="0">
                <a:solidFill>
                  <a:srgbClr val="FFFFFF"/>
                </a:solidFill>
                <a:latin typeface="Times New Roman"/>
                <a:cs typeface="Times New Roman"/>
              </a:rPr>
              <a:t>done.</a:t>
            </a:r>
            <a:endParaRPr sz="2000">
              <a:latin typeface="Times New Roman"/>
              <a:cs typeface="Times New Roman"/>
            </a:endParaRPr>
          </a:p>
        </p:txBody>
      </p:sp>
      <p:sp>
        <p:nvSpPr>
          <p:cNvPr id="5" name="object 5"/>
          <p:cNvSpPr txBox="1"/>
          <p:nvPr/>
        </p:nvSpPr>
        <p:spPr>
          <a:xfrm>
            <a:off x="370586" y="1024890"/>
            <a:ext cx="3484879" cy="391160"/>
          </a:xfrm>
          <a:prstGeom prst="rect">
            <a:avLst/>
          </a:prstGeom>
        </p:spPr>
        <p:txBody>
          <a:bodyPr vert="horz" wrap="square" lIns="0" tIns="12700" rIns="0" bIns="0" rtlCol="0">
            <a:spAutoFit/>
          </a:bodyPr>
          <a:lstStyle/>
          <a:p>
            <a:pPr marL="12700">
              <a:lnSpc>
                <a:spcPct val="100000"/>
              </a:lnSpc>
              <a:spcBef>
                <a:spcPts val="100"/>
              </a:spcBef>
            </a:pPr>
            <a:r>
              <a:rPr sz="2400" b="1" spc="20" dirty="0">
                <a:latin typeface="Arial"/>
                <a:cs typeface="Arial"/>
              </a:rPr>
              <a:t>GROUP</a:t>
            </a:r>
            <a:r>
              <a:rPr sz="2400" b="1" spc="-235" dirty="0">
                <a:latin typeface="Arial"/>
                <a:cs typeface="Arial"/>
              </a:rPr>
              <a:t> </a:t>
            </a:r>
            <a:r>
              <a:rPr sz="2400" b="1" spc="-70" dirty="0">
                <a:latin typeface="Arial"/>
                <a:cs typeface="Arial"/>
              </a:rPr>
              <a:t>BY</a:t>
            </a:r>
            <a:r>
              <a:rPr sz="2400" b="1" spc="-235" dirty="0">
                <a:latin typeface="Arial"/>
                <a:cs typeface="Arial"/>
              </a:rPr>
              <a:t> </a:t>
            </a:r>
            <a:r>
              <a:rPr sz="2400" b="1" spc="-35" dirty="0">
                <a:latin typeface="Arial"/>
                <a:cs typeface="Arial"/>
              </a:rPr>
              <a:t>with</a:t>
            </a:r>
            <a:r>
              <a:rPr sz="2400" b="1" spc="-220" dirty="0">
                <a:latin typeface="Arial"/>
                <a:cs typeface="Arial"/>
              </a:rPr>
              <a:t> </a:t>
            </a:r>
            <a:r>
              <a:rPr sz="2400" b="1" spc="20" dirty="0">
                <a:latin typeface="Arial"/>
                <a:cs typeface="Arial"/>
              </a:rPr>
              <a:t>WHERE</a:t>
            </a:r>
            <a:endParaRPr sz="2400">
              <a:latin typeface="Arial"/>
              <a:cs typeface="Arial"/>
            </a:endParaRPr>
          </a:p>
        </p:txBody>
      </p:sp>
      <p:pic>
        <p:nvPicPr>
          <p:cNvPr id="6" name="object 6"/>
          <p:cNvPicPr/>
          <p:nvPr/>
        </p:nvPicPr>
        <p:blipFill>
          <a:blip r:embed="rId3" cstate="print"/>
          <a:stretch>
            <a:fillRect/>
          </a:stretch>
        </p:blipFill>
        <p:spPr>
          <a:xfrm>
            <a:off x="3038855" y="3829811"/>
            <a:ext cx="3291840" cy="1975865"/>
          </a:xfrm>
          <a:prstGeom prst="rect">
            <a:avLst/>
          </a:prstGeom>
        </p:spPr>
      </p:pic>
      <p:sp>
        <p:nvSpPr>
          <p:cNvPr id="7" name="object 7"/>
          <p:cNvSpPr txBox="1"/>
          <p:nvPr/>
        </p:nvSpPr>
        <p:spPr>
          <a:xfrm>
            <a:off x="3229355" y="5900166"/>
            <a:ext cx="2846070" cy="238760"/>
          </a:xfrm>
          <a:prstGeom prst="rect">
            <a:avLst/>
          </a:prstGeom>
        </p:spPr>
        <p:txBody>
          <a:bodyPr vert="horz" wrap="square" lIns="0" tIns="12700" rIns="0" bIns="0" rtlCol="0">
            <a:spAutoFit/>
          </a:bodyPr>
          <a:lstStyle/>
          <a:p>
            <a:pPr marL="12700">
              <a:lnSpc>
                <a:spcPct val="100000"/>
              </a:lnSpc>
              <a:spcBef>
                <a:spcPts val="100"/>
              </a:spcBef>
            </a:pPr>
            <a:r>
              <a:rPr sz="1400" b="1" spc="-20" dirty="0">
                <a:latin typeface="Arial"/>
                <a:cs typeface="Arial"/>
              </a:rPr>
              <a:t>Output</a:t>
            </a:r>
            <a:r>
              <a:rPr sz="1400" b="1" spc="-120" dirty="0">
                <a:latin typeface="Arial"/>
                <a:cs typeface="Arial"/>
              </a:rPr>
              <a:t> </a:t>
            </a:r>
            <a:r>
              <a:rPr sz="1400" b="1" spc="-45" dirty="0">
                <a:latin typeface="Arial"/>
                <a:cs typeface="Arial"/>
              </a:rPr>
              <a:t>of</a:t>
            </a:r>
            <a:r>
              <a:rPr sz="1400" b="1" spc="-110" dirty="0">
                <a:latin typeface="Arial"/>
                <a:cs typeface="Arial"/>
              </a:rPr>
              <a:t> </a:t>
            </a:r>
            <a:r>
              <a:rPr sz="1400" b="1" spc="10" dirty="0">
                <a:latin typeface="Arial"/>
                <a:cs typeface="Arial"/>
              </a:rPr>
              <a:t>GROUP</a:t>
            </a:r>
            <a:r>
              <a:rPr sz="1400" b="1" spc="-120" dirty="0">
                <a:latin typeface="Arial"/>
                <a:cs typeface="Arial"/>
              </a:rPr>
              <a:t> </a:t>
            </a:r>
            <a:r>
              <a:rPr sz="1400" b="1" spc="-45" dirty="0">
                <a:latin typeface="Arial"/>
                <a:cs typeface="Arial"/>
              </a:rPr>
              <a:t>BY</a:t>
            </a:r>
            <a:r>
              <a:rPr sz="1400" b="1" spc="-125" dirty="0">
                <a:latin typeface="Arial"/>
                <a:cs typeface="Arial"/>
              </a:rPr>
              <a:t> </a:t>
            </a:r>
            <a:r>
              <a:rPr sz="1400" b="1" spc="-25" dirty="0">
                <a:latin typeface="Arial"/>
                <a:cs typeface="Arial"/>
              </a:rPr>
              <a:t>with</a:t>
            </a:r>
            <a:r>
              <a:rPr sz="1400" b="1" spc="-120" dirty="0">
                <a:latin typeface="Arial"/>
                <a:cs typeface="Arial"/>
              </a:rPr>
              <a:t> </a:t>
            </a:r>
            <a:r>
              <a:rPr sz="1400" b="1" spc="10" dirty="0">
                <a:latin typeface="Arial"/>
                <a:cs typeface="Arial"/>
              </a:rPr>
              <a:t>WHERE</a:t>
            </a:r>
            <a:endParaRPr sz="1400">
              <a:latin typeface="Arial"/>
              <a:cs typeface="Arial"/>
            </a:endParaRPr>
          </a:p>
        </p:txBody>
      </p:sp>
      <p:sp>
        <p:nvSpPr>
          <p:cNvPr id="9" name="object 9"/>
          <p:cNvSpPr txBox="1"/>
          <p:nvPr/>
        </p:nvSpPr>
        <p:spPr>
          <a:xfrm>
            <a:off x="7912607" y="6569709"/>
            <a:ext cx="828675" cy="256540"/>
          </a:xfrm>
          <a:prstGeom prst="rect">
            <a:avLst/>
          </a:prstGeom>
        </p:spPr>
        <p:txBody>
          <a:bodyPr vert="horz" wrap="square" lIns="0" tIns="18415" rIns="0" bIns="0" rtlCol="0">
            <a:spAutoFit/>
          </a:bodyPr>
          <a:lstStyle/>
          <a:p>
            <a:pPr marL="12700">
              <a:lnSpc>
                <a:spcPct val="100000"/>
              </a:lnSpc>
              <a:spcBef>
                <a:spcPts val="145"/>
              </a:spcBef>
            </a:pPr>
            <a:r>
              <a:rPr sz="1800" spc="52" baseline="4629" dirty="0">
                <a:latin typeface="Times New Roman"/>
                <a:cs typeface="Times New Roman"/>
              </a:rPr>
              <a:t>Session </a:t>
            </a:r>
            <a:r>
              <a:rPr sz="1800" spc="104" baseline="4629" dirty="0">
                <a:latin typeface="Times New Roman"/>
                <a:cs typeface="Times New Roman"/>
              </a:rPr>
              <a:t>9/</a:t>
            </a:r>
            <a:r>
              <a:rPr sz="1800" spc="-270" baseline="4629" dirty="0">
                <a:latin typeface="Times New Roman"/>
                <a:cs typeface="Times New Roman"/>
              </a:rPr>
              <a:t> </a:t>
            </a:r>
            <a:fld id="{81D60167-4931-47E6-BA6A-407CBD079E47}" type="slidenum">
              <a:rPr sz="1200" dirty="0">
                <a:latin typeface="Times New Roman"/>
                <a:cs typeface="Times New Roman"/>
              </a:rPr>
              <a:t>5</a:t>
            </a:fld>
            <a:endParaRPr sz="1200">
              <a:latin typeface="Times New Roman"/>
              <a:cs typeface="Times New Roman"/>
            </a:endParaRPr>
          </a:p>
        </p:txBody>
      </p:sp>
      <p:sp>
        <p:nvSpPr>
          <p:cNvPr id="10" name="object 10"/>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2777" y="0"/>
            <a:ext cx="3989070" cy="635635"/>
          </a:xfrm>
          <a:prstGeom prst="rect">
            <a:avLst/>
          </a:prstGeom>
        </p:spPr>
        <p:txBody>
          <a:bodyPr vert="horz" wrap="square" lIns="0" tIns="12700" rIns="0" bIns="0" rtlCol="0">
            <a:spAutoFit/>
          </a:bodyPr>
          <a:lstStyle/>
          <a:p>
            <a:pPr marL="12700">
              <a:lnSpc>
                <a:spcPct val="100000"/>
              </a:lnSpc>
              <a:spcBef>
                <a:spcPts val="100"/>
              </a:spcBef>
            </a:pPr>
            <a:r>
              <a:rPr spc="200" dirty="0"/>
              <a:t>Grouping </a:t>
            </a:r>
            <a:r>
              <a:rPr spc="165" dirty="0"/>
              <a:t>Data</a:t>
            </a:r>
            <a:r>
              <a:rPr spc="-565" dirty="0"/>
              <a:t> </a:t>
            </a:r>
            <a:r>
              <a:rPr spc="-335" dirty="0"/>
              <a:t>3-5</a:t>
            </a:r>
          </a:p>
        </p:txBody>
      </p:sp>
      <p:sp>
        <p:nvSpPr>
          <p:cNvPr id="3" name="object 3"/>
          <p:cNvSpPr/>
          <p:nvPr/>
        </p:nvSpPr>
        <p:spPr>
          <a:xfrm>
            <a:off x="414528" y="1625345"/>
            <a:ext cx="8540750" cy="1826260"/>
          </a:xfrm>
          <a:custGeom>
            <a:avLst/>
            <a:gdLst/>
            <a:ahLst/>
            <a:cxnLst/>
            <a:rect l="l" t="t" r="r" b="b"/>
            <a:pathLst>
              <a:path w="8540750" h="1826260">
                <a:moveTo>
                  <a:pt x="8540496" y="304292"/>
                </a:moveTo>
                <a:lnTo>
                  <a:pt x="8536508" y="254952"/>
                </a:lnTo>
                <a:lnTo>
                  <a:pt x="8524977" y="208127"/>
                </a:lnTo>
                <a:lnTo>
                  <a:pt x="8506523" y="164477"/>
                </a:lnTo>
                <a:lnTo>
                  <a:pt x="8481771" y="124599"/>
                </a:lnTo>
                <a:lnTo>
                  <a:pt x="8451355" y="89141"/>
                </a:lnTo>
                <a:lnTo>
                  <a:pt x="8415896" y="58724"/>
                </a:lnTo>
                <a:lnTo>
                  <a:pt x="8376018" y="33972"/>
                </a:lnTo>
                <a:lnTo>
                  <a:pt x="8332368" y="15519"/>
                </a:lnTo>
                <a:lnTo>
                  <a:pt x="8285543" y="3987"/>
                </a:lnTo>
                <a:lnTo>
                  <a:pt x="8236204" y="0"/>
                </a:lnTo>
                <a:lnTo>
                  <a:pt x="304292" y="0"/>
                </a:lnTo>
                <a:lnTo>
                  <a:pt x="254927" y="3987"/>
                </a:lnTo>
                <a:lnTo>
                  <a:pt x="208102" y="15519"/>
                </a:lnTo>
                <a:lnTo>
                  <a:pt x="164439" y="33972"/>
                </a:lnTo>
                <a:lnTo>
                  <a:pt x="124574" y="58724"/>
                </a:lnTo>
                <a:lnTo>
                  <a:pt x="89115" y="89141"/>
                </a:lnTo>
                <a:lnTo>
                  <a:pt x="58699" y="124599"/>
                </a:lnTo>
                <a:lnTo>
                  <a:pt x="33959" y="164477"/>
                </a:lnTo>
                <a:lnTo>
                  <a:pt x="15506" y="208127"/>
                </a:lnTo>
                <a:lnTo>
                  <a:pt x="3975" y="254952"/>
                </a:lnTo>
                <a:lnTo>
                  <a:pt x="0" y="304292"/>
                </a:lnTo>
                <a:lnTo>
                  <a:pt x="0" y="1521460"/>
                </a:lnTo>
                <a:lnTo>
                  <a:pt x="3975" y="1570812"/>
                </a:lnTo>
                <a:lnTo>
                  <a:pt x="15506" y="1617637"/>
                </a:lnTo>
                <a:lnTo>
                  <a:pt x="33959" y="1661287"/>
                </a:lnTo>
                <a:lnTo>
                  <a:pt x="58699" y="1701165"/>
                </a:lnTo>
                <a:lnTo>
                  <a:pt x="89115" y="1736623"/>
                </a:lnTo>
                <a:lnTo>
                  <a:pt x="124574" y="1767039"/>
                </a:lnTo>
                <a:lnTo>
                  <a:pt x="164439" y="1791792"/>
                </a:lnTo>
                <a:lnTo>
                  <a:pt x="208102" y="1810245"/>
                </a:lnTo>
                <a:lnTo>
                  <a:pt x="254927" y="1821776"/>
                </a:lnTo>
                <a:lnTo>
                  <a:pt x="304292" y="1825752"/>
                </a:lnTo>
                <a:lnTo>
                  <a:pt x="8236204" y="1825752"/>
                </a:lnTo>
                <a:lnTo>
                  <a:pt x="8285543" y="1821776"/>
                </a:lnTo>
                <a:lnTo>
                  <a:pt x="8332368" y="1810245"/>
                </a:lnTo>
                <a:lnTo>
                  <a:pt x="8376018" y="1791792"/>
                </a:lnTo>
                <a:lnTo>
                  <a:pt x="8415896" y="1767039"/>
                </a:lnTo>
                <a:lnTo>
                  <a:pt x="8451355" y="1736623"/>
                </a:lnTo>
                <a:lnTo>
                  <a:pt x="8481771" y="1701165"/>
                </a:lnTo>
                <a:lnTo>
                  <a:pt x="8506523" y="1661287"/>
                </a:lnTo>
                <a:lnTo>
                  <a:pt x="8524977" y="1617637"/>
                </a:lnTo>
                <a:lnTo>
                  <a:pt x="8536508" y="1570812"/>
                </a:lnTo>
                <a:lnTo>
                  <a:pt x="8540496" y="1521460"/>
                </a:lnTo>
                <a:lnTo>
                  <a:pt x="8540496" y="304292"/>
                </a:lnTo>
                <a:close/>
              </a:path>
            </a:pathLst>
          </a:custGeom>
          <a:solidFill>
            <a:srgbClr val="4AACC5"/>
          </a:solidFill>
        </p:spPr>
        <p:txBody>
          <a:bodyPr wrap="square" lIns="0" tIns="0" rIns="0" bIns="0" rtlCol="0"/>
          <a:lstStyle/>
          <a:p>
            <a:endParaRPr/>
          </a:p>
        </p:txBody>
      </p:sp>
      <p:sp>
        <p:nvSpPr>
          <p:cNvPr id="4" name="object 4"/>
          <p:cNvSpPr txBox="1"/>
          <p:nvPr/>
        </p:nvSpPr>
        <p:spPr>
          <a:xfrm>
            <a:off x="550926" y="1903983"/>
            <a:ext cx="8268334" cy="1153160"/>
          </a:xfrm>
          <a:prstGeom prst="rect">
            <a:avLst/>
          </a:prstGeom>
        </p:spPr>
        <p:txBody>
          <a:bodyPr vert="horz" wrap="square" lIns="0" tIns="46990" rIns="0" bIns="0" rtlCol="0">
            <a:spAutoFit/>
          </a:bodyPr>
          <a:lstStyle/>
          <a:p>
            <a:pPr marL="354965" marR="5715" indent="-342900">
              <a:lnSpc>
                <a:spcPts val="2160"/>
              </a:lnSpc>
              <a:spcBef>
                <a:spcPts val="370"/>
              </a:spcBef>
              <a:buFont typeface="Wingdings"/>
              <a:buChar char=""/>
              <a:tabLst>
                <a:tab pos="354965" algn="l"/>
                <a:tab pos="355600" algn="l"/>
              </a:tabLst>
            </a:pPr>
            <a:r>
              <a:rPr sz="2000" dirty="0">
                <a:solidFill>
                  <a:srgbClr val="FFFFFF"/>
                </a:solidFill>
                <a:latin typeface="Times New Roman"/>
                <a:cs typeface="Times New Roman"/>
              </a:rPr>
              <a:t>If </a:t>
            </a:r>
            <a:r>
              <a:rPr sz="2000" spc="110" dirty="0">
                <a:solidFill>
                  <a:srgbClr val="FFFFFF"/>
                </a:solidFill>
                <a:latin typeface="Times New Roman"/>
                <a:cs typeface="Times New Roman"/>
              </a:rPr>
              <a:t>the </a:t>
            </a:r>
            <a:r>
              <a:rPr sz="2000" spc="70" dirty="0">
                <a:solidFill>
                  <a:srgbClr val="FFFFFF"/>
                </a:solidFill>
                <a:latin typeface="Times New Roman"/>
                <a:cs typeface="Times New Roman"/>
              </a:rPr>
              <a:t>grouping </a:t>
            </a:r>
            <a:r>
              <a:rPr sz="2000" spc="90" dirty="0">
                <a:solidFill>
                  <a:srgbClr val="FFFFFF"/>
                </a:solidFill>
                <a:latin typeface="Times New Roman"/>
                <a:cs typeface="Times New Roman"/>
              </a:rPr>
              <a:t>column </a:t>
            </a:r>
            <a:r>
              <a:rPr sz="2000" spc="80" dirty="0">
                <a:solidFill>
                  <a:srgbClr val="FFFFFF"/>
                </a:solidFill>
                <a:latin typeface="Times New Roman"/>
                <a:cs typeface="Times New Roman"/>
              </a:rPr>
              <a:t>contains </a:t>
            </a:r>
            <a:r>
              <a:rPr sz="2000" spc="30" dirty="0">
                <a:solidFill>
                  <a:srgbClr val="FFFFFF"/>
                </a:solidFill>
                <a:latin typeface="Times New Roman"/>
                <a:cs typeface="Times New Roman"/>
              </a:rPr>
              <a:t>a </a:t>
            </a:r>
            <a:r>
              <a:rPr sz="2000" spc="70" dirty="0">
                <a:solidFill>
                  <a:srgbClr val="FFFFFF"/>
                </a:solidFill>
                <a:latin typeface="Times New Roman"/>
                <a:cs typeface="Times New Roman"/>
              </a:rPr>
              <a:t>NULL </a:t>
            </a:r>
            <a:r>
              <a:rPr sz="2000" spc="45" dirty="0">
                <a:solidFill>
                  <a:srgbClr val="FFFFFF"/>
                </a:solidFill>
                <a:latin typeface="Times New Roman"/>
                <a:cs typeface="Times New Roman"/>
              </a:rPr>
              <a:t>value, </a:t>
            </a:r>
            <a:r>
              <a:rPr sz="2000" spc="114" dirty="0">
                <a:solidFill>
                  <a:srgbClr val="FFFFFF"/>
                </a:solidFill>
                <a:latin typeface="Times New Roman"/>
                <a:cs typeface="Times New Roman"/>
              </a:rPr>
              <a:t>that </a:t>
            </a:r>
            <a:r>
              <a:rPr sz="2000" spc="75" dirty="0">
                <a:solidFill>
                  <a:srgbClr val="FFFFFF"/>
                </a:solidFill>
                <a:latin typeface="Times New Roman"/>
                <a:cs typeface="Times New Roman"/>
              </a:rPr>
              <a:t>row </a:t>
            </a:r>
            <a:r>
              <a:rPr sz="2000" spc="55" dirty="0">
                <a:solidFill>
                  <a:srgbClr val="FFFFFF"/>
                </a:solidFill>
                <a:latin typeface="Times New Roman"/>
                <a:cs typeface="Times New Roman"/>
              </a:rPr>
              <a:t>becomes </a:t>
            </a:r>
            <a:r>
              <a:rPr sz="2000" spc="30" dirty="0">
                <a:solidFill>
                  <a:srgbClr val="FFFFFF"/>
                </a:solidFill>
                <a:latin typeface="Times New Roman"/>
                <a:cs typeface="Times New Roman"/>
              </a:rPr>
              <a:t>a  </a:t>
            </a:r>
            <a:r>
              <a:rPr sz="2000" spc="60" dirty="0">
                <a:solidFill>
                  <a:srgbClr val="FFFFFF"/>
                </a:solidFill>
                <a:latin typeface="Times New Roman"/>
                <a:cs typeface="Times New Roman"/>
              </a:rPr>
              <a:t>separate</a:t>
            </a:r>
            <a:r>
              <a:rPr sz="2000" spc="-55" dirty="0">
                <a:solidFill>
                  <a:srgbClr val="FFFFFF"/>
                </a:solidFill>
                <a:latin typeface="Times New Roman"/>
                <a:cs typeface="Times New Roman"/>
              </a:rPr>
              <a:t> </a:t>
            </a:r>
            <a:r>
              <a:rPr sz="2000" spc="80" dirty="0">
                <a:solidFill>
                  <a:srgbClr val="FFFFFF"/>
                </a:solidFill>
                <a:latin typeface="Times New Roman"/>
                <a:cs typeface="Times New Roman"/>
              </a:rPr>
              <a:t>group</a:t>
            </a:r>
            <a:r>
              <a:rPr sz="2000" spc="-65" dirty="0">
                <a:solidFill>
                  <a:srgbClr val="FFFFFF"/>
                </a:solidFill>
                <a:latin typeface="Times New Roman"/>
                <a:cs typeface="Times New Roman"/>
              </a:rPr>
              <a:t> </a:t>
            </a:r>
            <a:r>
              <a:rPr sz="2000" spc="95" dirty="0">
                <a:solidFill>
                  <a:srgbClr val="FFFFFF"/>
                </a:solidFill>
                <a:latin typeface="Times New Roman"/>
                <a:cs typeface="Times New Roman"/>
              </a:rPr>
              <a:t>in</a:t>
            </a:r>
            <a:r>
              <a:rPr sz="2000" spc="-80" dirty="0">
                <a:solidFill>
                  <a:srgbClr val="FFFFFF"/>
                </a:solidFill>
                <a:latin typeface="Times New Roman"/>
                <a:cs typeface="Times New Roman"/>
              </a:rPr>
              <a:t> </a:t>
            </a:r>
            <a:r>
              <a:rPr sz="2000" spc="110" dirty="0">
                <a:solidFill>
                  <a:srgbClr val="FFFFFF"/>
                </a:solidFill>
                <a:latin typeface="Times New Roman"/>
                <a:cs typeface="Times New Roman"/>
              </a:rPr>
              <a:t>the</a:t>
            </a:r>
            <a:r>
              <a:rPr sz="2000" spc="-60" dirty="0">
                <a:solidFill>
                  <a:srgbClr val="FFFFFF"/>
                </a:solidFill>
                <a:latin typeface="Times New Roman"/>
                <a:cs typeface="Times New Roman"/>
              </a:rPr>
              <a:t> </a:t>
            </a:r>
            <a:r>
              <a:rPr sz="2000" spc="55" dirty="0">
                <a:solidFill>
                  <a:srgbClr val="FFFFFF"/>
                </a:solidFill>
                <a:latin typeface="Times New Roman"/>
                <a:cs typeface="Times New Roman"/>
              </a:rPr>
              <a:t>resultset.</a:t>
            </a:r>
            <a:endParaRPr sz="2000">
              <a:latin typeface="Times New Roman"/>
              <a:cs typeface="Times New Roman"/>
            </a:endParaRPr>
          </a:p>
          <a:p>
            <a:pPr marL="354965" marR="5080" indent="-342900">
              <a:lnSpc>
                <a:spcPts val="2160"/>
              </a:lnSpc>
              <a:buFont typeface="Wingdings"/>
              <a:buChar char=""/>
              <a:tabLst>
                <a:tab pos="354965" algn="l"/>
                <a:tab pos="355600" algn="l"/>
              </a:tabLst>
            </a:pPr>
            <a:r>
              <a:rPr sz="2000" dirty="0">
                <a:solidFill>
                  <a:srgbClr val="FFFFFF"/>
                </a:solidFill>
                <a:latin typeface="Times New Roman"/>
                <a:cs typeface="Times New Roman"/>
              </a:rPr>
              <a:t>If </a:t>
            </a:r>
            <a:r>
              <a:rPr sz="2000" spc="110" dirty="0">
                <a:solidFill>
                  <a:srgbClr val="FFFFFF"/>
                </a:solidFill>
                <a:latin typeface="Times New Roman"/>
                <a:cs typeface="Times New Roman"/>
              </a:rPr>
              <a:t>the</a:t>
            </a:r>
            <a:r>
              <a:rPr sz="2000" spc="5" dirty="0">
                <a:solidFill>
                  <a:srgbClr val="FFFFFF"/>
                </a:solidFill>
                <a:latin typeface="Times New Roman"/>
                <a:cs typeface="Times New Roman"/>
              </a:rPr>
              <a:t> </a:t>
            </a:r>
            <a:r>
              <a:rPr sz="2000" spc="70" dirty="0">
                <a:solidFill>
                  <a:srgbClr val="FFFFFF"/>
                </a:solidFill>
                <a:latin typeface="Times New Roman"/>
                <a:cs typeface="Times New Roman"/>
              </a:rPr>
              <a:t>grouping</a:t>
            </a:r>
            <a:r>
              <a:rPr sz="2000" spc="10" dirty="0">
                <a:solidFill>
                  <a:srgbClr val="FFFFFF"/>
                </a:solidFill>
                <a:latin typeface="Times New Roman"/>
                <a:cs typeface="Times New Roman"/>
              </a:rPr>
              <a:t> </a:t>
            </a:r>
            <a:r>
              <a:rPr sz="2000" spc="90" dirty="0">
                <a:solidFill>
                  <a:srgbClr val="FFFFFF"/>
                </a:solidFill>
                <a:latin typeface="Times New Roman"/>
                <a:cs typeface="Times New Roman"/>
              </a:rPr>
              <a:t>column</a:t>
            </a:r>
            <a:r>
              <a:rPr sz="2000" spc="10" dirty="0">
                <a:solidFill>
                  <a:srgbClr val="FFFFFF"/>
                </a:solidFill>
                <a:latin typeface="Times New Roman"/>
                <a:cs typeface="Times New Roman"/>
              </a:rPr>
              <a:t> </a:t>
            </a:r>
            <a:r>
              <a:rPr sz="2000" spc="80" dirty="0">
                <a:solidFill>
                  <a:srgbClr val="FFFFFF"/>
                </a:solidFill>
                <a:latin typeface="Times New Roman"/>
                <a:cs typeface="Times New Roman"/>
              </a:rPr>
              <a:t>contains</a:t>
            </a:r>
            <a:r>
              <a:rPr sz="2000" spc="15" dirty="0">
                <a:solidFill>
                  <a:srgbClr val="FFFFFF"/>
                </a:solidFill>
                <a:latin typeface="Times New Roman"/>
                <a:cs typeface="Times New Roman"/>
              </a:rPr>
              <a:t> </a:t>
            </a:r>
            <a:r>
              <a:rPr sz="2000" spc="75" dirty="0">
                <a:solidFill>
                  <a:srgbClr val="FFFFFF"/>
                </a:solidFill>
                <a:latin typeface="Times New Roman"/>
                <a:cs typeface="Times New Roman"/>
              </a:rPr>
              <a:t>more</a:t>
            </a:r>
            <a:r>
              <a:rPr sz="2000" spc="15" dirty="0">
                <a:solidFill>
                  <a:srgbClr val="FFFFFF"/>
                </a:solidFill>
                <a:latin typeface="Times New Roman"/>
                <a:cs typeface="Times New Roman"/>
              </a:rPr>
              <a:t> </a:t>
            </a:r>
            <a:r>
              <a:rPr sz="2000" spc="125" dirty="0">
                <a:solidFill>
                  <a:srgbClr val="FFFFFF"/>
                </a:solidFill>
                <a:latin typeface="Times New Roman"/>
                <a:cs typeface="Times New Roman"/>
              </a:rPr>
              <a:t>than</a:t>
            </a:r>
            <a:r>
              <a:rPr sz="2000" spc="20" dirty="0">
                <a:solidFill>
                  <a:srgbClr val="FFFFFF"/>
                </a:solidFill>
                <a:latin typeface="Times New Roman"/>
                <a:cs typeface="Times New Roman"/>
              </a:rPr>
              <a:t> </a:t>
            </a:r>
            <a:r>
              <a:rPr sz="2000" spc="105" dirty="0">
                <a:solidFill>
                  <a:srgbClr val="FFFFFF"/>
                </a:solidFill>
                <a:latin typeface="Times New Roman"/>
                <a:cs typeface="Times New Roman"/>
              </a:rPr>
              <a:t>one</a:t>
            </a:r>
            <a:r>
              <a:rPr sz="2000" spc="15" dirty="0">
                <a:solidFill>
                  <a:srgbClr val="FFFFFF"/>
                </a:solidFill>
                <a:latin typeface="Times New Roman"/>
                <a:cs typeface="Times New Roman"/>
              </a:rPr>
              <a:t> </a:t>
            </a:r>
            <a:r>
              <a:rPr sz="2000" spc="75" dirty="0">
                <a:solidFill>
                  <a:srgbClr val="FFFFFF"/>
                </a:solidFill>
                <a:latin typeface="Times New Roman"/>
                <a:cs typeface="Times New Roman"/>
              </a:rPr>
              <a:t>NULL</a:t>
            </a:r>
            <a:r>
              <a:rPr sz="2000" spc="10" dirty="0">
                <a:solidFill>
                  <a:srgbClr val="FFFFFF"/>
                </a:solidFill>
                <a:latin typeface="Times New Roman"/>
                <a:cs typeface="Times New Roman"/>
              </a:rPr>
              <a:t> </a:t>
            </a:r>
            <a:r>
              <a:rPr sz="2000" spc="45" dirty="0">
                <a:solidFill>
                  <a:srgbClr val="FFFFFF"/>
                </a:solidFill>
                <a:latin typeface="Times New Roman"/>
                <a:cs typeface="Times New Roman"/>
              </a:rPr>
              <a:t>value,</a:t>
            </a:r>
            <a:r>
              <a:rPr sz="2000" spc="5" dirty="0">
                <a:solidFill>
                  <a:srgbClr val="FFFFFF"/>
                </a:solidFill>
                <a:latin typeface="Times New Roman"/>
                <a:cs typeface="Times New Roman"/>
              </a:rPr>
              <a:t> </a:t>
            </a:r>
            <a:r>
              <a:rPr sz="2000" spc="110" dirty="0">
                <a:solidFill>
                  <a:srgbClr val="FFFFFF"/>
                </a:solidFill>
                <a:latin typeface="Times New Roman"/>
                <a:cs typeface="Times New Roman"/>
              </a:rPr>
              <a:t>the</a:t>
            </a:r>
            <a:r>
              <a:rPr sz="2000" spc="15" dirty="0">
                <a:solidFill>
                  <a:srgbClr val="FFFFFF"/>
                </a:solidFill>
                <a:latin typeface="Times New Roman"/>
                <a:cs typeface="Times New Roman"/>
              </a:rPr>
              <a:t> </a:t>
            </a:r>
            <a:r>
              <a:rPr sz="2000" spc="75" dirty="0">
                <a:solidFill>
                  <a:srgbClr val="FFFFFF"/>
                </a:solidFill>
                <a:latin typeface="Times New Roman"/>
                <a:cs typeface="Times New Roman"/>
              </a:rPr>
              <a:t>NULL  </a:t>
            </a:r>
            <a:r>
              <a:rPr sz="2000" spc="45" dirty="0">
                <a:solidFill>
                  <a:srgbClr val="FFFFFF"/>
                </a:solidFill>
                <a:latin typeface="Times New Roman"/>
                <a:cs typeface="Times New Roman"/>
              </a:rPr>
              <a:t>values</a:t>
            </a:r>
            <a:r>
              <a:rPr sz="2000" spc="-60" dirty="0">
                <a:solidFill>
                  <a:srgbClr val="FFFFFF"/>
                </a:solidFill>
                <a:latin typeface="Times New Roman"/>
                <a:cs typeface="Times New Roman"/>
              </a:rPr>
              <a:t> </a:t>
            </a:r>
            <a:r>
              <a:rPr sz="2000" spc="50" dirty="0">
                <a:solidFill>
                  <a:srgbClr val="FFFFFF"/>
                </a:solidFill>
                <a:latin typeface="Times New Roman"/>
                <a:cs typeface="Times New Roman"/>
              </a:rPr>
              <a:t>are</a:t>
            </a:r>
            <a:r>
              <a:rPr sz="2000" spc="-70" dirty="0">
                <a:solidFill>
                  <a:srgbClr val="FFFFFF"/>
                </a:solidFill>
                <a:latin typeface="Times New Roman"/>
                <a:cs typeface="Times New Roman"/>
              </a:rPr>
              <a:t> </a:t>
            </a:r>
            <a:r>
              <a:rPr sz="2000" spc="125" dirty="0">
                <a:solidFill>
                  <a:srgbClr val="FFFFFF"/>
                </a:solidFill>
                <a:latin typeface="Times New Roman"/>
                <a:cs typeface="Times New Roman"/>
              </a:rPr>
              <a:t>put</a:t>
            </a:r>
            <a:r>
              <a:rPr sz="2000" spc="-70" dirty="0">
                <a:solidFill>
                  <a:srgbClr val="FFFFFF"/>
                </a:solidFill>
                <a:latin typeface="Times New Roman"/>
                <a:cs typeface="Times New Roman"/>
              </a:rPr>
              <a:t> </a:t>
            </a:r>
            <a:r>
              <a:rPr sz="2000" spc="100" dirty="0">
                <a:solidFill>
                  <a:srgbClr val="FFFFFF"/>
                </a:solidFill>
                <a:latin typeface="Times New Roman"/>
                <a:cs typeface="Times New Roman"/>
              </a:rPr>
              <a:t>into</a:t>
            </a:r>
            <a:r>
              <a:rPr sz="2000" spc="-65" dirty="0">
                <a:solidFill>
                  <a:srgbClr val="FFFFFF"/>
                </a:solidFill>
                <a:latin typeface="Times New Roman"/>
                <a:cs typeface="Times New Roman"/>
              </a:rPr>
              <a:t> </a:t>
            </a:r>
            <a:r>
              <a:rPr sz="2000" spc="30" dirty="0">
                <a:solidFill>
                  <a:srgbClr val="FFFFFF"/>
                </a:solidFill>
                <a:latin typeface="Times New Roman"/>
                <a:cs typeface="Times New Roman"/>
              </a:rPr>
              <a:t>a</a:t>
            </a:r>
            <a:r>
              <a:rPr sz="2000" spc="-75" dirty="0">
                <a:solidFill>
                  <a:srgbClr val="FFFFFF"/>
                </a:solidFill>
                <a:latin typeface="Times New Roman"/>
                <a:cs typeface="Times New Roman"/>
              </a:rPr>
              <a:t> </a:t>
            </a:r>
            <a:r>
              <a:rPr sz="2000" spc="35" dirty="0">
                <a:solidFill>
                  <a:srgbClr val="FFFFFF"/>
                </a:solidFill>
                <a:latin typeface="Times New Roman"/>
                <a:cs typeface="Times New Roman"/>
              </a:rPr>
              <a:t>single</a:t>
            </a:r>
            <a:r>
              <a:rPr sz="2000" spc="-70" dirty="0">
                <a:solidFill>
                  <a:srgbClr val="FFFFFF"/>
                </a:solidFill>
                <a:latin typeface="Times New Roman"/>
                <a:cs typeface="Times New Roman"/>
              </a:rPr>
              <a:t> </a:t>
            </a:r>
            <a:r>
              <a:rPr sz="2000" spc="55" dirty="0">
                <a:solidFill>
                  <a:srgbClr val="FFFFFF"/>
                </a:solidFill>
                <a:latin typeface="Times New Roman"/>
                <a:cs typeface="Times New Roman"/>
              </a:rPr>
              <a:t>row.</a:t>
            </a:r>
            <a:endParaRPr sz="2000">
              <a:latin typeface="Times New Roman"/>
              <a:cs typeface="Times New Roman"/>
            </a:endParaRPr>
          </a:p>
        </p:txBody>
      </p:sp>
      <p:sp>
        <p:nvSpPr>
          <p:cNvPr id="5" name="object 5"/>
          <p:cNvSpPr txBox="1"/>
          <p:nvPr/>
        </p:nvSpPr>
        <p:spPr>
          <a:xfrm>
            <a:off x="493268" y="1118615"/>
            <a:ext cx="3183890" cy="391160"/>
          </a:xfrm>
          <a:prstGeom prst="rect">
            <a:avLst/>
          </a:prstGeom>
        </p:spPr>
        <p:txBody>
          <a:bodyPr vert="horz" wrap="square" lIns="0" tIns="12700" rIns="0" bIns="0" rtlCol="0">
            <a:spAutoFit/>
          </a:bodyPr>
          <a:lstStyle/>
          <a:p>
            <a:pPr marL="12700">
              <a:lnSpc>
                <a:spcPct val="100000"/>
              </a:lnSpc>
              <a:spcBef>
                <a:spcPts val="100"/>
              </a:spcBef>
            </a:pPr>
            <a:r>
              <a:rPr sz="2400" b="1" spc="20" dirty="0">
                <a:latin typeface="Arial"/>
                <a:cs typeface="Arial"/>
              </a:rPr>
              <a:t>GROUP</a:t>
            </a:r>
            <a:r>
              <a:rPr sz="2400" b="1" spc="-235" dirty="0">
                <a:latin typeface="Arial"/>
                <a:cs typeface="Arial"/>
              </a:rPr>
              <a:t> </a:t>
            </a:r>
            <a:r>
              <a:rPr sz="2400" b="1" spc="-70" dirty="0">
                <a:latin typeface="Arial"/>
                <a:cs typeface="Arial"/>
              </a:rPr>
              <a:t>BY</a:t>
            </a:r>
            <a:r>
              <a:rPr sz="2400" b="1" spc="-235" dirty="0">
                <a:latin typeface="Arial"/>
                <a:cs typeface="Arial"/>
              </a:rPr>
              <a:t> </a:t>
            </a:r>
            <a:r>
              <a:rPr sz="2400" b="1" spc="-35" dirty="0">
                <a:latin typeface="Arial"/>
                <a:cs typeface="Arial"/>
              </a:rPr>
              <a:t>with</a:t>
            </a:r>
            <a:r>
              <a:rPr sz="2400" b="1" spc="-225" dirty="0">
                <a:latin typeface="Arial"/>
                <a:cs typeface="Arial"/>
              </a:rPr>
              <a:t> </a:t>
            </a:r>
            <a:r>
              <a:rPr sz="2400" b="1" spc="70" dirty="0">
                <a:latin typeface="Arial"/>
                <a:cs typeface="Arial"/>
              </a:rPr>
              <a:t>NULL</a:t>
            </a:r>
            <a:endParaRPr sz="2400">
              <a:latin typeface="Arial"/>
              <a:cs typeface="Arial"/>
            </a:endParaRPr>
          </a:p>
        </p:txBody>
      </p:sp>
      <p:pic>
        <p:nvPicPr>
          <p:cNvPr id="6" name="object 6"/>
          <p:cNvPicPr/>
          <p:nvPr/>
        </p:nvPicPr>
        <p:blipFill>
          <a:blip r:embed="rId3" cstate="print"/>
          <a:stretch>
            <a:fillRect/>
          </a:stretch>
        </p:blipFill>
        <p:spPr>
          <a:xfrm>
            <a:off x="3108960" y="3868673"/>
            <a:ext cx="2926080" cy="1753362"/>
          </a:xfrm>
          <a:prstGeom prst="rect">
            <a:avLst/>
          </a:prstGeom>
        </p:spPr>
      </p:pic>
      <p:sp>
        <p:nvSpPr>
          <p:cNvPr id="7" name="object 7"/>
          <p:cNvSpPr txBox="1"/>
          <p:nvPr/>
        </p:nvSpPr>
        <p:spPr>
          <a:xfrm>
            <a:off x="3245866" y="5739891"/>
            <a:ext cx="2669540" cy="238760"/>
          </a:xfrm>
          <a:prstGeom prst="rect">
            <a:avLst/>
          </a:prstGeom>
        </p:spPr>
        <p:txBody>
          <a:bodyPr vert="horz" wrap="square" lIns="0" tIns="12065" rIns="0" bIns="0" rtlCol="0">
            <a:spAutoFit/>
          </a:bodyPr>
          <a:lstStyle/>
          <a:p>
            <a:pPr marL="12700">
              <a:lnSpc>
                <a:spcPct val="100000"/>
              </a:lnSpc>
              <a:spcBef>
                <a:spcPts val="95"/>
              </a:spcBef>
            </a:pPr>
            <a:r>
              <a:rPr sz="1400" b="1" spc="-20" dirty="0">
                <a:latin typeface="Arial"/>
                <a:cs typeface="Arial"/>
              </a:rPr>
              <a:t>Output</a:t>
            </a:r>
            <a:r>
              <a:rPr sz="1400" b="1" spc="-125" dirty="0">
                <a:latin typeface="Arial"/>
                <a:cs typeface="Arial"/>
              </a:rPr>
              <a:t> </a:t>
            </a:r>
            <a:r>
              <a:rPr sz="1400" b="1" spc="-45" dirty="0">
                <a:latin typeface="Arial"/>
                <a:cs typeface="Arial"/>
              </a:rPr>
              <a:t>of</a:t>
            </a:r>
            <a:r>
              <a:rPr sz="1400" b="1" spc="-110" dirty="0">
                <a:latin typeface="Arial"/>
                <a:cs typeface="Arial"/>
              </a:rPr>
              <a:t> </a:t>
            </a:r>
            <a:r>
              <a:rPr sz="1400" b="1" spc="10" dirty="0">
                <a:latin typeface="Arial"/>
                <a:cs typeface="Arial"/>
              </a:rPr>
              <a:t>GROUP</a:t>
            </a:r>
            <a:r>
              <a:rPr sz="1400" b="1" spc="-120" dirty="0">
                <a:latin typeface="Arial"/>
                <a:cs typeface="Arial"/>
              </a:rPr>
              <a:t> </a:t>
            </a:r>
            <a:r>
              <a:rPr sz="1400" b="1" spc="-45" dirty="0">
                <a:latin typeface="Arial"/>
                <a:cs typeface="Arial"/>
              </a:rPr>
              <a:t>BY</a:t>
            </a:r>
            <a:r>
              <a:rPr sz="1400" b="1" spc="-130" dirty="0">
                <a:latin typeface="Arial"/>
                <a:cs typeface="Arial"/>
              </a:rPr>
              <a:t> </a:t>
            </a:r>
            <a:r>
              <a:rPr sz="1400" b="1" spc="-25" dirty="0">
                <a:latin typeface="Arial"/>
                <a:cs typeface="Arial"/>
              </a:rPr>
              <a:t>with</a:t>
            </a:r>
            <a:r>
              <a:rPr sz="1400" b="1" spc="-125" dirty="0">
                <a:latin typeface="Arial"/>
                <a:cs typeface="Arial"/>
              </a:rPr>
              <a:t> </a:t>
            </a:r>
            <a:r>
              <a:rPr sz="1400" b="1" spc="40" dirty="0">
                <a:latin typeface="Arial"/>
                <a:cs typeface="Arial"/>
              </a:rPr>
              <a:t>NULL</a:t>
            </a:r>
            <a:endParaRPr sz="1400">
              <a:latin typeface="Arial"/>
              <a:cs typeface="Arial"/>
            </a:endParaRPr>
          </a:p>
        </p:txBody>
      </p:sp>
      <p:sp>
        <p:nvSpPr>
          <p:cNvPr id="9" name="object 9"/>
          <p:cNvSpPr txBox="1"/>
          <p:nvPr/>
        </p:nvSpPr>
        <p:spPr>
          <a:xfrm>
            <a:off x="7912607" y="6569709"/>
            <a:ext cx="828675" cy="256540"/>
          </a:xfrm>
          <a:prstGeom prst="rect">
            <a:avLst/>
          </a:prstGeom>
        </p:spPr>
        <p:txBody>
          <a:bodyPr vert="horz" wrap="square" lIns="0" tIns="18415" rIns="0" bIns="0" rtlCol="0">
            <a:spAutoFit/>
          </a:bodyPr>
          <a:lstStyle/>
          <a:p>
            <a:pPr marL="12700">
              <a:lnSpc>
                <a:spcPct val="100000"/>
              </a:lnSpc>
              <a:spcBef>
                <a:spcPts val="145"/>
              </a:spcBef>
            </a:pPr>
            <a:r>
              <a:rPr sz="1800" spc="52" baseline="4629" dirty="0">
                <a:latin typeface="Times New Roman"/>
                <a:cs typeface="Times New Roman"/>
              </a:rPr>
              <a:t>Session </a:t>
            </a:r>
            <a:r>
              <a:rPr sz="1800" spc="104" baseline="4629" dirty="0">
                <a:latin typeface="Times New Roman"/>
                <a:cs typeface="Times New Roman"/>
              </a:rPr>
              <a:t>9/</a:t>
            </a:r>
            <a:r>
              <a:rPr sz="1800" spc="-270" baseline="4629" dirty="0">
                <a:latin typeface="Times New Roman"/>
                <a:cs typeface="Times New Roman"/>
              </a:rPr>
              <a:t> </a:t>
            </a:r>
            <a:fld id="{81D60167-4931-47E6-BA6A-407CBD079E47}" type="slidenum">
              <a:rPr sz="1200" dirty="0">
                <a:latin typeface="Times New Roman"/>
                <a:cs typeface="Times New Roman"/>
              </a:rPr>
              <a:t>6</a:t>
            </a:fld>
            <a:endParaRPr sz="1200">
              <a:latin typeface="Times New Roman"/>
              <a:cs typeface="Times New Roman"/>
            </a:endParaRPr>
          </a:p>
        </p:txBody>
      </p:sp>
      <p:sp>
        <p:nvSpPr>
          <p:cNvPr id="10" name="object 10"/>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24433" y="0"/>
            <a:ext cx="4040504" cy="635635"/>
          </a:xfrm>
          <a:prstGeom prst="rect">
            <a:avLst/>
          </a:prstGeom>
        </p:spPr>
        <p:txBody>
          <a:bodyPr vert="horz" wrap="square" lIns="0" tIns="12700" rIns="0" bIns="0" rtlCol="0">
            <a:spAutoFit/>
          </a:bodyPr>
          <a:lstStyle/>
          <a:p>
            <a:pPr marL="12700">
              <a:lnSpc>
                <a:spcPct val="100000"/>
              </a:lnSpc>
              <a:spcBef>
                <a:spcPts val="100"/>
              </a:spcBef>
            </a:pPr>
            <a:r>
              <a:rPr spc="200" dirty="0"/>
              <a:t>Grouping </a:t>
            </a:r>
            <a:r>
              <a:rPr spc="165" dirty="0"/>
              <a:t>Data</a:t>
            </a:r>
            <a:r>
              <a:rPr spc="-570" dirty="0"/>
              <a:t> </a:t>
            </a:r>
            <a:r>
              <a:rPr spc="-200" dirty="0"/>
              <a:t>4-5</a:t>
            </a:r>
          </a:p>
        </p:txBody>
      </p:sp>
      <p:sp>
        <p:nvSpPr>
          <p:cNvPr id="3" name="object 3"/>
          <p:cNvSpPr/>
          <p:nvPr/>
        </p:nvSpPr>
        <p:spPr>
          <a:xfrm>
            <a:off x="374904" y="1647443"/>
            <a:ext cx="8540750" cy="1598295"/>
          </a:xfrm>
          <a:custGeom>
            <a:avLst/>
            <a:gdLst/>
            <a:ahLst/>
            <a:cxnLst/>
            <a:rect l="l" t="t" r="r" b="b"/>
            <a:pathLst>
              <a:path w="8540750" h="1598295">
                <a:moveTo>
                  <a:pt x="8540496" y="266319"/>
                </a:moveTo>
                <a:lnTo>
                  <a:pt x="8536203" y="218452"/>
                </a:lnTo>
                <a:lnTo>
                  <a:pt x="8523821" y="173405"/>
                </a:lnTo>
                <a:lnTo>
                  <a:pt x="8504123" y="131914"/>
                </a:lnTo>
                <a:lnTo>
                  <a:pt x="8477847" y="94742"/>
                </a:lnTo>
                <a:lnTo>
                  <a:pt x="8445754" y="62649"/>
                </a:lnTo>
                <a:lnTo>
                  <a:pt x="8408581" y="36372"/>
                </a:lnTo>
                <a:lnTo>
                  <a:pt x="8367090" y="16675"/>
                </a:lnTo>
                <a:lnTo>
                  <a:pt x="8322043" y="4292"/>
                </a:lnTo>
                <a:lnTo>
                  <a:pt x="8274177" y="0"/>
                </a:lnTo>
                <a:lnTo>
                  <a:pt x="266319" y="0"/>
                </a:lnTo>
                <a:lnTo>
                  <a:pt x="218440" y="4292"/>
                </a:lnTo>
                <a:lnTo>
                  <a:pt x="173393" y="16675"/>
                </a:lnTo>
                <a:lnTo>
                  <a:pt x="131902" y="36372"/>
                </a:lnTo>
                <a:lnTo>
                  <a:pt x="94729" y="62649"/>
                </a:lnTo>
                <a:lnTo>
                  <a:pt x="62636" y="94742"/>
                </a:lnTo>
                <a:lnTo>
                  <a:pt x="36360" y="131914"/>
                </a:lnTo>
                <a:lnTo>
                  <a:pt x="16649" y="173405"/>
                </a:lnTo>
                <a:lnTo>
                  <a:pt x="4279" y="218452"/>
                </a:lnTo>
                <a:lnTo>
                  <a:pt x="0" y="266319"/>
                </a:lnTo>
                <a:lnTo>
                  <a:pt x="0" y="1331595"/>
                </a:lnTo>
                <a:lnTo>
                  <a:pt x="4279" y="1379474"/>
                </a:lnTo>
                <a:lnTo>
                  <a:pt x="16649" y="1424520"/>
                </a:lnTo>
                <a:lnTo>
                  <a:pt x="36360" y="1466011"/>
                </a:lnTo>
                <a:lnTo>
                  <a:pt x="62636" y="1503184"/>
                </a:lnTo>
                <a:lnTo>
                  <a:pt x="94729" y="1535277"/>
                </a:lnTo>
                <a:lnTo>
                  <a:pt x="131902" y="1561553"/>
                </a:lnTo>
                <a:lnTo>
                  <a:pt x="173393" y="1581251"/>
                </a:lnTo>
                <a:lnTo>
                  <a:pt x="218440" y="1593634"/>
                </a:lnTo>
                <a:lnTo>
                  <a:pt x="266319" y="1597914"/>
                </a:lnTo>
                <a:lnTo>
                  <a:pt x="8274177" y="1597914"/>
                </a:lnTo>
                <a:lnTo>
                  <a:pt x="8322043" y="1593634"/>
                </a:lnTo>
                <a:lnTo>
                  <a:pt x="8367090" y="1581251"/>
                </a:lnTo>
                <a:lnTo>
                  <a:pt x="8408581" y="1561553"/>
                </a:lnTo>
                <a:lnTo>
                  <a:pt x="8445754" y="1535277"/>
                </a:lnTo>
                <a:lnTo>
                  <a:pt x="8477847" y="1503184"/>
                </a:lnTo>
                <a:lnTo>
                  <a:pt x="8504123" y="1466011"/>
                </a:lnTo>
                <a:lnTo>
                  <a:pt x="8523821" y="1424520"/>
                </a:lnTo>
                <a:lnTo>
                  <a:pt x="8536203" y="1379474"/>
                </a:lnTo>
                <a:lnTo>
                  <a:pt x="8540496" y="1331595"/>
                </a:lnTo>
                <a:lnTo>
                  <a:pt x="8540496" y="266319"/>
                </a:lnTo>
                <a:close/>
              </a:path>
            </a:pathLst>
          </a:custGeom>
          <a:solidFill>
            <a:srgbClr val="F79546"/>
          </a:solidFill>
        </p:spPr>
        <p:txBody>
          <a:bodyPr wrap="square" lIns="0" tIns="0" rIns="0" bIns="0" rtlCol="0"/>
          <a:lstStyle/>
          <a:p>
            <a:endParaRPr/>
          </a:p>
        </p:txBody>
      </p:sp>
      <p:sp>
        <p:nvSpPr>
          <p:cNvPr id="4" name="object 4"/>
          <p:cNvSpPr txBox="1"/>
          <p:nvPr/>
        </p:nvSpPr>
        <p:spPr>
          <a:xfrm>
            <a:off x="511301" y="1948941"/>
            <a:ext cx="8265795" cy="879475"/>
          </a:xfrm>
          <a:prstGeom prst="rect">
            <a:avLst/>
          </a:prstGeom>
        </p:spPr>
        <p:txBody>
          <a:bodyPr vert="horz" wrap="square" lIns="0" tIns="12700" rIns="0" bIns="0" rtlCol="0">
            <a:spAutoFit/>
          </a:bodyPr>
          <a:lstStyle/>
          <a:p>
            <a:pPr marL="355600" indent="-342900">
              <a:lnSpc>
                <a:spcPts val="2280"/>
              </a:lnSpc>
              <a:spcBef>
                <a:spcPts val="100"/>
              </a:spcBef>
              <a:buFont typeface="Wingdings"/>
              <a:buChar char=""/>
              <a:tabLst>
                <a:tab pos="354965" algn="l"/>
                <a:tab pos="355600" algn="l"/>
              </a:tabLst>
            </a:pPr>
            <a:r>
              <a:rPr sz="2000" spc="130" dirty="0">
                <a:solidFill>
                  <a:srgbClr val="FFFFFF"/>
                </a:solidFill>
                <a:latin typeface="Times New Roman"/>
                <a:cs typeface="Times New Roman"/>
              </a:rPr>
              <a:t>The</a:t>
            </a:r>
            <a:r>
              <a:rPr sz="2000" spc="-70" dirty="0">
                <a:solidFill>
                  <a:srgbClr val="FFFFFF"/>
                </a:solidFill>
                <a:latin typeface="Times New Roman"/>
                <a:cs typeface="Times New Roman"/>
              </a:rPr>
              <a:t> </a:t>
            </a:r>
            <a:r>
              <a:rPr sz="2000" spc="45" dirty="0">
                <a:solidFill>
                  <a:srgbClr val="FFFFFF"/>
                </a:solidFill>
                <a:latin typeface="Times New Roman"/>
                <a:cs typeface="Times New Roman"/>
              </a:rPr>
              <a:t>ALL</a:t>
            </a:r>
            <a:r>
              <a:rPr sz="2000" spc="-85" dirty="0">
                <a:solidFill>
                  <a:srgbClr val="FFFFFF"/>
                </a:solidFill>
                <a:latin typeface="Times New Roman"/>
                <a:cs typeface="Times New Roman"/>
              </a:rPr>
              <a:t> </a:t>
            </a:r>
            <a:r>
              <a:rPr sz="2000" spc="65" dirty="0">
                <a:solidFill>
                  <a:srgbClr val="FFFFFF"/>
                </a:solidFill>
                <a:latin typeface="Times New Roman"/>
                <a:cs typeface="Times New Roman"/>
              </a:rPr>
              <a:t>keyword</a:t>
            </a:r>
            <a:r>
              <a:rPr sz="2000" spc="-60" dirty="0">
                <a:solidFill>
                  <a:srgbClr val="FFFFFF"/>
                </a:solidFill>
                <a:latin typeface="Times New Roman"/>
                <a:cs typeface="Times New Roman"/>
              </a:rPr>
              <a:t> </a:t>
            </a:r>
            <a:r>
              <a:rPr sz="2000" spc="75" dirty="0">
                <a:solidFill>
                  <a:srgbClr val="FFFFFF"/>
                </a:solidFill>
                <a:latin typeface="Times New Roman"/>
                <a:cs typeface="Times New Roman"/>
              </a:rPr>
              <a:t>can</a:t>
            </a:r>
            <a:r>
              <a:rPr sz="2000" spc="-75" dirty="0">
                <a:solidFill>
                  <a:srgbClr val="FFFFFF"/>
                </a:solidFill>
                <a:latin typeface="Times New Roman"/>
                <a:cs typeface="Times New Roman"/>
              </a:rPr>
              <a:t> </a:t>
            </a:r>
            <a:r>
              <a:rPr sz="2000" spc="30" dirty="0">
                <a:solidFill>
                  <a:srgbClr val="FFFFFF"/>
                </a:solidFill>
                <a:latin typeface="Times New Roman"/>
                <a:cs typeface="Times New Roman"/>
              </a:rPr>
              <a:t>also</a:t>
            </a:r>
            <a:r>
              <a:rPr sz="2000" spc="-65" dirty="0">
                <a:solidFill>
                  <a:srgbClr val="FFFFFF"/>
                </a:solidFill>
                <a:latin typeface="Times New Roman"/>
                <a:cs typeface="Times New Roman"/>
              </a:rPr>
              <a:t> </a:t>
            </a:r>
            <a:r>
              <a:rPr sz="2000" spc="65" dirty="0">
                <a:solidFill>
                  <a:srgbClr val="FFFFFF"/>
                </a:solidFill>
                <a:latin typeface="Times New Roman"/>
                <a:cs typeface="Times New Roman"/>
              </a:rPr>
              <a:t>be</a:t>
            </a:r>
            <a:r>
              <a:rPr sz="2000" spc="-60" dirty="0">
                <a:solidFill>
                  <a:srgbClr val="FFFFFF"/>
                </a:solidFill>
                <a:latin typeface="Times New Roman"/>
                <a:cs typeface="Times New Roman"/>
              </a:rPr>
              <a:t> </a:t>
            </a:r>
            <a:r>
              <a:rPr sz="2000" spc="80" dirty="0">
                <a:solidFill>
                  <a:srgbClr val="FFFFFF"/>
                </a:solidFill>
                <a:latin typeface="Times New Roman"/>
                <a:cs typeface="Times New Roman"/>
              </a:rPr>
              <a:t>used</a:t>
            </a:r>
            <a:r>
              <a:rPr sz="2000" spc="-75" dirty="0">
                <a:solidFill>
                  <a:srgbClr val="FFFFFF"/>
                </a:solidFill>
                <a:latin typeface="Times New Roman"/>
                <a:cs typeface="Times New Roman"/>
              </a:rPr>
              <a:t> </a:t>
            </a:r>
            <a:r>
              <a:rPr sz="2000" spc="90" dirty="0">
                <a:solidFill>
                  <a:srgbClr val="FFFFFF"/>
                </a:solidFill>
                <a:latin typeface="Times New Roman"/>
                <a:cs typeface="Times New Roman"/>
              </a:rPr>
              <a:t>with</a:t>
            </a:r>
            <a:r>
              <a:rPr sz="2000" spc="-70" dirty="0">
                <a:solidFill>
                  <a:srgbClr val="FFFFFF"/>
                </a:solidFill>
                <a:latin typeface="Times New Roman"/>
                <a:cs typeface="Times New Roman"/>
              </a:rPr>
              <a:t> </a:t>
            </a:r>
            <a:r>
              <a:rPr sz="2000" spc="114" dirty="0">
                <a:solidFill>
                  <a:srgbClr val="FFFFFF"/>
                </a:solidFill>
                <a:latin typeface="Times New Roman"/>
                <a:cs typeface="Times New Roman"/>
              </a:rPr>
              <a:t>the</a:t>
            </a:r>
            <a:r>
              <a:rPr sz="2000" spc="-70" dirty="0">
                <a:solidFill>
                  <a:srgbClr val="FFFFFF"/>
                </a:solidFill>
                <a:latin typeface="Times New Roman"/>
                <a:cs typeface="Times New Roman"/>
              </a:rPr>
              <a:t> </a:t>
            </a:r>
            <a:r>
              <a:rPr sz="2000" spc="145" dirty="0">
                <a:solidFill>
                  <a:srgbClr val="FFFFFF"/>
                </a:solidFill>
                <a:latin typeface="Times New Roman"/>
                <a:cs typeface="Times New Roman"/>
              </a:rPr>
              <a:t>GROUP</a:t>
            </a:r>
            <a:r>
              <a:rPr sz="2000" spc="-75" dirty="0">
                <a:solidFill>
                  <a:srgbClr val="FFFFFF"/>
                </a:solidFill>
                <a:latin typeface="Times New Roman"/>
                <a:cs typeface="Times New Roman"/>
              </a:rPr>
              <a:t> </a:t>
            </a:r>
            <a:r>
              <a:rPr sz="2000" spc="-50" dirty="0">
                <a:solidFill>
                  <a:srgbClr val="FFFFFF"/>
                </a:solidFill>
                <a:latin typeface="Times New Roman"/>
                <a:cs typeface="Times New Roman"/>
              </a:rPr>
              <a:t>BY</a:t>
            </a:r>
            <a:r>
              <a:rPr sz="2000" spc="-70" dirty="0">
                <a:solidFill>
                  <a:srgbClr val="FFFFFF"/>
                </a:solidFill>
                <a:latin typeface="Times New Roman"/>
                <a:cs typeface="Times New Roman"/>
              </a:rPr>
              <a:t> </a:t>
            </a:r>
            <a:r>
              <a:rPr sz="2000" spc="35" dirty="0">
                <a:solidFill>
                  <a:srgbClr val="FFFFFF"/>
                </a:solidFill>
                <a:latin typeface="Times New Roman"/>
                <a:cs typeface="Times New Roman"/>
              </a:rPr>
              <a:t>clause.</a:t>
            </a:r>
            <a:endParaRPr sz="2000">
              <a:latin typeface="Times New Roman"/>
              <a:cs typeface="Times New Roman"/>
            </a:endParaRPr>
          </a:p>
          <a:p>
            <a:pPr marL="355600" marR="5080" indent="-342900">
              <a:lnSpc>
                <a:spcPts val="2160"/>
              </a:lnSpc>
              <a:spcBef>
                <a:spcPts val="150"/>
              </a:spcBef>
              <a:buFont typeface="Wingdings"/>
              <a:buChar char=""/>
              <a:tabLst>
                <a:tab pos="354965" algn="l"/>
                <a:tab pos="355600" algn="l"/>
              </a:tabLst>
            </a:pPr>
            <a:r>
              <a:rPr sz="2000" spc="55" dirty="0">
                <a:solidFill>
                  <a:srgbClr val="FFFFFF"/>
                </a:solidFill>
                <a:latin typeface="Times New Roman"/>
                <a:cs typeface="Times New Roman"/>
              </a:rPr>
              <a:t>It</a:t>
            </a:r>
            <a:r>
              <a:rPr sz="2000" spc="-5" dirty="0">
                <a:solidFill>
                  <a:srgbClr val="FFFFFF"/>
                </a:solidFill>
                <a:latin typeface="Times New Roman"/>
                <a:cs typeface="Times New Roman"/>
              </a:rPr>
              <a:t> </a:t>
            </a:r>
            <a:r>
              <a:rPr sz="2000" spc="65" dirty="0">
                <a:solidFill>
                  <a:srgbClr val="FFFFFF"/>
                </a:solidFill>
                <a:latin typeface="Times New Roman"/>
                <a:cs typeface="Times New Roman"/>
              </a:rPr>
              <a:t>includes</a:t>
            </a:r>
            <a:r>
              <a:rPr sz="2000" spc="5" dirty="0">
                <a:solidFill>
                  <a:srgbClr val="FFFFFF"/>
                </a:solidFill>
                <a:latin typeface="Times New Roman"/>
                <a:cs typeface="Times New Roman"/>
              </a:rPr>
              <a:t> </a:t>
            </a:r>
            <a:r>
              <a:rPr sz="2000" spc="10" dirty="0">
                <a:solidFill>
                  <a:srgbClr val="FFFFFF"/>
                </a:solidFill>
                <a:latin typeface="Times New Roman"/>
                <a:cs typeface="Times New Roman"/>
              </a:rPr>
              <a:t>all</a:t>
            </a:r>
            <a:r>
              <a:rPr sz="2000" spc="5" dirty="0">
                <a:solidFill>
                  <a:srgbClr val="FFFFFF"/>
                </a:solidFill>
                <a:latin typeface="Times New Roman"/>
                <a:cs typeface="Times New Roman"/>
              </a:rPr>
              <a:t> </a:t>
            </a:r>
            <a:r>
              <a:rPr sz="2000" spc="110" dirty="0">
                <a:solidFill>
                  <a:srgbClr val="FFFFFF"/>
                </a:solidFill>
                <a:latin typeface="Times New Roman"/>
                <a:cs typeface="Times New Roman"/>
              </a:rPr>
              <a:t>the</a:t>
            </a:r>
            <a:r>
              <a:rPr sz="2000" spc="5" dirty="0">
                <a:solidFill>
                  <a:srgbClr val="FFFFFF"/>
                </a:solidFill>
                <a:latin typeface="Times New Roman"/>
                <a:cs typeface="Times New Roman"/>
              </a:rPr>
              <a:t> </a:t>
            </a:r>
            <a:r>
              <a:rPr sz="2000" spc="70" dirty="0">
                <a:solidFill>
                  <a:srgbClr val="FFFFFF"/>
                </a:solidFill>
                <a:latin typeface="Times New Roman"/>
                <a:cs typeface="Times New Roman"/>
              </a:rPr>
              <a:t>groups</a:t>
            </a:r>
            <a:r>
              <a:rPr sz="2000" dirty="0">
                <a:solidFill>
                  <a:srgbClr val="FFFFFF"/>
                </a:solidFill>
                <a:latin typeface="Times New Roman"/>
                <a:cs typeface="Times New Roman"/>
              </a:rPr>
              <a:t> </a:t>
            </a:r>
            <a:r>
              <a:rPr sz="2000" spc="114" dirty="0">
                <a:solidFill>
                  <a:srgbClr val="FFFFFF"/>
                </a:solidFill>
                <a:latin typeface="Times New Roman"/>
                <a:cs typeface="Times New Roman"/>
              </a:rPr>
              <a:t>that</a:t>
            </a:r>
            <a:r>
              <a:rPr sz="2000" spc="5" dirty="0">
                <a:solidFill>
                  <a:srgbClr val="FFFFFF"/>
                </a:solidFill>
                <a:latin typeface="Times New Roman"/>
                <a:cs typeface="Times New Roman"/>
              </a:rPr>
              <a:t> </a:t>
            </a:r>
            <a:r>
              <a:rPr sz="2000" spc="110" dirty="0">
                <a:solidFill>
                  <a:srgbClr val="FFFFFF"/>
                </a:solidFill>
                <a:latin typeface="Times New Roman"/>
                <a:cs typeface="Times New Roman"/>
              </a:rPr>
              <a:t>the</a:t>
            </a:r>
            <a:r>
              <a:rPr sz="2000" spc="10" dirty="0">
                <a:solidFill>
                  <a:srgbClr val="FFFFFF"/>
                </a:solidFill>
                <a:latin typeface="Times New Roman"/>
                <a:cs typeface="Times New Roman"/>
              </a:rPr>
              <a:t> </a:t>
            </a:r>
            <a:r>
              <a:rPr sz="2000" spc="145" dirty="0">
                <a:solidFill>
                  <a:srgbClr val="FFFFFF"/>
                </a:solidFill>
                <a:latin typeface="Times New Roman"/>
                <a:cs typeface="Times New Roman"/>
              </a:rPr>
              <a:t>GROUP</a:t>
            </a:r>
            <a:r>
              <a:rPr sz="2000" spc="5" dirty="0">
                <a:solidFill>
                  <a:srgbClr val="FFFFFF"/>
                </a:solidFill>
                <a:latin typeface="Times New Roman"/>
                <a:cs typeface="Times New Roman"/>
              </a:rPr>
              <a:t> </a:t>
            </a:r>
            <a:r>
              <a:rPr sz="2000" spc="-50" dirty="0">
                <a:solidFill>
                  <a:srgbClr val="FFFFFF"/>
                </a:solidFill>
                <a:latin typeface="Times New Roman"/>
                <a:cs typeface="Times New Roman"/>
              </a:rPr>
              <a:t>BY</a:t>
            </a:r>
            <a:r>
              <a:rPr sz="2000" dirty="0">
                <a:solidFill>
                  <a:srgbClr val="FFFFFF"/>
                </a:solidFill>
                <a:latin typeface="Times New Roman"/>
                <a:cs typeface="Times New Roman"/>
              </a:rPr>
              <a:t> </a:t>
            </a:r>
            <a:r>
              <a:rPr sz="2000" spc="40" dirty="0">
                <a:solidFill>
                  <a:srgbClr val="FFFFFF"/>
                </a:solidFill>
                <a:latin typeface="Times New Roman"/>
                <a:cs typeface="Times New Roman"/>
              </a:rPr>
              <a:t>clause</a:t>
            </a:r>
            <a:r>
              <a:rPr sz="2000" spc="10" dirty="0">
                <a:solidFill>
                  <a:srgbClr val="FFFFFF"/>
                </a:solidFill>
                <a:latin typeface="Times New Roman"/>
                <a:cs typeface="Times New Roman"/>
              </a:rPr>
              <a:t> </a:t>
            </a:r>
            <a:r>
              <a:rPr sz="2000" spc="75" dirty="0">
                <a:solidFill>
                  <a:srgbClr val="FFFFFF"/>
                </a:solidFill>
                <a:latin typeface="Times New Roman"/>
                <a:cs typeface="Times New Roman"/>
              </a:rPr>
              <a:t>produces</a:t>
            </a:r>
            <a:r>
              <a:rPr sz="2000" spc="5" dirty="0">
                <a:solidFill>
                  <a:srgbClr val="FFFFFF"/>
                </a:solidFill>
                <a:latin typeface="Times New Roman"/>
                <a:cs typeface="Times New Roman"/>
              </a:rPr>
              <a:t> </a:t>
            </a:r>
            <a:r>
              <a:rPr sz="2000" spc="114" dirty="0">
                <a:solidFill>
                  <a:srgbClr val="FFFFFF"/>
                </a:solidFill>
                <a:latin typeface="Times New Roman"/>
                <a:cs typeface="Times New Roman"/>
              </a:rPr>
              <a:t>and</a:t>
            </a:r>
            <a:r>
              <a:rPr sz="2000" dirty="0">
                <a:solidFill>
                  <a:srgbClr val="FFFFFF"/>
                </a:solidFill>
                <a:latin typeface="Times New Roman"/>
                <a:cs typeface="Times New Roman"/>
              </a:rPr>
              <a:t> </a:t>
            </a:r>
            <a:r>
              <a:rPr sz="2000" spc="75" dirty="0">
                <a:solidFill>
                  <a:srgbClr val="FFFFFF"/>
                </a:solidFill>
                <a:latin typeface="Times New Roman"/>
                <a:cs typeface="Times New Roman"/>
              </a:rPr>
              <a:t>even  </a:t>
            </a:r>
            <a:r>
              <a:rPr sz="2000" spc="85" dirty="0">
                <a:solidFill>
                  <a:srgbClr val="FFFFFF"/>
                </a:solidFill>
                <a:latin typeface="Times New Roman"/>
                <a:cs typeface="Times New Roman"/>
              </a:rPr>
              <a:t>those</a:t>
            </a:r>
            <a:r>
              <a:rPr sz="2000" spc="-55" dirty="0">
                <a:solidFill>
                  <a:srgbClr val="FFFFFF"/>
                </a:solidFill>
                <a:latin typeface="Times New Roman"/>
                <a:cs typeface="Times New Roman"/>
              </a:rPr>
              <a:t> </a:t>
            </a:r>
            <a:r>
              <a:rPr sz="2000" spc="80" dirty="0">
                <a:solidFill>
                  <a:srgbClr val="FFFFFF"/>
                </a:solidFill>
                <a:latin typeface="Times New Roman"/>
                <a:cs typeface="Times New Roman"/>
              </a:rPr>
              <a:t>which</a:t>
            </a:r>
            <a:r>
              <a:rPr sz="2000" spc="-75" dirty="0">
                <a:solidFill>
                  <a:srgbClr val="FFFFFF"/>
                </a:solidFill>
                <a:latin typeface="Times New Roman"/>
                <a:cs typeface="Times New Roman"/>
              </a:rPr>
              <a:t> </a:t>
            </a:r>
            <a:r>
              <a:rPr sz="2000" spc="105" dirty="0">
                <a:solidFill>
                  <a:srgbClr val="FFFFFF"/>
                </a:solidFill>
                <a:latin typeface="Times New Roman"/>
                <a:cs typeface="Times New Roman"/>
              </a:rPr>
              <a:t>do</a:t>
            </a:r>
            <a:r>
              <a:rPr sz="2000" spc="-70" dirty="0">
                <a:solidFill>
                  <a:srgbClr val="FFFFFF"/>
                </a:solidFill>
                <a:latin typeface="Times New Roman"/>
                <a:cs typeface="Times New Roman"/>
              </a:rPr>
              <a:t> </a:t>
            </a:r>
            <a:r>
              <a:rPr sz="2000" spc="130" dirty="0">
                <a:solidFill>
                  <a:srgbClr val="FFFFFF"/>
                </a:solidFill>
                <a:latin typeface="Times New Roman"/>
                <a:cs typeface="Times New Roman"/>
              </a:rPr>
              <a:t>not</a:t>
            </a:r>
            <a:r>
              <a:rPr sz="2000" spc="-55" dirty="0">
                <a:solidFill>
                  <a:srgbClr val="FFFFFF"/>
                </a:solidFill>
                <a:latin typeface="Times New Roman"/>
                <a:cs typeface="Times New Roman"/>
              </a:rPr>
              <a:t> </a:t>
            </a:r>
            <a:r>
              <a:rPr sz="2000" spc="75" dirty="0">
                <a:solidFill>
                  <a:srgbClr val="FFFFFF"/>
                </a:solidFill>
                <a:latin typeface="Times New Roman"/>
                <a:cs typeface="Times New Roman"/>
              </a:rPr>
              <a:t>meet</a:t>
            </a:r>
            <a:r>
              <a:rPr sz="2000" spc="-60" dirty="0">
                <a:solidFill>
                  <a:srgbClr val="FFFFFF"/>
                </a:solidFill>
                <a:latin typeface="Times New Roman"/>
                <a:cs typeface="Times New Roman"/>
              </a:rPr>
              <a:t> </a:t>
            </a:r>
            <a:r>
              <a:rPr sz="2000" spc="110" dirty="0">
                <a:solidFill>
                  <a:srgbClr val="FFFFFF"/>
                </a:solidFill>
                <a:latin typeface="Times New Roman"/>
                <a:cs typeface="Times New Roman"/>
              </a:rPr>
              <a:t>the</a:t>
            </a:r>
            <a:r>
              <a:rPr sz="2000" spc="-65" dirty="0">
                <a:solidFill>
                  <a:srgbClr val="FFFFFF"/>
                </a:solidFill>
                <a:latin typeface="Times New Roman"/>
                <a:cs typeface="Times New Roman"/>
              </a:rPr>
              <a:t> </a:t>
            </a:r>
            <a:r>
              <a:rPr sz="2000" spc="55" dirty="0">
                <a:solidFill>
                  <a:srgbClr val="FFFFFF"/>
                </a:solidFill>
                <a:latin typeface="Times New Roman"/>
                <a:cs typeface="Times New Roman"/>
              </a:rPr>
              <a:t>search</a:t>
            </a:r>
            <a:r>
              <a:rPr sz="2000" spc="-70" dirty="0">
                <a:solidFill>
                  <a:srgbClr val="FFFFFF"/>
                </a:solidFill>
                <a:latin typeface="Times New Roman"/>
                <a:cs typeface="Times New Roman"/>
              </a:rPr>
              <a:t> </a:t>
            </a:r>
            <a:r>
              <a:rPr sz="2000" spc="75" dirty="0">
                <a:solidFill>
                  <a:srgbClr val="FFFFFF"/>
                </a:solidFill>
                <a:latin typeface="Times New Roman"/>
                <a:cs typeface="Times New Roman"/>
              </a:rPr>
              <a:t>conditions.</a:t>
            </a:r>
            <a:endParaRPr sz="2000">
              <a:latin typeface="Times New Roman"/>
              <a:cs typeface="Times New Roman"/>
            </a:endParaRPr>
          </a:p>
        </p:txBody>
      </p:sp>
      <p:sp>
        <p:nvSpPr>
          <p:cNvPr id="5" name="object 5"/>
          <p:cNvSpPr txBox="1"/>
          <p:nvPr/>
        </p:nvSpPr>
        <p:spPr>
          <a:xfrm>
            <a:off x="453644" y="927354"/>
            <a:ext cx="2942590" cy="391795"/>
          </a:xfrm>
          <a:prstGeom prst="rect">
            <a:avLst/>
          </a:prstGeom>
        </p:spPr>
        <p:txBody>
          <a:bodyPr vert="horz" wrap="square" lIns="0" tIns="12700" rIns="0" bIns="0" rtlCol="0">
            <a:spAutoFit/>
          </a:bodyPr>
          <a:lstStyle/>
          <a:p>
            <a:pPr marL="12700">
              <a:lnSpc>
                <a:spcPct val="100000"/>
              </a:lnSpc>
              <a:spcBef>
                <a:spcPts val="100"/>
              </a:spcBef>
            </a:pPr>
            <a:r>
              <a:rPr sz="2400" b="1" spc="20" dirty="0">
                <a:latin typeface="Arial"/>
                <a:cs typeface="Arial"/>
              </a:rPr>
              <a:t>GROUP</a:t>
            </a:r>
            <a:r>
              <a:rPr sz="2400" b="1" spc="-240" dirty="0">
                <a:latin typeface="Arial"/>
                <a:cs typeface="Arial"/>
              </a:rPr>
              <a:t> </a:t>
            </a:r>
            <a:r>
              <a:rPr sz="2400" b="1" spc="-70" dirty="0">
                <a:latin typeface="Arial"/>
                <a:cs typeface="Arial"/>
              </a:rPr>
              <a:t>BY</a:t>
            </a:r>
            <a:r>
              <a:rPr sz="2400" b="1" spc="-235" dirty="0">
                <a:latin typeface="Arial"/>
                <a:cs typeface="Arial"/>
              </a:rPr>
              <a:t> </a:t>
            </a:r>
            <a:r>
              <a:rPr sz="2400" b="1" spc="-35" dirty="0">
                <a:latin typeface="Arial"/>
                <a:cs typeface="Arial"/>
              </a:rPr>
              <a:t>with</a:t>
            </a:r>
            <a:r>
              <a:rPr sz="2400" b="1" spc="-225" dirty="0">
                <a:latin typeface="Arial"/>
                <a:cs typeface="Arial"/>
              </a:rPr>
              <a:t> </a:t>
            </a:r>
            <a:r>
              <a:rPr sz="2400" b="1" spc="40" dirty="0">
                <a:latin typeface="Arial"/>
                <a:cs typeface="Arial"/>
              </a:rPr>
              <a:t>ALL</a:t>
            </a:r>
            <a:endParaRPr sz="2400">
              <a:latin typeface="Arial"/>
              <a:cs typeface="Arial"/>
            </a:endParaRPr>
          </a:p>
        </p:txBody>
      </p:sp>
      <p:pic>
        <p:nvPicPr>
          <p:cNvPr id="6" name="object 6"/>
          <p:cNvPicPr/>
          <p:nvPr/>
        </p:nvPicPr>
        <p:blipFill>
          <a:blip r:embed="rId3" cstate="print"/>
          <a:stretch>
            <a:fillRect/>
          </a:stretch>
        </p:blipFill>
        <p:spPr>
          <a:xfrm>
            <a:off x="2935985" y="3963161"/>
            <a:ext cx="3231641" cy="1653539"/>
          </a:xfrm>
          <a:prstGeom prst="rect">
            <a:avLst/>
          </a:prstGeom>
        </p:spPr>
      </p:pic>
      <p:sp>
        <p:nvSpPr>
          <p:cNvPr id="7" name="object 7"/>
          <p:cNvSpPr txBox="1"/>
          <p:nvPr/>
        </p:nvSpPr>
        <p:spPr>
          <a:xfrm>
            <a:off x="3162300" y="5651753"/>
            <a:ext cx="2528570" cy="238760"/>
          </a:xfrm>
          <a:prstGeom prst="rect">
            <a:avLst/>
          </a:prstGeom>
        </p:spPr>
        <p:txBody>
          <a:bodyPr vert="horz" wrap="square" lIns="0" tIns="12700" rIns="0" bIns="0" rtlCol="0">
            <a:spAutoFit/>
          </a:bodyPr>
          <a:lstStyle/>
          <a:p>
            <a:pPr marL="12700">
              <a:lnSpc>
                <a:spcPct val="100000"/>
              </a:lnSpc>
              <a:spcBef>
                <a:spcPts val="100"/>
              </a:spcBef>
            </a:pPr>
            <a:r>
              <a:rPr sz="1400" b="1" spc="-20" dirty="0">
                <a:latin typeface="Arial"/>
                <a:cs typeface="Arial"/>
              </a:rPr>
              <a:t>Output</a:t>
            </a:r>
            <a:r>
              <a:rPr sz="1400" b="1" spc="-125" dirty="0">
                <a:latin typeface="Arial"/>
                <a:cs typeface="Arial"/>
              </a:rPr>
              <a:t> </a:t>
            </a:r>
            <a:r>
              <a:rPr sz="1400" b="1" spc="-45" dirty="0">
                <a:latin typeface="Arial"/>
                <a:cs typeface="Arial"/>
              </a:rPr>
              <a:t>of</a:t>
            </a:r>
            <a:r>
              <a:rPr sz="1400" b="1" spc="-110" dirty="0">
                <a:latin typeface="Arial"/>
                <a:cs typeface="Arial"/>
              </a:rPr>
              <a:t> </a:t>
            </a:r>
            <a:r>
              <a:rPr sz="1400" b="1" spc="10" dirty="0">
                <a:latin typeface="Arial"/>
                <a:cs typeface="Arial"/>
              </a:rPr>
              <a:t>GROUP</a:t>
            </a:r>
            <a:r>
              <a:rPr sz="1400" b="1" spc="-120" dirty="0">
                <a:latin typeface="Arial"/>
                <a:cs typeface="Arial"/>
              </a:rPr>
              <a:t> </a:t>
            </a:r>
            <a:r>
              <a:rPr sz="1400" b="1" spc="-45" dirty="0">
                <a:latin typeface="Arial"/>
                <a:cs typeface="Arial"/>
              </a:rPr>
              <a:t>BY</a:t>
            </a:r>
            <a:r>
              <a:rPr sz="1400" b="1" spc="-130" dirty="0">
                <a:latin typeface="Arial"/>
                <a:cs typeface="Arial"/>
              </a:rPr>
              <a:t> </a:t>
            </a:r>
            <a:r>
              <a:rPr sz="1400" b="1" spc="-25" dirty="0">
                <a:latin typeface="Arial"/>
                <a:cs typeface="Arial"/>
              </a:rPr>
              <a:t>with</a:t>
            </a:r>
            <a:r>
              <a:rPr sz="1400" b="1" spc="-120" dirty="0">
                <a:latin typeface="Arial"/>
                <a:cs typeface="Arial"/>
              </a:rPr>
              <a:t> </a:t>
            </a:r>
            <a:r>
              <a:rPr sz="1400" b="1" spc="20" dirty="0">
                <a:latin typeface="Arial"/>
                <a:cs typeface="Arial"/>
              </a:rPr>
              <a:t>ALL</a:t>
            </a:r>
            <a:endParaRPr sz="1400">
              <a:latin typeface="Arial"/>
              <a:cs typeface="Arial"/>
            </a:endParaRPr>
          </a:p>
        </p:txBody>
      </p:sp>
      <p:sp>
        <p:nvSpPr>
          <p:cNvPr id="9" name="object 9"/>
          <p:cNvSpPr txBox="1"/>
          <p:nvPr/>
        </p:nvSpPr>
        <p:spPr>
          <a:xfrm>
            <a:off x="7912607" y="6569709"/>
            <a:ext cx="904875" cy="256540"/>
          </a:xfrm>
          <a:prstGeom prst="rect">
            <a:avLst/>
          </a:prstGeom>
        </p:spPr>
        <p:txBody>
          <a:bodyPr vert="horz" wrap="square" lIns="0" tIns="18415" rIns="0" bIns="0" rtlCol="0">
            <a:spAutoFit/>
          </a:bodyPr>
          <a:lstStyle/>
          <a:p>
            <a:pPr marL="12700">
              <a:lnSpc>
                <a:spcPct val="100000"/>
              </a:lnSpc>
              <a:spcBef>
                <a:spcPts val="145"/>
              </a:spcBef>
            </a:pPr>
            <a:r>
              <a:rPr sz="1800" spc="52" baseline="4629" dirty="0">
                <a:latin typeface="Times New Roman"/>
                <a:cs typeface="Times New Roman"/>
              </a:rPr>
              <a:t>Session </a:t>
            </a:r>
            <a:r>
              <a:rPr sz="1800" spc="104" baseline="4629" dirty="0">
                <a:latin typeface="Times New Roman"/>
                <a:cs typeface="Times New Roman"/>
              </a:rPr>
              <a:t>9/</a:t>
            </a:r>
            <a:r>
              <a:rPr sz="1800" spc="-262" baseline="4629" dirty="0">
                <a:latin typeface="Times New Roman"/>
                <a:cs typeface="Times New Roman"/>
              </a:rPr>
              <a:t> </a:t>
            </a:r>
            <a:fld id="{81D60167-4931-47E6-BA6A-407CBD079E47}" type="slidenum">
              <a:rPr sz="1200" spc="-5" dirty="0">
                <a:latin typeface="Times New Roman"/>
                <a:cs typeface="Times New Roman"/>
              </a:rPr>
              <a:t>7</a:t>
            </a:fld>
            <a:endParaRPr sz="1200">
              <a:latin typeface="Times New Roman"/>
              <a:cs typeface="Times New Roman"/>
            </a:endParaRPr>
          </a:p>
        </p:txBody>
      </p:sp>
      <p:sp>
        <p:nvSpPr>
          <p:cNvPr id="10" name="object 10"/>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66090" y="21081"/>
            <a:ext cx="3957954" cy="635635"/>
          </a:xfrm>
          <a:prstGeom prst="rect">
            <a:avLst/>
          </a:prstGeom>
        </p:spPr>
        <p:txBody>
          <a:bodyPr vert="horz" wrap="square" lIns="0" tIns="12700" rIns="0" bIns="0" rtlCol="0">
            <a:spAutoFit/>
          </a:bodyPr>
          <a:lstStyle/>
          <a:p>
            <a:pPr marL="12700">
              <a:lnSpc>
                <a:spcPct val="100000"/>
              </a:lnSpc>
              <a:spcBef>
                <a:spcPts val="100"/>
              </a:spcBef>
            </a:pPr>
            <a:r>
              <a:rPr spc="200" dirty="0"/>
              <a:t>Grouping </a:t>
            </a:r>
            <a:r>
              <a:rPr spc="165" dirty="0"/>
              <a:t>Data</a:t>
            </a:r>
            <a:r>
              <a:rPr spc="-575" dirty="0"/>
              <a:t> </a:t>
            </a:r>
            <a:r>
              <a:rPr spc="-415" dirty="0"/>
              <a:t>5-5</a:t>
            </a:r>
          </a:p>
        </p:txBody>
      </p:sp>
      <p:grpSp>
        <p:nvGrpSpPr>
          <p:cNvPr id="3" name="object 3"/>
          <p:cNvGrpSpPr/>
          <p:nvPr/>
        </p:nvGrpSpPr>
        <p:grpSpPr>
          <a:xfrm>
            <a:off x="333756" y="1629155"/>
            <a:ext cx="8616315" cy="1967864"/>
            <a:chOff x="333756" y="1629155"/>
            <a:chExt cx="8616315" cy="1967864"/>
          </a:xfrm>
        </p:grpSpPr>
        <p:pic>
          <p:nvPicPr>
            <p:cNvPr id="4" name="object 4"/>
            <p:cNvPicPr/>
            <p:nvPr/>
          </p:nvPicPr>
          <p:blipFill>
            <a:blip r:embed="rId3" cstate="print"/>
            <a:stretch>
              <a:fillRect/>
            </a:stretch>
          </p:blipFill>
          <p:spPr>
            <a:xfrm>
              <a:off x="333756" y="1629155"/>
              <a:ext cx="8615934" cy="1967484"/>
            </a:xfrm>
            <a:prstGeom prst="rect">
              <a:avLst/>
            </a:prstGeom>
          </p:spPr>
        </p:pic>
        <p:pic>
          <p:nvPicPr>
            <p:cNvPr id="5" name="object 5"/>
            <p:cNvPicPr/>
            <p:nvPr/>
          </p:nvPicPr>
          <p:blipFill>
            <a:blip r:embed="rId4" cstate="print"/>
            <a:stretch>
              <a:fillRect/>
            </a:stretch>
          </p:blipFill>
          <p:spPr>
            <a:xfrm>
              <a:off x="374904" y="1647443"/>
              <a:ext cx="8540496" cy="1892046"/>
            </a:xfrm>
            <a:prstGeom prst="rect">
              <a:avLst/>
            </a:prstGeom>
          </p:spPr>
        </p:pic>
      </p:grpSp>
      <p:sp>
        <p:nvSpPr>
          <p:cNvPr id="6" name="object 6"/>
          <p:cNvSpPr txBox="1"/>
          <p:nvPr/>
        </p:nvSpPr>
        <p:spPr>
          <a:xfrm>
            <a:off x="511301" y="1821942"/>
            <a:ext cx="8268334" cy="1427480"/>
          </a:xfrm>
          <a:prstGeom prst="rect">
            <a:avLst/>
          </a:prstGeom>
        </p:spPr>
        <p:txBody>
          <a:bodyPr vert="horz" wrap="square" lIns="0" tIns="46990" rIns="0" bIns="0" rtlCol="0">
            <a:spAutoFit/>
          </a:bodyPr>
          <a:lstStyle/>
          <a:p>
            <a:pPr marL="355600" marR="5715" indent="-342900" algn="just">
              <a:lnSpc>
                <a:spcPts val="2160"/>
              </a:lnSpc>
              <a:spcBef>
                <a:spcPts val="370"/>
              </a:spcBef>
              <a:buFont typeface="Wingdings"/>
              <a:buChar char=""/>
              <a:tabLst>
                <a:tab pos="355600" algn="l"/>
              </a:tabLst>
            </a:pPr>
            <a:r>
              <a:rPr sz="2000" spc="135" dirty="0">
                <a:solidFill>
                  <a:srgbClr val="FFFFFF"/>
                </a:solidFill>
                <a:latin typeface="Times New Roman"/>
                <a:cs typeface="Times New Roman"/>
              </a:rPr>
              <a:t>HAVING </a:t>
            </a:r>
            <a:r>
              <a:rPr sz="2000" spc="40" dirty="0">
                <a:solidFill>
                  <a:srgbClr val="FFFFFF"/>
                </a:solidFill>
                <a:latin typeface="Times New Roman"/>
                <a:cs typeface="Times New Roman"/>
              </a:rPr>
              <a:t>clause </a:t>
            </a:r>
            <a:r>
              <a:rPr sz="2000" spc="5" dirty="0">
                <a:solidFill>
                  <a:srgbClr val="FFFFFF"/>
                </a:solidFill>
                <a:latin typeface="Times New Roman"/>
                <a:cs typeface="Times New Roman"/>
              </a:rPr>
              <a:t>is </a:t>
            </a:r>
            <a:r>
              <a:rPr sz="2000" spc="80" dirty="0">
                <a:solidFill>
                  <a:srgbClr val="FFFFFF"/>
                </a:solidFill>
                <a:latin typeface="Times New Roman"/>
                <a:cs typeface="Times New Roman"/>
              </a:rPr>
              <a:t>used </a:t>
            </a:r>
            <a:r>
              <a:rPr sz="2000" spc="70" dirty="0">
                <a:solidFill>
                  <a:srgbClr val="FFFFFF"/>
                </a:solidFill>
                <a:latin typeface="Times New Roman"/>
                <a:cs typeface="Times New Roman"/>
              </a:rPr>
              <a:t>only </a:t>
            </a:r>
            <a:r>
              <a:rPr sz="2000" spc="90" dirty="0">
                <a:solidFill>
                  <a:srgbClr val="FFFFFF"/>
                </a:solidFill>
                <a:latin typeface="Times New Roman"/>
                <a:cs typeface="Times New Roman"/>
              </a:rPr>
              <a:t>with </a:t>
            </a:r>
            <a:r>
              <a:rPr sz="2000" spc="80" dirty="0">
                <a:solidFill>
                  <a:srgbClr val="FFFFFF"/>
                </a:solidFill>
                <a:latin typeface="Times New Roman"/>
                <a:cs typeface="Times New Roman"/>
              </a:rPr>
              <a:t>SELECT </a:t>
            </a:r>
            <a:r>
              <a:rPr sz="2000" spc="85" dirty="0">
                <a:solidFill>
                  <a:srgbClr val="FFFFFF"/>
                </a:solidFill>
                <a:latin typeface="Times New Roman"/>
                <a:cs typeface="Times New Roman"/>
              </a:rPr>
              <a:t>statement </a:t>
            </a:r>
            <a:r>
              <a:rPr sz="2000" spc="110" dirty="0">
                <a:solidFill>
                  <a:srgbClr val="FFFFFF"/>
                </a:solidFill>
                <a:latin typeface="Times New Roman"/>
                <a:cs typeface="Times New Roman"/>
              </a:rPr>
              <a:t>to </a:t>
            </a:r>
            <a:r>
              <a:rPr sz="2000" spc="25" dirty="0">
                <a:solidFill>
                  <a:srgbClr val="FFFFFF"/>
                </a:solidFill>
                <a:latin typeface="Times New Roman"/>
                <a:cs typeface="Times New Roman"/>
              </a:rPr>
              <a:t>specify </a:t>
            </a:r>
            <a:r>
              <a:rPr sz="2000" spc="30" dirty="0">
                <a:solidFill>
                  <a:srgbClr val="FFFFFF"/>
                </a:solidFill>
                <a:latin typeface="Times New Roman"/>
                <a:cs typeface="Times New Roman"/>
              </a:rPr>
              <a:t>a  </a:t>
            </a:r>
            <a:r>
              <a:rPr sz="2000" spc="55" dirty="0">
                <a:solidFill>
                  <a:srgbClr val="FFFFFF"/>
                </a:solidFill>
                <a:latin typeface="Times New Roman"/>
                <a:cs typeface="Times New Roman"/>
              </a:rPr>
              <a:t>search</a:t>
            </a:r>
            <a:r>
              <a:rPr sz="2000" spc="-70" dirty="0">
                <a:solidFill>
                  <a:srgbClr val="FFFFFF"/>
                </a:solidFill>
                <a:latin typeface="Times New Roman"/>
                <a:cs typeface="Times New Roman"/>
              </a:rPr>
              <a:t> </a:t>
            </a:r>
            <a:r>
              <a:rPr sz="2000" spc="90" dirty="0">
                <a:solidFill>
                  <a:srgbClr val="FFFFFF"/>
                </a:solidFill>
                <a:latin typeface="Times New Roman"/>
                <a:cs typeface="Times New Roman"/>
              </a:rPr>
              <a:t>condition</a:t>
            </a:r>
            <a:r>
              <a:rPr sz="2000" spc="-70" dirty="0">
                <a:solidFill>
                  <a:srgbClr val="FFFFFF"/>
                </a:solidFill>
                <a:latin typeface="Times New Roman"/>
                <a:cs typeface="Times New Roman"/>
              </a:rPr>
              <a:t> </a:t>
            </a:r>
            <a:r>
              <a:rPr sz="2000" spc="65" dirty="0">
                <a:solidFill>
                  <a:srgbClr val="FFFFFF"/>
                </a:solidFill>
                <a:latin typeface="Times New Roman"/>
                <a:cs typeface="Times New Roman"/>
              </a:rPr>
              <a:t>for</a:t>
            </a:r>
            <a:r>
              <a:rPr sz="2000" spc="-70" dirty="0">
                <a:solidFill>
                  <a:srgbClr val="FFFFFF"/>
                </a:solidFill>
                <a:latin typeface="Times New Roman"/>
                <a:cs typeface="Times New Roman"/>
              </a:rPr>
              <a:t> </a:t>
            </a:r>
            <a:r>
              <a:rPr sz="2000" spc="30" dirty="0">
                <a:solidFill>
                  <a:srgbClr val="FFFFFF"/>
                </a:solidFill>
                <a:latin typeface="Times New Roman"/>
                <a:cs typeface="Times New Roman"/>
              </a:rPr>
              <a:t>a</a:t>
            </a:r>
            <a:r>
              <a:rPr sz="2000" spc="-75" dirty="0">
                <a:solidFill>
                  <a:srgbClr val="FFFFFF"/>
                </a:solidFill>
                <a:latin typeface="Times New Roman"/>
                <a:cs typeface="Times New Roman"/>
              </a:rPr>
              <a:t> </a:t>
            </a:r>
            <a:r>
              <a:rPr sz="2000" spc="65" dirty="0">
                <a:solidFill>
                  <a:srgbClr val="FFFFFF"/>
                </a:solidFill>
                <a:latin typeface="Times New Roman"/>
                <a:cs typeface="Times New Roman"/>
              </a:rPr>
              <a:t>group.</a:t>
            </a:r>
            <a:endParaRPr sz="2000">
              <a:latin typeface="Times New Roman"/>
              <a:cs typeface="Times New Roman"/>
            </a:endParaRPr>
          </a:p>
          <a:p>
            <a:pPr marL="355600" marR="5080" indent="-342900" algn="just">
              <a:lnSpc>
                <a:spcPts val="2160"/>
              </a:lnSpc>
              <a:buFont typeface="Wingdings"/>
              <a:buChar char=""/>
              <a:tabLst>
                <a:tab pos="355600" algn="l"/>
              </a:tabLst>
            </a:pPr>
            <a:r>
              <a:rPr sz="2000" spc="130" dirty="0">
                <a:solidFill>
                  <a:srgbClr val="FFFFFF"/>
                </a:solidFill>
                <a:latin typeface="Times New Roman"/>
                <a:cs typeface="Times New Roman"/>
              </a:rPr>
              <a:t>The </a:t>
            </a:r>
            <a:r>
              <a:rPr sz="2000" spc="135" dirty="0">
                <a:solidFill>
                  <a:srgbClr val="FFFFFF"/>
                </a:solidFill>
                <a:latin typeface="Times New Roman"/>
                <a:cs typeface="Times New Roman"/>
              </a:rPr>
              <a:t>HAVING </a:t>
            </a:r>
            <a:r>
              <a:rPr sz="2000" spc="40" dirty="0">
                <a:solidFill>
                  <a:srgbClr val="FFFFFF"/>
                </a:solidFill>
                <a:latin typeface="Times New Roman"/>
                <a:cs typeface="Times New Roman"/>
              </a:rPr>
              <a:t>clause </a:t>
            </a:r>
            <a:r>
              <a:rPr sz="2000" spc="45" dirty="0">
                <a:solidFill>
                  <a:srgbClr val="FFFFFF"/>
                </a:solidFill>
                <a:latin typeface="Times New Roman"/>
                <a:cs typeface="Times New Roman"/>
              </a:rPr>
              <a:t>acts </a:t>
            </a:r>
            <a:r>
              <a:rPr sz="2000" spc="20" dirty="0">
                <a:solidFill>
                  <a:srgbClr val="FFFFFF"/>
                </a:solidFill>
                <a:latin typeface="Times New Roman"/>
                <a:cs typeface="Times New Roman"/>
              </a:rPr>
              <a:t>as </a:t>
            </a:r>
            <a:r>
              <a:rPr sz="2000" spc="30" dirty="0">
                <a:solidFill>
                  <a:srgbClr val="FFFFFF"/>
                </a:solidFill>
                <a:latin typeface="Times New Roman"/>
                <a:cs typeface="Times New Roman"/>
              </a:rPr>
              <a:t>a </a:t>
            </a:r>
            <a:r>
              <a:rPr sz="2000" spc="105" dirty="0">
                <a:solidFill>
                  <a:srgbClr val="FFFFFF"/>
                </a:solidFill>
                <a:latin typeface="Times New Roman"/>
                <a:cs typeface="Times New Roman"/>
              </a:rPr>
              <a:t>WHERE </a:t>
            </a:r>
            <a:r>
              <a:rPr sz="2000" spc="40" dirty="0">
                <a:solidFill>
                  <a:srgbClr val="FFFFFF"/>
                </a:solidFill>
                <a:latin typeface="Times New Roman"/>
                <a:cs typeface="Times New Roman"/>
              </a:rPr>
              <a:t>clause </a:t>
            </a:r>
            <a:r>
              <a:rPr sz="2000" spc="95" dirty="0">
                <a:solidFill>
                  <a:srgbClr val="FFFFFF"/>
                </a:solidFill>
                <a:latin typeface="Times New Roman"/>
                <a:cs typeface="Times New Roman"/>
              </a:rPr>
              <a:t>in </a:t>
            </a:r>
            <a:r>
              <a:rPr sz="2000" spc="35" dirty="0">
                <a:solidFill>
                  <a:srgbClr val="FFFFFF"/>
                </a:solidFill>
                <a:latin typeface="Times New Roman"/>
                <a:cs typeface="Times New Roman"/>
              </a:rPr>
              <a:t>places </a:t>
            </a:r>
            <a:r>
              <a:rPr sz="2000" spc="75" dirty="0">
                <a:solidFill>
                  <a:srgbClr val="FFFFFF"/>
                </a:solidFill>
                <a:latin typeface="Times New Roman"/>
                <a:cs typeface="Times New Roman"/>
              </a:rPr>
              <a:t>where </a:t>
            </a:r>
            <a:r>
              <a:rPr sz="2000" spc="110" dirty="0">
                <a:solidFill>
                  <a:srgbClr val="FFFFFF"/>
                </a:solidFill>
                <a:latin typeface="Times New Roman"/>
                <a:cs typeface="Times New Roman"/>
              </a:rPr>
              <a:t>the  WHERE </a:t>
            </a:r>
            <a:r>
              <a:rPr sz="2000" spc="40" dirty="0">
                <a:solidFill>
                  <a:srgbClr val="FFFFFF"/>
                </a:solidFill>
                <a:latin typeface="Times New Roman"/>
                <a:cs typeface="Times New Roman"/>
              </a:rPr>
              <a:t>clause </a:t>
            </a:r>
            <a:r>
              <a:rPr sz="2000" spc="105" dirty="0">
                <a:solidFill>
                  <a:srgbClr val="FFFFFF"/>
                </a:solidFill>
                <a:latin typeface="Times New Roman"/>
                <a:cs typeface="Times New Roman"/>
              </a:rPr>
              <a:t>cannot </a:t>
            </a:r>
            <a:r>
              <a:rPr sz="2000" spc="70" dirty="0">
                <a:solidFill>
                  <a:srgbClr val="FFFFFF"/>
                </a:solidFill>
                <a:latin typeface="Times New Roman"/>
                <a:cs typeface="Times New Roman"/>
              </a:rPr>
              <a:t>be </a:t>
            </a:r>
            <a:r>
              <a:rPr sz="2000" spc="85" dirty="0">
                <a:solidFill>
                  <a:srgbClr val="FFFFFF"/>
                </a:solidFill>
                <a:latin typeface="Times New Roman"/>
                <a:cs typeface="Times New Roman"/>
              </a:rPr>
              <a:t>used </a:t>
            </a:r>
            <a:r>
              <a:rPr sz="2000" spc="50" dirty="0">
                <a:solidFill>
                  <a:srgbClr val="FFFFFF"/>
                </a:solidFill>
                <a:latin typeface="Times New Roman"/>
                <a:cs typeface="Times New Roman"/>
              </a:rPr>
              <a:t>against </a:t>
            </a:r>
            <a:r>
              <a:rPr sz="2000" spc="30" dirty="0">
                <a:solidFill>
                  <a:srgbClr val="FFFFFF"/>
                </a:solidFill>
                <a:latin typeface="Times New Roman"/>
                <a:cs typeface="Times New Roman"/>
              </a:rPr>
              <a:t>aggregate </a:t>
            </a:r>
            <a:r>
              <a:rPr sz="2000" spc="85" dirty="0">
                <a:solidFill>
                  <a:srgbClr val="FFFFFF"/>
                </a:solidFill>
                <a:latin typeface="Times New Roman"/>
                <a:cs typeface="Times New Roman"/>
              </a:rPr>
              <a:t>functions such </a:t>
            </a:r>
            <a:r>
              <a:rPr sz="2000" spc="20" dirty="0">
                <a:solidFill>
                  <a:srgbClr val="FFFFFF"/>
                </a:solidFill>
                <a:latin typeface="Times New Roman"/>
                <a:cs typeface="Times New Roman"/>
              </a:rPr>
              <a:t>as  </a:t>
            </a:r>
            <a:r>
              <a:rPr sz="2000" spc="45" dirty="0">
                <a:solidFill>
                  <a:srgbClr val="FFFFFF"/>
                </a:solidFill>
                <a:latin typeface="Times New Roman"/>
                <a:cs typeface="Times New Roman"/>
              </a:rPr>
              <a:t>SUM().</a:t>
            </a:r>
            <a:endParaRPr sz="2000">
              <a:latin typeface="Times New Roman"/>
              <a:cs typeface="Times New Roman"/>
            </a:endParaRPr>
          </a:p>
        </p:txBody>
      </p:sp>
      <p:sp>
        <p:nvSpPr>
          <p:cNvPr id="7" name="object 7"/>
          <p:cNvSpPr txBox="1"/>
          <p:nvPr/>
        </p:nvSpPr>
        <p:spPr>
          <a:xfrm>
            <a:off x="526541" y="965453"/>
            <a:ext cx="3644900" cy="391160"/>
          </a:xfrm>
          <a:prstGeom prst="rect">
            <a:avLst/>
          </a:prstGeom>
        </p:spPr>
        <p:txBody>
          <a:bodyPr vert="horz" wrap="square" lIns="0" tIns="12700" rIns="0" bIns="0" rtlCol="0">
            <a:spAutoFit/>
          </a:bodyPr>
          <a:lstStyle/>
          <a:p>
            <a:pPr marL="12700">
              <a:lnSpc>
                <a:spcPct val="100000"/>
              </a:lnSpc>
              <a:spcBef>
                <a:spcPts val="100"/>
              </a:spcBef>
            </a:pPr>
            <a:r>
              <a:rPr sz="2400" b="1" spc="20" dirty="0">
                <a:latin typeface="Arial"/>
                <a:cs typeface="Arial"/>
              </a:rPr>
              <a:t>GROUP</a:t>
            </a:r>
            <a:r>
              <a:rPr sz="2400" b="1" spc="-235" dirty="0">
                <a:latin typeface="Arial"/>
                <a:cs typeface="Arial"/>
              </a:rPr>
              <a:t> </a:t>
            </a:r>
            <a:r>
              <a:rPr sz="2400" b="1" spc="-70" dirty="0">
                <a:latin typeface="Arial"/>
                <a:cs typeface="Arial"/>
              </a:rPr>
              <a:t>BY</a:t>
            </a:r>
            <a:r>
              <a:rPr sz="2400" b="1" spc="-235" dirty="0">
                <a:latin typeface="Arial"/>
                <a:cs typeface="Arial"/>
              </a:rPr>
              <a:t> </a:t>
            </a:r>
            <a:r>
              <a:rPr sz="2400" b="1" spc="-35" dirty="0">
                <a:latin typeface="Arial"/>
                <a:cs typeface="Arial"/>
              </a:rPr>
              <a:t>with</a:t>
            </a:r>
            <a:r>
              <a:rPr sz="2400" b="1" spc="-220" dirty="0">
                <a:latin typeface="Arial"/>
                <a:cs typeface="Arial"/>
              </a:rPr>
              <a:t> </a:t>
            </a:r>
            <a:r>
              <a:rPr sz="2400" b="1" spc="160" dirty="0">
                <a:latin typeface="Arial"/>
                <a:cs typeface="Arial"/>
              </a:rPr>
              <a:t>HAVING</a:t>
            </a:r>
            <a:endParaRPr sz="2400">
              <a:latin typeface="Arial"/>
              <a:cs typeface="Arial"/>
            </a:endParaRPr>
          </a:p>
        </p:txBody>
      </p:sp>
      <p:sp>
        <p:nvSpPr>
          <p:cNvPr id="8" name="object 8"/>
          <p:cNvSpPr txBox="1"/>
          <p:nvPr/>
        </p:nvSpPr>
        <p:spPr>
          <a:xfrm>
            <a:off x="703580" y="3733800"/>
            <a:ext cx="687070" cy="269875"/>
          </a:xfrm>
          <a:prstGeom prst="rect">
            <a:avLst/>
          </a:prstGeom>
        </p:spPr>
        <p:txBody>
          <a:bodyPr vert="horz" wrap="square" lIns="0" tIns="12700" rIns="0" bIns="0" rtlCol="0">
            <a:spAutoFit/>
          </a:bodyPr>
          <a:lstStyle/>
          <a:p>
            <a:pPr marL="12700">
              <a:lnSpc>
                <a:spcPct val="100000"/>
              </a:lnSpc>
              <a:spcBef>
                <a:spcPts val="100"/>
              </a:spcBef>
            </a:pPr>
            <a:r>
              <a:rPr sz="1600" b="1" spc="-130" dirty="0">
                <a:latin typeface="Arial"/>
                <a:cs typeface="Arial"/>
              </a:rPr>
              <a:t>S</a:t>
            </a:r>
            <a:r>
              <a:rPr sz="1600" b="1" spc="-110" dirty="0">
                <a:latin typeface="Arial"/>
                <a:cs typeface="Arial"/>
              </a:rPr>
              <a:t>y</a:t>
            </a:r>
            <a:r>
              <a:rPr sz="1600" b="1" spc="-50" dirty="0">
                <a:latin typeface="Arial"/>
                <a:cs typeface="Arial"/>
              </a:rPr>
              <a:t>n</a:t>
            </a:r>
            <a:r>
              <a:rPr sz="1600" b="1" spc="5" dirty="0">
                <a:latin typeface="Arial"/>
                <a:cs typeface="Arial"/>
              </a:rPr>
              <a:t>t</a:t>
            </a:r>
            <a:r>
              <a:rPr sz="1600" b="1" spc="-170" dirty="0">
                <a:latin typeface="Arial"/>
                <a:cs typeface="Arial"/>
              </a:rPr>
              <a:t>a</a:t>
            </a:r>
            <a:r>
              <a:rPr sz="1600" b="1" spc="-30" dirty="0">
                <a:latin typeface="Arial"/>
                <a:cs typeface="Arial"/>
              </a:rPr>
              <a:t>x</a:t>
            </a:r>
            <a:r>
              <a:rPr sz="1600" b="1" spc="-120" dirty="0">
                <a:latin typeface="Arial"/>
                <a:cs typeface="Arial"/>
              </a:rPr>
              <a:t>:</a:t>
            </a:r>
            <a:endParaRPr sz="1600">
              <a:latin typeface="Arial"/>
              <a:cs typeface="Arial"/>
            </a:endParaRPr>
          </a:p>
        </p:txBody>
      </p:sp>
      <p:pic>
        <p:nvPicPr>
          <p:cNvPr id="9" name="object 9"/>
          <p:cNvPicPr/>
          <p:nvPr/>
        </p:nvPicPr>
        <p:blipFill>
          <a:blip r:embed="rId5" cstate="print"/>
          <a:stretch>
            <a:fillRect/>
          </a:stretch>
        </p:blipFill>
        <p:spPr>
          <a:xfrm>
            <a:off x="1247394" y="4133088"/>
            <a:ext cx="6794754" cy="591312"/>
          </a:xfrm>
          <a:prstGeom prst="rect">
            <a:avLst/>
          </a:prstGeom>
        </p:spPr>
      </p:pic>
      <p:sp>
        <p:nvSpPr>
          <p:cNvPr id="11" name="object 11"/>
          <p:cNvSpPr txBox="1"/>
          <p:nvPr/>
        </p:nvSpPr>
        <p:spPr>
          <a:xfrm>
            <a:off x="7912607" y="6569709"/>
            <a:ext cx="904875" cy="256540"/>
          </a:xfrm>
          <a:prstGeom prst="rect">
            <a:avLst/>
          </a:prstGeom>
        </p:spPr>
        <p:txBody>
          <a:bodyPr vert="horz" wrap="square" lIns="0" tIns="18415" rIns="0" bIns="0" rtlCol="0">
            <a:spAutoFit/>
          </a:bodyPr>
          <a:lstStyle/>
          <a:p>
            <a:pPr marL="12700">
              <a:lnSpc>
                <a:spcPct val="100000"/>
              </a:lnSpc>
              <a:spcBef>
                <a:spcPts val="145"/>
              </a:spcBef>
            </a:pPr>
            <a:r>
              <a:rPr sz="1800" spc="52" baseline="4629" dirty="0">
                <a:latin typeface="Times New Roman"/>
                <a:cs typeface="Times New Roman"/>
              </a:rPr>
              <a:t>Session </a:t>
            </a:r>
            <a:r>
              <a:rPr sz="1800" spc="104" baseline="4629" dirty="0">
                <a:latin typeface="Times New Roman"/>
                <a:cs typeface="Times New Roman"/>
              </a:rPr>
              <a:t>9/</a:t>
            </a:r>
            <a:r>
              <a:rPr sz="1800" spc="-262" baseline="4629" dirty="0">
                <a:latin typeface="Times New Roman"/>
                <a:cs typeface="Times New Roman"/>
              </a:rPr>
              <a:t> </a:t>
            </a:r>
            <a:fld id="{81D60167-4931-47E6-BA6A-407CBD079E47}" type="slidenum">
              <a:rPr sz="1200" spc="-5" dirty="0">
                <a:latin typeface="Times New Roman"/>
                <a:cs typeface="Times New Roman"/>
              </a:rPr>
              <a:t>8</a:t>
            </a:fld>
            <a:endParaRPr sz="1200">
              <a:latin typeface="Times New Roman"/>
              <a:cs typeface="Times New Roman"/>
            </a:endParaRPr>
          </a:p>
        </p:txBody>
      </p:sp>
      <p:sp>
        <p:nvSpPr>
          <p:cNvPr id="12" name="object 12"/>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pic>
        <p:nvPicPr>
          <p:cNvPr id="13" name="object 6">
            <a:extLst>
              <a:ext uri="{FF2B5EF4-FFF2-40B4-BE49-F238E27FC236}">
                <a16:creationId xmlns:a16="http://schemas.microsoft.com/office/drawing/2014/main" id="{3ACBCE94-DEA6-4DF9-8927-DD5E839DD087}"/>
              </a:ext>
            </a:extLst>
          </p:cNvPr>
          <p:cNvPicPr/>
          <p:nvPr/>
        </p:nvPicPr>
        <p:blipFill>
          <a:blip r:embed="rId6" cstate="print"/>
          <a:stretch>
            <a:fillRect/>
          </a:stretch>
        </p:blipFill>
        <p:spPr>
          <a:xfrm>
            <a:off x="2956179" y="4876800"/>
            <a:ext cx="3231641" cy="165353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9740" y="7366"/>
            <a:ext cx="4779645" cy="635635"/>
          </a:xfrm>
          <a:prstGeom prst="rect">
            <a:avLst/>
          </a:prstGeom>
        </p:spPr>
        <p:txBody>
          <a:bodyPr vert="horz" wrap="square" lIns="0" tIns="12700" rIns="0" bIns="0" rtlCol="0">
            <a:spAutoFit/>
          </a:bodyPr>
          <a:lstStyle/>
          <a:p>
            <a:pPr marL="12700">
              <a:lnSpc>
                <a:spcPct val="100000"/>
              </a:lnSpc>
              <a:spcBef>
                <a:spcPts val="100"/>
              </a:spcBef>
            </a:pPr>
            <a:r>
              <a:rPr spc="105" dirty="0"/>
              <a:t>Summarizing </a:t>
            </a:r>
            <a:r>
              <a:rPr spc="165" dirty="0"/>
              <a:t>Data</a:t>
            </a:r>
            <a:r>
              <a:rPr spc="-434" dirty="0"/>
              <a:t> </a:t>
            </a:r>
            <a:r>
              <a:rPr spc="-200" dirty="0"/>
              <a:t>1-4</a:t>
            </a:r>
          </a:p>
        </p:txBody>
      </p:sp>
      <p:sp>
        <p:nvSpPr>
          <p:cNvPr id="3" name="object 3"/>
          <p:cNvSpPr/>
          <p:nvPr/>
        </p:nvSpPr>
        <p:spPr>
          <a:xfrm>
            <a:off x="198120" y="1255775"/>
            <a:ext cx="8003540" cy="1388110"/>
          </a:xfrm>
          <a:custGeom>
            <a:avLst/>
            <a:gdLst/>
            <a:ahLst/>
            <a:cxnLst/>
            <a:rect l="l" t="t" r="r" b="b"/>
            <a:pathLst>
              <a:path w="8003540" h="1388110">
                <a:moveTo>
                  <a:pt x="8003286" y="179832"/>
                </a:moveTo>
                <a:lnTo>
                  <a:pt x="7997088" y="179832"/>
                </a:lnTo>
                <a:lnTo>
                  <a:pt x="7985112" y="141236"/>
                </a:lnTo>
                <a:lnTo>
                  <a:pt x="7963789" y="101955"/>
                </a:lnTo>
                <a:lnTo>
                  <a:pt x="7935557" y="67729"/>
                </a:lnTo>
                <a:lnTo>
                  <a:pt x="7901330" y="39497"/>
                </a:lnTo>
                <a:lnTo>
                  <a:pt x="7862049" y="18173"/>
                </a:lnTo>
                <a:lnTo>
                  <a:pt x="7818628" y="4699"/>
                </a:lnTo>
                <a:lnTo>
                  <a:pt x="7772019" y="0"/>
                </a:lnTo>
                <a:lnTo>
                  <a:pt x="231267" y="0"/>
                </a:lnTo>
                <a:lnTo>
                  <a:pt x="184658" y="4699"/>
                </a:lnTo>
                <a:lnTo>
                  <a:pt x="141236" y="18173"/>
                </a:lnTo>
                <a:lnTo>
                  <a:pt x="101955" y="39497"/>
                </a:lnTo>
                <a:lnTo>
                  <a:pt x="67729" y="67729"/>
                </a:lnTo>
                <a:lnTo>
                  <a:pt x="39497" y="101955"/>
                </a:lnTo>
                <a:lnTo>
                  <a:pt x="18173" y="141236"/>
                </a:lnTo>
                <a:lnTo>
                  <a:pt x="4686" y="184658"/>
                </a:lnTo>
                <a:lnTo>
                  <a:pt x="0" y="231267"/>
                </a:lnTo>
                <a:lnTo>
                  <a:pt x="0" y="1156335"/>
                </a:lnTo>
                <a:lnTo>
                  <a:pt x="4686" y="1202956"/>
                </a:lnTo>
                <a:lnTo>
                  <a:pt x="18173" y="1246378"/>
                </a:lnTo>
                <a:lnTo>
                  <a:pt x="39497" y="1285659"/>
                </a:lnTo>
                <a:lnTo>
                  <a:pt x="67729" y="1319885"/>
                </a:lnTo>
                <a:lnTo>
                  <a:pt x="101955" y="1348117"/>
                </a:lnTo>
                <a:lnTo>
                  <a:pt x="141236" y="1369441"/>
                </a:lnTo>
                <a:lnTo>
                  <a:pt x="184658" y="1382915"/>
                </a:lnTo>
                <a:lnTo>
                  <a:pt x="231267" y="1387602"/>
                </a:lnTo>
                <a:lnTo>
                  <a:pt x="7772019" y="1387602"/>
                </a:lnTo>
                <a:lnTo>
                  <a:pt x="7818628" y="1382915"/>
                </a:lnTo>
                <a:lnTo>
                  <a:pt x="7862049" y="1369441"/>
                </a:lnTo>
                <a:lnTo>
                  <a:pt x="7901330" y="1348117"/>
                </a:lnTo>
                <a:lnTo>
                  <a:pt x="7935557" y="1319885"/>
                </a:lnTo>
                <a:lnTo>
                  <a:pt x="7963789" y="1285659"/>
                </a:lnTo>
                <a:lnTo>
                  <a:pt x="7985112" y="1246378"/>
                </a:lnTo>
                <a:lnTo>
                  <a:pt x="7997088" y="1207770"/>
                </a:lnTo>
                <a:lnTo>
                  <a:pt x="8003286" y="1207770"/>
                </a:lnTo>
                <a:lnTo>
                  <a:pt x="8003286" y="1156335"/>
                </a:lnTo>
                <a:lnTo>
                  <a:pt x="8003286" y="231267"/>
                </a:lnTo>
                <a:lnTo>
                  <a:pt x="8003286" y="179832"/>
                </a:lnTo>
                <a:close/>
              </a:path>
            </a:pathLst>
          </a:custGeom>
          <a:solidFill>
            <a:srgbClr val="000000"/>
          </a:solidFill>
        </p:spPr>
        <p:txBody>
          <a:bodyPr wrap="square" lIns="0" tIns="0" rIns="0" bIns="0" rtlCol="0"/>
          <a:lstStyle/>
          <a:p>
            <a:endParaRPr/>
          </a:p>
        </p:txBody>
      </p:sp>
      <p:sp>
        <p:nvSpPr>
          <p:cNvPr id="4" name="object 4"/>
          <p:cNvSpPr txBox="1"/>
          <p:nvPr/>
        </p:nvSpPr>
        <p:spPr>
          <a:xfrm>
            <a:off x="398525" y="1520190"/>
            <a:ext cx="7740015" cy="720725"/>
          </a:xfrm>
          <a:prstGeom prst="rect">
            <a:avLst/>
          </a:prstGeom>
        </p:spPr>
        <p:txBody>
          <a:bodyPr vert="horz" wrap="square" lIns="0" tIns="53975" rIns="0" bIns="0" rtlCol="0">
            <a:spAutoFit/>
          </a:bodyPr>
          <a:lstStyle/>
          <a:p>
            <a:pPr marL="355600" marR="5080" indent="-342900">
              <a:lnSpc>
                <a:spcPts val="2590"/>
              </a:lnSpc>
              <a:spcBef>
                <a:spcPts val="425"/>
              </a:spcBef>
              <a:buFont typeface="Wingdings"/>
              <a:buChar char=""/>
              <a:tabLst>
                <a:tab pos="355600" algn="l"/>
              </a:tabLst>
            </a:pPr>
            <a:r>
              <a:rPr sz="2400" spc="180" dirty="0">
                <a:solidFill>
                  <a:srgbClr val="FFFFFF"/>
                </a:solidFill>
                <a:latin typeface="Times New Roman"/>
                <a:cs typeface="Times New Roman"/>
              </a:rPr>
              <a:t>GROUP </a:t>
            </a:r>
            <a:r>
              <a:rPr sz="2400" spc="-60" dirty="0">
                <a:solidFill>
                  <a:srgbClr val="FFFFFF"/>
                </a:solidFill>
                <a:latin typeface="Times New Roman"/>
                <a:cs typeface="Times New Roman"/>
              </a:rPr>
              <a:t>BY </a:t>
            </a:r>
            <a:r>
              <a:rPr sz="2400" spc="50" dirty="0">
                <a:solidFill>
                  <a:srgbClr val="FFFFFF"/>
                </a:solidFill>
                <a:latin typeface="Times New Roman"/>
                <a:cs typeface="Times New Roman"/>
              </a:rPr>
              <a:t>clause </a:t>
            </a:r>
            <a:r>
              <a:rPr sz="2400" spc="40" dirty="0">
                <a:solidFill>
                  <a:srgbClr val="FFFFFF"/>
                </a:solidFill>
                <a:latin typeface="Times New Roman"/>
                <a:cs typeface="Times New Roman"/>
              </a:rPr>
              <a:t>also </a:t>
            </a:r>
            <a:r>
              <a:rPr sz="2400" spc="60" dirty="0">
                <a:solidFill>
                  <a:srgbClr val="FFFFFF"/>
                </a:solidFill>
                <a:latin typeface="Times New Roman"/>
                <a:cs typeface="Times New Roman"/>
              </a:rPr>
              <a:t>uses </a:t>
            </a:r>
            <a:r>
              <a:rPr sz="2400" spc="90" dirty="0">
                <a:solidFill>
                  <a:srgbClr val="FFFFFF"/>
                </a:solidFill>
                <a:latin typeface="Times New Roman"/>
                <a:cs typeface="Times New Roman"/>
              </a:rPr>
              <a:t>operators </a:t>
            </a:r>
            <a:r>
              <a:rPr sz="2400" spc="100" dirty="0">
                <a:solidFill>
                  <a:srgbClr val="FFFFFF"/>
                </a:solidFill>
                <a:latin typeface="Times New Roman"/>
                <a:cs typeface="Times New Roman"/>
              </a:rPr>
              <a:t>such </a:t>
            </a:r>
            <a:r>
              <a:rPr sz="2400" spc="25" dirty="0">
                <a:solidFill>
                  <a:srgbClr val="FFFFFF"/>
                </a:solidFill>
                <a:latin typeface="Times New Roman"/>
                <a:cs typeface="Times New Roman"/>
              </a:rPr>
              <a:t>as </a:t>
            </a:r>
            <a:r>
              <a:rPr sz="2400" spc="110" dirty="0">
                <a:solidFill>
                  <a:srgbClr val="FFFFFF"/>
                </a:solidFill>
                <a:latin typeface="Times New Roman"/>
                <a:cs typeface="Times New Roman"/>
              </a:rPr>
              <a:t>CUBE  </a:t>
            </a:r>
            <a:r>
              <a:rPr sz="2400" spc="135" dirty="0">
                <a:solidFill>
                  <a:srgbClr val="FFFFFF"/>
                </a:solidFill>
                <a:latin typeface="Times New Roman"/>
                <a:cs typeface="Times New Roman"/>
              </a:rPr>
              <a:t>and</a:t>
            </a:r>
            <a:r>
              <a:rPr sz="2400" spc="-90" dirty="0">
                <a:solidFill>
                  <a:srgbClr val="FFFFFF"/>
                </a:solidFill>
                <a:latin typeface="Times New Roman"/>
                <a:cs typeface="Times New Roman"/>
              </a:rPr>
              <a:t> </a:t>
            </a:r>
            <a:r>
              <a:rPr sz="2400" spc="105" dirty="0">
                <a:solidFill>
                  <a:srgbClr val="FFFFFF"/>
                </a:solidFill>
                <a:latin typeface="Times New Roman"/>
                <a:cs typeface="Times New Roman"/>
              </a:rPr>
              <a:t>ROLLUP</a:t>
            </a:r>
            <a:r>
              <a:rPr sz="2400" spc="-90" dirty="0">
                <a:solidFill>
                  <a:srgbClr val="FFFFFF"/>
                </a:solidFill>
                <a:latin typeface="Times New Roman"/>
                <a:cs typeface="Times New Roman"/>
              </a:rPr>
              <a:t> </a:t>
            </a:r>
            <a:r>
              <a:rPr sz="2400" spc="130" dirty="0">
                <a:solidFill>
                  <a:srgbClr val="FFFFFF"/>
                </a:solidFill>
                <a:latin typeface="Times New Roman"/>
                <a:cs typeface="Times New Roman"/>
              </a:rPr>
              <a:t>to</a:t>
            </a:r>
            <a:r>
              <a:rPr sz="2400" spc="-85" dirty="0">
                <a:solidFill>
                  <a:srgbClr val="FFFFFF"/>
                </a:solidFill>
                <a:latin typeface="Times New Roman"/>
                <a:cs typeface="Times New Roman"/>
              </a:rPr>
              <a:t> </a:t>
            </a:r>
            <a:r>
              <a:rPr sz="2400" spc="130" dirty="0">
                <a:solidFill>
                  <a:srgbClr val="FFFFFF"/>
                </a:solidFill>
                <a:latin typeface="Times New Roman"/>
                <a:cs typeface="Times New Roman"/>
              </a:rPr>
              <a:t>return</a:t>
            </a:r>
            <a:r>
              <a:rPr sz="2400" spc="-90" dirty="0">
                <a:solidFill>
                  <a:srgbClr val="FFFFFF"/>
                </a:solidFill>
                <a:latin typeface="Times New Roman"/>
                <a:cs typeface="Times New Roman"/>
              </a:rPr>
              <a:t> </a:t>
            </a:r>
            <a:r>
              <a:rPr sz="2400" spc="60" dirty="0">
                <a:solidFill>
                  <a:srgbClr val="FFFFFF"/>
                </a:solidFill>
                <a:latin typeface="Times New Roman"/>
                <a:cs typeface="Times New Roman"/>
              </a:rPr>
              <a:t>summarized</a:t>
            </a:r>
            <a:r>
              <a:rPr sz="2400" spc="-80" dirty="0">
                <a:solidFill>
                  <a:srgbClr val="FFFFFF"/>
                </a:solidFill>
                <a:latin typeface="Times New Roman"/>
                <a:cs typeface="Times New Roman"/>
              </a:rPr>
              <a:t> </a:t>
            </a:r>
            <a:r>
              <a:rPr sz="2400" spc="75" dirty="0">
                <a:solidFill>
                  <a:srgbClr val="FFFFFF"/>
                </a:solidFill>
                <a:latin typeface="Times New Roman"/>
                <a:cs typeface="Times New Roman"/>
              </a:rPr>
              <a:t>data.</a:t>
            </a:r>
            <a:endParaRPr sz="2400">
              <a:latin typeface="Times New Roman"/>
              <a:cs typeface="Times New Roman"/>
            </a:endParaRPr>
          </a:p>
        </p:txBody>
      </p:sp>
      <p:sp>
        <p:nvSpPr>
          <p:cNvPr id="5" name="object 5"/>
          <p:cNvSpPr/>
          <p:nvPr/>
        </p:nvSpPr>
        <p:spPr>
          <a:xfrm>
            <a:off x="870966" y="3241547"/>
            <a:ext cx="8003540" cy="1386840"/>
          </a:xfrm>
          <a:custGeom>
            <a:avLst/>
            <a:gdLst/>
            <a:ahLst/>
            <a:cxnLst/>
            <a:rect l="l" t="t" r="r" b="b"/>
            <a:pathLst>
              <a:path w="8003540" h="1386839">
                <a:moveTo>
                  <a:pt x="8003286" y="179082"/>
                </a:moveTo>
                <a:lnTo>
                  <a:pt x="7996872" y="179082"/>
                </a:lnTo>
                <a:lnTo>
                  <a:pt x="7985112" y="141185"/>
                </a:lnTo>
                <a:lnTo>
                  <a:pt x="7963802" y="101917"/>
                </a:lnTo>
                <a:lnTo>
                  <a:pt x="7935569" y="67716"/>
                </a:lnTo>
                <a:lnTo>
                  <a:pt x="7901368" y="39484"/>
                </a:lnTo>
                <a:lnTo>
                  <a:pt x="7862100" y="18173"/>
                </a:lnTo>
                <a:lnTo>
                  <a:pt x="7818717" y="4699"/>
                </a:lnTo>
                <a:lnTo>
                  <a:pt x="7772146" y="0"/>
                </a:lnTo>
                <a:lnTo>
                  <a:pt x="231140" y="0"/>
                </a:lnTo>
                <a:lnTo>
                  <a:pt x="184556" y="4699"/>
                </a:lnTo>
                <a:lnTo>
                  <a:pt x="141160" y="18173"/>
                </a:lnTo>
                <a:lnTo>
                  <a:pt x="101904" y="39484"/>
                </a:lnTo>
                <a:lnTo>
                  <a:pt x="67691" y="67716"/>
                </a:lnTo>
                <a:lnTo>
                  <a:pt x="39471" y="101917"/>
                </a:lnTo>
                <a:lnTo>
                  <a:pt x="18161" y="141185"/>
                </a:lnTo>
                <a:lnTo>
                  <a:pt x="4686" y="184569"/>
                </a:lnTo>
                <a:lnTo>
                  <a:pt x="0" y="231140"/>
                </a:lnTo>
                <a:lnTo>
                  <a:pt x="0" y="1155700"/>
                </a:lnTo>
                <a:lnTo>
                  <a:pt x="4686" y="1202283"/>
                </a:lnTo>
                <a:lnTo>
                  <a:pt x="18161" y="1245666"/>
                </a:lnTo>
                <a:lnTo>
                  <a:pt x="39471" y="1284935"/>
                </a:lnTo>
                <a:lnTo>
                  <a:pt x="67691" y="1319136"/>
                </a:lnTo>
                <a:lnTo>
                  <a:pt x="101904" y="1347368"/>
                </a:lnTo>
                <a:lnTo>
                  <a:pt x="141160" y="1368679"/>
                </a:lnTo>
                <a:lnTo>
                  <a:pt x="184556" y="1382153"/>
                </a:lnTo>
                <a:lnTo>
                  <a:pt x="231140" y="1386840"/>
                </a:lnTo>
                <a:lnTo>
                  <a:pt x="7772146" y="1386840"/>
                </a:lnTo>
                <a:lnTo>
                  <a:pt x="7818717" y="1382153"/>
                </a:lnTo>
                <a:lnTo>
                  <a:pt x="7862100" y="1368679"/>
                </a:lnTo>
                <a:lnTo>
                  <a:pt x="7901368" y="1347368"/>
                </a:lnTo>
                <a:lnTo>
                  <a:pt x="7935569" y="1319136"/>
                </a:lnTo>
                <a:lnTo>
                  <a:pt x="7963802" y="1284935"/>
                </a:lnTo>
                <a:lnTo>
                  <a:pt x="7985112" y="1245666"/>
                </a:lnTo>
                <a:lnTo>
                  <a:pt x="7997114" y="1207008"/>
                </a:lnTo>
                <a:lnTo>
                  <a:pt x="8003286" y="1207008"/>
                </a:lnTo>
                <a:lnTo>
                  <a:pt x="8003286" y="1155700"/>
                </a:lnTo>
                <a:lnTo>
                  <a:pt x="8003286" y="231140"/>
                </a:lnTo>
                <a:lnTo>
                  <a:pt x="8003286" y="179082"/>
                </a:lnTo>
                <a:close/>
              </a:path>
            </a:pathLst>
          </a:custGeom>
          <a:solidFill>
            <a:srgbClr val="4F81BC"/>
          </a:solidFill>
        </p:spPr>
        <p:txBody>
          <a:bodyPr wrap="square" lIns="0" tIns="0" rIns="0" bIns="0" rtlCol="0"/>
          <a:lstStyle/>
          <a:p>
            <a:endParaRPr/>
          </a:p>
        </p:txBody>
      </p:sp>
      <p:sp>
        <p:nvSpPr>
          <p:cNvPr id="6" name="object 6"/>
          <p:cNvSpPr txBox="1"/>
          <p:nvPr/>
        </p:nvSpPr>
        <p:spPr>
          <a:xfrm>
            <a:off x="1071372" y="3575050"/>
            <a:ext cx="7739380" cy="604520"/>
          </a:xfrm>
          <a:prstGeom prst="rect">
            <a:avLst/>
          </a:prstGeom>
        </p:spPr>
        <p:txBody>
          <a:bodyPr vert="horz" wrap="square" lIns="0" tIns="46990" rIns="0" bIns="0" rtlCol="0">
            <a:spAutoFit/>
          </a:bodyPr>
          <a:lstStyle/>
          <a:p>
            <a:pPr marL="355600" marR="5080" indent="-342900">
              <a:lnSpc>
                <a:spcPts val="2160"/>
              </a:lnSpc>
              <a:spcBef>
                <a:spcPts val="370"/>
              </a:spcBef>
              <a:buFont typeface="Wingdings"/>
              <a:buChar char=""/>
              <a:tabLst>
                <a:tab pos="354965" algn="l"/>
                <a:tab pos="355600" algn="l"/>
              </a:tabLst>
            </a:pPr>
            <a:r>
              <a:rPr sz="2000" spc="100" dirty="0">
                <a:solidFill>
                  <a:srgbClr val="FFFFFF"/>
                </a:solidFill>
                <a:latin typeface="Times New Roman"/>
                <a:cs typeface="Times New Roman"/>
              </a:rPr>
              <a:t>Number </a:t>
            </a:r>
            <a:r>
              <a:rPr sz="2000" spc="55" dirty="0">
                <a:solidFill>
                  <a:srgbClr val="FFFFFF"/>
                </a:solidFill>
                <a:latin typeface="Times New Roman"/>
                <a:cs typeface="Times New Roman"/>
              </a:rPr>
              <a:t>of </a:t>
            </a:r>
            <a:r>
              <a:rPr sz="2000" spc="80" dirty="0">
                <a:solidFill>
                  <a:srgbClr val="FFFFFF"/>
                </a:solidFill>
                <a:latin typeface="Times New Roman"/>
                <a:cs typeface="Times New Roman"/>
              </a:rPr>
              <a:t>columns </a:t>
            </a:r>
            <a:r>
              <a:rPr sz="2000" spc="95" dirty="0">
                <a:solidFill>
                  <a:srgbClr val="FFFFFF"/>
                </a:solidFill>
                <a:latin typeface="Times New Roman"/>
                <a:cs typeface="Times New Roman"/>
              </a:rPr>
              <a:t>in </a:t>
            </a:r>
            <a:r>
              <a:rPr sz="2000" spc="110" dirty="0">
                <a:solidFill>
                  <a:srgbClr val="FFFFFF"/>
                </a:solidFill>
                <a:latin typeface="Times New Roman"/>
                <a:cs typeface="Times New Roman"/>
              </a:rPr>
              <a:t>the </a:t>
            </a:r>
            <a:r>
              <a:rPr sz="2000" spc="145" dirty="0">
                <a:solidFill>
                  <a:srgbClr val="FFFFFF"/>
                </a:solidFill>
                <a:latin typeface="Times New Roman"/>
                <a:cs typeface="Times New Roman"/>
              </a:rPr>
              <a:t>GROUP </a:t>
            </a:r>
            <a:r>
              <a:rPr sz="2000" spc="-50" dirty="0">
                <a:solidFill>
                  <a:srgbClr val="FFFFFF"/>
                </a:solidFill>
                <a:latin typeface="Times New Roman"/>
                <a:cs typeface="Times New Roman"/>
              </a:rPr>
              <a:t>BY </a:t>
            </a:r>
            <a:r>
              <a:rPr sz="2000" spc="40" dirty="0">
                <a:solidFill>
                  <a:srgbClr val="FFFFFF"/>
                </a:solidFill>
                <a:latin typeface="Times New Roman"/>
                <a:cs typeface="Times New Roman"/>
              </a:rPr>
              <a:t>clause </a:t>
            </a:r>
            <a:r>
              <a:rPr sz="2000" spc="75" dirty="0">
                <a:solidFill>
                  <a:srgbClr val="FFFFFF"/>
                </a:solidFill>
                <a:latin typeface="Times New Roman"/>
                <a:cs typeface="Times New Roman"/>
              </a:rPr>
              <a:t>determines </a:t>
            </a:r>
            <a:r>
              <a:rPr sz="2000" spc="105" dirty="0">
                <a:solidFill>
                  <a:srgbClr val="FFFFFF"/>
                </a:solidFill>
                <a:latin typeface="Times New Roman"/>
                <a:cs typeface="Times New Roman"/>
              </a:rPr>
              <a:t>number  </a:t>
            </a:r>
            <a:r>
              <a:rPr sz="2000" spc="55" dirty="0">
                <a:solidFill>
                  <a:srgbClr val="FFFFFF"/>
                </a:solidFill>
                <a:latin typeface="Times New Roman"/>
                <a:cs typeface="Times New Roman"/>
              </a:rPr>
              <a:t>of</a:t>
            </a:r>
            <a:r>
              <a:rPr sz="2000" spc="-75" dirty="0">
                <a:solidFill>
                  <a:srgbClr val="FFFFFF"/>
                </a:solidFill>
                <a:latin typeface="Times New Roman"/>
                <a:cs typeface="Times New Roman"/>
              </a:rPr>
              <a:t> </a:t>
            </a:r>
            <a:r>
              <a:rPr sz="2000" spc="65" dirty="0">
                <a:solidFill>
                  <a:srgbClr val="FFFFFF"/>
                </a:solidFill>
                <a:latin typeface="Times New Roman"/>
                <a:cs typeface="Times New Roman"/>
              </a:rPr>
              <a:t>summary</a:t>
            </a:r>
            <a:r>
              <a:rPr sz="2000" spc="-75" dirty="0">
                <a:solidFill>
                  <a:srgbClr val="FFFFFF"/>
                </a:solidFill>
                <a:latin typeface="Times New Roman"/>
                <a:cs typeface="Times New Roman"/>
              </a:rPr>
              <a:t> </a:t>
            </a:r>
            <a:r>
              <a:rPr sz="2000" spc="55" dirty="0">
                <a:solidFill>
                  <a:srgbClr val="FFFFFF"/>
                </a:solidFill>
                <a:latin typeface="Times New Roman"/>
                <a:cs typeface="Times New Roman"/>
              </a:rPr>
              <a:t>rows</a:t>
            </a:r>
            <a:r>
              <a:rPr sz="2000" spc="-60" dirty="0">
                <a:solidFill>
                  <a:srgbClr val="FFFFFF"/>
                </a:solidFill>
                <a:latin typeface="Times New Roman"/>
                <a:cs typeface="Times New Roman"/>
              </a:rPr>
              <a:t> </a:t>
            </a:r>
            <a:r>
              <a:rPr sz="2000" spc="95" dirty="0">
                <a:solidFill>
                  <a:srgbClr val="FFFFFF"/>
                </a:solidFill>
                <a:latin typeface="Times New Roman"/>
                <a:cs typeface="Times New Roman"/>
              </a:rPr>
              <a:t>in</a:t>
            </a:r>
            <a:r>
              <a:rPr sz="2000" spc="-80" dirty="0">
                <a:solidFill>
                  <a:srgbClr val="FFFFFF"/>
                </a:solidFill>
                <a:latin typeface="Times New Roman"/>
                <a:cs typeface="Times New Roman"/>
              </a:rPr>
              <a:t> </a:t>
            </a:r>
            <a:r>
              <a:rPr sz="2000" spc="110" dirty="0">
                <a:solidFill>
                  <a:srgbClr val="FFFFFF"/>
                </a:solidFill>
                <a:latin typeface="Times New Roman"/>
                <a:cs typeface="Times New Roman"/>
              </a:rPr>
              <a:t>the</a:t>
            </a:r>
            <a:r>
              <a:rPr sz="2000" spc="-60" dirty="0">
                <a:solidFill>
                  <a:srgbClr val="FFFFFF"/>
                </a:solidFill>
                <a:latin typeface="Times New Roman"/>
                <a:cs typeface="Times New Roman"/>
              </a:rPr>
              <a:t> </a:t>
            </a:r>
            <a:r>
              <a:rPr sz="2000" spc="55" dirty="0">
                <a:solidFill>
                  <a:srgbClr val="FFFFFF"/>
                </a:solidFill>
                <a:latin typeface="Times New Roman"/>
                <a:cs typeface="Times New Roman"/>
              </a:rPr>
              <a:t>resultset.</a:t>
            </a:r>
            <a:endParaRPr sz="2000">
              <a:latin typeface="Times New Roman"/>
              <a:cs typeface="Times New Roman"/>
            </a:endParaRPr>
          </a:p>
        </p:txBody>
      </p:sp>
      <p:sp>
        <p:nvSpPr>
          <p:cNvPr id="9" name="object 9"/>
          <p:cNvSpPr txBox="1"/>
          <p:nvPr/>
        </p:nvSpPr>
        <p:spPr>
          <a:xfrm>
            <a:off x="7912607" y="6569709"/>
            <a:ext cx="904875" cy="256540"/>
          </a:xfrm>
          <a:prstGeom prst="rect">
            <a:avLst/>
          </a:prstGeom>
        </p:spPr>
        <p:txBody>
          <a:bodyPr vert="horz" wrap="square" lIns="0" tIns="18415" rIns="0" bIns="0" rtlCol="0">
            <a:spAutoFit/>
          </a:bodyPr>
          <a:lstStyle/>
          <a:p>
            <a:pPr marL="12700">
              <a:lnSpc>
                <a:spcPct val="100000"/>
              </a:lnSpc>
              <a:spcBef>
                <a:spcPts val="145"/>
              </a:spcBef>
            </a:pPr>
            <a:r>
              <a:rPr sz="1800" spc="52" baseline="4629" dirty="0">
                <a:latin typeface="Times New Roman"/>
                <a:cs typeface="Times New Roman"/>
              </a:rPr>
              <a:t>Session </a:t>
            </a:r>
            <a:r>
              <a:rPr sz="1800" spc="104" baseline="4629" dirty="0">
                <a:latin typeface="Times New Roman"/>
                <a:cs typeface="Times New Roman"/>
              </a:rPr>
              <a:t>9/</a:t>
            </a:r>
            <a:r>
              <a:rPr sz="1800" spc="-262" baseline="4629" dirty="0">
                <a:latin typeface="Times New Roman"/>
                <a:cs typeface="Times New Roman"/>
              </a:rPr>
              <a:t> </a:t>
            </a:r>
            <a:fld id="{81D60167-4931-47E6-BA6A-407CBD079E47}" type="slidenum">
              <a:rPr sz="1200" spc="-5" dirty="0">
                <a:latin typeface="Times New Roman"/>
                <a:cs typeface="Times New Roman"/>
              </a:rPr>
              <a:t>9</a:t>
            </a:fld>
            <a:endParaRPr sz="1200">
              <a:latin typeface="Times New Roman"/>
              <a:cs typeface="Times New Roman"/>
            </a:endParaRPr>
          </a:p>
        </p:txBody>
      </p:sp>
      <p:sp>
        <p:nvSpPr>
          <p:cNvPr id="10" name="object 10"/>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9740" y="7366"/>
            <a:ext cx="4844415" cy="635635"/>
          </a:xfrm>
          <a:prstGeom prst="rect">
            <a:avLst/>
          </a:prstGeom>
        </p:spPr>
        <p:txBody>
          <a:bodyPr vert="horz" wrap="square" lIns="0" tIns="12700" rIns="0" bIns="0" rtlCol="0">
            <a:spAutoFit/>
          </a:bodyPr>
          <a:lstStyle/>
          <a:p>
            <a:pPr marL="12700">
              <a:lnSpc>
                <a:spcPct val="100000"/>
              </a:lnSpc>
              <a:spcBef>
                <a:spcPts val="100"/>
              </a:spcBef>
            </a:pPr>
            <a:r>
              <a:rPr spc="105" dirty="0"/>
              <a:t>Summarizing </a:t>
            </a:r>
            <a:r>
              <a:rPr spc="165" dirty="0"/>
              <a:t>Data</a:t>
            </a:r>
            <a:r>
              <a:rPr spc="-434" dirty="0"/>
              <a:t> </a:t>
            </a:r>
            <a:r>
              <a:rPr spc="-30" dirty="0"/>
              <a:t>2-4</a:t>
            </a:r>
          </a:p>
        </p:txBody>
      </p:sp>
      <p:sp>
        <p:nvSpPr>
          <p:cNvPr id="3" name="object 3"/>
          <p:cNvSpPr txBox="1"/>
          <p:nvPr/>
        </p:nvSpPr>
        <p:spPr>
          <a:xfrm>
            <a:off x="509269" y="926846"/>
            <a:ext cx="962660" cy="391160"/>
          </a:xfrm>
          <a:prstGeom prst="rect">
            <a:avLst/>
          </a:prstGeom>
        </p:spPr>
        <p:txBody>
          <a:bodyPr vert="horz" wrap="square" lIns="0" tIns="12700" rIns="0" bIns="0" rtlCol="0">
            <a:spAutoFit/>
          </a:bodyPr>
          <a:lstStyle/>
          <a:p>
            <a:pPr marL="12700">
              <a:lnSpc>
                <a:spcPct val="100000"/>
              </a:lnSpc>
              <a:spcBef>
                <a:spcPts val="100"/>
              </a:spcBef>
            </a:pPr>
            <a:r>
              <a:rPr sz="2400" b="1" spc="170" dirty="0">
                <a:latin typeface="Arial"/>
                <a:cs typeface="Arial"/>
              </a:rPr>
              <a:t>C</a:t>
            </a:r>
            <a:r>
              <a:rPr sz="2400" b="1" spc="190" dirty="0">
                <a:latin typeface="Arial"/>
                <a:cs typeface="Arial"/>
              </a:rPr>
              <a:t>U</a:t>
            </a:r>
            <a:r>
              <a:rPr sz="2400" b="1" spc="-245" dirty="0">
                <a:latin typeface="Arial"/>
                <a:cs typeface="Arial"/>
              </a:rPr>
              <a:t>B</a:t>
            </a:r>
            <a:r>
              <a:rPr sz="2400" b="1" spc="-180" dirty="0">
                <a:latin typeface="Arial"/>
                <a:cs typeface="Arial"/>
              </a:rPr>
              <a:t>E:</a:t>
            </a:r>
            <a:endParaRPr sz="2400">
              <a:latin typeface="Arial"/>
              <a:cs typeface="Arial"/>
            </a:endParaRPr>
          </a:p>
        </p:txBody>
      </p:sp>
      <p:sp>
        <p:nvSpPr>
          <p:cNvPr id="5" name="object 5"/>
          <p:cNvSpPr txBox="1"/>
          <p:nvPr/>
        </p:nvSpPr>
        <p:spPr>
          <a:xfrm>
            <a:off x="3345941" y="6014973"/>
            <a:ext cx="2364740" cy="238760"/>
          </a:xfrm>
          <a:prstGeom prst="rect">
            <a:avLst/>
          </a:prstGeom>
        </p:spPr>
        <p:txBody>
          <a:bodyPr vert="horz" wrap="square" lIns="0" tIns="12065" rIns="0" bIns="0" rtlCol="0">
            <a:spAutoFit/>
          </a:bodyPr>
          <a:lstStyle/>
          <a:p>
            <a:pPr marL="12700">
              <a:lnSpc>
                <a:spcPct val="100000"/>
              </a:lnSpc>
              <a:spcBef>
                <a:spcPts val="95"/>
              </a:spcBef>
            </a:pPr>
            <a:r>
              <a:rPr sz="1400" b="1" spc="-70" dirty="0">
                <a:latin typeface="Arial"/>
                <a:cs typeface="Arial"/>
              </a:rPr>
              <a:t>Using</a:t>
            </a:r>
            <a:r>
              <a:rPr sz="1400" b="1" spc="-130" dirty="0">
                <a:latin typeface="Arial"/>
                <a:cs typeface="Arial"/>
              </a:rPr>
              <a:t> </a:t>
            </a:r>
            <a:r>
              <a:rPr sz="1400" b="1" spc="10" dirty="0">
                <a:latin typeface="Arial"/>
                <a:cs typeface="Arial"/>
              </a:rPr>
              <a:t>GROUP</a:t>
            </a:r>
            <a:r>
              <a:rPr sz="1400" b="1" spc="-125" dirty="0">
                <a:latin typeface="Arial"/>
                <a:cs typeface="Arial"/>
              </a:rPr>
              <a:t> </a:t>
            </a:r>
            <a:r>
              <a:rPr sz="1400" b="1" spc="-45" dirty="0">
                <a:latin typeface="Arial"/>
                <a:cs typeface="Arial"/>
              </a:rPr>
              <a:t>BY</a:t>
            </a:r>
            <a:r>
              <a:rPr sz="1400" b="1" spc="-130" dirty="0">
                <a:latin typeface="Arial"/>
                <a:cs typeface="Arial"/>
              </a:rPr>
              <a:t> </a:t>
            </a:r>
            <a:r>
              <a:rPr sz="1400" b="1" spc="-25" dirty="0">
                <a:latin typeface="Arial"/>
                <a:cs typeface="Arial"/>
              </a:rPr>
              <a:t>with</a:t>
            </a:r>
            <a:r>
              <a:rPr sz="1400" b="1" spc="-125" dirty="0">
                <a:latin typeface="Arial"/>
                <a:cs typeface="Arial"/>
              </a:rPr>
              <a:t> </a:t>
            </a:r>
            <a:r>
              <a:rPr sz="1400" b="1" spc="-5" dirty="0">
                <a:latin typeface="Arial"/>
                <a:cs typeface="Arial"/>
              </a:rPr>
              <a:t>CUBE</a:t>
            </a:r>
            <a:endParaRPr sz="1400">
              <a:latin typeface="Arial"/>
              <a:cs typeface="Arial"/>
            </a:endParaRPr>
          </a:p>
        </p:txBody>
      </p:sp>
      <p:grpSp>
        <p:nvGrpSpPr>
          <p:cNvPr id="6" name="object 6"/>
          <p:cNvGrpSpPr/>
          <p:nvPr/>
        </p:nvGrpSpPr>
        <p:grpSpPr>
          <a:xfrm>
            <a:off x="955547" y="1594103"/>
            <a:ext cx="8202295" cy="1673860"/>
            <a:chOff x="955547" y="1594103"/>
            <a:chExt cx="8202295" cy="1673860"/>
          </a:xfrm>
        </p:grpSpPr>
        <p:sp>
          <p:nvSpPr>
            <p:cNvPr id="7" name="object 7"/>
            <p:cNvSpPr/>
            <p:nvPr/>
          </p:nvSpPr>
          <p:spPr>
            <a:xfrm>
              <a:off x="974597" y="1613153"/>
              <a:ext cx="8164195" cy="1635760"/>
            </a:xfrm>
            <a:custGeom>
              <a:avLst/>
              <a:gdLst/>
              <a:ahLst/>
              <a:cxnLst/>
              <a:rect l="l" t="t" r="r" b="b"/>
              <a:pathLst>
                <a:path w="8164195" h="1635760">
                  <a:moveTo>
                    <a:pt x="8164068" y="0"/>
                  </a:moveTo>
                  <a:lnTo>
                    <a:pt x="0" y="0"/>
                  </a:lnTo>
                  <a:lnTo>
                    <a:pt x="0" y="1635252"/>
                  </a:lnTo>
                  <a:lnTo>
                    <a:pt x="8164068" y="1635252"/>
                  </a:lnTo>
                  <a:lnTo>
                    <a:pt x="8164068" y="0"/>
                  </a:lnTo>
                  <a:close/>
                </a:path>
              </a:pathLst>
            </a:custGeom>
            <a:solidFill>
              <a:srgbClr val="FFFFFF"/>
            </a:solidFill>
          </p:spPr>
          <p:txBody>
            <a:bodyPr wrap="square" lIns="0" tIns="0" rIns="0" bIns="0" rtlCol="0"/>
            <a:lstStyle/>
            <a:p>
              <a:endParaRPr/>
            </a:p>
          </p:txBody>
        </p:sp>
        <p:sp>
          <p:nvSpPr>
            <p:cNvPr id="8" name="object 8"/>
            <p:cNvSpPr/>
            <p:nvPr/>
          </p:nvSpPr>
          <p:spPr>
            <a:xfrm>
              <a:off x="974597" y="1613153"/>
              <a:ext cx="8164195" cy="1635760"/>
            </a:xfrm>
            <a:custGeom>
              <a:avLst/>
              <a:gdLst/>
              <a:ahLst/>
              <a:cxnLst/>
              <a:rect l="l" t="t" r="r" b="b"/>
              <a:pathLst>
                <a:path w="8164195" h="1635760">
                  <a:moveTo>
                    <a:pt x="0" y="1635252"/>
                  </a:moveTo>
                  <a:lnTo>
                    <a:pt x="8164068" y="1635252"/>
                  </a:lnTo>
                  <a:lnTo>
                    <a:pt x="8164068" y="0"/>
                  </a:lnTo>
                  <a:lnTo>
                    <a:pt x="0" y="0"/>
                  </a:lnTo>
                  <a:lnTo>
                    <a:pt x="0" y="1635252"/>
                  </a:lnTo>
                  <a:close/>
                </a:path>
              </a:pathLst>
            </a:custGeom>
            <a:ln w="38100">
              <a:solidFill>
                <a:srgbClr val="006FC0"/>
              </a:solidFill>
            </a:ln>
          </p:spPr>
          <p:txBody>
            <a:bodyPr wrap="square" lIns="0" tIns="0" rIns="0" bIns="0" rtlCol="0"/>
            <a:lstStyle/>
            <a:p>
              <a:endParaRPr/>
            </a:p>
          </p:txBody>
        </p:sp>
      </p:grpSp>
      <p:sp>
        <p:nvSpPr>
          <p:cNvPr id="9" name="object 9"/>
          <p:cNvSpPr txBox="1"/>
          <p:nvPr/>
        </p:nvSpPr>
        <p:spPr>
          <a:xfrm>
            <a:off x="3673347" y="1659127"/>
            <a:ext cx="5402580" cy="330200"/>
          </a:xfrm>
          <a:prstGeom prst="rect">
            <a:avLst/>
          </a:prstGeom>
        </p:spPr>
        <p:txBody>
          <a:bodyPr vert="horz" wrap="square" lIns="0" tIns="12065" rIns="0" bIns="0" rtlCol="0">
            <a:spAutoFit/>
          </a:bodyPr>
          <a:lstStyle/>
          <a:p>
            <a:pPr>
              <a:lnSpc>
                <a:spcPct val="100000"/>
              </a:lnSpc>
              <a:spcBef>
                <a:spcPts val="95"/>
              </a:spcBef>
              <a:tabLst>
                <a:tab pos="1494155" algn="l"/>
                <a:tab pos="2896870" algn="l"/>
                <a:tab pos="3806190" algn="l"/>
                <a:tab pos="5272405" algn="l"/>
              </a:tabLst>
            </a:pPr>
            <a:r>
              <a:rPr sz="2000" spc="15" dirty="0">
                <a:latin typeface="Times New Roman"/>
                <a:cs typeface="Times New Roman"/>
              </a:rPr>
              <a:t>aggreg</a:t>
            </a:r>
            <a:r>
              <a:rPr sz="2000" spc="20" dirty="0">
                <a:latin typeface="Times New Roman"/>
                <a:cs typeface="Times New Roman"/>
              </a:rPr>
              <a:t>a</a:t>
            </a:r>
            <a:r>
              <a:rPr sz="2000" spc="125" dirty="0">
                <a:latin typeface="Times New Roman"/>
                <a:cs typeface="Times New Roman"/>
              </a:rPr>
              <a:t>t</a:t>
            </a:r>
            <a:r>
              <a:rPr sz="2000" spc="40" dirty="0">
                <a:latin typeface="Times New Roman"/>
                <a:cs typeface="Times New Roman"/>
              </a:rPr>
              <a:t>e</a:t>
            </a:r>
            <a:r>
              <a:rPr sz="2000" dirty="0">
                <a:latin typeface="Times New Roman"/>
                <a:cs typeface="Times New Roman"/>
              </a:rPr>
              <a:t>	</a:t>
            </a:r>
            <a:r>
              <a:rPr sz="2000" spc="100" dirty="0">
                <a:latin typeface="Times New Roman"/>
                <a:cs typeface="Times New Roman"/>
              </a:rPr>
              <a:t>o</a:t>
            </a:r>
            <a:r>
              <a:rPr sz="2000" spc="110" dirty="0">
                <a:latin typeface="Times New Roman"/>
                <a:cs typeface="Times New Roman"/>
              </a:rPr>
              <a:t>p</a:t>
            </a:r>
            <a:r>
              <a:rPr sz="2000" spc="75" dirty="0">
                <a:latin typeface="Times New Roman"/>
                <a:cs typeface="Times New Roman"/>
              </a:rPr>
              <a:t>era</a:t>
            </a:r>
            <a:r>
              <a:rPr sz="2000" spc="55" dirty="0">
                <a:latin typeface="Times New Roman"/>
                <a:cs typeface="Times New Roman"/>
              </a:rPr>
              <a:t>t</a:t>
            </a:r>
            <a:r>
              <a:rPr sz="2000" spc="100" dirty="0">
                <a:latin typeface="Times New Roman"/>
                <a:cs typeface="Times New Roman"/>
              </a:rPr>
              <a:t>o</a:t>
            </a:r>
            <a:r>
              <a:rPr sz="2000" spc="80" dirty="0">
                <a:latin typeface="Times New Roman"/>
                <a:cs typeface="Times New Roman"/>
              </a:rPr>
              <a:t>r</a:t>
            </a:r>
            <a:r>
              <a:rPr sz="2000" dirty="0">
                <a:latin typeface="Times New Roman"/>
                <a:cs typeface="Times New Roman"/>
              </a:rPr>
              <a:t>	</a:t>
            </a:r>
            <a:r>
              <a:rPr sz="2000" spc="110" dirty="0">
                <a:latin typeface="Times New Roman"/>
                <a:cs typeface="Times New Roman"/>
              </a:rPr>
              <a:t>tha</a:t>
            </a:r>
            <a:r>
              <a:rPr sz="2000" spc="125" dirty="0">
                <a:latin typeface="Times New Roman"/>
                <a:cs typeface="Times New Roman"/>
              </a:rPr>
              <a:t>t</a:t>
            </a:r>
            <a:r>
              <a:rPr sz="2000" dirty="0">
                <a:latin typeface="Times New Roman"/>
                <a:cs typeface="Times New Roman"/>
              </a:rPr>
              <a:t>	</a:t>
            </a:r>
            <a:r>
              <a:rPr sz="2000" spc="75" dirty="0">
                <a:latin typeface="Times New Roman"/>
                <a:cs typeface="Times New Roman"/>
              </a:rPr>
              <a:t>produces</a:t>
            </a:r>
            <a:r>
              <a:rPr sz="2000" dirty="0">
                <a:latin typeface="Times New Roman"/>
                <a:cs typeface="Times New Roman"/>
              </a:rPr>
              <a:t>	</a:t>
            </a:r>
            <a:r>
              <a:rPr sz="2000" spc="30" dirty="0">
                <a:latin typeface="Times New Roman"/>
                <a:cs typeface="Times New Roman"/>
              </a:rPr>
              <a:t>a</a:t>
            </a:r>
            <a:endParaRPr sz="2000">
              <a:latin typeface="Times New Roman"/>
              <a:cs typeface="Times New Roman"/>
            </a:endParaRPr>
          </a:p>
        </p:txBody>
      </p:sp>
      <p:sp>
        <p:nvSpPr>
          <p:cNvPr id="13" name="object 13"/>
          <p:cNvSpPr txBox="1"/>
          <p:nvPr/>
        </p:nvSpPr>
        <p:spPr>
          <a:xfrm>
            <a:off x="7912607" y="6569709"/>
            <a:ext cx="904875" cy="256540"/>
          </a:xfrm>
          <a:prstGeom prst="rect">
            <a:avLst/>
          </a:prstGeom>
        </p:spPr>
        <p:txBody>
          <a:bodyPr vert="horz" wrap="square" lIns="0" tIns="18415" rIns="0" bIns="0" rtlCol="0">
            <a:spAutoFit/>
          </a:bodyPr>
          <a:lstStyle/>
          <a:p>
            <a:pPr marL="12700">
              <a:lnSpc>
                <a:spcPct val="100000"/>
              </a:lnSpc>
              <a:spcBef>
                <a:spcPts val="145"/>
              </a:spcBef>
            </a:pPr>
            <a:r>
              <a:rPr sz="1800" spc="52" baseline="4629" dirty="0">
                <a:latin typeface="Times New Roman"/>
                <a:cs typeface="Times New Roman"/>
              </a:rPr>
              <a:t>Session </a:t>
            </a:r>
            <a:r>
              <a:rPr sz="1800" spc="104" baseline="4629" dirty="0">
                <a:latin typeface="Times New Roman"/>
                <a:cs typeface="Times New Roman"/>
              </a:rPr>
              <a:t>9/</a:t>
            </a:r>
            <a:r>
              <a:rPr sz="1800" spc="-262" baseline="4629" dirty="0">
                <a:latin typeface="Times New Roman"/>
                <a:cs typeface="Times New Roman"/>
              </a:rPr>
              <a:t> </a:t>
            </a:r>
            <a:fld id="{81D60167-4931-47E6-BA6A-407CBD079E47}" type="slidenum">
              <a:rPr sz="1200" spc="-5" dirty="0">
                <a:latin typeface="Times New Roman"/>
                <a:cs typeface="Times New Roman"/>
              </a:rPr>
              <a:t>10</a:t>
            </a:fld>
            <a:endParaRPr sz="1200">
              <a:latin typeface="Times New Roman"/>
              <a:cs typeface="Times New Roman"/>
            </a:endParaRPr>
          </a:p>
        </p:txBody>
      </p:sp>
      <p:sp>
        <p:nvSpPr>
          <p:cNvPr id="14" name="object 14"/>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10" name="object 10"/>
          <p:cNvSpPr txBox="1"/>
          <p:nvPr/>
        </p:nvSpPr>
        <p:spPr>
          <a:xfrm>
            <a:off x="1051052" y="1659127"/>
            <a:ext cx="2269490" cy="604520"/>
          </a:xfrm>
          <a:prstGeom prst="rect">
            <a:avLst/>
          </a:prstGeom>
        </p:spPr>
        <p:txBody>
          <a:bodyPr vert="horz" wrap="square" lIns="0" tIns="46990" rIns="0" bIns="0" rtlCol="0">
            <a:spAutoFit/>
          </a:bodyPr>
          <a:lstStyle/>
          <a:p>
            <a:pPr marR="5080" indent="53975">
              <a:lnSpc>
                <a:spcPts val="2160"/>
              </a:lnSpc>
              <a:spcBef>
                <a:spcPts val="370"/>
              </a:spcBef>
              <a:tabLst>
                <a:tab pos="1246505" algn="l"/>
                <a:tab pos="1885950" algn="l"/>
              </a:tabLst>
            </a:pPr>
            <a:r>
              <a:rPr sz="2000" spc="90" dirty="0">
                <a:latin typeface="Times New Roman"/>
                <a:cs typeface="Times New Roman"/>
              </a:rPr>
              <a:t>CUBE	</a:t>
            </a:r>
            <a:r>
              <a:rPr sz="2000" spc="5" dirty="0">
                <a:latin typeface="Times New Roman"/>
                <a:cs typeface="Times New Roman"/>
              </a:rPr>
              <a:t>is	</a:t>
            </a:r>
            <a:r>
              <a:rPr sz="2000" spc="105" dirty="0">
                <a:latin typeface="Times New Roman"/>
                <a:cs typeface="Times New Roman"/>
              </a:rPr>
              <a:t>an  </a:t>
            </a:r>
            <a:r>
              <a:rPr sz="2000" spc="45" dirty="0">
                <a:latin typeface="Times New Roman"/>
                <a:cs typeface="Times New Roman"/>
              </a:rPr>
              <a:t>super-aggregate</a:t>
            </a:r>
            <a:r>
              <a:rPr sz="2000" spc="-120" dirty="0">
                <a:latin typeface="Times New Roman"/>
                <a:cs typeface="Times New Roman"/>
              </a:rPr>
              <a:t> </a:t>
            </a:r>
            <a:r>
              <a:rPr sz="2000" spc="55" dirty="0">
                <a:latin typeface="Times New Roman"/>
                <a:cs typeface="Times New Roman"/>
              </a:rPr>
              <a:t>row.</a:t>
            </a:r>
            <a:endParaRPr sz="2000">
              <a:latin typeface="Times New Roman"/>
              <a:cs typeface="Times New Roman"/>
            </a:endParaRPr>
          </a:p>
        </p:txBody>
      </p:sp>
      <p:sp>
        <p:nvSpPr>
          <p:cNvPr id="11" name="object 11"/>
          <p:cNvSpPr txBox="1"/>
          <p:nvPr/>
        </p:nvSpPr>
        <p:spPr>
          <a:xfrm>
            <a:off x="1051052" y="2481834"/>
            <a:ext cx="8023859" cy="605155"/>
          </a:xfrm>
          <a:prstGeom prst="rect">
            <a:avLst/>
          </a:prstGeom>
        </p:spPr>
        <p:txBody>
          <a:bodyPr vert="horz" wrap="square" lIns="0" tIns="12700" rIns="0" bIns="0" rtlCol="0">
            <a:spAutoFit/>
          </a:bodyPr>
          <a:lstStyle/>
          <a:p>
            <a:pPr>
              <a:lnSpc>
                <a:spcPts val="2280"/>
              </a:lnSpc>
              <a:spcBef>
                <a:spcPts val="100"/>
              </a:spcBef>
            </a:pPr>
            <a:r>
              <a:rPr sz="2000" spc="80" dirty="0">
                <a:latin typeface="Times New Roman"/>
                <a:cs typeface="Times New Roman"/>
              </a:rPr>
              <a:t>In </a:t>
            </a:r>
            <a:r>
              <a:rPr sz="2000" spc="85" dirty="0">
                <a:latin typeface="Times New Roman"/>
                <a:cs typeface="Times New Roman"/>
              </a:rPr>
              <a:t>addition </a:t>
            </a:r>
            <a:r>
              <a:rPr sz="2000" spc="110" dirty="0">
                <a:latin typeface="Times New Roman"/>
                <a:cs typeface="Times New Roman"/>
              </a:rPr>
              <a:t>to </a:t>
            </a:r>
            <a:r>
              <a:rPr sz="2000" spc="70" dirty="0">
                <a:latin typeface="Times New Roman"/>
                <a:cs typeface="Times New Roman"/>
              </a:rPr>
              <a:t>usual </a:t>
            </a:r>
            <a:r>
              <a:rPr sz="2000" spc="60" dirty="0">
                <a:latin typeface="Times New Roman"/>
                <a:cs typeface="Times New Roman"/>
              </a:rPr>
              <a:t>rows </a:t>
            </a:r>
            <a:r>
              <a:rPr sz="2000" spc="80" dirty="0">
                <a:latin typeface="Times New Roman"/>
                <a:cs typeface="Times New Roman"/>
              </a:rPr>
              <a:t>provided </a:t>
            </a:r>
            <a:r>
              <a:rPr sz="2000" spc="40" dirty="0">
                <a:latin typeface="Times New Roman"/>
                <a:cs typeface="Times New Roman"/>
              </a:rPr>
              <a:t>by </a:t>
            </a:r>
            <a:r>
              <a:rPr sz="2000" spc="114" dirty="0">
                <a:latin typeface="Times New Roman"/>
                <a:cs typeface="Times New Roman"/>
              </a:rPr>
              <a:t>the </a:t>
            </a:r>
            <a:r>
              <a:rPr sz="2000" spc="145" dirty="0">
                <a:latin typeface="Times New Roman"/>
                <a:cs typeface="Times New Roman"/>
              </a:rPr>
              <a:t>GROUP </a:t>
            </a:r>
            <a:r>
              <a:rPr sz="2000" spc="-35" dirty="0">
                <a:latin typeface="Times New Roman"/>
                <a:cs typeface="Times New Roman"/>
              </a:rPr>
              <a:t>BY, </a:t>
            </a:r>
            <a:r>
              <a:rPr sz="2000" spc="70" dirty="0">
                <a:latin typeface="Times New Roman"/>
                <a:cs typeface="Times New Roman"/>
              </a:rPr>
              <a:t>it </a:t>
            </a:r>
            <a:r>
              <a:rPr sz="2000" spc="35" dirty="0">
                <a:latin typeface="Times New Roman"/>
                <a:cs typeface="Times New Roman"/>
              </a:rPr>
              <a:t>also</a:t>
            </a:r>
            <a:r>
              <a:rPr sz="2000" spc="245" dirty="0">
                <a:latin typeface="Times New Roman"/>
                <a:cs typeface="Times New Roman"/>
              </a:rPr>
              <a:t> </a:t>
            </a:r>
            <a:r>
              <a:rPr sz="2000" spc="65" dirty="0">
                <a:latin typeface="Times New Roman"/>
                <a:cs typeface="Times New Roman"/>
              </a:rPr>
              <a:t>provides</a:t>
            </a:r>
            <a:endParaRPr sz="2000">
              <a:latin typeface="Times New Roman"/>
              <a:cs typeface="Times New Roman"/>
            </a:endParaRPr>
          </a:p>
          <a:p>
            <a:pPr>
              <a:lnSpc>
                <a:spcPts val="2280"/>
              </a:lnSpc>
            </a:pPr>
            <a:r>
              <a:rPr sz="2000" spc="110" dirty="0">
                <a:latin typeface="Times New Roman"/>
                <a:cs typeface="Times New Roman"/>
              </a:rPr>
              <a:t>the</a:t>
            </a:r>
            <a:r>
              <a:rPr sz="2000" spc="-60" dirty="0">
                <a:latin typeface="Times New Roman"/>
                <a:cs typeface="Times New Roman"/>
              </a:rPr>
              <a:t> </a:t>
            </a:r>
            <a:r>
              <a:rPr sz="2000" spc="65" dirty="0">
                <a:latin typeface="Times New Roman"/>
                <a:cs typeface="Times New Roman"/>
              </a:rPr>
              <a:t>summary</a:t>
            </a:r>
            <a:r>
              <a:rPr sz="2000" spc="-75" dirty="0">
                <a:latin typeface="Times New Roman"/>
                <a:cs typeface="Times New Roman"/>
              </a:rPr>
              <a:t> </a:t>
            </a:r>
            <a:r>
              <a:rPr sz="2000" spc="55" dirty="0">
                <a:latin typeface="Times New Roman"/>
                <a:cs typeface="Times New Roman"/>
              </a:rPr>
              <a:t>of</a:t>
            </a:r>
            <a:r>
              <a:rPr sz="2000" spc="-70" dirty="0">
                <a:latin typeface="Times New Roman"/>
                <a:cs typeface="Times New Roman"/>
              </a:rPr>
              <a:t> </a:t>
            </a:r>
            <a:r>
              <a:rPr sz="2000" spc="55" dirty="0">
                <a:latin typeface="Times New Roman"/>
                <a:cs typeface="Times New Roman"/>
              </a:rPr>
              <a:t>rows</a:t>
            </a:r>
            <a:r>
              <a:rPr sz="2000" spc="-65" dirty="0">
                <a:latin typeface="Times New Roman"/>
                <a:cs typeface="Times New Roman"/>
              </a:rPr>
              <a:t> </a:t>
            </a:r>
            <a:r>
              <a:rPr sz="2000" spc="114" dirty="0">
                <a:latin typeface="Times New Roman"/>
                <a:cs typeface="Times New Roman"/>
              </a:rPr>
              <a:t>that</a:t>
            </a:r>
            <a:r>
              <a:rPr sz="2000" spc="-65" dirty="0">
                <a:latin typeface="Times New Roman"/>
                <a:cs typeface="Times New Roman"/>
              </a:rPr>
              <a:t> </a:t>
            </a:r>
            <a:r>
              <a:rPr sz="2000" spc="110" dirty="0">
                <a:latin typeface="Times New Roman"/>
                <a:cs typeface="Times New Roman"/>
              </a:rPr>
              <a:t>the</a:t>
            </a:r>
            <a:r>
              <a:rPr sz="2000" spc="-55" dirty="0">
                <a:latin typeface="Times New Roman"/>
                <a:cs typeface="Times New Roman"/>
              </a:rPr>
              <a:t> </a:t>
            </a:r>
            <a:r>
              <a:rPr sz="2000" spc="145" dirty="0">
                <a:latin typeface="Times New Roman"/>
                <a:cs typeface="Times New Roman"/>
              </a:rPr>
              <a:t>GROUP</a:t>
            </a:r>
            <a:r>
              <a:rPr sz="2000" spc="-80" dirty="0">
                <a:latin typeface="Times New Roman"/>
                <a:cs typeface="Times New Roman"/>
              </a:rPr>
              <a:t> </a:t>
            </a:r>
            <a:r>
              <a:rPr sz="2000" spc="-50" dirty="0">
                <a:latin typeface="Times New Roman"/>
                <a:cs typeface="Times New Roman"/>
              </a:rPr>
              <a:t>BY</a:t>
            </a:r>
            <a:r>
              <a:rPr sz="2000" spc="-70" dirty="0">
                <a:latin typeface="Times New Roman"/>
                <a:cs typeface="Times New Roman"/>
              </a:rPr>
              <a:t> </a:t>
            </a:r>
            <a:r>
              <a:rPr sz="2000" spc="40" dirty="0">
                <a:latin typeface="Times New Roman"/>
                <a:cs typeface="Times New Roman"/>
              </a:rPr>
              <a:t>clause</a:t>
            </a:r>
            <a:r>
              <a:rPr sz="2000" spc="-70" dirty="0">
                <a:latin typeface="Times New Roman"/>
                <a:cs typeface="Times New Roman"/>
              </a:rPr>
              <a:t> </a:t>
            </a:r>
            <a:r>
              <a:rPr sz="2000" spc="50" dirty="0">
                <a:latin typeface="Times New Roman"/>
                <a:cs typeface="Times New Roman"/>
              </a:rPr>
              <a:t>generates.</a:t>
            </a:r>
            <a:endParaRPr sz="2000">
              <a:latin typeface="Times New Roman"/>
              <a:cs typeface="Times New Roman"/>
            </a:endParaRPr>
          </a:p>
        </p:txBody>
      </p:sp>
      <p:sp>
        <p:nvSpPr>
          <p:cNvPr id="15" name="Rounded Rectangle 19">
            <a:extLst>
              <a:ext uri="{FF2B5EF4-FFF2-40B4-BE49-F238E27FC236}">
                <a16:creationId xmlns:a16="http://schemas.microsoft.com/office/drawing/2014/main" id="{30C903D2-847F-45B5-9C09-9F5CEA400094}"/>
              </a:ext>
            </a:extLst>
          </p:cNvPr>
          <p:cNvSpPr/>
          <p:nvPr/>
        </p:nvSpPr>
        <p:spPr>
          <a:xfrm>
            <a:off x="451971" y="4100794"/>
            <a:ext cx="1066800" cy="381000"/>
          </a:xfrm>
          <a:prstGeom prst="roundRect">
            <a:avLst/>
          </a:prstGeom>
        </p:spPr>
        <p:style>
          <a:lnRef idx="0">
            <a:schemeClr val="accent5"/>
          </a:lnRef>
          <a:fillRef idx="3">
            <a:schemeClr val="accent5"/>
          </a:fillRef>
          <a:effectRef idx="3">
            <a:schemeClr val="accent5"/>
          </a:effectRef>
          <a:fontRef idx="minor">
            <a:schemeClr val="lt1"/>
          </a:fontRef>
        </p:style>
        <p:txBody>
          <a:bodyPr rtlCol="0" anchor="ctr"/>
          <a:lstStyle/>
          <a:p>
            <a:r>
              <a:rPr lang="en-US" sz="1800" b="1" dirty="0"/>
              <a:t>Syntax:</a:t>
            </a:r>
          </a:p>
        </p:txBody>
      </p:sp>
      <p:sp>
        <p:nvSpPr>
          <p:cNvPr id="16" name="TextBox 15">
            <a:extLst>
              <a:ext uri="{FF2B5EF4-FFF2-40B4-BE49-F238E27FC236}">
                <a16:creationId xmlns:a16="http://schemas.microsoft.com/office/drawing/2014/main" id="{ED27CC98-2135-4A17-B5BD-4625C510A970}"/>
              </a:ext>
            </a:extLst>
          </p:cNvPr>
          <p:cNvSpPr txBox="1"/>
          <p:nvPr/>
        </p:nvSpPr>
        <p:spPr>
          <a:xfrm>
            <a:off x="1676400" y="3962400"/>
            <a:ext cx="5453640" cy="1018740"/>
          </a:xfrm>
          <a:prstGeom prst="rect">
            <a:avLst/>
          </a:prstGeom>
          <a:ln/>
        </p:spPr>
        <p:style>
          <a:lnRef idx="1">
            <a:schemeClr val="accent1"/>
          </a:lnRef>
          <a:fillRef idx="2">
            <a:schemeClr val="accent1"/>
          </a:fillRef>
          <a:effectRef idx="1">
            <a:schemeClr val="accent1"/>
          </a:effectRef>
          <a:fontRef idx="minor">
            <a:schemeClr val="dk1"/>
          </a:fontRef>
        </p:style>
        <p:txBody>
          <a:bodyPr wrap="square" rtlCol="0">
            <a:spAutoFit/>
          </a:bodyPr>
          <a:lstStyle/>
          <a:p>
            <a:endParaRPr lang="en-US" dirty="0"/>
          </a:p>
          <a:p>
            <a:r>
              <a:rPr lang="en-US" dirty="0"/>
              <a:t>SELECT &lt;</a:t>
            </a:r>
            <a:r>
              <a:rPr lang="en-US" dirty="0" err="1"/>
              <a:t>column_name</a:t>
            </a:r>
            <a:r>
              <a:rPr lang="en-US" dirty="0"/>
              <a:t>&gt;…  FROM &lt;</a:t>
            </a:r>
            <a:r>
              <a:rPr lang="en-US" dirty="0" err="1"/>
              <a:t>table_name</a:t>
            </a:r>
            <a:r>
              <a:rPr lang="en-US" dirty="0"/>
              <a:t>&gt; </a:t>
            </a:r>
          </a:p>
          <a:p>
            <a:r>
              <a:rPr lang="en-US" dirty="0"/>
              <a:t>   GROUP BY &lt;</a:t>
            </a:r>
            <a:r>
              <a:rPr lang="en-US" dirty="0" err="1"/>
              <a:t>column_name</a:t>
            </a:r>
            <a:r>
              <a:rPr lang="en-US" dirty="0"/>
              <a:t>&gt; WITH CUBE</a:t>
            </a:r>
          </a:p>
          <a:p>
            <a:endParaRPr lang="en-US" dirty="0"/>
          </a:p>
        </p:txBody>
      </p:sp>
      <p:sp>
        <p:nvSpPr>
          <p:cNvPr id="17" name="TextBox 16">
            <a:extLst>
              <a:ext uri="{FF2B5EF4-FFF2-40B4-BE49-F238E27FC236}">
                <a16:creationId xmlns:a16="http://schemas.microsoft.com/office/drawing/2014/main" id="{53AE8623-A4D4-45EF-A1C8-396C501928D9}"/>
              </a:ext>
            </a:extLst>
          </p:cNvPr>
          <p:cNvSpPr txBox="1"/>
          <p:nvPr/>
        </p:nvSpPr>
        <p:spPr>
          <a:xfrm>
            <a:off x="257086" y="5224316"/>
            <a:ext cx="1419314" cy="369332"/>
          </a:xfrm>
          <a:prstGeom prst="rect">
            <a:avLst/>
          </a:prstGeom>
          <a:noFill/>
        </p:spPr>
        <p:txBody>
          <a:bodyPr wrap="square" rtlCol="0">
            <a:spAutoFit/>
          </a:bodyPr>
          <a:lstStyle/>
          <a:p>
            <a:pPr marL="341313" indent="-341313">
              <a:lnSpc>
                <a:spcPct val="100000"/>
              </a:lnSpc>
              <a:spcBef>
                <a:spcPts val="0"/>
              </a:spcBef>
              <a:buFont typeface="Wingdings" pitchFamily="2" charset="2"/>
              <a:buChar char="Ø"/>
            </a:pPr>
            <a:r>
              <a:rPr lang="en-US" sz="1800" dirty="0">
                <a:latin typeface="Calibri" pitchFamily="34" charset="0"/>
                <a:cs typeface="Calibri" pitchFamily="34" charset="0"/>
              </a:rPr>
              <a:t>Example</a:t>
            </a:r>
          </a:p>
        </p:txBody>
      </p:sp>
      <p:pic>
        <p:nvPicPr>
          <p:cNvPr id="18" name="Picture 17">
            <a:extLst>
              <a:ext uri="{FF2B5EF4-FFF2-40B4-BE49-F238E27FC236}">
                <a16:creationId xmlns:a16="http://schemas.microsoft.com/office/drawing/2014/main" id="{E1D979CC-30E0-4435-B6F7-09C8B1B9E514}"/>
              </a:ext>
            </a:extLst>
          </p:cNvPr>
          <p:cNvPicPr>
            <a:picLocks noChangeAspect="1"/>
          </p:cNvPicPr>
          <p:nvPr/>
        </p:nvPicPr>
        <p:blipFill>
          <a:blip r:embed="rId3"/>
          <a:stretch>
            <a:fillRect/>
          </a:stretch>
        </p:blipFill>
        <p:spPr>
          <a:xfrm>
            <a:off x="1676400" y="5206225"/>
            <a:ext cx="4322590" cy="133873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9" name="Picture 18">
            <a:extLst>
              <a:ext uri="{FF2B5EF4-FFF2-40B4-BE49-F238E27FC236}">
                <a16:creationId xmlns:a16="http://schemas.microsoft.com/office/drawing/2014/main" id="{17272338-8491-476C-9D9B-2409F0BAC352}"/>
              </a:ext>
            </a:extLst>
          </p:cNvPr>
          <p:cNvPicPr>
            <a:picLocks noChangeAspect="1"/>
          </p:cNvPicPr>
          <p:nvPr/>
        </p:nvPicPr>
        <p:blipFill>
          <a:blip r:embed="rId4"/>
          <a:stretch>
            <a:fillRect/>
          </a:stretch>
        </p:blipFill>
        <p:spPr>
          <a:xfrm>
            <a:off x="7330971" y="3589351"/>
            <a:ext cx="1598717" cy="2955611"/>
          </a:xfrm>
          <a:prstGeom prst="rect">
            <a:avLst/>
          </a:prstGeom>
          <a:ln>
            <a:noFill/>
          </a:ln>
          <a:effectLst>
            <a:outerShdw blurRad="190500" algn="tl" rotWithShape="0">
              <a:srgbClr val="000000">
                <a:alpha val="70000"/>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9740" y="7366"/>
            <a:ext cx="4811395" cy="635635"/>
          </a:xfrm>
          <a:prstGeom prst="rect">
            <a:avLst/>
          </a:prstGeom>
        </p:spPr>
        <p:txBody>
          <a:bodyPr vert="horz" wrap="square" lIns="0" tIns="12700" rIns="0" bIns="0" rtlCol="0">
            <a:spAutoFit/>
          </a:bodyPr>
          <a:lstStyle/>
          <a:p>
            <a:pPr marL="12700">
              <a:lnSpc>
                <a:spcPct val="100000"/>
              </a:lnSpc>
              <a:spcBef>
                <a:spcPts val="100"/>
              </a:spcBef>
            </a:pPr>
            <a:r>
              <a:rPr spc="105" dirty="0"/>
              <a:t>Summarizing </a:t>
            </a:r>
            <a:r>
              <a:rPr spc="165" dirty="0"/>
              <a:t>Data</a:t>
            </a:r>
            <a:r>
              <a:rPr spc="-425" dirty="0"/>
              <a:t> </a:t>
            </a:r>
            <a:r>
              <a:rPr spc="-120" dirty="0"/>
              <a:t>3-4</a:t>
            </a:r>
          </a:p>
        </p:txBody>
      </p:sp>
      <p:sp>
        <p:nvSpPr>
          <p:cNvPr id="3" name="object 3"/>
          <p:cNvSpPr/>
          <p:nvPr/>
        </p:nvSpPr>
        <p:spPr>
          <a:xfrm>
            <a:off x="648462" y="1582674"/>
            <a:ext cx="7581265" cy="1836420"/>
          </a:xfrm>
          <a:custGeom>
            <a:avLst/>
            <a:gdLst/>
            <a:ahLst/>
            <a:cxnLst/>
            <a:rect l="l" t="t" r="r" b="b"/>
            <a:pathLst>
              <a:path w="7581265" h="1836420">
                <a:moveTo>
                  <a:pt x="7275068" y="0"/>
                </a:moveTo>
                <a:lnTo>
                  <a:pt x="306070" y="0"/>
                </a:lnTo>
                <a:lnTo>
                  <a:pt x="256424" y="4005"/>
                </a:lnTo>
                <a:lnTo>
                  <a:pt x="209328" y="15603"/>
                </a:lnTo>
                <a:lnTo>
                  <a:pt x="165413" y="34163"/>
                </a:lnTo>
                <a:lnTo>
                  <a:pt x="125309" y="59053"/>
                </a:lnTo>
                <a:lnTo>
                  <a:pt x="89646" y="89646"/>
                </a:lnTo>
                <a:lnTo>
                  <a:pt x="59053" y="125309"/>
                </a:lnTo>
                <a:lnTo>
                  <a:pt x="34163" y="165413"/>
                </a:lnTo>
                <a:lnTo>
                  <a:pt x="15603" y="209328"/>
                </a:lnTo>
                <a:lnTo>
                  <a:pt x="4005" y="256424"/>
                </a:lnTo>
                <a:lnTo>
                  <a:pt x="0" y="306070"/>
                </a:lnTo>
                <a:lnTo>
                  <a:pt x="0" y="1530350"/>
                </a:lnTo>
                <a:lnTo>
                  <a:pt x="4005" y="1579995"/>
                </a:lnTo>
                <a:lnTo>
                  <a:pt x="15603" y="1627091"/>
                </a:lnTo>
                <a:lnTo>
                  <a:pt x="34163" y="1671006"/>
                </a:lnTo>
                <a:lnTo>
                  <a:pt x="59053" y="1711110"/>
                </a:lnTo>
                <a:lnTo>
                  <a:pt x="89646" y="1746773"/>
                </a:lnTo>
                <a:lnTo>
                  <a:pt x="125309" y="1777366"/>
                </a:lnTo>
                <a:lnTo>
                  <a:pt x="165413" y="1802256"/>
                </a:lnTo>
                <a:lnTo>
                  <a:pt x="209328" y="1820816"/>
                </a:lnTo>
                <a:lnTo>
                  <a:pt x="256424" y="1832414"/>
                </a:lnTo>
                <a:lnTo>
                  <a:pt x="306070" y="1836420"/>
                </a:lnTo>
                <a:lnTo>
                  <a:pt x="7275068" y="1836420"/>
                </a:lnTo>
                <a:lnTo>
                  <a:pt x="7324713" y="1832414"/>
                </a:lnTo>
                <a:lnTo>
                  <a:pt x="7371809" y="1820816"/>
                </a:lnTo>
                <a:lnTo>
                  <a:pt x="7415724" y="1802256"/>
                </a:lnTo>
                <a:lnTo>
                  <a:pt x="7455828" y="1777366"/>
                </a:lnTo>
                <a:lnTo>
                  <a:pt x="7491491" y="1746773"/>
                </a:lnTo>
                <a:lnTo>
                  <a:pt x="7522084" y="1711110"/>
                </a:lnTo>
                <a:lnTo>
                  <a:pt x="7546974" y="1671006"/>
                </a:lnTo>
                <a:lnTo>
                  <a:pt x="7565534" y="1627091"/>
                </a:lnTo>
                <a:lnTo>
                  <a:pt x="7577132" y="1579995"/>
                </a:lnTo>
                <a:lnTo>
                  <a:pt x="7581138" y="1530350"/>
                </a:lnTo>
                <a:lnTo>
                  <a:pt x="7581138" y="306070"/>
                </a:lnTo>
                <a:lnTo>
                  <a:pt x="7577132" y="256424"/>
                </a:lnTo>
                <a:lnTo>
                  <a:pt x="7565534" y="209328"/>
                </a:lnTo>
                <a:lnTo>
                  <a:pt x="7546974" y="165413"/>
                </a:lnTo>
                <a:lnTo>
                  <a:pt x="7522084" y="125309"/>
                </a:lnTo>
                <a:lnTo>
                  <a:pt x="7491491" y="89646"/>
                </a:lnTo>
                <a:lnTo>
                  <a:pt x="7455828" y="59053"/>
                </a:lnTo>
                <a:lnTo>
                  <a:pt x="7415724" y="34163"/>
                </a:lnTo>
                <a:lnTo>
                  <a:pt x="7371809" y="15603"/>
                </a:lnTo>
                <a:lnTo>
                  <a:pt x="7324713" y="4005"/>
                </a:lnTo>
                <a:lnTo>
                  <a:pt x="7275068" y="0"/>
                </a:lnTo>
                <a:close/>
              </a:path>
            </a:pathLst>
          </a:custGeom>
          <a:solidFill>
            <a:srgbClr val="C0504D"/>
          </a:solidFill>
        </p:spPr>
        <p:txBody>
          <a:bodyPr wrap="square" lIns="0" tIns="0" rIns="0" bIns="0" rtlCol="0"/>
          <a:lstStyle/>
          <a:p>
            <a:endParaRPr/>
          </a:p>
        </p:txBody>
      </p:sp>
      <p:sp>
        <p:nvSpPr>
          <p:cNvPr id="4" name="object 4"/>
          <p:cNvSpPr/>
          <p:nvPr/>
        </p:nvSpPr>
        <p:spPr>
          <a:xfrm>
            <a:off x="713232" y="3680459"/>
            <a:ext cx="7581265" cy="2017395"/>
          </a:xfrm>
          <a:custGeom>
            <a:avLst/>
            <a:gdLst/>
            <a:ahLst/>
            <a:cxnLst/>
            <a:rect l="l" t="t" r="r" b="b"/>
            <a:pathLst>
              <a:path w="7581265" h="2017395">
                <a:moveTo>
                  <a:pt x="7581138" y="261366"/>
                </a:moveTo>
                <a:lnTo>
                  <a:pt x="7571867" y="261366"/>
                </a:lnTo>
                <a:lnTo>
                  <a:pt x="7566901" y="239077"/>
                </a:lnTo>
                <a:lnTo>
                  <a:pt x="7549883" y="194449"/>
                </a:lnTo>
                <a:lnTo>
                  <a:pt x="7526972" y="153123"/>
                </a:lnTo>
                <a:lnTo>
                  <a:pt x="7498677" y="115620"/>
                </a:lnTo>
                <a:lnTo>
                  <a:pt x="7465517" y="82461"/>
                </a:lnTo>
                <a:lnTo>
                  <a:pt x="7428014" y="54165"/>
                </a:lnTo>
                <a:lnTo>
                  <a:pt x="7386688" y="31254"/>
                </a:lnTo>
                <a:lnTo>
                  <a:pt x="7342060" y="14236"/>
                </a:lnTo>
                <a:lnTo>
                  <a:pt x="7294639" y="3644"/>
                </a:lnTo>
                <a:lnTo>
                  <a:pt x="7244969" y="0"/>
                </a:lnTo>
                <a:lnTo>
                  <a:pt x="336181" y="0"/>
                </a:lnTo>
                <a:lnTo>
                  <a:pt x="286499" y="3644"/>
                </a:lnTo>
                <a:lnTo>
                  <a:pt x="239077" y="14236"/>
                </a:lnTo>
                <a:lnTo>
                  <a:pt x="194449" y="31254"/>
                </a:lnTo>
                <a:lnTo>
                  <a:pt x="153123" y="54165"/>
                </a:lnTo>
                <a:lnTo>
                  <a:pt x="115608" y="82461"/>
                </a:lnTo>
                <a:lnTo>
                  <a:pt x="82448" y="115620"/>
                </a:lnTo>
                <a:lnTo>
                  <a:pt x="54152" y="153123"/>
                </a:lnTo>
                <a:lnTo>
                  <a:pt x="31242" y="194449"/>
                </a:lnTo>
                <a:lnTo>
                  <a:pt x="14224" y="239077"/>
                </a:lnTo>
                <a:lnTo>
                  <a:pt x="3644" y="286499"/>
                </a:lnTo>
                <a:lnTo>
                  <a:pt x="0" y="336169"/>
                </a:lnTo>
                <a:lnTo>
                  <a:pt x="0" y="1680845"/>
                </a:lnTo>
                <a:lnTo>
                  <a:pt x="3644" y="1730527"/>
                </a:lnTo>
                <a:lnTo>
                  <a:pt x="14224" y="1777949"/>
                </a:lnTo>
                <a:lnTo>
                  <a:pt x="31242" y="1822577"/>
                </a:lnTo>
                <a:lnTo>
                  <a:pt x="54152" y="1863902"/>
                </a:lnTo>
                <a:lnTo>
                  <a:pt x="82448" y="1901405"/>
                </a:lnTo>
                <a:lnTo>
                  <a:pt x="115608" y="1934565"/>
                </a:lnTo>
                <a:lnTo>
                  <a:pt x="153123" y="1962861"/>
                </a:lnTo>
                <a:lnTo>
                  <a:pt x="194449" y="1985772"/>
                </a:lnTo>
                <a:lnTo>
                  <a:pt x="239077" y="2002790"/>
                </a:lnTo>
                <a:lnTo>
                  <a:pt x="286499" y="2013381"/>
                </a:lnTo>
                <a:lnTo>
                  <a:pt x="336181" y="2017014"/>
                </a:lnTo>
                <a:lnTo>
                  <a:pt x="7244969" y="2017014"/>
                </a:lnTo>
                <a:lnTo>
                  <a:pt x="7294639" y="2013381"/>
                </a:lnTo>
                <a:lnTo>
                  <a:pt x="7342060" y="2002790"/>
                </a:lnTo>
                <a:lnTo>
                  <a:pt x="7386688" y="1985772"/>
                </a:lnTo>
                <a:lnTo>
                  <a:pt x="7428014" y="1962861"/>
                </a:lnTo>
                <a:lnTo>
                  <a:pt x="7465517" y="1934565"/>
                </a:lnTo>
                <a:lnTo>
                  <a:pt x="7498677" y="1901405"/>
                </a:lnTo>
                <a:lnTo>
                  <a:pt x="7526972" y="1863902"/>
                </a:lnTo>
                <a:lnTo>
                  <a:pt x="7549883" y="1822577"/>
                </a:lnTo>
                <a:lnTo>
                  <a:pt x="7566901" y="1777949"/>
                </a:lnTo>
                <a:lnTo>
                  <a:pt x="7571880" y="1755648"/>
                </a:lnTo>
                <a:lnTo>
                  <a:pt x="7581138" y="1755648"/>
                </a:lnTo>
                <a:lnTo>
                  <a:pt x="7581138" y="1680845"/>
                </a:lnTo>
                <a:lnTo>
                  <a:pt x="7581138" y="336169"/>
                </a:lnTo>
                <a:lnTo>
                  <a:pt x="7581138" y="261366"/>
                </a:lnTo>
                <a:close/>
              </a:path>
            </a:pathLst>
          </a:custGeom>
          <a:solidFill>
            <a:srgbClr val="9BBA58"/>
          </a:solidFill>
        </p:spPr>
        <p:txBody>
          <a:bodyPr wrap="square" lIns="0" tIns="0" rIns="0" bIns="0" rtlCol="0"/>
          <a:lstStyle/>
          <a:p>
            <a:endParaRPr/>
          </a:p>
        </p:txBody>
      </p:sp>
      <p:sp>
        <p:nvSpPr>
          <p:cNvPr id="5" name="object 5"/>
          <p:cNvSpPr txBox="1"/>
          <p:nvPr/>
        </p:nvSpPr>
        <p:spPr>
          <a:xfrm>
            <a:off x="321056" y="926846"/>
            <a:ext cx="7911465" cy="4565650"/>
          </a:xfrm>
          <a:prstGeom prst="rect">
            <a:avLst/>
          </a:prstGeom>
        </p:spPr>
        <p:txBody>
          <a:bodyPr vert="horz" wrap="square" lIns="0" tIns="12700" rIns="0" bIns="0" rtlCol="0">
            <a:spAutoFit/>
          </a:bodyPr>
          <a:lstStyle/>
          <a:p>
            <a:pPr marL="12700">
              <a:lnSpc>
                <a:spcPct val="100000"/>
              </a:lnSpc>
              <a:spcBef>
                <a:spcPts val="100"/>
              </a:spcBef>
            </a:pPr>
            <a:r>
              <a:rPr sz="2400" b="1" spc="-35" dirty="0">
                <a:latin typeface="Arial"/>
                <a:cs typeface="Arial"/>
              </a:rPr>
              <a:t>ROLLUP:</a:t>
            </a:r>
            <a:endParaRPr sz="2400">
              <a:latin typeface="Arial"/>
              <a:cs typeface="Arial"/>
            </a:endParaRPr>
          </a:p>
          <a:p>
            <a:pPr>
              <a:lnSpc>
                <a:spcPct val="100000"/>
              </a:lnSpc>
              <a:spcBef>
                <a:spcPts val="35"/>
              </a:spcBef>
            </a:pPr>
            <a:endParaRPr sz="3050">
              <a:latin typeface="Arial"/>
              <a:cs typeface="Arial"/>
            </a:endParaRPr>
          </a:p>
          <a:p>
            <a:pPr marL="875665" indent="-343535">
              <a:lnSpc>
                <a:spcPts val="2735"/>
              </a:lnSpc>
              <a:buFont typeface="Wingdings"/>
              <a:buChar char=""/>
              <a:tabLst>
                <a:tab pos="876300" algn="l"/>
              </a:tabLst>
            </a:pPr>
            <a:r>
              <a:rPr sz="2400" spc="65" dirty="0">
                <a:solidFill>
                  <a:srgbClr val="FFFFFF"/>
                </a:solidFill>
                <a:latin typeface="Times New Roman"/>
                <a:cs typeface="Times New Roman"/>
              </a:rPr>
              <a:t>It</a:t>
            </a:r>
            <a:r>
              <a:rPr sz="2400" spc="-90" dirty="0">
                <a:solidFill>
                  <a:srgbClr val="FFFFFF"/>
                </a:solidFill>
                <a:latin typeface="Times New Roman"/>
                <a:cs typeface="Times New Roman"/>
              </a:rPr>
              <a:t> </a:t>
            </a:r>
            <a:r>
              <a:rPr sz="2400" spc="100" dirty="0">
                <a:solidFill>
                  <a:srgbClr val="FFFFFF"/>
                </a:solidFill>
                <a:latin typeface="Times New Roman"/>
                <a:cs typeface="Times New Roman"/>
              </a:rPr>
              <a:t>introduces</a:t>
            </a:r>
            <a:r>
              <a:rPr sz="2400" spc="-95" dirty="0">
                <a:solidFill>
                  <a:srgbClr val="FFFFFF"/>
                </a:solidFill>
                <a:latin typeface="Times New Roman"/>
                <a:cs typeface="Times New Roman"/>
              </a:rPr>
              <a:t> </a:t>
            </a:r>
            <a:r>
              <a:rPr sz="2400" spc="80" dirty="0">
                <a:solidFill>
                  <a:srgbClr val="FFFFFF"/>
                </a:solidFill>
                <a:latin typeface="Times New Roman"/>
                <a:cs typeface="Times New Roman"/>
              </a:rPr>
              <a:t>summary</a:t>
            </a:r>
            <a:r>
              <a:rPr sz="2400" spc="-70" dirty="0">
                <a:solidFill>
                  <a:srgbClr val="FFFFFF"/>
                </a:solidFill>
                <a:latin typeface="Times New Roman"/>
                <a:cs typeface="Times New Roman"/>
              </a:rPr>
              <a:t> </a:t>
            </a:r>
            <a:r>
              <a:rPr sz="2400" spc="70" dirty="0">
                <a:solidFill>
                  <a:srgbClr val="FFFFFF"/>
                </a:solidFill>
                <a:latin typeface="Times New Roman"/>
                <a:cs typeface="Times New Roman"/>
              </a:rPr>
              <a:t>rows</a:t>
            </a:r>
            <a:r>
              <a:rPr sz="2400" spc="-100" dirty="0">
                <a:solidFill>
                  <a:srgbClr val="FFFFFF"/>
                </a:solidFill>
                <a:latin typeface="Times New Roman"/>
                <a:cs typeface="Times New Roman"/>
              </a:rPr>
              <a:t> </a:t>
            </a:r>
            <a:r>
              <a:rPr sz="2400" spc="125" dirty="0">
                <a:solidFill>
                  <a:srgbClr val="FFFFFF"/>
                </a:solidFill>
                <a:latin typeface="Times New Roman"/>
                <a:cs typeface="Times New Roman"/>
              </a:rPr>
              <a:t>into</a:t>
            </a:r>
            <a:r>
              <a:rPr sz="2400" spc="-85" dirty="0">
                <a:solidFill>
                  <a:srgbClr val="FFFFFF"/>
                </a:solidFill>
                <a:latin typeface="Times New Roman"/>
                <a:cs typeface="Times New Roman"/>
              </a:rPr>
              <a:t> </a:t>
            </a:r>
            <a:r>
              <a:rPr sz="2400" spc="135" dirty="0">
                <a:solidFill>
                  <a:srgbClr val="FFFFFF"/>
                </a:solidFill>
                <a:latin typeface="Times New Roman"/>
                <a:cs typeface="Times New Roman"/>
              </a:rPr>
              <a:t>the</a:t>
            </a:r>
            <a:r>
              <a:rPr sz="2400" spc="-90" dirty="0">
                <a:solidFill>
                  <a:srgbClr val="FFFFFF"/>
                </a:solidFill>
                <a:latin typeface="Times New Roman"/>
                <a:cs typeface="Times New Roman"/>
              </a:rPr>
              <a:t> </a:t>
            </a:r>
            <a:r>
              <a:rPr sz="2400" spc="70" dirty="0">
                <a:solidFill>
                  <a:srgbClr val="FFFFFF"/>
                </a:solidFill>
                <a:latin typeface="Times New Roman"/>
                <a:cs typeface="Times New Roman"/>
              </a:rPr>
              <a:t>resultset.</a:t>
            </a:r>
            <a:endParaRPr sz="2400">
              <a:latin typeface="Times New Roman"/>
              <a:cs typeface="Times New Roman"/>
            </a:endParaRPr>
          </a:p>
          <a:p>
            <a:pPr marL="875665" marR="71755" indent="-342900">
              <a:lnSpc>
                <a:spcPts val="2590"/>
              </a:lnSpc>
              <a:spcBef>
                <a:spcPts val="185"/>
              </a:spcBef>
              <a:buFont typeface="Wingdings"/>
              <a:buChar char=""/>
              <a:tabLst>
                <a:tab pos="876300" algn="l"/>
              </a:tabLst>
            </a:pPr>
            <a:r>
              <a:rPr sz="2400" spc="95" dirty="0">
                <a:solidFill>
                  <a:srgbClr val="FFFFFF"/>
                </a:solidFill>
                <a:latin typeface="Times New Roman"/>
                <a:cs typeface="Times New Roman"/>
              </a:rPr>
              <a:t>Generates</a:t>
            </a:r>
            <a:r>
              <a:rPr sz="2400" spc="-45" dirty="0">
                <a:solidFill>
                  <a:srgbClr val="FFFFFF"/>
                </a:solidFill>
                <a:latin typeface="Times New Roman"/>
                <a:cs typeface="Times New Roman"/>
              </a:rPr>
              <a:t> </a:t>
            </a:r>
            <a:r>
              <a:rPr sz="2400" spc="40" dirty="0">
                <a:solidFill>
                  <a:srgbClr val="FFFFFF"/>
                </a:solidFill>
                <a:latin typeface="Times New Roman"/>
                <a:cs typeface="Times New Roman"/>
              </a:rPr>
              <a:t>a</a:t>
            </a:r>
            <a:r>
              <a:rPr sz="2400" spc="-35" dirty="0">
                <a:solidFill>
                  <a:srgbClr val="FFFFFF"/>
                </a:solidFill>
                <a:latin typeface="Times New Roman"/>
                <a:cs typeface="Times New Roman"/>
              </a:rPr>
              <a:t> </a:t>
            </a:r>
            <a:r>
              <a:rPr sz="2400" spc="75" dirty="0">
                <a:solidFill>
                  <a:srgbClr val="FFFFFF"/>
                </a:solidFill>
                <a:latin typeface="Times New Roman"/>
                <a:cs typeface="Times New Roman"/>
              </a:rPr>
              <a:t>resultset</a:t>
            </a:r>
            <a:r>
              <a:rPr sz="2400" spc="-35" dirty="0">
                <a:solidFill>
                  <a:srgbClr val="FFFFFF"/>
                </a:solidFill>
                <a:latin typeface="Times New Roman"/>
                <a:cs typeface="Times New Roman"/>
              </a:rPr>
              <a:t> </a:t>
            </a:r>
            <a:r>
              <a:rPr sz="2400" spc="140" dirty="0">
                <a:solidFill>
                  <a:srgbClr val="FFFFFF"/>
                </a:solidFill>
                <a:latin typeface="Times New Roman"/>
                <a:cs typeface="Times New Roman"/>
              </a:rPr>
              <a:t>that</a:t>
            </a:r>
            <a:r>
              <a:rPr sz="2400" spc="-30" dirty="0">
                <a:solidFill>
                  <a:srgbClr val="FFFFFF"/>
                </a:solidFill>
                <a:latin typeface="Times New Roman"/>
                <a:cs typeface="Times New Roman"/>
              </a:rPr>
              <a:t> </a:t>
            </a:r>
            <a:r>
              <a:rPr sz="2400" spc="80" dirty="0">
                <a:solidFill>
                  <a:srgbClr val="FFFFFF"/>
                </a:solidFill>
                <a:latin typeface="Times New Roman"/>
                <a:cs typeface="Times New Roman"/>
              </a:rPr>
              <a:t>shows</a:t>
            </a:r>
            <a:r>
              <a:rPr sz="2400" spc="-35" dirty="0">
                <a:solidFill>
                  <a:srgbClr val="FFFFFF"/>
                </a:solidFill>
                <a:latin typeface="Times New Roman"/>
                <a:cs typeface="Times New Roman"/>
              </a:rPr>
              <a:t> </a:t>
            </a:r>
            <a:r>
              <a:rPr sz="2400" spc="85" dirty="0">
                <a:solidFill>
                  <a:srgbClr val="FFFFFF"/>
                </a:solidFill>
                <a:latin typeface="Times New Roman"/>
                <a:cs typeface="Times New Roman"/>
              </a:rPr>
              <a:t>groups</a:t>
            </a:r>
            <a:r>
              <a:rPr sz="2400" spc="-25" dirty="0">
                <a:solidFill>
                  <a:srgbClr val="FFFFFF"/>
                </a:solidFill>
                <a:latin typeface="Times New Roman"/>
                <a:cs typeface="Times New Roman"/>
              </a:rPr>
              <a:t> </a:t>
            </a:r>
            <a:r>
              <a:rPr sz="2400" spc="85" dirty="0">
                <a:solidFill>
                  <a:srgbClr val="FFFFFF"/>
                </a:solidFill>
                <a:latin typeface="Times New Roman"/>
                <a:cs typeface="Times New Roman"/>
              </a:rPr>
              <a:t>arranged</a:t>
            </a:r>
            <a:r>
              <a:rPr sz="2400" spc="-40" dirty="0">
                <a:solidFill>
                  <a:srgbClr val="FFFFFF"/>
                </a:solidFill>
                <a:latin typeface="Times New Roman"/>
                <a:cs typeface="Times New Roman"/>
              </a:rPr>
              <a:t> </a:t>
            </a:r>
            <a:r>
              <a:rPr sz="2400" spc="114" dirty="0">
                <a:solidFill>
                  <a:srgbClr val="FFFFFF"/>
                </a:solidFill>
                <a:latin typeface="Times New Roman"/>
                <a:cs typeface="Times New Roman"/>
              </a:rPr>
              <a:t>in</a:t>
            </a:r>
            <a:r>
              <a:rPr sz="2400" spc="-35" dirty="0">
                <a:solidFill>
                  <a:srgbClr val="FFFFFF"/>
                </a:solidFill>
                <a:latin typeface="Times New Roman"/>
                <a:cs typeface="Times New Roman"/>
              </a:rPr>
              <a:t> </a:t>
            </a:r>
            <a:r>
              <a:rPr sz="2400" spc="40" dirty="0">
                <a:solidFill>
                  <a:srgbClr val="FFFFFF"/>
                </a:solidFill>
                <a:latin typeface="Times New Roman"/>
                <a:cs typeface="Times New Roman"/>
              </a:rPr>
              <a:t>a  </a:t>
            </a:r>
            <a:r>
              <a:rPr sz="2400" spc="65" dirty="0">
                <a:solidFill>
                  <a:srgbClr val="FFFFFF"/>
                </a:solidFill>
                <a:latin typeface="Times New Roman"/>
                <a:cs typeface="Times New Roman"/>
              </a:rPr>
              <a:t>hierarchical</a:t>
            </a:r>
            <a:r>
              <a:rPr sz="2400" spc="-55" dirty="0">
                <a:solidFill>
                  <a:srgbClr val="FFFFFF"/>
                </a:solidFill>
                <a:latin typeface="Times New Roman"/>
                <a:cs typeface="Times New Roman"/>
              </a:rPr>
              <a:t> </a:t>
            </a:r>
            <a:r>
              <a:rPr sz="2400" spc="85" dirty="0">
                <a:solidFill>
                  <a:srgbClr val="FFFFFF"/>
                </a:solidFill>
                <a:latin typeface="Times New Roman"/>
                <a:cs typeface="Times New Roman"/>
              </a:rPr>
              <a:t>order.</a:t>
            </a:r>
            <a:endParaRPr sz="2400">
              <a:latin typeface="Times New Roman"/>
              <a:cs typeface="Times New Roman"/>
            </a:endParaRPr>
          </a:p>
          <a:p>
            <a:pPr marL="875665" indent="-343535">
              <a:lnSpc>
                <a:spcPts val="2555"/>
              </a:lnSpc>
              <a:buFont typeface="Wingdings"/>
              <a:buChar char=""/>
              <a:tabLst>
                <a:tab pos="876300" algn="l"/>
              </a:tabLst>
            </a:pPr>
            <a:r>
              <a:rPr sz="2400" spc="65" dirty="0">
                <a:solidFill>
                  <a:srgbClr val="FFFFFF"/>
                </a:solidFill>
                <a:latin typeface="Times New Roman"/>
                <a:cs typeface="Times New Roman"/>
              </a:rPr>
              <a:t>It</a:t>
            </a:r>
            <a:r>
              <a:rPr sz="2400" spc="-85" dirty="0">
                <a:solidFill>
                  <a:srgbClr val="FFFFFF"/>
                </a:solidFill>
                <a:latin typeface="Times New Roman"/>
                <a:cs typeface="Times New Roman"/>
              </a:rPr>
              <a:t> </a:t>
            </a:r>
            <a:r>
              <a:rPr sz="2400" spc="65" dirty="0">
                <a:solidFill>
                  <a:srgbClr val="FFFFFF"/>
                </a:solidFill>
                <a:latin typeface="Times New Roman"/>
                <a:cs typeface="Times New Roman"/>
              </a:rPr>
              <a:t>arranges</a:t>
            </a:r>
            <a:r>
              <a:rPr sz="2400" spc="-85" dirty="0">
                <a:solidFill>
                  <a:srgbClr val="FFFFFF"/>
                </a:solidFill>
                <a:latin typeface="Times New Roman"/>
                <a:cs typeface="Times New Roman"/>
              </a:rPr>
              <a:t> </a:t>
            </a:r>
            <a:r>
              <a:rPr sz="2400" spc="135" dirty="0">
                <a:solidFill>
                  <a:srgbClr val="FFFFFF"/>
                </a:solidFill>
                <a:latin typeface="Times New Roman"/>
                <a:cs typeface="Times New Roman"/>
              </a:rPr>
              <a:t>the</a:t>
            </a:r>
            <a:r>
              <a:rPr sz="2400" spc="-90" dirty="0">
                <a:solidFill>
                  <a:srgbClr val="FFFFFF"/>
                </a:solidFill>
                <a:latin typeface="Times New Roman"/>
                <a:cs typeface="Times New Roman"/>
              </a:rPr>
              <a:t> </a:t>
            </a:r>
            <a:r>
              <a:rPr sz="2400" spc="80" dirty="0">
                <a:solidFill>
                  <a:srgbClr val="FFFFFF"/>
                </a:solidFill>
                <a:latin typeface="Times New Roman"/>
                <a:cs typeface="Times New Roman"/>
              </a:rPr>
              <a:t>groups</a:t>
            </a:r>
            <a:r>
              <a:rPr sz="2400" spc="-75" dirty="0">
                <a:solidFill>
                  <a:srgbClr val="FFFFFF"/>
                </a:solidFill>
                <a:latin typeface="Times New Roman"/>
                <a:cs typeface="Times New Roman"/>
              </a:rPr>
              <a:t> </a:t>
            </a:r>
            <a:r>
              <a:rPr sz="2400" spc="90" dirty="0">
                <a:solidFill>
                  <a:srgbClr val="FFFFFF"/>
                </a:solidFill>
                <a:latin typeface="Times New Roman"/>
                <a:cs typeface="Times New Roman"/>
              </a:rPr>
              <a:t>from</a:t>
            </a:r>
            <a:r>
              <a:rPr sz="2400" spc="-95" dirty="0">
                <a:solidFill>
                  <a:srgbClr val="FFFFFF"/>
                </a:solidFill>
                <a:latin typeface="Times New Roman"/>
                <a:cs typeface="Times New Roman"/>
              </a:rPr>
              <a:t> </a:t>
            </a:r>
            <a:r>
              <a:rPr sz="2400" spc="135" dirty="0">
                <a:solidFill>
                  <a:srgbClr val="FFFFFF"/>
                </a:solidFill>
                <a:latin typeface="Times New Roman"/>
                <a:cs typeface="Times New Roman"/>
              </a:rPr>
              <a:t>the</a:t>
            </a:r>
            <a:r>
              <a:rPr sz="2400" spc="-85" dirty="0">
                <a:solidFill>
                  <a:srgbClr val="FFFFFF"/>
                </a:solidFill>
                <a:latin typeface="Times New Roman"/>
                <a:cs typeface="Times New Roman"/>
              </a:rPr>
              <a:t> </a:t>
            </a:r>
            <a:r>
              <a:rPr sz="2400" spc="65" dirty="0">
                <a:solidFill>
                  <a:srgbClr val="FFFFFF"/>
                </a:solidFill>
                <a:latin typeface="Times New Roman"/>
                <a:cs typeface="Times New Roman"/>
              </a:rPr>
              <a:t>lowest</a:t>
            </a:r>
            <a:r>
              <a:rPr sz="2400" spc="-85" dirty="0">
                <a:solidFill>
                  <a:srgbClr val="FFFFFF"/>
                </a:solidFill>
                <a:latin typeface="Times New Roman"/>
                <a:cs typeface="Times New Roman"/>
              </a:rPr>
              <a:t> </a:t>
            </a:r>
            <a:r>
              <a:rPr sz="2400" spc="130" dirty="0">
                <a:solidFill>
                  <a:srgbClr val="FFFFFF"/>
                </a:solidFill>
                <a:latin typeface="Times New Roman"/>
                <a:cs typeface="Times New Roman"/>
              </a:rPr>
              <a:t>to</a:t>
            </a:r>
            <a:r>
              <a:rPr sz="2400" spc="-85" dirty="0">
                <a:solidFill>
                  <a:srgbClr val="FFFFFF"/>
                </a:solidFill>
                <a:latin typeface="Times New Roman"/>
                <a:cs typeface="Times New Roman"/>
              </a:rPr>
              <a:t> </a:t>
            </a:r>
            <a:r>
              <a:rPr sz="2400" spc="135" dirty="0">
                <a:solidFill>
                  <a:srgbClr val="FFFFFF"/>
                </a:solidFill>
                <a:latin typeface="Times New Roman"/>
                <a:cs typeface="Times New Roman"/>
              </a:rPr>
              <a:t>the</a:t>
            </a:r>
            <a:r>
              <a:rPr sz="2400" spc="-95" dirty="0">
                <a:solidFill>
                  <a:srgbClr val="FFFFFF"/>
                </a:solidFill>
                <a:latin typeface="Times New Roman"/>
                <a:cs typeface="Times New Roman"/>
              </a:rPr>
              <a:t> </a:t>
            </a:r>
            <a:r>
              <a:rPr sz="2400" spc="75" dirty="0">
                <a:solidFill>
                  <a:srgbClr val="FFFFFF"/>
                </a:solidFill>
                <a:latin typeface="Times New Roman"/>
                <a:cs typeface="Times New Roman"/>
              </a:rPr>
              <a:t>highest.</a:t>
            </a:r>
            <a:endParaRPr sz="2400">
              <a:latin typeface="Times New Roman"/>
              <a:cs typeface="Times New Roman"/>
            </a:endParaRPr>
          </a:p>
          <a:p>
            <a:pPr>
              <a:lnSpc>
                <a:spcPct val="100000"/>
              </a:lnSpc>
              <a:spcBef>
                <a:spcPts val="25"/>
              </a:spcBef>
              <a:buClr>
                <a:srgbClr val="FFFFFF"/>
              </a:buClr>
              <a:buFont typeface="Wingdings"/>
              <a:buChar char=""/>
            </a:pPr>
            <a:endParaRPr sz="4900">
              <a:latin typeface="Times New Roman"/>
              <a:cs typeface="Times New Roman"/>
            </a:endParaRPr>
          </a:p>
          <a:p>
            <a:pPr marL="940435" marR="5715" lvl="1" indent="-342900">
              <a:lnSpc>
                <a:spcPts val="2160"/>
              </a:lnSpc>
              <a:buFont typeface="Wingdings"/>
              <a:buChar char=""/>
              <a:tabLst>
                <a:tab pos="940435" algn="l"/>
                <a:tab pos="941069" algn="l"/>
              </a:tabLst>
            </a:pPr>
            <a:r>
              <a:rPr sz="2000" spc="85" dirty="0">
                <a:solidFill>
                  <a:srgbClr val="FFFFFF"/>
                </a:solidFill>
                <a:latin typeface="Times New Roman"/>
                <a:cs typeface="Times New Roman"/>
              </a:rPr>
              <a:t>ROLLUP </a:t>
            </a:r>
            <a:r>
              <a:rPr sz="2000" spc="45" dirty="0">
                <a:solidFill>
                  <a:srgbClr val="FFFFFF"/>
                </a:solidFill>
                <a:latin typeface="Times New Roman"/>
                <a:cs typeface="Times New Roman"/>
              </a:rPr>
              <a:t>assumes </a:t>
            </a:r>
            <a:r>
              <a:rPr sz="2000" spc="30" dirty="0">
                <a:solidFill>
                  <a:srgbClr val="FFFFFF"/>
                </a:solidFill>
                <a:latin typeface="Times New Roman"/>
                <a:cs typeface="Times New Roman"/>
              </a:rPr>
              <a:t>a </a:t>
            </a:r>
            <a:r>
              <a:rPr sz="2000" spc="65" dirty="0">
                <a:solidFill>
                  <a:srgbClr val="FFFFFF"/>
                </a:solidFill>
                <a:latin typeface="Times New Roman"/>
                <a:cs typeface="Times New Roman"/>
              </a:rPr>
              <a:t>hierarchy </a:t>
            </a:r>
            <a:r>
              <a:rPr sz="2000" spc="75" dirty="0">
                <a:solidFill>
                  <a:srgbClr val="FFFFFF"/>
                </a:solidFill>
                <a:latin typeface="Times New Roman"/>
                <a:cs typeface="Times New Roman"/>
              </a:rPr>
              <a:t>among </a:t>
            </a:r>
            <a:r>
              <a:rPr sz="2000" spc="110" dirty="0">
                <a:solidFill>
                  <a:srgbClr val="FFFFFF"/>
                </a:solidFill>
                <a:latin typeface="Times New Roman"/>
                <a:cs typeface="Times New Roman"/>
              </a:rPr>
              <a:t>the </a:t>
            </a:r>
            <a:r>
              <a:rPr sz="2000" spc="80" dirty="0">
                <a:solidFill>
                  <a:srgbClr val="FFFFFF"/>
                </a:solidFill>
                <a:latin typeface="Times New Roman"/>
                <a:cs typeface="Times New Roman"/>
              </a:rPr>
              <a:t>dimension </a:t>
            </a:r>
            <a:r>
              <a:rPr sz="2000" spc="75" dirty="0">
                <a:solidFill>
                  <a:srgbClr val="FFFFFF"/>
                </a:solidFill>
                <a:latin typeface="Times New Roman"/>
                <a:cs typeface="Times New Roman"/>
              </a:rPr>
              <a:t>columns  </a:t>
            </a:r>
            <a:r>
              <a:rPr sz="2000" spc="110" dirty="0">
                <a:solidFill>
                  <a:srgbClr val="FFFFFF"/>
                </a:solidFill>
                <a:latin typeface="Times New Roman"/>
                <a:cs typeface="Times New Roman"/>
              </a:rPr>
              <a:t>and</a:t>
            </a:r>
            <a:r>
              <a:rPr sz="2000" spc="-75" dirty="0">
                <a:solidFill>
                  <a:srgbClr val="FFFFFF"/>
                </a:solidFill>
                <a:latin typeface="Times New Roman"/>
                <a:cs typeface="Times New Roman"/>
              </a:rPr>
              <a:t> </a:t>
            </a:r>
            <a:r>
              <a:rPr sz="2000" spc="65" dirty="0">
                <a:solidFill>
                  <a:srgbClr val="FFFFFF"/>
                </a:solidFill>
                <a:latin typeface="Times New Roman"/>
                <a:cs typeface="Times New Roman"/>
              </a:rPr>
              <a:t>only</a:t>
            </a:r>
            <a:r>
              <a:rPr sz="2000" spc="-50" dirty="0">
                <a:solidFill>
                  <a:srgbClr val="FFFFFF"/>
                </a:solidFill>
                <a:latin typeface="Times New Roman"/>
                <a:cs typeface="Times New Roman"/>
              </a:rPr>
              <a:t> </a:t>
            </a:r>
            <a:r>
              <a:rPr sz="2000" spc="55" dirty="0">
                <a:solidFill>
                  <a:srgbClr val="FFFFFF"/>
                </a:solidFill>
                <a:latin typeface="Times New Roman"/>
                <a:cs typeface="Times New Roman"/>
              </a:rPr>
              <a:t>generates</a:t>
            </a:r>
            <a:r>
              <a:rPr sz="2000" spc="-40" dirty="0">
                <a:solidFill>
                  <a:srgbClr val="FFFFFF"/>
                </a:solidFill>
                <a:latin typeface="Times New Roman"/>
                <a:cs typeface="Times New Roman"/>
              </a:rPr>
              <a:t> </a:t>
            </a:r>
            <a:r>
              <a:rPr sz="2000" spc="70" dirty="0">
                <a:solidFill>
                  <a:srgbClr val="FFFFFF"/>
                </a:solidFill>
                <a:latin typeface="Times New Roman"/>
                <a:cs typeface="Times New Roman"/>
              </a:rPr>
              <a:t>grouping</a:t>
            </a:r>
            <a:r>
              <a:rPr sz="2000" spc="-70" dirty="0">
                <a:solidFill>
                  <a:srgbClr val="FFFFFF"/>
                </a:solidFill>
                <a:latin typeface="Times New Roman"/>
                <a:cs typeface="Times New Roman"/>
              </a:rPr>
              <a:t> </a:t>
            </a:r>
            <a:r>
              <a:rPr sz="2000" spc="45" dirty="0">
                <a:solidFill>
                  <a:srgbClr val="FFFFFF"/>
                </a:solidFill>
                <a:latin typeface="Times New Roman"/>
                <a:cs typeface="Times New Roman"/>
              </a:rPr>
              <a:t>sets</a:t>
            </a:r>
            <a:r>
              <a:rPr sz="2000" spc="-65" dirty="0">
                <a:solidFill>
                  <a:srgbClr val="FFFFFF"/>
                </a:solidFill>
                <a:latin typeface="Times New Roman"/>
                <a:cs typeface="Times New Roman"/>
              </a:rPr>
              <a:t> </a:t>
            </a:r>
            <a:r>
              <a:rPr sz="2000" spc="60" dirty="0">
                <a:solidFill>
                  <a:srgbClr val="FFFFFF"/>
                </a:solidFill>
                <a:latin typeface="Times New Roman"/>
                <a:cs typeface="Times New Roman"/>
              </a:rPr>
              <a:t>based</a:t>
            </a:r>
            <a:r>
              <a:rPr sz="2000" spc="-60" dirty="0">
                <a:solidFill>
                  <a:srgbClr val="FFFFFF"/>
                </a:solidFill>
                <a:latin typeface="Times New Roman"/>
                <a:cs typeface="Times New Roman"/>
              </a:rPr>
              <a:t> </a:t>
            </a:r>
            <a:r>
              <a:rPr sz="2000" spc="130" dirty="0">
                <a:solidFill>
                  <a:srgbClr val="FFFFFF"/>
                </a:solidFill>
                <a:latin typeface="Times New Roman"/>
                <a:cs typeface="Times New Roman"/>
              </a:rPr>
              <a:t>on</a:t>
            </a:r>
            <a:r>
              <a:rPr sz="2000" spc="-65" dirty="0">
                <a:solidFill>
                  <a:srgbClr val="FFFFFF"/>
                </a:solidFill>
                <a:latin typeface="Times New Roman"/>
                <a:cs typeface="Times New Roman"/>
              </a:rPr>
              <a:t> </a:t>
            </a:r>
            <a:r>
              <a:rPr sz="2000" spc="75" dirty="0">
                <a:solidFill>
                  <a:srgbClr val="FFFFFF"/>
                </a:solidFill>
                <a:latin typeface="Times New Roman"/>
                <a:cs typeface="Times New Roman"/>
              </a:rPr>
              <a:t>this</a:t>
            </a:r>
            <a:r>
              <a:rPr sz="2000" spc="-65" dirty="0">
                <a:solidFill>
                  <a:srgbClr val="FFFFFF"/>
                </a:solidFill>
                <a:latin typeface="Times New Roman"/>
                <a:cs typeface="Times New Roman"/>
              </a:rPr>
              <a:t> </a:t>
            </a:r>
            <a:r>
              <a:rPr sz="2000" spc="60" dirty="0">
                <a:solidFill>
                  <a:srgbClr val="FFFFFF"/>
                </a:solidFill>
                <a:latin typeface="Times New Roman"/>
                <a:cs typeface="Times New Roman"/>
              </a:rPr>
              <a:t>hierarchy.</a:t>
            </a:r>
            <a:endParaRPr sz="2000">
              <a:latin typeface="Times New Roman"/>
              <a:cs typeface="Times New Roman"/>
            </a:endParaRPr>
          </a:p>
          <a:p>
            <a:pPr marL="940435" marR="5080" lvl="1" indent="-342900">
              <a:lnSpc>
                <a:spcPts val="2160"/>
              </a:lnSpc>
              <a:buFont typeface="Wingdings"/>
              <a:buChar char=""/>
              <a:tabLst>
                <a:tab pos="940435" algn="l"/>
                <a:tab pos="941069" algn="l"/>
                <a:tab pos="2121535" algn="l"/>
                <a:tab pos="2421890" algn="l"/>
                <a:tab pos="3134360" algn="l"/>
                <a:tab pos="3770629" algn="l"/>
                <a:tab pos="4125595" algn="l"/>
                <a:tab pos="5186680" algn="l"/>
                <a:tab pos="6304280" algn="l"/>
                <a:tab pos="6844665" algn="l"/>
                <a:tab pos="7576184" algn="l"/>
              </a:tabLst>
            </a:pPr>
            <a:r>
              <a:rPr sz="2000" spc="80" dirty="0">
                <a:solidFill>
                  <a:srgbClr val="FFFFFF"/>
                </a:solidFill>
                <a:latin typeface="Times New Roman"/>
                <a:cs typeface="Times New Roman"/>
              </a:rPr>
              <a:t>ROL</a:t>
            </a:r>
            <a:r>
              <a:rPr sz="2000" spc="65" dirty="0">
                <a:solidFill>
                  <a:srgbClr val="FFFFFF"/>
                </a:solidFill>
                <a:latin typeface="Times New Roman"/>
                <a:cs typeface="Times New Roman"/>
              </a:rPr>
              <a:t>L</a:t>
            </a:r>
            <a:r>
              <a:rPr sz="2000" spc="95" dirty="0">
                <a:solidFill>
                  <a:srgbClr val="FFFFFF"/>
                </a:solidFill>
                <a:latin typeface="Times New Roman"/>
                <a:cs typeface="Times New Roman"/>
              </a:rPr>
              <a:t>UP</a:t>
            </a:r>
            <a:r>
              <a:rPr sz="2000" dirty="0">
                <a:solidFill>
                  <a:srgbClr val="FFFFFF"/>
                </a:solidFill>
                <a:latin typeface="Times New Roman"/>
                <a:cs typeface="Times New Roman"/>
              </a:rPr>
              <a:t>	</a:t>
            </a:r>
            <a:r>
              <a:rPr sz="2000" spc="5" dirty="0">
                <a:solidFill>
                  <a:srgbClr val="FFFFFF"/>
                </a:solidFill>
                <a:latin typeface="Times New Roman"/>
                <a:cs typeface="Times New Roman"/>
              </a:rPr>
              <a:t>is</a:t>
            </a:r>
            <a:r>
              <a:rPr sz="2000" dirty="0">
                <a:solidFill>
                  <a:srgbClr val="FFFFFF"/>
                </a:solidFill>
                <a:latin typeface="Times New Roman"/>
                <a:cs typeface="Times New Roman"/>
              </a:rPr>
              <a:t>	</a:t>
            </a:r>
            <a:r>
              <a:rPr sz="2000" spc="90" dirty="0">
                <a:solidFill>
                  <a:srgbClr val="FFFFFF"/>
                </a:solidFill>
                <a:latin typeface="Times New Roman"/>
                <a:cs typeface="Times New Roman"/>
              </a:rPr>
              <a:t>of</a:t>
            </a:r>
            <a:r>
              <a:rPr sz="2000" spc="70" dirty="0">
                <a:solidFill>
                  <a:srgbClr val="FFFFFF"/>
                </a:solidFill>
                <a:latin typeface="Times New Roman"/>
                <a:cs typeface="Times New Roman"/>
              </a:rPr>
              <a:t>t</a:t>
            </a:r>
            <a:r>
              <a:rPr sz="2000" spc="110" dirty="0">
                <a:solidFill>
                  <a:srgbClr val="FFFFFF"/>
                </a:solidFill>
                <a:latin typeface="Times New Roman"/>
                <a:cs typeface="Times New Roman"/>
              </a:rPr>
              <a:t>en</a:t>
            </a:r>
            <a:r>
              <a:rPr sz="2000" dirty="0">
                <a:solidFill>
                  <a:srgbClr val="FFFFFF"/>
                </a:solidFill>
                <a:latin typeface="Times New Roman"/>
                <a:cs typeface="Times New Roman"/>
              </a:rPr>
              <a:t>	</a:t>
            </a:r>
            <a:r>
              <a:rPr sz="2000" spc="80" dirty="0">
                <a:solidFill>
                  <a:srgbClr val="FFFFFF"/>
                </a:solidFill>
                <a:latin typeface="Times New Roman"/>
                <a:cs typeface="Times New Roman"/>
              </a:rPr>
              <a:t>used</a:t>
            </a:r>
            <a:r>
              <a:rPr sz="2000" dirty="0">
                <a:solidFill>
                  <a:srgbClr val="FFFFFF"/>
                </a:solidFill>
                <a:latin typeface="Times New Roman"/>
                <a:cs typeface="Times New Roman"/>
              </a:rPr>
              <a:t>	</a:t>
            </a:r>
            <a:r>
              <a:rPr sz="2000" spc="80" dirty="0">
                <a:solidFill>
                  <a:srgbClr val="FFFFFF"/>
                </a:solidFill>
                <a:latin typeface="Times New Roman"/>
                <a:cs typeface="Times New Roman"/>
              </a:rPr>
              <a:t>t</a:t>
            </a:r>
            <a:r>
              <a:rPr sz="2000" spc="140" dirty="0">
                <a:solidFill>
                  <a:srgbClr val="FFFFFF"/>
                </a:solidFill>
                <a:latin typeface="Times New Roman"/>
                <a:cs typeface="Times New Roman"/>
              </a:rPr>
              <a:t>o</a:t>
            </a:r>
            <a:r>
              <a:rPr sz="2000" dirty="0">
                <a:solidFill>
                  <a:srgbClr val="FFFFFF"/>
                </a:solidFill>
                <a:latin typeface="Times New Roman"/>
                <a:cs typeface="Times New Roman"/>
              </a:rPr>
              <a:t>	</a:t>
            </a:r>
            <a:r>
              <a:rPr sz="2000" spc="-20" dirty="0">
                <a:solidFill>
                  <a:srgbClr val="FFFFFF"/>
                </a:solidFill>
                <a:latin typeface="Times New Roman"/>
                <a:cs typeface="Times New Roman"/>
              </a:rPr>
              <a:t>g</a:t>
            </a:r>
            <a:r>
              <a:rPr sz="2000" spc="105" dirty="0">
                <a:solidFill>
                  <a:srgbClr val="FFFFFF"/>
                </a:solidFill>
                <a:latin typeface="Times New Roman"/>
                <a:cs typeface="Times New Roman"/>
              </a:rPr>
              <a:t>e</a:t>
            </a:r>
            <a:r>
              <a:rPr sz="2000" spc="125" dirty="0">
                <a:solidFill>
                  <a:srgbClr val="FFFFFF"/>
                </a:solidFill>
                <a:latin typeface="Times New Roman"/>
                <a:cs typeface="Times New Roman"/>
              </a:rPr>
              <a:t>n</a:t>
            </a:r>
            <a:r>
              <a:rPr sz="2000" spc="50" dirty="0">
                <a:solidFill>
                  <a:srgbClr val="FFFFFF"/>
                </a:solidFill>
                <a:latin typeface="Times New Roman"/>
                <a:cs typeface="Times New Roman"/>
              </a:rPr>
              <a:t>er</a:t>
            </a:r>
            <a:r>
              <a:rPr sz="2000" spc="60" dirty="0">
                <a:solidFill>
                  <a:srgbClr val="FFFFFF"/>
                </a:solidFill>
                <a:latin typeface="Times New Roman"/>
                <a:cs typeface="Times New Roman"/>
              </a:rPr>
              <a:t>a</a:t>
            </a:r>
            <a:r>
              <a:rPr sz="2000" spc="125" dirty="0">
                <a:solidFill>
                  <a:srgbClr val="FFFFFF"/>
                </a:solidFill>
                <a:latin typeface="Times New Roman"/>
                <a:cs typeface="Times New Roman"/>
              </a:rPr>
              <a:t>t</a:t>
            </a:r>
            <a:r>
              <a:rPr sz="2000" spc="40" dirty="0">
                <a:solidFill>
                  <a:srgbClr val="FFFFFF"/>
                </a:solidFill>
                <a:latin typeface="Times New Roman"/>
                <a:cs typeface="Times New Roman"/>
              </a:rPr>
              <a:t>e</a:t>
            </a:r>
            <a:r>
              <a:rPr sz="2000" dirty="0">
                <a:solidFill>
                  <a:srgbClr val="FFFFFF"/>
                </a:solidFill>
                <a:latin typeface="Times New Roman"/>
                <a:cs typeface="Times New Roman"/>
              </a:rPr>
              <a:t>	</a:t>
            </a:r>
            <a:r>
              <a:rPr sz="2000" spc="5" dirty="0">
                <a:solidFill>
                  <a:srgbClr val="FFFFFF"/>
                </a:solidFill>
                <a:latin typeface="Times New Roman"/>
                <a:cs typeface="Times New Roman"/>
              </a:rPr>
              <a:t>s</a:t>
            </a:r>
            <a:r>
              <a:rPr sz="2000" spc="120" dirty="0">
                <a:solidFill>
                  <a:srgbClr val="FFFFFF"/>
                </a:solidFill>
                <a:latin typeface="Times New Roman"/>
                <a:cs typeface="Times New Roman"/>
              </a:rPr>
              <a:t>ub</a:t>
            </a:r>
            <a:r>
              <a:rPr sz="2000" spc="125" dirty="0">
                <a:solidFill>
                  <a:srgbClr val="FFFFFF"/>
                </a:solidFill>
                <a:latin typeface="Times New Roman"/>
                <a:cs typeface="Times New Roman"/>
              </a:rPr>
              <a:t>t</a:t>
            </a:r>
            <a:r>
              <a:rPr sz="2000" spc="80" dirty="0">
                <a:solidFill>
                  <a:srgbClr val="FFFFFF"/>
                </a:solidFill>
                <a:latin typeface="Times New Roman"/>
                <a:cs typeface="Times New Roman"/>
              </a:rPr>
              <a:t>ot</a:t>
            </a:r>
            <a:r>
              <a:rPr sz="2000" spc="100" dirty="0">
                <a:solidFill>
                  <a:srgbClr val="FFFFFF"/>
                </a:solidFill>
                <a:latin typeface="Times New Roman"/>
                <a:cs typeface="Times New Roman"/>
              </a:rPr>
              <a:t>a</a:t>
            </a:r>
            <a:r>
              <a:rPr sz="2000" dirty="0">
                <a:solidFill>
                  <a:srgbClr val="FFFFFF"/>
                </a:solidFill>
                <a:latin typeface="Times New Roman"/>
                <a:cs typeface="Times New Roman"/>
              </a:rPr>
              <a:t>ls	</a:t>
            </a:r>
            <a:r>
              <a:rPr sz="2000" spc="35" dirty="0">
                <a:solidFill>
                  <a:srgbClr val="FFFFFF"/>
                </a:solidFill>
                <a:latin typeface="Times New Roman"/>
                <a:cs typeface="Times New Roman"/>
              </a:rPr>
              <a:t>a</a:t>
            </a:r>
            <a:r>
              <a:rPr sz="2000" spc="150" dirty="0">
                <a:solidFill>
                  <a:srgbClr val="FFFFFF"/>
                </a:solidFill>
                <a:latin typeface="Times New Roman"/>
                <a:cs typeface="Times New Roman"/>
              </a:rPr>
              <a:t>nd</a:t>
            </a:r>
            <a:r>
              <a:rPr sz="2000" dirty="0">
                <a:solidFill>
                  <a:srgbClr val="FFFFFF"/>
                </a:solidFill>
                <a:latin typeface="Times New Roman"/>
                <a:cs typeface="Times New Roman"/>
              </a:rPr>
              <a:t>	</a:t>
            </a:r>
            <a:r>
              <a:rPr sz="2000" spc="114" dirty="0">
                <a:solidFill>
                  <a:srgbClr val="FFFFFF"/>
                </a:solidFill>
                <a:latin typeface="Times New Roman"/>
                <a:cs typeface="Times New Roman"/>
              </a:rPr>
              <a:t>tot</a:t>
            </a:r>
            <a:r>
              <a:rPr sz="2000" spc="35" dirty="0">
                <a:solidFill>
                  <a:srgbClr val="FFFFFF"/>
                </a:solidFill>
                <a:latin typeface="Times New Roman"/>
                <a:cs typeface="Times New Roman"/>
              </a:rPr>
              <a:t>a</a:t>
            </a:r>
            <a:r>
              <a:rPr sz="2000" dirty="0">
                <a:solidFill>
                  <a:srgbClr val="FFFFFF"/>
                </a:solidFill>
                <a:latin typeface="Times New Roman"/>
                <a:cs typeface="Times New Roman"/>
              </a:rPr>
              <a:t>ls	</a:t>
            </a:r>
            <a:r>
              <a:rPr sz="2000" spc="55" dirty="0">
                <a:solidFill>
                  <a:srgbClr val="FFFFFF"/>
                </a:solidFill>
                <a:latin typeface="Times New Roman"/>
                <a:cs typeface="Times New Roman"/>
              </a:rPr>
              <a:t>for  </a:t>
            </a:r>
            <a:r>
              <a:rPr sz="2000" spc="75" dirty="0">
                <a:solidFill>
                  <a:srgbClr val="FFFFFF"/>
                </a:solidFill>
                <a:latin typeface="Times New Roman"/>
                <a:cs typeface="Times New Roman"/>
              </a:rPr>
              <a:t>reporting</a:t>
            </a:r>
            <a:r>
              <a:rPr sz="2000" spc="-55" dirty="0">
                <a:solidFill>
                  <a:srgbClr val="FFFFFF"/>
                </a:solidFill>
                <a:latin typeface="Times New Roman"/>
                <a:cs typeface="Times New Roman"/>
              </a:rPr>
              <a:t> </a:t>
            </a:r>
            <a:r>
              <a:rPr sz="2000" spc="65" dirty="0">
                <a:solidFill>
                  <a:srgbClr val="FFFFFF"/>
                </a:solidFill>
                <a:latin typeface="Times New Roman"/>
                <a:cs typeface="Times New Roman"/>
              </a:rPr>
              <a:t>purposes.</a:t>
            </a:r>
            <a:endParaRPr sz="2000">
              <a:latin typeface="Times New Roman"/>
              <a:cs typeface="Times New Roman"/>
            </a:endParaRPr>
          </a:p>
          <a:p>
            <a:pPr marL="940435" lvl="1" indent="-343535">
              <a:lnSpc>
                <a:spcPts val="2045"/>
              </a:lnSpc>
              <a:buFont typeface="Wingdings"/>
              <a:buChar char=""/>
              <a:tabLst>
                <a:tab pos="940435" algn="l"/>
                <a:tab pos="941069" algn="l"/>
                <a:tab pos="2139315" algn="l"/>
                <a:tab pos="2456180" algn="l"/>
                <a:tab pos="3765550" algn="l"/>
                <a:tab pos="4418965" algn="l"/>
                <a:tab pos="4791075" algn="l"/>
                <a:tab pos="5896610" algn="l"/>
                <a:tab pos="6397625" algn="l"/>
                <a:tab pos="7671434" algn="l"/>
              </a:tabLst>
            </a:pPr>
            <a:r>
              <a:rPr sz="2000" spc="80" dirty="0">
                <a:solidFill>
                  <a:srgbClr val="FFFFFF"/>
                </a:solidFill>
                <a:latin typeface="Times New Roman"/>
                <a:cs typeface="Times New Roman"/>
              </a:rPr>
              <a:t>ROL</a:t>
            </a:r>
            <a:r>
              <a:rPr sz="2000" spc="65" dirty="0">
                <a:solidFill>
                  <a:srgbClr val="FFFFFF"/>
                </a:solidFill>
                <a:latin typeface="Times New Roman"/>
                <a:cs typeface="Times New Roman"/>
              </a:rPr>
              <a:t>L</a:t>
            </a:r>
            <a:r>
              <a:rPr sz="2000" spc="95" dirty="0">
                <a:solidFill>
                  <a:srgbClr val="FFFFFF"/>
                </a:solidFill>
                <a:latin typeface="Times New Roman"/>
                <a:cs typeface="Times New Roman"/>
              </a:rPr>
              <a:t>UP</a:t>
            </a:r>
            <a:r>
              <a:rPr sz="2000" dirty="0">
                <a:solidFill>
                  <a:srgbClr val="FFFFFF"/>
                </a:solidFill>
                <a:latin typeface="Times New Roman"/>
                <a:cs typeface="Times New Roman"/>
              </a:rPr>
              <a:t>	</a:t>
            </a:r>
            <a:r>
              <a:rPr sz="2000" spc="5" dirty="0">
                <a:solidFill>
                  <a:srgbClr val="FFFFFF"/>
                </a:solidFill>
                <a:latin typeface="Times New Roman"/>
                <a:cs typeface="Times New Roman"/>
              </a:rPr>
              <a:t>is</a:t>
            </a:r>
            <a:r>
              <a:rPr sz="2000" dirty="0">
                <a:solidFill>
                  <a:srgbClr val="FFFFFF"/>
                </a:solidFill>
                <a:latin typeface="Times New Roman"/>
                <a:cs typeface="Times New Roman"/>
              </a:rPr>
              <a:t>	</a:t>
            </a:r>
            <a:r>
              <a:rPr sz="2000" spc="80" dirty="0">
                <a:solidFill>
                  <a:srgbClr val="FFFFFF"/>
                </a:solidFill>
                <a:latin typeface="Times New Roman"/>
                <a:cs typeface="Times New Roman"/>
              </a:rPr>
              <a:t>comm</a:t>
            </a:r>
            <a:r>
              <a:rPr sz="2000" spc="70" dirty="0">
                <a:solidFill>
                  <a:srgbClr val="FFFFFF"/>
                </a:solidFill>
                <a:latin typeface="Times New Roman"/>
                <a:cs typeface="Times New Roman"/>
              </a:rPr>
              <a:t>o</a:t>
            </a:r>
            <a:r>
              <a:rPr sz="2000" spc="185" dirty="0">
                <a:solidFill>
                  <a:srgbClr val="FFFFFF"/>
                </a:solidFill>
                <a:latin typeface="Times New Roman"/>
                <a:cs typeface="Times New Roman"/>
              </a:rPr>
              <a:t>n</a:t>
            </a:r>
            <a:r>
              <a:rPr sz="2000" dirty="0">
                <a:solidFill>
                  <a:srgbClr val="FFFFFF"/>
                </a:solidFill>
                <a:latin typeface="Times New Roman"/>
                <a:cs typeface="Times New Roman"/>
              </a:rPr>
              <a:t>l</a:t>
            </a:r>
            <a:r>
              <a:rPr sz="2000" spc="-5" dirty="0">
                <a:solidFill>
                  <a:srgbClr val="FFFFFF"/>
                </a:solidFill>
                <a:latin typeface="Times New Roman"/>
                <a:cs typeface="Times New Roman"/>
              </a:rPr>
              <a:t>y</a:t>
            </a:r>
            <a:r>
              <a:rPr sz="2000" dirty="0">
                <a:solidFill>
                  <a:srgbClr val="FFFFFF"/>
                </a:solidFill>
                <a:latin typeface="Times New Roman"/>
                <a:cs typeface="Times New Roman"/>
              </a:rPr>
              <a:t>	</a:t>
            </a:r>
            <a:r>
              <a:rPr sz="2000" spc="80" dirty="0">
                <a:solidFill>
                  <a:srgbClr val="FFFFFF"/>
                </a:solidFill>
                <a:latin typeface="Times New Roman"/>
                <a:cs typeface="Times New Roman"/>
              </a:rPr>
              <a:t>used</a:t>
            </a:r>
            <a:r>
              <a:rPr sz="2000" dirty="0">
                <a:solidFill>
                  <a:srgbClr val="FFFFFF"/>
                </a:solidFill>
                <a:latin typeface="Times New Roman"/>
                <a:cs typeface="Times New Roman"/>
              </a:rPr>
              <a:t>	</a:t>
            </a:r>
            <a:r>
              <a:rPr sz="2000" spc="110" dirty="0">
                <a:solidFill>
                  <a:srgbClr val="FFFFFF"/>
                </a:solidFill>
                <a:latin typeface="Times New Roman"/>
                <a:cs typeface="Times New Roman"/>
              </a:rPr>
              <a:t>to</a:t>
            </a:r>
            <a:r>
              <a:rPr sz="2000" dirty="0">
                <a:solidFill>
                  <a:srgbClr val="FFFFFF"/>
                </a:solidFill>
                <a:latin typeface="Times New Roman"/>
                <a:cs typeface="Times New Roman"/>
              </a:rPr>
              <a:t>	</a:t>
            </a:r>
            <a:r>
              <a:rPr sz="2000" spc="15" dirty="0">
                <a:solidFill>
                  <a:srgbClr val="FFFFFF"/>
                </a:solidFill>
                <a:latin typeface="Times New Roman"/>
                <a:cs typeface="Times New Roman"/>
              </a:rPr>
              <a:t>cal</a:t>
            </a:r>
            <a:r>
              <a:rPr sz="2000" spc="45" dirty="0">
                <a:solidFill>
                  <a:srgbClr val="FFFFFF"/>
                </a:solidFill>
                <a:latin typeface="Times New Roman"/>
                <a:cs typeface="Times New Roman"/>
              </a:rPr>
              <a:t>cul</a:t>
            </a:r>
            <a:r>
              <a:rPr sz="2000" spc="55" dirty="0">
                <a:solidFill>
                  <a:srgbClr val="FFFFFF"/>
                </a:solidFill>
                <a:latin typeface="Times New Roman"/>
                <a:cs typeface="Times New Roman"/>
              </a:rPr>
              <a:t>a</a:t>
            </a:r>
            <a:r>
              <a:rPr sz="2000" spc="125" dirty="0">
                <a:solidFill>
                  <a:srgbClr val="FFFFFF"/>
                </a:solidFill>
                <a:latin typeface="Times New Roman"/>
                <a:cs typeface="Times New Roman"/>
              </a:rPr>
              <a:t>t</a:t>
            </a:r>
            <a:r>
              <a:rPr sz="2000" spc="40" dirty="0">
                <a:solidFill>
                  <a:srgbClr val="FFFFFF"/>
                </a:solidFill>
                <a:latin typeface="Times New Roman"/>
                <a:cs typeface="Times New Roman"/>
              </a:rPr>
              <a:t>e</a:t>
            </a:r>
            <a:r>
              <a:rPr sz="2000" dirty="0">
                <a:solidFill>
                  <a:srgbClr val="FFFFFF"/>
                </a:solidFill>
                <a:latin typeface="Times New Roman"/>
                <a:cs typeface="Times New Roman"/>
              </a:rPr>
              <a:t>	</a:t>
            </a:r>
            <a:r>
              <a:rPr sz="2000" spc="110" dirty="0">
                <a:solidFill>
                  <a:srgbClr val="FFFFFF"/>
                </a:solidFill>
                <a:latin typeface="Times New Roman"/>
                <a:cs typeface="Times New Roman"/>
              </a:rPr>
              <a:t>the</a:t>
            </a:r>
            <a:r>
              <a:rPr sz="2000" dirty="0">
                <a:solidFill>
                  <a:srgbClr val="FFFFFF"/>
                </a:solidFill>
                <a:latin typeface="Times New Roman"/>
                <a:cs typeface="Times New Roman"/>
              </a:rPr>
              <a:t>	</a:t>
            </a:r>
            <a:r>
              <a:rPr sz="2000" spc="35" dirty="0">
                <a:solidFill>
                  <a:srgbClr val="FFFFFF"/>
                </a:solidFill>
                <a:latin typeface="Times New Roman"/>
                <a:cs typeface="Times New Roman"/>
              </a:rPr>
              <a:t>a</a:t>
            </a:r>
            <a:r>
              <a:rPr sz="2000" spc="10" dirty="0">
                <a:solidFill>
                  <a:srgbClr val="FFFFFF"/>
                </a:solidFill>
                <a:latin typeface="Times New Roman"/>
                <a:cs typeface="Times New Roman"/>
              </a:rPr>
              <a:t>ggr</a:t>
            </a:r>
            <a:r>
              <a:rPr sz="2000" spc="45" dirty="0">
                <a:solidFill>
                  <a:srgbClr val="FFFFFF"/>
                </a:solidFill>
                <a:latin typeface="Times New Roman"/>
                <a:cs typeface="Times New Roman"/>
              </a:rPr>
              <a:t>ega</a:t>
            </a:r>
            <a:r>
              <a:rPr sz="2000" spc="35" dirty="0">
                <a:solidFill>
                  <a:srgbClr val="FFFFFF"/>
                </a:solidFill>
                <a:latin typeface="Times New Roman"/>
                <a:cs typeface="Times New Roman"/>
              </a:rPr>
              <a:t>t</a:t>
            </a:r>
            <a:r>
              <a:rPr sz="2000" spc="25" dirty="0">
                <a:solidFill>
                  <a:srgbClr val="FFFFFF"/>
                </a:solidFill>
                <a:latin typeface="Times New Roman"/>
                <a:cs typeface="Times New Roman"/>
              </a:rPr>
              <a:t>es</a:t>
            </a:r>
            <a:r>
              <a:rPr sz="2000" dirty="0">
                <a:solidFill>
                  <a:srgbClr val="FFFFFF"/>
                </a:solidFill>
                <a:latin typeface="Times New Roman"/>
                <a:cs typeface="Times New Roman"/>
              </a:rPr>
              <a:t>	</a:t>
            </a:r>
            <a:r>
              <a:rPr sz="2000" spc="50" dirty="0">
                <a:solidFill>
                  <a:srgbClr val="FFFFFF"/>
                </a:solidFill>
                <a:latin typeface="Times New Roman"/>
                <a:cs typeface="Times New Roman"/>
              </a:rPr>
              <a:t>of</a:t>
            </a:r>
            <a:endParaRPr sz="2000">
              <a:latin typeface="Times New Roman"/>
              <a:cs typeface="Times New Roman"/>
            </a:endParaRPr>
          </a:p>
          <a:p>
            <a:pPr marL="940435">
              <a:lnSpc>
                <a:spcPts val="2320"/>
              </a:lnSpc>
            </a:pPr>
            <a:r>
              <a:rPr sz="2000" spc="55" dirty="0">
                <a:solidFill>
                  <a:srgbClr val="FFFFFF"/>
                </a:solidFill>
                <a:latin typeface="Times New Roman"/>
                <a:cs typeface="Times New Roman"/>
              </a:rPr>
              <a:t>hierarchical</a:t>
            </a:r>
            <a:r>
              <a:rPr sz="2000" spc="-80" dirty="0">
                <a:solidFill>
                  <a:srgbClr val="FFFFFF"/>
                </a:solidFill>
                <a:latin typeface="Times New Roman"/>
                <a:cs typeface="Times New Roman"/>
              </a:rPr>
              <a:t> </a:t>
            </a:r>
            <a:r>
              <a:rPr sz="2000" spc="80" dirty="0">
                <a:solidFill>
                  <a:srgbClr val="FFFFFF"/>
                </a:solidFill>
                <a:latin typeface="Times New Roman"/>
                <a:cs typeface="Times New Roman"/>
              </a:rPr>
              <a:t>data</a:t>
            </a:r>
            <a:r>
              <a:rPr sz="2000" spc="-65" dirty="0">
                <a:solidFill>
                  <a:srgbClr val="FFFFFF"/>
                </a:solidFill>
                <a:latin typeface="Times New Roman"/>
                <a:cs typeface="Times New Roman"/>
              </a:rPr>
              <a:t> </a:t>
            </a:r>
            <a:r>
              <a:rPr sz="2000" spc="85" dirty="0">
                <a:solidFill>
                  <a:srgbClr val="FFFFFF"/>
                </a:solidFill>
                <a:latin typeface="Times New Roman"/>
                <a:cs typeface="Times New Roman"/>
              </a:rPr>
              <a:t>such</a:t>
            </a:r>
            <a:r>
              <a:rPr sz="2000" spc="-80" dirty="0">
                <a:solidFill>
                  <a:srgbClr val="FFFFFF"/>
                </a:solidFill>
                <a:latin typeface="Times New Roman"/>
                <a:cs typeface="Times New Roman"/>
              </a:rPr>
              <a:t> </a:t>
            </a:r>
            <a:r>
              <a:rPr sz="2000" spc="20" dirty="0">
                <a:solidFill>
                  <a:srgbClr val="FFFFFF"/>
                </a:solidFill>
                <a:latin typeface="Times New Roman"/>
                <a:cs typeface="Times New Roman"/>
              </a:rPr>
              <a:t>as</a:t>
            </a:r>
            <a:r>
              <a:rPr sz="2000" spc="-75" dirty="0">
                <a:solidFill>
                  <a:srgbClr val="FFFFFF"/>
                </a:solidFill>
                <a:latin typeface="Times New Roman"/>
                <a:cs typeface="Times New Roman"/>
              </a:rPr>
              <a:t> </a:t>
            </a:r>
            <a:r>
              <a:rPr sz="2000" spc="15" dirty="0">
                <a:solidFill>
                  <a:srgbClr val="FFFFFF"/>
                </a:solidFill>
                <a:latin typeface="Times New Roman"/>
                <a:cs typeface="Times New Roman"/>
              </a:rPr>
              <a:t>sales</a:t>
            </a:r>
            <a:r>
              <a:rPr sz="2000" spc="-55" dirty="0">
                <a:solidFill>
                  <a:srgbClr val="FFFFFF"/>
                </a:solidFill>
                <a:latin typeface="Times New Roman"/>
                <a:cs typeface="Times New Roman"/>
              </a:rPr>
              <a:t> </a:t>
            </a:r>
            <a:r>
              <a:rPr sz="2000" spc="40" dirty="0">
                <a:solidFill>
                  <a:srgbClr val="FFFFFF"/>
                </a:solidFill>
                <a:latin typeface="Times New Roman"/>
                <a:cs typeface="Times New Roman"/>
              </a:rPr>
              <a:t>by</a:t>
            </a:r>
            <a:r>
              <a:rPr sz="2000" spc="-65" dirty="0">
                <a:solidFill>
                  <a:srgbClr val="FFFFFF"/>
                </a:solidFill>
                <a:latin typeface="Times New Roman"/>
                <a:cs typeface="Times New Roman"/>
              </a:rPr>
              <a:t> </a:t>
            </a:r>
            <a:r>
              <a:rPr sz="2000" spc="35" dirty="0">
                <a:solidFill>
                  <a:srgbClr val="FFFFFF"/>
                </a:solidFill>
                <a:latin typeface="Times New Roman"/>
                <a:cs typeface="Times New Roman"/>
              </a:rPr>
              <a:t>year</a:t>
            </a:r>
            <a:r>
              <a:rPr sz="2000" spc="-60" dirty="0">
                <a:solidFill>
                  <a:srgbClr val="FFFFFF"/>
                </a:solidFill>
                <a:latin typeface="Times New Roman"/>
                <a:cs typeface="Times New Roman"/>
              </a:rPr>
              <a:t> </a:t>
            </a:r>
            <a:r>
              <a:rPr sz="2000" spc="-5" dirty="0">
                <a:solidFill>
                  <a:srgbClr val="FFFFFF"/>
                </a:solidFill>
                <a:latin typeface="Calibri"/>
                <a:cs typeface="Calibri"/>
              </a:rPr>
              <a:t>→</a:t>
            </a:r>
            <a:r>
              <a:rPr sz="2000" spc="-25" dirty="0">
                <a:solidFill>
                  <a:srgbClr val="FFFFFF"/>
                </a:solidFill>
                <a:latin typeface="Calibri"/>
                <a:cs typeface="Calibri"/>
              </a:rPr>
              <a:t> </a:t>
            </a:r>
            <a:r>
              <a:rPr sz="2000" spc="90" dirty="0">
                <a:solidFill>
                  <a:srgbClr val="FFFFFF"/>
                </a:solidFill>
                <a:latin typeface="Times New Roman"/>
                <a:cs typeface="Times New Roman"/>
              </a:rPr>
              <a:t>quarter</a:t>
            </a:r>
            <a:r>
              <a:rPr sz="2000" spc="-70" dirty="0">
                <a:solidFill>
                  <a:srgbClr val="FFFFFF"/>
                </a:solidFill>
                <a:latin typeface="Times New Roman"/>
                <a:cs typeface="Times New Roman"/>
              </a:rPr>
              <a:t> </a:t>
            </a:r>
            <a:r>
              <a:rPr sz="2000" spc="-5" dirty="0">
                <a:solidFill>
                  <a:srgbClr val="FFFFFF"/>
                </a:solidFill>
                <a:latin typeface="Calibri"/>
                <a:cs typeface="Calibri"/>
              </a:rPr>
              <a:t>→</a:t>
            </a:r>
            <a:r>
              <a:rPr sz="2000" spc="-30" dirty="0">
                <a:solidFill>
                  <a:srgbClr val="FFFFFF"/>
                </a:solidFill>
                <a:latin typeface="Calibri"/>
                <a:cs typeface="Calibri"/>
              </a:rPr>
              <a:t> </a:t>
            </a:r>
            <a:r>
              <a:rPr sz="2000" spc="110" dirty="0">
                <a:solidFill>
                  <a:srgbClr val="FFFFFF"/>
                </a:solidFill>
                <a:latin typeface="Times New Roman"/>
                <a:cs typeface="Times New Roman"/>
              </a:rPr>
              <a:t>month.</a:t>
            </a:r>
            <a:endParaRPr sz="2000">
              <a:latin typeface="Times New Roman"/>
              <a:cs typeface="Times New Roman"/>
            </a:endParaRPr>
          </a:p>
        </p:txBody>
      </p:sp>
      <p:sp>
        <p:nvSpPr>
          <p:cNvPr id="7" name="object 7"/>
          <p:cNvSpPr txBox="1"/>
          <p:nvPr/>
        </p:nvSpPr>
        <p:spPr>
          <a:xfrm>
            <a:off x="7912607" y="6569709"/>
            <a:ext cx="904875" cy="256540"/>
          </a:xfrm>
          <a:prstGeom prst="rect">
            <a:avLst/>
          </a:prstGeom>
        </p:spPr>
        <p:txBody>
          <a:bodyPr vert="horz" wrap="square" lIns="0" tIns="18415" rIns="0" bIns="0" rtlCol="0">
            <a:spAutoFit/>
          </a:bodyPr>
          <a:lstStyle/>
          <a:p>
            <a:pPr marL="12700">
              <a:lnSpc>
                <a:spcPct val="100000"/>
              </a:lnSpc>
              <a:spcBef>
                <a:spcPts val="145"/>
              </a:spcBef>
            </a:pPr>
            <a:r>
              <a:rPr sz="1800" spc="52" baseline="4629" dirty="0">
                <a:latin typeface="Times New Roman"/>
                <a:cs typeface="Times New Roman"/>
              </a:rPr>
              <a:t>Session </a:t>
            </a:r>
            <a:r>
              <a:rPr sz="1800" spc="104" baseline="4629" dirty="0">
                <a:latin typeface="Times New Roman"/>
                <a:cs typeface="Times New Roman"/>
              </a:rPr>
              <a:t>9/</a:t>
            </a:r>
            <a:r>
              <a:rPr sz="1800" spc="-262" baseline="4629" dirty="0">
                <a:latin typeface="Times New Roman"/>
                <a:cs typeface="Times New Roman"/>
              </a:rPr>
              <a:t> </a:t>
            </a:r>
            <a:fld id="{81D60167-4931-47E6-BA6A-407CBD079E47}" type="slidenum">
              <a:rPr sz="1200" spc="-5" dirty="0">
                <a:latin typeface="Times New Roman"/>
                <a:cs typeface="Times New Roman"/>
              </a:rPr>
              <a:t>11</a:t>
            </a:fld>
            <a:endParaRPr sz="1200">
              <a:latin typeface="Times New Roman"/>
              <a:cs typeface="Times New Roman"/>
            </a:endParaRPr>
          </a:p>
        </p:txBody>
      </p:sp>
      <p:sp>
        <p:nvSpPr>
          <p:cNvPr id="8" name="object 8"/>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9740" y="7366"/>
            <a:ext cx="4862195" cy="635635"/>
          </a:xfrm>
          <a:prstGeom prst="rect">
            <a:avLst/>
          </a:prstGeom>
        </p:spPr>
        <p:txBody>
          <a:bodyPr vert="horz" wrap="square" lIns="0" tIns="12700" rIns="0" bIns="0" rtlCol="0">
            <a:spAutoFit/>
          </a:bodyPr>
          <a:lstStyle/>
          <a:p>
            <a:pPr marL="12700">
              <a:lnSpc>
                <a:spcPct val="100000"/>
              </a:lnSpc>
              <a:spcBef>
                <a:spcPts val="100"/>
              </a:spcBef>
            </a:pPr>
            <a:r>
              <a:rPr spc="105" dirty="0"/>
              <a:t>Summarizing </a:t>
            </a:r>
            <a:r>
              <a:rPr spc="165" dirty="0"/>
              <a:t>Data</a:t>
            </a:r>
            <a:r>
              <a:rPr spc="-425" dirty="0"/>
              <a:t> </a:t>
            </a:r>
            <a:r>
              <a:rPr spc="15" dirty="0"/>
              <a:t>4-4</a:t>
            </a:r>
          </a:p>
        </p:txBody>
      </p:sp>
      <p:sp>
        <p:nvSpPr>
          <p:cNvPr id="6" name="object 6"/>
          <p:cNvSpPr txBox="1"/>
          <p:nvPr/>
        </p:nvSpPr>
        <p:spPr>
          <a:xfrm>
            <a:off x="7912607" y="6569709"/>
            <a:ext cx="904875" cy="256540"/>
          </a:xfrm>
          <a:prstGeom prst="rect">
            <a:avLst/>
          </a:prstGeom>
        </p:spPr>
        <p:txBody>
          <a:bodyPr vert="horz" wrap="square" lIns="0" tIns="18415" rIns="0" bIns="0" rtlCol="0">
            <a:spAutoFit/>
          </a:bodyPr>
          <a:lstStyle/>
          <a:p>
            <a:pPr marL="12700">
              <a:lnSpc>
                <a:spcPct val="100000"/>
              </a:lnSpc>
              <a:spcBef>
                <a:spcPts val="145"/>
              </a:spcBef>
            </a:pPr>
            <a:r>
              <a:rPr sz="1800" spc="52" baseline="4629" dirty="0">
                <a:latin typeface="Times New Roman"/>
                <a:cs typeface="Times New Roman"/>
              </a:rPr>
              <a:t>Session </a:t>
            </a:r>
            <a:r>
              <a:rPr sz="1800" spc="104" baseline="4629" dirty="0">
                <a:latin typeface="Times New Roman"/>
                <a:cs typeface="Times New Roman"/>
              </a:rPr>
              <a:t>9/</a:t>
            </a:r>
            <a:r>
              <a:rPr sz="1800" spc="-262" baseline="4629" dirty="0">
                <a:latin typeface="Times New Roman"/>
                <a:cs typeface="Times New Roman"/>
              </a:rPr>
              <a:t> </a:t>
            </a:r>
            <a:fld id="{81D60167-4931-47E6-BA6A-407CBD079E47}" type="slidenum">
              <a:rPr sz="1200" spc="-5" dirty="0">
                <a:latin typeface="Times New Roman"/>
                <a:cs typeface="Times New Roman"/>
              </a:rPr>
              <a:t>12</a:t>
            </a:fld>
            <a:endParaRPr sz="1200">
              <a:latin typeface="Times New Roman"/>
              <a:cs typeface="Times New Roman"/>
            </a:endParaRPr>
          </a:p>
        </p:txBody>
      </p:sp>
      <p:sp>
        <p:nvSpPr>
          <p:cNvPr id="7" name="object 7"/>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8" name="Rounded Rectangle 19">
            <a:extLst>
              <a:ext uri="{FF2B5EF4-FFF2-40B4-BE49-F238E27FC236}">
                <a16:creationId xmlns:a16="http://schemas.microsoft.com/office/drawing/2014/main" id="{3296FDB1-BBDB-4200-9304-C3433B231D29}"/>
              </a:ext>
            </a:extLst>
          </p:cNvPr>
          <p:cNvSpPr/>
          <p:nvPr/>
        </p:nvSpPr>
        <p:spPr>
          <a:xfrm>
            <a:off x="266178" y="1616172"/>
            <a:ext cx="1066800" cy="304800"/>
          </a:xfrm>
          <a:prstGeom prst="roundRect">
            <a:avLst/>
          </a:prstGeom>
        </p:spPr>
        <p:style>
          <a:lnRef idx="0">
            <a:schemeClr val="accent5"/>
          </a:lnRef>
          <a:fillRef idx="3">
            <a:schemeClr val="accent5"/>
          </a:fillRef>
          <a:effectRef idx="3">
            <a:schemeClr val="accent5"/>
          </a:effectRef>
          <a:fontRef idx="minor">
            <a:schemeClr val="lt1"/>
          </a:fontRef>
        </p:style>
        <p:txBody>
          <a:bodyPr rtlCol="0" anchor="ctr"/>
          <a:lstStyle/>
          <a:p>
            <a:r>
              <a:rPr lang="en-US" sz="1800" b="1" dirty="0"/>
              <a:t>Syntax:</a:t>
            </a:r>
          </a:p>
        </p:txBody>
      </p:sp>
      <p:sp>
        <p:nvSpPr>
          <p:cNvPr id="9" name="TextBox 8">
            <a:extLst>
              <a:ext uri="{FF2B5EF4-FFF2-40B4-BE49-F238E27FC236}">
                <a16:creationId xmlns:a16="http://schemas.microsoft.com/office/drawing/2014/main" id="{898B2935-BFBD-4D2F-9607-2477E3AC2745}"/>
              </a:ext>
            </a:extLst>
          </p:cNvPr>
          <p:cNvSpPr txBox="1"/>
          <p:nvPr/>
        </p:nvSpPr>
        <p:spPr>
          <a:xfrm>
            <a:off x="228600" y="2092106"/>
            <a:ext cx="4953000" cy="646331"/>
          </a:xfrm>
          <a:prstGeom prst="rect">
            <a:avLst/>
          </a:prstGeom>
          <a:ln/>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a:t>SELECT </a:t>
            </a:r>
            <a:r>
              <a:rPr lang="en-US" dirty="0"/>
              <a:t>&lt;</a:t>
            </a:r>
            <a:r>
              <a:rPr lang="en-US" dirty="0" err="1"/>
              <a:t>column_name</a:t>
            </a:r>
            <a:r>
              <a:rPr lang="en-US" dirty="0"/>
              <a:t>&gt; …   FROM &lt;</a:t>
            </a:r>
            <a:r>
              <a:rPr lang="en-US" dirty="0" err="1"/>
              <a:t>table_name</a:t>
            </a:r>
            <a:r>
              <a:rPr lang="en-US" dirty="0"/>
              <a:t>&gt; </a:t>
            </a:r>
          </a:p>
          <a:p>
            <a:r>
              <a:rPr lang="en-US" dirty="0"/>
              <a:t>   GROUP BY &lt;</a:t>
            </a:r>
            <a:r>
              <a:rPr lang="en-US" dirty="0" err="1"/>
              <a:t>column_name</a:t>
            </a:r>
            <a:r>
              <a:rPr lang="en-US" dirty="0"/>
              <a:t>&gt; </a:t>
            </a:r>
            <a:r>
              <a:rPr lang="en-US"/>
              <a:t>WITH ROLLUP</a:t>
            </a:r>
            <a:endParaRPr lang="en-US" dirty="0"/>
          </a:p>
        </p:txBody>
      </p:sp>
      <p:sp>
        <p:nvSpPr>
          <p:cNvPr id="10" name="TextBox 9">
            <a:extLst>
              <a:ext uri="{FF2B5EF4-FFF2-40B4-BE49-F238E27FC236}">
                <a16:creationId xmlns:a16="http://schemas.microsoft.com/office/drawing/2014/main" id="{7D16EF92-5982-4C80-90BB-6300D86C69CE}"/>
              </a:ext>
            </a:extLst>
          </p:cNvPr>
          <p:cNvSpPr txBox="1"/>
          <p:nvPr/>
        </p:nvSpPr>
        <p:spPr>
          <a:xfrm>
            <a:off x="148585" y="3388608"/>
            <a:ext cx="2082140" cy="369332"/>
          </a:xfrm>
          <a:prstGeom prst="rect">
            <a:avLst/>
          </a:prstGeom>
          <a:noFill/>
        </p:spPr>
        <p:txBody>
          <a:bodyPr wrap="square" rtlCol="0">
            <a:spAutoFit/>
          </a:bodyPr>
          <a:lstStyle/>
          <a:p>
            <a:pPr marL="341313" indent="-341313">
              <a:lnSpc>
                <a:spcPct val="100000"/>
              </a:lnSpc>
              <a:spcBef>
                <a:spcPts val="0"/>
              </a:spcBef>
              <a:buFont typeface="Wingdings" pitchFamily="2" charset="2"/>
              <a:buChar char="Ø"/>
            </a:pPr>
            <a:r>
              <a:rPr lang="en-US" sz="1800" dirty="0">
                <a:latin typeface="Calibri" pitchFamily="34" charset="0"/>
                <a:cs typeface="Calibri" pitchFamily="34" charset="0"/>
              </a:rPr>
              <a:t>For example</a:t>
            </a:r>
          </a:p>
        </p:txBody>
      </p:sp>
      <p:pic>
        <p:nvPicPr>
          <p:cNvPr id="11" name="Picture 10">
            <a:extLst>
              <a:ext uri="{FF2B5EF4-FFF2-40B4-BE49-F238E27FC236}">
                <a16:creationId xmlns:a16="http://schemas.microsoft.com/office/drawing/2014/main" id="{426B81A5-E2FD-469E-A32E-A12F0E2B65CC}"/>
              </a:ext>
            </a:extLst>
          </p:cNvPr>
          <p:cNvPicPr>
            <a:picLocks noChangeAspect="1"/>
          </p:cNvPicPr>
          <p:nvPr/>
        </p:nvPicPr>
        <p:blipFill>
          <a:blip r:embed="rId3"/>
          <a:stretch>
            <a:fillRect/>
          </a:stretch>
        </p:blipFill>
        <p:spPr>
          <a:xfrm>
            <a:off x="76200" y="3968906"/>
            <a:ext cx="6248399" cy="115002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2" name="Picture 11">
            <a:extLst>
              <a:ext uri="{FF2B5EF4-FFF2-40B4-BE49-F238E27FC236}">
                <a16:creationId xmlns:a16="http://schemas.microsoft.com/office/drawing/2014/main" id="{68F3930A-4668-4359-8C7A-AB1F77C102CA}"/>
              </a:ext>
            </a:extLst>
          </p:cNvPr>
          <p:cNvPicPr>
            <a:picLocks noChangeAspect="1"/>
          </p:cNvPicPr>
          <p:nvPr/>
        </p:nvPicPr>
        <p:blipFill>
          <a:blip r:embed="rId4"/>
          <a:stretch>
            <a:fillRect/>
          </a:stretch>
        </p:blipFill>
        <p:spPr>
          <a:xfrm>
            <a:off x="6462967" y="1295400"/>
            <a:ext cx="2528633" cy="4137762"/>
          </a:xfrm>
          <a:prstGeom prst="rect">
            <a:avLst/>
          </a:prstGeom>
          <a:ln>
            <a:noFill/>
          </a:ln>
          <a:effectLst>
            <a:outerShdw blurRad="190500" algn="tl" rotWithShape="0">
              <a:srgbClr val="000000">
                <a:alpha val="70000"/>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9740" y="0"/>
            <a:ext cx="5219065" cy="635635"/>
          </a:xfrm>
          <a:prstGeom prst="rect">
            <a:avLst/>
          </a:prstGeom>
        </p:spPr>
        <p:txBody>
          <a:bodyPr vert="horz" wrap="square" lIns="0" tIns="12700" rIns="0" bIns="0" rtlCol="0">
            <a:spAutoFit/>
          </a:bodyPr>
          <a:lstStyle/>
          <a:p>
            <a:pPr marL="12700">
              <a:lnSpc>
                <a:spcPct val="100000"/>
              </a:lnSpc>
              <a:spcBef>
                <a:spcPts val="100"/>
              </a:spcBef>
            </a:pPr>
            <a:r>
              <a:rPr spc="95" dirty="0"/>
              <a:t>Aggregate </a:t>
            </a:r>
            <a:r>
              <a:rPr spc="170" dirty="0"/>
              <a:t>Functions</a:t>
            </a:r>
            <a:r>
              <a:rPr spc="-470" dirty="0"/>
              <a:t> </a:t>
            </a:r>
            <a:r>
              <a:rPr spc="-330" dirty="0"/>
              <a:t>1-3</a:t>
            </a:r>
          </a:p>
        </p:txBody>
      </p:sp>
      <p:sp>
        <p:nvSpPr>
          <p:cNvPr id="3" name="object 3"/>
          <p:cNvSpPr txBox="1"/>
          <p:nvPr/>
        </p:nvSpPr>
        <p:spPr>
          <a:xfrm>
            <a:off x="227838" y="1180338"/>
            <a:ext cx="6594475" cy="2084070"/>
          </a:xfrm>
          <a:prstGeom prst="rect">
            <a:avLst/>
          </a:prstGeom>
          <a:solidFill>
            <a:srgbClr val="00AF50"/>
          </a:solidFill>
        </p:spPr>
        <p:txBody>
          <a:bodyPr vert="horz" wrap="square" lIns="0" tIns="172720" rIns="0" bIns="0" rtlCol="0">
            <a:spAutoFit/>
          </a:bodyPr>
          <a:lstStyle/>
          <a:p>
            <a:pPr marL="76200" marR="67945" algn="just">
              <a:lnSpc>
                <a:spcPts val="2590"/>
              </a:lnSpc>
              <a:spcBef>
                <a:spcPts val="1360"/>
              </a:spcBef>
            </a:pPr>
            <a:r>
              <a:rPr sz="2400" spc="70" dirty="0">
                <a:solidFill>
                  <a:srgbClr val="FFFFFF"/>
                </a:solidFill>
                <a:latin typeface="Times New Roman"/>
                <a:cs typeface="Times New Roman"/>
              </a:rPr>
              <a:t>Developers </a:t>
            </a:r>
            <a:r>
              <a:rPr sz="2400" spc="90" dirty="0">
                <a:solidFill>
                  <a:srgbClr val="FFFFFF"/>
                </a:solidFill>
                <a:latin typeface="Times New Roman"/>
                <a:cs typeface="Times New Roman"/>
              </a:rPr>
              <a:t>require </a:t>
            </a:r>
            <a:r>
              <a:rPr sz="2400" spc="135" dirty="0">
                <a:solidFill>
                  <a:srgbClr val="FFFFFF"/>
                </a:solidFill>
                <a:latin typeface="Times New Roman"/>
                <a:cs typeface="Times New Roman"/>
              </a:rPr>
              <a:t>to </a:t>
            </a:r>
            <a:r>
              <a:rPr sz="2400" spc="90" dirty="0">
                <a:solidFill>
                  <a:srgbClr val="FFFFFF"/>
                </a:solidFill>
                <a:latin typeface="Times New Roman"/>
                <a:cs typeface="Times New Roman"/>
              </a:rPr>
              <a:t>perform </a:t>
            </a:r>
            <a:r>
              <a:rPr sz="2400" spc="40" dirty="0">
                <a:solidFill>
                  <a:srgbClr val="FFFFFF"/>
                </a:solidFill>
                <a:latin typeface="Times New Roman"/>
                <a:cs typeface="Times New Roman"/>
              </a:rPr>
              <a:t>analysis </a:t>
            </a:r>
            <a:r>
              <a:rPr sz="2400" spc="45" dirty="0">
                <a:solidFill>
                  <a:srgbClr val="FFFFFF"/>
                </a:solidFill>
                <a:latin typeface="Times New Roman"/>
                <a:cs typeface="Times New Roman"/>
              </a:rPr>
              <a:t>across  </a:t>
            </a:r>
            <a:r>
              <a:rPr sz="2400" spc="55" dirty="0">
                <a:solidFill>
                  <a:srgbClr val="FFFFFF"/>
                </a:solidFill>
                <a:latin typeface="Times New Roman"/>
                <a:cs typeface="Times New Roman"/>
              </a:rPr>
              <a:t>rows, </a:t>
            </a:r>
            <a:r>
              <a:rPr sz="2400" spc="105" dirty="0">
                <a:solidFill>
                  <a:srgbClr val="FFFFFF"/>
                </a:solidFill>
                <a:latin typeface="Times New Roman"/>
                <a:cs typeface="Times New Roman"/>
              </a:rPr>
              <a:t>such </a:t>
            </a:r>
            <a:r>
              <a:rPr sz="2400" spc="20" dirty="0">
                <a:solidFill>
                  <a:srgbClr val="FFFFFF"/>
                </a:solidFill>
                <a:latin typeface="Times New Roman"/>
                <a:cs typeface="Times New Roman"/>
              </a:rPr>
              <a:t>as </a:t>
            </a:r>
            <a:r>
              <a:rPr sz="2400" spc="110" dirty="0">
                <a:solidFill>
                  <a:srgbClr val="FFFFFF"/>
                </a:solidFill>
                <a:latin typeface="Times New Roman"/>
                <a:cs typeface="Times New Roman"/>
              </a:rPr>
              <a:t>counting </a:t>
            </a:r>
            <a:r>
              <a:rPr sz="2400" spc="55" dirty="0">
                <a:solidFill>
                  <a:srgbClr val="FFFFFF"/>
                </a:solidFill>
                <a:latin typeface="Times New Roman"/>
                <a:cs typeface="Times New Roman"/>
              </a:rPr>
              <a:t>rows, </a:t>
            </a:r>
            <a:r>
              <a:rPr sz="2400" spc="80" dirty="0">
                <a:solidFill>
                  <a:srgbClr val="FFFFFF"/>
                </a:solidFill>
                <a:latin typeface="Times New Roman"/>
                <a:cs typeface="Times New Roman"/>
              </a:rPr>
              <a:t>meeting </a:t>
            </a:r>
            <a:r>
              <a:rPr sz="2400" spc="35" dirty="0">
                <a:solidFill>
                  <a:srgbClr val="FFFFFF"/>
                </a:solidFill>
                <a:latin typeface="Times New Roman"/>
                <a:cs typeface="Times New Roman"/>
              </a:rPr>
              <a:t>specific  </a:t>
            </a:r>
            <a:r>
              <a:rPr sz="2400" spc="55" dirty="0">
                <a:solidFill>
                  <a:srgbClr val="FFFFFF"/>
                </a:solidFill>
                <a:latin typeface="Times New Roman"/>
                <a:cs typeface="Times New Roman"/>
              </a:rPr>
              <a:t>criteria,</a:t>
            </a:r>
            <a:r>
              <a:rPr sz="2400" spc="-75" dirty="0">
                <a:solidFill>
                  <a:srgbClr val="FFFFFF"/>
                </a:solidFill>
                <a:latin typeface="Times New Roman"/>
                <a:cs typeface="Times New Roman"/>
              </a:rPr>
              <a:t> </a:t>
            </a:r>
            <a:r>
              <a:rPr sz="2400" spc="105" dirty="0">
                <a:solidFill>
                  <a:srgbClr val="FFFFFF"/>
                </a:solidFill>
                <a:latin typeface="Times New Roman"/>
                <a:cs typeface="Times New Roman"/>
              </a:rPr>
              <a:t>or</a:t>
            </a:r>
            <a:r>
              <a:rPr sz="2400" spc="-90" dirty="0">
                <a:solidFill>
                  <a:srgbClr val="FFFFFF"/>
                </a:solidFill>
                <a:latin typeface="Times New Roman"/>
                <a:cs typeface="Times New Roman"/>
              </a:rPr>
              <a:t> </a:t>
            </a:r>
            <a:r>
              <a:rPr sz="2400" spc="55" dirty="0">
                <a:solidFill>
                  <a:srgbClr val="FFFFFF"/>
                </a:solidFill>
                <a:latin typeface="Times New Roman"/>
                <a:cs typeface="Times New Roman"/>
              </a:rPr>
              <a:t>summarizing</a:t>
            </a:r>
            <a:r>
              <a:rPr sz="2400" spc="-65" dirty="0">
                <a:solidFill>
                  <a:srgbClr val="FFFFFF"/>
                </a:solidFill>
                <a:latin typeface="Times New Roman"/>
                <a:cs typeface="Times New Roman"/>
              </a:rPr>
              <a:t> </a:t>
            </a:r>
            <a:r>
              <a:rPr sz="2400" spc="90" dirty="0">
                <a:solidFill>
                  <a:srgbClr val="FFFFFF"/>
                </a:solidFill>
                <a:latin typeface="Times New Roman"/>
                <a:cs typeface="Times New Roman"/>
              </a:rPr>
              <a:t>total</a:t>
            </a:r>
            <a:r>
              <a:rPr sz="2400" spc="-70" dirty="0">
                <a:solidFill>
                  <a:srgbClr val="FFFFFF"/>
                </a:solidFill>
                <a:latin typeface="Times New Roman"/>
                <a:cs typeface="Times New Roman"/>
              </a:rPr>
              <a:t> </a:t>
            </a:r>
            <a:r>
              <a:rPr sz="2400" spc="20" dirty="0">
                <a:solidFill>
                  <a:srgbClr val="FFFFFF"/>
                </a:solidFill>
                <a:latin typeface="Times New Roman"/>
                <a:cs typeface="Times New Roman"/>
              </a:rPr>
              <a:t>sales</a:t>
            </a:r>
            <a:r>
              <a:rPr sz="2400" spc="-100" dirty="0">
                <a:solidFill>
                  <a:srgbClr val="FFFFFF"/>
                </a:solidFill>
                <a:latin typeface="Times New Roman"/>
                <a:cs typeface="Times New Roman"/>
              </a:rPr>
              <a:t> </a:t>
            </a:r>
            <a:r>
              <a:rPr sz="2400" spc="80" dirty="0">
                <a:solidFill>
                  <a:srgbClr val="FFFFFF"/>
                </a:solidFill>
                <a:latin typeface="Times New Roman"/>
                <a:cs typeface="Times New Roman"/>
              </a:rPr>
              <a:t>for</a:t>
            </a:r>
            <a:r>
              <a:rPr sz="2400" spc="-90" dirty="0">
                <a:solidFill>
                  <a:srgbClr val="FFFFFF"/>
                </a:solidFill>
                <a:latin typeface="Times New Roman"/>
                <a:cs typeface="Times New Roman"/>
              </a:rPr>
              <a:t> </a:t>
            </a:r>
            <a:r>
              <a:rPr sz="2400" spc="15" dirty="0">
                <a:solidFill>
                  <a:srgbClr val="FFFFFF"/>
                </a:solidFill>
                <a:latin typeface="Times New Roman"/>
                <a:cs typeface="Times New Roman"/>
              </a:rPr>
              <a:t>all</a:t>
            </a:r>
            <a:r>
              <a:rPr sz="2400" spc="-75" dirty="0">
                <a:solidFill>
                  <a:srgbClr val="FFFFFF"/>
                </a:solidFill>
                <a:latin typeface="Times New Roman"/>
                <a:cs typeface="Times New Roman"/>
              </a:rPr>
              <a:t> </a:t>
            </a:r>
            <a:r>
              <a:rPr sz="2400" spc="75" dirty="0">
                <a:solidFill>
                  <a:srgbClr val="FFFFFF"/>
                </a:solidFill>
                <a:latin typeface="Times New Roman"/>
                <a:cs typeface="Times New Roman"/>
              </a:rPr>
              <a:t>orders.</a:t>
            </a:r>
            <a:endParaRPr sz="2400">
              <a:latin typeface="Times New Roman"/>
              <a:cs typeface="Times New Roman"/>
            </a:endParaRPr>
          </a:p>
          <a:p>
            <a:pPr marL="76200" algn="just">
              <a:lnSpc>
                <a:spcPct val="100000"/>
              </a:lnSpc>
              <a:spcBef>
                <a:spcPts val="2275"/>
              </a:spcBef>
            </a:pPr>
            <a:r>
              <a:rPr sz="2400" spc="55" dirty="0">
                <a:solidFill>
                  <a:srgbClr val="FFFFFF"/>
                </a:solidFill>
                <a:latin typeface="Times New Roman"/>
                <a:cs typeface="Times New Roman"/>
              </a:rPr>
              <a:t>Aggregate</a:t>
            </a:r>
            <a:r>
              <a:rPr sz="2400" spc="-75" dirty="0">
                <a:solidFill>
                  <a:srgbClr val="FFFFFF"/>
                </a:solidFill>
                <a:latin typeface="Times New Roman"/>
                <a:cs typeface="Times New Roman"/>
              </a:rPr>
              <a:t> </a:t>
            </a:r>
            <a:r>
              <a:rPr sz="2400" spc="105" dirty="0">
                <a:solidFill>
                  <a:srgbClr val="FFFFFF"/>
                </a:solidFill>
                <a:latin typeface="Times New Roman"/>
                <a:cs typeface="Times New Roman"/>
              </a:rPr>
              <a:t>functions</a:t>
            </a:r>
            <a:r>
              <a:rPr sz="2400" spc="-95" dirty="0">
                <a:solidFill>
                  <a:srgbClr val="FFFFFF"/>
                </a:solidFill>
                <a:latin typeface="Times New Roman"/>
                <a:cs typeface="Times New Roman"/>
              </a:rPr>
              <a:t> </a:t>
            </a:r>
            <a:r>
              <a:rPr sz="2400" spc="80" dirty="0">
                <a:solidFill>
                  <a:srgbClr val="FFFFFF"/>
                </a:solidFill>
                <a:latin typeface="Times New Roman"/>
                <a:cs typeface="Times New Roman"/>
              </a:rPr>
              <a:t>enable</a:t>
            </a:r>
            <a:r>
              <a:rPr sz="2400" spc="-100" dirty="0">
                <a:solidFill>
                  <a:srgbClr val="FFFFFF"/>
                </a:solidFill>
                <a:latin typeface="Times New Roman"/>
                <a:cs typeface="Times New Roman"/>
              </a:rPr>
              <a:t> </a:t>
            </a:r>
            <a:r>
              <a:rPr sz="2400" spc="130" dirty="0">
                <a:solidFill>
                  <a:srgbClr val="FFFFFF"/>
                </a:solidFill>
                <a:latin typeface="Times New Roman"/>
                <a:cs typeface="Times New Roman"/>
              </a:rPr>
              <a:t>to</a:t>
            </a:r>
            <a:r>
              <a:rPr sz="2400" spc="-85" dirty="0">
                <a:solidFill>
                  <a:srgbClr val="FFFFFF"/>
                </a:solidFill>
                <a:latin typeface="Times New Roman"/>
                <a:cs typeface="Times New Roman"/>
              </a:rPr>
              <a:t> </a:t>
            </a:r>
            <a:r>
              <a:rPr sz="2400" spc="65" dirty="0">
                <a:solidFill>
                  <a:srgbClr val="FFFFFF"/>
                </a:solidFill>
                <a:latin typeface="Times New Roman"/>
                <a:cs typeface="Times New Roman"/>
              </a:rPr>
              <a:t>accomplish</a:t>
            </a:r>
            <a:r>
              <a:rPr sz="2400" spc="-65" dirty="0">
                <a:solidFill>
                  <a:srgbClr val="FFFFFF"/>
                </a:solidFill>
                <a:latin typeface="Times New Roman"/>
                <a:cs typeface="Times New Roman"/>
              </a:rPr>
              <a:t> </a:t>
            </a:r>
            <a:r>
              <a:rPr sz="2400" spc="55" dirty="0">
                <a:solidFill>
                  <a:srgbClr val="FFFFFF"/>
                </a:solidFill>
                <a:latin typeface="Times New Roman"/>
                <a:cs typeface="Times New Roman"/>
              </a:rPr>
              <a:t>it.</a:t>
            </a:r>
            <a:endParaRPr sz="2400">
              <a:latin typeface="Times New Roman"/>
              <a:cs typeface="Times New Roman"/>
            </a:endParaRPr>
          </a:p>
        </p:txBody>
      </p:sp>
      <p:grpSp>
        <p:nvGrpSpPr>
          <p:cNvPr id="4" name="object 4"/>
          <p:cNvGrpSpPr/>
          <p:nvPr/>
        </p:nvGrpSpPr>
        <p:grpSpPr>
          <a:xfrm>
            <a:off x="1472946" y="3651516"/>
            <a:ext cx="7506970" cy="2226310"/>
            <a:chOff x="1472946" y="3651516"/>
            <a:chExt cx="7506970" cy="2226310"/>
          </a:xfrm>
        </p:grpSpPr>
        <p:pic>
          <p:nvPicPr>
            <p:cNvPr id="5" name="object 5"/>
            <p:cNvPicPr/>
            <p:nvPr/>
          </p:nvPicPr>
          <p:blipFill>
            <a:blip r:embed="rId3" cstate="print"/>
            <a:stretch>
              <a:fillRect/>
            </a:stretch>
          </p:blipFill>
          <p:spPr>
            <a:xfrm>
              <a:off x="1533906" y="3651516"/>
              <a:ext cx="7386066" cy="2225802"/>
            </a:xfrm>
            <a:prstGeom prst="rect">
              <a:avLst/>
            </a:prstGeom>
          </p:spPr>
        </p:pic>
        <p:pic>
          <p:nvPicPr>
            <p:cNvPr id="6" name="object 6"/>
            <p:cNvPicPr/>
            <p:nvPr/>
          </p:nvPicPr>
          <p:blipFill>
            <a:blip r:embed="rId4" cstate="print"/>
            <a:stretch>
              <a:fillRect/>
            </a:stretch>
          </p:blipFill>
          <p:spPr>
            <a:xfrm>
              <a:off x="1472946" y="3736085"/>
              <a:ext cx="7506461" cy="2132838"/>
            </a:xfrm>
            <a:prstGeom prst="rect">
              <a:avLst/>
            </a:prstGeom>
          </p:spPr>
        </p:pic>
        <p:sp>
          <p:nvSpPr>
            <p:cNvPr id="7" name="object 7"/>
            <p:cNvSpPr/>
            <p:nvPr/>
          </p:nvSpPr>
          <p:spPr>
            <a:xfrm>
              <a:off x="1575054" y="3669791"/>
              <a:ext cx="7310755" cy="2150745"/>
            </a:xfrm>
            <a:custGeom>
              <a:avLst/>
              <a:gdLst/>
              <a:ahLst/>
              <a:cxnLst/>
              <a:rect l="l" t="t" r="r" b="b"/>
              <a:pathLst>
                <a:path w="7310755" h="2150745">
                  <a:moveTo>
                    <a:pt x="7310628" y="0"/>
                  </a:moveTo>
                  <a:lnTo>
                    <a:pt x="0" y="0"/>
                  </a:lnTo>
                  <a:lnTo>
                    <a:pt x="0" y="2150363"/>
                  </a:lnTo>
                  <a:lnTo>
                    <a:pt x="7310628" y="2150363"/>
                  </a:lnTo>
                  <a:lnTo>
                    <a:pt x="7310628" y="0"/>
                  </a:lnTo>
                  <a:close/>
                </a:path>
              </a:pathLst>
            </a:custGeom>
            <a:solidFill>
              <a:srgbClr val="006FC0"/>
            </a:solidFill>
          </p:spPr>
          <p:txBody>
            <a:bodyPr wrap="square" lIns="0" tIns="0" rIns="0" bIns="0" rtlCol="0"/>
            <a:lstStyle/>
            <a:p>
              <a:endParaRPr/>
            </a:p>
          </p:txBody>
        </p:sp>
      </p:grpSp>
      <p:sp>
        <p:nvSpPr>
          <p:cNvPr id="8" name="object 8"/>
          <p:cNvSpPr txBox="1"/>
          <p:nvPr/>
        </p:nvSpPr>
        <p:spPr>
          <a:xfrm>
            <a:off x="1666239" y="3768089"/>
            <a:ext cx="7139305" cy="1854200"/>
          </a:xfrm>
          <a:prstGeom prst="rect">
            <a:avLst/>
          </a:prstGeom>
        </p:spPr>
        <p:txBody>
          <a:bodyPr vert="horz" wrap="square" lIns="0" tIns="12065" rIns="0" bIns="0" rtlCol="0">
            <a:spAutoFit/>
          </a:bodyPr>
          <a:lstStyle/>
          <a:p>
            <a:pPr marR="5080">
              <a:lnSpc>
                <a:spcPct val="100000"/>
              </a:lnSpc>
              <a:spcBef>
                <a:spcPts val="95"/>
              </a:spcBef>
              <a:tabLst>
                <a:tab pos="1359535" algn="l"/>
                <a:tab pos="2649855" algn="l"/>
                <a:tab pos="3594100" algn="l"/>
                <a:tab pos="4716780" algn="l"/>
                <a:tab pos="5680710" algn="l"/>
                <a:tab pos="6534150" algn="l"/>
              </a:tabLst>
            </a:pPr>
            <a:r>
              <a:rPr sz="2000" spc="50" dirty="0">
                <a:solidFill>
                  <a:srgbClr val="FFFFFF"/>
                </a:solidFill>
                <a:latin typeface="Times New Roman"/>
                <a:cs typeface="Times New Roman"/>
              </a:rPr>
              <a:t>Aggrega</a:t>
            </a:r>
            <a:r>
              <a:rPr sz="2000" spc="40" dirty="0">
                <a:solidFill>
                  <a:srgbClr val="FFFFFF"/>
                </a:solidFill>
                <a:latin typeface="Times New Roman"/>
                <a:cs typeface="Times New Roman"/>
              </a:rPr>
              <a:t>te</a:t>
            </a:r>
            <a:r>
              <a:rPr sz="2000" dirty="0">
                <a:solidFill>
                  <a:srgbClr val="FFFFFF"/>
                </a:solidFill>
                <a:latin typeface="Times New Roman"/>
                <a:cs typeface="Times New Roman"/>
              </a:rPr>
              <a:t>	</a:t>
            </a:r>
            <a:r>
              <a:rPr sz="2000" spc="95" dirty="0">
                <a:solidFill>
                  <a:srgbClr val="FFFFFF"/>
                </a:solidFill>
                <a:latin typeface="Times New Roman"/>
                <a:cs typeface="Times New Roman"/>
              </a:rPr>
              <a:t>funct</a:t>
            </a:r>
            <a:r>
              <a:rPr sz="2000" spc="70" dirty="0">
                <a:solidFill>
                  <a:srgbClr val="FFFFFF"/>
                </a:solidFill>
                <a:latin typeface="Times New Roman"/>
                <a:cs typeface="Times New Roman"/>
              </a:rPr>
              <a:t>ions</a:t>
            </a:r>
            <a:r>
              <a:rPr sz="2000" dirty="0">
                <a:solidFill>
                  <a:srgbClr val="FFFFFF"/>
                </a:solidFill>
                <a:latin typeface="Times New Roman"/>
                <a:cs typeface="Times New Roman"/>
              </a:rPr>
              <a:t>	</a:t>
            </a:r>
            <a:r>
              <a:rPr sz="2000" spc="55" dirty="0">
                <a:solidFill>
                  <a:srgbClr val="FFFFFF"/>
                </a:solidFill>
                <a:latin typeface="Times New Roman"/>
                <a:cs typeface="Times New Roman"/>
              </a:rPr>
              <a:t>ign</a:t>
            </a:r>
            <a:r>
              <a:rPr sz="2000" spc="70" dirty="0">
                <a:solidFill>
                  <a:srgbClr val="FFFFFF"/>
                </a:solidFill>
                <a:latin typeface="Times New Roman"/>
                <a:cs typeface="Times New Roman"/>
              </a:rPr>
              <a:t>ore</a:t>
            </a:r>
            <a:r>
              <a:rPr sz="2000" dirty="0">
                <a:solidFill>
                  <a:srgbClr val="FFFFFF"/>
                </a:solidFill>
                <a:latin typeface="Times New Roman"/>
                <a:cs typeface="Times New Roman"/>
              </a:rPr>
              <a:t>	</a:t>
            </a:r>
            <a:r>
              <a:rPr sz="2000" spc="50" dirty="0">
                <a:solidFill>
                  <a:srgbClr val="FFFFFF"/>
                </a:solidFill>
                <a:latin typeface="Times New Roman"/>
                <a:cs typeface="Times New Roman"/>
              </a:rPr>
              <a:t>NULLs,</a:t>
            </a:r>
            <a:r>
              <a:rPr sz="2000" dirty="0">
                <a:solidFill>
                  <a:srgbClr val="FFFFFF"/>
                </a:solidFill>
                <a:latin typeface="Times New Roman"/>
                <a:cs typeface="Times New Roman"/>
              </a:rPr>
              <a:t>	</a:t>
            </a:r>
            <a:r>
              <a:rPr sz="2000" spc="40" dirty="0">
                <a:solidFill>
                  <a:srgbClr val="FFFFFF"/>
                </a:solidFill>
                <a:latin typeface="Times New Roman"/>
                <a:cs typeface="Times New Roman"/>
              </a:rPr>
              <a:t>e</a:t>
            </a:r>
            <a:r>
              <a:rPr sz="2000" spc="55" dirty="0">
                <a:solidFill>
                  <a:srgbClr val="FFFFFF"/>
                </a:solidFill>
                <a:latin typeface="Times New Roman"/>
                <a:cs typeface="Times New Roman"/>
              </a:rPr>
              <a:t>xc</a:t>
            </a:r>
            <a:r>
              <a:rPr sz="2000" spc="90" dirty="0">
                <a:solidFill>
                  <a:srgbClr val="FFFFFF"/>
                </a:solidFill>
                <a:latin typeface="Times New Roman"/>
                <a:cs typeface="Times New Roman"/>
              </a:rPr>
              <a:t>ept</a:t>
            </a:r>
            <a:r>
              <a:rPr sz="2000" dirty="0">
                <a:solidFill>
                  <a:srgbClr val="FFFFFF"/>
                </a:solidFill>
                <a:latin typeface="Times New Roman"/>
                <a:cs typeface="Times New Roman"/>
              </a:rPr>
              <a:t>	</a:t>
            </a:r>
            <a:r>
              <a:rPr sz="2000" spc="130" dirty="0">
                <a:solidFill>
                  <a:srgbClr val="FFFFFF"/>
                </a:solidFill>
                <a:latin typeface="Times New Roman"/>
                <a:cs typeface="Times New Roman"/>
              </a:rPr>
              <a:t>w</a:t>
            </a:r>
            <a:r>
              <a:rPr sz="2000" spc="95" dirty="0">
                <a:solidFill>
                  <a:srgbClr val="FFFFFF"/>
                </a:solidFill>
                <a:latin typeface="Times New Roman"/>
                <a:cs typeface="Times New Roman"/>
              </a:rPr>
              <a:t>h</a:t>
            </a:r>
            <a:r>
              <a:rPr sz="2000" spc="110" dirty="0">
                <a:solidFill>
                  <a:srgbClr val="FFFFFF"/>
                </a:solidFill>
                <a:latin typeface="Times New Roman"/>
                <a:cs typeface="Times New Roman"/>
              </a:rPr>
              <a:t>en</a:t>
            </a:r>
            <a:r>
              <a:rPr sz="2000" dirty="0">
                <a:solidFill>
                  <a:srgbClr val="FFFFFF"/>
                </a:solidFill>
                <a:latin typeface="Times New Roman"/>
                <a:cs typeface="Times New Roman"/>
              </a:rPr>
              <a:t>	</a:t>
            </a:r>
            <a:r>
              <a:rPr sz="2000" spc="55" dirty="0">
                <a:solidFill>
                  <a:srgbClr val="FFFFFF"/>
                </a:solidFill>
                <a:latin typeface="Times New Roman"/>
                <a:cs typeface="Times New Roman"/>
              </a:rPr>
              <a:t>using  </a:t>
            </a:r>
            <a:r>
              <a:rPr sz="2000" spc="95" dirty="0">
                <a:solidFill>
                  <a:srgbClr val="FFFFFF"/>
                </a:solidFill>
                <a:latin typeface="Times New Roman"/>
                <a:cs typeface="Times New Roman"/>
              </a:rPr>
              <a:t>COUNT(*).</a:t>
            </a:r>
            <a:endParaRPr sz="2000">
              <a:latin typeface="Times New Roman"/>
              <a:cs typeface="Times New Roman"/>
            </a:endParaRPr>
          </a:p>
          <a:p>
            <a:pPr marR="5715">
              <a:lnSpc>
                <a:spcPct val="100000"/>
              </a:lnSpc>
            </a:pPr>
            <a:r>
              <a:rPr sz="2000" spc="45" dirty="0">
                <a:solidFill>
                  <a:srgbClr val="FFFFFF"/>
                </a:solidFill>
                <a:latin typeface="Times New Roman"/>
                <a:cs typeface="Times New Roman"/>
              </a:rPr>
              <a:t>Aggregate </a:t>
            </a:r>
            <a:r>
              <a:rPr sz="2000" spc="85" dirty="0">
                <a:solidFill>
                  <a:srgbClr val="FFFFFF"/>
                </a:solidFill>
                <a:latin typeface="Times New Roman"/>
                <a:cs typeface="Times New Roman"/>
              </a:rPr>
              <a:t>functions </a:t>
            </a:r>
            <a:r>
              <a:rPr sz="2000" spc="95" dirty="0">
                <a:solidFill>
                  <a:srgbClr val="FFFFFF"/>
                </a:solidFill>
                <a:latin typeface="Times New Roman"/>
                <a:cs typeface="Times New Roman"/>
              </a:rPr>
              <a:t>in </a:t>
            </a:r>
            <a:r>
              <a:rPr sz="2000" spc="30" dirty="0">
                <a:solidFill>
                  <a:srgbClr val="FFFFFF"/>
                </a:solidFill>
                <a:latin typeface="Times New Roman"/>
                <a:cs typeface="Times New Roman"/>
              </a:rPr>
              <a:t>a </a:t>
            </a:r>
            <a:r>
              <a:rPr sz="2000" spc="80" dirty="0">
                <a:solidFill>
                  <a:srgbClr val="FFFFFF"/>
                </a:solidFill>
                <a:latin typeface="Times New Roman"/>
                <a:cs typeface="Times New Roman"/>
              </a:rPr>
              <a:t>SELECT </a:t>
            </a:r>
            <a:r>
              <a:rPr sz="2000" spc="35" dirty="0">
                <a:solidFill>
                  <a:srgbClr val="FFFFFF"/>
                </a:solidFill>
                <a:latin typeface="Times New Roman"/>
                <a:cs typeface="Times New Roman"/>
              </a:rPr>
              <a:t>list </a:t>
            </a:r>
            <a:r>
              <a:rPr sz="2000" spc="105" dirty="0">
                <a:solidFill>
                  <a:srgbClr val="FFFFFF"/>
                </a:solidFill>
                <a:latin typeface="Times New Roman"/>
                <a:cs typeface="Times New Roman"/>
              </a:rPr>
              <a:t>do </a:t>
            </a:r>
            <a:r>
              <a:rPr sz="2000" spc="135" dirty="0">
                <a:solidFill>
                  <a:srgbClr val="FFFFFF"/>
                </a:solidFill>
                <a:latin typeface="Times New Roman"/>
                <a:cs typeface="Times New Roman"/>
              </a:rPr>
              <a:t>not </a:t>
            </a:r>
            <a:r>
              <a:rPr sz="2000" spc="65" dirty="0">
                <a:solidFill>
                  <a:srgbClr val="FFFFFF"/>
                </a:solidFill>
                <a:latin typeface="Times New Roman"/>
                <a:cs typeface="Times New Roman"/>
              </a:rPr>
              <a:t>generate </a:t>
            </a:r>
            <a:r>
              <a:rPr sz="2000" spc="30" dirty="0">
                <a:solidFill>
                  <a:srgbClr val="FFFFFF"/>
                </a:solidFill>
                <a:latin typeface="Times New Roman"/>
                <a:cs typeface="Times New Roman"/>
              </a:rPr>
              <a:t>a </a:t>
            </a:r>
            <a:r>
              <a:rPr sz="2000" spc="90" dirty="0">
                <a:solidFill>
                  <a:srgbClr val="FFFFFF"/>
                </a:solidFill>
                <a:latin typeface="Times New Roman"/>
                <a:cs typeface="Times New Roman"/>
              </a:rPr>
              <a:t>column  </a:t>
            </a:r>
            <a:r>
              <a:rPr sz="2000" spc="15" dirty="0">
                <a:solidFill>
                  <a:srgbClr val="FFFFFF"/>
                </a:solidFill>
                <a:latin typeface="Times New Roman"/>
                <a:cs typeface="Times New Roman"/>
              </a:rPr>
              <a:t>alias.</a:t>
            </a:r>
            <a:endParaRPr sz="2000">
              <a:latin typeface="Times New Roman"/>
              <a:cs typeface="Times New Roman"/>
            </a:endParaRPr>
          </a:p>
          <a:p>
            <a:pPr marR="5080">
              <a:lnSpc>
                <a:spcPct val="100000"/>
              </a:lnSpc>
            </a:pPr>
            <a:r>
              <a:rPr sz="2000" spc="45" dirty="0">
                <a:solidFill>
                  <a:srgbClr val="FFFFFF"/>
                </a:solidFill>
                <a:latin typeface="Times New Roman"/>
                <a:cs typeface="Times New Roman"/>
              </a:rPr>
              <a:t>Aggregate </a:t>
            </a:r>
            <a:r>
              <a:rPr sz="2000" spc="85" dirty="0">
                <a:solidFill>
                  <a:srgbClr val="FFFFFF"/>
                </a:solidFill>
                <a:latin typeface="Times New Roman"/>
                <a:cs typeface="Times New Roman"/>
              </a:rPr>
              <a:t>functions </a:t>
            </a:r>
            <a:r>
              <a:rPr sz="2000" spc="95" dirty="0">
                <a:solidFill>
                  <a:srgbClr val="FFFFFF"/>
                </a:solidFill>
                <a:latin typeface="Times New Roman"/>
                <a:cs typeface="Times New Roman"/>
              </a:rPr>
              <a:t>in </a:t>
            </a:r>
            <a:r>
              <a:rPr sz="2000" spc="30" dirty="0">
                <a:solidFill>
                  <a:srgbClr val="FFFFFF"/>
                </a:solidFill>
                <a:latin typeface="Times New Roman"/>
                <a:cs typeface="Times New Roman"/>
              </a:rPr>
              <a:t>a </a:t>
            </a:r>
            <a:r>
              <a:rPr sz="2000" spc="80" dirty="0">
                <a:solidFill>
                  <a:srgbClr val="FFFFFF"/>
                </a:solidFill>
                <a:latin typeface="Times New Roman"/>
                <a:cs typeface="Times New Roman"/>
              </a:rPr>
              <a:t>SELECT </a:t>
            </a:r>
            <a:r>
              <a:rPr sz="2000" spc="40" dirty="0">
                <a:solidFill>
                  <a:srgbClr val="FFFFFF"/>
                </a:solidFill>
                <a:latin typeface="Times New Roman"/>
                <a:cs typeface="Times New Roman"/>
              </a:rPr>
              <a:t>clause </a:t>
            </a:r>
            <a:r>
              <a:rPr sz="2000" spc="75" dirty="0">
                <a:solidFill>
                  <a:srgbClr val="FFFFFF"/>
                </a:solidFill>
                <a:latin typeface="Times New Roman"/>
                <a:cs typeface="Times New Roman"/>
              </a:rPr>
              <a:t>operate </a:t>
            </a:r>
            <a:r>
              <a:rPr sz="2000" spc="135" dirty="0">
                <a:solidFill>
                  <a:srgbClr val="FFFFFF"/>
                </a:solidFill>
                <a:latin typeface="Times New Roman"/>
                <a:cs typeface="Times New Roman"/>
              </a:rPr>
              <a:t>on </a:t>
            </a:r>
            <a:r>
              <a:rPr sz="2000" spc="10" dirty="0">
                <a:solidFill>
                  <a:srgbClr val="FFFFFF"/>
                </a:solidFill>
                <a:latin typeface="Times New Roman"/>
                <a:cs typeface="Times New Roman"/>
              </a:rPr>
              <a:t>all </a:t>
            </a:r>
            <a:r>
              <a:rPr sz="2000" spc="60" dirty="0">
                <a:solidFill>
                  <a:srgbClr val="FFFFFF"/>
                </a:solidFill>
                <a:latin typeface="Times New Roman"/>
                <a:cs typeface="Times New Roman"/>
              </a:rPr>
              <a:t>rows  </a:t>
            </a:r>
            <a:r>
              <a:rPr sz="2000" spc="50" dirty="0">
                <a:solidFill>
                  <a:srgbClr val="FFFFFF"/>
                </a:solidFill>
                <a:latin typeface="Times New Roman"/>
                <a:cs typeface="Times New Roman"/>
              </a:rPr>
              <a:t>passed</a:t>
            </a:r>
            <a:r>
              <a:rPr sz="2000" spc="-65" dirty="0">
                <a:solidFill>
                  <a:srgbClr val="FFFFFF"/>
                </a:solidFill>
                <a:latin typeface="Times New Roman"/>
                <a:cs typeface="Times New Roman"/>
              </a:rPr>
              <a:t> </a:t>
            </a:r>
            <a:r>
              <a:rPr sz="2000" spc="110" dirty="0">
                <a:solidFill>
                  <a:srgbClr val="FFFFFF"/>
                </a:solidFill>
                <a:latin typeface="Times New Roman"/>
                <a:cs typeface="Times New Roman"/>
              </a:rPr>
              <a:t>to</a:t>
            </a:r>
            <a:r>
              <a:rPr sz="2000" spc="-70" dirty="0">
                <a:solidFill>
                  <a:srgbClr val="FFFFFF"/>
                </a:solidFill>
                <a:latin typeface="Times New Roman"/>
                <a:cs typeface="Times New Roman"/>
              </a:rPr>
              <a:t> </a:t>
            </a:r>
            <a:r>
              <a:rPr sz="2000" spc="110" dirty="0">
                <a:solidFill>
                  <a:srgbClr val="FFFFFF"/>
                </a:solidFill>
                <a:latin typeface="Times New Roman"/>
                <a:cs typeface="Times New Roman"/>
              </a:rPr>
              <a:t>the</a:t>
            </a:r>
            <a:r>
              <a:rPr sz="2000" spc="-60" dirty="0">
                <a:solidFill>
                  <a:srgbClr val="FFFFFF"/>
                </a:solidFill>
                <a:latin typeface="Times New Roman"/>
                <a:cs typeface="Times New Roman"/>
              </a:rPr>
              <a:t> </a:t>
            </a:r>
            <a:r>
              <a:rPr sz="2000" spc="80" dirty="0">
                <a:solidFill>
                  <a:srgbClr val="FFFFFF"/>
                </a:solidFill>
                <a:latin typeface="Times New Roman"/>
                <a:cs typeface="Times New Roman"/>
              </a:rPr>
              <a:t>SELECT</a:t>
            </a:r>
            <a:r>
              <a:rPr sz="2000" spc="-80" dirty="0">
                <a:solidFill>
                  <a:srgbClr val="FFFFFF"/>
                </a:solidFill>
                <a:latin typeface="Times New Roman"/>
                <a:cs typeface="Times New Roman"/>
              </a:rPr>
              <a:t> </a:t>
            </a:r>
            <a:r>
              <a:rPr sz="2000" spc="60" dirty="0">
                <a:solidFill>
                  <a:srgbClr val="FFFFFF"/>
                </a:solidFill>
                <a:latin typeface="Times New Roman"/>
                <a:cs typeface="Times New Roman"/>
              </a:rPr>
              <a:t>phase.</a:t>
            </a:r>
            <a:endParaRPr sz="2000">
              <a:latin typeface="Times New Roman"/>
              <a:cs typeface="Times New Roman"/>
            </a:endParaRPr>
          </a:p>
        </p:txBody>
      </p:sp>
      <p:sp>
        <p:nvSpPr>
          <p:cNvPr id="10" name="object 10"/>
          <p:cNvSpPr txBox="1"/>
          <p:nvPr/>
        </p:nvSpPr>
        <p:spPr>
          <a:xfrm>
            <a:off x="7912607" y="6569709"/>
            <a:ext cx="904875" cy="256540"/>
          </a:xfrm>
          <a:prstGeom prst="rect">
            <a:avLst/>
          </a:prstGeom>
        </p:spPr>
        <p:txBody>
          <a:bodyPr vert="horz" wrap="square" lIns="0" tIns="18415" rIns="0" bIns="0" rtlCol="0">
            <a:spAutoFit/>
          </a:bodyPr>
          <a:lstStyle/>
          <a:p>
            <a:pPr marL="12700">
              <a:lnSpc>
                <a:spcPct val="100000"/>
              </a:lnSpc>
              <a:spcBef>
                <a:spcPts val="145"/>
              </a:spcBef>
            </a:pPr>
            <a:r>
              <a:rPr sz="1800" spc="52" baseline="4629" dirty="0">
                <a:latin typeface="Times New Roman"/>
                <a:cs typeface="Times New Roman"/>
              </a:rPr>
              <a:t>Session </a:t>
            </a:r>
            <a:r>
              <a:rPr sz="1800" spc="104" baseline="4629" dirty="0">
                <a:latin typeface="Times New Roman"/>
                <a:cs typeface="Times New Roman"/>
              </a:rPr>
              <a:t>9/</a:t>
            </a:r>
            <a:r>
              <a:rPr sz="1800" spc="-262" baseline="4629" dirty="0">
                <a:latin typeface="Times New Roman"/>
                <a:cs typeface="Times New Roman"/>
              </a:rPr>
              <a:t> </a:t>
            </a:r>
            <a:fld id="{81D60167-4931-47E6-BA6A-407CBD079E47}" type="slidenum">
              <a:rPr sz="1200" spc="-5" dirty="0">
                <a:latin typeface="Times New Roman"/>
                <a:cs typeface="Times New Roman"/>
              </a:rPr>
              <a:t>13</a:t>
            </a:fld>
            <a:endParaRPr sz="1200">
              <a:latin typeface="Times New Roman"/>
              <a:cs typeface="Times New Roman"/>
            </a:endParaRPr>
          </a:p>
        </p:txBody>
      </p:sp>
      <p:sp>
        <p:nvSpPr>
          <p:cNvPr id="11" name="object 11"/>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9740" y="0"/>
            <a:ext cx="5283835" cy="635635"/>
          </a:xfrm>
          <a:prstGeom prst="rect">
            <a:avLst/>
          </a:prstGeom>
        </p:spPr>
        <p:txBody>
          <a:bodyPr vert="horz" wrap="square" lIns="0" tIns="12700" rIns="0" bIns="0" rtlCol="0">
            <a:spAutoFit/>
          </a:bodyPr>
          <a:lstStyle/>
          <a:p>
            <a:pPr marL="12700">
              <a:lnSpc>
                <a:spcPct val="100000"/>
              </a:lnSpc>
              <a:spcBef>
                <a:spcPts val="100"/>
              </a:spcBef>
            </a:pPr>
            <a:r>
              <a:rPr spc="95" dirty="0"/>
              <a:t>Aggregate </a:t>
            </a:r>
            <a:r>
              <a:rPr spc="170" dirty="0"/>
              <a:t>Functions</a:t>
            </a:r>
            <a:r>
              <a:rPr spc="-459" dirty="0"/>
              <a:t> </a:t>
            </a:r>
            <a:r>
              <a:rPr spc="-165" dirty="0"/>
              <a:t>2-3</a:t>
            </a:r>
          </a:p>
        </p:txBody>
      </p:sp>
      <p:sp>
        <p:nvSpPr>
          <p:cNvPr id="5" name="object 5"/>
          <p:cNvSpPr txBox="1"/>
          <p:nvPr/>
        </p:nvSpPr>
        <p:spPr>
          <a:xfrm>
            <a:off x="7912607" y="6569709"/>
            <a:ext cx="904875" cy="256540"/>
          </a:xfrm>
          <a:prstGeom prst="rect">
            <a:avLst/>
          </a:prstGeom>
        </p:spPr>
        <p:txBody>
          <a:bodyPr vert="horz" wrap="square" lIns="0" tIns="18415" rIns="0" bIns="0" rtlCol="0">
            <a:spAutoFit/>
          </a:bodyPr>
          <a:lstStyle/>
          <a:p>
            <a:pPr marL="12700">
              <a:lnSpc>
                <a:spcPct val="100000"/>
              </a:lnSpc>
              <a:spcBef>
                <a:spcPts val="145"/>
              </a:spcBef>
            </a:pPr>
            <a:r>
              <a:rPr sz="1800" spc="52" baseline="4629" dirty="0">
                <a:latin typeface="Times New Roman"/>
                <a:cs typeface="Times New Roman"/>
              </a:rPr>
              <a:t>Session </a:t>
            </a:r>
            <a:r>
              <a:rPr sz="1800" spc="104" baseline="4629" dirty="0">
                <a:latin typeface="Times New Roman"/>
                <a:cs typeface="Times New Roman"/>
              </a:rPr>
              <a:t>9/</a:t>
            </a:r>
            <a:r>
              <a:rPr sz="1800" spc="-262" baseline="4629" dirty="0">
                <a:latin typeface="Times New Roman"/>
                <a:cs typeface="Times New Roman"/>
              </a:rPr>
              <a:t> </a:t>
            </a:r>
            <a:fld id="{81D60167-4931-47E6-BA6A-407CBD079E47}" type="slidenum">
              <a:rPr sz="1200" spc="-5" dirty="0">
                <a:latin typeface="Times New Roman"/>
                <a:cs typeface="Times New Roman"/>
              </a:rPr>
              <a:t>14</a:t>
            </a:fld>
            <a:endParaRPr sz="1200">
              <a:latin typeface="Times New Roman"/>
              <a:cs typeface="Times New Roman"/>
            </a:endParaRPr>
          </a:p>
        </p:txBody>
      </p:sp>
      <p:sp>
        <p:nvSpPr>
          <p:cNvPr id="6" name="object 6"/>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graphicFrame>
        <p:nvGraphicFramePr>
          <p:cNvPr id="3" name="object 3"/>
          <p:cNvGraphicFramePr>
            <a:graphicFrameLocks noGrp="1"/>
          </p:cNvGraphicFramePr>
          <p:nvPr/>
        </p:nvGraphicFramePr>
        <p:xfrm>
          <a:off x="608101" y="1403985"/>
          <a:ext cx="8452484" cy="3592827"/>
        </p:xfrm>
        <a:graphic>
          <a:graphicData uri="http://schemas.openxmlformats.org/drawingml/2006/table">
            <a:tbl>
              <a:tblPr firstRow="1" bandRow="1">
                <a:tableStyleId>{2D5ABB26-0587-4C30-8999-92F81FD0307C}</a:tableStyleId>
              </a:tblPr>
              <a:tblGrid>
                <a:gridCol w="1318260">
                  <a:extLst>
                    <a:ext uri="{9D8B030D-6E8A-4147-A177-3AD203B41FA5}">
                      <a16:colId xmlns:a16="http://schemas.microsoft.com/office/drawing/2014/main" val="20000"/>
                    </a:ext>
                  </a:extLst>
                </a:gridCol>
                <a:gridCol w="2068829">
                  <a:extLst>
                    <a:ext uri="{9D8B030D-6E8A-4147-A177-3AD203B41FA5}">
                      <a16:colId xmlns:a16="http://schemas.microsoft.com/office/drawing/2014/main" val="20001"/>
                    </a:ext>
                  </a:extLst>
                </a:gridCol>
                <a:gridCol w="5065395">
                  <a:extLst>
                    <a:ext uri="{9D8B030D-6E8A-4147-A177-3AD203B41FA5}">
                      <a16:colId xmlns:a16="http://schemas.microsoft.com/office/drawing/2014/main" val="20002"/>
                    </a:ext>
                  </a:extLst>
                </a:gridCol>
              </a:tblGrid>
              <a:tr h="542036">
                <a:tc>
                  <a:txBody>
                    <a:bodyPr/>
                    <a:lstStyle/>
                    <a:p>
                      <a:pPr marL="57150">
                        <a:lnSpc>
                          <a:spcPct val="100000"/>
                        </a:lnSpc>
                        <a:spcBef>
                          <a:spcPts val="1215"/>
                        </a:spcBef>
                      </a:pPr>
                      <a:r>
                        <a:rPr sz="1400" spc="-5" dirty="0">
                          <a:solidFill>
                            <a:srgbClr val="FFFFFF"/>
                          </a:solidFill>
                          <a:latin typeface="Arial"/>
                          <a:cs typeface="Arial"/>
                        </a:rPr>
                        <a:t>Function</a:t>
                      </a:r>
                      <a:r>
                        <a:rPr sz="1400" spc="-55" dirty="0">
                          <a:solidFill>
                            <a:srgbClr val="FFFFFF"/>
                          </a:solidFill>
                          <a:latin typeface="Arial"/>
                          <a:cs typeface="Arial"/>
                        </a:rPr>
                        <a:t> </a:t>
                      </a:r>
                      <a:r>
                        <a:rPr sz="1400" spc="-5" dirty="0">
                          <a:solidFill>
                            <a:srgbClr val="FFFFFF"/>
                          </a:solidFill>
                          <a:latin typeface="Arial"/>
                          <a:cs typeface="Arial"/>
                        </a:rPr>
                        <a:t>Name</a:t>
                      </a:r>
                      <a:endParaRPr sz="1400">
                        <a:latin typeface="Arial"/>
                        <a:cs typeface="Arial"/>
                      </a:endParaRPr>
                    </a:p>
                  </a:txBody>
                  <a:tcPr marL="0" marR="0" marT="154305" marB="0">
                    <a:lnR w="12700">
                      <a:solidFill>
                        <a:srgbClr val="000000"/>
                      </a:solidFill>
                      <a:prstDash val="solid"/>
                    </a:lnR>
                    <a:lnB w="12700">
                      <a:solidFill>
                        <a:srgbClr val="000000"/>
                      </a:solidFill>
                      <a:prstDash val="solid"/>
                    </a:lnB>
                    <a:solidFill>
                      <a:srgbClr val="30859C"/>
                    </a:solidFill>
                  </a:tcPr>
                </a:tc>
                <a:tc>
                  <a:txBody>
                    <a:bodyPr/>
                    <a:lstStyle/>
                    <a:p>
                      <a:pPr marR="88900" algn="ctr">
                        <a:lnSpc>
                          <a:spcPct val="100000"/>
                        </a:lnSpc>
                        <a:spcBef>
                          <a:spcPts val="1215"/>
                        </a:spcBef>
                      </a:pPr>
                      <a:r>
                        <a:rPr sz="1400" spc="-5" dirty="0">
                          <a:solidFill>
                            <a:srgbClr val="FFFFFF"/>
                          </a:solidFill>
                          <a:latin typeface="Arial"/>
                          <a:cs typeface="Arial"/>
                        </a:rPr>
                        <a:t>Syntax</a:t>
                      </a:r>
                      <a:endParaRPr sz="1400">
                        <a:latin typeface="Arial"/>
                        <a:cs typeface="Arial"/>
                      </a:endParaRPr>
                    </a:p>
                  </a:txBody>
                  <a:tcPr marL="0" marR="0" marT="154305" marB="0">
                    <a:lnL w="12700">
                      <a:solidFill>
                        <a:srgbClr val="000000"/>
                      </a:solidFill>
                      <a:prstDash val="solid"/>
                    </a:lnL>
                    <a:lnR w="12700">
                      <a:solidFill>
                        <a:srgbClr val="000000"/>
                      </a:solidFill>
                      <a:prstDash val="solid"/>
                    </a:lnR>
                    <a:lnB w="12700">
                      <a:solidFill>
                        <a:srgbClr val="000000"/>
                      </a:solidFill>
                      <a:prstDash val="solid"/>
                    </a:lnB>
                    <a:solidFill>
                      <a:srgbClr val="30859C"/>
                    </a:solidFill>
                  </a:tcPr>
                </a:tc>
                <a:tc>
                  <a:txBody>
                    <a:bodyPr/>
                    <a:lstStyle/>
                    <a:p>
                      <a:pPr algn="ctr">
                        <a:lnSpc>
                          <a:spcPct val="100000"/>
                        </a:lnSpc>
                        <a:spcBef>
                          <a:spcPts val="1215"/>
                        </a:spcBef>
                      </a:pPr>
                      <a:r>
                        <a:rPr sz="1400" spc="-5" dirty="0">
                          <a:solidFill>
                            <a:srgbClr val="FFFFFF"/>
                          </a:solidFill>
                          <a:latin typeface="Arial"/>
                          <a:cs typeface="Arial"/>
                        </a:rPr>
                        <a:t>Description</a:t>
                      </a:r>
                      <a:endParaRPr sz="1400">
                        <a:latin typeface="Arial"/>
                        <a:cs typeface="Arial"/>
                      </a:endParaRPr>
                    </a:p>
                  </a:txBody>
                  <a:tcPr marL="0" marR="0" marT="154305" marB="0">
                    <a:lnL w="12700">
                      <a:solidFill>
                        <a:srgbClr val="000000"/>
                      </a:solidFill>
                      <a:prstDash val="solid"/>
                    </a:lnL>
                    <a:lnB w="12700">
                      <a:solidFill>
                        <a:srgbClr val="000000"/>
                      </a:solidFill>
                      <a:prstDash val="solid"/>
                    </a:lnB>
                    <a:solidFill>
                      <a:srgbClr val="30859C"/>
                    </a:solidFill>
                  </a:tcPr>
                </a:tc>
                <a:extLst>
                  <a:ext uri="{0D108BD9-81ED-4DB2-BD59-A6C34878D82A}">
                    <a16:rowId xmlns:a16="http://schemas.microsoft.com/office/drawing/2014/main" val="10000"/>
                  </a:ext>
                </a:extLst>
              </a:tr>
              <a:tr h="481583">
                <a:tc>
                  <a:txBody>
                    <a:bodyPr/>
                    <a:lstStyle/>
                    <a:p>
                      <a:pPr>
                        <a:lnSpc>
                          <a:spcPts val="1260"/>
                        </a:lnSpc>
                      </a:pPr>
                      <a:r>
                        <a:rPr sz="1100" spc="-10" dirty="0">
                          <a:latin typeface="Arial"/>
                          <a:cs typeface="Arial"/>
                        </a:rPr>
                        <a:t>AVG</a:t>
                      </a:r>
                      <a:endParaRPr sz="1100">
                        <a:latin typeface="Arial"/>
                        <a:cs typeface="Arial"/>
                      </a:endParaRPr>
                    </a:p>
                  </a:txBody>
                  <a:tcPr marL="0" marR="0" marT="0" marB="0">
                    <a:lnR w="12700">
                      <a:solidFill>
                        <a:srgbClr val="000000"/>
                      </a:solidFill>
                      <a:prstDash val="solid"/>
                    </a:lnR>
                    <a:lnT w="12700">
                      <a:solidFill>
                        <a:srgbClr val="000000"/>
                      </a:solidFill>
                      <a:prstDash val="solid"/>
                    </a:lnT>
                    <a:lnB w="12700">
                      <a:solidFill>
                        <a:srgbClr val="000000"/>
                      </a:solidFill>
                      <a:prstDash val="solid"/>
                    </a:lnB>
                    <a:solidFill>
                      <a:srgbClr val="FFFFFF"/>
                    </a:solidFill>
                  </a:tcPr>
                </a:tc>
                <a:tc>
                  <a:txBody>
                    <a:bodyPr/>
                    <a:lstStyle/>
                    <a:p>
                      <a:pPr>
                        <a:lnSpc>
                          <a:spcPts val="1260"/>
                        </a:lnSpc>
                      </a:pPr>
                      <a:r>
                        <a:rPr sz="1100" spc="-5" dirty="0">
                          <a:latin typeface="Arial"/>
                          <a:cs typeface="Arial"/>
                        </a:rPr>
                        <a:t>AVG(&lt;expression&gt;)</a:t>
                      </a:r>
                      <a:endParaRPr sz="1100">
                        <a:latin typeface="Arial"/>
                        <a:cs typeface="Arial"/>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FF"/>
                    </a:solidFill>
                  </a:tcPr>
                </a:tc>
                <a:tc>
                  <a:txBody>
                    <a:bodyPr/>
                    <a:lstStyle/>
                    <a:p>
                      <a:pPr>
                        <a:lnSpc>
                          <a:spcPts val="1375"/>
                        </a:lnSpc>
                      </a:pPr>
                      <a:r>
                        <a:rPr sz="1200" spc="-5" dirty="0">
                          <a:latin typeface="Arial"/>
                          <a:cs typeface="Arial"/>
                        </a:rPr>
                        <a:t>Calculates</a:t>
                      </a:r>
                      <a:r>
                        <a:rPr sz="1200" spc="-120" dirty="0">
                          <a:latin typeface="Arial"/>
                          <a:cs typeface="Arial"/>
                        </a:rPr>
                        <a:t> </a:t>
                      </a:r>
                      <a:r>
                        <a:rPr sz="1200" spc="-5" dirty="0">
                          <a:latin typeface="Arial"/>
                          <a:cs typeface="Arial"/>
                        </a:rPr>
                        <a:t>the</a:t>
                      </a:r>
                      <a:r>
                        <a:rPr sz="1200" spc="-95" dirty="0">
                          <a:latin typeface="Arial"/>
                          <a:cs typeface="Arial"/>
                        </a:rPr>
                        <a:t> </a:t>
                      </a:r>
                      <a:r>
                        <a:rPr sz="1200" spc="-20" dirty="0">
                          <a:latin typeface="Arial"/>
                          <a:cs typeface="Arial"/>
                        </a:rPr>
                        <a:t>average</a:t>
                      </a:r>
                      <a:r>
                        <a:rPr sz="1200" spc="-120" dirty="0">
                          <a:latin typeface="Arial"/>
                          <a:cs typeface="Arial"/>
                        </a:rPr>
                        <a:t> </a:t>
                      </a:r>
                      <a:r>
                        <a:rPr sz="1200" spc="-5" dirty="0">
                          <a:latin typeface="Arial"/>
                          <a:cs typeface="Arial"/>
                        </a:rPr>
                        <a:t>of</a:t>
                      </a:r>
                      <a:r>
                        <a:rPr sz="1200" spc="-95" dirty="0">
                          <a:latin typeface="Arial"/>
                          <a:cs typeface="Arial"/>
                        </a:rPr>
                        <a:t> </a:t>
                      </a:r>
                      <a:r>
                        <a:rPr sz="1200" spc="-5" dirty="0">
                          <a:latin typeface="Arial"/>
                          <a:cs typeface="Arial"/>
                        </a:rPr>
                        <a:t>all</a:t>
                      </a:r>
                      <a:r>
                        <a:rPr sz="1200" spc="-105" dirty="0">
                          <a:latin typeface="Arial"/>
                          <a:cs typeface="Arial"/>
                        </a:rPr>
                        <a:t> </a:t>
                      </a:r>
                      <a:r>
                        <a:rPr sz="1200" dirty="0">
                          <a:latin typeface="Arial"/>
                          <a:cs typeface="Arial"/>
                        </a:rPr>
                        <a:t>the</a:t>
                      </a:r>
                      <a:r>
                        <a:rPr sz="1200" spc="-110" dirty="0">
                          <a:latin typeface="Arial"/>
                          <a:cs typeface="Arial"/>
                        </a:rPr>
                        <a:t> </a:t>
                      </a:r>
                      <a:r>
                        <a:rPr sz="1200" spc="-5" dirty="0">
                          <a:latin typeface="Arial"/>
                          <a:cs typeface="Arial"/>
                        </a:rPr>
                        <a:t>non-NULL</a:t>
                      </a:r>
                      <a:r>
                        <a:rPr sz="1200" spc="-105" dirty="0">
                          <a:latin typeface="Arial"/>
                          <a:cs typeface="Arial"/>
                        </a:rPr>
                        <a:t> </a:t>
                      </a:r>
                      <a:r>
                        <a:rPr sz="1200" spc="-5" dirty="0">
                          <a:latin typeface="Arial"/>
                          <a:cs typeface="Arial"/>
                        </a:rPr>
                        <a:t>numeric</a:t>
                      </a:r>
                      <a:r>
                        <a:rPr sz="1200" spc="-120" dirty="0">
                          <a:latin typeface="Arial"/>
                          <a:cs typeface="Arial"/>
                        </a:rPr>
                        <a:t> </a:t>
                      </a:r>
                      <a:r>
                        <a:rPr sz="1200" spc="-5" dirty="0">
                          <a:latin typeface="Arial"/>
                          <a:cs typeface="Arial"/>
                        </a:rPr>
                        <a:t>values</a:t>
                      </a:r>
                      <a:r>
                        <a:rPr sz="1200" spc="-10" dirty="0">
                          <a:latin typeface="Arial"/>
                          <a:cs typeface="Arial"/>
                        </a:rPr>
                        <a:t> </a:t>
                      </a:r>
                      <a:r>
                        <a:rPr sz="1200" spc="-5" dirty="0">
                          <a:latin typeface="Arial"/>
                          <a:cs typeface="Arial"/>
                        </a:rPr>
                        <a:t>in</a:t>
                      </a:r>
                      <a:r>
                        <a:rPr sz="1200" dirty="0">
                          <a:latin typeface="Arial"/>
                          <a:cs typeface="Arial"/>
                        </a:rPr>
                        <a:t> </a:t>
                      </a:r>
                      <a:r>
                        <a:rPr sz="1200" spc="-5" dirty="0">
                          <a:latin typeface="Arial"/>
                          <a:cs typeface="Arial"/>
                        </a:rPr>
                        <a:t>a</a:t>
                      </a:r>
                      <a:r>
                        <a:rPr sz="1200" spc="5" dirty="0">
                          <a:latin typeface="Arial"/>
                          <a:cs typeface="Arial"/>
                        </a:rPr>
                        <a:t> </a:t>
                      </a:r>
                      <a:r>
                        <a:rPr sz="1200" spc="-5" dirty="0">
                          <a:latin typeface="Arial"/>
                          <a:cs typeface="Arial"/>
                        </a:rPr>
                        <a:t>column.</a:t>
                      </a:r>
                      <a:endParaRPr sz="1200">
                        <a:latin typeface="Arial"/>
                        <a:cs typeface="Arial"/>
                      </a:endParaRPr>
                    </a:p>
                  </a:txBody>
                  <a:tcPr marL="0" marR="0" marT="0" marB="0">
                    <a:lnL w="12700">
                      <a:solidFill>
                        <a:srgbClr val="000000"/>
                      </a:solidFill>
                      <a:prstDash val="solid"/>
                    </a:lnL>
                    <a:lnT w="12700">
                      <a:solidFill>
                        <a:srgbClr val="000000"/>
                      </a:solidFill>
                      <a:prstDash val="solid"/>
                    </a:lnT>
                    <a:lnB w="12700">
                      <a:solidFill>
                        <a:srgbClr val="000000"/>
                      </a:solidFill>
                      <a:prstDash val="solid"/>
                    </a:lnB>
                    <a:solidFill>
                      <a:srgbClr val="FFFFFF"/>
                    </a:solidFill>
                  </a:tcPr>
                </a:tc>
                <a:extLst>
                  <a:ext uri="{0D108BD9-81ED-4DB2-BD59-A6C34878D82A}">
                    <a16:rowId xmlns:a16="http://schemas.microsoft.com/office/drawing/2014/main" val="10001"/>
                  </a:ext>
                </a:extLst>
              </a:tr>
              <a:tr h="1100455">
                <a:tc>
                  <a:txBody>
                    <a:bodyPr/>
                    <a:lstStyle/>
                    <a:p>
                      <a:pPr marR="497205">
                        <a:lnSpc>
                          <a:spcPts val="1290"/>
                        </a:lnSpc>
                        <a:spcBef>
                          <a:spcPts val="35"/>
                        </a:spcBef>
                      </a:pPr>
                      <a:r>
                        <a:rPr sz="1100" spc="-5" dirty="0">
                          <a:latin typeface="Arial"/>
                          <a:cs typeface="Arial"/>
                        </a:rPr>
                        <a:t>COUNT or  </a:t>
                      </a:r>
                      <a:r>
                        <a:rPr sz="1100" dirty="0">
                          <a:latin typeface="Arial"/>
                          <a:cs typeface="Arial"/>
                        </a:rPr>
                        <a:t>CO</a:t>
                      </a:r>
                      <a:r>
                        <a:rPr sz="1100" spc="-5" dirty="0">
                          <a:latin typeface="Arial"/>
                          <a:cs typeface="Arial"/>
                        </a:rPr>
                        <a:t>U</a:t>
                      </a:r>
                      <a:r>
                        <a:rPr sz="1100" dirty="0">
                          <a:latin typeface="Arial"/>
                          <a:cs typeface="Arial"/>
                        </a:rPr>
                        <a:t>NT_BIG</a:t>
                      </a:r>
                      <a:endParaRPr sz="1100">
                        <a:latin typeface="Arial"/>
                        <a:cs typeface="Arial"/>
                      </a:endParaRPr>
                    </a:p>
                  </a:txBody>
                  <a:tcPr marL="0" marR="0" marT="4445" marB="0">
                    <a:lnR w="12700">
                      <a:solidFill>
                        <a:srgbClr val="000000"/>
                      </a:solidFill>
                      <a:prstDash val="solid"/>
                    </a:lnR>
                    <a:lnT w="12700">
                      <a:solidFill>
                        <a:srgbClr val="000000"/>
                      </a:solidFill>
                      <a:prstDash val="solid"/>
                    </a:lnT>
                    <a:lnB w="12700">
                      <a:solidFill>
                        <a:srgbClr val="000000"/>
                      </a:solidFill>
                      <a:prstDash val="solid"/>
                    </a:lnB>
                    <a:solidFill>
                      <a:srgbClr val="FFFFFF"/>
                    </a:solidFill>
                  </a:tcPr>
                </a:tc>
                <a:tc>
                  <a:txBody>
                    <a:bodyPr/>
                    <a:lstStyle/>
                    <a:p>
                      <a:pPr marR="634365">
                        <a:lnSpc>
                          <a:spcPts val="1290"/>
                        </a:lnSpc>
                        <a:spcBef>
                          <a:spcPts val="35"/>
                        </a:spcBef>
                      </a:pPr>
                      <a:r>
                        <a:rPr sz="1100" spc="-5" dirty="0">
                          <a:latin typeface="Arial"/>
                          <a:cs typeface="Arial"/>
                        </a:rPr>
                        <a:t>COUNT(*) or  </a:t>
                      </a:r>
                      <a:r>
                        <a:rPr sz="1100" dirty="0">
                          <a:latin typeface="Arial"/>
                          <a:cs typeface="Arial"/>
                        </a:rPr>
                        <a:t>CO</a:t>
                      </a:r>
                      <a:r>
                        <a:rPr sz="1100" spc="-5" dirty="0">
                          <a:latin typeface="Arial"/>
                          <a:cs typeface="Arial"/>
                        </a:rPr>
                        <a:t>U</a:t>
                      </a:r>
                      <a:r>
                        <a:rPr sz="1100" dirty="0">
                          <a:latin typeface="Arial"/>
                          <a:cs typeface="Arial"/>
                        </a:rPr>
                        <a:t>NT(&lt;expression&gt;)</a:t>
                      </a:r>
                      <a:endParaRPr sz="1100">
                        <a:latin typeface="Arial"/>
                        <a:cs typeface="Arial"/>
                      </a:endParaRPr>
                    </a:p>
                  </a:txBody>
                  <a:tcPr marL="0" marR="0" marT="44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FF"/>
                    </a:solidFill>
                  </a:tcPr>
                </a:tc>
                <a:tc>
                  <a:txBody>
                    <a:bodyPr/>
                    <a:lstStyle/>
                    <a:p>
                      <a:pPr marR="105410">
                        <a:lnSpc>
                          <a:spcPts val="1440"/>
                        </a:lnSpc>
                        <a:spcBef>
                          <a:spcPts val="10"/>
                        </a:spcBef>
                      </a:pPr>
                      <a:r>
                        <a:rPr sz="1200" spc="-5" dirty="0">
                          <a:latin typeface="Arial"/>
                          <a:cs typeface="Arial"/>
                        </a:rPr>
                        <a:t>When (*) is used, </a:t>
                      </a:r>
                      <a:r>
                        <a:rPr sz="1200" dirty="0">
                          <a:latin typeface="Arial"/>
                          <a:cs typeface="Arial"/>
                        </a:rPr>
                        <a:t>this </a:t>
                      </a:r>
                      <a:r>
                        <a:rPr sz="1200" spc="-5" dirty="0">
                          <a:latin typeface="Arial"/>
                          <a:cs typeface="Arial"/>
                        </a:rPr>
                        <a:t>function </a:t>
                      </a:r>
                      <a:r>
                        <a:rPr sz="1200" dirty="0">
                          <a:latin typeface="Arial"/>
                          <a:cs typeface="Arial"/>
                        </a:rPr>
                        <a:t>counts </a:t>
                      </a:r>
                      <a:r>
                        <a:rPr sz="1200" spc="-5" dirty="0">
                          <a:latin typeface="Arial"/>
                          <a:cs typeface="Arial"/>
                        </a:rPr>
                        <a:t>all </a:t>
                      </a:r>
                      <a:r>
                        <a:rPr sz="1200" dirty="0">
                          <a:latin typeface="Arial"/>
                          <a:cs typeface="Arial"/>
                        </a:rPr>
                        <a:t>rows, </a:t>
                      </a:r>
                      <a:r>
                        <a:rPr sz="1200" spc="-5" dirty="0">
                          <a:latin typeface="Arial"/>
                          <a:cs typeface="Arial"/>
                        </a:rPr>
                        <a:t>including those with NULL.  The function </a:t>
                      </a:r>
                      <a:r>
                        <a:rPr sz="1200" dirty="0">
                          <a:latin typeface="Arial"/>
                          <a:cs typeface="Arial"/>
                        </a:rPr>
                        <a:t>returns </a:t>
                      </a:r>
                      <a:r>
                        <a:rPr sz="1200" spc="-5" dirty="0">
                          <a:latin typeface="Arial"/>
                          <a:cs typeface="Arial"/>
                        </a:rPr>
                        <a:t>count </a:t>
                      </a:r>
                      <a:r>
                        <a:rPr sz="1200" dirty="0">
                          <a:latin typeface="Arial"/>
                          <a:cs typeface="Arial"/>
                        </a:rPr>
                        <a:t>of </a:t>
                      </a:r>
                      <a:r>
                        <a:rPr sz="1200" spc="-5" dirty="0">
                          <a:latin typeface="Arial"/>
                          <a:cs typeface="Arial"/>
                        </a:rPr>
                        <a:t>non- NULL rows </a:t>
                      </a:r>
                      <a:r>
                        <a:rPr sz="1200" dirty="0">
                          <a:latin typeface="Arial"/>
                          <a:cs typeface="Arial"/>
                        </a:rPr>
                        <a:t>for the </a:t>
                      </a:r>
                      <a:r>
                        <a:rPr sz="1200" spc="-5" dirty="0">
                          <a:latin typeface="Arial"/>
                          <a:cs typeface="Arial"/>
                        </a:rPr>
                        <a:t>column when a  column is specified as</a:t>
                      </a:r>
                      <a:r>
                        <a:rPr sz="1200" spc="-15" dirty="0">
                          <a:latin typeface="Arial"/>
                          <a:cs typeface="Arial"/>
                        </a:rPr>
                        <a:t> </a:t>
                      </a:r>
                      <a:r>
                        <a:rPr sz="1200" spc="-5" dirty="0">
                          <a:latin typeface="Arial"/>
                          <a:cs typeface="Arial"/>
                        </a:rPr>
                        <a:t>&lt;</a:t>
                      </a:r>
                      <a:r>
                        <a:rPr sz="1100" spc="-5" dirty="0">
                          <a:latin typeface="Arial"/>
                          <a:cs typeface="Arial"/>
                        </a:rPr>
                        <a:t>expression</a:t>
                      </a:r>
                      <a:r>
                        <a:rPr sz="1200" spc="-5" dirty="0">
                          <a:latin typeface="Arial"/>
                          <a:cs typeface="Arial"/>
                        </a:rPr>
                        <a:t>&gt;.</a:t>
                      </a:r>
                      <a:endParaRPr sz="1200">
                        <a:latin typeface="Arial"/>
                        <a:cs typeface="Arial"/>
                      </a:endParaRPr>
                    </a:p>
                    <a:p>
                      <a:pPr>
                        <a:lnSpc>
                          <a:spcPts val="1380"/>
                        </a:lnSpc>
                      </a:pPr>
                      <a:r>
                        <a:rPr sz="1200" spc="-5" dirty="0">
                          <a:latin typeface="Arial"/>
                          <a:cs typeface="Arial"/>
                        </a:rPr>
                        <a:t>The </a:t>
                      </a:r>
                      <a:r>
                        <a:rPr sz="1200" dirty="0">
                          <a:latin typeface="Arial"/>
                          <a:cs typeface="Arial"/>
                        </a:rPr>
                        <a:t>return </a:t>
                      </a:r>
                      <a:r>
                        <a:rPr sz="1200" spc="-5" dirty="0">
                          <a:latin typeface="Arial"/>
                          <a:cs typeface="Arial"/>
                        </a:rPr>
                        <a:t>value </a:t>
                      </a:r>
                      <a:r>
                        <a:rPr sz="1200" dirty="0">
                          <a:latin typeface="Arial"/>
                          <a:cs typeface="Arial"/>
                        </a:rPr>
                        <a:t>of </a:t>
                      </a:r>
                      <a:r>
                        <a:rPr sz="1100" spc="-5" dirty="0">
                          <a:latin typeface="Arial"/>
                          <a:cs typeface="Arial"/>
                        </a:rPr>
                        <a:t>COUNT </a:t>
                      </a:r>
                      <a:r>
                        <a:rPr sz="1200" dirty="0">
                          <a:latin typeface="Arial"/>
                          <a:cs typeface="Arial"/>
                        </a:rPr>
                        <a:t>function is an </a:t>
                      </a:r>
                      <a:r>
                        <a:rPr sz="1100" dirty="0">
                          <a:latin typeface="Arial"/>
                          <a:cs typeface="Arial"/>
                        </a:rPr>
                        <a:t>int</a:t>
                      </a:r>
                      <a:r>
                        <a:rPr sz="1200" dirty="0">
                          <a:latin typeface="Arial"/>
                          <a:cs typeface="Arial"/>
                        </a:rPr>
                        <a:t>. </a:t>
                      </a:r>
                      <a:r>
                        <a:rPr sz="1200" spc="-5" dirty="0">
                          <a:latin typeface="Arial"/>
                          <a:cs typeface="Arial"/>
                        </a:rPr>
                        <a:t>The </a:t>
                      </a:r>
                      <a:r>
                        <a:rPr sz="1200" dirty="0">
                          <a:latin typeface="Arial"/>
                          <a:cs typeface="Arial"/>
                        </a:rPr>
                        <a:t>return </a:t>
                      </a:r>
                      <a:r>
                        <a:rPr sz="1200" spc="-5" dirty="0">
                          <a:latin typeface="Arial"/>
                          <a:cs typeface="Arial"/>
                        </a:rPr>
                        <a:t>value</a:t>
                      </a:r>
                      <a:r>
                        <a:rPr sz="1200" spc="-10" dirty="0">
                          <a:latin typeface="Arial"/>
                          <a:cs typeface="Arial"/>
                        </a:rPr>
                        <a:t> </a:t>
                      </a:r>
                      <a:r>
                        <a:rPr sz="1200" dirty="0">
                          <a:latin typeface="Arial"/>
                          <a:cs typeface="Arial"/>
                        </a:rPr>
                        <a:t>of</a:t>
                      </a:r>
                      <a:endParaRPr sz="1200">
                        <a:latin typeface="Arial"/>
                        <a:cs typeface="Arial"/>
                      </a:endParaRPr>
                    </a:p>
                    <a:p>
                      <a:pPr>
                        <a:lnSpc>
                          <a:spcPts val="1425"/>
                        </a:lnSpc>
                      </a:pPr>
                      <a:r>
                        <a:rPr sz="1100" spc="-5" dirty="0">
                          <a:latin typeface="Arial"/>
                          <a:cs typeface="Arial"/>
                        </a:rPr>
                        <a:t>COUNT</a:t>
                      </a:r>
                      <a:r>
                        <a:rPr sz="1200" spc="-5" dirty="0">
                          <a:latin typeface="Arial"/>
                          <a:cs typeface="Arial"/>
                        </a:rPr>
                        <a:t>_</a:t>
                      </a:r>
                      <a:r>
                        <a:rPr sz="1100" spc="-5" dirty="0">
                          <a:latin typeface="Arial"/>
                          <a:cs typeface="Arial"/>
                        </a:rPr>
                        <a:t>BIG </a:t>
                      </a:r>
                      <a:r>
                        <a:rPr sz="1200" spc="-5" dirty="0">
                          <a:latin typeface="Arial"/>
                          <a:cs typeface="Arial"/>
                        </a:rPr>
                        <a:t>is a</a:t>
                      </a:r>
                      <a:r>
                        <a:rPr sz="1200" spc="50" dirty="0">
                          <a:latin typeface="Arial"/>
                          <a:cs typeface="Arial"/>
                        </a:rPr>
                        <a:t> </a:t>
                      </a:r>
                      <a:r>
                        <a:rPr sz="1100" spc="-5" dirty="0">
                          <a:latin typeface="Arial"/>
                          <a:cs typeface="Arial"/>
                        </a:rPr>
                        <a:t>big</a:t>
                      </a:r>
                      <a:r>
                        <a:rPr sz="1200" spc="-5" dirty="0">
                          <a:latin typeface="Arial"/>
                          <a:cs typeface="Arial"/>
                        </a:rPr>
                        <a:t>_</a:t>
                      </a:r>
                      <a:r>
                        <a:rPr sz="1100" spc="-5" dirty="0">
                          <a:latin typeface="Arial"/>
                          <a:cs typeface="Arial"/>
                        </a:rPr>
                        <a:t>int</a:t>
                      </a:r>
                      <a:r>
                        <a:rPr sz="1200" spc="-5" dirty="0">
                          <a:latin typeface="Arial"/>
                          <a:cs typeface="Arial"/>
                        </a:rPr>
                        <a:t>.</a:t>
                      </a:r>
                      <a:endParaRPr sz="1200">
                        <a:latin typeface="Arial"/>
                        <a:cs typeface="Arial"/>
                      </a:endParaRPr>
                    </a:p>
                  </a:txBody>
                  <a:tcPr marL="0" marR="0" marT="1270" marB="0">
                    <a:lnL w="12700">
                      <a:solidFill>
                        <a:srgbClr val="000000"/>
                      </a:solidFill>
                      <a:prstDash val="solid"/>
                    </a:lnL>
                    <a:lnT w="12700">
                      <a:solidFill>
                        <a:srgbClr val="000000"/>
                      </a:solidFill>
                      <a:prstDash val="solid"/>
                    </a:lnT>
                    <a:lnB w="12700">
                      <a:solidFill>
                        <a:srgbClr val="000000"/>
                      </a:solidFill>
                      <a:prstDash val="solid"/>
                    </a:lnB>
                    <a:solidFill>
                      <a:srgbClr val="FFFFFF"/>
                    </a:solidFill>
                  </a:tcPr>
                </a:tc>
                <a:extLst>
                  <a:ext uri="{0D108BD9-81ED-4DB2-BD59-A6C34878D82A}">
                    <a16:rowId xmlns:a16="http://schemas.microsoft.com/office/drawing/2014/main" val="10002"/>
                  </a:ext>
                </a:extLst>
              </a:tr>
              <a:tr h="539622">
                <a:tc>
                  <a:txBody>
                    <a:bodyPr/>
                    <a:lstStyle/>
                    <a:p>
                      <a:pPr>
                        <a:lnSpc>
                          <a:spcPts val="1260"/>
                        </a:lnSpc>
                      </a:pPr>
                      <a:r>
                        <a:rPr sz="1100" spc="-5" dirty="0">
                          <a:latin typeface="Arial"/>
                          <a:cs typeface="Arial"/>
                        </a:rPr>
                        <a:t>MAX</a:t>
                      </a:r>
                      <a:endParaRPr sz="1100">
                        <a:latin typeface="Arial"/>
                        <a:cs typeface="Arial"/>
                      </a:endParaRPr>
                    </a:p>
                  </a:txBody>
                  <a:tcPr marL="0" marR="0" marT="0" marB="0">
                    <a:lnR w="12700">
                      <a:solidFill>
                        <a:srgbClr val="000000"/>
                      </a:solidFill>
                      <a:prstDash val="solid"/>
                    </a:lnR>
                    <a:lnT w="12700">
                      <a:solidFill>
                        <a:srgbClr val="000000"/>
                      </a:solidFill>
                      <a:prstDash val="solid"/>
                    </a:lnT>
                    <a:lnB w="12700">
                      <a:solidFill>
                        <a:srgbClr val="000000"/>
                      </a:solidFill>
                      <a:prstDash val="solid"/>
                    </a:lnB>
                    <a:solidFill>
                      <a:srgbClr val="FFFFFF"/>
                    </a:solidFill>
                  </a:tcPr>
                </a:tc>
                <a:tc>
                  <a:txBody>
                    <a:bodyPr/>
                    <a:lstStyle/>
                    <a:p>
                      <a:pPr>
                        <a:lnSpc>
                          <a:spcPts val="1260"/>
                        </a:lnSpc>
                      </a:pPr>
                      <a:r>
                        <a:rPr sz="1100" spc="-5" dirty="0">
                          <a:latin typeface="Arial"/>
                          <a:cs typeface="Arial"/>
                        </a:rPr>
                        <a:t>MAX(&lt;expression&gt;)</a:t>
                      </a:r>
                      <a:endParaRPr sz="1100">
                        <a:latin typeface="Arial"/>
                        <a:cs typeface="Arial"/>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FF"/>
                    </a:solidFill>
                  </a:tcPr>
                </a:tc>
                <a:tc>
                  <a:txBody>
                    <a:bodyPr/>
                    <a:lstStyle/>
                    <a:p>
                      <a:pPr>
                        <a:lnSpc>
                          <a:spcPts val="1375"/>
                        </a:lnSpc>
                      </a:pPr>
                      <a:r>
                        <a:rPr sz="1200" spc="-5" dirty="0">
                          <a:latin typeface="Arial"/>
                          <a:cs typeface="Arial"/>
                        </a:rPr>
                        <a:t>Returns </a:t>
                      </a:r>
                      <a:r>
                        <a:rPr sz="1200" dirty="0">
                          <a:latin typeface="Arial"/>
                          <a:cs typeface="Arial"/>
                        </a:rPr>
                        <a:t>the </a:t>
                      </a:r>
                      <a:r>
                        <a:rPr sz="1200" spc="-5" dirty="0">
                          <a:latin typeface="Arial"/>
                          <a:cs typeface="Arial"/>
                        </a:rPr>
                        <a:t>largest number, latest </a:t>
                      </a:r>
                      <a:r>
                        <a:rPr sz="1200" dirty="0">
                          <a:latin typeface="Arial"/>
                          <a:cs typeface="Arial"/>
                        </a:rPr>
                        <a:t>date/time, </a:t>
                      </a:r>
                      <a:r>
                        <a:rPr sz="1200" spc="-5" dirty="0">
                          <a:latin typeface="Arial"/>
                          <a:cs typeface="Arial"/>
                        </a:rPr>
                        <a:t>or last occurring</a:t>
                      </a:r>
                      <a:r>
                        <a:rPr sz="1200" spc="10" dirty="0">
                          <a:latin typeface="Arial"/>
                          <a:cs typeface="Arial"/>
                        </a:rPr>
                        <a:t> </a:t>
                      </a:r>
                      <a:r>
                        <a:rPr sz="1200" spc="-5" dirty="0">
                          <a:latin typeface="Arial"/>
                          <a:cs typeface="Arial"/>
                        </a:rPr>
                        <a:t>string.</a:t>
                      </a:r>
                      <a:endParaRPr sz="1200">
                        <a:latin typeface="Arial"/>
                        <a:cs typeface="Arial"/>
                      </a:endParaRPr>
                    </a:p>
                  </a:txBody>
                  <a:tcPr marL="0" marR="0" marT="0" marB="0">
                    <a:lnL w="12700">
                      <a:solidFill>
                        <a:srgbClr val="000000"/>
                      </a:solidFill>
                      <a:prstDash val="solid"/>
                    </a:lnL>
                    <a:lnT w="12700">
                      <a:solidFill>
                        <a:srgbClr val="000000"/>
                      </a:solidFill>
                      <a:prstDash val="solid"/>
                    </a:lnT>
                    <a:lnB w="12700">
                      <a:solidFill>
                        <a:srgbClr val="000000"/>
                      </a:solidFill>
                      <a:prstDash val="solid"/>
                    </a:lnB>
                    <a:solidFill>
                      <a:srgbClr val="FFFFFF"/>
                    </a:solidFill>
                  </a:tcPr>
                </a:tc>
                <a:extLst>
                  <a:ext uri="{0D108BD9-81ED-4DB2-BD59-A6C34878D82A}">
                    <a16:rowId xmlns:a16="http://schemas.microsoft.com/office/drawing/2014/main" val="10003"/>
                  </a:ext>
                </a:extLst>
              </a:tr>
              <a:tr h="464566">
                <a:tc>
                  <a:txBody>
                    <a:bodyPr/>
                    <a:lstStyle/>
                    <a:p>
                      <a:pPr>
                        <a:lnSpc>
                          <a:spcPts val="1260"/>
                        </a:lnSpc>
                      </a:pPr>
                      <a:r>
                        <a:rPr sz="1100" spc="-5" dirty="0">
                          <a:latin typeface="Arial"/>
                          <a:cs typeface="Arial"/>
                        </a:rPr>
                        <a:t>MIN</a:t>
                      </a:r>
                      <a:endParaRPr sz="1100">
                        <a:latin typeface="Arial"/>
                        <a:cs typeface="Arial"/>
                      </a:endParaRPr>
                    </a:p>
                  </a:txBody>
                  <a:tcPr marL="0" marR="0" marT="0" marB="0">
                    <a:lnR w="12700">
                      <a:solidFill>
                        <a:srgbClr val="000000"/>
                      </a:solidFill>
                      <a:prstDash val="solid"/>
                    </a:lnR>
                    <a:lnT w="12700">
                      <a:solidFill>
                        <a:srgbClr val="000000"/>
                      </a:solidFill>
                      <a:prstDash val="solid"/>
                    </a:lnT>
                    <a:lnB w="12700">
                      <a:solidFill>
                        <a:srgbClr val="000000"/>
                      </a:solidFill>
                      <a:prstDash val="solid"/>
                    </a:lnB>
                    <a:solidFill>
                      <a:srgbClr val="FFFFFF"/>
                    </a:solidFill>
                  </a:tcPr>
                </a:tc>
                <a:tc>
                  <a:txBody>
                    <a:bodyPr/>
                    <a:lstStyle/>
                    <a:p>
                      <a:pPr>
                        <a:lnSpc>
                          <a:spcPts val="1260"/>
                        </a:lnSpc>
                      </a:pPr>
                      <a:r>
                        <a:rPr sz="1100" spc="-5" dirty="0">
                          <a:latin typeface="Arial"/>
                          <a:cs typeface="Arial"/>
                        </a:rPr>
                        <a:t>MIN(&lt;expression&gt;)</a:t>
                      </a:r>
                      <a:endParaRPr sz="1100">
                        <a:latin typeface="Arial"/>
                        <a:cs typeface="Arial"/>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FF"/>
                    </a:solidFill>
                  </a:tcPr>
                </a:tc>
                <a:tc>
                  <a:txBody>
                    <a:bodyPr/>
                    <a:lstStyle/>
                    <a:p>
                      <a:pPr>
                        <a:lnSpc>
                          <a:spcPts val="1375"/>
                        </a:lnSpc>
                      </a:pPr>
                      <a:r>
                        <a:rPr sz="1200" spc="-5" dirty="0">
                          <a:latin typeface="Arial"/>
                          <a:cs typeface="Arial"/>
                        </a:rPr>
                        <a:t>Returns </a:t>
                      </a:r>
                      <a:r>
                        <a:rPr sz="1200" dirty="0">
                          <a:latin typeface="Arial"/>
                          <a:cs typeface="Arial"/>
                        </a:rPr>
                        <a:t>the </a:t>
                      </a:r>
                      <a:r>
                        <a:rPr sz="1200" spc="-5" dirty="0">
                          <a:latin typeface="Arial"/>
                          <a:cs typeface="Arial"/>
                        </a:rPr>
                        <a:t>smallest number, earliest </a:t>
                      </a:r>
                      <a:r>
                        <a:rPr sz="1200" dirty="0">
                          <a:latin typeface="Arial"/>
                          <a:cs typeface="Arial"/>
                        </a:rPr>
                        <a:t>date/time, </a:t>
                      </a:r>
                      <a:r>
                        <a:rPr sz="1200" spc="-5" dirty="0">
                          <a:latin typeface="Arial"/>
                          <a:cs typeface="Arial"/>
                        </a:rPr>
                        <a:t>or </a:t>
                      </a:r>
                      <a:r>
                        <a:rPr sz="1200" dirty="0">
                          <a:latin typeface="Arial"/>
                          <a:cs typeface="Arial"/>
                        </a:rPr>
                        <a:t>first </a:t>
                      </a:r>
                      <a:r>
                        <a:rPr sz="1200" spc="-5" dirty="0">
                          <a:latin typeface="Arial"/>
                          <a:cs typeface="Arial"/>
                        </a:rPr>
                        <a:t>occurring</a:t>
                      </a:r>
                      <a:r>
                        <a:rPr sz="1200" spc="10" dirty="0">
                          <a:latin typeface="Arial"/>
                          <a:cs typeface="Arial"/>
                        </a:rPr>
                        <a:t> </a:t>
                      </a:r>
                      <a:r>
                        <a:rPr sz="1200" spc="-5" dirty="0">
                          <a:latin typeface="Arial"/>
                          <a:cs typeface="Arial"/>
                        </a:rPr>
                        <a:t>string.</a:t>
                      </a:r>
                      <a:endParaRPr sz="1200">
                        <a:latin typeface="Arial"/>
                        <a:cs typeface="Arial"/>
                      </a:endParaRPr>
                    </a:p>
                  </a:txBody>
                  <a:tcPr marL="0" marR="0" marT="0" marB="0">
                    <a:lnL w="12700">
                      <a:solidFill>
                        <a:srgbClr val="000000"/>
                      </a:solidFill>
                      <a:prstDash val="solid"/>
                    </a:lnL>
                    <a:lnT w="12700">
                      <a:solidFill>
                        <a:srgbClr val="000000"/>
                      </a:solidFill>
                      <a:prstDash val="solid"/>
                    </a:lnT>
                    <a:lnB w="12700">
                      <a:solidFill>
                        <a:srgbClr val="000000"/>
                      </a:solidFill>
                      <a:prstDash val="solid"/>
                    </a:lnB>
                    <a:solidFill>
                      <a:srgbClr val="FFFFFF"/>
                    </a:solidFill>
                  </a:tcPr>
                </a:tc>
                <a:extLst>
                  <a:ext uri="{0D108BD9-81ED-4DB2-BD59-A6C34878D82A}">
                    <a16:rowId xmlns:a16="http://schemas.microsoft.com/office/drawing/2014/main" val="10004"/>
                  </a:ext>
                </a:extLst>
              </a:tr>
              <a:tr h="464565">
                <a:tc>
                  <a:txBody>
                    <a:bodyPr/>
                    <a:lstStyle/>
                    <a:p>
                      <a:pPr>
                        <a:lnSpc>
                          <a:spcPts val="1260"/>
                        </a:lnSpc>
                      </a:pPr>
                      <a:r>
                        <a:rPr sz="1100" spc="-10" dirty="0">
                          <a:latin typeface="Arial"/>
                          <a:cs typeface="Arial"/>
                        </a:rPr>
                        <a:t>SUM</a:t>
                      </a:r>
                      <a:endParaRPr sz="1100">
                        <a:latin typeface="Arial"/>
                        <a:cs typeface="Arial"/>
                      </a:endParaRPr>
                    </a:p>
                  </a:txBody>
                  <a:tcPr marL="0" marR="0" marT="0" marB="0">
                    <a:lnR w="12700">
                      <a:solidFill>
                        <a:srgbClr val="000000"/>
                      </a:solidFill>
                      <a:prstDash val="solid"/>
                    </a:lnR>
                    <a:lnT w="12700">
                      <a:solidFill>
                        <a:srgbClr val="000000"/>
                      </a:solidFill>
                      <a:prstDash val="solid"/>
                    </a:lnT>
                    <a:solidFill>
                      <a:srgbClr val="FFFFFF"/>
                    </a:solidFill>
                  </a:tcPr>
                </a:tc>
                <a:tc>
                  <a:txBody>
                    <a:bodyPr/>
                    <a:lstStyle/>
                    <a:p>
                      <a:pPr>
                        <a:lnSpc>
                          <a:spcPts val="1260"/>
                        </a:lnSpc>
                      </a:pPr>
                      <a:r>
                        <a:rPr sz="1100" spc="-5" dirty="0">
                          <a:latin typeface="Arial"/>
                          <a:cs typeface="Arial"/>
                        </a:rPr>
                        <a:t>SUM(&lt;expression&gt;)</a:t>
                      </a:r>
                      <a:endParaRPr sz="1100">
                        <a:latin typeface="Arial"/>
                        <a:cs typeface="Arial"/>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solidFill>
                      <a:srgbClr val="FFFFFF"/>
                    </a:solidFill>
                  </a:tcPr>
                </a:tc>
                <a:tc>
                  <a:txBody>
                    <a:bodyPr/>
                    <a:lstStyle/>
                    <a:p>
                      <a:pPr>
                        <a:lnSpc>
                          <a:spcPts val="1375"/>
                        </a:lnSpc>
                      </a:pPr>
                      <a:r>
                        <a:rPr sz="1200" spc="-5" dirty="0">
                          <a:latin typeface="Arial"/>
                          <a:cs typeface="Arial"/>
                        </a:rPr>
                        <a:t>Calculates the </a:t>
                      </a:r>
                      <a:r>
                        <a:rPr sz="1200" dirty="0">
                          <a:latin typeface="Arial"/>
                          <a:cs typeface="Arial"/>
                        </a:rPr>
                        <a:t>sum </a:t>
                      </a:r>
                      <a:r>
                        <a:rPr sz="1200" spc="-5" dirty="0">
                          <a:latin typeface="Arial"/>
                          <a:cs typeface="Arial"/>
                        </a:rPr>
                        <a:t>of all </a:t>
                      </a:r>
                      <a:r>
                        <a:rPr sz="1200" dirty="0">
                          <a:latin typeface="Arial"/>
                          <a:cs typeface="Arial"/>
                        </a:rPr>
                        <a:t>the </a:t>
                      </a:r>
                      <a:r>
                        <a:rPr sz="1200" spc="-5" dirty="0">
                          <a:latin typeface="Arial"/>
                          <a:cs typeface="Arial"/>
                        </a:rPr>
                        <a:t>non-NULL numeric values in a column.</a:t>
                      </a:r>
                      <a:endParaRPr sz="1200">
                        <a:latin typeface="Arial"/>
                        <a:cs typeface="Arial"/>
                      </a:endParaRPr>
                    </a:p>
                  </a:txBody>
                  <a:tcPr marL="0" marR="0" marT="0" marB="0">
                    <a:lnL w="12700">
                      <a:solidFill>
                        <a:srgbClr val="000000"/>
                      </a:solidFill>
                      <a:prstDash val="solid"/>
                    </a:lnL>
                    <a:lnT w="12700">
                      <a:solidFill>
                        <a:srgbClr val="000000"/>
                      </a:solidFill>
                      <a:prstDash val="solid"/>
                    </a:lnT>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9740" y="0"/>
            <a:ext cx="5251450" cy="635635"/>
          </a:xfrm>
          <a:prstGeom prst="rect">
            <a:avLst/>
          </a:prstGeom>
        </p:spPr>
        <p:txBody>
          <a:bodyPr vert="horz" wrap="square" lIns="0" tIns="12700" rIns="0" bIns="0" rtlCol="0">
            <a:spAutoFit/>
          </a:bodyPr>
          <a:lstStyle/>
          <a:p>
            <a:pPr marL="12700">
              <a:lnSpc>
                <a:spcPct val="100000"/>
              </a:lnSpc>
              <a:spcBef>
                <a:spcPts val="100"/>
              </a:spcBef>
            </a:pPr>
            <a:r>
              <a:rPr spc="95" dirty="0"/>
              <a:t>Aggregate </a:t>
            </a:r>
            <a:r>
              <a:rPr spc="170" dirty="0"/>
              <a:t>Functions</a:t>
            </a:r>
            <a:r>
              <a:rPr spc="-459" dirty="0"/>
              <a:t> </a:t>
            </a:r>
            <a:r>
              <a:rPr spc="-250" dirty="0"/>
              <a:t>3-3</a:t>
            </a:r>
          </a:p>
        </p:txBody>
      </p:sp>
      <p:pic>
        <p:nvPicPr>
          <p:cNvPr id="3" name="object 3"/>
          <p:cNvPicPr/>
          <p:nvPr/>
        </p:nvPicPr>
        <p:blipFill>
          <a:blip r:embed="rId3" cstate="print"/>
          <a:stretch>
            <a:fillRect/>
          </a:stretch>
        </p:blipFill>
        <p:spPr>
          <a:xfrm>
            <a:off x="2595372" y="1598675"/>
            <a:ext cx="3953255" cy="1031748"/>
          </a:xfrm>
          <a:prstGeom prst="rect">
            <a:avLst/>
          </a:prstGeom>
        </p:spPr>
      </p:pic>
      <p:sp>
        <p:nvSpPr>
          <p:cNvPr id="4" name="object 4"/>
          <p:cNvSpPr txBox="1"/>
          <p:nvPr/>
        </p:nvSpPr>
        <p:spPr>
          <a:xfrm>
            <a:off x="3467353" y="2628900"/>
            <a:ext cx="2077720" cy="238760"/>
          </a:xfrm>
          <a:prstGeom prst="rect">
            <a:avLst/>
          </a:prstGeom>
        </p:spPr>
        <p:txBody>
          <a:bodyPr vert="horz" wrap="square" lIns="0" tIns="12065" rIns="0" bIns="0" rtlCol="0">
            <a:spAutoFit/>
          </a:bodyPr>
          <a:lstStyle/>
          <a:p>
            <a:pPr marL="12700">
              <a:lnSpc>
                <a:spcPct val="100000"/>
              </a:lnSpc>
              <a:spcBef>
                <a:spcPts val="95"/>
              </a:spcBef>
            </a:pPr>
            <a:r>
              <a:rPr sz="1400" b="1" spc="-70" dirty="0">
                <a:latin typeface="Arial"/>
                <a:cs typeface="Arial"/>
              </a:rPr>
              <a:t>Using </a:t>
            </a:r>
            <a:r>
              <a:rPr sz="1400" b="1" spc="-100" dirty="0">
                <a:latin typeface="Arial"/>
                <a:cs typeface="Arial"/>
              </a:rPr>
              <a:t>Aggregate</a:t>
            </a:r>
            <a:r>
              <a:rPr sz="1400" b="1" spc="-180" dirty="0">
                <a:latin typeface="Arial"/>
                <a:cs typeface="Arial"/>
              </a:rPr>
              <a:t> </a:t>
            </a:r>
            <a:r>
              <a:rPr sz="1400" b="1" spc="-85" dirty="0">
                <a:latin typeface="Arial"/>
                <a:cs typeface="Arial"/>
              </a:rPr>
              <a:t>Functions</a:t>
            </a:r>
            <a:endParaRPr sz="1400">
              <a:latin typeface="Arial"/>
              <a:cs typeface="Arial"/>
            </a:endParaRPr>
          </a:p>
        </p:txBody>
      </p:sp>
      <p:pic>
        <p:nvPicPr>
          <p:cNvPr id="5" name="object 5"/>
          <p:cNvPicPr/>
          <p:nvPr/>
        </p:nvPicPr>
        <p:blipFill>
          <a:blip r:embed="rId4" cstate="print"/>
          <a:stretch>
            <a:fillRect/>
          </a:stretch>
        </p:blipFill>
        <p:spPr>
          <a:xfrm>
            <a:off x="2595372" y="4040885"/>
            <a:ext cx="3881628" cy="1162050"/>
          </a:xfrm>
          <a:prstGeom prst="rect">
            <a:avLst/>
          </a:prstGeom>
        </p:spPr>
      </p:pic>
      <p:sp>
        <p:nvSpPr>
          <p:cNvPr id="6" name="object 6"/>
          <p:cNvSpPr txBox="1"/>
          <p:nvPr/>
        </p:nvSpPr>
        <p:spPr>
          <a:xfrm>
            <a:off x="2503423" y="5201665"/>
            <a:ext cx="3950335" cy="238760"/>
          </a:xfrm>
          <a:prstGeom prst="rect">
            <a:avLst/>
          </a:prstGeom>
        </p:spPr>
        <p:txBody>
          <a:bodyPr vert="horz" wrap="square" lIns="0" tIns="12065" rIns="0" bIns="0" rtlCol="0">
            <a:spAutoFit/>
          </a:bodyPr>
          <a:lstStyle/>
          <a:p>
            <a:pPr marL="12700">
              <a:lnSpc>
                <a:spcPct val="100000"/>
              </a:lnSpc>
              <a:spcBef>
                <a:spcPts val="95"/>
              </a:spcBef>
            </a:pPr>
            <a:r>
              <a:rPr sz="1400" b="1" spc="-70" dirty="0">
                <a:latin typeface="Arial"/>
                <a:cs typeface="Arial"/>
              </a:rPr>
              <a:t>Using </a:t>
            </a:r>
            <a:r>
              <a:rPr sz="1400" b="1" spc="-100" dirty="0">
                <a:latin typeface="Arial"/>
                <a:cs typeface="Arial"/>
              </a:rPr>
              <a:t>Aggregate </a:t>
            </a:r>
            <a:r>
              <a:rPr sz="1400" b="1" spc="-85" dirty="0">
                <a:latin typeface="Arial"/>
                <a:cs typeface="Arial"/>
              </a:rPr>
              <a:t>Functions </a:t>
            </a:r>
            <a:r>
              <a:rPr sz="1400" b="1" spc="-25" dirty="0">
                <a:latin typeface="Arial"/>
                <a:cs typeface="Arial"/>
              </a:rPr>
              <a:t>with </a:t>
            </a:r>
            <a:r>
              <a:rPr sz="1400" b="1" spc="-45" dirty="0">
                <a:latin typeface="Arial"/>
                <a:cs typeface="Arial"/>
              </a:rPr>
              <a:t>Non-Numeric</a:t>
            </a:r>
            <a:r>
              <a:rPr sz="1400" b="1" spc="-265" dirty="0">
                <a:latin typeface="Arial"/>
                <a:cs typeface="Arial"/>
              </a:rPr>
              <a:t> </a:t>
            </a:r>
            <a:r>
              <a:rPr sz="1400" b="1" spc="-50" dirty="0">
                <a:latin typeface="Arial"/>
                <a:cs typeface="Arial"/>
              </a:rPr>
              <a:t>Data</a:t>
            </a:r>
            <a:endParaRPr sz="1400">
              <a:latin typeface="Arial"/>
              <a:cs typeface="Arial"/>
            </a:endParaRPr>
          </a:p>
        </p:txBody>
      </p:sp>
      <p:sp>
        <p:nvSpPr>
          <p:cNvPr id="8" name="object 8"/>
          <p:cNvSpPr txBox="1"/>
          <p:nvPr/>
        </p:nvSpPr>
        <p:spPr>
          <a:xfrm>
            <a:off x="7912607" y="6569709"/>
            <a:ext cx="904875" cy="256540"/>
          </a:xfrm>
          <a:prstGeom prst="rect">
            <a:avLst/>
          </a:prstGeom>
        </p:spPr>
        <p:txBody>
          <a:bodyPr vert="horz" wrap="square" lIns="0" tIns="18415" rIns="0" bIns="0" rtlCol="0">
            <a:spAutoFit/>
          </a:bodyPr>
          <a:lstStyle/>
          <a:p>
            <a:pPr marL="12700">
              <a:lnSpc>
                <a:spcPct val="100000"/>
              </a:lnSpc>
              <a:spcBef>
                <a:spcPts val="145"/>
              </a:spcBef>
            </a:pPr>
            <a:r>
              <a:rPr sz="1800" spc="52" baseline="4629" dirty="0">
                <a:latin typeface="Times New Roman"/>
                <a:cs typeface="Times New Roman"/>
              </a:rPr>
              <a:t>Session </a:t>
            </a:r>
            <a:r>
              <a:rPr sz="1800" spc="104" baseline="4629" dirty="0">
                <a:latin typeface="Times New Roman"/>
                <a:cs typeface="Times New Roman"/>
              </a:rPr>
              <a:t>9/</a:t>
            </a:r>
            <a:r>
              <a:rPr sz="1800" spc="-262" baseline="4629" dirty="0">
                <a:latin typeface="Times New Roman"/>
                <a:cs typeface="Times New Roman"/>
              </a:rPr>
              <a:t> </a:t>
            </a:r>
            <a:fld id="{81D60167-4931-47E6-BA6A-407CBD079E47}" type="slidenum">
              <a:rPr sz="1200" spc="-5" dirty="0">
                <a:latin typeface="Times New Roman"/>
                <a:cs typeface="Times New Roman"/>
              </a:rPr>
              <a:t>15</a:t>
            </a:fld>
            <a:endParaRPr sz="1200">
              <a:latin typeface="Times New Roman"/>
              <a:cs typeface="Times New Roman"/>
            </a:endParaRPr>
          </a:p>
        </p:txBody>
      </p:sp>
      <p:sp>
        <p:nvSpPr>
          <p:cNvPr id="9" name="object 9"/>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2938" y="37337"/>
            <a:ext cx="4734560" cy="635635"/>
          </a:xfrm>
          <a:prstGeom prst="rect">
            <a:avLst/>
          </a:prstGeom>
        </p:spPr>
        <p:txBody>
          <a:bodyPr vert="horz" wrap="square" lIns="0" tIns="12700" rIns="0" bIns="0" rtlCol="0">
            <a:spAutoFit/>
          </a:bodyPr>
          <a:lstStyle/>
          <a:p>
            <a:pPr marL="12700">
              <a:lnSpc>
                <a:spcPct val="100000"/>
              </a:lnSpc>
              <a:spcBef>
                <a:spcPts val="100"/>
              </a:spcBef>
            </a:pPr>
            <a:r>
              <a:rPr spc="114" dirty="0"/>
              <a:t>Spatial </a:t>
            </a:r>
            <a:r>
              <a:rPr spc="90" dirty="0"/>
              <a:t>Aggregates</a:t>
            </a:r>
            <a:r>
              <a:rPr spc="-515" dirty="0"/>
              <a:t> </a:t>
            </a:r>
            <a:r>
              <a:rPr spc="-330" dirty="0"/>
              <a:t>1-3</a:t>
            </a:r>
          </a:p>
        </p:txBody>
      </p:sp>
      <p:grpSp>
        <p:nvGrpSpPr>
          <p:cNvPr id="3" name="object 3"/>
          <p:cNvGrpSpPr/>
          <p:nvPr/>
        </p:nvGrpSpPr>
        <p:grpSpPr>
          <a:xfrm>
            <a:off x="483108" y="847344"/>
            <a:ext cx="8164830" cy="1529080"/>
            <a:chOff x="483108" y="847344"/>
            <a:chExt cx="8164830" cy="1529080"/>
          </a:xfrm>
        </p:grpSpPr>
        <p:pic>
          <p:nvPicPr>
            <p:cNvPr id="4" name="object 4"/>
            <p:cNvPicPr/>
            <p:nvPr/>
          </p:nvPicPr>
          <p:blipFill>
            <a:blip r:embed="rId3" cstate="print"/>
            <a:stretch>
              <a:fillRect/>
            </a:stretch>
          </p:blipFill>
          <p:spPr>
            <a:xfrm>
              <a:off x="483108" y="847344"/>
              <a:ext cx="8164830" cy="1528572"/>
            </a:xfrm>
            <a:prstGeom prst="rect">
              <a:avLst/>
            </a:prstGeom>
          </p:spPr>
        </p:pic>
        <p:pic>
          <p:nvPicPr>
            <p:cNvPr id="5" name="object 5"/>
            <p:cNvPicPr/>
            <p:nvPr/>
          </p:nvPicPr>
          <p:blipFill>
            <a:blip r:embed="rId4" cstate="print"/>
            <a:stretch>
              <a:fillRect/>
            </a:stretch>
          </p:blipFill>
          <p:spPr>
            <a:xfrm>
              <a:off x="524256" y="865632"/>
              <a:ext cx="8089392" cy="1453134"/>
            </a:xfrm>
            <a:prstGeom prst="rect">
              <a:avLst/>
            </a:prstGeom>
          </p:spPr>
        </p:pic>
      </p:grpSp>
      <p:sp>
        <p:nvSpPr>
          <p:cNvPr id="6" name="object 6"/>
          <p:cNvSpPr txBox="1"/>
          <p:nvPr/>
        </p:nvSpPr>
        <p:spPr>
          <a:xfrm>
            <a:off x="739648" y="1090675"/>
            <a:ext cx="7660005" cy="1123315"/>
          </a:xfrm>
          <a:prstGeom prst="rect">
            <a:avLst/>
          </a:prstGeom>
        </p:spPr>
        <p:txBody>
          <a:bodyPr vert="horz" wrap="square" lIns="0" tIns="12700" rIns="0" bIns="0" rtlCol="0">
            <a:spAutoFit/>
          </a:bodyPr>
          <a:lstStyle/>
          <a:p>
            <a:pPr marL="354965" marR="5080" indent="-342900" algn="just">
              <a:lnSpc>
                <a:spcPct val="100000"/>
              </a:lnSpc>
              <a:spcBef>
                <a:spcPts val="100"/>
              </a:spcBef>
              <a:buClr>
                <a:srgbClr val="FFFFFF"/>
              </a:buClr>
              <a:buFont typeface="Wingdings"/>
              <a:buChar char=""/>
              <a:tabLst>
                <a:tab pos="420370" algn="l"/>
              </a:tabLst>
            </a:pPr>
            <a:r>
              <a:rPr dirty="0"/>
              <a:t>	</a:t>
            </a:r>
            <a:r>
              <a:rPr sz="2400" spc="120" dirty="0">
                <a:solidFill>
                  <a:srgbClr val="FFFFFF"/>
                </a:solidFill>
                <a:latin typeface="Times New Roman"/>
                <a:cs typeface="Times New Roman"/>
              </a:rPr>
              <a:t>SQL </a:t>
            </a:r>
            <a:r>
              <a:rPr sz="2400" spc="70" dirty="0">
                <a:solidFill>
                  <a:srgbClr val="FFFFFF"/>
                </a:solidFill>
                <a:latin typeface="Times New Roman"/>
                <a:cs typeface="Times New Roman"/>
              </a:rPr>
              <a:t>Server </a:t>
            </a:r>
            <a:r>
              <a:rPr sz="2400" spc="75" dirty="0">
                <a:solidFill>
                  <a:srgbClr val="FFFFFF"/>
                </a:solidFill>
                <a:latin typeface="Times New Roman"/>
                <a:cs typeface="Times New Roman"/>
              </a:rPr>
              <a:t>provides </a:t>
            </a:r>
            <a:r>
              <a:rPr sz="2400" spc="40" dirty="0">
                <a:solidFill>
                  <a:srgbClr val="FFFFFF"/>
                </a:solidFill>
                <a:latin typeface="Times New Roman"/>
                <a:cs typeface="Times New Roman"/>
              </a:rPr>
              <a:t>several </a:t>
            </a:r>
            <a:r>
              <a:rPr sz="2400" spc="114" dirty="0">
                <a:solidFill>
                  <a:srgbClr val="FFFFFF"/>
                </a:solidFill>
                <a:latin typeface="Times New Roman"/>
                <a:cs typeface="Times New Roman"/>
              </a:rPr>
              <a:t>methods </a:t>
            </a:r>
            <a:r>
              <a:rPr sz="2400" spc="140" dirty="0">
                <a:solidFill>
                  <a:srgbClr val="FFFFFF"/>
                </a:solidFill>
                <a:latin typeface="Times New Roman"/>
                <a:cs typeface="Times New Roman"/>
              </a:rPr>
              <a:t>that </a:t>
            </a:r>
            <a:r>
              <a:rPr sz="2400" spc="100" dirty="0">
                <a:solidFill>
                  <a:srgbClr val="FFFFFF"/>
                </a:solidFill>
                <a:latin typeface="Times New Roman"/>
                <a:cs typeface="Times New Roman"/>
              </a:rPr>
              <a:t>help </a:t>
            </a:r>
            <a:r>
              <a:rPr sz="2400" spc="135" dirty="0">
                <a:solidFill>
                  <a:srgbClr val="FFFFFF"/>
                </a:solidFill>
                <a:latin typeface="Times New Roman"/>
                <a:cs typeface="Times New Roman"/>
              </a:rPr>
              <a:t>to </a:t>
            </a:r>
            <a:r>
              <a:rPr sz="2400" spc="869" dirty="0">
                <a:solidFill>
                  <a:srgbClr val="FFFFFF"/>
                </a:solidFill>
                <a:latin typeface="Times New Roman"/>
                <a:cs typeface="Times New Roman"/>
              </a:rPr>
              <a:t> </a:t>
            </a:r>
            <a:r>
              <a:rPr sz="2400" spc="40" dirty="0">
                <a:solidFill>
                  <a:srgbClr val="FFFFFF"/>
                </a:solidFill>
                <a:latin typeface="Times New Roman"/>
                <a:cs typeface="Times New Roman"/>
              </a:rPr>
              <a:t>aggregate </a:t>
            </a:r>
            <a:r>
              <a:rPr sz="2400" spc="110" dirty="0">
                <a:solidFill>
                  <a:srgbClr val="FFFFFF"/>
                </a:solidFill>
                <a:latin typeface="Times New Roman"/>
                <a:cs typeface="Times New Roman"/>
              </a:rPr>
              <a:t>two  </a:t>
            </a:r>
            <a:r>
              <a:rPr sz="2400" spc="85" dirty="0">
                <a:solidFill>
                  <a:srgbClr val="FFFFFF"/>
                </a:solidFill>
                <a:latin typeface="Times New Roman"/>
                <a:cs typeface="Times New Roman"/>
              </a:rPr>
              <a:t>individual</a:t>
            </a:r>
            <a:r>
              <a:rPr sz="2400" spc="770" dirty="0">
                <a:solidFill>
                  <a:srgbClr val="FFFFFF"/>
                </a:solidFill>
                <a:latin typeface="Times New Roman"/>
                <a:cs typeface="Times New Roman"/>
              </a:rPr>
              <a:t> </a:t>
            </a:r>
            <a:r>
              <a:rPr sz="2400" spc="65" dirty="0">
                <a:solidFill>
                  <a:srgbClr val="FFFFFF"/>
                </a:solidFill>
                <a:latin typeface="Times New Roman"/>
                <a:cs typeface="Times New Roman"/>
              </a:rPr>
              <a:t>items </a:t>
            </a:r>
            <a:r>
              <a:rPr sz="2400" spc="70" dirty="0">
                <a:solidFill>
                  <a:srgbClr val="FFFFFF"/>
                </a:solidFill>
                <a:latin typeface="Times New Roman"/>
                <a:cs typeface="Times New Roman"/>
              </a:rPr>
              <a:t>of </a:t>
            </a:r>
            <a:r>
              <a:rPr sz="2400" spc="65" dirty="0">
                <a:solidFill>
                  <a:srgbClr val="FFFFFF"/>
                </a:solidFill>
                <a:latin typeface="Times New Roman"/>
                <a:cs typeface="Times New Roman"/>
              </a:rPr>
              <a:t>geometry </a:t>
            </a:r>
            <a:r>
              <a:rPr sz="2400" spc="105" dirty="0">
                <a:solidFill>
                  <a:srgbClr val="FFFFFF"/>
                </a:solidFill>
                <a:latin typeface="Times New Roman"/>
                <a:cs typeface="Times New Roman"/>
              </a:rPr>
              <a:t>or  </a:t>
            </a:r>
            <a:r>
              <a:rPr sz="2400" spc="65" dirty="0">
                <a:solidFill>
                  <a:srgbClr val="FFFFFF"/>
                </a:solidFill>
                <a:latin typeface="Times New Roman"/>
                <a:cs typeface="Times New Roman"/>
              </a:rPr>
              <a:t>geography</a:t>
            </a:r>
            <a:r>
              <a:rPr sz="2400" spc="-75" dirty="0">
                <a:solidFill>
                  <a:srgbClr val="FFFFFF"/>
                </a:solidFill>
                <a:latin typeface="Times New Roman"/>
                <a:cs typeface="Times New Roman"/>
              </a:rPr>
              <a:t> </a:t>
            </a:r>
            <a:r>
              <a:rPr sz="2400" spc="75" dirty="0">
                <a:solidFill>
                  <a:srgbClr val="FFFFFF"/>
                </a:solidFill>
                <a:latin typeface="Times New Roman"/>
                <a:cs typeface="Times New Roman"/>
              </a:rPr>
              <a:t>data.</a:t>
            </a:r>
            <a:endParaRPr sz="2400">
              <a:latin typeface="Times New Roman"/>
              <a:cs typeface="Times New Roman"/>
            </a:endParaRPr>
          </a:p>
        </p:txBody>
      </p:sp>
      <p:pic>
        <p:nvPicPr>
          <p:cNvPr id="7" name="object 7"/>
          <p:cNvPicPr/>
          <p:nvPr/>
        </p:nvPicPr>
        <p:blipFill>
          <a:blip r:embed="rId5" cstate="print"/>
          <a:stretch>
            <a:fillRect/>
          </a:stretch>
        </p:blipFill>
        <p:spPr>
          <a:xfrm>
            <a:off x="1021080" y="2648711"/>
            <a:ext cx="7371588" cy="2603754"/>
          </a:xfrm>
          <a:prstGeom prst="rect">
            <a:avLst/>
          </a:prstGeom>
        </p:spPr>
      </p:pic>
      <p:sp>
        <p:nvSpPr>
          <p:cNvPr id="8" name="object 8"/>
          <p:cNvSpPr txBox="1"/>
          <p:nvPr/>
        </p:nvSpPr>
        <p:spPr>
          <a:xfrm>
            <a:off x="3446779" y="5273040"/>
            <a:ext cx="2061210" cy="238760"/>
          </a:xfrm>
          <a:prstGeom prst="rect">
            <a:avLst/>
          </a:prstGeom>
        </p:spPr>
        <p:txBody>
          <a:bodyPr vert="horz" wrap="square" lIns="0" tIns="12700" rIns="0" bIns="0" rtlCol="0">
            <a:spAutoFit/>
          </a:bodyPr>
          <a:lstStyle/>
          <a:p>
            <a:pPr marL="12700">
              <a:lnSpc>
                <a:spcPct val="100000"/>
              </a:lnSpc>
              <a:spcBef>
                <a:spcPts val="100"/>
              </a:spcBef>
            </a:pPr>
            <a:r>
              <a:rPr sz="1400" b="1" spc="-70" dirty="0">
                <a:latin typeface="Arial"/>
                <a:cs typeface="Arial"/>
              </a:rPr>
              <a:t>Spatial </a:t>
            </a:r>
            <a:r>
              <a:rPr sz="1400" b="1" spc="-100" dirty="0">
                <a:latin typeface="Arial"/>
                <a:cs typeface="Arial"/>
              </a:rPr>
              <a:t>Aggregate</a:t>
            </a:r>
            <a:r>
              <a:rPr sz="1400" b="1" spc="-204" dirty="0">
                <a:latin typeface="Arial"/>
                <a:cs typeface="Arial"/>
              </a:rPr>
              <a:t> </a:t>
            </a:r>
            <a:r>
              <a:rPr sz="1400" b="1" spc="-70" dirty="0">
                <a:latin typeface="Arial"/>
                <a:cs typeface="Arial"/>
              </a:rPr>
              <a:t>Methods</a:t>
            </a:r>
            <a:endParaRPr sz="1400">
              <a:latin typeface="Arial"/>
              <a:cs typeface="Arial"/>
            </a:endParaRPr>
          </a:p>
        </p:txBody>
      </p:sp>
      <p:sp>
        <p:nvSpPr>
          <p:cNvPr id="10" name="object 10"/>
          <p:cNvSpPr txBox="1"/>
          <p:nvPr/>
        </p:nvSpPr>
        <p:spPr>
          <a:xfrm>
            <a:off x="7912607" y="6569709"/>
            <a:ext cx="904875" cy="256540"/>
          </a:xfrm>
          <a:prstGeom prst="rect">
            <a:avLst/>
          </a:prstGeom>
        </p:spPr>
        <p:txBody>
          <a:bodyPr vert="horz" wrap="square" lIns="0" tIns="18415" rIns="0" bIns="0" rtlCol="0">
            <a:spAutoFit/>
          </a:bodyPr>
          <a:lstStyle/>
          <a:p>
            <a:pPr marL="12700">
              <a:lnSpc>
                <a:spcPct val="100000"/>
              </a:lnSpc>
              <a:spcBef>
                <a:spcPts val="145"/>
              </a:spcBef>
            </a:pPr>
            <a:r>
              <a:rPr sz="1800" spc="52" baseline="4629" dirty="0">
                <a:latin typeface="Times New Roman"/>
                <a:cs typeface="Times New Roman"/>
              </a:rPr>
              <a:t>Session </a:t>
            </a:r>
            <a:r>
              <a:rPr sz="1800" spc="104" baseline="4629" dirty="0">
                <a:latin typeface="Times New Roman"/>
                <a:cs typeface="Times New Roman"/>
              </a:rPr>
              <a:t>9/</a:t>
            </a:r>
            <a:r>
              <a:rPr sz="1800" spc="-262" baseline="4629" dirty="0">
                <a:latin typeface="Times New Roman"/>
                <a:cs typeface="Times New Roman"/>
              </a:rPr>
              <a:t> </a:t>
            </a:r>
            <a:fld id="{81D60167-4931-47E6-BA6A-407CBD079E47}" type="slidenum">
              <a:rPr sz="1200" spc="-5" dirty="0">
                <a:latin typeface="Times New Roman"/>
                <a:cs typeface="Times New Roman"/>
              </a:rPr>
              <a:t>16</a:t>
            </a:fld>
            <a:endParaRPr sz="1200">
              <a:latin typeface="Times New Roman"/>
              <a:cs typeface="Times New Roman"/>
            </a:endParaRPr>
          </a:p>
        </p:txBody>
      </p:sp>
      <p:sp>
        <p:nvSpPr>
          <p:cNvPr id="11" name="object 11"/>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9740" y="39624"/>
            <a:ext cx="4799330" cy="635635"/>
          </a:xfrm>
          <a:prstGeom prst="rect">
            <a:avLst/>
          </a:prstGeom>
        </p:spPr>
        <p:txBody>
          <a:bodyPr vert="horz" wrap="square" lIns="0" tIns="12700" rIns="0" bIns="0" rtlCol="0">
            <a:spAutoFit/>
          </a:bodyPr>
          <a:lstStyle/>
          <a:p>
            <a:pPr marL="12700">
              <a:lnSpc>
                <a:spcPct val="100000"/>
              </a:lnSpc>
              <a:spcBef>
                <a:spcPts val="100"/>
              </a:spcBef>
            </a:pPr>
            <a:r>
              <a:rPr spc="114" dirty="0"/>
              <a:t>Spatial </a:t>
            </a:r>
            <a:r>
              <a:rPr spc="90" dirty="0"/>
              <a:t>Aggregates</a:t>
            </a:r>
            <a:r>
              <a:rPr spc="-505" dirty="0"/>
              <a:t> </a:t>
            </a:r>
            <a:r>
              <a:rPr spc="-165" dirty="0"/>
              <a:t>2-3</a:t>
            </a:r>
          </a:p>
        </p:txBody>
      </p:sp>
      <p:pic>
        <p:nvPicPr>
          <p:cNvPr id="3" name="object 3"/>
          <p:cNvPicPr/>
          <p:nvPr/>
        </p:nvPicPr>
        <p:blipFill>
          <a:blip r:embed="rId3" cstate="print"/>
          <a:stretch>
            <a:fillRect/>
          </a:stretch>
        </p:blipFill>
        <p:spPr>
          <a:xfrm>
            <a:off x="182879" y="867155"/>
            <a:ext cx="3698748" cy="1815084"/>
          </a:xfrm>
          <a:prstGeom prst="rect">
            <a:avLst/>
          </a:prstGeom>
        </p:spPr>
      </p:pic>
      <p:sp>
        <p:nvSpPr>
          <p:cNvPr id="4" name="object 4"/>
          <p:cNvSpPr txBox="1"/>
          <p:nvPr/>
        </p:nvSpPr>
        <p:spPr>
          <a:xfrm>
            <a:off x="1770888" y="2689606"/>
            <a:ext cx="863600" cy="238760"/>
          </a:xfrm>
          <a:prstGeom prst="rect">
            <a:avLst/>
          </a:prstGeom>
        </p:spPr>
        <p:txBody>
          <a:bodyPr vert="horz" wrap="square" lIns="0" tIns="12065" rIns="0" bIns="0" rtlCol="0">
            <a:spAutoFit/>
          </a:bodyPr>
          <a:lstStyle/>
          <a:p>
            <a:pPr marL="12700">
              <a:lnSpc>
                <a:spcPct val="100000"/>
              </a:lnSpc>
              <a:spcBef>
                <a:spcPts val="95"/>
              </a:spcBef>
            </a:pPr>
            <a:r>
              <a:rPr sz="1400" b="1" spc="-15" dirty="0">
                <a:latin typeface="Arial"/>
                <a:cs typeface="Arial"/>
              </a:rPr>
              <a:t>STUnion()</a:t>
            </a:r>
            <a:endParaRPr sz="1400">
              <a:latin typeface="Arial"/>
              <a:cs typeface="Arial"/>
            </a:endParaRPr>
          </a:p>
        </p:txBody>
      </p:sp>
      <p:pic>
        <p:nvPicPr>
          <p:cNvPr id="5" name="object 5"/>
          <p:cNvPicPr/>
          <p:nvPr/>
        </p:nvPicPr>
        <p:blipFill>
          <a:blip r:embed="rId4" cstate="print"/>
          <a:stretch>
            <a:fillRect/>
          </a:stretch>
        </p:blipFill>
        <p:spPr>
          <a:xfrm>
            <a:off x="5104638" y="1906523"/>
            <a:ext cx="3856482" cy="1930145"/>
          </a:xfrm>
          <a:prstGeom prst="rect">
            <a:avLst/>
          </a:prstGeom>
        </p:spPr>
      </p:pic>
      <p:sp>
        <p:nvSpPr>
          <p:cNvPr id="6" name="object 6"/>
          <p:cNvSpPr txBox="1"/>
          <p:nvPr/>
        </p:nvSpPr>
        <p:spPr>
          <a:xfrm>
            <a:off x="6563359" y="3834891"/>
            <a:ext cx="1272540" cy="238760"/>
          </a:xfrm>
          <a:prstGeom prst="rect">
            <a:avLst/>
          </a:prstGeom>
        </p:spPr>
        <p:txBody>
          <a:bodyPr vert="horz" wrap="square" lIns="0" tIns="12065" rIns="0" bIns="0" rtlCol="0">
            <a:spAutoFit/>
          </a:bodyPr>
          <a:lstStyle/>
          <a:p>
            <a:pPr marL="12700">
              <a:lnSpc>
                <a:spcPct val="100000"/>
              </a:lnSpc>
              <a:spcBef>
                <a:spcPts val="95"/>
              </a:spcBef>
            </a:pPr>
            <a:r>
              <a:rPr sz="1400" b="1" spc="-120" dirty="0">
                <a:latin typeface="Arial"/>
                <a:cs typeface="Arial"/>
              </a:rPr>
              <a:t>S</a:t>
            </a:r>
            <a:r>
              <a:rPr sz="1400" b="1" spc="110" dirty="0">
                <a:latin typeface="Arial"/>
                <a:cs typeface="Arial"/>
              </a:rPr>
              <a:t>T</a:t>
            </a:r>
            <a:r>
              <a:rPr sz="1400" b="1" spc="10" dirty="0">
                <a:latin typeface="Arial"/>
                <a:cs typeface="Arial"/>
              </a:rPr>
              <a:t>In</a:t>
            </a:r>
            <a:r>
              <a:rPr sz="1400" b="1" spc="-45" dirty="0">
                <a:latin typeface="Arial"/>
                <a:cs typeface="Arial"/>
              </a:rPr>
              <a:t>t</a:t>
            </a:r>
            <a:r>
              <a:rPr sz="1400" b="1" spc="-90" dirty="0">
                <a:latin typeface="Arial"/>
                <a:cs typeface="Arial"/>
              </a:rPr>
              <a:t>e</a:t>
            </a:r>
            <a:r>
              <a:rPr sz="1400" b="1" spc="-40" dirty="0">
                <a:latin typeface="Arial"/>
                <a:cs typeface="Arial"/>
              </a:rPr>
              <a:t>r</a:t>
            </a:r>
            <a:r>
              <a:rPr sz="1400" b="1" spc="-240" dirty="0">
                <a:latin typeface="Arial"/>
                <a:cs typeface="Arial"/>
              </a:rPr>
              <a:t>s</a:t>
            </a:r>
            <a:r>
              <a:rPr sz="1400" b="1" spc="-150" dirty="0">
                <a:latin typeface="Arial"/>
                <a:cs typeface="Arial"/>
              </a:rPr>
              <a:t>e</a:t>
            </a:r>
            <a:r>
              <a:rPr sz="1400" b="1" spc="-160" dirty="0">
                <a:latin typeface="Arial"/>
                <a:cs typeface="Arial"/>
              </a:rPr>
              <a:t>c</a:t>
            </a:r>
            <a:r>
              <a:rPr sz="1400" b="1" spc="10" dirty="0">
                <a:latin typeface="Arial"/>
                <a:cs typeface="Arial"/>
              </a:rPr>
              <a:t>t</a:t>
            </a:r>
            <a:r>
              <a:rPr sz="1400" b="1" spc="-10" dirty="0">
                <a:latin typeface="Arial"/>
                <a:cs typeface="Arial"/>
              </a:rPr>
              <a:t>i</a:t>
            </a:r>
            <a:r>
              <a:rPr sz="1400" b="1" spc="-114" dirty="0">
                <a:latin typeface="Arial"/>
                <a:cs typeface="Arial"/>
              </a:rPr>
              <a:t>o</a:t>
            </a:r>
            <a:r>
              <a:rPr sz="1400" b="1" spc="-50" dirty="0">
                <a:latin typeface="Arial"/>
                <a:cs typeface="Arial"/>
              </a:rPr>
              <a:t>n</a:t>
            </a:r>
            <a:r>
              <a:rPr sz="1400" b="1" spc="-25" dirty="0">
                <a:latin typeface="Arial"/>
                <a:cs typeface="Arial"/>
              </a:rPr>
              <a:t>(</a:t>
            </a:r>
            <a:r>
              <a:rPr sz="1400" b="1" spc="-15" dirty="0">
                <a:latin typeface="Arial"/>
                <a:cs typeface="Arial"/>
              </a:rPr>
              <a:t>)</a:t>
            </a:r>
            <a:endParaRPr sz="1400">
              <a:latin typeface="Arial"/>
              <a:cs typeface="Arial"/>
            </a:endParaRPr>
          </a:p>
        </p:txBody>
      </p:sp>
      <p:pic>
        <p:nvPicPr>
          <p:cNvPr id="7" name="object 7"/>
          <p:cNvPicPr/>
          <p:nvPr/>
        </p:nvPicPr>
        <p:blipFill>
          <a:blip r:embed="rId5" cstate="print"/>
          <a:stretch>
            <a:fillRect/>
          </a:stretch>
        </p:blipFill>
        <p:spPr>
          <a:xfrm>
            <a:off x="278891" y="3990594"/>
            <a:ext cx="4761738" cy="2086356"/>
          </a:xfrm>
          <a:prstGeom prst="rect">
            <a:avLst/>
          </a:prstGeom>
        </p:spPr>
      </p:pic>
      <p:sp>
        <p:nvSpPr>
          <p:cNvPr id="8" name="object 8"/>
          <p:cNvSpPr txBox="1"/>
          <p:nvPr/>
        </p:nvSpPr>
        <p:spPr>
          <a:xfrm>
            <a:off x="1782317" y="6035802"/>
            <a:ext cx="1315085" cy="238760"/>
          </a:xfrm>
          <a:prstGeom prst="rect">
            <a:avLst/>
          </a:prstGeom>
        </p:spPr>
        <p:txBody>
          <a:bodyPr vert="horz" wrap="square" lIns="0" tIns="12065" rIns="0" bIns="0" rtlCol="0">
            <a:spAutoFit/>
          </a:bodyPr>
          <a:lstStyle/>
          <a:p>
            <a:pPr marL="12700">
              <a:lnSpc>
                <a:spcPct val="100000"/>
              </a:lnSpc>
              <a:spcBef>
                <a:spcPts val="95"/>
              </a:spcBef>
            </a:pPr>
            <a:r>
              <a:rPr sz="1400" b="1" spc="-25" dirty="0">
                <a:latin typeface="Arial"/>
                <a:cs typeface="Arial"/>
              </a:rPr>
              <a:t>STConvexHull()</a:t>
            </a:r>
            <a:endParaRPr sz="1400">
              <a:latin typeface="Arial"/>
              <a:cs typeface="Arial"/>
            </a:endParaRPr>
          </a:p>
        </p:txBody>
      </p:sp>
      <p:sp>
        <p:nvSpPr>
          <p:cNvPr id="10" name="object 10"/>
          <p:cNvSpPr txBox="1"/>
          <p:nvPr/>
        </p:nvSpPr>
        <p:spPr>
          <a:xfrm>
            <a:off x="7912607" y="6569709"/>
            <a:ext cx="904875" cy="256540"/>
          </a:xfrm>
          <a:prstGeom prst="rect">
            <a:avLst/>
          </a:prstGeom>
        </p:spPr>
        <p:txBody>
          <a:bodyPr vert="horz" wrap="square" lIns="0" tIns="18415" rIns="0" bIns="0" rtlCol="0">
            <a:spAutoFit/>
          </a:bodyPr>
          <a:lstStyle/>
          <a:p>
            <a:pPr marL="12700">
              <a:lnSpc>
                <a:spcPct val="100000"/>
              </a:lnSpc>
              <a:spcBef>
                <a:spcPts val="145"/>
              </a:spcBef>
            </a:pPr>
            <a:r>
              <a:rPr sz="1800" spc="52" baseline="4629" dirty="0">
                <a:latin typeface="Times New Roman"/>
                <a:cs typeface="Times New Roman"/>
              </a:rPr>
              <a:t>Session </a:t>
            </a:r>
            <a:r>
              <a:rPr sz="1800" spc="104" baseline="4629" dirty="0">
                <a:latin typeface="Times New Roman"/>
                <a:cs typeface="Times New Roman"/>
              </a:rPr>
              <a:t>9/</a:t>
            </a:r>
            <a:r>
              <a:rPr sz="1800" spc="-262" baseline="4629" dirty="0">
                <a:latin typeface="Times New Roman"/>
                <a:cs typeface="Times New Roman"/>
              </a:rPr>
              <a:t> </a:t>
            </a:r>
            <a:fld id="{81D60167-4931-47E6-BA6A-407CBD079E47}" type="slidenum">
              <a:rPr sz="1200" spc="-5" dirty="0">
                <a:latin typeface="Times New Roman"/>
                <a:cs typeface="Times New Roman"/>
              </a:rPr>
              <a:t>17</a:t>
            </a:fld>
            <a:endParaRPr sz="1200">
              <a:latin typeface="Times New Roman"/>
              <a:cs typeface="Times New Roman"/>
            </a:endParaRPr>
          </a:p>
        </p:txBody>
      </p:sp>
      <p:sp>
        <p:nvSpPr>
          <p:cNvPr id="11" name="object 11"/>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9740" y="39624"/>
            <a:ext cx="4766945" cy="635635"/>
          </a:xfrm>
          <a:prstGeom prst="rect">
            <a:avLst/>
          </a:prstGeom>
        </p:spPr>
        <p:txBody>
          <a:bodyPr vert="horz" wrap="square" lIns="0" tIns="12700" rIns="0" bIns="0" rtlCol="0">
            <a:spAutoFit/>
          </a:bodyPr>
          <a:lstStyle/>
          <a:p>
            <a:pPr marL="12700">
              <a:lnSpc>
                <a:spcPct val="100000"/>
              </a:lnSpc>
              <a:spcBef>
                <a:spcPts val="100"/>
              </a:spcBef>
            </a:pPr>
            <a:r>
              <a:rPr spc="114" dirty="0"/>
              <a:t>Spatial </a:t>
            </a:r>
            <a:r>
              <a:rPr spc="90" dirty="0"/>
              <a:t>Aggregates</a:t>
            </a:r>
            <a:r>
              <a:rPr spc="-505" dirty="0"/>
              <a:t> </a:t>
            </a:r>
            <a:r>
              <a:rPr spc="-250" dirty="0"/>
              <a:t>3-3</a:t>
            </a:r>
          </a:p>
        </p:txBody>
      </p:sp>
      <p:sp>
        <p:nvSpPr>
          <p:cNvPr id="6" name="object 6"/>
          <p:cNvSpPr txBox="1"/>
          <p:nvPr/>
        </p:nvSpPr>
        <p:spPr>
          <a:xfrm>
            <a:off x="695235" y="5638800"/>
            <a:ext cx="3096260" cy="238760"/>
          </a:xfrm>
          <a:prstGeom prst="rect">
            <a:avLst/>
          </a:prstGeom>
        </p:spPr>
        <p:txBody>
          <a:bodyPr vert="horz" wrap="square" lIns="0" tIns="12065" rIns="0" bIns="0" rtlCol="0">
            <a:spAutoFit/>
          </a:bodyPr>
          <a:lstStyle/>
          <a:p>
            <a:pPr marL="12700">
              <a:lnSpc>
                <a:spcPct val="100000"/>
              </a:lnSpc>
              <a:spcBef>
                <a:spcPts val="95"/>
              </a:spcBef>
            </a:pPr>
            <a:r>
              <a:rPr sz="1400" b="1" spc="-70" dirty="0">
                <a:latin typeface="Arial"/>
                <a:cs typeface="Arial"/>
              </a:rPr>
              <a:t>Using </a:t>
            </a:r>
            <a:r>
              <a:rPr sz="1400" b="1" spc="-15" dirty="0">
                <a:latin typeface="Arial"/>
                <a:cs typeface="Arial"/>
              </a:rPr>
              <a:t>STUnion() </a:t>
            </a:r>
            <a:r>
              <a:rPr sz="1400" b="1" spc="-25" dirty="0">
                <a:latin typeface="Arial"/>
                <a:cs typeface="Arial"/>
              </a:rPr>
              <a:t>with </a:t>
            </a:r>
            <a:r>
              <a:rPr sz="1400" b="1" spc="-135" dirty="0">
                <a:latin typeface="Arial"/>
                <a:cs typeface="Arial"/>
              </a:rPr>
              <a:t>a </a:t>
            </a:r>
            <a:r>
              <a:rPr sz="1400" b="1" spc="-114" dirty="0">
                <a:latin typeface="Arial"/>
                <a:cs typeface="Arial"/>
              </a:rPr>
              <a:t>geography</a:t>
            </a:r>
            <a:r>
              <a:rPr sz="1400" b="1" spc="-305" dirty="0">
                <a:latin typeface="Arial"/>
                <a:cs typeface="Arial"/>
              </a:rPr>
              <a:t> </a:t>
            </a:r>
            <a:r>
              <a:rPr sz="1400" b="1" spc="-55" dirty="0">
                <a:latin typeface="Arial"/>
                <a:cs typeface="Arial"/>
              </a:rPr>
              <a:t>Type</a:t>
            </a:r>
            <a:endParaRPr sz="1400">
              <a:latin typeface="Arial"/>
              <a:cs typeface="Arial"/>
            </a:endParaRPr>
          </a:p>
        </p:txBody>
      </p:sp>
      <p:sp>
        <p:nvSpPr>
          <p:cNvPr id="8" name="object 8"/>
          <p:cNvSpPr txBox="1"/>
          <p:nvPr/>
        </p:nvSpPr>
        <p:spPr>
          <a:xfrm>
            <a:off x="7912607" y="6569709"/>
            <a:ext cx="904875" cy="256540"/>
          </a:xfrm>
          <a:prstGeom prst="rect">
            <a:avLst/>
          </a:prstGeom>
        </p:spPr>
        <p:txBody>
          <a:bodyPr vert="horz" wrap="square" lIns="0" tIns="18415" rIns="0" bIns="0" rtlCol="0">
            <a:spAutoFit/>
          </a:bodyPr>
          <a:lstStyle/>
          <a:p>
            <a:pPr marL="12700">
              <a:lnSpc>
                <a:spcPct val="100000"/>
              </a:lnSpc>
              <a:spcBef>
                <a:spcPts val="145"/>
              </a:spcBef>
            </a:pPr>
            <a:r>
              <a:rPr sz="1800" spc="52" baseline="4629" dirty="0">
                <a:latin typeface="Times New Roman"/>
                <a:cs typeface="Times New Roman"/>
              </a:rPr>
              <a:t>Session </a:t>
            </a:r>
            <a:r>
              <a:rPr sz="1800" spc="104" baseline="4629" dirty="0">
                <a:latin typeface="Times New Roman"/>
                <a:cs typeface="Times New Roman"/>
              </a:rPr>
              <a:t>9/</a:t>
            </a:r>
            <a:r>
              <a:rPr sz="1800" spc="-262" baseline="4629" dirty="0">
                <a:latin typeface="Times New Roman"/>
                <a:cs typeface="Times New Roman"/>
              </a:rPr>
              <a:t> </a:t>
            </a:r>
            <a:fld id="{81D60167-4931-47E6-BA6A-407CBD079E47}" type="slidenum">
              <a:rPr sz="1200" spc="-5" dirty="0">
                <a:latin typeface="Times New Roman"/>
                <a:cs typeface="Times New Roman"/>
              </a:rPr>
              <a:t>18</a:t>
            </a:fld>
            <a:endParaRPr sz="1200">
              <a:latin typeface="Times New Roman"/>
              <a:cs typeface="Times New Roman"/>
            </a:endParaRPr>
          </a:p>
        </p:txBody>
      </p:sp>
      <p:sp>
        <p:nvSpPr>
          <p:cNvPr id="9" name="object 9"/>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pic>
        <p:nvPicPr>
          <p:cNvPr id="11" name="Picture 10">
            <a:extLst>
              <a:ext uri="{FF2B5EF4-FFF2-40B4-BE49-F238E27FC236}">
                <a16:creationId xmlns:a16="http://schemas.microsoft.com/office/drawing/2014/main" id="{4DE23BE4-58E2-40A1-8251-B6672EEE97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395" y="1600200"/>
            <a:ext cx="4263939" cy="3657600"/>
          </a:xfrm>
          <a:prstGeom prst="rect">
            <a:avLst/>
          </a:prstGeom>
        </p:spPr>
      </p:pic>
      <p:pic>
        <p:nvPicPr>
          <p:cNvPr id="4" name="Picture 3">
            <a:extLst>
              <a:ext uri="{FF2B5EF4-FFF2-40B4-BE49-F238E27FC236}">
                <a16:creationId xmlns:a16="http://schemas.microsoft.com/office/drawing/2014/main" id="{83321E2F-7903-4279-8C16-55591E0CD5A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97509" y="1600200"/>
            <a:ext cx="4019973" cy="3657600"/>
          </a:xfrm>
          <a:prstGeom prst="rect">
            <a:avLst/>
          </a:prstGeom>
        </p:spPr>
      </p:pic>
      <p:sp>
        <p:nvSpPr>
          <p:cNvPr id="10" name="object 6">
            <a:extLst>
              <a:ext uri="{FF2B5EF4-FFF2-40B4-BE49-F238E27FC236}">
                <a16:creationId xmlns:a16="http://schemas.microsoft.com/office/drawing/2014/main" id="{61705F49-1A85-4509-AE8F-279343D13BB4}"/>
              </a:ext>
            </a:extLst>
          </p:cNvPr>
          <p:cNvSpPr txBox="1"/>
          <p:nvPr/>
        </p:nvSpPr>
        <p:spPr>
          <a:xfrm>
            <a:off x="5029200" y="5639774"/>
            <a:ext cx="3788282" cy="227626"/>
          </a:xfrm>
          <a:prstGeom prst="rect">
            <a:avLst/>
          </a:prstGeom>
        </p:spPr>
        <p:txBody>
          <a:bodyPr vert="horz" wrap="square" lIns="0" tIns="12065" rIns="0" bIns="0" rtlCol="0">
            <a:spAutoFit/>
          </a:bodyPr>
          <a:lstStyle/>
          <a:p>
            <a:pPr marL="12700">
              <a:lnSpc>
                <a:spcPct val="100000"/>
              </a:lnSpc>
              <a:spcBef>
                <a:spcPts val="95"/>
              </a:spcBef>
            </a:pPr>
            <a:r>
              <a:rPr sz="1400" b="1" spc="-70">
                <a:latin typeface="Arial"/>
                <a:cs typeface="Arial"/>
              </a:rPr>
              <a:t>Using </a:t>
            </a:r>
            <a:r>
              <a:rPr lang="en-US" sz="1400" b="1">
                <a:effectLst/>
                <a:latin typeface="Arial" panose="020B0604020202020204" pitchFamily="34" charset="0"/>
                <a:cs typeface="Arial" panose="020B0604020202020204" pitchFamily="34" charset="0"/>
              </a:rPr>
              <a:t>STIntersection(</a:t>
            </a:r>
            <a:r>
              <a:rPr sz="1400" b="1" spc="-15">
                <a:latin typeface="Arial" panose="020B0604020202020204" pitchFamily="34" charset="0"/>
                <a:cs typeface="Arial" panose="020B0604020202020204" pitchFamily="34" charset="0"/>
              </a:rPr>
              <a:t>)</a:t>
            </a:r>
            <a:r>
              <a:rPr sz="1400" b="1" spc="-15">
                <a:latin typeface="Arial"/>
                <a:cs typeface="Arial"/>
              </a:rPr>
              <a:t> </a:t>
            </a:r>
            <a:r>
              <a:rPr sz="1400" b="1" spc="-25" dirty="0">
                <a:latin typeface="Arial"/>
                <a:cs typeface="Arial"/>
              </a:rPr>
              <a:t>with </a:t>
            </a:r>
            <a:r>
              <a:rPr sz="1400" b="1" spc="-135" dirty="0">
                <a:latin typeface="Arial"/>
                <a:cs typeface="Arial"/>
              </a:rPr>
              <a:t>a </a:t>
            </a:r>
            <a:r>
              <a:rPr sz="1400" b="1" spc="-114" dirty="0">
                <a:latin typeface="Arial"/>
                <a:cs typeface="Arial"/>
              </a:rPr>
              <a:t>geography</a:t>
            </a:r>
            <a:r>
              <a:rPr sz="1400" b="1" spc="-305" dirty="0">
                <a:latin typeface="Arial"/>
                <a:cs typeface="Arial"/>
              </a:rPr>
              <a:t> </a:t>
            </a:r>
            <a:r>
              <a:rPr sz="1400" b="1" spc="-55" dirty="0">
                <a:latin typeface="Arial"/>
                <a:cs typeface="Arial"/>
              </a:rPr>
              <a:t>Type</a:t>
            </a:r>
            <a:endParaRPr sz="1400">
              <a:latin typeface="Arial"/>
              <a:cs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1048" y="0"/>
            <a:ext cx="5982970" cy="635635"/>
          </a:xfrm>
          <a:prstGeom prst="rect">
            <a:avLst/>
          </a:prstGeom>
        </p:spPr>
        <p:txBody>
          <a:bodyPr vert="horz" wrap="square" lIns="0" tIns="12700" rIns="0" bIns="0" rtlCol="0">
            <a:spAutoFit/>
          </a:bodyPr>
          <a:lstStyle/>
          <a:p>
            <a:pPr marL="12700">
              <a:lnSpc>
                <a:spcPct val="100000"/>
              </a:lnSpc>
              <a:spcBef>
                <a:spcPts val="100"/>
              </a:spcBef>
            </a:pPr>
            <a:r>
              <a:rPr spc="140" dirty="0"/>
              <a:t>More </a:t>
            </a:r>
            <a:r>
              <a:rPr spc="110" dirty="0"/>
              <a:t>Spatial</a:t>
            </a:r>
            <a:r>
              <a:rPr spc="-750" dirty="0"/>
              <a:t> </a:t>
            </a:r>
            <a:r>
              <a:rPr spc="90" dirty="0"/>
              <a:t>Aggregates </a:t>
            </a:r>
            <a:r>
              <a:rPr spc="-415" dirty="0"/>
              <a:t>1-5</a:t>
            </a:r>
          </a:p>
        </p:txBody>
      </p:sp>
      <p:pic>
        <p:nvPicPr>
          <p:cNvPr id="3" name="object 3"/>
          <p:cNvPicPr/>
          <p:nvPr/>
        </p:nvPicPr>
        <p:blipFill>
          <a:blip r:embed="rId3" cstate="print"/>
          <a:stretch>
            <a:fillRect/>
          </a:stretch>
        </p:blipFill>
        <p:spPr>
          <a:xfrm>
            <a:off x="493776" y="1031747"/>
            <a:ext cx="8124444" cy="3197352"/>
          </a:xfrm>
          <a:prstGeom prst="rect">
            <a:avLst/>
          </a:prstGeom>
        </p:spPr>
      </p:pic>
      <p:grpSp>
        <p:nvGrpSpPr>
          <p:cNvPr id="4" name="object 4"/>
          <p:cNvGrpSpPr/>
          <p:nvPr/>
        </p:nvGrpSpPr>
        <p:grpSpPr>
          <a:xfrm>
            <a:off x="452627" y="4620767"/>
            <a:ext cx="8330565" cy="1106805"/>
            <a:chOff x="452627" y="4620767"/>
            <a:chExt cx="8330565" cy="1106805"/>
          </a:xfrm>
        </p:grpSpPr>
        <p:pic>
          <p:nvPicPr>
            <p:cNvPr id="5" name="object 5"/>
            <p:cNvPicPr/>
            <p:nvPr/>
          </p:nvPicPr>
          <p:blipFill>
            <a:blip r:embed="rId4" cstate="print"/>
            <a:stretch>
              <a:fillRect/>
            </a:stretch>
          </p:blipFill>
          <p:spPr>
            <a:xfrm>
              <a:off x="452627" y="4620767"/>
              <a:ext cx="8330183" cy="1106411"/>
            </a:xfrm>
            <a:prstGeom prst="rect">
              <a:avLst/>
            </a:prstGeom>
          </p:spPr>
        </p:pic>
        <p:pic>
          <p:nvPicPr>
            <p:cNvPr id="6" name="object 6"/>
            <p:cNvPicPr/>
            <p:nvPr/>
          </p:nvPicPr>
          <p:blipFill>
            <a:blip r:embed="rId5" cstate="print"/>
            <a:stretch>
              <a:fillRect/>
            </a:stretch>
          </p:blipFill>
          <p:spPr>
            <a:xfrm>
              <a:off x="493775" y="4639055"/>
              <a:ext cx="8254746" cy="1030986"/>
            </a:xfrm>
            <a:prstGeom prst="rect">
              <a:avLst/>
            </a:prstGeom>
          </p:spPr>
        </p:pic>
      </p:grpSp>
      <p:sp>
        <p:nvSpPr>
          <p:cNvPr id="7" name="object 7"/>
          <p:cNvSpPr txBox="1"/>
          <p:nvPr/>
        </p:nvSpPr>
        <p:spPr>
          <a:xfrm>
            <a:off x="636016" y="4794758"/>
            <a:ext cx="7985759" cy="604520"/>
          </a:xfrm>
          <a:prstGeom prst="rect">
            <a:avLst/>
          </a:prstGeom>
        </p:spPr>
        <p:txBody>
          <a:bodyPr vert="horz" wrap="square" lIns="0" tIns="46990" rIns="0" bIns="0" rtlCol="0">
            <a:spAutoFit/>
          </a:bodyPr>
          <a:lstStyle/>
          <a:p>
            <a:pPr marL="355600" marR="5080" indent="-342900">
              <a:lnSpc>
                <a:spcPts val="2160"/>
              </a:lnSpc>
              <a:spcBef>
                <a:spcPts val="370"/>
              </a:spcBef>
              <a:buFont typeface="Wingdings"/>
              <a:buChar char=""/>
              <a:tabLst>
                <a:tab pos="354965" algn="l"/>
                <a:tab pos="355600" algn="l"/>
              </a:tabLst>
            </a:pPr>
            <a:r>
              <a:rPr sz="2000" spc="90" dirty="0">
                <a:solidFill>
                  <a:srgbClr val="FFFFFF"/>
                </a:solidFill>
                <a:latin typeface="Times New Roman"/>
                <a:cs typeface="Times New Roman"/>
              </a:rPr>
              <a:t>These </a:t>
            </a:r>
            <a:r>
              <a:rPr sz="2000" spc="30" dirty="0">
                <a:solidFill>
                  <a:srgbClr val="FFFFFF"/>
                </a:solidFill>
                <a:latin typeface="Times New Roman"/>
                <a:cs typeface="Times New Roman"/>
              </a:rPr>
              <a:t>aggregates </a:t>
            </a:r>
            <a:r>
              <a:rPr sz="2000" spc="55" dirty="0">
                <a:solidFill>
                  <a:srgbClr val="FFFFFF"/>
                </a:solidFill>
                <a:latin typeface="Times New Roman"/>
                <a:cs typeface="Times New Roman"/>
              </a:rPr>
              <a:t>are </a:t>
            </a:r>
            <a:r>
              <a:rPr sz="2000" spc="80" dirty="0">
                <a:solidFill>
                  <a:srgbClr val="FFFFFF"/>
                </a:solidFill>
                <a:latin typeface="Times New Roman"/>
                <a:cs typeface="Times New Roman"/>
              </a:rPr>
              <a:t>implemented </a:t>
            </a:r>
            <a:r>
              <a:rPr sz="2000" spc="20" dirty="0">
                <a:solidFill>
                  <a:srgbClr val="FFFFFF"/>
                </a:solidFill>
                <a:latin typeface="Times New Roman"/>
                <a:cs typeface="Times New Roman"/>
              </a:rPr>
              <a:t>as </a:t>
            </a:r>
            <a:r>
              <a:rPr sz="2000" spc="50" dirty="0">
                <a:solidFill>
                  <a:srgbClr val="FFFFFF"/>
                </a:solidFill>
                <a:latin typeface="Times New Roman"/>
                <a:cs typeface="Times New Roman"/>
              </a:rPr>
              <a:t>static </a:t>
            </a:r>
            <a:r>
              <a:rPr sz="2000" spc="80" dirty="0">
                <a:solidFill>
                  <a:srgbClr val="FFFFFF"/>
                </a:solidFill>
                <a:latin typeface="Times New Roman"/>
                <a:cs typeface="Times New Roman"/>
              </a:rPr>
              <a:t>methods, which work </a:t>
            </a:r>
            <a:r>
              <a:rPr sz="2000" spc="65" dirty="0">
                <a:solidFill>
                  <a:srgbClr val="FFFFFF"/>
                </a:solidFill>
                <a:latin typeface="Times New Roman"/>
                <a:cs typeface="Times New Roman"/>
              </a:rPr>
              <a:t>for  </a:t>
            </a:r>
            <a:r>
              <a:rPr sz="2000" spc="80" dirty="0">
                <a:solidFill>
                  <a:srgbClr val="FFFFFF"/>
                </a:solidFill>
                <a:latin typeface="Times New Roman"/>
                <a:cs typeface="Times New Roman"/>
              </a:rPr>
              <a:t>either</a:t>
            </a:r>
            <a:r>
              <a:rPr sz="2000" spc="-60" dirty="0">
                <a:solidFill>
                  <a:srgbClr val="FFFFFF"/>
                </a:solidFill>
                <a:latin typeface="Times New Roman"/>
                <a:cs typeface="Times New Roman"/>
              </a:rPr>
              <a:t> </a:t>
            </a:r>
            <a:r>
              <a:rPr sz="2000" spc="50" dirty="0">
                <a:solidFill>
                  <a:srgbClr val="FFFFFF"/>
                </a:solidFill>
                <a:latin typeface="Times New Roman"/>
                <a:cs typeface="Times New Roman"/>
              </a:rPr>
              <a:t>geography</a:t>
            </a:r>
            <a:r>
              <a:rPr sz="2000" spc="-60" dirty="0">
                <a:solidFill>
                  <a:srgbClr val="FFFFFF"/>
                </a:solidFill>
                <a:latin typeface="Times New Roman"/>
                <a:cs typeface="Times New Roman"/>
              </a:rPr>
              <a:t> </a:t>
            </a:r>
            <a:r>
              <a:rPr sz="2000" spc="85" dirty="0">
                <a:solidFill>
                  <a:srgbClr val="FFFFFF"/>
                </a:solidFill>
                <a:latin typeface="Times New Roman"/>
                <a:cs typeface="Times New Roman"/>
              </a:rPr>
              <a:t>or</a:t>
            </a:r>
            <a:r>
              <a:rPr sz="2000" spc="-70" dirty="0">
                <a:solidFill>
                  <a:srgbClr val="FFFFFF"/>
                </a:solidFill>
                <a:latin typeface="Times New Roman"/>
                <a:cs typeface="Times New Roman"/>
              </a:rPr>
              <a:t> </a:t>
            </a:r>
            <a:r>
              <a:rPr sz="2000" spc="55" dirty="0">
                <a:solidFill>
                  <a:srgbClr val="FFFFFF"/>
                </a:solidFill>
                <a:latin typeface="Times New Roman"/>
                <a:cs typeface="Times New Roman"/>
              </a:rPr>
              <a:t>geometry</a:t>
            </a:r>
            <a:r>
              <a:rPr sz="2000" spc="-45" dirty="0">
                <a:solidFill>
                  <a:srgbClr val="FFFFFF"/>
                </a:solidFill>
                <a:latin typeface="Times New Roman"/>
                <a:cs typeface="Times New Roman"/>
              </a:rPr>
              <a:t> </a:t>
            </a:r>
            <a:r>
              <a:rPr sz="2000" spc="80" dirty="0">
                <a:solidFill>
                  <a:srgbClr val="FFFFFF"/>
                </a:solidFill>
                <a:latin typeface="Times New Roman"/>
                <a:cs typeface="Times New Roman"/>
              </a:rPr>
              <a:t>data</a:t>
            </a:r>
            <a:r>
              <a:rPr sz="2000" spc="-70" dirty="0">
                <a:solidFill>
                  <a:srgbClr val="FFFFFF"/>
                </a:solidFill>
                <a:latin typeface="Times New Roman"/>
                <a:cs typeface="Times New Roman"/>
              </a:rPr>
              <a:t> </a:t>
            </a:r>
            <a:r>
              <a:rPr sz="2000" spc="45" dirty="0">
                <a:solidFill>
                  <a:srgbClr val="FFFFFF"/>
                </a:solidFill>
                <a:latin typeface="Times New Roman"/>
                <a:cs typeface="Times New Roman"/>
              </a:rPr>
              <a:t>types.</a:t>
            </a:r>
            <a:endParaRPr sz="2000">
              <a:latin typeface="Times New Roman"/>
              <a:cs typeface="Times New Roman"/>
            </a:endParaRPr>
          </a:p>
        </p:txBody>
      </p:sp>
      <p:sp>
        <p:nvSpPr>
          <p:cNvPr id="9" name="object 9"/>
          <p:cNvSpPr txBox="1"/>
          <p:nvPr/>
        </p:nvSpPr>
        <p:spPr>
          <a:xfrm>
            <a:off x="7912607" y="6569709"/>
            <a:ext cx="904875" cy="256540"/>
          </a:xfrm>
          <a:prstGeom prst="rect">
            <a:avLst/>
          </a:prstGeom>
        </p:spPr>
        <p:txBody>
          <a:bodyPr vert="horz" wrap="square" lIns="0" tIns="18415" rIns="0" bIns="0" rtlCol="0">
            <a:spAutoFit/>
          </a:bodyPr>
          <a:lstStyle/>
          <a:p>
            <a:pPr marL="12700">
              <a:lnSpc>
                <a:spcPct val="100000"/>
              </a:lnSpc>
              <a:spcBef>
                <a:spcPts val="145"/>
              </a:spcBef>
            </a:pPr>
            <a:r>
              <a:rPr sz="1800" spc="52" baseline="4629" dirty="0">
                <a:latin typeface="Times New Roman"/>
                <a:cs typeface="Times New Roman"/>
              </a:rPr>
              <a:t>Session </a:t>
            </a:r>
            <a:r>
              <a:rPr sz="1800" spc="104" baseline="4629" dirty="0">
                <a:latin typeface="Times New Roman"/>
                <a:cs typeface="Times New Roman"/>
              </a:rPr>
              <a:t>9/</a:t>
            </a:r>
            <a:r>
              <a:rPr sz="1800" spc="-262" baseline="4629" dirty="0">
                <a:latin typeface="Times New Roman"/>
                <a:cs typeface="Times New Roman"/>
              </a:rPr>
              <a:t> </a:t>
            </a:r>
            <a:fld id="{81D60167-4931-47E6-BA6A-407CBD079E47}" type="slidenum">
              <a:rPr sz="1200" spc="-5" dirty="0">
                <a:latin typeface="Times New Roman"/>
                <a:cs typeface="Times New Roman"/>
              </a:rPr>
              <a:t>19</a:t>
            </a:fld>
            <a:endParaRPr sz="1200">
              <a:latin typeface="Times New Roman"/>
              <a:cs typeface="Times New Roman"/>
            </a:endParaRPr>
          </a:p>
        </p:txBody>
      </p:sp>
      <p:sp>
        <p:nvSpPr>
          <p:cNvPr id="10" name="object 10"/>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1987" y="0"/>
            <a:ext cx="6047740" cy="635635"/>
          </a:xfrm>
          <a:prstGeom prst="rect">
            <a:avLst/>
          </a:prstGeom>
        </p:spPr>
        <p:txBody>
          <a:bodyPr vert="horz" wrap="square" lIns="0" tIns="12700" rIns="0" bIns="0" rtlCol="0">
            <a:spAutoFit/>
          </a:bodyPr>
          <a:lstStyle/>
          <a:p>
            <a:pPr marL="12700">
              <a:lnSpc>
                <a:spcPct val="100000"/>
              </a:lnSpc>
              <a:spcBef>
                <a:spcPts val="100"/>
              </a:spcBef>
            </a:pPr>
            <a:r>
              <a:rPr spc="140" dirty="0"/>
              <a:t>More </a:t>
            </a:r>
            <a:r>
              <a:rPr spc="110" dirty="0"/>
              <a:t>Spatial</a:t>
            </a:r>
            <a:r>
              <a:rPr spc="-745" dirty="0"/>
              <a:t> </a:t>
            </a:r>
            <a:r>
              <a:rPr spc="90" dirty="0"/>
              <a:t>Aggregates </a:t>
            </a:r>
            <a:r>
              <a:rPr spc="-245" dirty="0"/>
              <a:t>2-5</a:t>
            </a:r>
          </a:p>
        </p:txBody>
      </p:sp>
      <p:sp>
        <p:nvSpPr>
          <p:cNvPr id="3" name="object 3"/>
          <p:cNvSpPr/>
          <p:nvPr/>
        </p:nvSpPr>
        <p:spPr>
          <a:xfrm>
            <a:off x="445008" y="1320546"/>
            <a:ext cx="8254365" cy="1031875"/>
          </a:xfrm>
          <a:custGeom>
            <a:avLst/>
            <a:gdLst/>
            <a:ahLst/>
            <a:cxnLst/>
            <a:rect l="l" t="t" r="r" b="b"/>
            <a:pathLst>
              <a:path w="8254365" h="1031875">
                <a:moveTo>
                  <a:pt x="8082026" y="0"/>
                </a:moveTo>
                <a:lnTo>
                  <a:pt x="171958" y="0"/>
                </a:lnTo>
                <a:lnTo>
                  <a:pt x="126244" y="6140"/>
                </a:lnTo>
                <a:lnTo>
                  <a:pt x="85167" y="23471"/>
                </a:lnTo>
                <a:lnTo>
                  <a:pt x="50365" y="50355"/>
                </a:lnTo>
                <a:lnTo>
                  <a:pt x="23477" y="85155"/>
                </a:lnTo>
                <a:lnTo>
                  <a:pt x="6142" y="126235"/>
                </a:lnTo>
                <a:lnTo>
                  <a:pt x="0" y="171958"/>
                </a:lnTo>
                <a:lnTo>
                  <a:pt x="0" y="859790"/>
                </a:lnTo>
                <a:lnTo>
                  <a:pt x="6142" y="905512"/>
                </a:lnTo>
                <a:lnTo>
                  <a:pt x="23477" y="946592"/>
                </a:lnTo>
                <a:lnTo>
                  <a:pt x="50365" y="981392"/>
                </a:lnTo>
                <a:lnTo>
                  <a:pt x="85167" y="1008276"/>
                </a:lnTo>
                <a:lnTo>
                  <a:pt x="126244" y="1025607"/>
                </a:lnTo>
                <a:lnTo>
                  <a:pt x="171958" y="1031748"/>
                </a:lnTo>
                <a:lnTo>
                  <a:pt x="8082026" y="1031748"/>
                </a:lnTo>
                <a:lnTo>
                  <a:pt x="8127748" y="1025607"/>
                </a:lnTo>
                <a:lnTo>
                  <a:pt x="8168828" y="1008276"/>
                </a:lnTo>
                <a:lnTo>
                  <a:pt x="8203628" y="981392"/>
                </a:lnTo>
                <a:lnTo>
                  <a:pt x="8230512" y="946592"/>
                </a:lnTo>
                <a:lnTo>
                  <a:pt x="8247843" y="905512"/>
                </a:lnTo>
                <a:lnTo>
                  <a:pt x="8253983" y="859790"/>
                </a:lnTo>
                <a:lnTo>
                  <a:pt x="8253983" y="171958"/>
                </a:lnTo>
                <a:lnTo>
                  <a:pt x="8247843" y="126235"/>
                </a:lnTo>
                <a:lnTo>
                  <a:pt x="8230512" y="85155"/>
                </a:lnTo>
                <a:lnTo>
                  <a:pt x="8203628" y="50355"/>
                </a:lnTo>
                <a:lnTo>
                  <a:pt x="8168828" y="23471"/>
                </a:lnTo>
                <a:lnTo>
                  <a:pt x="8127748" y="6140"/>
                </a:lnTo>
                <a:lnTo>
                  <a:pt x="8082026" y="0"/>
                </a:lnTo>
                <a:close/>
              </a:path>
            </a:pathLst>
          </a:custGeom>
          <a:solidFill>
            <a:srgbClr val="4AACC5"/>
          </a:solidFill>
        </p:spPr>
        <p:txBody>
          <a:bodyPr wrap="square" lIns="0" tIns="0" rIns="0" bIns="0" rtlCol="0"/>
          <a:lstStyle/>
          <a:p>
            <a:endParaRPr/>
          </a:p>
        </p:txBody>
      </p:sp>
      <p:sp>
        <p:nvSpPr>
          <p:cNvPr id="4" name="object 4"/>
          <p:cNvSpPr txBox="1"/>
          <p:nvPr/>
        </p:nvSpPr>
        <p:spPr>
          <a:xfrm>
            <a:off x="404368" y="682034"/>
            <a:ext cx="8166734" cy="1536065"/>
          </a:xfrm>
          <a:prstGeom prst="rect">
            <a:avLst/>
          </a:prstGeom>
        </p:spPr>
        <p:txBody>
          <a:bodyPr vert="horz" wrap="square" lIns="0" tIns="171450" rIns="0" bIns="0" rtlCol="0">
            <a:spAutoFit/>
          </a:bodyPr>
          <a:lstStyle/>
          <a:p>
            <a:pPr marL="12700">
              <a:lnSpc>
                <a:spcPct val="100000"/>
              </a:lnSpc>
              <a:spcBef>
                <a:spcPts val="1350"/>
              </a:spcBef>
            </a:pPr>
            <a:r>
              <a:rPr sz="2400" b="1" spc="-20" dirty="0">
                <a:latin typeface="Arial"/>
                <a:cs typeface="Arial"/>
              </a:rPr>
              <a:t>Union</a:t>
            </a:r>
            <a:r>
              <a:rPr sz="2400" b="1" spc="-204" dirty="0">
                <a:latin typeface="Arial"/>
                <a:cs typeface="Arial"/>
              </a:rPr>
              <a:t> </a:t>
            </a:r>
            <a:r>
              <a:rPr sz="2400" b="1" spc="-170" dirty="0">
                <a:latin typeface="Arial"/>
                <a:cs typeface="Arial"/>
              </a:rPr>
              <a:t>Aggregate</a:t>
            </a:r>
            <a:endParaRPr sz="2400">
              <a:latin typeface="Arial"/>
              <a:cs typeface="Arial"/>
            </a:endParaRPr>
          </a:p>
          <a:p>
            <a:pPr marL="537845" indent="-343535">
              <a:lnSpc>
                <a:spcPts val="2280"/>
              </a:lnSpc>
              <a:spcBef>
                <a:spcPts val="1040"/>
              </a:spcBef>
              <a:buFont typeface="Wingdings"/>
              <a:buChar char=""/>
              <a:tabLst>
                <a:tab pos="537845" algn="l"/>
                <a:tab pos="538480" algn="l"/>
              </a:tabLst>
            </a:pPr>
            <a:r>
              <a:rPr sz="2000" spc="55" dirty="0">
                <a:solidFill>
                  <a:srgbClr val="FFFFFF"/>
                </a:solidFill>
                <a:latin typeface="Times New Roman"/>
                <a:cs typeface="Times New Roman"/>
              </a:rPr>
              <a:t>It</a:t>
            </a:r>
            <a:r>
              <a:rPr sz="2000" spc="-75" dirty="0">
                <a:solidFill>
                  <a:srgbClr val="FFFFFF"/>
                </a:solidFill>
                <a:latin typeface="Times New Roman"/>
                <a:cs typeface="Times New Roman"/>
              </a:rPr>
              <a:t> </a:t>
            </a:r>
            <a:r>
              <a:rPr sz="2000" spc="65" dirty="0">
                <a:solidFill>
                  <a:srgbClr val="FFFFFF"/>
                </a:solidFill>
                <a:latin typeface="Times New Roman"/>
                <a:cs typeface="Times New Roman"/>
              </a:rPr>
              <a:t>performs</a:t>
            </a:r>
            <a:r>
              <a:rPr sz="2000" spc="-65" dirty="0">
                <a:solidFill>
                  <a:srgbClr val="FFFFFF"/>
                </a:solidFill>
                <a:latin typeface="Times New Roman"/>
                <a:cs typeface="Times New Roman"/>
              </a:rPr>
              <a:t> </a:t>
            </a:r>
            <a:r>
              <a:rPr sz="2000" spc="30" dirty="0">
                <a:solidFill>
                  <a:srgbClr val="FFFFFF"/>
                </a:solidFill>
                <a:latin typeface="Times New Roman"/>
                <a:cs typeface="Times New Roman"/>
              </a:rPr>
              <a:t>a</a:t>
            </a:r>
            <a:r>
              <a:rPr sz="2000" spc="-75" dirty="0">
                <a:solidFill>
                  <a:srgbClr val="FFFFFF"/>
                </a:solidFill>
                <a:latin typeface="Times New Roman"/>
                <a:cs typeface="Times New Roman"/>
              </a:rPr>
              <a:t> </a:t>
            </a:r>
            <a:r>
              <a:rPr sz="2000" spc="120" dirty="0">
                <a:solidFill>
                  <a:srgbClr val="FFFFFF"/>
                </a:solidFill>
                <a:latin typeface="Times New Roman"/>
                <a:cs typeface="Times New Roman"/>
              </a:rPr>
              <a:t>union</a:t>
            </a:r>
            <a:r>
              <a:rPr sz="2000" spc="-60" dirty="0">
                <a:solidFill>
                  <a:srgbClr val="FFFFFF"/>
                </a:solidFill>
                <a:latin typeface="Times New Roman"/>
                <a:cs typeface="Times New Roman"/>
              </a:rPr>
              <a:t> </a:t>
            </a:r>
            <a:r>
              <a:rPr sz="2000" spc="85" dirty="0">
                <a:solidFill>
                  <a:srgbClr val="FFFFFF"/>
                </a:solidFill>
                <a:latin typeface="Times New Roman"/>
                <a:cs typeface="Times New Roman"/>
              </a:rPr>
              <a:t>operation</a:t>
            </a:r>
            <a:r>
              <a:rPr sz="2000" spc="-50" dirty="0">
                <a:solidFill>
                  <a:srgbClr val="FFFFFF"/>
                </a:solidFill>
                <a:latin typeface="Times New Roman"/>
                <a:cs typeface="Times New Roman"/>
              </a:rPr>
              <a:t> </a:t>
            </a:r>
            <a:r>
              <a:rPr sz="2000" spc="130" dirty="0">
                <a:solidFill>
                  <a:srgbClr val="FFFFFF"/>
                </a:solidFill>
                <a:latin typeface="Times New Roman"/>
                <a:cs typeface="Times New Roman"/>
              </a:rPr>
              <a:t>on</a:t>
            </a:r>
            <a:r>
              <a:rPr sz="2000" spc="-55" dirty="0">
                <a:solidFill>
                  <a:srgbClr val="FFFFFF"/>
                </a:solidFill>
                <a:latin typeface="Times New Roman"/>
                <a:cs typeface="Times New Roman"/>
              </a:rPr>
              <a:t> </a:t>
            </a:r>
            <a:r>
              <a:rPr sz="2000" spc="30" dirty="0">
                <a:solidFill>
                  <a:srgbClr val="FFFFFF"/>
                </a:solidFill>
                <a:latin typeface="Times New Roman"/>
                <a:cs typeface="Times New Roman"/>
              </a:rPr>
              <a:t>a</a:t>
            </a:r>
            <a:r>
              <a:rPr sz="2000" spc="-70" dirty="0">
                <a:solidFill>
                  <a:srgbClr val="FFFFFF"/>
                </a:solidFill>
                <a:latin typeface="Times New Roman"/>
                <a:cs typeface="Times New Roman"/>
              </a:rPr>
              <a:t> </a:t>
            </a:r>
            <a:r>
              <a:rPr sz="2000" spc="55" dirty="0">
                <a:solidFill>
                  <a:srgbClr val="FFFFFF"/>
                </a:solidFill>
                <a:latin typeface="Times New Roman"/>
                <a:cs typeface="Times New Roman"/>
              </a:rPr>
              <a:t>set</a:t>
            </a:r>
            <a:r>
              <a:rPr sz="2000" spc="-65" dirty="0">
                <a:solidFill>
                  <a:srgbClr val="FFFFFF"/>
                </a:solidFill>
                <a:latin typeface="Times New Roman"/>
                <a:cs typeface="Times New Roman"/>
              </a:rPr>
              <a:t> </a:t>
            </a:r>
            <a:r>
              <a:rPr sz="2000" spc="55" dirty="0">
                <a:solidFill>
                  <a:srgbClr val="FFFFFF"/>
                </a:solidFill>
                <a:latin typeface="Times New Roman"/>
                <a:cs typeface="Times New Roman"/>
              </a:rPr>
              <a:t>of</a:t>
            </a:r>
            <a:r>
              <a:rPr sz="2000" spc="-70" dirty="0">
                <a:solidFill>
                  <a:srgbClr val="FFFFFF"/>
                </a:solidFill>
                <a:latin typeface="Times New Roman"/>
                <a:cs typeface="Times New Roman"/>
              </a:rPr>
              <a:t> </a:t>
            </a:r>
            <a:r>
              <a:rPr sz="2000" spc="55" dirty="0">
                <a:solidFill>
                  <a:srgbClr val="FFFFFF"/>
                </a:solidFill>
                <a:latin typeface="Times New Roman"/>
                <a:cs typeface="Times New Roman"/>
              </a:rPr>
              <a:t>geometry</a:t>
            </a:r>
            <a:r>
              <a:rPr sz="2000" spc="-45" dirty="0">
                <a:solidFill>
                  <a:srgbClr val="FFFFFF"/>
                </a:solidFill>
                <a:latin typeface="Times New Roman"/>
                <a:cs typeface="Times New Roman"/>
              </a:rPr>
              <a:t> </a:t>
            </a:r>
            <a:r>
              <a:rPr sz="2000" spc="45" dirty="0">
                <a:solidFill>
                  <a:srgbClr val="FFFFFF"/>
                </a:solidFill>
                <a:latin typeface="Times New Roman"/>
                <a:cs typeface="Times New Roman"/>
              </a:rPr>
              <a:t>objects.</a:t>
            </a:r>
            <a:endParaRPr sz="2000">
              <a:latin typeface="Times New Roman"/>
              <a:cs typeface="Times New Roman"/>
            </a:endParaRPr>
          </a:p>
          <a:p>
            <a:pPr marL="537845" marR="5080" indent="-342900">
              <a:lnSpc>
                <a:spcPts val="2160"/>
              </a:lnSpc>
              <a:spcBef>
                <a:spcPts val="150"/>
              </a:spcBef>
              <a:buFont typeface="Wingdings"/>
              <a:buChar char=""/>
              <a:tabLst>
                <a:tab pos="537845" algn="l"/>
                <a:tab pos="538480" algn="l"/>
                <a:tab pos="859155" algn="l"/>
                <a:tab pos="2054860" algn="l"/>
                <a:tab pos="3123565" algn="l"/>
                <a:tab pos="3981450" algn="l"/>
                <a:tab pos="4904105" algn="l"/>
                <a:tab pos="5505450" algn="l"/>
                <a:tab pos="5774690" algn="l"/>
                <a:tab pos="6561455" algn="l"/>
                <a:tab pos="7419975" algn="l"/>
              </a:tabLst>
            </a:pPr>
            <a:r>
              <a:rPr sz="2000" spc="55" dirty="0">
                <a:solidFill>
                  <a:srgbClr val="FFFFFF"/>
                </a:solidFill>
                <a:latin typeface="Times New Roman"/>
                <a:cs typeface="Times New Roman"/>
              </a:rPr>
              <a:t>I</a:t>
            </a:r>
            <a:r>
              <a:rPr sz="2000" spc="50" dirty="0">
                <a:solidFill>
                  <a:srgbClr val="FFFFFF"/>
                </a:solidFill>
                <a:latin typeface="Times New Roman"/>
                <a:cs typeface="Times New Roman"/>
              </a:rPr>
              <a:t>t</a:t>
            </a:r>
            <a:r>
              <a:rPr sz="2000" dirty="0">
                <a:solidFill>
                  <a:srgbClr val="FFFFFF"/>
                </a:solidFill>
                <a:latin typeface="Times New Roman"/>
                <a:cs typeface="Times New Roman"/>
              </a:rPr>
              <a:t>	</a:t>
            </a:r>
            <a:r>
              <a:rPr sz="2000" spc="80" dirty="0">
                <a:solidFill>
                  <a:srgbClr val="FFFFFF"/>
                </a:solidFill>
                <a:latin typeface="Times New Roman"/>
                <a:cs typeface="Times New Roman"/>
              </a:rPr>
              <a:t>combi</a:t>
            </a:r>
            <a:r>
              <a:rPr sz="2000" spc="85" dirty="0">
                <a:solidFill>
                  <a:srgbClr val="FFFFFF"/>
                </a:solidFill>
                <a:latin typeface="Times New Roman"/>
                <a:cs typeface="Times New Roman"/>
              </a:rPr>
              <a:t>n</a:t>
            </a:r>
            <a:r>
              <a:rPr sz="2000" spc="25" dirty="0">
                <a:solidFill>
                  <a:srgbClr val="FFFFFF"/>
                </a:solidFill>
                <a:latin typeface="Times New Roman"/>
                <a:cs typeface="Times New Roman"/>
              </a:rPr>
              <a:t>es</a:t>
            </a:r>
            <a:r>
              <a:rPr sz="2000" dirty="0">
                <a:solidFill>
                  <a:srgbClr val="FFFFFF"/>
                </a:solidFill>
                <a:latin typeface="Times New Roman"/>
                <a:cs typeface="Times New Roman"/>
              </a:rPr>
              <a:t>	</a:t>
            </a:r>
            <a:r>
              <a:rPr sz="2000" spc="90" dirty="0">
                <a:solidFill>
                  <a:srgbClr val="FFFFFF"/>
                </a:solidFill>
                <a:latin typeface="Times New Roman"/>
                <a:cs typeface="Times New Roman"/>
              </a:rPr>
              <a:t>mult</a:t>
            </a:r>
            <a:r>
              <a:rPr sz="2000" spc="40" dirty="0">
                <a:solidFill>
                  <a:srgbClr val="FFFFFF"/>
                </a:solidFill>
                <a:latin typeface="Times New Roman"/>
                <a:cs typeface="Times New Roman"/>
              </a:rPr>
              <a:t>iple</a:t>
            </a:r>
            <a:r>
              <a:rPr sz="2000" dirty="0">
                <a:solidFill>
                  <a:srgbClr val="FFFFFF"/>
                </a:solidFill>
                <a:latin typeface="Times New Roman"/>
                <a:cs typeface="Times New Roman"/>
              </a:rPr>
              <a:t>	</a:t>
            </a:r>
            <a:r>
              <a:rPr sz="2000" spc="5" dirty="0">
                <a:solidFill>
                  <a:srgbClr val="FFFFFF"/>
                </a:solidFill>
                <a:latin typeface="Times New Roman"/>
                <a:cs typeface="Times New Roman"/>
              </a:rPr>
              <a:t>s</a:t>
            </a:r>
            <a:r>
              <a:rPr sz="2000" spc="75" dirty="0">
                <a:solidFill>
                  <a:srgbClr val="FFFFFF"/>
                </a:solidFill>
                <a:latin typeface="Times New Roman"/>
                <a:cs typeface="Times New Roman"/>
              </a:rPr>
              <a:t>pat</a:t>
            </a:r>
            <a:r>
              <a:rPr sz="2000" spc="55" dirty="0">
                <a:solidFill>
                  <a:srgbClr val="FFFFFF"/>
                </a:solidFill>
                <a:latin typeface="Times New Roman"/>
                <a:cs typeface="Times New Roman"/>
              </a:rPr>
              <a:t>i</a:t>
            </a:r>
            <a:r>
              <a:rPr sz="2000" spc="15" dirty="0">
                <a:solidFill>
                  <a:srgbClr val="FFFFFF"/>
                </a:solidFill>
                <a:latin typeface="Times New Roman"/>
                <a:cs typeface="Times New Roman"/>
              </a:rPr>
              <a:t>al</a:t>
            </a:r>
            <a:r>
              <a:rPr sz="2000" dirty="0">
                <a:solidFill>
                  <a:srgbClr val="FFFFFF"/>
                </a:solidFill>
                <a:latin typeface="Times New Roman"/>
                <a:cs typeface="Times New Roman"/>
              </a:rPr>
              <a:t>	</a:t>
            </a:r>
            <a:r>
              <a:rPr sz="2000" spc="75" dirty="0">
                <a:solidFill>
                  <a:srgbClr val="FFFFFF"/>
                </a:solidFill>
                <a:latin typeface="Times New Roman"/>
                <a:cs typeface="Times New Roman"/>
              </a:rPr>
              <a:t>ob</a:t>
            </a:r>
            <a:r>
              <a:rPr sz="2000" spc="50" dirty="0">
                <a:solidFill>
                  <a:srgbClr val="FFFFFF"/>
                </a:solidFill>
                <a:latin typeface="Times New Roman"/>
                <a:cs typeface="Times New Roman"/>
              </a:rPr>
              <a:t>j</a:t>
            </a:r>
            <a:r>
              <a:rPr sz="2000" spc="70" dirty="0">
                <a:solidFill>
                  <a:srgbClr val="FFFFFF"/>
                </a:solidFill>
                <a:latin typeface="Times New Roman"/>
                <a:cs typeface="Times New Roman"/>
              </a:rPr>
              <a:t>ec</a:t>
            </a:r>
            <a:r>
              <a:rPr sz="2000" spc="45" dirty="0">
                <a:solidFill>
                  <a:srgbClr val="FFFFFF"/>
                </a:solidFill>
                <a:latin typeface="Times New Roman"/>
                <a:cs typeface="Times New Roman"/>
              </a:rPr>
              <a:t>t</a:t>
            </a:r>
            <a:r>
              <a:rPr sz="2000" spc="5" dirty="0">
                <a:solidFill>
                  <a:srgbClr val="FFFFFF"/>
                </a:solidFill>
                <a:latin typeface="Times New Roman"/>
                <a:cs typeface="Times New Roman"/>
              </a:rPr>
              <a:t>s</a:t>
            </a:r>
            <a:r>
              <a:rPr sz="2000" dirty="0">
                <a:solidFill>
                  <a:srgbClr val="FFFFFF"/>
                </a:solidFill>
                <a:latin typeface="Times New Roman"/>
                <a:cs typeface="Times New Roman"/>
              </a:rPr>
              <a:t>	</a:t>
            </a:r>
            <a:r>
              <a:rPr sz="2000" spc="114" dirty="0">
                <a:solidFill>
                  <a:srgbClr val="FFFFFF"/>
                </a:solidFill>
                <a:latin typeface="Times New Roman"/>
                <a:cs typeface="Times New Roman"/>
              </a:rPr>
              <a:t>in</a:t>
            </a:r>
            <a:r>
              <a:rPr sz="2000" spc="85" dirty="0">
                <a:solidFill>
                  <a:srgbClr val="FFFFFF"/>
                </a:solidFill>
                <a:latin typeface="Times New Roman"/>
                <a:cs typeface="Times New Roman"/>
              </a:rPr>
              <a:t>t</a:t>
            </a:r>
            <a:r>
              <a:rPr sz="2000" spc="90" dirty="0">
                <a:solidFill>
                  <a:srgbClr val="FFFFFF"/>
                </a:solidFill>
                <a:latin typeface="Times New Roman"/>
                <a:cs typeface="Times New Roman"/>
              </a:rPr>
              <a:t>o</a:t>
            </a:r>
            <a:r>
              <a:rPr sz="2000" dirty="0">
                <a:solidFill>
                  <a:srgbClr val="FFFFFF"/>
                </a:solidFill>
                <a:latin typeface="Times New Roman"/>
                <a:cs typeface="Times New Roman"/>
              </a:rPr>
              <a:t>	</a:t>
            </a:r>
            <a:r>
              <a:rPr sz="2000" spc="30" dirty="0">
                <a:solidFill>
                  <a:srgbClr val="FFFFFF"/>
                </a:solidFill>
                <a:latin typeface="Times New Roman"/>
                <a:cs typeface="Times New Roman"/>
              </a:rPr>
              <a:t>a</a:t>
            </a:r>
            <a:r>
              <a:rPr sz="2000" dirty="0">
                <a:solidFill>
                  <a:srgbClr val="FFFFFF"/>
                </a:solidFill>
                <a:latin typeface="Times New Roman"/>
                <a:cs typeface="Times New Roman"/>
              </a:rPr>
              <a:t>	</a:t>
            </a:r>
            <a:r>
              <a:rPr sz="2000" spc="35" dirty="0">
                <a:solidFill>
                  <a:srgbClr val="FFFFFF"/>
                </a:solidFill>
                <a:latin typeface="Times New Roman"/>
                <a:cs typeface="Times New Roman"/>
              </a:rPr>
              <a:t>sing</a:t>
            </a:r>
            <a:r>
              <a:rPr sz="2000" spc="30" dirty="0">
                <a:solidFill>
                  <a:srgbClr val="FFFFFF"/>
                </a:solidFill>
                <a:latin typeface="Times New Roman"/>
                <a:cs typeface="Times New Roman"/>
              </a:rPr>
              <a:t>l</a:t>
            </a:r>
            <a:r>
              <a:rPr sz="2000" spc="40" dirty="0">
                <a:solidFill>
                  <a:srgbClr val="FFFFFF"/>
                </a:solidFill>
                <a:latin typeface="Times New Roman"/>
                <a:cs typeface="Times New Roman"/>
              </a:rPr>
              <a:t>e</a:t>
            </a:r>
            <a:r>
              <a:rPr sz="2000" dirty="0">
                <a:solidFill>
                  <a:srgbClr val="FFFFFF"/>
                </a:solidFill>
                <a:latin typeface="Times New Roman"/>
                <a:cs typeface="Times New Roman"/>
              </a:rPr>
              <a:t>	</a:t>
            </a:r>
            <a:r>
              <a:rPr sz="2000" spc="45" dirty="0">
                <a:solidFill>
                  <a:srgbClr val="FFFFFF"/>
                </a:solidFill>
                <a:latin typeface="Times New Roman"/>
                <a:cs typeface="Times New Roman"/>
              </a:rPr>
              <a:t>sp</a:t>
            </a:r>
            <a:r>
              <a:rPr sz="2000" spc="50" dirty="0">
                <a:solidFill>
                  <a:srgbClr val="FFFFFF"/>
                </a:solidFill>
                <a:latin typeface="Times New Roman"/>
                <a:cs typeface="Times New Roman"/>
              </a:rPr>
              <a:t>a</a:t>
            </a:r>
            <a:r>
              <a:rPr sz="2000" spc="55" dirty="0">
                <a:solidFill>
                  <a:srgbClr val="FFFFFF"/>
                </a:solidFill>
                <a:latin typeface="Times New Roman"/>
                <a:cs typeface="Times New Roman"/>
              </a:rPr>
              <a:t>tia</a:t>
            </a:r>
            <a:r>
              <a:rPr sz="2000" dirty="0">
                <a:solidFill>
                  <a:srgbClr val="FFFFFF"/>
                </a:solidFill>
                <a:latin typeface="Times New Roman"/>
                <a:cs typeface="Times New Roman"/>
              </a:rPr>
              <a:t>l	</a:t>
            </a:r>
            <a:r>
              <a:rPr sz="2000" spc="90" dirty="0">
                <a:solidFill>
                  <a:srgbClr val="FFFFFF"/>
                </a:solidFill>
                <a:latin typeface="Times New Roman"/>
                <a:cs typeface="Times New Roman"/>
              </a:rPr>
              <a:t>o</a:t>
            </a:r>
            <a:r>
              <a:rPr sz="2000" spc="100" dirty="0">
                <a:solidFill>
                  <a:srgbClr val="FFFFFF"/>
                </a:solidFill>
                <a:latin typeface="Times New Roman"/>
                <a:cs typeface="Times New Roman"/>
              </a:rPr>
              <a:t>b</a:t>
            </a:r>
            <a:r>
              <a:rPr sz="2000" spc="35" dirty="0">
                <a:solidFill>
                  <a:srgbClr val="FFFFFF"/>
                </a:solidFill>
                <a:latin typeface="Times New Roman"/>
                <a:cs typeface="Times New Roman"/>
              </a:rPr>
              <a:t>ject,  </a:t>
            </a:r>
            <a:r>
              <a:rPr sz="2000" spc="65" dirty="0">
                <a:solidFill>
                  <a:srgbClr val="FFFFFF"/>
                </a:solidFill>
                <a:latin typeface="Times New Roman"/>
                <a:cs typeface="Times New Roman"/>
              </a:rPr>
              <a:t>removing</a:t>
            </a:r>
            <a:r>
              <a:rPr sz="2000" spc="-65" dirty="0">
                <a:solidFill>
                  <a:srgbClr val="FFFFFF"/>
                </a:solidFill>
                <a:latin typeface="Times New Roman"/>
                <a:cs typeface="Times New Roman"/>
              </a:rPr>
              <a:t> </a:t>
            </a:r>
            <a:r>
              <a:rPr sz="2000" spc="75" dirty="0">
                <a:solidFill>
                  <a:srgbClr val="FFFFFF"/>
                </a:solidFill>
                <a:latin typeface="Times New Roman"/>
                <a:cs typeface="Times New Roman"/>
              </a:rPr>
              <a:t>interior</a:t>
            </a:r>
            <a:r>
              <a:rPr sz="2000" spc="-70" dirty="0">
                <a:solidFill>
                  <a:srgbClr val="FFFFFF"/>
                </a:solidFill>
                <a:latin typeface="Times New Roman"/>
                <a:cs typeface="Times New Roman"/>
              </a:rPr>
              <a:t> </a:t>
            </a:r>
            <a:r>
              <a:rPr sz="2000" spc="75" dirty="0">
                <a:solidFill>
                  <a:srgbClr val="FFFFFF"/>
                </a:solidFill>
                <a:latin typeface="Times New Roman"/>
                <a:cs typeface="Times New Roman"/>
              </a:rPr>
              <a:t>boundaries,</a:t>
            </a:r>
            <a:r>
              <a:rPr sz="2000" spc="-55" dirty="0">
                <a:solidFill>
                  <a:srgbClr val="FFFFFF"/>
                </a:solidFill>
                <a:latin typeface="Times New Roman"/>
                <a:cs typeface="Times New Roman"/>
              </a:rPr>
              <a:t> </a:t>
            </a:r>
            <a:r>
              <a:rPr sz="2000" spc="75" dirty="0">
                <a:solidFill>
                  <a:srgbClr val="FFFFFF"/>
                </a:solidFill>
                <a:latin typeface="Times New Roman"/>
                <a:cs typeface="Times New Roman"/>
              </a:rPr>
              <a:t>where</a:t>
            </a:r>
            <a:r>
              <a:rPr sz="2000" spc="-50" dirty="0">
                <a:solidFill>
                  <a:srgbClr val="FFFFFF"/>
                </a:solidFill>
                <a:latin typeface="Times New Roman"/>
                <a:cs typeface="Times New Roman"/>
              </a:rPr>
              <a:t> </a:t>
            </a:r>
            <a:r>
              <a:rPr sz="2000" spc="40" dirty="0">
                <a:solidFill>
                  <a:srgbClr val="FFFFFF"/>
                </a:solidFill>
                <a:latin typeface="Times New Roman"/>
                <a:cs typeface="Times New Roman"/>
              </a:rPr>
              <a:t>applicable.</a:t>
            </a:r>
            <a:endParaRPr sz="2000">
              <a:latin typeface="Times New Roman"/>
              <a:cs typeface="Times New Roman"/>
            </a:endParaRPr>
          </a:p>
        </p:txBody>
      </p:sp>
      <p:pic>
        <p:nvPicPr>
          <p:cNvPr id="5" name="object 5"/>
          <p:cNvPicPr/>
          <p:nvPr/>
        </p:nvPicPr>
        <p:blipFill>
          <a:blip r:embed="rId3" cstate="print"/>
          <a:stretch>
            <a:fillRect/>
          </a:stretch>
        </p:blipFill>
        <p:spPr>
          <a:xfrm>
            <a:off x="1357883" y="2939795"/>
            <a:ext cx="6351270" cy="2997707"/>
          </a:xfrm>
          <a:prstGeom prst="rect">
            <a:avLst/>
          </a:prstGeom>
        </p:spPr>
      </p:pic>
      <p:sp>
        <p:nvSpPr>
          <p:cNvPr id="6" name="object 6"/>
          <p:cNvSpPr txBox="1"/>
          <p:nvPr/>
        </p:nvSpPr>
        <p:spPr>
          <a:xfrm>
            <a:off x="3596894" y="5966205"/>
            <a:ext cx="1820545" cy="238760"/>
          </a:xfrm>
          <a:prstGeom prst="rect">
            <a:avLst/>
          </a:prstGeom>
        </p:spPr>
        <p:txBody>
          <a:bodyPr vert="horz" wrap="square" lIns="0" tIns="12065" rIns="0" bIns="0" rtlCol="0">
            <a:spAutoFit/>
          </a:bodyPr>
          <a:lstStyle/>
          <a:p>
            <a:pPr marL="12700">
              <a:lnSpc>
                <a:spcPct val="100000"/>
              </a:lnSpc>
              <a:spcBef>
                <a:spcPts val="95"/>
              </a:spcBef>
            </a:pPr>
            <a:r>
              <a:rPr sz="1400" b="1" spc="-35" dirty="0">
                <a:latin typeface="Arial"/>
                <a:cs typeface="Arial"/>
              </a:rPr>
              <a:t>Viewing </a:t>
            </a:r>
            <a:r>
              <a:rPr sz="1400" b="1" spc="-70" dirty="0">
                <a:latin typeface="Arial"/>
                <a:cs typeface="Arial"/>
              </a:rPr>
              <a:t>Spatial</a:t>
            </a:r>
            <a:r>
              <a:rPr sz="1400" b="1" spc="-245" dirty="0">
                <a:latin typeface="Arial"/>
                <a:cs typeface="Arial"/>
              </a:rPr>
              <a:t> </a:t>
            </a:r>
            <a:r>
              <a:rPr sz="1400" b="1" spc="-100" dirty="0">
                <a:latin typeface="Arial"/>
                <a:cs typeface="Arial"/>
              </a:rPr>
              <a:t>Results</a:t>
            </a:r>
            <a:endParaRPr sz="1400">
              <a:latin typeface="Arial"/>
              <a:cs typeface="Arial"/>
            </a:endParaRPr>
          </a:p>
        </p:txBody>
      </p:sp>
      <p:sp>
        <p:nvSpPr>
          <p:cNvPr id="8" name="object 8"/>
          <p:cNvSpPr txBox="1"/>
          <p:nvPr/>
        </p:nvSpPr>
        <p:spPr>
          <a:xfrm>
            <a:off x="7912607" y="6569709"/>
            <a:ext cx="904875" cy="256540"/>
          </a:xfrm>
          <a:prstGeom prst="rect">
            <a:avLst/>
          </a:prstGeom>
        </p:spPr>
        <p:txBody>
          <a:bodyPr vert="horz" wrap="square" lIns="0" tIns="18415" rIns="0" bIns="0" rtlCol="0">
            <a:spAutoFit/>
          </a:bodyPr>
          <a:lstStyle/>
          <a:p>
            <a:pPr marL="12700">
              <a:lnSpc>
                <a:spcPct val="100000"/>
              </a:lnSpc>
              <a:spcBef>
                <a:spcPts val="145"/>
              </a:spcBef>
            </a:pPr>
            <a:r>
              <a:rPr sz="1800" spc="52" baseline="4629" dirty="0">
                <a:latin typeface="Times New Roman"/>
                <a:cs typeface="Times New Roman"/>
              </a:rPr>
              <a:t>Session </a:t>
            </a:r>
            <a:r>
              <a:rPr sz="1800" spc="104" baseline="4629" dirty="0">
                <a:latin typeface="Times New Roman"/>
                <a:cs typeface="Times New Roman"/>
              </a:rPr>
              <a:t>9/</a:t>
            </a:r>
            <a:r>
              <a:rPr sz="1800" spc="-262" baseline="4629" dirty="0">
                <a:latin typeface="Times New Roman"/>
                <a:cs typeface="Times New Roman"/>
              </a:rPr>
              <a:t> </a:t>
            </a:r>
            <a:fld id="{81D60167-4931-47E6-BA6A-407CBD079E47}" type="slidenum">
              <a:rPr sz="1200" spc="-5" dirty="0">
                <a:latin typeface="Times New Roman"/>
                <a:cs typeface="Times New Roman"/>
              </a:rPr>
              <a:t>20</a:t>
            </a:fld>
            <a:endParaRPr sz="1200">
              <a:latin typeface="Times New Roman"/>
              <a:cs typeface="Times New Roman"/>
            </a:endParaRPr>
          </a:p>
        </p:txBody>
      </p:sp>
      <p:sp>
        <p:nvSpPr>
          <p:cNvPr id="9" name="object 9"/>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7294" y="0"/>
            <a:ext cx="6014720" cy="635635"/>
          </a:xfrm>
          <a:prstGeom prst="rect">
            <a:avLst/>
          </a:prstGeom>
        </p:spPr>
        <p:txBody>
          <a:bodyPr vert="horz" wrap="square" lIns="0" tIns="12700" rIns="0" bIns="0" rtlCol="0">
            <a:spAutoFit/>
          </a:bodyPr>
          <a:lstStyle/>
          <a:p>
            <a:pPr marL="12700">
              <a:lnSpc>
                <a:spcPct val="100000"/>
              </a:lnSpc>
              <a:spcBef>
                <a:spcPts val="100"/>
              </a:spcBef>
            </a:pPr>
            <a:r>
              <a:rPr spc="140" dirty="0"/>
              <a:t>More </a:t>
            </a:r>
            <a:r>
              <a:rPr spc="110" dirty="0"/>
              <a:t>Spatial</a:t>
            </a:r>
            <a:r>
              <a:rPr spc="-750" dirty="0"/>
              <a:t> </a:t>
            </a:r>
            <a:r>
              <a:rPr spc="90" dirty="0"/>
              <a:t>Aggregates </a:t>
            </a:r>
            <a:r>
              <a:rPr spc="-330" dirty="0"/>
              <a:t>3-5</a:t>
            </a:r>
          </a:p>
        </p:txBody>
      </p:sp>
      <p:grpSp>
        <p:nvGrpSpPr>
          <p:cNvPr id="3" name="object 3"/>
          <p:cNvGrpSpPr/>
          <p:nvPr/>
        </p:nvGrpSpPr>
        <p:grpSpPr>
          <a:xfrm>
            <a:off x="327659" y="1312163"/>
            <a:ext cx="8271509" cy="1446530"/>
            <a:chOff x="327659" y="1312163"/>
            <a:chExt cx="8271509" cy="1446530"/>
          </a:xfrm>
        </p:grpSpPr>
        <p:pic>
          <p:nvPicPr>
            <p:cNvPr id="4" name="object 4"/>
            <p:cNvPicPr/>
            <p:nvPr/>
          </p:nvPicPr>
          <p:blipFill>
            <a:blip r:embed="rId3" cstate="print"/>
            <a:stretch>
              <a:fillRect/>
            </a:stretch>
          </p:blipFill>
          <p:spPr>
            <a:xfrm>
              <a:off x="327659" y="1312163"/>
              <a:ext cx="8271509" cy="1446276"/>
            </a:xfrm>
            <a:prstGeom prst="rect">
              <a:avLst/>
            </a:prstGeom>
          </p:spPr>
        </p:pic>
        <p:sp>
          <p:nvSpPr>
            <p:cNvPr id="5" name="object 5"/>
            <p:cNvSpPr/>
            <p:nvPr/>
          </p:nvSpPr>
          <p:spPr>
            <a:xfrm>
              <a:off x="368808" y="1330451"/>
              <a:ext cx="8196580" cy="1370965"/>
            </a:xfrm>
            <a:custGeom>
              <a:avLst/>
              <a:gdLst/>
              <a:ahLst/>
              <a:cxnLst/>
              <a:rect l="l" t="t" r="r" b="b"/>
              <a:pathLst>
                <a:path w="8196580" h="1370964">
                  <a:moveTo>
                    <a:pt x="8196072" y="228473"/>
                  </a:moveTo>
                  <a:lnTo>
                    <a:pt x="8191424" y="182422"/>
                  </a:lnTo>
                  <a:lnTo>
                    <a:pt x="8178114" y="139522"/>
                  </a:lnTo>
                  <a:lnTo>
                    <a:pt x="8157057" y="100711"/>
                  </a:lnTo>
                  <a:lnTo>
                    <a:pt x="8129168" y="66903"/>
                  </a:lnTo>
                  <a:lnTo>
                    <a:pt x="8095361" y="39014"/>
                  </a:lnTo>
                  <a:lnTo>
                    <a:pt x="8056550" y="17957"/>
                  </a:lnTo>
                  <a:lnTo>
                    <a:pt x="8013649" y="4648"/>
                  </a:lnTo>
                  <a:lnTo>
                    <a:pt x="7967599" y="0"/>
                  </a:lnTo>
                  <a:lnTo>
                    <a:pt x="228473" y="0"/>
                  </a:lnTo>
                  <a:lnTo>
                    <a:pt x="182422" y="4648"/>
                  </a:lnTo>
                  <a:lnTo>
                    <a:pt x="139534" y="17957"/>
                  </a:lnTo>
                  <a:lnTo>
                    <a:pt x="100723" y="39014"/>
                  </a:lnTo>
                  <a:lnTo>
                    <a:pt x="66916" y="66903"/>
                  </a:lnTo>
                  <a:lnTo>
                    <a:pt x="39014" y="100711"/>
                  </a:lnTo>
                  <a:lnTo>
                    <a:pt x="17945" y="139522"/>
                  </a:lnTo>
                  <a:lnTo>
                    <a:pt x="4635" y="182422"/>
                  </a:lnTo>
                  <a:lnTo>
                    <a:pt x="0" y="228473"/>
                  </a:lnTo>
                  <a:lnTo>
                    <a:pt x="0" y="1142365"/>
                  </a:lnTo>
                  <a:lnTo>
                    <a:pt x="4635" y="1188427"/>
                  </a:lnTo>
                  <a:lnTo>
                    <a:pt x="17945" y="1231328"/>
                  </a:lnTo>
                  <a:lnTo>
                    <a:pt x="39014" y="1270139"/>
                  </a:lnTo>
                  <a:lnTo>
                    <a:pt x="66916" y="1303947"/>
                  </a:lnTo>
                  <a:lnTo>
                    <a:pt x="100723" y="1331836"/>
                  </a:lnTo>
                  <a:lnTo>
                    <a:pt x="139534" y="1352892"/>
                  </a:lnTo>
                  <a:lnTo>
                    <a:pt x="182422" y="1366202"/>
                  </a:lnTo>
                  <a:lnTo>
                    <a:pt x="228473" y="1370838"/>
                  </a:lnTo>
                  <a:lnTo>
                    <a:pt x="7967599" y="1370838"/>
                  </a:lnTo>
                  <a:lnTo>
                    <a:pt x="8013649" y="1366202"/>
                  </a:lnTo>
                  <a:lnTo>
                    <a:pt x="8056550" y="1352892"/>
                  </a:lnTo>
                  <a:lnTo>
                    <a:pt x="8095361" y="1331836"/>
                  </a:lnTo>
                  <a:lnTo>
                    <a:pt x="8129168" y="1303947"/>
                  </a:lnTo>
                  <a:lnTo>
                    <a:pt x="8157057" y="1270139"/>
                  </a:lnTo>
                  <a:lnTo>
                    <a:pt x="8178114" y="1231328"/>
                  </a:lnTo>
                  <a:lnTo>
                    <a:pt x="8191424" y="1188427"/>
                  </a:lnTo>
                  <a:lnTo>
                    <a:pt x="8196072" y="1142365"/>
                  </a:lnTo>
                  <a:lnTo>
                    <a:pt x="8196072" y="228473"/>
                  </a:lnTo>
                  <a:close/>
                </a:path>
              </a:pathLst>
            </a:custGeom>
            <a:solidFill>
              <a:srgbClr val="000000"/>
            </a:solidFill>
          </p:spPr>
          <p:txBody>
            <a:bodyPr wrap="square" lIns="0" tIns="0" rIns="0" bIns="0" rtlCol="0"/>
            <a:lstStyle/>
            <a:p>
              <a:endParaRPr/>
            </a:p>
          </p:txBody>
        </p:sp>
      </p:grpSp>
      <p:sp>
        <p:nvSpPr>
          <p:cNvPr id="6" name="object 6"/>
          <p:cNvSpPr txBox="1"/>
          <p:nvPr/>
        </p:nvSpPr>
        <p:spPr>
          <a:xfrm>
            <a:off x="385063" y="841502"/>
            <a:ext cx="8044815" cy="1568450"/>
          </a:xfrm>
          <a:prstGeom prst="rect">
            <a:avLst/>
          </a:prstGeom>
        </p:spPr>
        <p:txBody>
          <a:bodyPr vert="horz" wrap="square" lIns="0" tIns="12700" rIns="0" bIns="0" rtlCol="0">
            <a:spAutoFit/>
          </a:bodyPr>
          <a:lstStyle/>
          <a:p>
            <a:pPr marL="12700">
              <a:lnSpc>
                <a:spcPct val="100000"/>
              </a:lnSpc>
              <a:spcBef>
                <a:spcPts val="100"/>
              </a:spcBef>
            </a:pPr>
            <a:r>
              <a:rPr sz="2400" b="1" spc="-145" dirty="0">
                <a:latin typeface="Arial"/>
                <a:cs typeface="Arial"/>
              </a:rPr>
              <a:t>Envelope</a:t>
            </a:r>
            <a:r>
              <a:rPr sz="2400" b="1" spc="-215" dirty="0">
                <a:latin typeface="Arial"/>
                <a:cs typeface="Arial"/>
              </a:rPr>
              <a:t> </a:t>
            </a:r>
            <a:r>
              <a:rPr sz="2400" b="1" spc="-170" dirty="0">
                <a:latin typeface="Arial"/>
                <a:cs typeface="Arial"/>
              </a:rPr>
              <a:t>Aggregate</a:t>
            </a:r>
            <a:endParaRPr sz="2400">
              <a:latin typeface="Arial"/>
              <a:cs typeface="Arial"/>
            </a:endParaRPr>
          </a:p>
          <a:p>
            <a:pPr marL="472440" marR="5080" indent="-342900">
              <a:lnSpc>
                <a:spcPts val="2160"/>
              </a:lnSpc>
              <a:spcBef>
                <a:spcPts val="2720"/>
              </a:spcBef>
              <a:buFont typeface="Wingdings"/>
              <a:buChar char=""/>
              <a:tabLst>
                <a:tab pos="472440" algn="l"/>
                <a:tab pos="473075" algn="l"/>
              </a:tabLst>
            </a:pPr>
            <a:r>
              <a:rPr sz="2000" spc="130" dirty="0">
                <a:solidFill>
                  <a:srgbClr val="FFFFFF"/>
                </a:solidFill>
                <a:latin typeface="Times New Roman"/>
                <a:cs typeface="Times New Roman"/>
              </a:rPr>
              <a:t>The </a:t>
            </a:r>
            <a:r>
              <a:rPr sz="2000" spc="65" dirty="0">
                <a:solidFill>
                  <a:srgbClr val="FFFFFF"/>
                </a:solidFill>
                <a:latin typeface="Times New Roman"/>
                <a:cs typeface="Times New Roman"/>
              </a:rPr>
              <a:t>Envelope </a:t>
            </a:r>
            <a:r>
              <a:rPr sz="2000" spc="45" dirty="0">
                <a:solidFill>
                  <a:srgbClr val="FFFFFF"/>
                </a:solidFill>
                <a:latin typeface="Times New Roman"/>
                <a:cs typeface="Times New Roman"/>
              </a:rPr>
              <a:t>Aggregate </a:t>
            </a:r>
            <a:r>
              <a:rPr sz="2000" spc="95" dirty="0">
                <a:solidFill>
                  <a:srgbClr val="FFFFFF"/>
                </a:solidFill>
                <a:latin typeface="Times New Roman"/>
                <a:cs typeface="Times New Roman"/>
              </a:rPr>
              <a:t>returns </a:t>
            </a:r>
            <a:r>
              <a:rPr sz="2000" spc="30" dirty="0">
                <a:solidFill>
                  <a:srgbClr val="FFFFFF"/>
                </a:solidFill>
                <a:latin typeface="Times New Roman"/>
                <a:cs typeface="Times New Roman"/>
              </a:rPr>
              <a:t>a </a:t>
            </a:r>
            <a:r>
              <a:rPr sz="2000" spc="100" dirty="0">
                <a:solidFill>
                  <a:srgbClr val="FFFFFF"/>
                </a:solidFill>
                <a:latin typeface="Times New Roman"/>
                <a:cs typeface="Times New Roman"/>
              </a:rPr>
              <a:t>bounding </a:t>
            </a:r>
            <a:r>
              <a:rPr sz="2000" spc="45" dirty="0">
                <a:solidFill>
                  <a:srgbClr val="FFFFFF"/>
                </a:solidFill>
                <a:latin typeface="Times New Roman"/>
                <a:cs typeface="Times New Roman"/>
              </a:rPr>
              <a:t>area </a:t>
            </a:r>
            <a:r>
              <a:rPr sz="2000" spc="65" dirty="0">
                <a:solidFill>
                  <a:srgbClr val="FFFFFF"/>
                </a:solidFill>
                <a:latin typeface="Times New Roman"/>
                <a:cs typeface="Times New Roman"/>
              </a:rPr>
              <a:t>for </a:t>
            </a:r>
            <a:r>
              <a:rPr sz="2000" spc="30" dirty="0">
                <a:solidFill>
                  <a:srgbClr val="FFFFFF"/>
                </a:solidFill>
                <a:latin typeface="Times New Roman"/>
                <a:cs typeface="Times New Roman"/>
              </a:rPr>
              <a:t>a </a:t>
            </a:r>
            <a:r>
              <a:rPr sz="2000" spc="50" dirty="0">
                <a:solidFill>
                  <a:srgbClr val="FFFFFF"/>
                </a:solidFill>
                <a:latin typeface="Times New Roman"/>
                <a:cs typeface="Times New Roman"/>
              </a:rPr>
              <a:t>given </a:t>
            </a:r>
            <a:r>
              <a:rPr sz="2000" spc="55" dirty="0">
                <a:solidFill>
                  <a:srgbClr val="FFFFFF"/>
                </a:solidFill>
                <a:latin typeface="Times New Roman"/>
                <a:cs typeface="Times New Roman"/>
              </a:rPr>
              <a:t>set </a:t>
            </a:r>
            <a:r>
              <a:rPr sz="2000" spc="50" dirty="0">
                <a:solidFill>
                  <a:srgbClr val="FFFFFF"/>
                </a:solidFill>
                <a:latin typeface="Times New Roman"/>
                <a:cs typeface="Times New Roman"/>
              </a:rPr>
              <a:t>of  </a:t>
            </a:r>
            <a:r>
              <a:rPr sz="2000" spc="55" dirty="0">
                <a:solidFill>
                  <a:srgbClr val="FFFFFF"/>
                </a:solidFill>
                <a:latin typeface="Times New Roman"/>
                <a:cs typeface="Times New Roman"/>
              </a:rPr>
              <a:t>geometry </a:t>
            </a:r>
            <a:r>
              <a:rPr sz="2000" spc="85" dirty="0">
                <a:solidFill>
                  <a:srgbClr val="FFFFFF"/>
                </a:solidFill>
                <a:latin typeface="Times New Roman"/>
                <a:cs typeface="Times New Roman"/>
              </a:rPr>
              <a:t>or </a:t>
            </a:r>
            <a:r>
              <a:rPr sz="2000" spc="50" dirty="0">
                <a:solidFill>
                  <a:srgbClr val="FFFFFF"/>
                </a:solidFill>
                <a:latin typeface="Times New Roman"/>
                <a:cs typeface="Times New Roman"/>
              </a:rPr>
              <a:t>geography</a:t>
            </a:r>
            <a:r>
              <a:rPr sz="2000" spc="-315" dirty="0">
                <a:solidFill>
                  <a:srgbClr val="FFFFFF"/>
                </a:solidFill>
                <a:latin typeface="Times New Roman"/>
                <a:cs typeface="Times New Roman"/>
              </a:rPr>
              <a:t> </a:t>
            </a:r>
            <a:r>
              <a:rPr sz="2000" spc="45" dirty="0">
                <a:solidFill>
                  <a:srgbClr val="FFFFFF"/>
                </a:solidFill>
                <a:latin typeface="Times New Roman"/>
                <a:cs typeface="Times New Roman"/>
              </a:rPr>
              <a:t>objects.</a:t>
            </a:r>
            <a:endParaRPr sz="2000">
              <a:latin typeface="Times New Roman"/>
              <a:cs typeface="Times New Roman"/>
            </a:endParaRPr>
          </a:p>
          <a:p>
            <a:pPr marL="472440" indent="-343535">
              <a:lnSpc>
                <a:spcPts val="2230"/>
              </a:lnSpc>
              <a:buFont typeface="Wingdings"/>
              <a:buChar char=""/>
              <a:tabLst>
                <a:tab pos="472440" algn="l"/>
                <a:tab pos="473075" algn="l"/>
              </a:tabLst>
            </a:pPr>
            <a:r>
              <a:rPr sz="2000" spc="55" dirty="0">
                <a:solidFill>
                  <a:srgbClr val="FFFFFF"/>
                </a:solidFill>
                <a:latin typeface="Times New Roman"/>
                <a:cs typeface="Times New Roman"/>
              </a:rPr>
              <a:t>It</a:t>
            </a:r>
            <a:r>
              <a:rPr sz="2000" spc="-70" dirty="0">
                <a:solidFill>
                  <a:srgbClr val="FFFFFF"/>
                </a:solidFill>
                <a:latin typeface="Times New Roman"/>
                <a:cs typeface="Times New Roman"/>
              </a:rPr>
              <a:t> </a:t>
            </a:r>
            <a:r>
              <a:rPr sz="2000" spc="65" dirty="0">
                <a:solidFill>
                  <a:srgbClr val="FFFFFF"/>
                </a:solidFill>
                <a:latin typeface="Times New Roman"/>
                <a:cs typeface="Times New Roman"/>
              </a:rPr>
              <a:t>exhibits</a:t>
            </a:r>
            <a:r>
              <a:rPr sz="2000" spc="-50" dirty="0">
                <a:solidFill>
                  <a:srgbClr val="FFFFFF"/>
                </a:solidFill>
                <a:latin typeface="Times New Roman"/>
                <a:cs typeface="Times New Roman"/>
              </a:rPr>
              <a:t> </a:t>
            </a:r>
            <a:r>
              <a:rPr sz="2000" spc="70" dirty="0">
                <a:solidFill>
                  <a:srgbClr val="FFFFFF"/>
                </a:solidFill>
                <a:latin typeface="Times New Roman"/>
                <a:cs typeface="Times New Roman"/>
              </a:rPr>
              <a:t>different</a:t>
            </a:r>
            <a:r>
              <a:rPr sz="2000" spc="-60" dirty="0">
                <a:solidFill>
                  <a:srgbClr val="FFFFFF"/>
                </a:solidFill>
                <a:latin typeface="Times New Roman"/>
                <a:cs typeface="Times New Roman"/>
              </a:rPr>
              <a:t> </a:t>
            </a:r>
            <a:r>
              <a:rPr sz="2000" spc="60" dirty="0">
                <a:solidFill>
                  <a:srgbClr val="FFFFFF"/>
                </a:solidFill>
                <a:latin typeface="Times New Roman"/>
                <a:cs typeface="Times New Roman"/>
              </a:rPr>
              <a:t>behaviors</a:t>
            </a:r>
            <a:r>
              <a:rPr sz="2000" spc="-40" dirty="0">
                <a:solidFill>
                  <a:srgbClr val="FFFFFF"/>
                </a:solidFill>
                <a:latin typeface="Times New Roman"/>
                <a:cs typeface="Times New Roman"/>
              </a:rPr>
              <a:t> </a:t>
            </a:r>
            <a:r>
              <a:rPr sz="2000" spc="65" dirty="0">
                <a:solidFill>
                  <a:srgbClr val="FFFFFF"/>
                </a:solidFill>
                <a:latin typeface="Times New Roman"/>
                <a:cs typeface="Times New Roman"/>
              </a:rPr>
              <a:t>for</a:t>
            </a:r>
            <a:r>
              <a:rPr sz="2000" spc="-70" dirty="0">
                <a:solidFill>
                  <a:srgbClr val="FFFFFF"/>
                </a:solidFill>
                <a:latin typeface="Times New Roman"/>
                <a:cs typeface="Times New Roman"/>
              </a:rPr>
              <a:t> </a:t>
            </a:r>
            <a:r>
              <a:rPr sz="2000" spc="50" dirty="0">
                <a:solidFill>
                  <a:srgbClr val="FFFFFF"/>
                </a:solidFill>
                <a:latin typeface="Times New Roman"/>
                <a:cs typeface="Times New Roman"/>
              </a:rPr>
              <a:t>geography</a:t>
            </a:r>
            <a:r>
              <a:rPr sz="2000" spc="-45" dirty="0">
                <a:solidFill>
                  <a:srgbClr val="FFFFFF"/>
                </a:solidFill>
                <a:latin typeface="Times New Roman"/>
                <a:cs typeface="Times New Roman"/>
              </a:rPr>
              <a:t> </a:t>
            </a:r>
            <a:r>
              <a:rPr sz="2000" spc="110" dirty="0">
                <a:solidFill>
                  <a:srgbClr val="FFFFFF"/>
                </a:solidFill>
                <a:latin typeface="Times New Roman"/>
                <a:cs typeface="Times New Roman"/>
              </a:rPr>
              <a:t>and</a:t>
            </a:r>
            <a:r>
              <a:rPr sz="2000" spc="-70" dirty="0">
                <a:solidFill>
                  <a:srgbClr val="FFFFFF"/>
                </a:solidFill>
                <a:latin typeface="Times New Roman"/>
                <a:cs typeface="Times New Roman"/>
              </a:rPr>
              <a:t> </a:t>
            </a:r>
            <a:r>
              <a:rPr sz="2000" spc="55" dirty="0">
                <a:solidFill>
                  <a:srgbClr val="FFFFFF"/>
                </a:solidFill>
                <a:latin typeface="Times New Roman"/>
                <a:cs typeface="Times New Roman"/>
              </a:rPr>
              <a:t>geometry</a:t>
            </a:r>
            <a:r>
              <a:rPr sz="2000" spc="-40" dirty="0">
                <a:solidFill>
                  <a:srgbClr val="FFFFFF"/>
                </a:solidFill>
                <a:latin typeface="Times New Roman"/>
                <a:cs typeface="Times New Roman"/>
              </a:rPr>
              <a:t> </a:t>
            </a:r>
            <a:r>
              <a:rPr sz="2000" spc="45" dirty="0">
                <a:solidFill>
                  <a:srgbClr val="FFFFFF"/>
                </a:solidFill>
                <a:latin typeface="Times New Roman"/>
                <a:cs typeface="Times New Roman"/>
              </a:rPr>
              <a:t>types.</a:t>
            </a:r>
            <a:endParaRPr sz="2000">
              <a:latin typeface="Times New Roman"/>
              <a:cs typeface="Times New Roman"/>
            </a:endParaRPr>
          </a:p>
        </p:txBody>
      </p:sp>
      <p:pic>
        <p:nvPicPr>
          <p:cNvPr id="7" name="object 7"/>
          <p:cNvPicPr/>
          <p:nvPr/>
        </p:nvPicPr>
        <p:blipFill>
          <a:blip r:embed="rId4" cstate="print"/>
          <a:stretch>
            <a:fillRect/>
          </a:stretch>
        </p:blipFill>
        <p:spPr>
          <a:xfrm>
            <a:off x="1941576" y="3048761"/>
            <a:ext cx="5345430" cy="2662428"/>
          </a:xfrm>
          <a:prstGeom prst="rect">
            <a:avLst/>
          </a:prstGeom>
        </p:spPr>
      </p:pic>
      <p:sp>
        <p:nvSpPr>
          <p:cNvPr id="10" name="object 10"/>
          <p:cNvSpPr txBox="1"/>
          <p:nvPr/>
        </p:nvSpPr>
        <p:spPr>
          <a:xfrm>
            <a:off x="7912607" y="6569709"/>
            <a:ext cx="904875" cy="256540"/>
          </a:xfrm>
          <a:prstGeom prst="rect">
            <a:avLst/>
          </a:prstGeom>
        </p:spPr>
        <p:txBody>
          <a:bodyPr vert="horz" wrap="square" lIns="0" tIns="18415" rIns="0" bIns="0" rtlCol="0">
            <a:spAutoFit/>
          </a:bodyPr>
          <a:lstStyle/>
          <a:p>
            <a:pPr marL="12700">
              <a:lnSpc>
                <a:spcPct val="100000"/>
              </a:lnSpc>
              <a:spcBef>
                <a:spcPts val="145"/>
              </a:spcBef>
            </a:pPr>
            <a:r>
              <a:rPr sz="1800" spc="52" baseline="4629" dirty="0">
                <a:latin typeface="Times New Roman"/>
                <a:cs typeface="Times New Roman"/>
              </a:rPr>
              <a:t>Session </a:t>
            </a:r>
            <a:r>
              <a:rPr sz="1800" spc="104" baseline="4629" dirty="0">
                <a:latin typeface="Times New Roman"/>
                <a:cs typeface="Times New Roman"/>
              </a:rPr>
              <a:t>9/</a:t>
            </a:r>
            <a:r>
              <a:rPr sz="1800" spc="-262" baseline="4629" dirty="0">
                <a:latin typeface="Times New Roman"/>
                <a:cs typeface="Times New Roman"/>
              </a:rPr>
              <a:t> </a:t>
            </a:r>
            <a:fld id="{81D60167-4931-47E6-BA6A-407CBD079E47}" type="slidenum">
              <a:rPr sz="1200" spc="-5" dirty="0">
                <a:latin typeface="Times New Roman"/>
                <a:cs typeface="Times New Roman"/>
              </a:rPr>
              <a:t>21</a:t>
            </a:fld>
            <a:endParaRPr sz="1200">
              <a:latin typeface="Times New Roman"/>
              <a:cs typeface="Times New Roman"/>
            </a:endParaRPr>
          </a:p>
        </p:txBody>
      </p:sp>
      <p:sp>
        <p:nvSpPr>
          <p:cNvPr id="11" name="object 11"/>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7294" y="0"/>
            <a:ext cx="6066155" cy="635635"/>
          </a:xfrm>
          <a:prstGeom prst="rect">
            <a:avLst/>
          </a:prstGeom>
        </p:spPr>
        <p:txBody>
          <a:bodyPr vert="horz" wrap="square" lIns="0" tIns="12700" rIns="0" bIns="0" rtlCol="0">
            <a:spAutoFit/>
          </a:bodyPr>
          <a:lstStyle/>
          <a:p>
            <a:pPr marL="12700">
              <a:lnSpc>
                <a:spcPct val="100000"/>
              </a:lnSpc>
              <a:spcBef>
                <a:spcPts val="100"/>
              </a:spcBef>
            </a:pPr>
            <a:r>
              <a:rPr spc="140" dirty="0"/>
              <a:t>More</a:t>
            </a:r>
            <a:r>
              <a:rPr spc="-725" dirty="0"/>
              <a:t> </a:t>
            </a:r>
            <a:r>
              <a:rPr spc="110" dirty="0"/>
              <a:t>Spatial </a:t>
            </a:r>
            <a:r>
              <a:rPr spc="90" dirty="0"/>
              <a:t>Aggregates </a:t>
            </a:r>
            <a:r>
              <a:rPr spc="-195" dirty="0"/>
              <a:t>4-5</a:t>
            </a:r>
          </a:p>
        </p:txBody>
      </p:sp>
      <p:sp>
        <p:nvSpPr>
          <p:cNvPr id="3" name="object 3"/>
          <p:cNvSpPr/>
          <p:nvPr/>
        </p:nvSpPr>
        <p:spPr>
          <a:xfrm>
            <a:off x="368808" y="1485137"/>
            <a:ext cx="8196580" cy="1010919"/>
          </a:xfrm>
          <a:custGeom>
            <a:avLst/>
            <a:gdLst/>
            <a:ahLst/>
            <a:cxnLst/>
            <a:rect l="l" t="t" r="r" b="b"/>
            <a:pathLst>
              <a:path w="8196580" h="1010919">
                <a:moveTo>
                  <a:pt x="8196072" y="168402"/>
                </a:moveTo>
                <a:lnTo>
                  <a:pt x="8190052" y="123659"/>
                </a:lnTo>
                <a:lnTo>
                  <a:pt x="8173059" y="83426"/>
                </a:lnTo>
                <a:lnTo>
                  <a:pt x="8146732" y="49339"/>
                </a:lnTo>
                <a:lnTo>
                  <a:pt x="8112646" y="23012"/>
                </a:lnTo>
                <a:lnTo>
                  <a:pt x="8072412" y="6019"/>
                </a:lnTo>
                <a:lnTo>
                  <a:pt x="8027670" y="0"/>
                </a:lnTo>
                <a:lnTo>
                  <a:pt x="168402" y="0"/>
                </a:lnTo>
                <a:lnTo>
                  <a:pt x="123634" y="6019"/>
                </a:lnTo>
                <a:lnTo>
                  <a:pt x="83400" y="23012"/>
                </a:lnTo>
                <a:lnTo>
                  <a:pt x="49314" y="49339"/>
                </a:lnTo>
                <a:lnTo>
                  <a:pt x="22987" y="83426"/>
                </a:lnTo>
                <a:lnTo>
                  <a:pt x="6007" y="123659"/>
                </a:lnTo>
                <a:lnTo>
                  <a:pt x="0" y="168402"/>
                </a:lnTo>
                <a:lnTo>
                  <a:pt x="0" y="842010"/>
                </a:lnTo>
                <a:lnTo>
                  <a:pt x="6007" y="886764"/>
                </a:lnTo>
                <a:lnTo>
                  <a:pt x="22987" y="926998"/>
                </a:lnTo>
                <a:lnTo>
                  <a:pt x="49314" y="961072"/>
                </a:lnTo>
                <a:lnTo>
                  <a:pt x="83400" y="987412"/>
                </a:lnTo>
                <a:lnTo>
                  <a:pt x="123634" y="1004404"/>
                </a:lnTo>
                <a:lnTo>
                  <a:pt x="168402" y="1010412"/>
                </a:lnTo>
                <a:lnTo>
                  <a:pt x="8027670" y="1010412"/>
                </a:lnTo>
                <a:lnTo>
                  <a:pt x="8072412" y="1004404"/>
                </a:lnTo>
                <a:lnTo>
                  <a:pt x="8112646" y="987412"/>
                </a:lnTo>
                <a:lnTo>
                  <a:pt x="8146732" y="961072"/>
                </a:lnTo>
                <a:lnTo>
                  <a:pt x="8173059" y="926998"/>
                </a:lnTo>
                <a:lnTo>
                  <a:pt x="8190052" y="886764"/>
                </a:lnTo>
                <a:lnTo>
                  <a:pt x="8196072" y="842010"/>
                </a:lnTo>
                <a:lnTo>
                  <a:pt x="8196072" y="168402"/>
                </a:lnTo>
                <a:close/>
              </a:path>
            </a:pathLst>
          </a:custGeom>
          <a:solidFill>
            <a:srgbClr val="4F81BC"/>
          </a:solidFill>
        </p:spPr>
        <p:txBody>
          <a:bodyPr wrap="square" lIns="0" tIns="0" rIns="0" bIns="0" rtlCol="0"/>
          <a:lstStyle/>
          <a:p>
            <a:endParaRPr/>
          </a:p>
        </p:txBody>
      </p:sp>
      <p:sp>
        <p:nvSpPr>
          <p:cNvPr id="4" name="object 4"/>
          <p:cNvSpPr txBox="1"/>
          <p:nvPr/>
        </p:nvSpPr>
        <p:spPr>
          <a:xfrm>
            <a:off x="447294" y="841502"/>
            <a:ext cx="7983220" cy="1530350"/>
          </a:xfrm>
          <a:prstGeom prst="rect">
            <a:avLst/>
          </a:prstGeom>
        </p:spPr>
        <p:txBody>
          <a:bodyPr vert="horz" wrap="square" lIns="0" tIns="12700" rIns="0" bIns="0" rtlCol="0">
            <a:spAutoFit/>
          </a:bodyPr>
          <a:lstStyle/>
          <a:p>
            <a:pPr marL="12700">
              <a:lnSpc>
                <a:spcPct val="100000"/>
              </a:lnSpc>
              <a:spcBef>
                <a:spcPts val="100"/>
              </a:spcBef>
            </a:pPr>
            <a:r>
              <a:rPr sz="2400" b="1" spc="-75" dirty="0">
                <a:latin typeface="Arial"/>
                <a:cs typeface="Arial"/>
              </a:rPr>
              <a:t>Collection</a:t>
            </a:r>
            <a:r>
              <a:rPr sz="2400" b="1" spc="-210" dirty="0">
                <a:latin typeface="Arial"/>
                <a:cs typeface="Arial"/>
              </a:rPr>
              <a:t> </a:t>
            </a:r>
            <a:r>
              <a:rPr sz="2400" b="1" spc="-170" dirty="0">
                <a:latin typeface="Arial"/>
                <a:cs typeface="Arial"/>
              </a:rPr>
              <a:t>Aggregate</a:t>
            </a:r>
            <a:endParaRPr sz="2400">
              <a:latin typeface="Arial"/>
              <a:cs typeface="Arial"/>
            </a:endParaRPr>
          </a:p>
          <a:p>
            <a:pPr marL="410209" marR="5080" indent="-342900" algn="just">
              <a:lnSpc>
                <a:spcPts val="2160"/>
              </a:lnSpc>
              <a:spcBef>
                <a:spcPts val="2520"/>
              </a:spcBef>
              <a:buFont typeface="Wingdings"/>
              <a:buChar char=""/>
              <a:tabLst>
                <a:tab pos="410845" algn="l"/>
              </a:tabLst>
            </a:pPr>
            <a:r>
              <a:rPr sz="2000" spc="55" dirty="0">
                <a:solidFill>
                  <a:srgbClr val="FFFFFF"/>
                </a:solidFill>
                <a:latin typeface="Times New Roman"/>
                <a:cs typeface="Times New Roman"/>
              </a:rPr>
              <a:t>It </a:t>
            </a:r>
            <a:r>
              <a:rPr sz="2000" spc="95" dirty="0">
                <a:solidFill>
                  <a:srgbClr val="FFFFFF"/>
                </a:solidFill>
                <a:latin typeface="Times New Roman"/>
                <a:cs typeface="Times New Roman"/>
              </a:rPr>
              <a:t>returns </a:t>
            </a:r>
            <a:r>
              <a:rPr sz="2000" spc="30" dirty="0">
                <a:solidFill>
                  <a:srgbClr val="FFFFFF"/>
                </a:solidFill>
                <a:latin typeface="Times New Roman"/>
                <a:cs typeface="Times New Roman"/>
              </a:rPr>
              <a:t>a </a:t>
            </a:r>
            <a:r>
              <a:rPr sz="2000" spc="85" dirty="0">
                <a:solidFill>
                  <a:srgbClr val="FFFFFF"/>
                </a:solidFill>
                <a:latin typeface="Times New Roman"/>
                <a:cs typeface="Times New Roman"/>
              </a:rPr>
              <a:t>GeometryCollection/GeographyCollection </a:t>
            </a:r>
            <a:r>
              <a:rPr sz="2000" spc="75" dirty="0">
                <a:solidFill>
                  <a:srgbClr val="FFFFFF"/>
                </a:solidFill>
                <a:latin typeface="Times New Roman"/>
                <a:cs typeface="Times New Roman"/>
              </a:rPr>
              <a:t>instance</a:t>
            </a:r>
            <a:r>
              <a:rPr sz="2000" spc="-270" dirty="0">
                <a:solidFill>
                  <a:srgbClr val="FFFFFF"/>
                </a:solidFill>
                <a:latin typeface="Times New Roman"/>
                <a:cs typeface="Times New Roman"/>
              </a:rPr>
              <a:t> </a:t>
            </a:r>
            <a:r>
              <a:rPr sz="2000" spc="90" dirty="0">
                <a:solidFill>
                  <a:srgbClr val="FFFFFF"/>
                </a:solidFill>
                <a:latin typeface="Times New Roman"/>
                <a:cs typeface="Times New Roman"/>
              </a:rPr>
              <a:t>with  </a:t>
            </a:r>
            <a:r>
              <a:rPr sz="2000" spc="105" dirty="0">
                <a:solidFill>
                  <a:srgbClr val="FFFFFF"/>
                </a:solidFill>
                <a:latin typeface="Times New Roman"/>
                <a:cs typeface="Times New Roman"/>
              </a:rPr>
              <a:t>one </a:t>
            </a:r>
            <a:r>
              <a:rPr sz="2000" spc="65" dirty="0">
                <a:solidFill>
                  <a:srgbClr val="FFFFFF"/>
                </a:solidFill>
                <a:latin typeface="Times New Roman"/>
                <a:cs typeface="Times New Roman"/>
              </a:rPr>
              <a:t>geometry/geography </a:t>
            </a:r>
            <a:r>
              <a:rPr sz="2000" spc="85" dirty="0">
                <a:solidFill>
                  <a:srgbClr val="FFFFFF"/>
                </a:solidFill>
                <a:latin typeface="Times New Roman"/>
                <a:cs typeface="Times New Roman"/>
              </a:rPr>
              <a:t>part </a:t>
            </a:r>
            <a:r>
              <a:rPr sz="2000" spc="65" dirty="0">
                <a:solidFill>
                  <a:srgbClr val="FFFFFF"/>
                </a:solidFill>
                <a:latin typeface="Times New Roman"/>
                <a:cs typeface="Times New Roman"/>
              </a:rPr>
              <a:t>for each </a:t>
            </a:r>
            <a:r>
              <a:rPr sz="2000" spc="45" dirty="0">
                <a:solidFill>
                  <a:srgbClr val="FFFFFF"/>
                </a:solidFill>
                <a:latin typeface="Times New Roman"/>
                <a:cs typeface="Times New Roman"/>
              </a:rPr>
              <a:t>spatial </a:t>
            </a:r>
            <a:r>
              <a:rPr sz="2000" spc="40" dirty="0">
                <a:solidFill>
                  <a:srgbClr val="FFFFFF"/>
                </a:solidFill>
                <a:latin typeface="Times New Roman"/>
                <a:cs typeface="Times New Roman"/>
              </a:rPr>
              <a:t>object(s) </a:t>
            </a:r>
            <a:r>
              <a:rPr sz="2000" spc="95" dirty="0">
                <a:solidFill>
                  <a:srgbClr val="FFFFFF"/>
                </a:solidFill>
                <a:latin typeface="Times New Roman"/>
                <a:cs typeface="Times New Roman"/>
              </a:rPr>
              <a:t>in </a:t>
            </a:r>
            <a:r>
              <a:rPr sz="2000" spc="114" dirty="0">
                <a:solidFill>
                  <a:srgbClr val="FFFFFF"/>
                </a:solidFill>
                <a:latin typeface="Times New Roman"/>
                <a:cs typeface="Times New Roman"/>
              </a:rPr>
              <a:t>the  </a:t>
            </a:r>
            <a:r>
              <a:rPr sz="2000" spc="55" dirty="0">
                <a:solidFill>
                  <a:srgbClr val="FFFFFF"/>
                </a:solidFill>
                <a:latin typeface="Times New Roman"/>
                <a:cs typeface="Times New Roman"/>
              </a:rPr>
              <a:t>selection</a:t>
            </a:r>
            <a:r>
              <a:rPr sz="2000" spc="-50" dirty="0">
                <a:solidFill>
                  <a:srgbClr val="FFFFFF"/>
                </a:solidFill>
                <a:latin typeface="Times New Roman"/>
                <a:cs typeface="Times New Roman"/>
              </a:rPr>
              <a:t> </a:t>
            </a:r>
            <a:r>
              <a:rPr sz="2000" spc="45" dirty="0">
                <a:solidFill>
                  <a:srgbClr val="FFFFFF"/>
                </a:solidFill>
                <a:latin typeface="Times New Roman"/>
                <a:cs typeface="Times New Roman"/>
              </a:rPr>
              <a:t>set.</a:t>
            </a:r>
            <a:endParaRPr sz="2000">
              <a:latin typeface="Times New Roman"/>
              <a:cs typeface="Times New Roman"/>
            </a:endParaRPr>
          </a:p>
        </p:txBody>
      </p:sp>
      <p:pic>
        <p:nvPicPr>
          <p:cNvPr id="5" name="object 5"/>
          <p:cNvPicPr/>
          <p:nvPr/>
        </p:nvPicPr>
        <p:blipFill>
          <a:blip r:embed="rId3" cstate="print"/>
          <a:stretch>
            <a:fillRect/>
          </a:stretch>
        </p:blipFill>
        <p:spPr>
          <a:xfrm>
            <a:off x="2068067" y="2741676"/>
            <a:ext cx="5233415" cy="2125980"/>
          </a:xfrm>
          <a:prstGeom prst="rect">
            <a:avLst/>
          </a:prstGeom>
        </p:spPr>
      </p:pic>
      <p:sp>
        <p:nvSpPr>
          <p:cNvPr id="6" name="object 6"/>
          <p:cNvSpPr txBox="1"/>
          <p:nvPr/>
        </p:nvSpPr>
        <p:spPr>
          <a:xfrm>
            <a:off x="3586226" y="4958079"/>
            <a:ext cx="2086610" cy="238760"/>
          </a:xfrm>
          <a:prstGeom prst="rect">
            <a:avLst/>
          </a:prstGeom>
        </p:spPr>
        <p:txBody>
          <a:bodyPr vert="horz" wrap="square" lIns="0" tIns="12065" rIns="0" bIns="0" rtlCol="0">
            <a:spAutoFit/>
          </a:bodyPr>
          <a:lstStyle/>
          <a:p>
            <a:pPr marL="12700">
              <a:lnSpc>
                <a:spcPct val="100000"/>
              </a:lnSpc>
              <a:spcBef>
                <a:spcPts val="95"/>
              </a:spcBef>
            </a:pPr>
            <a:r>
              <a:rPr sz="1400" b="1" spc="-70" dirty="0">
                <a:latin typeface="Arial"/>
                <a:cs typeface="Arial"/>
              </a:rPr>
              <a:t>Using</a:t>
            </a:r>
            <a:r>
              <a:rPr sz="1400" b="1" spc="-114" dirty="0">
                <a:latin typeface="Arial"/>
                <a:cs typeface="Arial"/>
              </a:rPr>
              <a:t> </a:t>
            </a:r>
            <a:r>
              <a:rPr sz="1400" b="1" spc="-75" dirty="0">
                <a:latin typeface="Arial"/>
                <a:cs typeface="Arial"/>
              </a:rPr>
              <a:t>CollectionAggregate</a:t>
            </a:r>
            <a:endParaRPr sz="1400">
              <a:latin typeface="Arial"/>
              <a:cs typeface="Arial"/>
            </a:endParaRPr>
          </a:p>
        </p:txBody>
      </p:sp>
      <p:sp>
        <p:nvSpPr>
          <p:cNvPr id="8" name="object 8"/>
          <p:cNvSpPr txBox="1"/>
          <p:nvPr/>
        </p:nvSpPr>
        <p:spPr>
          <a:xfrm>
            <a:off x="7912607" y="6569709"/>
            <a:ext cx="904875" cy="256540"/>
          </a:xfrm>
          <a:prstGeom prst="rect">
            <a:avLst/>
          </a:prstGeom>
        </p:spPr>
        <p:txBody>
          <a:bodyPr vert="horz" wrap="square" lIns="0" tIns="18415" rIns="0" bIns="0" rtlCol="0">
            <a:spAutoFit/>
          </a:bodyPr>
          <a:lstStyle/>
          <a:p>
            <a:pPr marL="12700">
              <a:lnSpc>
                <a:spcPct val="100000"/>
              </a:lnSpc>
              <a:spcBef>
                <a:spcPts val="145"/>
              </a:spcBef>
            </a:pPr>
            <a:r>
              <a:rPr sz="1800" spc="52" baseline="4629" dirty="0">
                <a:latin typeface="Times New Roman"/>
                <a:cs typeface="Times New Roman"/>
              </a:rPr>
              <a:t>Session </a:t>
            </a:r>
            <a:r>
              <a:rPr sz="1800" spc="104" baseline="4629" dirty="0">
                <a:latin typeface="Times New Roman"/>
                <a:cs typeface="Times New Roman"/>
              </a:rPr>
              <a:t>9/</a:t>
            </a:r>
            <a:r>
              <a:rPr sz="1800" spc="-262" baseline="4629" dirty="0">
                <a:latin typeface="Times New Roman"/>
                <a:cs typeface="Times New Roman"/>
              </a:rPr>
              <a:t> </a:t>
            </a:r>
            <a:fld id="{81D60167-4931-47E6-BA6A-407CBD079E47}" type="slidenum">
              <a:rPr sz="1200" spc="-5" dirty="0">
                <a:latin typeface="Times New Roman"/>
                <a:cs typeface="Times New Roman"/>
              </a:rPr>
              <a:t>22</a:t>
            </a:fld>
            <a:endParaRPr sz="1200">
              <a:latin typeface="Times New Roman"/>
              <a:cs typeface="Times New Roman"/>
            </a:endParaRPr>
          </a:p>
        </p:txBody>
      </p:sp>
      <p:sp>
        <p:nvSpPr>
          <p:cNvPr id="9" name="object 9"/>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8723" y="17272"/>
            <a:ext cx="5983605" cy="635635"/>
          </a:xfrm>
          <a:prstGeom prst="rect">
            <a:avLst/>
          </a:prstGeom>
        </p:spPr>
        <p:txBody>
          <a:bodyPr vert="horz" wrap="square" lIns="0" tIns="12700" rIns="0" bIns="0" rtlCol="0">
            <a:spAutoFit/>
          </a:bodyPr>
          <a:lstStyle/>
          <a:p>
            <a:pPr marL="12700">
              <a:lnSpc>
                <a:spcPct val="100000"/>
              </a:lnSpc>
              <a:spcBef>
                <a:spcPts val="100"/>
              </a:spcBef>
            </a:pPr>
            <a:r>
              <a:rPr spc="140" dirty="0"/>
              <a:t>More</a:t>
            </a:r>
            <a:r>
              <a:rPr spc="-725" dirty="0"/>
              <a:t> </a:t>
            </a:r>
            <a:r>
              <a:rPr spc="110" dirty="0"/>
              <a:t>Spatial </a:t>
            </a:r>
            <a:r>
              <a:rPr spc="90" dirty="0"/>
              <a:t>Aggregates </a:t>
            </a:r>
            <a:r>
              <a:rPr spc="-409" dirty="0"/>
              <a:t>5-5</a:t>
            </a:r>
          </a:p>
        </p:txBody>
      </p:sp>
      <p:sp>
        <p:nvSpPr>
          <p:cNvPr id="3" name="object 3"/>
          <p:cNvSpPr/>
          <p:nvPr/>
        </p:nvSpPr>
        <p:spPr>
          <a:xfrm>
            <a:off x="432054" y="1581911"/>
            <a:ext cx="8255000" cy="951230"/>
          </a:xfrm>
          <a:custGeom>
            <a:avLst/>
            <a:gdLst/>
            <a:ahLst/>
            <a:cxnLst/>
            <a:rect l="l" t="t" r="r" b="b"/>
            <a:pathLst>
              <a:path w="8255000" h="951230">
                <a:moveTo>
                  <a:pt x="8254746" y="158496"/>
                </a:moveTo>
                <a:lnTo>
                  <a:pt x="8246656" y="108419"/>
                </a:lnTo>
                <a:lnTo>
                  <a:pt x="8224152" y="64909"/>
                </a:lnTo>
                <a:lnTo>
                  <a:pt x="8189836" y="30594"/>
                </a:lnTo>
                <a:lnTo>
                  <a:pt x="8146326" y="8089"/>
                </a:lnTo>
                <a:lnTo>
                  <a:pt x="8096250" y="0"/>
                </a:lnTo>
                <a:lnTo>
                  <a:pt x="158496" y="0"/>
                </a:lnTo>
                <a:lnTo>
                  <a:pt x="108394" y="8089"/>
                </a:lnTo>
                <a:lnTo>
                  <a:pt x="64884" y="30594"/>
                </a:lnTo>
                <a:lnTo>
                  <a:pt x="30568" y="64909"/>
                </a:lnTo>
                <a:lnTo>
                  <a:pt x="8077" y="108419"/>
                </a:lnTo>
                <a:lnTo>
                  <a:pt x="0" y="158496"/>
                </a:lnTo>
                <a:lnTo>
                  <a:pt x="0" y="792480"/>
                </a:lnTo>
                <a:lnTo>
                  <a:pt x="8077" y="842568"/>
                </a:lnTo>
                <a:lnTo>
                  <a:pt x="30568" y="886079"/>
                </a:lnTo>
                <a:lnTo>
                  <a:pt x="64884" y="920394"/>
                </a:lnTo>
                <a:lnTo>
                  <a:pt x="108394" y="942898"/>
                </a:lnTo>
                <a:lnTo>
                  <a:pt x="158496" y="950976"/>
                </a:lnTo>
                <a:lnTo>
                  <a:pt x="8096250" y="950976"/>
                </a:lnTo>
                <a:lnTo>
                  <a:pt x="8146326" y="942898"/>
                </a:lnTo>
                <a:lnTo>
                  <a:pt x="8189836" y="920394"/>
                </a:lnTo>
                <a:lnTo>
                  <a:pt x="8224152" y="886079"/>
                </a:lnTo>
                <a:lnTo>
                  <a:pt x="8246656" y="842568"/>
                </a:lnTo>
                <a:lnTo>
                  <a:pt x="8254746" y="792480"/>
                </a:lnTo>
                <a:lnTo>
                  <a:pt x="8254746" y="719328"/>
                </a:lnTo>
                <a:lnTo>
                  <a:pt x="8254746" y="231648"/>
                </a:lnTo>
                <a:lnTo>
                  <a:pt x="8254746" y="158496"/>
                </a:lnTo>
                <a:close/>
              </a:path>
            </a:pathLst>
          </a:custGeom>
          <a:solidFill>
            <a:srgbClr val="F79546"/>
          </a:solidFill>
        </p:spPr>
        <p:txBody>
          <a:bodyPr wrap="square" lIns="0" tIns="0" rIns="0" bIns="0" rtlCol="0"/>
          <a:lstStyle/>
          <a:p>
            <a:endParaRPr/>
          </a:p>
        </p:txBody>
      </p:sp>
      <p:sp>
        <p:nvSpPr>
          <p:cNvPr id="4" name="object 4"/>
          <p:cNvSpPr txBox="1"/>
          <p:nvPr/>
        </p:nvSpPr>
        <p:spPr>
          <a:xfrm>
            <a:off x="458723" y="915161"/>
            <a:ext cx="8164830" cy="1386840"/>
          </a:xfrm>
          <a:prstGeom prst="rect">
            <a:avLst/>
          </a:prstGeom>
        </p:spPr>
        <p:txBody>
          <a:bodyPr vert="horz" wrap="square" lIns="0" tIns="12700" rIns="0" bIns="0" rtlCol="0">
            <a:spAutoFit/>
          </a:bodyPr>
          <a:lstStyle/>
          <a:p>
            <a:pPr marL="12700">
              <a:lnSpc>
                <a:spcPct val="100000"/>
              </a:lnSpc>
              <a:spcBef>
                <a:spcPts val="100"/>
              </a:spcBef>
            </a:pPr>
            <a:r>
              <a:rPr sz="2400" b="1" spc="-75" dirty="0">
                <a:latin typeface="Arial"/>
                <a:cs typeface="Arial"/>
              </a:rPr>
              <a:t>Convex </a:t>
            </a:r>
            <a:r>
              <a:rPr sz="2400" b="1" spc="5" dirty="0">
                <a:latin typeface="Arial"/>
                <a:cs typeface="Arial"/>
              </a:rPr>
              <a:t>Hull</a:t>
            </a:r>
            <a:r>
              <a:rPr sz="2400" b="1" spc="-335" dirty="0">
                <a:latin typeface="Arial"/>
                <a:cs typeface="Arial"/>
              </a:rPr>
              <a:t> </a:t>
            </a:r>
            <a:r>
              <a:rPr sz="2400" b="1" spc="-170" dirty="0">
                <a:latin typeface="Arial"/>
                <a:cs typeface="Arial"/>
              </a:rPr>
              <a:t>Aggregate</a:t>
            </a:r>
            <a:endParaRPr sz="2400">
              <a:latin typeface="Arial"/>
              <a:cs typeface="Arial"/>
            </a:endParaRPr>
          </a:p>
          <a:p>
            <a:pPr>
              <a:lnSpc>
                <a:spcPct val="100000"/>
              </a:lnSpc>
              <a:spcBef>
                <a:spcPts val="40"/>
              </a:spcBef>
            </a:pPr>
            <a:endParaRPr sz="3050">
              <a:latin typeface="Arial"/>
              <a:cs typeface="Arial"/>
            </a:endParaRPr>
          </a:p>
          <a:p>
            <a:pPr marL="533400" marR="5080" indent="-342900">
              <a:lnSpc>
                <a:spcPts val="2160"/>
              </a:lnSpc>
              <a:buClr>
                <a:srgbClr val="FFFFFF"/>
              </a:buClr>
              <a:buFont typeface="Wingdings"/>
              <a:buChar char=""/>
              <a:tabLst>
                <a:tab pos="587375" algn="l"/>
                <a:tab pos="588010" algn="l"/>
              </a:tabLst>
            </a:pPr>
            <a:r>
              <a:rPr dirty="0"/>
              <a:t>	</a:t>
            </a:r>
            <a:r>
              <a:rPr sz="2000" spc="55" dirty="0">
                <a:solidFill>
                  <a:srgbClr val="FFFFFF"/>
                </a:solidFill>
                <a:latin typeface="Times New Roman"/>
                <a:cs typeface="Times New Roman"/>
              </a:rPr>
              <a:t>It </a:t>
            </a:r>
            <a:r>
              <a:rPr sz="2000" spc="95" dirty="0">
                <a:solidFill>
                  <a:srgbClr val="FFFFFF"/>
                </a:solidFill>
                <a:latin typeface="Times New Roman"/>
                <a:cs typeface="Times New Roman"/>
              </a:rPr>
              <a:t>returns </a:t>
            </a:r>
            <a:r>
              <a:rPr sz="2000" spc="30" dirty="0">
                <a:solidFill>
                  <a:srgbClr val="FFFFFF"/>
                </a:solidFill>
                <a:latin typeface="Times New Roman"/>
                <a:cs typeface="Times New Roman"/>
              </a:rPr>
              <a:t>a </a:t>
            </a:r>
            <a:r>
              <a:rPr sz="2000" spc="80" dirty="0">
                <a:solidFill>
                  <a:srgbClr val="FFFFFF"/>
                </a:solidFill>
                <a:latin typeface="Times New Roman"/>
                <a:cs typeface="Times New Roman"/>
              </a:rPr>
              <a:t>convex hull </a:t>
            </a:r>
            <a:r>
              <a:rPr sz="2000" spc="55" dirty="0">
                <a:solidFill>
                  <a:srgbClr val="FFFFFF"/>
                </a:solidFill>
                <a:latin typeface="Times New Roman"/>
                <a:cs typeface="Times New Roman"/>
              </a:rPr>
              <a:t>polygon, </a:t>
            </a:r>
            <a:r>
              <a:rPr sz="2000" spc="80" dirty="0">
                <a:solidFill>
                  <a:srgbClr val="FFFFFF"/>
                </a:solidFill>
                <a:latin typeface="Times New Roman"/>
                <a:cs typeface="Times New Roman"/>
              </a:rPr>
              <a:t>which </a:t>
            </a:r>
            <a:r>
              <a:rPr sz="2000" spc="50" dirty="0">
                <a:solidFill>
                  <a:srgbClr val="FFFFFF"/>
                </a:solidFill>
                <a:latin typeface="Times New Roman"/>
                <a:cs typeface="Times New Roman"/>
              </a:rPr>
              <a:t>encloses </a:t>
            </a:r>
            <a:r>
              <a:rPr sz="2000" spc="105" dirty="0">
                <a:solidFill>
                  <a:srgbClr val="FFFFFF"/>
                </a:solidFill>
                <a:latin typeface="Times New Roman"/>
                <a:cs typeface="Times New Roman"/>
              </a:rPr>
              <a:t>one </a:t>
            </a:r>
            <a:r>
              <a:rPr sz="2000" spc="85" dirty="0">
                <a:solidFill>
                  <a:srgbClr val="FFFFFF"/>
                </a:solidFill>
                <a:latin typeface="Times New Roman"/>
                <a:cs typeface="Times New Roman"/>
              </a:rPr>
              <a:t>or </a:t>
            </a:r>
            <a:r>
              <a:rPr sz="2000" spc="75" dirty="0">
                <a:solidFill>
                  <a:srgbClr val="FFFFFF"/>
                </a:solidFill>
                <a:latin typeface="Times New Roman"/>
                <a:cs typeface="Times New Roman"/>
              </a:rPr>
              <a:t>more </a:t>
            </a:r>
            <a:r>
              <a:rPr sz="2000" spc="45" dirty="0">
                <a:solidFill>
                  <a:srgbClr val="FFFFFF"/>
                </a:solidFill>
                <a:latin typeface="Times New Roman"/>
                <a:cs typeface="Times New Roman"/>
              </a:rPr>
              <a:t>spatial  </a:t>
            </a:r>
            <a:r>
              <a:rPr sz="2000" spc="55" dirty="0">
                <a:solidFill>
                  <a:srgbClr val="FFFFFF"/>
                </a:solidFill>
                <a:latin typeface="Times New Roman"/>
                <a:cs typeface="Times New Roman"/>
              </a:rPr>
              <a:t>objects</a:t>
            </a:r>
            <a:r>
              <a:rPr sz="2000" spc="-55" dirty="0">
                <a:solidFill>
                  <a:srgbClr val="FFFFFF"/>
                </a:solidFill>
                <a:latin typeface="Times New Roman"/>
                <a:cs typeface="Times New Roman"/>
              </a:rPr>
              <a:t> </a:t>
            </a:r>
            <a:r>
              <a:rPr sz="2000" spc="65" dirty="0">
                <a:solidFill>
                  <a:srgbClr val="FFFFFF"/>
                </a:solidFill>
                <a:latin typeface="Times New Roman"/>
                <a:cs typeface="Times New Roman"/>
              </a:rPr>
              <a:t>for</a:t>
            </a:r>
            <a:r>
              <a:rPr sz="2000" spc="-70" dirty="0">
                <a:solidFill>
                  <a:srgbClr val="FFFFFF"/>
                </a:solidFill>
                <a:latin typeface="Times New Roman"/>
                <a:cs typeface="Times New Roman"/>
              </a:rPr>
              <a:t> </a:t>
            </a:r>
            <a:r>
              <a:rPr sz="2000" spc="30" dirty="0">
                <a:solidFill>
                  <a:srgbClr val="FFFFFF"/>
                </a:solidFill>
                <a:latin typeface="Times New Roman"/>
                <a:cs typeface="Times New Roman"/>
              </a:rPr>
              <a:t>a</a:t>
            </a:r>
            <a:r>
              <a:rPr sz="2000" spc="-75" dirty="0">
                <a:solidFill>
                  <a:srgbClr val="FFFFFF"/>
                </a:solidFill>
                <a:latin typeface="Times New Roman"/>
                <a:cs typeface="Times New Roman"/>
              </a:rPr>
              <a:t> </a:t>
            </a:r>
            <a:r>
              <a:rPr sz="2000" spc="50" dirty="0">
                <a:solidFill>
                  <a:srgbClr val="FFFFFF"/>
                </a:solidFill>
                <a:latin typeface="Times New Roman"/>
                <a:cs typeface="Times New Roman"/>
              </a:rPr>
              <a:t>given</a:t>
            </a:r>
            <a:r>
              <a:rPr sz="2000" spc="-65" dirty="0">
                <a:solidFill>
                  <a:srgbClr val="FFFFFF"/>
                </a:solidFill>
                <a:latin typeface="Times New Roman"/>
                <a:cs typeface="Times New Roman"/>
              </a:rPr>
              <a:t> </a:t>
            </a:r>
            <a:r>
              <a:rPr sz="2000" spc="55" dirty="0">
                <a:solidFill>
                  <a:srgbClr val="FFFFFF"/>
                </a:solidFill>
                <a:latin typeface="Times New Roman"/>
                <a:cs typeface="Times New Roman"/>
              </a:rPr>
              <a:t>set</a:t>
            </a:r>
            <a:r>
              <a:rPr sz="2000" spc="-65" dirty="0">
                <a:solidFill>
                  <a:srgbClr val="FFFFFF"/>
                </a:solidFill>
                <a:latin typeface="Times New Roman"/>
                <a:cs typeface="Times New Roman"/>
              </a:rPr>
              <a:t> </a:t>
            </a:r>
            <a:r>
              <a:rPr sz="2000" spc="55" dirty="0">
                <a:solidFill>
                  <a:srgbClr val="FFFFFF"/>
                </a:solidFill>
                <a:latin typeface="Times New Roman"/>
                <a:cs typeface="Times New Roman"/>
              </a:rPr>
              <a:t>of</a:t>
            </a:r>
            <a:r>
              <a:rPr sz="2000" spc="-70" dirty="0">
                <a:solidFill>
                  <a:srgbClr val="FFFFFF"/>
                </a:solidFill>
                <a:latin typeface="Times New Roman"/>
                <a:cs typeface="Times New Roman"/>
              </a:rPr>
              <a:t> </a:t>
            </a:r>
            <a:r>
              <a:rPr sz="2000" spc="65" dirty="0">
                <a:solidFill>
                  <a:srgbClr val="FFFFFF"/>
                </a:solidFill>
                <a:latin typeface="Times New Roman"/>
                <a:cs typeface="Times New Roman"/>
              </a:rPr>
              <a:t>geometry/geography</a:t>
            </a:r>
            <a:r>
              <a:rPr sz="2000" spc="-35" dirty="0">
                <a:solidFill>
                  <a:srgbClr val="FFFFFF"/>
                </a:solidFill>
                <a:latin typeface="Times New Roman"/>
                <a:cs typeface="Times New Roman"/>
              </a:rPr>
              <a:t> </a:t>
            </a:r>
            <a:r>
              <a:rPr sz="2000" spc="45" dirty="0">
                <a:solidFill>
                  <a:srgbClr val="FFFFFF"/>
                </a:solidFill>
                <a:latin typeface="Times New Roman"/>
                <a:cs typeface="Times New Roman"/>
              </a:rPr>
              <a:t>objects.</a:t>
            </a:r>
            <a:endParaRPr sz="2000">
              <a:latin typeface="Times New Roman"/>
              <a:cs typeface="Times New Roman"/>
            </a:endParaRPr>
          </a:p>
        </p:txBody>
      </p:sp>
      <p:sp>
        <p:nvSpPr>
          <p:cNvPr id="6" name="object 6"/>
          <p:cNvSpPr txBox="1"/>
          <p:nvPr/>
        </p:nvSpPr>
        <p:spPr>
          <a:xfrm>
            <a:off x="3411220" y="6009640"/>
            <a:ext cx="2227580" cy="238760"/>
          </a:xfrm>
          <a:prstGeom prst="rect">
            <a:avLst/>
          </a:prstGeom>
        </p:spPr>
        <p:txBody>
          <a:bodyPr vert="horz" wrap="square" lIns="0" tIns="12700" rIns="0" bIns="0" rtlCol="0">
            <a:spAutoFit/>
          </a:bodyPr>
          <a:lstStyle/>
          <a:p>
            <a:pPr marL="12700">
              <a:lnSpc>
                <a:spcPct val="100000"/>
              </a:lnSpc>
              <a:spcBef>
                <a:spcPts val="100"/>
              </a:spcBef>
            </a:pPr>
            <a:r>
              <a:rPr sz="1400" b="1" spc="-70" dirty="0">
                <a:latin typeface="Arial"/>
                <a:cs typeface="Arial"/>
              </a:rPr>
              <a:t>Using</a:t>
            </a:r>
            <a:r>
              <a:rPr sz="1400" b="1" spc="-135" dirty="0">
                <a:latin typeface="Arial"/>
                <a:cs typeface="Arial"/>
              </a:rPr>
              <a:t> </a:t>
            </a:r>
            <a:r>
              <a:rPr sz="1400" b="1" spc="-65" dirty="0">
                <a:latin typeface="Arial"/>
                <a:cs typeface="Arial"/>
              </a:rPr>
              <a:t>ConvexHullAggregate</a:t>
            </a:r>
            <a:endParaRPr sz="1400">
              <a:latin typeface="Arial"/>
              <a:cs typeface="Arial"/>
            </a:endParaRPr>
          </a:p>
        </p:txBody>
      </p:sp>
      <p:sp>
        <p:nvSpPr>
          <p:cNvPr id="8" name="object 8"/>
          <p:cNvSpPr txBox="1"/>
          <p:nvPr/>
        </p:nvSpPr>
        <p:spPr>
          <a:xfrm>
            <a:off x="7912607" y="6569709"/>
            <a:ext cx="904875" cy="256540"/>
          </a:xfrm>
          <a:prstGeom prst="rect">
            <a:avLst/>
          </a:prstGeom>
        </p:spPr>
        <p:txBody>
          <a:bodyPr vert="horz" wrap="square" lIns="0" tIns="18415" rIns="0" bIns="0" rtlCol="0">
            <a:spAutoFit/>
          </a:bodyPr>
          <a:lstStyle/>
          <a:p>
            <a:pPr marL="12700">
              <a:lnSpc>
                <a:spcPct val="100000"/>
              </a:lnSpc>
              <a:spcBef>
                <a:spcPts val="145"/>
              </a:spcBef>
            </a:pPr>
            <a:r>
              <a:rPr sz="1800" spc="52" baseline="4629" dirty="0">
                <a:latin typeface="Times New Roman"/>
                <a:cs typeface="Times New Roman"/>
              </a:rPr>
              <a:t>Session </a:t>
            </a:r>
            <a:r>
              <a:rPr sz="1800" spc="104" baseline="4629" dirty="0">
                <a:latin typeface="Times New Roman"/>
                <a:cs typeface="Times New Roman"/>
              </a:rPr>
              <a:t>9/</a:t>
            </a:r>
            <a:r>
              <a:rPr sz="1800" spc="-262" baseline="4629" dirty="0">
                <a:latin typeface="Times New Roman"/>
                <a:cs typeface="Times New Roman"/>
              </a:rPr>
              <a:t> </a:t>
            </a:r>
            <a:fld id="{81D60167-4931-47E6-BA6A-407CBD079E47}" type="slidenum">
              <a:rPr sz="1200" spc="-5" dirty="0">
                <a:latin typeface="Times New Roman"/>
                <a:cs typeface="Times New Roman"/>
              </a:rPr>
              <a:t>23</a:t>
            </a:fld>
            <a:endParaRPr sz="1200">
              <a:latin typeface="Times New Roman"/>
              <a:cs typeface="Times New Roman"/>
            </a:endParaRPr>
          </a:p>
        </p:txBody>
      </p:sp>
      <p:sp>
        <p:nvSpPr>
          <p:cNvPr id="9" name="object 9"/>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pic>
        <p:nvPicPr>
          <p:cNvPr id="11" name="Picture 10">
            <a:extLst>
              <a:ext uri="{FF2B5EF4-FFF2-40B4-BE49-F238E27FC236}">
                <a16:creationId xmlns:a16="http://schemas.microsoft.com/office/drawing/2014/main" id="{560DCBDE-5995-48CD-9823-28BDCA896ACF}"/>
              </a:ext>
            </a:extLst>
          </p:cNvPr>
          <p:cNvPicPr>
            <a:picLocks noChangeAspect="1"/>
          </p:cNvPicPr>
          <p:nvPr/>
        </p:nvPicPr>
        <p:blipFill>
          <a:blip r:embed="rId3"/>
          <a:stretch>
            <a:fillRect/>
          </a:stretch>
        </p:blipFill>
        <p:spPr>
          <a:xfrm>
            <a:off x="1096675" y="2796267"/>
            <a:ext cx="6980525" cy="3147333"/>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74141" y="36575"/>
            <a:ext cx="3175635" cy="635635"/>
          </a:xfrm>
          <a:prstGeom prst="rect">
            <a:avLst/>
          </a:prstGeom>
        </p:spPr>
        <p:txBody>
          <a:bodyPr vert="horz" wrap="square" lIns="0" tIns="12700" rIns="0" bIns="0" rtlCol="0">
            <a:spAutoFit/>
          </a:bodyPr>
          <a:lstStyle/>
          <a:p>
            <a:pPr marL="12700">
              <a:lnSpc>
                <a:spcPct val="100000"/>
              </a:lnSpc>
              <a:spcBef>
                <a:spcPts val="100"/>
              </a:spcBef>
            </a:pPr>
            <a:r>
              <a:rPr spc="155" dirty="0"/>
              <a:t>Subqueries</a:t>
            </a:r>
            <a:r>
              <a:rPr spc="-210" dirty="0"/>
              <a:t> </a:t>
            </a:r>
            <a:r>
              <a:rPr spc="-250" dirty="0"/>
              <a:t>1-2</a:t>
            </a:r>
          </a:p>
        </p:txBody>
      </p:sp>
      <p:sp>
        <p:nvSpPr>
          <p:cNvPr id="3" name="object 3"/>
          <p:cNvSpPr/>
          <p:nvPr/>
        </p:nvSpPr>
        <p:spPr>
          <a:xfrm>
            <a:off x="295656" y="950975"/>
            <a:ext cx="8750300" cy="1874520"/>
          </a:xfrm>
          <a:custGeom>
            <a:avLst/>
            <a:gdLst/>
            <a:ahLst/>
            <a:cxnLst/>
            <a:rect l="l" t="t" r="r" b="b"/>
            <a:pathLst>
              <a:path w="8750300" h="1874520">
                <a:moveTo>
                  <a:pt x="8750046" y="312420"/>
                </a:moveTo>
                <a:lnTo>
                  <a:pt x="8746655" y="266242"/>
                </a:lnTo>
                <a:lnTo>
                  <a:pt x="8736813" y="222173"/>
                </a:lnTo>
                <a:lnTo>
                  <a:pt x="8721014" y="180695"/>
                </a:lnTo>
                <a:lnTo>
                  <a:pt x="8699716" y="142290"/>
                </a:lnTo>
                <a:lnTo>
                  <a:pt x="8673427" y="107442"/>
                </a:lnTo>
                <a:lnTo>
                  <a:pt x="8642604" y="76619"/>
                </a:lnTo>
                <a:lnTo>
                  <a:pt x="8607755" y="50330"/>
                </a:lnTo>
                <a:lnTo>
                  <a:pt x="8569350" y="29032"/>
                </a:lnTo>
                <a:lnTo>
                  <a:pt x="8527872" y="13233"/>
                </a:lnTo>
                <a:lnTo>
                  <a:pt x="8483803" y="3390"/>
                </a:lnTo>
                <a:lnTo>
                  <a:pt x="8437626" y="0"/>
                </a:lnTo>
                <a:lnTo>
                  <a:pt x="312420" y="0"/>
                </a:lnTo>
                <a:lnTo>
                  <a:pt x="266242" y="3390"/>
                </a:lnTo>
                <a:lnTo>
                  <a:pt x="222186" y="13233"/>
                </a:lnTo>
                <a:lnTo>
                  <a:pt x="180708" y="29032"/>
                </a:lnTo>
                <a:lnTo>
                  <a:pt x="142303" y="50330"/>
                </a:lnTo>
                <a:lnTo>
                  <a:pt x="107442" y="76619"/>
                </a:lnTo>
                <a:lnTo>
                  <a:pt x="76631" y="107442"/>
                </a:lnTo>
                <a:lnTo>
                  <a:pt x="50330" y="142290"/>
                </a:lnTo>
                <a:lnTo>
                  <a:pt x="29032" y="180695"/>
                </a:lnTo>
                <a:lnTo>
                  <a:pt x="13220" y="222173"/>
                </a:lnTo>
                <a:lnTo>
                  <a:pt x="3378" y="266242"/>
                </a:lnTo>
                <a:lnTo>
                  <a:pt x="0" y="312420"/>
                </a:lnTo>
                <a:lnTo>
                  <a:pt x="0" y="1562100"/>
                </a:lnTo>
                <a:lnTo>
                  <a:pt x="3378" y="1608289"/>
                </a:lnTo>
                <a:lnTo>
                  <a:pt x="13220" y="1652358"/>
                </a:lnTo>
                <a:lnTo>
                  <a:pt x="29032" y="1693837"/>
                </a:lnTo>
                <a:lnTo>
                  <a:pt x="50330" y="1732241"/>
                </a:lnTo>
                <a:lnTo>
                  <a:pt x="76631" y="1767090"/>
                </a:lnTo>
                <a:lnTo>
                  <a:pt x="107442" y="1797913"/>
                </a:lnTo>
                <a:lnTo>
                  <a:pt x="142303" y="1824202"/>
                </a:lnTo>
                <a:lnTo>
                  <a:pt x="180708" y="1845500"/>
                </a:lnTo>
                <a:lnTo>
                  <a:pt x="222186" y="1861299"/>
                </a:lnTo>
                <a:lnTo>
                  <a:pt x="266242" y="1871141"/>
                </a:lnTo>
                <a:lnTo>
                  <a:pt x="312420" y="1874520"/>
                </a:lnTo>
                <a:lnTo>
                  <a:pt x="8437626" y="1874520"/>
                </a:lnTo>
                <a:lnTo>
                  <a:pt x="8483803" y="1871141"/>
                </a:lnTo>
                <a:lnTo>
                  <a:pt x="8527872" y="1861299"/>
                </a:lnTo>
                <a:lnTo>
                  <a:pt x="8569350" y="1845500"/>
                </a:lnTo>
                <a:lnTo>
                  <a:pt x="8607755" y="1824202"/>
                </a:lnTo>
                <a:lnTo>
                  <a:pt x="8642604" y="1797913"/>
                </a:lnTo>
                <a:lnTo>
                  <a:pt x="8673427" y="1767090"/>
                </a:lnTo>
                <a:lnTo>
                  <a:pt x="8699716" y="1732241"/>
                </a:lnTo>
                <a:lnTo>
                  <a:pt x="8721014" y="1693837"/>
                </a:lnTo>
                <a:lnTo>
                  <a:pt x="8736813" y="1652358"/>
                </a:lnTo>
                <a:lnTo>
                  <a:pt x="8746655" y="1608289"/>
                </a:lnTo>
                <a:lnTo>
                  <a:pt x="8750046" y="1562100"/>
                </a:lnTo>
                <a:lnTo>
                  <a:pt x="8750046" y="1418082"/>
                </a:lnTo>
                <a:lnTo>
                  <a:pt x="8750046" y="456450"/>
                </a:lnTo>
                <a:lnTo>
                  <a:pt x="8750046" y="312420"/>
                </a:lnTo>
                <a:close/>
              </a:path>
            </a:pathLst>
          </a:custGeom>
          <a:solidFill>
            <a:srgbClr val="4AACC5"/>
          </a:solidFill>
        </p:spPr>
        <p:txBody>
          <a:bodyPr wrap="square" lIns="0" tIns="0" rIns="0" bIns="0" rtlCol="0"/>
          <a:lstStyle/>
          <a:p>
            <a:endParaRPr/>
          </a:p>
        </p:txBody>
      </p:sp>
      <p:sp>
        <p:nvSpPr>
          <p:cNvPr id="4" name="object 4"/>
          <p:cNvSpPr txBox="1"/>
          <p:nvPr/>
        </p:nvSpPr>
        <p:spPr>
          <a:xfrm>
            <a:off x="632459" y="945388"/>
            <a:ext cx="7975600" cy="1549400"/>
          </a:xfrm>
          <a:prstGeom prst="rect">
            <a:avLst/>
          </a:prstGeom>
        </p:spPr>
        <p:txBody>
          <a:bodyPr vert="horz" wrap="square" lIns="0" tIns="12065" rIns="0" bIns="0" rtlCol="0">
            <a:spAutoFit/>
          </a:bodyPr>
          <a:lstStyle/>
          <a:p>
            <a:pPr marL="355600" marR="5080" indent="-343535">
              <a:lnSpc>
                <a:spcPct val="100000"/>
              </a:lnSpc>
              <a:spcBef>
                <a:spcPts val="95"/>
              </a:spcBef>
              <a:buFont typeface="Wingdings"/>
              <a:buChar char=""/>
              <a:tabLst>
                <a:tab pos="355600" algn="l"/>
                <a:tab pos="356235" algn="l"/>
              </a:tabLst>
            </a:pPr>
            <a:r>
              <a:rPr sz="2000" spc="130" dirty="0">
                <a:solidFill>
                  <a:srgbClr val="FFFFFF"/>
                </a:solidFill>
                <a:latin typeface="Times New Roman"/>
                <a:cs typeface="Times New Roman"/>
              </a:rPr>
              <a:t>The </a:t>
            </a:r>
            <a:r>
              <a:rPr sz="2000" spc="95" dirty="0">
                <a:solidFill>
                  <a:srgbClr val="FFFFFF"/>
                </a:solidFill>
                <a:latin typeface="Times New Roman"/>
                <a:cs typeface="Times New Roman"/>
              </a:rPr>
              <a:t>outer </a:t>
            </a:r>
            <a:r>
              <a:rPr sz="2000" spc="75" dirty="0">
                <a:solidFill>
                  <a:srgbClr val="FFFFFF"/>
                </a:solidFill>
                <a:latin typeface="Times New Roman"/>
                <a:cs typeface="Times New Roman"/>
              </a:rPr>
              <a:t>query </a:t>
            </a:r>
            <a:r>
              <a:rPr sz="2000" spc="5" dirty="0">
                <a:solidFill>
                  <a:srgbClr val="FFFFFF"/>
                </a:solidFill>
                <a:latin typeface="Times New Roman"/>
                <a:cs typeface="Times New Roman"/>
              </a:rPr>
              <a:t>is </a:t>
            </a:r>
            <a:r>
              <a:rPr sz="2000" spc="35" dirty="0">
                <a:solidFill>
                  <a:srgbClr val="FFFFFF"/>
                </a:solidFill>
                <a:latin typeface="Times New Roman"/>
                <a:cs typeface="Times New Roman"/>
              </a:rPr>
              <a:t>called </a:t>
            </a:r>
            <a:r>
              <a:rPr sz="2000" spc="95" dirty="0">
                <a:solidFill>
                  <a:srgbClr val="FFFFFF"/>
                </a:solidFill>
                <a:latin typeface="Times New Roman"/>
                <a:cs typeface="Times New Roman"/>
              </a:rPr>
              <a:t>parent </a:t>
            </a:r>
            <a:r>
              <a:rPr sz="2000" spc="75" dirty="0">
                <a:solidFill>
                  <a:srgbClr val="FFFFFF"/>
                </a:solidFill>
                <a:latin typeface="Times New Roman"/>
                <a:cs typeface="Times New Roman"/>
              </a:rPr>
              <a:t>query </a:t>
            </a:r>
            <a:r>
              <a:rPr sz="2000" spc="110" dirty="0">
                <a:solidFill>
                  <a:srgbClr val="FFFFFF"/>
                </a:solidFill>
                <a:latin typeface="Times New Roman"/>
                <a:cs typeface="Times New Roman"/>
              </a:rPr>
              <a:t>and the </a:t>
            </a:r>
            <a:r>
              <a:rPr sz="2000" spc="100" dirty="0">
                <a:solidFill>
                  <a:srgbClr val="FFFFFF"/>
                </a:solidFill>
                <a:latin typeface="Times New Roman"/>
                <a:cs typeface="Times New Roman"/>
              </a:rPr>
              <a:t>inner </a:t>
            </a:r>
            <a:r>
              <a:rPr sz="2000" spc="75" dirty="0">
                <a:solidFill>
                  <a:srgbClr val="FFFFFF"/>
                </a:solidFill>
                <a:latin typeface="Times New Roman"/>
                <a:cs typeface="Times New Roman"/>
              </a:rPr>
              <a:t>query </a:t>
            </a:r>
            <a:r>
              <a:rPr sz="2000" spc="5" dirty="0">
                <a:solidFill>
                  <a:srgbClr val="FFFFFF"/>
                </a:solidFill>
                <a:latin typeface="Times New Roman"/>
                <a:cs typeface="Times New Roman"/>
              </a:rPr>
              <a:t>is </a:t>
            </a:r>
            <a:r>
              <a:rPr sz="2000" spc="35" dirty="0">
                <a:solidFill>
                  <a:srgbClr val="FFFFFF"/>
                </a:solidFill>
                <a:latin typeface="Times New Roman"/>
                <a:cs typeface="Times New Roman"/>
              </a:rPr>
              <a:t>called</a:t>
            </a:r>
            <a:r>
              <a:rPr sz="2000" spc="-320" dirty="0">
                <a:solidFill>
                  <a:srgbClr val="FFFFFF"/>
                </a:solidFill>
                <a:latin typeface="Times New Roman"/>
                <a:cs typeface="Times New Roman"/>
              </a:rPr>
              <a:t> </a:t>
            </a:r>
            <a:r>
              <a:rPr sz="2000" spc="30" dirty="0">
                <a:solidFill>
                  <a:srgbClr val="FFFFFF"/>
                </a:solidFill>
                <a:latin typeface="Times New Roman"/>
                <a:cs typeface="Times New Roman"/>
              </a:rPr>
              <a:t>a  </a:t>
            </a:r>
            <a:r>
              <a:rPr sz="2000" spc="70" dirty="0">
                <a:solidFill>
                  <a:srgbClr val="FFFFFF"/>
                </a:solidFill>
                <a:latin typeface="Times New Roman"/>
                <a:cs typeface="Times New Roman"/>
              </a:rPr>
              <a:t>subquery.</a:t>
            </a:r>
            <a:endParaRPr sz="2000">
              <a:latin typeface="Times New Roman"/>
              <a:cs typeface="Times New Roman"/>
            </a:endParaRPr>
          </a:p>
          <a:p>
            <a:pPr marL="355600" indent="-343535">
              <a:lnSpc>
                <a:spcPct val="100000"/>
              </a:lnSpc>
              <a:buFont typeface="Wingdings"/>
              <a:buChar char=""/>
              <a:tabLst>
                <a:tab pos="355600" algn="l"/>
                <a:tab pos="356235" algn="l"/>
              </a:tabLst>
            </a:pPr>
            <a:r>
              <a:rPr sz="2000" spc="130" dirty="0">
                <a:solidFill>
                  <a:srgbClr val="FFFFFF"/>
                </a:solidFill>
                <a:latin typeface="Times New Roman"/>
                <a:cs typeface="Times New Roman"/>
              </a:rPr>
              <a:t>The</a:t>
            </a:r>
            <a:r>
              <a:rPr sz="2000" spc="-80" dirty="0">
                <a:solidFill>
                  <a:srgbClr val="FFFFFF"/>
                </a:solidFill>
                <a:latin typeface="Times New Roman"/>
                <a:cs typeface="Times New Roman"/>
              </a:rPr>
              <a:t> </a:t>
            </a:r>
            <a:r>
              <a:rPr sz="2000" spc="85" dirty="0">
                <a:solidFill>
                  <a:srgbClr val="FFFFFF"/>
                </a:solidFill>
                <a:latin typeface="Times New Roman"/>
                <a:cs typeface="Times New Roman"/>
              </a:rPr>
              <a:t>purpose</a:t>
            </a:r>
            <a:r>
              <a:rPr sz="2000" spc="-55" dirty="0">
                <a:solidFill>
                  <a:srgbClr val="FFFFFF"/>
                </a:solidFill>
                <a:latin typeface="Times New Roman"/>
                <a:cs typeface="Times New Roman"/>
              </a:rPr>
              <a:t> </a:t>
            </a:r>
            <a:r>
              <a:rPr sz="2000" spc="55" dirty="0">
                <a:solidFill>
                  <a:srgbClr val="FFFFFF"/>
                </a:solidFill>
                <a:latin typeface="Times New Roman"/>
                <a:cs typeface="Times New Roman"/>
              </a:rPr>
              <a:t>of</a:t>
            </a:r>
            <a:r>
              <a:rPr sz="2000" spc="-70" dirty="0">
                <a:solidFill>
                  <a:srgbClr val="FFFFFF"/>
                </a:solidFill>
                <a:latin typeface="Times New Roman"/>
                <a:cs typeface="Times New Roman"/>
              </a:rPr>
              <a:t> </a:t>
            </a:r>
            <a:r>
              <a:rPr sz="2000" spc="30" dirty="0">
                <a:solidFill>
                  <a:srgbClr val="FFFFFF"/>
                </a:solidFill>
                <a:latin typeface="Times New Roman"/>
                <a:cs typeface="Times New Roman"/>
              </a:rPr>
              <a:t>a</a:t>
            </a:r>
            <a:r>
              <a:rPr sz="2000" spc="-75" dirty="0">
                <a:solidFill>
                  <a:srgbClr val="FFFFFF"/>
                </a:solidFill>
                <a:latin typeface="Times New Roman"/>
                <a:cs typeface="Times New Roman"/>
              </a:rPr>
              <a:t> </a:t>
            </a:r>
            <a:r>
              <a:rPr sz="2000" spc="80" dirty="0">
                <a:solidFill>
                  <a:srgbClr val="FFFFFF"/>
                </a:solidFill>
                <a:latin typeface="Times New Roman"/>
                <a:cs typeface="Times New Roman"/>
              </a:rPr>
              <a:t>subquery</a:t>
            </a:r>
            <a:r>
              <a:rPr sz="2000" spc="-65" dirty="0">
                <a:solidFill>
                  <a:srgbClr val="FFFFFF"/>
                </a:solidFill>
                <a:latin typeface="Times New Roman"/>
                <a:cs typeface="Times New Roman"/>
              </a:rPr>
              <a:t> </a:t>
            </a:r>
            <a:r>
              <a:rPr sz="2000" spc="5" dirty="0">
                <a:solidFill>
                  <a:srgbClr val="FFFFFF"/>
                </a:solidFill>
                <a:latin typeface="Times New Roman"/>
                <a:cs typeface="Times New Roman"/>
              </a:rPr>
              <a:t>is</a:t>
            </a:r>
            <a:r>
              <a:rPr sz="2000" spc="-80" dirty="0">
                <a:solidFill>
                  <a:srgbClr val="FFFFFF"/>
                </a:solidFill>
                <a:latin typeface="Times New Roman"/>
                <a:cs typeface="Times New Roman"/>
              </a:rPr>
              <a:t> </a:t>
            </a:r>
            <a:r>
              <a:rPr sz="2000" spc="110" dirty="0">
                <a:solidFill>
                  <a:srgbClr val="FFFFFF"/>
                </a:solidFill>
                <a:latin typeface="Times New Roman"/>
                <a:cs typeface="Times New Roman"/>
              </a:rPr>
              <a:t>to</a:t>
            </a:r>
            <a:r>
              <a:rPr sz="2000" spc="-65" dirty="0">
                <a:solidFill>
                  <a:srgbClr val="FFFFFF"/>
                </a:solidFill>
                <a:latin typeface="Times New Roman"/>
                <a:cs typeface="Times New Roman"/>
              </a:rPr>
              <a:t> </a:t>
            </a:r>
            <a:r>
              <a:rPr sz="2000" spc="110" dirty="0">
                <a:solidFill>
                  <a:srgbClr val="FFFFFF"/>
                </a:solidFill>
                <a:latin typeface="Times New Roman"/>
                <a:cs typeface="Times New Roman"/>
              </a:rPr>
              <a:t>return</a:t>
            </a:r>
            <a:r>
              <a:rPr sz="2000" spc="-65" dirty="0">
                <a:solidFill>
                  <a:srgbClr val="FFFFFF"/>
                </a:solidFill>
                <a:latin typeface="Times New Roman"/>
                <a:cs typeface="Times New Roman"/>
              </a:rPr>
              <a:t> </a:t>
            </a:r>
            <a:r>
              <a:rPr sz="2000" spc="60" dirty="0">
                <a:solidFill>
                  <a:srgbClr val="FFFFFF"/>
                </a:solidFill>
                <a:latin typeface="Times New Roman"/>
                <a:cs typeface="Times New Roman"/>
              </a:rPr>
              <a:t>results</a:t>
            </a:r>
            <a:r>
              <a:rPr sz="2000" spc="-60" dirty="0">
                <a:solidFill>
                  <a:srgbClr val="FFFFFF"/>
                </a:solidFill>
                <a:latin typeface="Times New Roman"/>
                <a:cs typeface="Times New Roman"/>
              </a:rPr>
              <a:t> </a:t>
            </a:r>
            <a:r>
              <a:rPr sz="2000" spc="110" dirty="0">
                <a:solidFill>
                  <a:srgbClr val="FFFFFF"/>
                </a:solidFill>
                <a:latin typeface="Times New Roman"/>
                <a:cs typeface="Times New Roman"/>
              </a:rPr>
              <a:t>to</a:t>
            </a:r>
            <a:r>
              <a:rPr sz="2000" spc="-70" dirty="0">
                <a:solidFill>
                  <a:srgbClr val="FFFFFF"/>
                </a:solidFill>
                <a:latin typeface="Times New Roman"/>
                <a:cs typeface="Times New Roman"/>
              </a:rPr>
              <a:t> </a:t>
            </a:r>
            <a:r>
              <a:rPr sz="2000" spc="110" dirty="0">
                <a:solidFill>
                  <a:srgbClr val="FFFFFF"/>
                </a:solidFill>
                <a:latin typeface="Times New Roman"/>
                <a:cs typeface="Times New Roman"/>
              </a:rPr>
              <a:t>the</a:t>
            </a:r>
            <a:r>
              <a:rPr sz="2000" spc="-60" dirty="0">
                <a:solidFill>
                  <a:srgbClr val="FFFFFF"/>
                </a:solidFill>
                <a:latin typeface="Times New Roman"/>
                <a:cs typeface="Times New Roman"/>
              </a:rPr>
              <a:t> </a:t>
            </a:r>
            <a:r>
              <a:rPr sz="2000" spc="95" dirty="0">
                <a:solidFill>
                  <a:srgbClr val="FFFFFF"/>
                </a:solidFill>
                <a:latin typeface="Times New Roman"/>
                <a:cs typeface="Times New Roman"/>
              </a:rPr>
              <a:t>outer</a:t>
            </a:r>
            <a:r>
              <a:rPr sz="2000" spc="-60" dirty="0">
                <a:solidFill>
                  <a:srgbClr val="FFFFFF"/>
                </a:solidFill>
                <a:latin typeface="Times New Roman"/>
                <a:cs typeface="Times New Roman"/>
              </a:rPr>
              <a:t> </a:t>
            </a:r>
            <a:r>
              <a:rPr sz="2000" spc="65" dirty="0">
                <a:solidFill>
                  <a:srgbClr val="FFFFFF"/>
                </a:solidFill>
                <a:latin typeface="Times New Roman"/>
                <a:cs typeface="Times New Roman"/>
              </a:rPr>
              <a:t>query.</a:t>
            </a:r>
            <a:endParaRPr sz="2000">
              <a:latin typeface="Times New Roman"/>
              <a:cs typeface="Times New Roman"/>
            </a:endParaRPr>
          </a:p>
          <a:p>
            <a:pPr marL="355600" marR="5715" indent="-343535">
              <a:lnSpc>
                <a:spcPct val="100000"/>
              </a:lnSpc>
              <a:buFont typeface="Wingdings"/>
              <a:buChar char=""/>
              <a:tabLst>
                <a:tab pos="355600" algn="l"/>
                <a:tab pos="356235" algn="l"/>
              </a:tabLst>
            </a:pPr>
            <a:r>
              <a:rPr sz="2000" spc="80" dirty="0">
                <a:solidFill>
                  <a:srgbClr val="FFFFFF"/>
                </a:solidFill>
                <a:latin typeface="Times New Roman"/>
                <a:cs typeface="Times New Roman"/>
              </a:rPr>
              <a:t>In </a:t>
            </a:r>
            <a:r>
              <a:rPr sz="2000" spc="105" dirty="0">
                <a:solidFill>
                  <a:srgbClr val="FFFFFF"/>
                </a:solidFill>
                <a:latin typeface="Times New Roman"/>
                <a:cs typeface="Times New Roman"/>
              </a:rPr>
              <a:t>other </a:t>
            </a:r>
            <a:r>
              <a:rPr sz="2000" spc="60" dirty="0">
                <a:solidFill>
                  <a:srgbClr val="FFFFFF"/>
                </a:solidFill>
                <a:latin typeface="Times New Roman"/>
                <a:cs typeface="Times New Roman"/>
              </a:rPr>
              <a:t>words, </a:t>
            </a:r>
            <a:r>
              <a:rPr sz="2000" spc="110" dirty="0">
                <a:solidFill>
                  <a:srgbClr val="FFFFFF"/>
                </a:solidFill>
                <a:latin typeface="Times New Roman"/>
                <a:cs typeface="Times New Roman"/>
              </a:rPr>
              <a:t>the </a:t>
            </a:r>
            <a:r>
              <a:rPr sz="2000" spc="100" dirty="0">
                <a:solidFill>
                  <a:srgbClr val="FFFFFF"/>
                </a:solidFill>
                <a:latin typeface="Times New Roman"/>
                <a:cs typeface="Times New Roman"/>
              </a:rPr>
              <a:t>inner </a:t>
            </a:r>
            <a:r>
              <a:rPr sz="2000" spc="75" dirty="0">
                <a:solidFill>
                  <a:srgbClr val="FFFFFF"/>
                </a:solidFill>
                <a:latin typeface="Times New Roman"/>
                <a:cs typeface="Times New Roman"/>
              </a:rPr>
              <a:t>query </a:t>
            </a:r>
            <a:r>
              <a:rPr sz="2000" spc="85" dirty="0">
                <a:solidFill>
                  <a:srgbClr val="FFFFFF"/>
                </a:solidFill>
                <a:latin typeface="Times New Roman"/>
                <a:cs typeface="Times New Roman"/>
              </a:rPr>
              <a:t>statement </a:t>
            </a:r>
            <a:r>
              <a:rPr sz="2000" spc="90" dirty="0">
                <a:solidFill>
                  <a:srgbClr val="FFFFFF"/>
                </a:solidFill>
                <a:latin typeface="Times New Roman"/>
                <a:cs typeface="Times New Roman"/>
              </a:rPr>
              <a:t>should </a:t>
            </a:r>
            <a:r>
              <a:rPr sz="2000" spc="110" dirty="0">
                <a:solidFill>
                  <a:srgbClr val="FFFFFF"/>
                </a:solidFill>
                <a:latin typeface="Times New Roman"/>
                <a:cs typeface="Times New Roman"/>
              </a:rPr>
              <a:t>return the </a:t>
            </a:r>
            <a:r>
              <a:rPr sz="2000" spc="90" dirty="0">
                <a:solidFill>
                  <a:srgbClr val="FFFFFF"/>
                </a:solidFill>
                <a:latin typeface="Times New Roman"/>
                <a:cs typeface="Times New Roman"/>
              </a:rPr>
              <a:t>column  </a:t>
            </a:r>
            <a:r>
              <a:rPr sz="2000" spc="85" dirty="0">
                <a:solidFill>
                  <a:srgbClr val="FFFFFF"/>
                </a:solidFill>
                <a:latin typeface="Times New Roman"/>
                <a:cs typeface="Times New Roman"/>
              </a:rPr>
              <a:t>or</a:t>
            </a:r>
            <a:r>
              <a:rPr sz="2000" spc="-70" dirty="0">
                <a:solidFill>
                  <a:srgbClr val="FFFFFF"/>
                </a:solidFill>
                <a:latin typeface="Times New Roman"/>
                <a:cs typeface="Times New Roman"/>
              </a:rPr>
              <a:t> </a:t>
            </a:r>
            <a:r>
              <a:rPr sz="2000" spc="75" dirty="0">
                <a:solidFill>
                  <a:srgbClr val="FFFFFF"/>
                </a:solidFill>
                <a:latin typeface="Times New Roman"/>
                <a:cs typeface="Times New Roman"/>
              </a:rPr>
              <a:t>columns</a:t>
            </a:r>
            <a:r>
              <a:rPr sz="2000" spc="-60" dirty="0">
                <a:solidFill>
                  <a:srgbClr val="FFFFFF"/>
                </a:solidFill>
                <a:latin typeface="Times New Roman"/>
                <a:cs typeface="Times New Roman"/>
              </a:rPr>
              <a:t> </a:t>
            </a:r>
            <a:r>
              <a:rPr sz="2000" spc="80" dirty="0">
                <a:solidFill>
                  <a:srgbClr val="FFFFFF"/>
                </a:solidFill>
                <a:latin typeface="Times New Roman"/>
                <a:cs typeface="Times New Roman"/>
              </a:rPr>
              <a:t>used</a:t>
            </a:r>
            <a:r>
              <a:rPr sz="2000" spc="-70" dirty="0">
                <a:solidFill>
                  <a:srgbClr val="FFFFFF"/>
                </a:solidFill>
                <a:latin typeface="Times New Roman"/>
                <a:cs typeface="Times New Roman"/>
              </a:rPr>
              <a:t> </a:t>
            </a:r>
            <a:r>
              <a:rPr sz="2000" spc="95" dirty="0">
                <a:solidFill>
                  <a:srgbClr val="FFFFFF"/>
                </a:solidFill>
                <a:latin typeface="Times New Roman"/>
                <a:cs typeface="Times New Roman"/>
              </a:rPr>
              <a:t>in</a:t>
            </a:r>
            <a:r>
              <a:rPr sz="2000" spc="-75" dirty="0">
                <a:solidFill>
                  <a:srgbClr val="FFFFFF"/>
                </a:solidFill>
                <a:latin typeface="Times New Roman"/>
                <a:cs typeface="Times New Roman"/>
              </a:rPr>
              <a:t> </a:t>
            </a:r>
            <a:r>
              <a:rPr sz="2000" spc="110" dirty="0">
                <a:solidFill>
                  <a:srgbClr val="FFFFFF"/>
                </a:solidFill>
                <a:latin typeface="Times New Roman"/>
                <a:cs typeface="Times New Roman"/>
              </a:rPr>
              <a:t>the</a:t>
            </a:r>
            <a:r>
              <a:rPr sz="2000" spc="-70" dirty="0">
                <a:solidFill>
                  <a:srgbClr val="FFFFFF"/>
                </a:solidFill>
                <a:latin typeface="Times New Roman"/>
                <a:cs typeface="Times New Roman"/>
              </a:rPr>
              <a:t> </a:t>
            </a:r>
            <a:r>
              <a:rPr sz="2000" spc="50" dirty="0">
                <a:solidFill>
                  <a:srgbClr val="FFFFFF"/>
                </a:solidFill>
                <a:latin typeface="Times New Roman"/>
                <a:cs typeface="Times New Roman"/>
              </a:rPr>
              <a:t>criteria</a:t>
            </a:r>
            <a:r>
              <a:rPr sz="2000" spc="-70" dirty="0">
                <a:solidFill>
                  <a:srgbClr val="FFFFFF"/>
                </a:solidFill>
                <a:latin typeface="Times New Roman"/>
                <a:cs typeface="Times New Roman"/>
              </a:rPr>
              <a:t> </a:t>
            </a:r>
            <a:r>
              <a:rPr sz="2000" spc="55" dirty="0">
                <a:solidFill>
                  <a:srgbClr val="FFFFFF"/>
                </a:solidFill>
                <a:latin typeface="Times New Roman"/>
                <a:cs typeface="Times New Roman"/>
              </a:rPr>
              <a:t>of</a:t>
            </a:r>
            <a:r>
              <a:rPr sz="2000" spc="-70" dirty="0">
                <a:solidFill>
                  <a:srgbClr val="FFFFFF"/>
                </a:solidFill>
                <a:latin typeface="Times New Roman"/>
                <a:cs typeface="Times New Roman"/>
              </a:rPr>
              <a:t> </a:t>
            </a:r>
            <a:r>
              <a:rPr sz="2000" spc="110" dirty="0">
                <a:solidFill>
                  <a:srgbClr val="FFFFFF"/>
                </a:solidFill>
                <a:latin typeface="Times New Roman"/>
                <a:cs typeface="Times New Roman"/>
              </a:rPr>
              <a:t>the</a:t>
            </a:r>
            <a:r>
              <a:rPr sz="2000" spc="-70" dirty="0">
                <a:solidFill>
                  <a:srgbClr val="FFFFFF"/>
                </a:solidFill>
                <a:latin typeface="Times New Roman"/>
                <a:cs typeface="Times New Roman"/>
              </a:rPr>
              <a:t> </a:t>
            </a:r>
            <a:r>
              <a:rPr sz="2000" spc="95" dirty="0">
                <a:solidFill>
                  <a:srgbClr val="FFFFFF"/>
                </a:solidFill>
                <a:latin typeface="Times New Roman"/>
                <a:cs typeface="Times New Roman"/>
              </a:rPr>
              <a:t>outer</a:t>
            </a:r>
            <a:r>
              <a:rPr sz="2000" spc="-55" dirty="0">
                <a:solidFill>
                  <a:srgbClr val="FFFFFF"/>
                </a:solidFill>
                <a:latin typeface="Times New Roman"/>
                <a:cs typeface="Times New Roman"/>
              </a:rPr>
              <a:t> </a:t>
            </a:r>
            <a:r>
              <a:rPr sz="2000" spc="75" dirty="0">
                <a:solidFill>
                  <a:srgbClr val="FFFFFF"/>
                </a:solidFill>
                <a:latin typeface="Times New Roman"/>
                <a:cs typeface="Times New Roman"/>
              </a:rPr>
              <a:t>query</a:t>
            </a:r>
            <a:r>
              <a:rPr sz="2000" spc="-70" dirty="0">
                <a:solidFill>
                  <a:srgbClr val="FFFFFF"/>
                </a:solidFill>
                <a:latin typeface="Times New Roman"/>
                <a:cs typeface="Times New Roman"/>
              </a:rPr>
              <a:t> </a:t>
            </a:r>
            <a:r>
              <a:rPr sz="2000" spc="75" dirty="0">
                <a:solidFill>
                  <a:srgbClr val="FFFFFF"/>
                </a:solidFill>
                <a:latin typeface="Times New Roman"/>
                <a:cs typeface="Times New Roman"/>
              </a:rPr>
              <a:t>statement.</a:t>
            </a:r>
            <a:endParaRPr sz="2000">
              <a:latin typeface="Times New Roman"/>
              <a:cs typeface="Times New Roman"/>
            </a:endParaRPr>
          </a:p>
        </p:txBody>
      </p:sp>
      <p:pic>
        <p:nvPicPr>
          <p:cNvPr id="5" name="object 5"/>
          <p:cNvPicPr/>
          <p:nvPr/>
        </p:nvPicPr>
        <p:blipFill>
          <a:blip r:embed="rId3" cstate="print"/>
          <a:stretch>
            <a:fillRect/>
          </a:stretch>
        </p:blipFill>
        <p:spPr>
          <a:xfrm>
            <a:off x="2460627" y="4568215"/>
            <a:ext cx="4168773" cy="1972137"/>
          </a:xfrm>
          <a:prstGeom prst="rect">
            <a:avLst/>
          </a:prstGeom>
        </p:spPr>
      </p:pic>
      <p:sp>
        <p:nvSpPr>
          <p:cNvPr id="6" name="object 6"/>
          <p:cNvSpPr txBox="1"/>
          <p:nvPr/>
        </p:nvSpPr>
        <p:spPr>
          <a:xfrm>
            <a:off x="3581400" y="6619240"/>
            <a:ext cx="1929764" cy="238760"/>
          </a:xfrm>
          <a:prstGeom prst="rect">
            <a:avLst/>
          </a:prstGeom>
        </p:spPr>
        <p:txBody>
          <a:bodyPr vert="horz" wrap="square" lIns="0" tIns="12065" rIns="0" bIns="0" rtlCol="0">
            <a:spAutoFit/>
          </a:bodyPr>
          <a:lstStyle/>
          <a:p>
            <a:pPr marL="12700">
              <a:lnSpc>
                <a:spcPct val="100000"/>
              </a:lnSpc>
              <a:spcBef>
                <a:spcPts val="95"/>
              </a:spcBef>
            </a:pPr>
            <a:r>
              <a:rPr sz="1400" b="1" spc="-70" dirty="0">
                <a:latin typeface="Arial"/>
                <a:cs typeface="Arial"/>
              </a:rPr>
              <a:t>Using </a:t>
            </a:r>
            <a:r>
              <a:rPr sz="1400" b="1" spc="-135" dirty="0">
                <a:latin typeface="Arial"/>
                <a:cs typeface="Arial"/>
              </a:rPr>
              <a:t>a </a:t>
            </a:r>
            <a:r>
              <a:rPr sz="1400" b="1" spc="-75" dirty="0">
                <a:latin typeface="Arial"/>
                <a:cs typeface="Arial"/>
              </a:rPr>
              <a:t>Simple</a:t>
            </a:r>
            <a:r>
              <a:rPr sz="1400" b="1" spc="-175" dirty="0">
                <a:latin typeface="Arial"/>
                <a:cs typeface="Arial"/>
              </a:rPr>
              <a:t> </a:t>
            </a:r>
            <a:r>
              <a:rPr sz="1400" b="1" spc="-90" dirty="0">
                <a:latin typeface="Arial"/>
                <a:cs typeface="Arial"/>
              </a:rPr>
              <a:t>Subquery</a:t>
            </a:r>
            <a:endParaRPr sz="1400">
              <a:latin typeface="Arial"/>
              <a:cs typeface="Arial"/>
            </a:endParaRPr>
          </a:p>
        </p:txBody>
      </p:sp>
      <p:sp>
        <p:nvSpPr>
          <p:cNvPr id="8" name="object 8"/>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04" baseline="4629" dirty="0"/>
              <a:t>9/</a:t>
            </a:r>
            <a:r>
              <a:rPr sz="1800" spc="-262" baseline="4629" dirty="0"/>
              <a:t> </a:t>
            </a:r>
            <a:fld id="{81D60167-4931-47E6-BA6A-407CBD079E47}" type="slidenum">
              <a:rPr sz="1200" spc="15" dirty="0"/>
              <a:t>24</a:t>
            </a:fld>
            <a:endParaRPr sz="1200"/>
          </a:p>
        </p:txBody>
      </p:sp>
      <p:sp>
        <p:nvSpPr>
          <p:cNvPr id="9" name="object 9"/>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10" name="Rounded Rectangle 19">
            <a:extLst>
              <a:ext uri="{FF2B5EF4-FFF2-40B4-BE49-F238E27FC236}">
                <a16:creationId xmlns:a16="http://schemas.microsoft.com/office/drawing/2014/main" id="{20036E4D-0D3B-4E8B-BB57-7EF90B4FC5B0}"/>
              </a:ext>
            </a:extLst>
          </p:cNvPr>
          <p:cNvSpPr/>
          <p:nvPr/>
        </p:nvSpPr>
        <p:spPr>
          <a:xfrm>
            <a:off x="381000" y="2944124"/>
            <a:ext cx="1066800" cy="381000"/>
          </a:xfrm>
          <a:prstGeom prst="roundRect">
            <a:avLst/>
          </a:prstGeom>
        </p:spPr>
        <p:style>
          <a:lnRef idx="0">
            <a:schemeClr val="accent5"/>
          </a:lnRef>
          <a:fillRef idx="3">
            <a:schemeClr val="accent5"/>
          </a:fillRef>
          <a:effectRef idx="3">
            <a:schemeClr val="accent5"/>
          </a:effectRef>
          <a:fontRef idx="minor">
            <a:schemeClr val="lt1"/>
          </a:fontRef>
        </p:style>
        <p:txBody>
          <a:bodyPr rtlCol="0" anchor="ctr"/>
          <a:lstStyle/>
          <a:p>
            <a:r>
              <a:rPr lang="en-US" sz="1800" b="1" dirty="0"/>
              <a:t>Syntax:</a:t>
            </a:r>
          </a:p>
        </p:txBody>
      </p:sp>
      <p:sp>
        <p:nvSpPr>
          <p:cNvPr id="11" name="TextBox 10">
            <a:extLst>
              <a:ext uri="{FF2B5EF4-FFF2-40B4-BE49-F238E27FC236}">
                <a16:creationId xmlns:a16="http://schemas.microsoft.com/office/drawing/2014/main" id="{B1B88198-4CA1-4D1D-B447-5C0AE28A947D}"/>
              </a:ext>
            </a:extLst>
          </p:cNvPr>
          <p:cNvSpPr txBox="1"/>
          <p:nvPr/>
        </p:nvSpPr>
        <p:spPr>
          <a:xfrm>
            <a:off x="1569846" y="2898457"/>
            <a:ext cx="7248243" cy="830997"/>
          </a:xfrm>
          <a:prstGeom prst="rect">
            <a:avLst/>
          </a:prstGeom>
          <a:ln/>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1600"/>
              <a:t>SELECT </a:t>
            </a:r>
            <a:r>
              <a:rPr lang="en-US" sz="1600" dirty="0"/>
              <a:t>&lt;</a:t>
            </a:r>
            <a:r>
              <a:rPr lang="en-US" sz="1600" dirty="0" err="1"/>
              <a:t>ColumnName</a:t>
            </a:r>
            <a:r>
              <a:rPr lang="en-US" sz="1600" dirty="0"/>
              <a:t>&gt; FROM &lt;table&gt;</a:t>
            </a:r>
          </a:p>
          <a:p>
            <a:r>
              <a:rPr lang="en-US" sz="1600" dirty="0"/>
              <a:t>   WHERE &lt;</a:t>
            </a:r>
            <a:r>
              <a:rPr lang="en-US" sz="1600" dirty="0" err="1"/>
              <a:t>ColumnName</a:t>
            </a:r>
            <a:r>
              <a:rPr lang="en-US" sz="1600" dirty="0"/>
              <a:t>&gt; = </a:t>
            </a:r>
          </a:p>
          <a:p>
            <a:r>
              <a:rPr lang="en-US" sz="1600" dirty="0"/>
              <a:t>    (SELECT &lt;</a:t>
            </a:r>
            <a:r>
              <a:rPr lang="en-US" sz="1600" dirty="0" err="1"/>
              <a:t>ColumnName</a:t>
            </a:r>
            <a:r>
              <a:rPr lang="en-US" sz="1600" dirty="0"/>
              <a:t>&gt; FROM &lt;Table&gt; WHERE &lt;</a:t>
            </a:r>
            <a:r>
              <a:rPr lang="en-US" sz="1600" dirty="0" err="1"/>
              <a:t>ColumnName</a:t>
            </a:r>
            <a:r>
              <a:rPr lang="en-US" sz="1600" dirty="0"/>
              <a:t>&gt; = &lt;</a:t>
            </a:r>
            <a:r>
              <a:rPr lang="en-US" sz="1600"/>
              <a:t>Condition&gt;&gt;)</a:t>
            </a:r>
            <a:endParaRPr lang="en-US" sz="1600" dirty="0"/>
          </a:p>
        </p:txBody>
      </p:sp>
      <p:sp>
        <p:nvSpPr>
          <p:cNvPr id="12" name="TextBox 11">
            <a:extLst>
              <a:ext uri="{FF2B5EF4-FFF2-40B4-BE49-F238E27FC236}">
                <a16:creationId xmlns:a16="http://schemas.microsoft.com/office/drawing/2014/main" id="{C87F6D10-2EAF-4B96-858C-58ED5796F174}"/>
              </a:ext>
            </a:extLst>
          </p:cNvPr>
          <p:cNvSpPr txBox="1"/>
          <p:nvPr/>
        </p:nvSpPr>
        <p:spPr>
          <a:xfrm>
            <a:off x="190500" y="3997563"/>
            <a:ext cx="1447800" cy="369332"/>
          </a:xfrm>
          <a:prstGeom prst="rect">
            <a:avLst/>
          </a:prstGeom>
          <a:noFill/>
        </p:spPr>
        <p:txBody>
          <a:bodyPr wrap="square" rtlCol="0">
            <a:spAutoFit/>
          </a:bodyPr>
          <a:lstStyle/>
          <a:p>
            <a:pPr marL="341313" indent="-341313">
              <a:lnSpc>
                <a:spcPct val="100000"/>
              </a:lnSpc>
              <a:spcBef>
                <a:spcPts val="0"/>
              </a:spcBef>
              <a:buFont typeface="Wingdings" pitchFamily="2" charset="2"/>
              <a:buChar char="Ø"/>
            </a:pPr>
            <a:r>
              <a:rPr lang="en-US" sz="1800" dirty="0">
                <a:latin typeface="Calibri" pitchFamily="34" charset="0"/>
                <a:cs typeface="Calibri" pitchFamily="34" charset="0"/>
              </a:rPr>
              <a:t>Example</a:t>
            </a:r>
          </a:p>
        </p:txBody>
      </p:sp>
      <p:sp>
        <p:nvSpPr>
          <p:cNvPr id="13" name="TextBox 12">
            <a:extLst>
              <a:ext uri="{FF2B5EF4-FFF2-40B4-BE49-F238E27FC236}">
                <a16:creationId xmlns:a16="http://schemas.microsoft.com/office/drawing/2014/main" id="{FF2BE0B0-E0FE-4C45-8FA4-D120130D5786}"/>
              </a:ext>
            </a:extLst>
          </p:cNvPr>
          <p:cNvSpPr txBox="1"/>
          <p:nvPr/>
        </p:nvSpPr>
        <p:spPr>
          <a:xfrm>
            <a:off x="1543720" y="3836357"/>
            <a:ext cx="7248243" cy="646331"/>
          </a:xfrm>
          <a:prstGeom prst="rect">
            <a:avLst/>
          </a:prstGeom>
          <a:ln/>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a:t>SELECT </a:t>
            </a:r>
            <a:r>
              <a:rPr lang="en-US" dirty="0" err="1"/>
              <a:t>DueDate</a:t>
            </a:r>
            <a:r>
              <a:rPr lang="en-US" dirty="0"/>
              <a:t>, </a:t>
            </a:r>
            <a:r>
              <a:rPr lang="en-US" dirty="0" err="1"/>
              <a:t>ShipDate</a:t>
            </a:r>
            <a:r>
              <a:rPr lang="en-US" dirty="0"/>
              <a:t> FROM </a:t>
            </a:r>
            <a:r>
              <a:rPr lang="en-US" dirty="0" err="1"/>
              <a:t>SalesOrderHeader</a:t>
            </a:r>
            <a:endParaRPr lang="en-US" dirty="0"/>
          </a:p>
          <a:p>
            <a:r>
              <a:rPr lang="en-US" dirty="0"/>
              <a:t>   WHERE </a:t>
            </a:r>
            <a:r>
              <a:rPr lang="en-US" dirty="0" err="1"/>
              <a:t>OrderDate</a:t>
            </a:r>
            <a:r>
              <a:rPr lang="en-US" dirty="0"/>
              <a:t> =   (SELECT MAX(</a:t>
            </a:r>
            <a:r>
              <a:rPr lang="en-US" dirty="0" err="1"/>
              <a:t>OrderDate</a:t>
            </a:r>
            <a:r>
              <a:rPr lang="en-US" dirty="0"/>
              <a:t>) FROM </a:t>
            </a:r>
            <a:r>
              <a:rPr lang="en-US" err="1"/>
              <a:t>SalesOrderHeader</a:t>
            </a:r>
            <a:r>
              <a:rPr lang="en-US"/>
              <a:t>)</a:t>
            </a:r>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
            <a:ext cx="3240405" cy="635635"/>
          </a:xfrm>
          <a:prstGeom prst="rect">
            <a:avLst/>
          </a:prstGeom>
        </p:spPr>
        <p:txBody>
          <a:bodyPr vert="horz" wrap="square" lIns="0" tIns="12700" rIns="0" bIns="0" rtlCol="0">
            <a:spAutoFit/>
          </a:bodyPr>
          <a:lstStyle/>
          <a:p>
            <a:pPr marL="12700">
              <a:lnSpc>
                <a:spcPct val="100000"/>
              </a:lnSpc>
              <a:spcBef>
                <a:spcPts val="100"/>
              </a:spcBef>
            </a:pPr>
            <a:r>
              <a:rPr spc="155" dirty="0"/>
              <a:t>Subqueries</a:t>
            </a:r>
            <a:r>
              <a:rPr spc="-204" dirty="0"/>
              <a:t> </a:t>
            </a:r>
            <a:r>
              <a:rPr spc="-80" dirty="0"/>
              <a:t>2-2</a:t>
            </a:r>
          </a:p>
        </p:txBody>
      </p:sp>
      <p:sp>
        <p:nvSpPr>
          <p:cNvPr id="3" name="object 3"/>
          <p:cNvSpPr/>
          <p:nvPr/>
        </p:nvSpPr>
        <p:spPr>
          <a:xfrm>
            <a:off x="198881" y="1013460"/>
            <a:ext cx="8945245" cy="831850"/>
          </a:xfrm>
          <a:custGeom>
            <a:avLst/>
            <a:gdLst/>
            <a:ahLst/>
            <a:cxnLst/>
            <a:rect l="l" t="t" r="r" b="b"/>
            <a:pathLst>
              <a:path w="8945245" h="831850">
                <a:moveTo>
                  <a:pt x="8945118" y="0"/>
                </a:moveTo>
                <a:lnTo>
                  <a:pt x="0" y="0"/>
                </a:lnTo>
                <a:lnTo>
                  <a:pt x="0" y="831341"/>
                </a:lnTo>
                <a:lnTo>
                  <a:pt x="8945118" y="831341"/>
                </a:lnTo>
                <a:lnTo>
                  <a:pt x="8945118" y="0"/>
                </a:lnTo>
                <a:close/>
              </a:path>
            </a:pathLst>
          </a:custGeom>
          <a:solidFill>
            <a:srgbClr val="FFFFFF"/>
          </a:solidFill>
        </p:spPr>
        <p:txBody>
          <a:bodyPr wrap="square" lIns="0" tIns="0" rIns="0" bIns="0" rtlCol="0"/>
          <a:lstStyle/>
          <a:p>
            <a:endParaRPr/>
          </a:p>
        </p:txBody>
      </p:sp>
      <p:sp>
        <p:nvSpPr>
          <p:cNvPr id="4" name="object 4"/>
          <p:cNvSpPr txBox="1"/>
          <p:nvPr/>
        </p:nvSpPr>
        <p:spPr>
          <a:xfrm>
            <a:off x="277622" y="986535"/>
            <a:ext cx="8789035" cy="756920"/>
          </a:xfrm>
          <a:prstGeom prst="rect">
            <a:avLst/>
          </a:prstGeom>
        </p:spPr>
        <p:txBody>
          <a:bodyPr vert="horz" wrap="square" lIns="0" tIns="12700" rIns="0" bIns="0" rtlCol="0">
            <a:spAutoFit/>
          </a:bodyPr>
          <a:lstStyle/>
          <a:p>
            <a:pPr marL="12700" marR="5080">
              <a:lnSpc>
                <a:spcPct val="100000"/>
              </a:lnSpc>
              <a:spcBef>
                <a:spcPts val="100"/>
              </a:spcBef>
              <a:tabLst>
                <a:tab pos="944244" algn="l"/>
                <a:tab pos="1457960" algn="l"/>
                <a:tab pos="2486025" algn="l"/>
                <a:tab pos="3796665" algn="l"/>
                <a:tab pos="4281805" algn="l"/>
                <a:tab pos="5150485" algn="l"/>
                <a:tab pos="6148070" algn="l"/>
                <a:tab pos="6456680" algn="l"/>
                <a:tab pos="7840980" algn="l"/>
                <a:tab pos="8466455" algn="l"/>
              </a:tabLst>
            </a:pPr>
            <a:r>
              <a:rPr sz="2400" spc="30" dirty="0">
                <a:latin typeface="Times New Roman"/>
                <a:cs typeface="Times New Roman"/>
              </a:rPr>
              <a:t>Based	</a:t>
            </a:r>
            <a:r>
              <a:rPr sz="2400" spc="165" dirty="0">
                <a:latin typeface="Times New Roman"/>
                <a:cs typeface="Times New Roman"/>
              </a:rPr>
              <a:t>on	</a:t>
            </a:r>
            <a:r>
              <a:rPr sz="2400" spc="70" dirty="0">
                <a:latin typeface="Times New Roman"/>
                <a:cs typeface="Times New Roman"/>
              </a:rPr>
              <a:t>results	</a:t>
            </a:r>
            <a:r>
              <a:rPr sz="2400" spc="120" dirty="0">
                <a:latin typeface="Times New Roman"/>
                <a:cs typeface="Times New Roman"/>
              </a:rPr>
              <a:t>return</a:t>
            </a:r>
            <a:r>
              <a:rPr sz="2400" spc="125" dirty="0">
                <a:latin typeface="Times New Roman"/>
                <a:cs typeface="Times New Roman"/>
              </a:rPr>
              <a:t>e</a:t>
            </a:r>
            <a:r>
              <a:rPr sz="2400" spc="155" dirty="0">
                <a:latin typeface="Times New Roman"/>
                <a:cs typeface="Times New Roman"/>
              </a:rPr>
              <a:t>d</a:t>
            </a:r>
            <a:r>
              <a:rPr sz="2400" dirty="0">
                <a:latin typeface="Times New Roman"/>
                <a:cs typeface="Times New Roman"/>
              </a:rPr>
              <a:t>	</a:t>
            </a:r>
            <a:r>
              <a:rPr sz="2400" spc="50" dirty="0">
                <a:latin typeface="Times New Roman"/>
                <a:cs typeface="Times New Roman"/>
              </a:rPr>
              <a:t>by</a:t>
            </a:r>
            <a:r>
              <a:rPr sz="2400" dirty="0">
                <a:latin typeface="Times New Roman"/>
                <a:cs typeface="Times New Roman"/>
              </a:rPr>
              <a:t>	</a:t>
            </a:r>
            <a:r>
              <a:rPr sz="2400" spc="120" dirty="0">
                <a:latin typeface="Times New Roman"/>
                <a:cs typeface="Times New Roman"/>
              </a:rPr>
              <a:t>inn</a:t>
            </a:r>
            <a:r>
              <a:rPr sz="2400" spc="114" dirty="0">
                <a:latin typeface="Times New Roman"/>
                <a:cs typeface="Times New Roman"/>
              </a:rPr>
              <a:t>e</a:t>
            </a:r>
            <a:r>
              <a:rPr sz="2400" spc="100" dirty="0">
                <a:latin typeface="Times New Roman"/>
                <a:cs typeface="Times New Roman"/>
              </a:rPr>
              <a:t>r</a:t>
            </a:r>
            <a:r>
              <a:rPr sz="2400" dirty="0">
                <a:latin typeface="Times New Roman"/>
                <a:cs typeface="Times New Roman"/>
              </a:rPr>
              <a:t>	</a:t>
            </a:r>
            <a:r>
              <a:rPr sz="2400" spc="75" dirty="0">
                <a:latin typeface="Times New Roman"/>
                <a:cs typeface="Times New Roman"/>
              </a:rPr>
              <a:t>query,</a:t>
            </a:r>
            <a:r>
              <a:rPr sz="2400" dirty="0">
                <a:latin typeface="Times New Roman"/>
                <a:cs typeface="Times New Roman"/>
              </a:rPr>
              <a:t>	</a:t>
            </a:r>
            <a:r>
              <a:rPr sz="2400" spc="40" dirty="0">
                <a:latin typeface="Times New Roman"/>
                <a:cs typeface="Times New Roman"/>
              </a:rPr>
              <a:t>a</a:t>
            </a:r>
            <a:r>
              <a:rPr sz="2400" dirty="0">
                <a:latin typeface="Times New Roman"/>
                <a:cs typeface="Times New Roman"/>
              </a:rPr>
              <a:t>	</a:t>
            </a:r>
            <a:r>
              <a:rPr sz="2400" spc="95" dirty="0">
                <a:latin typeface="Times New Roman"/>
                <a:cs typeface="Times New Roman"/>
              </a:rPr>
              <a:t>su</a:t>
            </a:r>
            <a:r>
              <a:rPr sz="2400" spc="110" dirty="0">
                <a:latin typeface="Times New Roman"/>
                <a:cs typeface="Times New Roman"/>
              </a:rPr>
              <a:t>b</a:t>
            </a:r>
            <a:r>
              <a:rPr sz="2400" spc="90" dirty="0">
                <a:latin typeface="Times New Roman"/>
                <a:cs typeface="Times New Roman"/>
              </a:rPr>
              <a:t>query</a:t>
            </a:r>
            <a:r>
              <a:rPr sz="2400" dirty="0">
                <a:latin typeface="Times New Roman"/>
                <a:cs typeface="Times New Roman"/>
              </a:rPr>
              <a:t>	</a:t>
            </a:r>
            <a:r>
              <a:rPr sz="2400" spc="15" dirty="0">
                <a:latin typeface="Times New Roman"/>
                <a:cs typeface="Times New Roman"/>
              </a:rPr>
              <a:t>c</a:t>
            </a:r>
            <a:r>
              <a:rPr sz="2400" spc="125" dirty="0">
                <a:latin typeface="Times New Roman"/>
                <a:cs typeface="Times New Roman"/>
              </a:rPr>
              <a:t>an</a:t>
            </a:r>
            <a:r>
              <a:rPr sz="2400" dirty="0">
                <a:latin typeface="Times New Roman"/>
                <a:cs typeface="Times New Roman"/>
              </a:rPr>
              <a:t>	</a:t>
            </a:r>
            <a:r>
              <a:rPr sz="2400" spc="60" dirty="0">
                <a:latin typeface="Times New Roman"/>
                <a:cs typeface="Times New Roman"/>
              </a:rPr>
              <a:t>be  </a:t>
            </a:r>
            <a:r>
              <a:rPr sz="2400" spc="30" dirty="0">
                <a:latin typeface="Times New Roman"/>
                <a:cs typeface="Times New Roman"/>
              </a:rPr>
              <a:t>classified</a:t>
            </a:r>
            <a:r>
              <a:rPr sz="2400" spc="-90" dirty="0">
                <a:latin typeface="Times New Roman"/>
                <a:cs typeface="Times New Roman"/>
              </a:rPr>
              <a:t> </a:t>
            </a:r>
            <a:r>
              <a:rPr sz="2400" spc="20" dirty="0">
                <a:latin typeface="Times New Roman"/>
                <a:cs typeface="Times New Roman"/>
              </a:rPr>
              <a:t>as</a:t>
            </a:r>
            <a:r>
              <a:rPr sz="2400" spc="-90" dirty="0">
                <a:latin typeface="Times New Roman"/>
                <a:cs typeface="Times New Roman"/>
              </a:rPr>
              <a:t> </a:t>
            </a:r>
            <a:r>
              <a:rPr sz="2400" spc="40" dirty="0">
                <a:latin typeface="Times New Roman"/>
                <a:cs typeface="Times New Roman"/>
              </a:rPr>
              <a:t>a</a:t>
            </a:r>
            <a:r>
              <a:rPr sz="2400" spc="-85" dirty="0">
                <a:latin typeface="Times New Roman"/>
                <a:cs typeface="Times New Roman"/>
              </a:rPr>
              <a:t> </a:t>
            </a:r>
            <a:r>
              <a:rPr sz="2400" b="1" spc="-200" dirty="0">
                <a:solidFill>
                  <a:srgbClr val="00AFEF"/>
                </a:solidFill>
                <a:latin typeface="Arial"/>
                <a:cs typeface="Arial"/>
              </a:rPr>
              <a:t>scalar</a:t>
            </a:r>
            <a:r>
              <a:rPr sz="2400" b="1" spc="-195" dirty="0">
                <a:solidFill>
                  <a:srgbClr val="00AFEF"/>
                </a:solidFill>
                <a:latin typeface="Arial"/>
                <a:cs typeface="Arial"/>
              </a:rPr>
              <a:t> </a:t>
            </a:r>
            <a:r>
              <a:rPr sz="2400" b="1" spc="-175" dirty="0">
                <a:solidFill>
                  <a:srgbClr val="00AFEF"/>
                </a:solidFill>
                <a:latin typeface="Arial"/>
                <a:cs typeface="Arial"/>
              </a:rPr>
              <a:t>subquery</a:t>
            </a:r>
            <a:r>
              <a:rPr sz="2400" b="1" spc="-195" dirty="0">
                <a:solidFill>
                  <a:srgbClr val="00AFEF"/>
                </a:solidFill>
                <a:latin typeface="Arial"/>
                <a:cs typeface="Arial"/>
              </a:rPr>
              <a:t> </a:t>
            </a:r>
            <a:r>
              <a:rPr sz="2400" spc="105" dirty="0">
                <a:latin typeface="Times New Roman"/>
                <a:cs typeface="Times New Roman"/>
              </a:rPr>
              <a:t>or</a:t>
            </a:r>
            <a:r>
              <a:rPr sz="2400" spc="-90" dirty="0">
                <a:latin typeface="Times New Roman"/>
                <a:cs typeface="Times New Roman"/>
              </a:rPr>
              <a:t> </a:t>
            </a:r>
            <a:r>
              <a:rPr sz="2400" spc="40" dirty="0">
                <a:latin typeface="Times New Roman"/>
                <a:cs typeface="Times New Roman"/>
              </a:rPr>
              <a:t>a</a:t>
            </a:r>
            <a:r>
              <a:rPr sz="2400" spc="-85" dirty="0">
                <a:latin typeface="Times New Roman"/>
                <a:cs typeface="Times New Roman"/>
              </a:rPr>
              <a:t> </a:t>
            </a:r>
            <a:r>
              <a:rPr sz="2400" b="1" spc="-90" dirty="0">
                <a:solidFill>
                  <a:srgbClr val="00AFEF"/>
                </a:solidFill>
                <a:latin typeface="Arial"/>
                <a:cs typeface="Arial"/>
              </a:rPr>
              <a:t>multi-valued</a:t>
            </a:r>
            <a:r>
              <a:rPr sz="2400" b="1" spc="-210" dirty="0">
                <a:solidFill>
                  <a:srgbClr val="00AFEF"/>
                </a:solidFill>
                <a:latin typeface="Arial"/>
                <a:cs typeface="Arial"/>
              </a:rPr>
              <a:t> </a:t>
            </a:r>
            <a:r>
              <a:rPr sz="2400" b="1" spc="-160" dirty="0">
                <a:solidFill>
                  <a:srgbClr val="00AFEF"/>
                </a:solidFill>
                <a:latin typeface="Arial"/>
                <a:cs typeface="Arial"/>
              </a:rPr>
              <a:t>subquery</a:t>
            </a:r>
            <a:r>
              <a:rPr sz="2400" spc="-160" dirty="0">
                <a:latin typeface="Times New Roman"/>
                <a:cs typeface="Times New Roman"/>
              </a:rPr>
              <a:t>:</a:t>
            </a:r>
            <a:endParaRPr sz="24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04" baseline="4629" dirty="0"/>
              <a:t>9/</a:t>
            </a:r>
            <a:r>
              <a:rPr sz="1800" spc="-262" baseline="4629" dirty="0"/>
              <a:t> </a:t>
            </a:r>
            <a:fld id="{81D60167-4931-47E6-BA6A-407CBD079E47}" type="slidenum">
              <a:rPr sz="1200" spc="15" dirty="0"/>
              <a:t>25</a:t>
            </a:fld>
            <a:endParaRPr sz="1200"/>
          </a:p>
        </p:txBody>
      </p:sp>
      <p:sp>
        <p:nvSpPr>
          <p:cNvPr id="9" name="object 9"/>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5" name="object 5"/>
          <p:cNvSpPr txBox="1"/>
          <p:nvPr/>
        </p:nvSpPr>
        <p:spPr>
          <a:xfrm>
            <a:off x="434720" y="2550795"/>
            <a:ext cx="3125470" cy="1875789"/>
          </a:xfrm>
          <a:prstGeom prst="rect">
            <a:avLst/>
          </a:prstGeom>
          <a:solidFill>
            <a:srgbClr val="C0504D"/>
          </a:solidFill>
          <a:ln w="25146">
            <a:solidFill>
              <a:srgbClr val="FFFFFF"/>
            </a:solidFill>
          </a:ln>
        </p:spPr>
        <p:txBody>
          <a:bodyPr vert="horz" wrap="square" lIns="0" tIns="201295" rIns="0" bIns="0" rtlCol="0">
            <a:spAutoFit/>
          </a:bodyPr>
          <a:lstStyle/>
          <a:p>
            <a:pPr marL="152400" marR="147955" algn="ctr">
              <a:lnSpc>
                <a:spcPct val="91100"/>
              </a:lnSpc>
              <a:spcBef>
                <a:spcPts val="1585"/>
              </a:spcBef>
            </a:pPr>
            <a:r>
              <a:rPr sz="2000" spc="40" dirty="0">
                <a:solidFill>
                  <a:srgbClr val="FFFFFF"/>
                </a:solidFill>
                <a:latin typeface="Times New Roman"/>
                <a:cs typeface="Times New Roman"/>
              </a:rPr>
              <a:t>Scalar</a:t>
            </a:r>
            <a:r>
              <a:rPr sz="2000" spc="-100" dirty="0">
                <a:solidFill>
                  <a:srgbClr val="FFFFFF"/>
                </a:solidFill>
                <a:latin typeface="Times New Roman"/>
                <a:cs typeface="Times New Roman"/>
              </a:rPr>
              <a:t> </a:t>
            </a:r>
            <a:r>
              <a:rPr sz="2000" spc="70" dirty="0">
                <a:solidFill>
                  <a:srgbClr val="FFFFFF"/>
                </a:solidFill>
                <a:latin typeface="Times New Roman"/>
                <a:cs typeface="Times New Roman"/>
              </a:rPr>
              <a:t>subqueries</a:t>
            </a:r>
            <a:r>
              <a:rPr sz="2000" spc="-90" dirty="0">
                <a:solidFill>
                  <a:srgbClr val="FFFFFF"/>
                </a:solidFill>
                <a:latin typeface="Times New Roman"/>
                <a:cs typeface="Times New Roman"/>
              </a:rPr>
              <a:t> </a:t>
            </a:r>
            <a:r>
              <a:rPr sz="2000" spc="110" dirty="0">
                <a:solidFill>
                  <a:srgbClr val="FFFFFF"/>
                </a:solidFill>
                <a:latin typeface="Times New Roman"/>
                <a:cs typeface="Times New Roman"/>
              </a:rPr>
              <a:t>return</a:t>
            </a:r>
            <a:r>
              <a:rPr sz="2000" spc="-90" dirty="0">
                <a:solidFill>
                  <a:srgbClr val="FFFFFF"/>
                </a:solidFill>
                <a:latin typeface="Times New Roman"/>
                <a:cs typeface="Times New Roman"/>
              </a:rPr>
              <a:t> </a:t>
            </a:r>
            <a:r>
              <a:rPr sz="2000" spc="30" dirty="0">
                <a:solidFill>
                  <a:srgbClr val="FFFFFF"/>
                </a:solidFill>
                <a:latin typeface="Times New Roman"/>
                <a:cs typeface="Times New Roman"/>
              </a:rPr>
              <a:t>a  </a:t>
            </a:r>
            <a:r>
              <a:rPr sz="2000" spc="35" dirty="0">
                <a:solidFill>
                  <a:srgbClr val="FFFFFF"/>
                </a:solidFill>
                <a:latin typeface="Times New Roman"/>
                <a:cs typeface="Times New Roman"/>
              </a:rPr>
              <a:t>single </a:t>
            </a:r>
            <a:r>
              <a:rPr sz="2000" spc="45" dirty="0">
                <a:solidFill>
                  <a:srgbClr val="FFFFFF"/>
                </a:solidFill>
                <a:latin typeface="Times New Roman"/>
                <a:cs typeface="Times New Roman"/>
              </a:rPr>
              <a:t>value. </a:t>
            </a:r>
            <a:r>
              <a:rPr sz="2000" spc="60" dirty="0">
                <a:solidFill>
                  <a:srgbClr val="FFFFFF"/>
                </a:solidFill>
                <a:latin typeface="Times New Roman"/>
                <a:cs typeface="Times New Roman"/>
              </a:rPr>
              <a:t>Here, </a:t>
            </a:r>
            <a:r>
              <a:rPr sz="2000" spc="110" dirty="0">
                <a:solidFill>
                  <a:srgbClr val="FFFFFF"/>
                </a:solidFill>
                <a:latin typeface="Times New Roman"/>
                <a:cs typeface="Times New Roman"/>
              </a:rPr>
              <a:t>the  </a:t>
            </a:r>
            <a:r>
              <a:rPr sz="2000" spc="95" dirty="0">
                <a:solidFill>
                  <a:srgbClr val="FFFFFF"/>
                </a:solidFill>
                <a:latin typeface="Times New Roman"/>
                <a:cs typeface="Times New Roman"/>
              </a:rPr>
              <a:t>outer </a:t>
            </a:r>
            <a:r>
              <a:rPr sz="2000" spc="75" dirty="0">
                <a:solidFill>
                  <a:srgbClr val="FFFFFF"/>
                </a:solidFill>
                <a:latin typeface="Times New Roman"/>
                <a:cs typeface="Times New Roman"/>
              </a:rPr>
              <a:t>query </a:t>
            </a:r>
            <a:r>
              <a:rPr sz="2000" spc="95" dirty="0">
                <a:solidFill>
                  <a:srgbClr val="FFFFFF"/>
                </a:solidFill>
                <a:latin typeface="Times New Roman"/>
                <a:cs typeface="Times New Roman"/>
              </a:rPr>
              <a:t>must </a:t>
            </a:r>
            <a:r>
              <a:rPr sz="2000" spc="65" dirty="0">
                <a:solidFill>
                  <a:srgbClr val="FFFFFF"/>
                </a:solidFill>
                <a:latin typeface="Times New Roman"/>
                <a:cs typeface="Times New Roman"/>
              </a:rPr>
              <a:t>be  </a:t>
            </a:r>
            <a:r>
              <a:rPr sz="2000" spc="85" dirty="0">
                <a:solidFill>
                  <a:srgbClr val="FFFFFF"/>
                </a:solidFill>
                <a:latin typeface="Times New Roman"/>
                <a:cs typeface="Times New Roman"/>
              </a:rPr>
              <a:t>written</a:t>
            </a:r>
            <a:r>
              <a:rPr sz="2000" spc="-70" dirty="0">
                <a:solidFill>
                  <a:srgbClr val="FFFFFF"/>
                </a:solidFill>
                <a:latin typeface="Times New Roman"/>
                <a:cs typeface="Times New Roman"/>
              </a:rPr>
              <a:t> </a:t>
            </a:r>
            <a:r>
              <a:rPr sz="2000" spc="110" dirty="0">
                <a:solidFill>
                  <a:srgbClr val="FFFFFF"/>
                </a:solidFill>
                <a:latin typeface="Times New Roman"/>
                <a:cs typeface="Times New Roman"/>
              </a:rPr>
              <a:t>to</a:t>
            </a:r>
            <a:r>
              <a:rPr sz="2000" spc="-75" dirty="0">
                <a:solidFill>
                  <a:srgbClr val="FFFFFF"/>
                </a:solidFill>
                <a:latin typeface="Times New Roman"/>
                <a:cs typeface="Times New Roman"/>
              </a:rPr>
              <a:t> </a:t>
            </a:r>
            <a:r>
              <a:rPr sz="2000" spc="50" dirty="0">
                <a:solidFill>
                  <a:srgbClr val="FFFFFF"/>
                </a:solidFill>
                <a:latin typeface="Times New Roman"/>
                <a:cs typeface="Times New Roman"/>
              </a:rPr>
              <a:t>process</a:t>
            </a:r>
            <a:r>
              <a:rPr sz="2000" spc="-75" dirty="0">
                <a:solidFill>
                  <a:srgbClr val="FFFFFF"/>
                </a:solidFill>
                <a:latin typeface="Times New Roman"/>
                <a:cs typeface="Times New Roman"/>
              </a:rPr>
              <a:t> </a:t>
            </a:r>
            <a:r>
              <a:rPr sz="2000" spc="30" dirty="0">
                <a:solidFill>
                  <a:srgbClr val="FFFFFF"/>
                </a:solidFill>
                <a:latin typeface="Times New Roman"/>
                <a:cs typeface="Times New Roman"/>
              </a:rPr>
              <a:t>a</a:t>
            </a:r>
            <a:r>
              <a:rPr sz="2000" spc="-90" dirty="0">
                <a:solidFill>
                  <a:srgbClr val="FFFFFF"/>
                </a:solidFill>
                <a:latin typeface="Times New Roman"/>
                <a:cs typeface="Times New Roman"/>
              </a:rPr>
              <a:t> </a:t>
            </a:r>
            <a:r>
              <a:rPr sz="2000" spc="35" dirty="0">
                <a:solidFill>
                  <a:srgbClr val="FFFFFF"/>
                </a:solidFill>
                <a:latin typeface="Times New Roman"/>
                <a:cs typeface="Times New Roman"/>
              </a:rPr>
              <a:t>single  </a:t>
            </a:r>
            <a:r>
              <a:rPr sz="2000" spc="55" dirty="0">
                <a:solidFill>
                  <a:srgbClr val="FFFFFF"/>
                </a:solidFill>
                <a:latin typeface="Times New Roman"/>
                <a:cs typeface="Times New Roman"/>
              </a:rPr>
              <a:t>result.</a:t>
            </a:r>
            <a:endParaRPr sz="2000">
              <a:latin typeface="Times New Roman"/>
              <a:cs typeface="Times New Roman"/>
            </a:endParaRPr>
          </a:p>
        </p:txBody>
      </p:sp>
      <p:sp>
        <p:nvSpPr>
          <p:cNvPr id="6" name="object 6"/>
          <p:cNvSpPr txBox="1"/>
          <p:nvPr/>
        </p:nvSpPr>
        <p:spPr>
          <a:xfrm>
            <a:off x="5061584" y="2550795"/>
            <a:ext cx="3126105" cy="1875789"/>
          </a:xfrm>
          <a:prstGeom prst="rect">
            <a:avLst/>
          </a:prstGeom>
          <a:solidFill>
            <a:srgbClr val="00AF50"/>
          </a:solidFill>
          <a:ln w="25146">
            <a:solidFill>
              <a:srgbClr val="FFFFFF"/>
            </a:solidFill>
          </a:ln>
        </p:spPr>
        <p:txBody>
          <a:bodyPr vert="horz" wrap="square" lIns="0" tIns="71755" rIns="0" bIns="0" rtlCol="0">
            <a:spAutoFit/>
          </a:bodyPr>
          <a:lstStyle/>
          <a:p>
            <a:pPr marL="133350" marR="127000" indent="-635" algn="ctr">
              <a:lnSpc>
                <a:spcPts val="2160"/>
              </a:lnSpc>
              <a:spcBef>
                <a:spcPts val="565"/>
              </a:spcBef>
            </a:pPr>
            <a:r>
              <a:rPr sz="2000" spc="60" dirty="0">
                <a:solidFill>
                  <a:srgbClr val="FFFFFF"/>
                </a:solidFill>
                <a:latin typeface="Times New Roman"/>
                <a:cs typeface="Times New Roman"/>
              </a:rPr>
              <a:t>Multi-valued </a:t>
            </a:r>
            <a:r>
              <a:rPr sz="2000" spc="70" dirty="0">
                <a:solidFill>
                  <a:srgbClr val="FFFFFF"/>
                </a:solidFill>
                <a:latin typeface="Times New Roman"/>
                <a:cs typeface="Times New Roman"/>
              </a:rPr>
              <a:t>subqueries  </a:t>
            </a:r>
            <a:r>
              <a:rPr sz="2000" spc="110" dirty="0">
                <a:solidFill>
                  <a:srgbClr val="FFFFFF"/>
                </a:solidFill>
                <a:latin typeface="Times New Roman"/>
                <a:cs typeface="Times New Roman"/>
              </a:rPr>
              <a:t>return</a:t>
            </a:r>
            <a:r>
              <a:rPr sz="2000" spc="-75" dirty="0">
                <a:solidFill>
                  <a:srgbClr val="FFFFFF"/>
                </a:solidFill>
                <a:latin typeface="Times New Roman"/>
                <a:cs typeface="Times New Roman"/>
              </a:rPr>
              <a:t> </a:t>
            </a:r>
            <a:r>
              <a:rPr sz="2000" spc="30" dirty="0">
                <a:solidFill>
                  <a:srgbClr val="FFFFFF"/>
                </a:solidFill>
                <a:latin typeface="Times New Roman"/>
                <a:cs typeface="Times New Roman"/>
              </a:rPr>
              <a:t>a</a:t>
            </a:r>
            <a:r>
              <a:rPr sz="2000" spc="-85" dirty="0">
                <a:solidFill>
                  <a:srgbClr val="FFFFFF"/>
                </a:solidFill>
                <a:latin typeface="Times New Roman"/>
                <a:cs typeface="Times New Roman"/>
              </a:rPr>
              <a:t> </a:t>
            </a:r>
            <a:r>
              <a:rPr sz="2000" spc="65" dirty="0">
                <a:solidFill>
                  <a:srgbClr val="FFFFFF"/>
                </a:solidFill>
                <a:latin typeface="Times New Roman"/>
                <a:cs typeface="Times New Roman"/>
              </a:rPr>
              <a:t>result</a:t>
            </a:r>
            <a:r>
              <a:rPr sz="2000" spc="-65" dirty="0">
                <a:solidFill>
                  <a:srgbClr val="FFFFFF"/>
                </a:solidFill>
                <a:latin typeface="Times New Roman"/>
                <a:cs typeface="Times New Roman"/>
              </a:rPr>
              <a:t> </a:t>
            </a:r>
            <a:r>
              <a:rPr sz="2000" spc="35" dirty="0">
                <a:solidFill>
                  <a:srgbClr val="FFFFFF"/>
                </a:solidFill>
                <a:latin typeface="Times New Roman"/>
                <a:cs typeface="Times New Roman"/>
              </a:rPr>
              <a:t>similar</a:t>
            </a:r>
            <a:r>
              <a:rPr sz="2000" spc="-90" dirty="0">
                <a:solidFill>
                  <a:srgbClr val="FFFFFF"/>
                </a:solidFill>
                <a:latin typeface="Times New Roman"/>
                <a:cs typeface="Times New Roman"/>
              </a:rPr>
              <a:t> </a:t>
            </a:r>
            <a:r>
              <a:rPr sz="2000" spc="110" dirty="0">
                <a:solidFill>
                  <a:srgbClr val="FFFFFF"/>
                </a:solidFill>
                <a:latin typeface="Times New Roman"/>
                <a:cs typeface="Times New Roman"/>
              </a:rPr>
              <a:t>to</a:t>
            </a:r>
            <a:r>
              <a:rPr sz="2000" spc="-75" dirty="0">
                <a:solidFill>
                  <a:srgbClr val="FFFFFF"/>
                </a:solidFill>
                <a:latin typeface="Times New Roman"/>
                <a:cs typeface="Times New Roman"/>
              </a:rPr>
              <a:t> </a:t>
            </a:r>
            <a:r>
              <a:rPr sz="2000" spc="30" dirty="0">
                <a:solidFill>
                  <a:srgbClr val="FFFFFF"/>
                </a:solidFill>
                <a:latin typeface="Times New Roman"/>
                <a:cs typeface="Times New Roman"/>
              </a:rPr>
              <a:t>a  </a:t>
            </a:r>
            <a:r>
              <a:rPr sz="2000" spc="55" dirty="0">
                <a:solidFill>
                  <a:srgbClr val="FFFFFF"/>
                </a:solidFill>
                <a:latin typeface="Times New Roman"/>
                <a:cs typeface="Times New Roman"/>
              </a:rPr>
              <a:t>single-column </a:t>
            </a:r>
            <a:r>
              <a:rPr sz="2000" spc="50" dirty="0">
                <a:solidFill>
                  <a:srgbClr val="FFFFFF"/>
                </a:solidFill>
                <a:latin typeface="Times New Roman"/>
                <a:cs typeface="Times New Roman"/>
              </a:rPr>
              <a:t>table.</a:t>
            </a:r>
            <a:r>
              <a:rPr sz="2000" spc="-204" dirty="0">
                <a:solidFill>
                  <a:srgbClr val="FFFFFF"/>
                </a:solidFill>
                <a:latin typeface="Times New Roman"/>
                <a:cs typeface="Times New Roman"/>
              </a:rPr>
              <a:t> </a:t>
            </a:r>
            <a:r>
              <a:rPr sz="2000" spc="60" dirty="0">
                <a:solidFill>
                  <a:srgbClr val="FFFFFF"/>
                </a:solidFill>
                <a:latin typeface="Times New Roman"/>
                <a:cs typeface="Times New Roman"/>
              </a:rPr>
              <a:t>Here,  </a:t>
            </a:r>
            <a:r>
              <a:rPr sz="2000" spc="110" dirty="0">
                <a:solidFill>
                  <a:srgbClr val="FFFFFF"/>
                </a:solidFill>
                <a:latin typeface="Times New Roman"/>
                <a:cs typeface="Times New Roman"/>
              </a:rPr>
              <a:t>the </a:t>
            </a:r>
            <a:r>
              <a:rPr sz="2000" spc="95" dirty="0">
                <a:solidFill>
                  <a:srgbClr val="FFFFFF"/>
                </a:solidFill>
                <a:latin typeface="Times New Roman"/>
                <a:cs typeface="Times New Roman"/>
              </a:rPr>
              <a:t>outer </a:t>
            </a:r>
            <a:r>
              <a:rPr sz="2000" spc="75" dirty="0">
                <a:solidFill>
                  <a:srgbClr val="FFFFFF"/>
                </a:solidFill>
                <a:latin typeface="Times New Roman"/>
                <a:cs typeface="Times New Roman"/>
              </a:rPr>
              <a:t>query </a:t>
            </a:r>
            <a:r>
              <a:rPr sz="2000" spc="95" dirty="0">
                <a:solidFill>
                  <a:srgbClr val="FFFFFF"/>
                </a:solidFill>
                <a:latin typeface="Times New Roman"/>
                <a:cs typeface="Times New Roman"/>
              </a:rPr>
              <a:t>must </a:t>
            </a:r>
            <a:r>
              <a:rPr sz="2000" spc="65" dirty="0">
                <a:solidFill>
                  <a:srgbClr val="FFFFFF"/>
                </a:solidFill>
                <a:latin typeface="Times New Roman"/>
                <a:cs typeface="Times New Roman"/>
              </a:rPr>
              <a:t>be  </a:t>
            </a:r>
            <a:r>
              <a:rPr sz="2000" spc="85" dirty="0">
                <a:solidFill>
                  <a:srgbClr val="FFFFFF"/>
                </a:solidFill>
                <a:latin typeface="Times New Roman"/>
                <a:cs typeface="Times New Roman"/>
              </a:rPr>
              <a:t>written</a:t>
            </a:r>
            <a:r>
              <a:rPr sz="2000" spc="-65" dirty="0">
                <a:solidFill>
                  <a:srgbClr val="FFFFFF"/>
                </a:solidFill>
                <a:latin typeface="Times New Roman"/>
                <a:cs typeface="Times New Roman"/>
              </a:rPr>
              <a:t> </a:t>
            </a:r>
            <a:r>
              <a:rPr sz="2000" spc="110" dirty="0">
                <a:solidFill>
                  <a:srgbClr val="FFFFFF"/>
                </a:solidFill>
                <a:latin typeface="Times New Roman"/>
                <a:cs typeface="Times New Roman"/>
              </a:rPr>
              <a:t>to</a:t>
            </a:r>
            <a:r>
              <a:rPr sz="2000" spc="-75" dirty="0">
                <a:solidFill>
                  <a:srgbClr val="FFFFFF"/>
                </a:solidFill>
                <a:latin typeface="Times New Roman"/>
                <a:cs typeface="Times New Roman"/>
              </a:rPr>
              <a:t> </a:t>
            </a:r>
            <a:r>
              <a:rPr sz="2000" spc="90" dirty="0">
                <a:solidFill>
                  <a:srgbClr val="FFFFFF"/>
                </a:solidFill>
                <a:latin typeface="Times New Roman"/>
                <a:cs typeface="Times New Roman"/>
              </a:rPr>
              <a:t>handle</a:t>
            </a:r>
            <a:r>
              <a:rPr sz="2000" spc="-70" dirty="0">
                <a:solidFill>
                  <a:srgbClr val="FFFFFF"/>
                </a:solidFill>
                <a:latin typeface="Times New Roman"/>
                <a:cs typeface="Times New Roman"/>
              </a:rPr>
              <a:t> </a:t>
            </a:r>
            <a:r>
              <a:rPr sz="2000" spc="65" dirty="0">
                <a:solidFill>
                  <a:srgbClr val="FFFFFF"/>
                </a:solidFill>
                <a:latin typeface="Times New Roman"/>
                <a:cs typeface="Times New Roman"/>
              </a:rPr>
              <a:t>multiple  </a:t>
            </a:r>
            <a:r>
              <a:rPr sz="2000" spc="45" dirty="0">
                <a:solidFill>
                  <a:srgbClr val="FFFFFF"/>
                </a:solidFill>
                <a:latin typeface="Times New Roman"/>
                <a:cs typeface="Times New Roman"/>
              </a:rPr>
              <a:t>possible</a:t>
            </a:r>
            <a:r>
              <a:rPr sz="2000" spc="-55" dirty="0">
                <a:solidFill>
                  <a:srgbClr val="FFFFFF"/>
                </a:solidFill>
                <a:latin typeface="Times New Roman"/>
                <a:cs typeface="Times New Roman"/>
              </a:rPr>
              <a:t> </a:t>
            </a:r>
            <a:r>
              <a:rPr sz="2000" spc="50" dirty="0">
                <a:solidFill>
                  <a:srgbClr val="FFFFFF"/>
                </a:solidFill>
                <a:latin typeface="Times New Roman"/>
                <a:cs typeface="Times New Roman"/>
              </a:rPr>
              <a:t>results.</a:t>
            </a:r>
            <a:endParaRPr sz="2000">
              <a:latin typeface="Times New Roman"/>
              <a:cs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
            <a:ext cx="7920990" cy="635635"/>
          </a:xfrm>
          <a:prstGeom prst="rect">
            <a:avLst/>
          </a:prstGeom>
        </p:spPr>
        <p:txBody>
          <a:bodyPr vert="horz" wrap="square" lIns="0" tIns="12700" rIns="0" bIns="0" rtlCol="0">
            <a:spAutoFit/>
          </a:bodyPr>
          <a:lstStyle/>
          <a:p>
            <a:pPr marL="12700">
              <a:lnSpc>
                <a:spcPct val="100000"/>
              </a:lnSpc>
              <a:spcBef>
                <a:spcPts val="100"/>
              </a:spcBef>
            </a:pPr>
            <a:r>
              <a:rPr spc="220" dirty="0"/>
              <a:t>Working</a:t>
            </a:r>
            <a:r>
              <a:rPr spc="-195" dirty="0"/>
              <a:t> </a:t>
            </a:r>
            <a:r>
              <a:rPr spc="180" dirty="0"/>
              <a:t>with</a:t>
            </a:r>
            <a:r>
              <a:rPr spc="-180" dirty="0"/>
              <a:t> </a:t>
            </a:r>
            <a:r>
              <a:rPr spc="130" dirty="0"/>
              <a:t>Multi-valued</a:t>
            </a:r>
            <a:r>
              <a:rPr spc="-200" dirty="0"/>
              <a:t> </a:t>
            </a:r>
            <a:r>
              <a:rPr spc="165" dirty="0"/>
              <a:t>Queries</a:t>
            </a:r>
          </a:p>
        </p:txBody>
      </p:sp>
      <p:pic>
        <p:nvPicPr>
          <p:cNvPr id="3" name="object 3"/>
          <p:cNvPicPr/>
          <p:nvPr/>
        </p:nvPicPr>
        <p:blipFill>
          <a:blip r:embed="rId3" cstate="print"/>
          <a:stretch>
            <a:fillRect/>
          </a:stretch>
        </p:blipFill>
        <p:spPr>
          <a:xfrm>
            <a:off x="689609" y="1297686"/>
            <a:ext cx="7997190" cy="3526536"/>
          </a:xfrm>
          <a:prstGeom prst="rect">
            <a:avLst/>
          </a:prstGeom>
        </p:spPr>
      </p:pic>
      <p:sp>
        <p:nvSpPr>
          <p:cNvPr id="5" name="object 5"/>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04" baseline="4629" dirty="0"/>
              <a:t>9/</a:t>
            </a:r>
            <a:r>
              <a:rPr sz="1800" spc="-262" baseline="4629" dirty="0"/>
              <a:t> </a:t>
            </a:r>
            <a:fld id="{81D60167-4931-47E6-BA6A-407CBD079E47}" type="slidenum">
              <a:rPr sz="1200" spc="15" dirty="0"/>
              <a:t>26</a:t>
            </a:fld>
            <a:endParaRPr sz="1200"/>
          </a:p>
        </p:txBody>
      </p:sp>
      <p:sp>
        <p:nvSpPr>
          <p:cNvPr id="6" name="object 6"/>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
            <a:ext cx="4130675" cy="635635"/>
          </a:xfrm>
          <a:prstGeom prst="rect">
            <a:avLst/>
          </a:prstGeom>
        </p:spPr>
        <p:txBody>
          <a:bodyPr vert="horz" wrap="square" lIns="0" tIns="12700" rIns="0" bIns="0" rtlCol="0">
            <a:spAutoFit/>
          </a:bodyPr>
          <a:lstStyle/>
          <a:p>
            <a:pPr marL="12700">
              <a:lnSpc>
                <a:spcPct val="100000"/>
              </a:lnSpc>
              <a:spcBef>
                <a:spcPts val="100"/>
              </a:spcBef>
            </a:pPr>
            <a:r>
              <a:rPr spc="165" dirty="0"/>
              <a:t>Nested</a:t>
            </a:r>
            <a:r>
              <a:rPr spc="-204" dirty="0"/>
              <a:t> </a:t>
            </a:r>
            <a:r>
              <a:rPr spc="155" dirty="0"/>
              <a:t>Subqueries</a:t>
            </a:r>
          </a:p>
        </p:txBody>
      </p:sp>
      <p:grpSp>
        <p:nvGrpSpPr>
          <p:cNvPr id="3" name="object 3"/>
          <p:cNvGrpSpPr/>
          <p:nvPr/>
        </p:nvGrpSpPr>
        <p:grpSpPr>
          <a:xfrm>
            <a:off x="704087" y="947140"/>
            <a:ext cx="7306309" cy="1127125"/>
            <a:chOff x="704087" y="947140"/>
            <a:chExt cx="7306309" cy="1127125"/>
          </a:xfrm>
        </p:grpSpPr>
        <p:pic>
          <p:nvPicPr>
            <p:cNvPr id="4" name="object 4"/>
            <p:cNvPicPr/>
            <p:nvPr/>
          </p:nvPicPr>
          <p:blipFill>
            <a:blip r:embed="rId3" cstate="print"/>
            <a:stretch>
              <a:fillRect/>
            </a:stretch>
          </p:blipFill>
          <p:spPr>
            <a:xfrm>
              <a:off x="704087" y="947140"/>
              <a:ext cx="7306056" cy="1127023"/>
            </a:xfrm>
            <a:prstGeom prst="rect">
              <a:avLst/>
            </a:prstGeom>
          </p:spPr>
        </p:pic>
        <p:pic>
          <p:nvPicPr>
            <p:cNvPr id="5" name="object 5"/>
            <p:cNvPicPr/>
            <p:nvPr/>
          </p:nvPicPr>
          <p:blipFill>
            <a:blip r:embed="rId4" cstate="print"/>
            <a:stretch>
              <a:fillRect/>
            </a:stretch>
          </p:blipFill>
          <p:spPr>
            <a:xfrm>
              <a:off x="745235" y="965454"/>
              <a:ext cx="7230618" cy="1051560"/>
            </a:xfrm>
            <a:prstGeom prst="rect">
              <a:avLst/>
            </a:prstGeom>
          </p:spPr>
        </p:pic>
      </p:grpSp>
      <p:sp>
        <p:nvSpPr>
          <p:cNvPr id="10" name="object 10"/>
          <p:cNvSpPr txBox="1"/>
          <p:nvPr/>
        </p:nvSpPr>
        <p:spPr>
          <a:xfrm>
            <a:off x="1178305" y="1110488"/>
            <a:ext cx="6365875" cy="1467068"/>
          </a:xfrm>
          <a:prstGeom prst="rect">
            <a:avLst/>
          </a:prstGeom>
        </p:spPr>
        <p:txBody>
          <a:bodyPr vert="horz" wrap="square" lIns="0" tIns="12700" rIns="0" bIns="0" rtlCol="0">
            <a:spAutoFit/>
          </a:bodyPr>
          <a:lstStyle/>
          <a:p>
            <a:pPr marL="355600" marR="5080" indent="-342900">
              <a:lnSpc>
                <a:spcPct val="100000"/>
              </a:lnSpc>
              <a:spcBef>
                <a:spcPts val="100"/>
              </a:spcBef>
              <a:buFont typeface="Wingdings"/>
              <a:buChar char=""/>
              <a:tabLst>
                <a:tab pos="355600" algn="l"/>
                <a:tab pos="766445" algn="l"/>
                <a:tab pos="2146935" algn="l"/>
                <a:tab pos="2841625" algn="l"/>
                <a:tab pos="3212465" algn="l"/>
                <a:tab pos="4374515" algn="l"/>
                <a:tab pos="5324475" algn="l"/>
              </a:tabLst>
            </a:pPr>
            <a:r>
              <a:rPr sz="2400" spc="215" dirty="0">
                <a:solidFill>
                  <a:srgbClr val="FFFFFF"/>
                </a:solidFill>
                <a:latin typeface="Times New Roman"/>
                <a:cs typeface="Times New Roman"/>
              </a:rPr>
              <a:t>A	</a:t>
            </a:r>
            <a:r>
              <a:rPr sz="2400" spc="95" dirty="0">
                <a:solidFill>
                  <a:srgbClr val="FFFFFF"/>
                </a:solidFill>
                <a:latin typeface="Times New Roman"/>
                <a:cs typeface="Times New Roman"/>
              </a:rPr>
              <a:t>subquery	</a:t>
            </a:r>
            <a:r>
              <a:rPr sz="2400" spc="125" dirty="0">
                <a:solidFill>
                  <a:srgbClr val="FFFFFF"/>
                </a:solidFill>
                <a:latin typeface="Times New Roman"/>
                <a:cs typeface="Times New Roman"/>
              </a:rPr>
              <a:t>t</a:t>
            </a:r>
            <a:r>
              <a:rPr sz="2400" spc="240" dirty="0">
                <a:solidFill>
                  <a:srgbClr val="FFFFFF"/>
                </a:solidFill>
                <a:latin typeface="Times New Roman"/>
                <a:cs typeface="Times New Roman"/>
              </a:rPr>
              <a:t>h</a:t>
            </a:r>
            <a:r>
              <a:rPr sz="2400" spc="95" dirty="0">
                <a:solidFill>
                  <a:srgbClr val="FFFFFF"/>
                </a:solidFill>
                <a:latin typeface="Times New Roman"/>
                <a:cs typeface="Times New Roman"/>
              </a:rPr>
              <a:t>at</a:t>
            </a:r>
            <a:r>
              <a:rPr sz="2400" dirty="0">
                <a:solidFill>
                  <a:srgbClr val="FFFFFF"/>
                </a:solidFill>
                <a:latin typeface="Times New Roman"/>
                <a:cs typeface="Times New Roman"/>
              </a:rPr>
              <a:t>	</a:t>
            </a:r>
            <a:r>
              <a:rPr sz="2400" spc="10" dirty="0">
                <a:solidFill>
                  <a:srgbClr val="FFFFFF"/>
                </a:solidFill>
                <a:latin typeface="Times New Roman"/>
                <a:cs typeface="Times New Roman"/>
              </a:rPr>
              <a:t>is</a:t>
            </a:r>
            <a:r>
              <a:rPr sz="2400" dirty="0">
                <a:solidFill>
                  <a:srgbClr val="FFFFFF"/>
                </a:solidFill>
                <a:latin typeface="Times New Roman"/>
                <a:cs typeface="Times New Roman"/>
              </a:rPr>
              <a:t>	</a:t>
            </a:r>
            <a:r>
              <a:rPr sz="2400" spc="110" dirty="0">
                <a:solidFill>
                  <a:srgbClr val="FFFFFF"/>
                </a:solidFill>
                <a:latin typeface="Times New Roman"/>
                <a:cs typeface="Times New Roman"/>
              </a:rPr>
              <a:t>d</a:t>
            </a:r>
            <a:r>
              <a:rPr sz="2400" spc="85" dirty="0">
                <a:solidFill>
                  <a:srgbClr val="FFFFFF"/>
                </a:solidFill>
                <a:latin typeface="Times New Roman"/>
                <a:cs typeface="Times New Roman"/>
              </a:rPr>
              <a:t>e</a:t>
            </a:r>
            <a:r>
              <a:rPr sz="2400" spc="75" dirty="0">
                <a:solidFill>
                  <a:srgbClr val="FFFFFF"/>
                </a:solidFill>
                <a:latin typeface="Times New Roman"/>
                <a:cs typeface="Times New Roman"/>
              </a:rPr>
              <a:t>fine</a:t>
            </a:r>
            <a:r>
              <a:rPr sz="2400" spc="155" dirty="0">
                <a:solidFill>
                  <a:srgbClr val="FFFFFF"/>
                </a:solidFill>
                <a:latin typeface="Times New Roman"/>
                <a:cs typeface="Times New Roman"/>
              </a:rPr>
              <a:t>d</a:t>
            </a:r>
            <a:r>
              <a:rPr sz="2400" dirty="0">
                <a:solidFill>
                  <a:srgbClr val="FFFFFF"/>
                </a:solidFill>
                <a:latin typeface="Times New Roman"/>
                <a:cs typeface="Times New Roman"/>
              </a:rPr>
              <a:t>	</a:t>
            </a:r>
            <a:r>
              <a:rPr sz="2400" spc="75" dirty="0">
                <a:solidFill>
                  <a:srgbClr val="FFFFFF"/>
                </a:solidFill>
                <a:latin typeface="Times New Roman"/>
                <a:cs typeface="Times New Roman"/>
              </a:rPr>
              <a:t>inside</a:t>
            </a:r>
            <a:r>
              <a:rPr sz="2400" dirty="0">
                <a:solidFill>
                  <a:srgbClr val="FFFFFF"/>
                </a:solidFill>
                <a:latin typeface="Times New Roman"/>
                <a:cs typeface="Times New Roman"/>
              </a:rPr>
              <a:t>	</a:t>
            </a:r>
            <a:r>
              <a:rPr sz="2400" spc="140" dirty="0">
                <a:solidFill>
                  <a:srgbClr val="FFFFFF"/>
                </a:solidFill>
                <a:latin typeface="Times New Roman"/>
                <a:cs typeface="Times New Roman"/>
              </a:rPr>
              <a:t>anot</a:t>
            </a:r>
            <a:r>
              <a:rPr sz="2400" spc="170" dirty="0">
                <a:solidFill>
                  <a:srgbClr val="FFFFFF"/>
                </a:solidFill>
                <a:latin typeface="Times New Roman"/>
                <a:cs typeface="Times New Roman"/>
              </a:rPr>
              <a:t>h</a:t>
            </a:r>
            <a:r>
              <a:rPr sz="2400" spc="60" dirty="0">
                <a:solidFill>
                  <a:srgbClr val="FFFFFF"/>
                </a:solidFill>
                <a:latin typeface="Times New Roman"/>
                <a:cs typeface="Times New Roman"/>
              </a:rPr>
              <a:t>er  </a:t>
            </a:r>
            <a:r>
              <a:rPr sz="2400" spc="95" dirty="0">
                <a:solidFill>
                  <a:srgbClr val="FFFFFF"/>
                </a:solidFill>
                <a:latin typeface="Times New Roman"/>
                <a:cs typeface="Times New Roman"/>
              </a:rPr>
              <a:t>subquery</a:t>
            </a:r>
            <a:r>
              <a:rPr sz="2400" spc="-95" dirty="0">
                <a:solidFill>
                  <a:srgbClr val="FFFFFF"/>
                </a:solidFill>
                <a:latin typeface="Times New Roman"/>
                <a:cs typeface="Times New Roman"/>
              </a:rPr>
              <a:t> </a:t>
            </a:r>
            <a:r>
              <a:rPr sz="2400" spc="10" dirty="0">
                <a:solidFill>
                  <a:srgbClr val="FFFFFF"/>
                </a:solidFill>
                <a:latin typeface="Times New Roman"/>
                <a:cs typeface="Times New Roman"/>
              </a:rPr>
              <a:t>is</a:t>
            </a:r>
            <a:r>
              <a:rPr sz="2400" spc="-95" dirty="0">
                <a:solidFill>
                  <a:srgbClr val="FFFFFF"/>
                </a:solidFill>
                <a:latin typeface="Times New Roman"/>
                <a:cs typeface="Times New Roman"/>
              </a:rPr>
              <a:t> </a:t>
            </a:r>
            <a:r>
              <a:rPr sz="2400" spc="45" dirty="0">
                <a:solidFill>
                  <a:srgbClr val="FFFFFF"/>
                </a:solidFill>
                <a:latin typeface="Times New Roman"/>
                <a:cs typeface="Times New Roman"/>
              </a:rPr>
              <a:t>called</a:t>
            </a:r>
            <a:r>
              <a:rPr sz="2400" spc="-85" dirty="0">
                <a:solidFill>
                  <a:srgbClr val="FFFFFF"/>
                </a:solidFill>
                <a:latin typeface="Times New Roman"/>
                <a:cs typeface="Times New Roman"/>
              </a:rPr>
              <a:t> </a:t>
            </a:r>
            <a:r>
              <a:rPr sz="2400" spc="40" dirty="0">
                <a:solidFill>
                  <a:srgbClr val="FFFFFF"/>
                </a:solidFill>
                <a:latin typeface="Times New Roman"/>
                <a:cs typeface="Times New Roman"/>
              </a:rPr>
              <a:t>a</a:t>
            </a:r>
            <a:r>
              <a:rPr sz="2400" spc="-90" dirty="0">
                <a:solidFill>
                  <a:srgbClr val="FFFFFF"/>
                </a:solidFill>
                <a:latin typeface="Times New Roman"/>
                <a:cs typeface="Times New Roman"/>
              </a:rPr>
              <a:t> </a:t>
            </a:r>
            <a:r>
              <a:rPr sz="2400" spc="105" dirty="0">
                <a:solidFill>
                  <a:srgbClr val="FFFFFF"/>
                </a:solidFill>
                <a:latin typeface="Times New Roman"/>
                <a:cs typeface="Times New Roman"/>
              </a:rPr>
              <a:t>nested</a:t>
            </a:r>
            <a:r>
              <a:rPr sz="2400" spc="-110" dirty="0">
                <a:solidFill>
                  <a:srgbClr val="FFFFFF"/>
                </a:solidFill>
                <a:latin typeface="Times New Roman"/>
                <a:cs typeface="Times New Roman"/>
              </a:rPr>
              <a:t> </a:t>
            </a:r>
            <a:r>
              <a:rPr sz="2400" spc="85" dirty="0">
                <a:solidFill>
                  <a:srgbClr val="FFFFFF"/>
                </a:solidFill>
                <a:latin typeface="Times New Roman"/>
                <a:cs typeface="Times New Roman"/>
              </a:rPr>
              <a:t>subquery.</a:t>
            </a:r>
            <a:endParaRPr sz="2400">
              <a:latin typeface="Times New Roman"/>
              <a:cs typeface="Times New Roman"/>
            </a:endParaRPr>
          </a:p>
          <a:p>
            <a:pPr>
              <a:lnSpc>
                <a:spcPct val="100000"/>
              </a:lnSpc>
              <a:spcBef>
                <a:spcPts val="15"/>
              </a:spcBef>
            </a:pPr>
            <a:endParaRPr sz="2850">
              <a:latin typeface="Times New Roman"/>
              <a:cs typeface="Times New Roman"/>
            </a:endParaRPr>
          </a:p>
          <a:p>
            <a:pPr marL="12700">
              <a:lnSpc>
                <a:spcPct val="100000"/>
              </a:lnSpc>
            </a:pPr>
            <a:r>
              <a:rPr sz="1800" spc="50" dirty="0">
                <a:latin typeface="Times New Roman"/>
                <a:cs typeface="Times New Roman"/>
              </a:rPr>
              <a:t>For</a:t>
            </a:r>
            <a:r>
              <a:rPr sz="1800" spc="-70" dirty="0">
                <a:latin typeface="Times New Roman"/>
                <a:cs typeface="Times New Roman"/>
              </a:rPr>
              <a:t> </a:t>
            </a:r>
            <a:r>
              <a:rPr sz="1800" spc="40">
                <a:latin typeface="Times New Roman"/>
                <a:cs typeface="Times New Roman"/>
              </a:rPr>
              <a:t>example:</a:t>
            </a:r>
            <a:endParaRPr sz="1800">
              <a:latin typeface="Times New Roman"/>
              <a:cs typeface="Times New Roman"/>
            </a:endParaRPr>
          </a:p>
        </p:txBody>
      </p:sp>
      <p:sp>
        <p:nvSpPr>
          <p:cNvPr id="12" name="object 12"/>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04" baseline="4629" dirty="0"/>
              <a:t>9/</a:t>
            </a:r>
            <a:r>
              <a:rPr sz="1800" spc="-262" baseline="4629" dirty="0"/>
              <a:t> </a:t>
            </a:r>
            <a:fld id="{81D60167-4931-47E6-BA6A-407CBD079E47}" type="slidenum">
              <a:rPr sz="1200" spc="15" dirty="0"/>
              <a:t>27</a:t>
            </a:fld>
            <a:endParaRPr sz="1200"/>
          </a:p>
        </p:txBody>
      </p:sp>
      <p:sp>
        <p:nvSpPr>
          <p:cNvPr id="13" name="object 13"/>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14" name="TextBox 13">
            <a:extLst>
              <a:ext uri="{FF2B5EF4-FFF2-40B4-BE49-F238E27FC236}">
                <a16:creationId xmlns:a16="http://schemas.microsoft.com/office/drawing/2014/main" id="{C08ECA52-298C-40D2-8D75-E0B85E836F27}"/>
              </a:ext>
            </a:extLst>
          </p:cNvPr>
          <p:cNvSpPr txBox="1"/>
          <p:nvPr/>
        </p:nvSpPr>
        <p:spPr>
          <a:xfrm>
            <a:off x="3246500" y="6400800"/>
            <a:ext cx="2925700" cy="369332"/>
          </a:xfrm>
          <a:prstGeom prst="rect">
            <a:avLst/>
          </a:prstGeom>
          <a:noFill/>
        </p:spPr>
        <p:txBody>
          <a:bodyPr wrap="square" rtlCol="0">
            <a:spAutoFit/>
          </a:bodyPr>
          <a:lstStyle/>
          <a:p>
            <a:pPr marL="12700">
              <a:lnSpc>
                <a:spcPct val="100000"/>
              </a:lnSpc>
              <a:spcBef>
                <a:spcPts val="95"/>
              </a:spcBef>
            </a:pPr>
            <a:r>
              <a:rPr lang="en-US" sz="1800" spc="-20">
                <a:latin typeface="Arial"/>
                <a:cs typeface="Arial"/>
              </a:rPr>
              <a:t>Output</a:t>
            </a:r>
            <a:r>
              <a:rPr lang="en-US" sz="1800" spc="-290">
                <a:latin typeface="Arial"/>
                <a:cs typeface="Arial"/>
              </a:rPr>
              <a:t> </a:t>
            </a:r>
            <a:r>
              <a:rPr lang="en-US" sz="1800" spc="-45">
                <a:latin typeface="Arial"/>
                <a:cs typeface="Arial"/>
              </a:rPr>
              <a:t>of </a:t>
            </a:r>
            <a:r>
              <a:rPr lang="en-US" sz="1800" spc="-80">
                <a:latin typeface="Arial"/>
                <a:cs typeface="Arial"/>
              </a:rPr>
              <a:t>Nested </a:t>
            </a:r>
            <a:r>
              <a:rPr lang="en-US" sz="1800" spc="-100">
                <a:latin typeface="Arial"/>
                <a:cs typeface="Arial"/>
              </a:rPr>
              <a:t>Subqueries</a:t>
            </a:r>
            <a:endParaRPr lang="en-US" sz="1800">
              <a:latin typeface="Arial"/>
              <a:cs typeface="Arial"/>
            </a:endParaRPr>
          </a:p>
        </p:txBody>
      </p:sp>
      <p:pic>
        <p:nvPicPr>
          <p:cNvPr id="15" name="Picture 14">
            <a:extLst>
              <a:ext uri="{FF2B5EF4-FFF2-40B4-BE49-F238E27FC236}">
                <a16:creationId xmlns:a16="http://schemas.microsoft.com/office/drawing/2014/main" id="{19F2E72A-1178-47C0-992B-3548334C6D23}"/>
              </a:ext>
            </a:extLst>
          </p:cNvPr>
          <p:cNvPicPr>
            <a:picLocks noChangeAspect="1"/>
          </p:cNvPicPr>
          <p:nvPr/>
        </p:nvPicPr>
        <p:blipFill>
          <a:blip r:embed="rId5"/>
          <a:stretch>
            <a:fillRect/>
          </a:stretch>
        </p:blipFill>
        <p:spPr>
          <a:xfrm>
            <a:off x="990600" y="2763431"/>
            <a:ext cx="7306056" cy="1960969"/>
          </a:xfrm>
          <a:prstGeom prst="rect">
            <a:avLst/>
          </a:prstGeom>
        </p:spPr>
      </p:pic>
      <p:pic>
        <p:nvPicPr>
          <p:cNvPr id="16" name="Picture 15">
            <a:extLst>
              <a:ext uri="{FF2B5EF4-FFF2-40B4-BE49-F238E27FC236}">
                <a16:creationId xmlns:a16="http://schemas.microsoft.com/office/drawing/2014/main" id="{E2DA2DE4-E44C-44F9-8F65-B62390A30869}"/>
              </a:ext>
            </a:extLst>
          </p:cNvPr>
          <p:cNvPicPr>
            <a:picLocks noChangeAspect="1"/>
          </p:cNvPicPr>
          <p:nvPr/>
        </p:nvPicPr>
        <p:blipFill>
          <a:blip r:embed="rId6"/>
          <a:stretch>
            <a:fillRect/>
          </a:stretch>
        </p:blipFill>
        <p:spPr>
          <a:xfrm>
            <a:off x="3429000" y="4876423"/>
            <a:ext cx="2604837" cy="1451654"/>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
            <a:ext cx="4239895" cy="635635"/>
          </a:xfrm>
          <a:prstGeom prst="rect">
            <a:avLst/>
          </a:prstGeom>
        </p:spPr>
        <p:txBody>
          <a:bodyPr vert="horz" wrap="square" lIns="0" tIns="12700" rIns="0" bIns="0" rtlCol="0">
            <a:spAutoFit/>
          </a:bodyPr>
          <a:lstStyle/>
          <a:p>
            <a:pPr marL="12700">
              <a:lnSpc>
                <a:spcPct val="100000"/>
              </a:lnSpc>
              <a:spcBef>
                <a:spcPts val="100"/>
              </a:spcBef>
            </a:pPr>
            <a:r>
              <a:rPr spc="185" dirty="0"/>
              <a:t>Correlated</a:t>
            </a:r>
            <a:r>
              <a:rPr spc="-240" dirty="0"/>
              <a:t> </a:t>
            </a:r>
            <a:r>
              <a:rPr spc="165" dirty="0"/>
              <a:t>Queries</a:t>
            </a:r>
          </a:p>
        </p:txBody>
      </p:sp>
      <p:sp>
        <p:nvSpPr>
          <p:cNvPr id="3" name="object 3"/>
          <p:cNvSpPr/>
          <p:nvPr/>
        </p:nvSpPr>
        <p:spPr>
          <a:xfrm>
            <a:off x="759714" y="912875"/>
            <a:ext cx="7230745" cy="1465580"/>
          </a:xfrm>
          <a:custGeom>
            <a:avLst/>
            <a:gdLst/>
            <a:ahLst/>
            <a:cxnLst/>
            <a:rect l="l" t="t" r="r" b="b"/>
            <a:pathLst>
              <a:path w="7230745" h="1465580">
                <a:moveTo>
                  <a:pt x="7230618" y="244221"/>
                </a:moveTo>
                <a:lnTo>
                  <a:pt x="7225652" y="195008"/>
                </a:lnTo>
                <a:lnTo>
                  <a:pt x="7211415" y="149161"/>
                </a:lnTo>
                <a:lnTo>
                  <a:pt x="7188898" y="107683"/>
                </a:lnTo>
                <a:lnTo>
                  <a:pt x="7159079" y="71539"/>
                </a:lnTo>
                <a:lnTo>
                  <a:pt x="7122935" y="41719"/>
                </a:lnTo>
                <a:lnTo>
                  <a:pt x="7081456" y="19202"/>
                </a:lnTo>
                <a:lnTo>
                  <a:pt x="7035609" y="4965"/>
                </a:lnTo>
                <a:lnTo>
                  <a:pt x="6986397" y="0"/>
                </a:lnTo>
                <a:lnTo>
                  <a:pt x="244221" y="0"/>
                </a:lnTo>
                <a:lnTo>
                  <a:pt x="194995" y="4965"/>
                </a:lnTo>
                <a:lnTo>
                  <a:pt x="149161" y="19202"/>
                </a:lnTo>
                <a:lnTo>
                  <a:pt x="107670" y="41719"/>
                </a:lnTo>
                <a:lnTo>
                  <a:pt x="71526" y="71539"/>
                </a:lnTo>
                <a:lnTo>
                  <a:pt x="41706" y="107683"/>
                </a:lnTo>
                <a:lnTo>
                  <a:pt x="19189" y="149161"/>
                </a:lnTo>
                <a:lnTo>
                  <a:pt x="4953" y="195008"/>
                </a:lnTo>
                <a:lnTo>
                  <a:pt x="0" y="244221"/>
                </a:lnTo>
                <a:lnTo>
                  <a:pt x="0" y="1221105"/>
                </a:lnTo>
                <a:lnTo>
                  <a:pt x="4953" y="1270330"/>
                </a:lnTo>
                <a:lnTo>
                  <a:pt x="19189" y="1316164"/>
                </a:lnTo>
                <a:lnTo>
                  <a:pt x="41706" y="1357655"/>
                </a:lnTo>
                <a:lnTo>
                  <a:pt x="71526" y="1393799"/>
                </a:lnTo>
                <a:lnTo>
                  <a:pt x="107670" y="1423619"/>
                </a:lnTo>
                <a:lnTo>
                  <a:pt x="149161" y="1446136"/>
                </a:lnTo>
                <a:lnTo>
                  <a:pt x="194995" y="1460373"/>
                </a:lnTo>
                <a:lnTo>
                  <a:pt x="244221" y="1465326"/>
                </a:lnTo>
                <a:lnTo>
                  <a:pt x="6986397" y="1465326"/>
                </a:lnTo>
                <a:lnTo>
                  <a:pt x="7035609" y="1460373"/>
                </a:lnTo>
                <a:lnTo>
                  <a:pt x="7081456" y="1446136"/>
                </a:lnTo>
                <a:lnTo>
                  <a:pt x="7122935" y="1423619"/>
                </a:lnTo>
                <a:lnTo>
                  <a:pt x="7159079" y="1393799"/>
                </a:lnTo>
                <a:lnTo>
                  <a:pt x="7188898" y="1357655"/>
                </a:lnTo>
                <a:lnTo>
                  <a:pt x="7211415" y="1316164"/>
                </a:lnTo>
                <a:lnTo>
                  <a:pt x="7225652" y="1270330"/>
                </a:lnTo>
                <a:lnTo>
                  <a:pt x="7230618" y="1221105"/>
                </a:lnTo>
                <a:lnTo>
                  <a:pt x="7230618" y="1107948"/>
                </a:lnTo>
                <a:lnTo>
                  <a:pt x="7230618" y="356628"/>
                </a:lnTo>
                <a:lnTo>
                  <a:pt x="7230618" y="244221"/>
                </a:lnTo>
                <a:close/>
              </a:path>
            </a:pathLst>
          </a:custGeom>
          <a:solidFill>
            <a:srgbClr val="F79546"/>
          </a:solidFill>
        </p:spPr>
        <p:txBody>
          <a:bodyPr wrap="square" lIns="0" tIns="0" rIns="0" bIns="0" rtlCol="0"/>
          <a:lstStyle/>
          <a:p>
            <a:endParaRPr/>
          </a:p>
        </p:txBody>
      </p:sp>
      <p:sp>
        <p:nvSpPr>
          <p:cNvPr id="5" name="object 5"/>
          <p:cNvSpPr txBox="1"/>
          <p:nvPr/>
        </p:nvSpPr>
        <p:spPr>
          <a:xfrm>
            <a:off x="1013713" y="1026667"/>
            <a:ext cx="6414135" cy="1641475"/>
          </a:xfrm>
          <a:prstGeom prst="rect">
            <a:avLst/>
          </a:prstGeom>
        </p:spPr>
        <p:txBody>
          <a:bodyPr vert="horz" wrap="square" lIns="0" tIns="12700" rIns="0" bIns="0" rtlCol="0">
            <a:spAutoFit/>
          </a:bodyPr>
          <a:lstStyle/>
          <a:p>
            <a:pPr marL="403225" marR="5080" indent="-342900" algn="just">
              <a:lnSpc>
                <a:spcPct val="100000"/>
              </a:lnSpc>
              <a:spcBef>
                <a:spcPts val="100"/>
              </a:spcBef>
              <a:buFont typeface="Wingdings"/>
              <a:buChar char=""/>
              <a:tabLst>
                <a:tab pos="403860" algn="l"/>
              </a:tabLst>
            </a:pPr>
            <a:r>
              <a:rPr sz="2400" spc="220" dirty="0">
                <a:solidFill>
                  <a:srgbClr val="FFFFFF"/>
                </a:solidFill>
                <a:latin typeface="Times New Roman"/>
                <a:cs typeface="Times New Roman"/>
              </a:rPr>
              <a:t>When </a:t>
            </a:r>
            <a:r>
              <a:rPr sz="2400" spc="40" dirty="0">
                <a:solidFill>
                  <a:srgbClr val="FFFFFF"/>
                </a:solidFill>
                <a:latin typeface="Times New Roman"/>
                <a:cs typeface="Times New Roman"/>
              </a:rPr>
              <a:t>a </a:t>
            </a:r>
            <a:r>
              <a:rPr sz="2400" spc="95" dirty="0">
                <a:solidFill>
                  <a:srgbClr val="FFFFFF"/>
                </a:solidFill>
                <a:latin typeface="Times New Roman"/>
                <a:cs typeface="Times New Roman"/>
              </a:rPr>
              <a:t>subquery </a:t>
            </a:r>
            <a:r>
              <a:rPr sz="2400" spc="75" dirty="0">
                <a:solidFill>
                  <a:srgbClr val="FFFFFF"/>
                </a:solidFill>
                <a:latin typeface="Times New Roman"/>
                <a:cs typeface="Times New Roman"/>
              </a:rPr>
              <a:t>takes </a:t>
            </a:r>
            <a:r>
              <a:rPr sz="2400" spc="80" dirty="0">
                <a:solidFill>
                  <a:srgbClr val="FFFFFF"/>
                </a:solidFill>
                <a:latin typeface="Times New Roman"/>
                <a:cs typeface="Times New Roman"/>
              </a:rPr>
              <a:t>parameters </a:t>
            </a:r>
            <a:r>
              <a:rPr sz="2400" spc="85" dirty="0">
                <a:solidFill>
                  <a:srgbClr val="FFFFFF"/>
                </a:solidFill>
                <a:latin typeface="Times New Roman"/>
                <a:cs typeface="Times New Roman"/>
              </a:rPr>
              <a:t>from </a:t>
            </a:r>
            <a:r>
              <a:rPr sz="2400" spc="60" dirty="0">
                <a:solidFill>
                  <a:srgbClr val="FFFFFF"/>
                </a:solidFill>
                <a:latin typeface="Times New Roman"/>
                <a:cs typeface="Times New Roman"/>
              </a:rPr>
              <a:t>its  </a:t>
            </a:r>
            <a:r>
              <a:rPr sz="2400" spc="114" dirty="0">
                <a:solidFill>
                  <a:srgbClr val="FFFFFF"/>
                </a:solidFill>
                <a:latin typeface="Times New Roman"/>
                <a:cs typeface="Times New Roman"/>
              </a:rPr>
              <a:t>parent </a:t>
            </a:r>
            <a:r>
              <a:rPr sz="2400" spc="75" dirty="0">
                <a:solidFill>
                  <a:srgbClr val="FFFFFF"/>
                </a:solidFill>
                <a:latin typeface="Times New Roman"/>
                <a:cs typeface="Times New Roman"/>
              </a:rPr>
              <a:t>query, </a:t>
            </a:r>
            <a:r>
              <a:rPr sz="2400" spc="80" dirty="0">
                <a:solidFill>
                  <a:srgbClr val="FFFFFF"/>
                </a:solidFill>
                <a:latin typeface="Times New Roman"/>
                <a:cs typeface="Times New Roman"/>
              </a:rPr>
              <a:t>it </a:t>
            </a:r>
            <a:r>
              <a:rPr sz="2400" spc="10" dirty="0">
                <a:solidFill>
                  <a:srgbClr val="FFFFFF"/>
                </a:solidFill>
                <a:latin typeface="Times New Roman"/>
                <a:cs typeface="Times New Roman"/>
              </a:rPr>
              <a:t>is</a:t>
            </a:r>
            <a:r>
              <a:rPr sz="2400" spc="620" dirty="0">
                <a:solidFill>
                  <a:srgbClr val="FFFFFF"/>
                </a:solidFill>
                <a:latin typeface="Times New Roman"/>
                <a:cs typeface="Times New Roman"/>
              </a:rPr>
              <a:t> </a:t>
            </a:r>
            <a:r>
              <a:rPr sz="2400" spc="140" dirty="0">
                <a:solidFill>
                  <a:srgbClr val="FFFFFF"/>
                </a:solidFill>
                <a:latin typeface="Times New Roman"/>
                <a:cs typeface="Times New Roman"/>
              </a:rPr>
              <a:t>known </a:t>
            </a:r>
            <a:r>
              <a:rPr sz="2400" spc="25" dirty="0">
                <a:solidFill>
                  <a:srgbClr val="FFFFFF"/>
                </a:solidFill>
                <a:latin typeface="Times New Roman"/>
                <a:cs typeface="Times New Roman"/>
              </a:rPr>
              <a:t>as </a:t>
            </a:r>
            <a:r>
              <a:rPr sz="2400" spc="110" dirty="0">
                <a:solidFill>
                  <a:srgbClr val="FFFFFF"/>
                </a:solidFill>
                <a:latin typeface="Times New Roman"/>
                <a:cs typeface="Times New Roman"/>
              </a:rPr>
              <a:t>Correlated  </a:t>
            </a:r>
            <a:r>
              <a:rPr sz="2400" spc="85" dirty="0">
                <a:solidFill>
                  <a:srgbClr val="FFFFFF"/>
                </a:solidFill>
                <a:latin typeface="Times New Roman"/>
                <a:cs typeface="Times New Roman"/>
              </a:rPr>
              <a:t>subquery.</a:t>
            </a:r>
            <a:endParaRPr sz="2400">
              <a:latin typeface="Times New Roman"/>
              <a:cs typeface="Times New Roman"/>
            </a:endParaRPr>
          </a:p>
          <a:p>
            <a:pPr marL="12700">
              <a:lnSpc>
                <a:spcPct val="100000"/>
              </a:lnSpc>
              <a:spcBef>
                <a:spcPts val="1900"/>
              </a:spcBef>
            </a:pPr>
            <a:r>
              <a:rPr sz="1800" spc="50" dirty="0">
                <a:latin typeface="Times New Roman"/>
                <a:cs typeface="Times New Roman"/>
              </a:rPr>
              <a:t>For</a:t>
            </a:r>
            <a:r>
              <a:rPr sz="1800" spc="-75" dirty="0">
                <a:latin typeface="Times New Roman"/>
                <a:cs typeface="Times New Roman"/>
              </a:rPr>
              <a:t> </a:t>
            </a:r>
            <a:r>
              <a:rPr sz="1800" spc="45">
                <a:latin typeface="Times New Roman"/>
                <a:cs typeface="Times New Roman"/>
              </a:rPr>
              <a:t>example:</a:t>
            </a:r>
            <a:endParaRPr sz="1800">
              <a:latin typeface="Times New Roman"/>
              <a:cs typeface="Times New Roman"/>
            </a:endParaRPr>
          </a:p>
        </p:txBody>
      </p:sp>
      <p:sp>
        <p:nvSpPr>
          <p:cNvPr id="7" name="object 7"/>
          <p:cNvSpPr txBox="1"/>
          <p:nvPr/>
        </p:nvSpPr>
        <p:spPr>
          <a:xfrm>
            <a:off x="3274567" y="6369049"/>
            <a:ext cx="2274570" cy="238760"/>
          </a:xfrm>
          <a:prstGeom prst="rect">
            <a:avLst/>
          </a:prstGeom>
        </p:spPr>
        <p:txBody>
          <a:bodyPr vert="horz" wrap="square" lIns="0" tIns="12065" rIns="0" bIns="0" rtlCol="0">
            <a:spAutoFit/>
          </a:bodyPr>
          <a:lstStyle/>
          <a:p>
            <a:pPr marL="12700">
              <a:lnSpc>
                <a:spcPct val="100000"/>
              </a:lnSpc>
              <a:spcBef>
                <a:spcPts val="95"/>
              </a:spcBef>
            </a:pPr>
            <a:r>
              <a:rPr sz="1400" b="1" spc="-20" dirty="0">
                <a:latin typeface="Arial"/>
                <a:cs typeface="Arial"/>
              </a:rPr>
              <a:t>Output</a:t>
            </a:r>
            <a:r>
              <a:rPr sz="1400" b="1" spc="-310" dirty="0">
                <a:latin typeface="Arial"/>
                <a:cs typeface="Arial"/>
              </a:rPr>
              <a:t> </a:t>
            </a:r>
            <a:r>
              <a:rPr sz="1400" b="1" spc="-45" dirty="0">
                <a:latin typeface="Arial"/>
                <a:cs typeface="Arial"/>
              </a:rPr>
              <a:t>of </a:t>
            </a:r>
            <a:r>
              <a:rPr sz="1400" b="1" spc="-55" dirty="0">
                <a:latin typeface="Arial"/>
                <a:cs typeface="Arial"/>
              </a:rPr>
              <a:t>Correlated </a:t>
            </a:r>
            <a:r>
              <a:rPr sz="1400" b="1" spc="-80" dirty="0">
                <a:latin typeface="Arial"/>
                <a:cs typeface="Arial"/>
              </a:rPr>
              <a:t>Queries</a:t>
            </a:r>
            <a:endParaRPr sz="1400">
              <a:latin typeface="Arial"/>
              <a:cs typeface="Arial"/>
            </a:endParaRPr>
          </a:p>
        </p:txBody>
      </p:sp>
      <p:sp>
        <p:nvSpPr>
          <p:cNvPr id="9" name="object 9"/>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04" baseline="4629" dirty="0"/>
              <a:t>9/</a:t>
            </a:r>
            <a:r>
              <a:rPr sz="1800" spc="-262" baseline="4629" dirty="0"/>
              <a:t> </a:t>
            </a:r>
            <a:fld id="{81D60167-4931-47E6-BA6A-407CBD079E47}" type="slidenum">
              <a:rPr sz="1200" spc="15" dirty="0"/>
              <a:t>28</a:t>
            </a:fld>
            <a:endParaRPr sz="1200"/>
          </a:p>
        </p:txBody>
      </p:sp>
      <p:sp>
        <p:nvSpPr>
          <p:cNvPr id="10" name="object 10"/>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pic>
        <p:nvPicPr>
          <p:cNvPr id="11" name="Picture 10">
            <a:extLst>
              <a:ext uri="{FF2B5EF4-FFF2-40B4-BE49-F238E27FC236}">
                <a16:creationId xmlns:a16="http://schemas.microsoft.com/office/drawing/2014/main" id="{08B70679-E300-4CC3-8C37-6EA241DE9261}"/>
              </a:ext>
            </a:extLst>
          </p:cNvPr>
          <p:cNvPicPr>
            <a:picLocks noChangeAspect="1"/>
          </p:cNvPicPr>
          <p:nvPr/>
        </p:nvPicPr>
        <p:blipFill>
          <a:blip r:embed="rId3"/>
          <a:stretch>
            <a:fillRect/>
          </a:stretch>
        </p:blipFill>
        <p:spPr>
          <a:xfrm>
            <a:off x="1498472" y="2976982"/>
            <a:ext cx="6414135" cy="174741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2" name="Picture 11">
            <a:extLst>
              <a:ext uri="{FF2B5EF4-FFF2-40B4-BE49-F238E27FC236}">
                <a16:creationId xmlns:a16="http://schemas.microsoft.com/office/drawing/2014/main" id="{F11FEA18-C924-41BA-905C-8BA126D560D7}"/>
              </a:ext>
            </a:extLst>
          </p:cNvPr>
          <p:cNvPicPr>
            <a:picLocks noChangeAspect="1"/>
          </p:cNvPicPr>
          <p:nvPr/>
        </p:nvPicPr>
        <p:blipFill>
          <a:blip r:embed="rId4"/>
          <a:stretch>
            <a:fillRect/>
          </a:stretch>
        </p:blipFill>
        <p:spPr>
          <a:xfrm>
            <a:off x="2970375" y="4967303"/>
            <a:ext cx="3203250" cy="1284252"/>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
            <a:ext cx="1095375" cy="635635"/>
          </a:xfrm>
          <a:prstGeom prst="rect">
            <a:avLst/>
          </a:prstGeom>
        </p:spPr>
        <p:txBody>
          <a:bodyPr vert="horz" wrap="square" lIns="0" tIns="12700" rIns="0" bIns="0" rtlCol="0">
            <a:spAutoFit/>
          </a:bodyPr>
          <a:lstStyle/>
          <a:p>
            <a:pPr marL="12700">
              <a:lnSpc>
                <a:spcPct val="100000"/>
              </a:lnSpc>
              <a:spcBef>
                <a:spcPts val="100"/>
              </a:spcBef>
            </a:pPr>
            <a:r>
              <a:rPr spc="35" dirty="0"/>
              <a:t>Joins</a:t>
            </a:r>
          </a:p>
        </p:txBody>
      </p:sp>
      <p:pic>
        <p:nvPicPr>
          <p:cNvPr id="3" name="object 3"/>
          <p:cNvPicPr/>
          <p:nvPr/>
        </p:nvPicPr>
        <p:blipFill>
          <a:blip r:embed="rId3" cstate="print"/>
          <a:stretch>
            <a:fillRect/>
          </a:stretch>
        </p:blipFill>
        <p:spPr>
          <a:xfrm>
            <a:off x="147828" y="869441"/>
            <a:ext cx="6337554" cy="2112264"/>
          </a:xfrm>
          <a:prstGeom prst="rect">
            <a:avLst/>
          </a:prstGeom>
        </p:spPr>
      </p:pic>
      <p:pic>
        <p:nvPicPr>
          <p:cNvPr id="4" name="object 4"/>
          <p:cNvPicPr/>
          <p:nvPr/>
        </p:nvPicPr>
        <p:blipFill>
          <a:blip r:embed="rId4" cstate="print"/>
          <a:stretch>
            <a:fillRect/>
          </a:stretch>
        </p:blipFill>
        <p:spPr>
          <a:xfrm>
            <a:off x="3344417" y="3092957"/>
            <a:ext cx="5584697" cy="1941576"/>
          </a:xfrm>
          <a:prstGeom prst="rect">
            <a:avLst/>
          </a:prstGeom>
        </p:spPr>
      </p:pic>
      <p:sp>
        <p:nvSpPr>
          <p:cNvPr id="5" name="object 5"/>
          <p:cNvSpPr txBox="1"/>
          <p:nvPr/>
        </p:nvSpPr>
        <p:spPr>
          <a:xfrm>
            <a:off x="5568950" y="5032755"/>
            <a:ext cx="1126490" cy="238760"/>
          </a:xfrm>
          <a:prstGeom prst="rect">
            <a:avLst/>
          </a:prstGeom>
        </p:spPr>
        <p:txBody>
          <a:bodyPr vert="horz" wrap="square" lIns="0" tIns="12065" rIns="0" bIns="0" rtlCol="0">
            <a:spAutoFit/>
          </a:bodyPr>
          <a:lstStyle/>
          <a:p>
            <a:pPr marL="12700">
              <a:lnSpc>
                <a:spcPct val="100000"/>
              </a:lnSpc>
              <a:spcBef>
                <a:spcPts val="95"/>
              </a:spcBef>
            </a:pPr>
            <a:r>
              <a:rPr sz="1400" b="1" spc="-20" dirty="0">
                <a:latin typeface="Arial"/>
                <a:cs typeface="Arial"/>
              </a:rPr>
              <a:t>Output </a:t>
            </a:r>
            <a:r>
              <a:rPr sz="1400" b="1" spc="-45" dirty="0">
                <a:latin typeface="Arial"/>
                <a:cs typeface="Arial"/>
              </a:rPr>
              <a:t>of</a:t>
            </a:r>
            <a:r>
              <a:rPr sz="1400" b="1" spc="-275" dirty="0">
                <a:latin typeface="Arial"/>
                <a:cs typeface="Arial"/>
              </a:rPr>
              <a:t> </a:t>
            </a:r>
            <a:r>
              <a:rPr sz="1400" b="1" spc="-125" dirty="0">
                <a:latin typeface="Arial"/>
                <a:cs typeface="Arial"/>
              </a:rPr>
              <a:t>Join</a:t>
            </a:r>
            <a:endParaRPr sz="1400">
              <a:latin typeface="Arial"/>
              <a:cs typeface="Arial"/>
            </a:endParaRPr>
          </a:p>
        </p:txBody>
      </p:sp>
      <p:sp>
        <p:nvSpPr>
          <p:cNvPr id="6" name="object 6"/>
          <p:cNvSpPr txBox="1"/>
          <p:nvPr/>
        </p:nvSpPr>
        <p:spPr>
          <a:xfrm>
            <a:off x="521716" y="5264403"/>
            <a:ext cx="2247265" cy="330200"/>
          </a:xfrm>
          <a:prstGeom prst="rect">
            <a:avLst/>
          </a:prstGeom>
        </p:spPr>
        <p:txBody>
          <a:bodyPr vert="horz" wrap="square" lIns="0" tIns="12065" rIns="0" bIns="0" rtlCol="0">
            <a:spAutoFit/>
          </a:bodyPr>
          <a:lstStyle/>
          <a:p>
            <a:pPr marL="12700">
              <a:lnSpc>
                <a:spcPct val="100000"/>
              </a:lnSpc>
              <a:spcBef>
                <a:spcPts val="95"/>
              </a:spcBef>
            </a:pPr>
            <a:r>
              <a:rPr sz="2000" spc="105" dirty="0">
                <a:latin typeface="Times New Roman"/>
                <a:cs typeface="Times New Roman"/>
              </a:rPr>
              <a:t>Three</a:t>
            </a:r>
            <a:r>
              <a:rPr sz="2000" spc="-370" dirty="0">
                <a:latin typeface="Times New Roman"/>
                <a:cs typeface="Times New Roman"/>
              </a:rPr>
              <a:t> </a:t>
            </a:r>
            <a:r>
              <a:rPr sz="2000" spc="55" dirty="0">
                <a:latin typeface="Times New Roman"/>
                <a:cs typeface="Times New Roman"/>
              </a:rPr>
              <a:t>types of </a:t>
            </a:r>
            <a:r>
              <a:rPr sz="2000" spc="40" dirty="0">
                <a:latin typeface="Times New Roman"/>
                <a:cs typeface="Times New Roman"/>
              </a:rPr>
              <a:t>joins:</a:t>
            </a:r>
            <a:endParaRPr sz="2000">
              <a:latin typeface="Times New Roman"/>
              <a:cs typeface="Times New Roman"/>
            </a:endParaRPr>
          </a:p>
        </p:txBody>
      </p:sp>
      <p:pic>
        <p:nvPicPr>
          <p:cNvPr id="7" name="object 7"/>
          <p:cNvPicPr/>
          <p:nvPr/>
        </p:nvPicPr>
        <p:blipFill>
          <a:blip r:embed="rId5" cstate="print"/>
          <a:stretch>
            <a:fillRect/>
          </a:stretch>
        </p:blipFill>
        <p:spPr>
          <a:xfrm>
            <a:off x="809244" y="5705094"/>
            <a:ext cx="7877556" cy="522732"/>
          </a:xfrm>
          <a:prstGeom prst="rect">
            <a:avLst/>
          </a:prstGeom>
        </p:spPr>
      </p:pic>
      <p:sp>
        <p:nvSpPr>
          <p:cNvPr id="9" name="object 9"/>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04" baseline="4629" dirty="0"/>
              <a:t>9/</a:t>
            </a:r>
            <a:r>
              <a:rPr sz="1800" spc="-262" baseline="4629" dirty="0"/>
              <a:t> </a:t>
            </a:r>
            <a:fld id="{81D60167-4931-47E6-BA6A-407CBD079E47}" type="slidenum">
              <a:rPr sz="1200" spc="15" dirty="0"/>
              <a:t>29</a:t>
            </a:fld>
            <a:endParaRPr sz="1200"/>
          </a:p>
        </p:txBody>
      </p:sp>
      <p:sp>
        <p:nvSpPr>
          <p:cNvPr id="10" name="object 10"/>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
            <a:ext cx="2197735" cy="635635"/>
          </a:xfrm>
          <a:prstGeom prst="rect">
            <a:avLst/>
          </a:prstGeom>
        </p:spPr>
        <p:txBody>
          <a:bodyPr vert="horz" wrap="square" lIns="0" tIns="12700" rIns="0" bIns="0" rtlCol="0">
            <a:spAutoFit/>
          </a:bodyPr>
          <a:lstStyle/>
          <a:p>
            <a:pPr marL="12700">
              <a:lnSpc>
                <a:spcPct val="100000"/>
              </a:lnSpc>
              <a:spcBef>
                <a:spcPts val="100"/>
              </a:spcBef>
            </a:pPr>
            <a:r>
              <a:rPr spc="190" dirty="0"/>
              <a:t>Inner</a:t>
            </a:r>
            <a:r>
              <a:rPr spc="-229" dirty="0"/>
              <a:t> </a:t>
            </a:r>
            <a:r>
              <a:rPr spc="45" dirty="0"/>
              <a:t>Join</a:t>
            </a:r>
          </a:p>
        </p:txBody>
      </p:sp>
      <p:sp>
        <p:nvSpPr>
          <p:cNvPr id="3" name="object 3"/>
          <p:cNvSpPr/>
          <p:nvPr/>
        </p:nvSpPr>
        <p:spPr>
          <a:xfrm>
            <a:off x="956310" y="1375409"/>
            <a:ext cx="7231380" cy="1814830"/>
          </a:xfrm>
          <a:custGeom>
            <a:avLst/>
            <a:gdLst/>
            <a:ahLst/>
            <a:cxnLst/>
            <a:rect l="l" t="t" r="r" b="b"/>
            <a:pathLst>
              <a:path w="7231380" h="1814830">
                <a:moveTo>
                  <a:pt x="7231380" y="302387"/>
                </a:moveTo>
                <a:lnTo>
                  <a:pt x="7227417" y="253339"/>
                </a:lnTo>
                <a:lnTo>
                  <a:pt x="7215962" y="206819"/>
                </a:lnTo>
                <a:lnTo>
                  <a:pt x="7197623" y="163423"/>
                </a:lnTo>
                <a:lnTo>
                  <a:pt x="7173036" y="123812"/>
                </a:lnTo>
                <a:lnTo>
                  <a:pt x="7142810" y="88569"/>
                </a:lnTo>
                <a:lnTo>
                  <a:pt x="7107568" y="58343"/>
                </a:lnTo>
                <a:lnTo>
                  <a:pt x="7067956" y="33756"/>
                </a:lnTo>
                <a:lnTo>
                  <a:pt x="7024560" y="15417"/>
                </a:lnTo>
                <a:lnTo>
                  <a:pt x="6978040" y="3962"/>
                </a:lnTo>
                <a:lnTo>
                  <a:pt x="6928993" y="0"/>
                </a:lnTo>
                <a:lnTo>
                  <a:pt x="302387" y="0"/>
                </a:lnTo>
                <a:lnTo>
                  <a:pt x="253326" y="3962"/>
                </a:lnTo>
                <a:lnTo>
                  <a:pt x="206806" y="15417"/>
                </a:lnTo>
                <a:lnTo>
                  <a:pt x="163410" y="33756"/>
                </a:lnTo>
                <a:lnTo>
                  <a:pt x="123799" y="58343"/>
                </a:lnTo>
                <a:lnTo>
                  <a:pt x="88557" y="88569"/>
                </a:lnTo>
                <a:lnTo>
                  <a:pt x="58331" y="123812"/>
                </a:lnTo>
                <a:lnTo>
                  <a:pt x="33743" y="163423"/>
                </a:lnTo>
                <a:lnTo>
                  <a:pt x="15405" y="206819"/>
                </a:lnTo>
                <a:lnTo>
                  <a:pt x="3949" y="253339"/>
                </a:lnTo>
                <a:lnTo>
                  <a:pt x="0" y="302387"/>
                </a:lnTo>
                <a:lnTo>
                  <a:pt x="0" y="1511935"/>
                </a:lnTo>
                <a:lnTo>
                  <a:pt x="3949" y="1560995"/>
                </a:lnTo>
                <a:lnTo>
                  <a:pt x="15405" y="1607515"/>
                </a:lnTo>
                <a:lnTo>
                  <a:pt x="33743" y="1650911"/>
                </a:lnTo>
                <a:lnTo>
                  <a:pt x="58331" y="1690522"/>
                </a:lnTo>
                <a:lnTo>
                  <a:pt x="88557" y="1725764"/>
                </a:lnTo>
                <a:lnTo>
                  <a:pt x="123799" y="1755990"/>
                </a:lnTo>
                <a:lnTo>
                  <a:pt x="163410" y="1780578"/>
                </a:lnTo>
                <a:lnTo>
                  <a:pt x="206806" y="1798916"/>
                </a:lnTo>
                <a:lnTo>
                  <a:pt x="253326" y="1810372"/>
                </a:lnTo>
                <a:lnTo>
                  <a:pt x="302387" y="1814322"/>
                </a:lnTo>
                <a:lnTo>
                  <a:pt x="6928993" y="1814322"/>
                </a:lnTo>
                <a:lnTo>
                  <a:pt x="6978040" y="1810372"/>
                </a:lnTo>
                <a:lnTo>
                  <a:pt x="7024560" y="1798916"/>
                </a:lnTo>
                <a:lnTo>
                  <a:pt x="7067956" y="1780578"/>
                </a:lnTo>
                <a:lnTo>
                  <a:pt x="7107568" y="1755990"/>
                </a:lnTo>
                <a:lnTo>
                  <a:pt x="7142810" y="1725764"/>
                </a:lnTo>
                <a:lnTo>
                  <a:pt x="7173036" y="1690522"/>
                </a:lnTo>
                <a:lnTo>
                  <a:pt x="7197623" y="1650911"/>
                </a:lnTo>
                <a:lnTo>
                  <a:pt x="7215962" y="1607515"/>
                </a:lnTo>
                <a:lnTo>
                  <a:pt x="7227417" y="1560995"/>
                </a:lnTo>
                <a:lnTo>
                  <a:pt x="7231380" y="1511935"/>
                </a:lnTo>
                <a:lnTo>
                  <a:pt x="7231380" y="1372362"/>
                </a:lnTo>
                <a:lnTo>
                  <a:pt x="7231380" y="441960"/>
                </a:lnTo>
                <a:lnTo>
                  <a:pt x="7231380" y="302387"/>
                </a:lnTo>
                <a:close/>
              </a:path>
            </a:pathLst>
          </a:custGeom>
          <a:solidFill>
            <a:srgbClr val="000000"/>
          </a:solidFill>
        </p:spPr>
        <p:txBody>
          <a:bodyPr wrap="square" lIns="0" tIns="0" rIns="0" bIns="0" rtlCol="0"/>
          <a:lstStyle/>
          <a:p>
            <a:endParaRPr/>
          </a:p>
        </p:txBody>
      </p:sp>
      <p:sp>
        <p:nvSpPr>
          <p:cNvPr id="4" name="object 4"/>
          <p:cNvSpPr txBox="1"/>
          <p:nvPr/>
        </p:nvSpPr>
        <p:spPr>
          <a:xfrm>
            <a:off x="1313180" y="1518920"/>
            <a:ext cx="6365875" cy="1488440"/>
          </a:xfrm>
          <a:prstGeom prst="rect">
            <a:avLst/>
          </a:prstGeom>
        </p:spPr>
        <p:txBody>
          <a:bodyPr vert="horz" wrap="square" lIns="0" tIns="12700" rIns="0" bIns="0" rtlCol="0">
            <a:spAutoFit/>
          </a:bodyPr>
          <a:lstStyle/>
          <a:p>
            <a:pPr marL="355600" marR="5080" indent="-342900" algn="just">
              <a:lnSpc>
                <a:spcPct val="100000"/>
              </a:lnSpc>
              <a:spcBef>
                <a:spcPts val="100"/>
              </a:spcBef>
              <a:buFont typeface="Wingdings"/>
              <a:buChar char=""/>
              <a:tabLst>
                <a:tab pos="355600" algn="l"/>
              </a:tabLst>
            </a:pPr>
            <a:r>
              <a:rPr sz="2400" spc="215" dirty="0">
                <a:solidFill>
                  <a:srgbClr val="FFFFFF"/>
                </a:solidFill>
                <a:latin typeface="Times New Roman"/>
                <a:cs typeface="Times New Roman"/>
              </a:rPr>
              <a:t>An </a:t>
            </a:r>
            <a:r>
              <a:rPr sz="2400" spc="114" dirty="0">
                <a:solidFill>
                  <a:srgbClr val="FFFFFF"/>
                </a:solidFill>
                <a:latin typeface="Times New Roman"/>
                <a:cs typeface="Times New Roman"/>
              </a:rPr>
              <a:t>inner </a:t>
            </a:r>
            <a:r>
              <a:rPr sz="2400" spc="85" dirty="0">
                <a:solidFill>
                  <a:srgbClr val="FFFFFF"/>
                </a:solidFill>
                <a:latin typeface="Times New Roman"/>
                <a:cs typeface="Times New Roman"/>
              </a:rPr>
              <a:t>join </a:t>
            </a:r>
            <a:r>
              <a:rPr sz="2400" spc="10" dirty="0">
                <a:solidFill>
                  <a:srgbClr val="FFFFFF"/>
                </a:solidFill>
                <a:latin typeface="Times New Roman"/>
                <a:cs typeface="Times New Roman"/>
              </a:rPr>
              <a:t>is </a:t>
            </a:r>
            <a:r>
              <a:rPr sz="2400" spc="90" dirty="0">
                <a:solidFill>
                  <a:srgbClr val="FFFFFF"/>
                </a:solidFill>
                <a:latin typeface="Times New Roman"/>
                <a:cs typeface="Times New Roman"/>
              </a:rPr>
              <a:t>formed </a:t>
            </a:r>
            <a:r>
              <a:rPr sz="2400" spc="135" dirty="0">
                <a:solidFill>
                  <a:srgbClr val="FFFFFF"/>
                </a:solidFill>
                <a:latin typeface="Times New Roman"/>
                <a:cs typeface="Times New Roman"/>
              </a:rPr>
              <a:t>when </a:t>
            </a:r>
            <a:r>
              <a:rPr sz="2400" spc="75" dirty="0">
                <a:solidFill>
                  <a:srgbClr val="FFFFFF"/>
                </a:solidFill>
                <a:latin typeface="Times New Roman"/>
                <a:cs typeface="Times New Roman"/>
              </a:rPr>
              <a:t>records </a:t>
            </a:r>
            <a:r>
              <a:rPr sz="2400" spc="90" dirty="0">
                <a:solidFill>
                  <a:srgbClr val="FFFFFF"/>
                </a:solidFill>
                <a:latin typeface="Times New Roman"/>
                <a:cs typeface="Times New Roman"/>
              </a:rPr>
              <a:t>from  </a:t>
            </a:r>
            <a:r>
              <a:rPr sz="2400" spc="105" dirty="0">
                <a:solidFill>
                  <a:srgbClr val="FFFFFF"/>
                </a:solidFill>
                <a:latin typeface="Times New Roman"/>
                <a:cs typeface="Times New Roman"/>
              </a:rPr>
              <a:t>two</a:t>
            </a:r>
            <a:r>
              <a:rPr sz="2400" spc="-45" dirty="0">
                <a:solidFill>
                  <a:srgbClr val="FFFFFF"/>
                </a:solidFill>
                <a:latin typeface="Times New Roman"/>
                <a:cs typeface="Times New Roman"/>
              </a:rPr>
              <a:t> </a:t>
            </a:r>
            <a:r>
              <a:rPr sz="2400" spc="60" dirty="0">
                <a:solidFill>
                  <a:srgbClr val="FFFFFF"/>
                </a:solidFill>
                <a:latin typeface="Times New Roman"/>
                <a:cs typeface="Times New Roman"/>
              </a:rPr>
              <a:t>tables</a:t>
            </a:r>
            <a:r>
              <a:rPr sz="2400" spc="-45" dirty="0">
                <a:solidFill>
                  <a:srgbClr val="FFFFFF"/>
                </a:solidFill>
                <a:latin typeface="Times New Roman"/>
                <a:cs typeface="Times New Roman"/>
              </a:rPr>
              <a:t> </a:t>
            </a:r>
            <a:r>
              <a:rPr sz="2400" spc="65" dirty="0">
                <a:solidFill>
                  <a:srgbClr val="FFFFFF"/>
                </a:solidFill>
                <a:latin typeface="Times New Roman"/>
                <a:cs typeface="Times New Roman"/>
              </a:rPr>
              <a:t>are</a:t>
            </a:r>
            <a:r>
              <a:rPr sz="2400" spc="-55" dirty="0">
                <a:solidFill>
                  <a:srgbClr val="FFFFFF"/>
                </a:solidFill>
                <a:latin typeface="Times New Roman"/>
                <a:cs typeface="Times New Roman"/>
              </a:rPr>
              <a:t> </a:t>
            </a:r>
            <a:r>
              <a:rPr sz="2400" spc="100" dirty="0">
                <a:solidFill>
                  <a:srgbClr val="FFFFFF"/>
                </a:solidFill>
                <a:latin typeface="Times New Roman"/>
                <a:cs typeface="Times New Roman"/>
              </a:rPr>
              <a:t>combined</a:t>
            </a:r>
            <a:r>
              <a:rPr sz="2400" spc="-50" dirty="0">
                <a:solidFill>
                  <a:srgbClr val="FFFFFF"/>
                </a:solidFill>
                <a:latin typeface="Times New Roman"/>
                <a:cs typeface="Times New Roman"/>
              </a:rPr>
              <a:t> </a:t>
            </a:r>
            <a:r>
              <a:rPr sz="2400" spc="75" dirty="0">
                <a:solidFill>
                  <a:srgbClr val="FFFFFF"/>
                </a:solidFill>
                <a:latin typeface="Times New Roman"/>
                <a:cs typeface="Times New Roman"/>
              </a:rPr>
              <a:t>only</a:t>
            </a:r>
            <a:r>
              <a:rPr sz="2400" spc="-45" dirty="0">
                <a:solidFill>
                  <a:srgbClr val="FFFFFF"/>
                </a:solidFill>
                <a:latin typeface="Times New Roman"/>
                <a:cs typeface="Times New Roman"/>
              </a:rPr>
              <a:t> </a:t>
            </a:r>
            <a:r>
              <a:rPr sz="2400" spc="20" dirty="0">
                <a:solidFill>
                  <a:srgbClr val="FFFFFF"/>
                </a:solidFill>
                <a:latin typeface="Times New Roman"/>
                <a:cs typeface="Times New Roman"/>
              </a:rPr>
              <a:t>if</a:t>
            </a:r>
            <a:r>
              <a:rPr sz="2400" spc="-40" dirty="0">
                <a:solidFill>
                  <a:srgbClr val="FFFFFF"/>
                </a:solidFill>
                <a:latin typeface="Times New Roman"/>
                <a:cs typeface="Times New Roman"/>
              </a:rPr>
              <a:t> </a:t>
            </a:r>
            <a:r>
              <a:rPr sz="2400" spc="135" dirty="0">
                <a:solidFill>
                  <a:srgbClr val="FFFFFF"/>
                </a:solidFill>
                <a:latin typeface="Times New Roman"/>
                <a:cs typeface="Times New Roman"/>
              </a:rPr>
              <a:t>the</a:t>
            </a:r>
            <a:r>
              <a:rPr sz="2400" spc="-50" dirty="0">
                <a:solidFill>
                  <a:srgbClr val="FFFFFF"/>
                </a:solidFill>
                <a:latin typeface="Times New Roman"/>
                <a:cs typeface="Times New Roman"/>
              </a:rPr>
              <a:t> </a:t>
            </a:r>
            <a:r>
              <a:rPr sz="2400" spc="70" dirty="0">
                <a:solidFill>
                  <a:srgbClr val="FFFFFF"/>
                </a:solidFill>
                <a:latin typeface="Times New Roman"/>
                <a:cs typeface="Times New Roman"/>
              </a:rPr>
              <a:t>rows</a:t>
            </a:r>
            <a:r>
              <a:rPr sz="2400" spc="-45" dirty="0">
                <a:solidFill>
                  <a:srgbClr val="FFFFFF"/>
                </a:solidFill>
                <a:latin typeface="Times New Roman"/>
                <a:cs typeface="Times New Roman"/>
              </a:rPr>
              <a:t> </a:t>
            </a:r>
            <a:r>
              <a:rPr sz="2400" spc="90" dirty="0">
                <a:solidFill>
                  <a:srgbClr val="FFFFFF"/>
                </a:solidFill>
                <a:latin typeface="Times New Roman"/>
                <a:cs typeface="Times New Roman"/>
              </a:rPr>
              <a:t>from  </a:t>
            </a:r>
            <a:r>
              <a:rPr sz="2400" spc="145" dirty="0">
                <a:solidFill>
                  <a:srgbClr val="FFFFFF"/>
                </a:solidFill>
                <a:latin typeface="Times New Roman"/>
                <a:cs typeface="Times New Roman"/>
              </a:rPr>
              <a:t>both </a:t>
            </a:r>
            <a:r>
              <a:rPr sz="2400" spc="135" dirty="0">
                <a:solidFill>
                  <a:srgbClr val="FFFFFF"/>
                </a:solidFill>
                <a:latin typeface="Times New Roman"/>
                <a:cs typeface="Times New Roman"/>
              </a:rPr>
              <a:t>the </a:t>
            </a:r>
            <a:r>
              <a:rPr sz="2400" spc="60" dirty="0">
                <a:solidFill>
                  <a:srgbClr val="FFFFFF"/>
                </a:solidFill>
                <a:latin typeface="Times New Roman"/>
                <a:cs typeface="Times New Roman"/>
              </a:rPr>
              <a:t>tables</a:t>
            </a:r>
            <a:r>
              <a:rPr sz="2400" spc="720" dirty="0">
                <a:solidFill>
                  <a:srgbClr val="FFFFFF"/>
                </a:solidFill>
                <a:latin typeface="Times New Roman"/>
                <a:cs typeface="Times New Roman"/>
              </a:rPr>
              <a:t> </a:t>
            </a:r>
            <a:r>
              <a:rPr sz="2400" spc="65" dirty="0">
                <a:solidFill>
                  <a:srgbClr val="FFFFFF"/>
                </a:solidFill>
                <a:latin typeface="Times New Roman"/>
                <a:cs typeface="Times New Roman"/>
              </a:rPr>
              <a:t>are </a:t>
            </a:r>
            <a:r>
              <a:rPr sz="2400" spc="105" dirty="0">
                <a:solidFill>
                  <a:srgbClr val="FFFFFF"/>
                </a:solidFill>
                <a:latin typeface="Times New Roman"/>
                <a:cs typeface="Times New Roman"/>
              </a:rPr>
              <a:t>matched </a:t>
            </a:r>
            <a:r>
              <a:rPr sz="2400" spc="70" dirty="0">
                <a:solidFill>
                  <a:srgbClr val="FFFFFF"/>
                </a:solidFill>
                <a:latin typeface="Times New Roman"/>
                <a:cs typeface="Times New Roman"/>
              </a:rPr>
              <a:t>based </a:t>
            </a:r>
            <a:r>
              <a:rPr sz="2400" spc="160" dirty="0">
                <a:solidFill>
                  <a:srgbClr val="FFFFFF"/>
                </a:solidFill>
                <a:latin typeface="Times New Roman"/>
                <a:cs typeface="Times New Roman"/>
              </a:rPr>
              <a:t>on </a:t>
            </a:r>
            <a:r>
              <a:rPr sz="2400" spc="40" dirty="0">
                <a:solidFill>
                  <a:srgbClr val="FFFFFF"/>
                </a:solidFill>
                <a:latin typeface="Times New Roman"/>
                <a:cs typeface="Times New Roman"/>
              </a:rPr>
              <a:t>a  </a:t>
            </a:r>
            <a:r>
              <a:rPr sz="2400" spc="114" dirty="0">
                <a:solidFill>
                  <a:srgbClr val="FFFFFF"/>
                </a:solidFill>
                <a:latin typeface="Times New Roman"/>
                <a:cs typeface="Times New Roman"/>
              </a:rPr>
              <a:t>common</a:t>
            </a:r>
            <a:r>
              <a:rPr sz="2400" spc="-110" dirty="0">
                <a:solidFill>
                  <a:srgbClr val="FFFFFF"/>
                </a:solidFill>
                <a:latin typeface="Times New Roman"/>
                <a:cs typeface="Times New Roman"/>
              </a:rPr>
              <a:t> </a:t>
            </a:r>
            <a:r>
              <a:rPr sz="2400" spc="105" dirty="0">
                <a:solidFill>
                  <a:srgbClr val="FFFFFF"/>
                </a:solidFill>
                <a:latin typeface="Times New Roman"/>
                <a:cs typeface="Times New Roman"/>
              </a:rPr>
              <a:t>column</a:t>
            </a:r>
            <a:endParaRPr sz="2400">
              <a:latin typeface="Times New Roman"/>
              <a:cs typeface="Times New Roman"/>
            </a:endParaRPr>
          </a:p>
        </p:txBody>
      </p:sp>
      <p:pic>
        <p:nvPicPr>
          <p:cNvPr id="5" name="object 5"/>
          <p:cNvPicPr/>
          <p:nvPr/>
        </p:nvPicPr>
        <p:blipFill>
          <a:blip r:embed="rId3" cstate="print"/>
          <a:stretch>
            <a:fillRect/>
          </a:stretch>
        </p:blipFill>
        <p:spPr>
          <a:xfrm>
            <a:off x="1506474" y="4191000"/>
            <a:ext cx="6131052" cy="1621536"/>
          </a:xfrm>
          <a:prstGeom prst="rect">
            <a:avLst/>
          </a:prstGeom>
        </p:spPr>
      </p:pic>
      <p:sp>
        <p:nvSpPr>
          <p:cNvPr id="6" name="object 6"/>
          <p:cNvSpPr txBox="1"/>
          <p:nvPr/>
        </p:nvSpPr>
        <p:spPr>
          <a:xfrm>
            <a:off x="858011" y="3641852"/>
            <a:ext cx="4331970" cy="330200"/>
          </a:xfrm>
          <a:prstGeom prst="rect">
            <a:avLst/>
          </a:prstGeom>
        </p:spPr>
        <p:txBody>
          <a:bodyPr vert="horz" wrap="square" lIns="0" tIns="12065" rIns="0" bIns="0" rtlCol="0">
            <a:spAutoFit/>
          </a:bodyPr>
          <a:lstStyle/>
          <a:p>
            <a:pPr marL="12700">
              <a:lnSpc>
                <a:spcPct val="100000"/>
              </a:lnSpc>
              <a:spcBef>
                <a:spcPts val="95"/>
              </a:spcBef>
            </a:pPr>
            <a:r>
              <a:rPr sz="2000" spc="45" dirty="0">
                <a:latin typeface="Times New Roman"/>
                <a:cs typeface="Times New Roman"/>
              </a:rPr>
              <a:t>Following</a:t>
            </a:r>
            <a:r>
              <a:rPr sz="2000" spc="-60" dirty="0">
                <a:latin typeface="Times New Roman"/>
                <a:cs typeface="Times New Roman"/>
              </a:rPr>
              <a:t> </a:t>
            </a:r>
            <a:r>
              <a:rPr sz="2000" spc="5" dirty="0">
                <a:latin typeface="Times New Roman"/>
                <a:cs typeface="Times New Roman"/>
              </a:rPr>
              <a:t>is</a:t>
            </a:r>
            <a:r>
              <a:rPr sz="2000" spc="-90" dirty="0">
                <a:latin typeface="Times New Roman"/>
                <a:cs typeface="Times New Roman"/>
              </a:rPr>
              <a:t> </a:t>
            </a:r>
            <a:r>
              <a:rPr sz="2000" spc="110" dirty="0">
                <a:latin typeface="Times New Roman"/>
                <a:cs typeface="Times New Roman"/>
              </a:rPr>
              <a:t>the</a:t>
            </a:r>
            <a:r>
              <a:rPr sz="2000" spc="-70" dirty="0">
                <a:latin typeface="Times New Roman"/>
                <a:cs typeface="Times New Roman"/>
              </a:rPr>
              <a:t> </a:t>
            </a:r>
            <a:r>
              <a:rPr sz="2000" spc="70" dirty="0">
                <a:latin typeface="Times New Roman"/>
                <a:cs typeface="Times New Roman"/>
              </a:rPr>
              <a:t>syntax</a:t>
            </a:r>
            <a:r>
              <a:rPr sz="2000" spc="-60" dirty="0">
                <a:latin typeface="Times New Roman"/>
                <a:cs typeface="Times New Roman"/>
              </a:rPr>
              <a:t> </a:t>
            </a:r>
            <a:r>
              <a:rPr sz="2000" spc="55" dirty="0">
                <a:latin typeface="Times New Roman"/>
                <a:cs typeface="Times New Roman"/>
              </a:rPr>
              <a:t>of</a:t>
            </a:r>
            <a:r>
              <a:rPr sz="2000" spc="-80" dirty="0">
                <a:latin typeface="Times New Roman"/>
                <a:cs typeface="Times New Roman"/>
              </a:rPr>
              <a:t> </a:t>
            </a:r>
            <a:r>
              <a:rPr sz="2000" spc="105" dirty="0">
                <a:latin typeface="Times New Roman"/>
                <a:cs typeface="Times New Roman"/>
              </a:rPr>
              <a:t>an</a:t>
            </a:r>
            <a:r>
              <a:rPr sz="2000" spc="-75" dirty="0">
                <a:latin typeface="Times New Roman"/>
                <a:cs typeface="Times New Roman"/>
              </a:rPr>
              <a:t> </a:t>
            </a:r>
            <a:r>
              <a:rPr sz="2000" spc="100" dirty="0">
                <a:latin typeface="Times New Roman"/>
                <a:cs typeface="Times New Roman"/>
              </a:rPr>
              <a:t>inner</a:t>
            </a:r>
            <a:r>
              <a:rPr sz="2000" spc="-65" dirty="0">
                <a:latin typeface="Times New Roman"/>
                <a:cs typeface="Times New Roman"/>
              </a:rPr>
              <a:t> </a:t>
            </a:r>
            <a:r>
              <a:rPr sz="2000" spc="50" dirty="0">
                <a:latin typeface="Times New Roman"/>
                <a:cs typeface="Times New Roman"/>
              </a:rPr>
              <a:t>join:</a:t>
            </a:r>
            <a:endParaRPr sz="20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04" baseline="4629" dirty="0"/>
              <a:t>9/</a:t>
            </a:r>
            <a:r>
              <a:rPr sz="1800" spc="-262" baseline="4629" dirty="0"/>
              <a:t> </a:t>
            </a:r>
            <a:fld id="{81D60167-4931-47E6-BA6A-407CBD079E47}" type="slidenum">
              <a:rPr sz="1200" spc="15" dirty="0"/>
              <a:t>30</a:t>
            </a:fld>
            <a:endParaRPr sz="1200"/>
          </a:p>
        </p:txBody>
      </p:sp>
      <p:sp>
        <p:nvSpPr>
          <p:cNvPr id="9" name="object 9"/>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
            <a:ext cx="2329180" cy="635635"/>
          </a:xfrm>
          <a:prstGeom prst="rect">
            <a:avLst/>
          </a:prstGeom>
        </p:spPr>
        <p:txBody>
          <a:bodyPr vert="horz" wrap="square" lIns="0" tIns="12700" rIns="0" bIns="0" rtlCol="0">
            <a:spAutoFit/>
          </a:bodyPr>
          <a:lstStyle/>
          <a:p>
            <a:pPr marL="12700">
              <a:lnSpc>
                <a:spcPct val="100000"/>
              </a:lnSpc>
              <a:spcBef>
                <a:spcPts val="100"/>
              </a:spcBef>
            </a:pPr>
            <a:r>
              <a:rPr spc="265" dirty="0"/>
              <a:t>Outer</a:t>
            </a:r>
            <a:r>
              <a:rPr spc="-240" dirty="0"/>
              <a:t> </a:t>
            </a:r>
            <a:r>
              <a:rPr spc="45" dirty="0"/>
              <a:t>Join</a:t>
            </a:r>
          </a:p>
        </p:txBody>
      </p:sp>
      <p:sp>
        <p:nvSpPr>
          <p:cNvPr id="3" name="object 3"/>
          <p:cNvSpPr/>
          <p:nvPr/>
        </p:nvSpPr>
        <p:spPr>
          <a:xfrm>
            <a:off x="759714" y="912875"/>
            <a:ext cx="7737475" cy="2323465"/>
          </a:xfrm>
          <a:custGeom>
            <a:avLst/>
            <a:gdLst/>
            <a:ahLst/>
            <a:cxnLst/>
            <a:rect l="l" t="t" r="r" b="b"/>
            <a:pathLst>
              <a:path w="7737475" h="2323465">
                <a:moveTo>
                  <a:pt x="7737348" y="387223"/>
                </a:moveTo>
                <a:lnTo>
                  <a:pt x="7734325" y="338658"/>
                </a:lnTo>
                <a:lnTo>
                  <a:pt x="7725511" y="291884"/>
                </a:lnTo>
                <a:lnTo>
                  <a:pt x="7711275" y="247269"/>
                </a:lnTo>
                <a:lnTo>
                  <a:pt x="7691971" y="205193"/>
                </a:lnTo>
                <a:lnTo>
                  <a:pt x="7667968" y="166001"/>
                </a:lnTo>
                <a:lnTo>
                  <a:pt x="7639621" y="130060"/>
                </a:lnTo>
                <a:lnTo>
                  <a:pt x="7607287" y="97726"/>
                </a:lnTo>
                <a:lnTo>
                  <a:pt x="7571346" y="69380"/>
                </a:lnTo>
                <a:lnTo>
                  <a:pt x="7532154" y="45377"/>
                </a:lnTo>
                <a:lnTo>
                  <a:pt x="7490079" y="26073"/>
                </a:lnTo>
                <a:lnTo>
                  <a:pt x="7445464" y="11836"/>
                </a:lnTo>
                <a:lnTo>
                  <a:pt x="7398690" y="3022"/>
                </a:lnTo>
                <a:lnTo>
                  <a:pt x="7350125" y="0"/>
                </a:lnTo>
                <a:lnTo>
                  <a:pt x="387235" y="0"/>
                </a:lnTo>
                <a:lnTo>
                  <a:pt x="338658" y="3022"/>
                </a:lnTo>
                <a:lnTo>
                  <a:pt x="291884" y="11836"/>
                </a:lnTo>
                <a:lnTo>
                  <a:pt x="247269" y="26073"/>
                </a:lnTo>
                <a:lnTo>
                  <a:pt x="205181" y="45377"/>
                </a:lnTo>
                <a:lnTo>
                  <a:pt x="165989" y="69380"/>
                </a:lnTo>
                <a:lnTo>
                  <a:pt x="130048" y="97726"/>
                </a:lnTo>
                <a:lnTo>
                  <a:pt x="97726" y="130060"/>
                </a:lnTo>
                <a:lnTo>
                  <a:pt x="69367" y="166001"/>
                </a:lnTo>
                <a:lnTo>
                  <a:pt x="45364" y="205193"/>
                </a:lnTo>
                <a:lnTo>
                  <a:pt x="26060" y="247269"/>
                </a:lnTo>
                <a:lnTo>
                  <a:pt x="11823" y="291884"/>
                </a:lnTo>
                <a:lnTo>
                  <a:pt x="3009" y="338658"/>
                </a:lnTo>
                <a:lnTo>
                  <a:pt x="0" y="387223"/>
                </a:lnTo>
                <a:lnTo>
                  <a:pt x="0" y="1936115"/>
                </a:lnTo>
                <a:lnTo>
                  <a:pt x="3009" y="1984692"/>
                </a:lnTo>
                <a:lnTo>
                  <a:pt x="11823" y="2031466"/>
                </a:lnTo>
                <a:lnTo>
                  <a:pt x="26060" y="2076081"/>
                </a:lnTo>
                <a:lnTo>
                  <a:pt x="45364" y="2118156"/>
                </a:lnTo>
                <a:lnTo>
                  <a:pt x="69367" y="2157349"/>
                </a:lnTo>
                <a:lnTo>
                  <a:pt x="97726" y="2193290"/>
                </a:lnTo>
                <a:lnTo>
                  <a:pt x="130048" y="2225624"/>
                </a:lnTo>
                <a:lnTo>
                  <a:pt x="165989" y="2253970"/>
                </a:lnTo>
                <a:lnTo>
                  <a:pt x="205181" y="2277973"/>
                </a:lnTo>
                <a:lnTo>
                  <a:pt x="247269" y="2297277"/>
                </a:lnTo>
                <a:lnTo>
                  <a:pt x="291884" y="2311514"/>
                </a:lnTo>
                <a:lnTo>
                  <a:pt x="338658" y="2320328"/>
                </a:lnTo>
                <a:lnTo>
                  <a:pt x="387235" y="2323338"/>
                </a:lnTo>
                <a:lnTo>
                  <a:pt x="7350125" y="2323338"/>
                </a:lnTo>
                <a:lnTo>
                  <a:pt x="7398690" y="2320328"/>
                </a:lnTo>
                <a:lnTo>
                  <a:pt x="7445464" y="2311514"/>
                </a:lnTo>
                <a:lnTo>
                  <a:pt x="7490079" y="2297277"/>
                </a:lnTo>
                <a:lnTo>
                  <a:pt x="7532154" y="2277973"/>
                </a:lnTo>
                <a:lnTo>
                  <a:pt x="7571346" y="2253970"/>
                </a:lnTo>
                <a:lnTo>
                  <a:pt x="7607287" y="2225624"/>
                </a:lnTo>
                <a:lnTo>
                  <a:pt x="7639621" y="2193290"/>
                </a:lnTo>
                <a:lnTo>
                  <a:pt x="7667968" y="2157349"/>
                </a:lnTo>
                <a:lnTo>
                  <a:pt x="7691971" y="2118156"/>
                </a:lnTo>
                <a:lnTo>
                  <a:pt x="7711275" y="2076081"/>
                </a:lnTo>
                <a:lnTo>
                  <a:pt x="7725511" y="2031466"/>
                </a:lnTo>
                <a:lnTo>
                  <a:pt x="7734325" y="1984692"/>
                </a:lnTo>
                <a:lnTo>
                  <a:pt x="7737348" y="1936115"/>
                </a:lnTo>
                <a:lnTo>
                  <a:pt x="7737348" y="1757172"/>
                </a:lnTo>
                <a:lnTo>
                  <a:pt x="7737348" y="566178"/>
                </a:lnTo>
                <a:lnTo>
                  <a:pt x="7737348" y="387223"/>
                </a:lnTo>
                <a:close/>
              </a:path>
            </a:pathLst>
          </a:custGeom>
          <a:solidFill>
            <a:srgbClr val="4AACC5"/>
          </a:solidFill>
        </p:spPr>
        <p:txBody>
          <a:bodyPr wrap="square" lIns="0" tIns="0" rIns="0" bIns="0" rtlCol="0"/>
          <a:lstStyle/>
          <a:p>
            <a:endParaRPr/>
          </a:p>
        </p:txBody>
      </p:sp>
      <p:sp>
        <p:nvSpPr>
          <p:cNvPr id="4" name="object 4"/>
          <p:cNvSpPr txBox="1"/>
          <p:nvPr/>
        </p:nvSpPr>
        <p:spPr>
          <a:xfrm>
            <a:off x="970533" y="1180591"/>
            <a:ext cx="7335520" cy="1489075"/>
          </a:xfrm>
          <a:prstGeom prst="rect">
            <a:avLst/>
          </a:prstGeom>
        </p:spPr>
        <p:txBody>
          <a:bodyPr vert="horz" wrap="square" lIns="0" tIns="12700" rIns="0" bIns="0" rtlCol="0">
            <a:spAutoFit/>
          </a:bodyPr>
          <a:lstStyle/>
          <a:p>
            <a:pPr marL="355600" marR="5080" indent="-342900" algn="just">
              <a:lnSpc>
                <a:spcPct val="100000"/>
              </a:lnSpc>
              <a:spcBef>
                <a:spcPts val="100"/>
              </a:spcBef>
              <a:buFont typeface="Wingdings"/>
              <a:buChar char=""/>
              <a:tabLst>
                <a:tab pos="355600" algn="l"/>
              </a:tabLst>
            </a:pPr>
            <a:r>
              <a:rPr sz="2400" spc="160" dirty="0">
                <a:solidFill>
                  <a:srgbClr val="FFFFFF"/>
                </a:solidFill>
                <a:latin typeface="Times New Roman"/>
                <a:cs typeface="Times New Roman"/>
              </a:rPr>
              <a:t>Outer </a:t>
            </a:r>
            <a:r>
              <a:rPr sz="2400" spc="70" dirty="0">
                <a:solidFill>
                  <a:srgbClr val="FFFFFF"/>
                </a:solidFill>
                <a:latin typeface="Times New Roman"/>
                <a:cs typeface="Times New Roman"/>
              </a:rPr>
              <a:t>joins </a:t>
            </a:r>
            <a:r>
              <a:rPr sz="2400" spc="65" dirty="0">
                <a:solidFill>
                  <a:srgbClr val="FFFFFF"/>
                </a:solidFill>
                <a:latin typeface="Times New Roman"/>
                <a:cs typeface="Times New Roman"/>
              </a:rPr>
              <a:t>are </a:t>
            </a:r>
            <a:r>
              <a:rPr sz="2400" spc="85" dirty="0">
                <a:solidFill>
                  <a:srgbClr val="FFFFFF"/>
                </a:solidFill>
                <a:latin typeface="Times New Roman"/>
                <a:cs typeface="Times New Roman"/>
              </a:rPr>
              <a:t>join </a:t>
            </a:r>
            <a:r>
              <a:rPr sz="2400" spc="95" dirty="0">
                <a:solidFill>
                  <a:srgbClr val="FFFFFF"/>
                </a:solidFill>
                <a:latin typeface="Times New Roman"/>
                <a:cs typeface="Times New Roman"/>
              </a:rPr>
              <a:t>statements </a:t>
            </a:r>
            <a:r>
              <a:rPr sz="2400" spc="135" dirty="0">
                <a:solidFill>
                  <a:srgbClr val="FFFFFF"/>
                </a:solidFill>
                <a:latin typeface="Times New Roman"/>
                <a:cs typeface="Times New Roman"/>
              </a:rPr>
              <a:t>that </a:t>
            </a:r>
            <a:r>
              <a:rPr sz="2400" spc="130" dirty="0">
                <a:solidFill>
                  <a:srgbClr val="FFFFFF"/>
                </a:solidFill>
                <a:latin typeface="Times New Roman"/>
                <a:cs typeface="Times New Roman"/>
              </a:rPr>
              <a:t>return </a:t>
            </a:r>
            <a:r>
              <a:rPr sz="2400" spc="15" dirty="0">
                <a:solidFill>
                  <a:srgbClr val="FFFFFF"/>
                </a:solidFill>
                <a:latin typeface="Times New Roman"/>
                <a:cs typeface="Times New Roman"/>
              </a:rPr>
              <a:t>all </a:t>
            </a:r>
            <a:r>
              <a:rPr sz="2400" spc="70" dirty="0">
                <a:solidFill>
                  <a:srgbClr val="FFFFFF"/>
                </a:solidFill>
                <a:latin typeface="Times New Roman"/>
                <a:cs typeface="Times New Roman"/>
              </a:rPr>
              <a:t>rows  </a:t>
            </a:r>
            <a:r>
              <a:rPr sz="2400" spc="85" dirty="0">
                <a:solidFill>
                  <a:srgbClr val="FFFFFF"/>
                </a:solidFill>
                <a:latin typeface="Times New Roman"/>
                <a:cs typeface="Times New Roman"/>
              </a:rPr>
              <a:t>from</a:t>
            </a:r>
            <a:r>
              <a:rPr sz="2400" dirty="0">
                <a:solidFill>
                  <a:srgbClr val="FFFFFF"/>
                </a:solidFill>
                <a:latin typeface="Times New Roman"/>
                <a:cs typeface="Times New Roman"/>
              </a:rPr>
              <a:t> </a:t>
            </a:r>
            <a:r>
              <a:rPr sz="2400" spc="95" dirty="0">
                <a:solidFill>
                  <a:srgbClr val="FFFFFF"/>
                </a:solidFill>
                <a:latin typeface="Times New Roman"/>
                <a:cs typeface="Times New Roman"/>
              </a:rPr>
              <a:t>at</a:t>
            </a:r>
            <a:r>
              <a:rPr sz="2400" spc="10" dirty="0">
                <a:solidFill>
                  <a:srgbClr val="FFFFFF"/>
                </a:solidFill>
                <a:latin typeface="Times New Roman"/>
                <a:cs typeface="Times New Roman"/>
              </a:rPr>
              <a:t> </a:t>
            </a:r>
            <a:r>
              <a:rPr sz="2400" spc="50" dirty="0">
                <a:solidFill>
                  <a:srgbClr val="FFFFFF"/>
                </a:solidFill>
                <a:latin typeface="Times New Roman"/>
                <a:cs typeface="Times New Roman"/>
              </a:rPr>
              <a:t>least</a:t>
            </a:r>
            <a:r>
              <a:rPr sz="2400" spc="10" dirty="0">
                <a:solidFill>
                  <a:srgbClr val="FFFFFF"/>
                </a:solidFill>
                <a:latin typeface="Times New Roman"/>
                <a:cs typeface="Times New Roman"/>
              </a:rPr>
              <a:t> </a:t>
            </a:r>
            <a:r>
              <a:rPr sz="2400" spc="125" dirty="0">
                <a:solidFill>
                  <a:srgbClr val="FFFFFF"/>
                </a:solidFill>
                <a:latin typeface="Times New Roman"/>
                <a:cs typeface="Times New Roman"/>
              </a:rPr>
              <a:t>one</a:t>
            </a:r>
            <a:r>
              <a:rPr sz="2400" spc="-5" dirty="0">
                <a:solidFill>
                  <a:srgbClr val="FFFFFF"/>
                </a:solidFill>
                <a:latin typeface="Times New Roman"/>
                <a:cs typeface="Times New Roman"/>
              </a:rPr>
              <a:t> </a:t>
            </a:r>
            <a:r>
              <a:rPr sz="2400" spc="70" dirty="0">
                <a:solidFill>
                  <a:srgbClr val="FFFFFF"/>
                </a:solidFill>
                <a:latin typeface="Times New Roman"/>
                <a:cs typeface="Times New Roman"/>
              </a:rPr>
              <a:t>of</a:t>
            </a:r>
            <a:r>
              <a:rPr sz="2400" spc="-5" dirty="0">
                <a:solidFill>
                  <a:srgbClr val="FFFFFF"/>
                </a:solidFill>
                <a:latin typeface="Times New Roman"/>
                <a:cs typeface="Times New Roman"/>
              </a:rPr>
              <a:t> </a:t>
            </a:r>
            <a:r>
              <a:rPr sz="2400" spc="135" dirty="0">
                <a:solidFill>
                  <a:srgbClr val="FFFFFF"/>
                </a:solidFill>
                <a:latin typeface="Times New Roman"/>
                <a:cs typeface="Times New Roman"/>
              </a:rPr>
              <a:t>the</a:t>
            </a:r>
            <a:r>
              <a:rPr sz="2400" dirty="0">
                <a:solidFill>
                  <a:srgbClr val="FFFFFF"/>
                </a:solidFill>
                <a:latin typeface="Times New Roman"/>
                <a:cs typeface="Times New Roman"/>
              </a:rPr>
              <a:t> </a:t>
            </a:r>
            <a:r>
              <a:rPr sz="2400" spc="60" dirty="0">
                <a:solidFill>
                  <a:srgbClr val="FFFFFF"/>
                </a:solidFill>
                <a:latin typeface="Times New Roman"/>
                <a:cs typeface="Times New Roman"/>
              </a:rPr>
              <a:t>tables</a:t>
            </a:r>
            <a:r>
              <a:rPr sz="2400" dirty="0">
                <a:solidFill>
                  <a:srgbClr val="FFFFFF"/>
                </a:solidFill>
                <a:latin typeface="Times New Roman"/>
                <a:cs typeface="Times New Roman"/>
              </a:rPr>
              <a:t> </a:t>
            </a:r>
            <a:r>
              <a:rPr sz="2400" spc="50" dirty="0">
                <a:solidFill>
                  <a:srgbClr val="FFFFFF"/>
                </a:solidFill>
                <a:latin typeface="Times New Roman"/>
                <a:cs typeface="Times New Roman"/>
              </a:rPr>
              <a:t>specified</a:t>
            </a:r>
            <a:r>
              <a:rPr sz="2400" spc="-5" dirty="0">
                <a:solidFill>
                  <a:srgbClr val="FFFFFF"/>
                </a:solidFill>
                <a:latin typeface="Times New Roman"/>
                <a:cs typeface="Times New Roman"/>
              </a:rPr>
              <a:t> </a:t>
            </a:r>
            <a:r>
              <a:rPr sz="2400" spc="114" dirty="0">
                <a:solidFill>
                  <a:srgbClr val="FFFFFF"/>
                </a:solidFill>
                <a:latin typeface="Times New Roman"/>
                <a:cs typeface="Times New Roman"/>
              </a:rPr>
              <a:t>in</a:t>
            </a:r>
            <a:r>
              <a:rPr sz="2400" spc="5" dirty="0">
                <a:solidFill>
                  <a:srgbClr val="FFFFFF"/>
                </a:solidFill>
                <a:latin typeface="Times New Roman"/>
                <a:cs typeface="Times New Roman"/>
              </a:rPr>
              <a:t> </a:t>
            </a:r>
            <a:r>
              <a:rPr sz="2400" spc="135" dirty="0">
                <a:solidFill>
                  <a:srgbClr val="FFFFFF"/>
                </a:solidFill>
                <a:latin typeface="Times New Roman"/>
                <a:cs typeface="Times New Roman"/>
              </a:rPr>
              <a:t>the</a:t>
            </a:r>
            <a:r>
              <a:rPr sz="2400" spc="-5" dirty="0">
                <a:solidFill>
                  <a:srgbClr val="FFFFFF"/>
                </a:solidFill>
                <a:latin typeface="Times New Roman"/>
                <a:cs typeface="Times New Roman"/>
              </a:rPr>
              <a:t> </a:t>
            </a:r>
            <a:r>
              <a:rPr sz="2400" spc="125" dirty="0">
                <a:solidFill>
                  <a:srgbClr val="FFFFFF"/>
                </a:solidFill>
                <a:latin typeface="Times New Roman"/>
                <a:cs typeface="Times New Roman"/>
              </a:rPr>
              <a:t>FROM  </a:t>
            </a:r>
            <a:r>
              <a:rPr sz="2400" spc="40" dirty="0">
                <a:solidFill>
                  <a:srgbClr val="FFFFFF"/>
                </a:solidFill>
                <a:latin typeface="Times New Roman"/>
                <a:cs typeface="Times New Roman"/>
              </a:rPr>
              <a:t>clause, </a:t>
            </a:r>
            <a:r>
              <a:rPr sz="2400" spc="20" dirty="0">
                <a:solidFill>
                  <a:srgbClr val="FFFFFF"/>
                </a:solidFill>
                <a:latin typeface="Times New Roman"/>
                <a:cs typeface="Times New Roman"/>
              </a:rPr>
              <a:t>as </a:t>
            </a:r>
            <a:r>
              <a:rPr sz="2400" spc="75" dirty="0">
                <a:solidFill>
                  <a:srgbClr val="FFFFFF"/>
                </a:solidFill>
                <a:latin typeface="Times New Roman"/>
                <a:cs typeface="Times New Roman"/>
              </a:rPr>
              <a:t>long </a:t>
            </a:r>
            <a:r>
              <a:rPr sz="2400" spc="20" dirty="0">
                <a:solidFill>
                  <a:srgbClr val="FFFFFF"/>
                </a:solidFill>
                <a:latin typeface="Times New Roman"/>
                <a:cs typeface="Times New Roman"/>
              </a:rPr>
              <a:t>as </a:t>
            </a:r>
            <a:r>
              <a:rPr sz="2400" spc="105" dirty="0">
                <a:solidFill>
                  <a:srgbClr val="FFFFFF"/>
                </a:solidFill>
                <a:latin typeface="Times New Roman"/>
                <a:cs typeface="Times New Roman"/>
              </a:rPr>
              <a:t>those </a:t>
            </a:r>
            <a:r>
              <a:rPr sz="2400" spc="70" dirty="0">
                <a:solidFill>
                  <a:srgbClr val="FFFFFF"/>
                </a:solidFill>
                <a:latin typeface="Times New Roman"/>
                <a:cs typeface="Times New Roman"/>
              </a:rPr>
              <a:t>rows </a:t>
            </a:r>
            <a:r>
              <a:rPr sz="2400" spc="90" dirty="0">
                <a:solidFill>
                  <a:srgbClr val="FFFFFF"/>
                </a:solidFill>
                <a:latin typeface="Times New Roman"/>
                <a:cs typeface="Times New Roman"/>
              </a:rPr>
              <a:t>meet </a:t>
            </a:r>
            <a:r>
              <a:rPr sz="2400" spc="80" dirty="0">
                <a:solidFill>
                  <a:srgbClr val="FFFFFF"/>
                </a:solidFill>
                <a:latin typeface="Times New Roman"/>
                <a:cs typeface="Times New Roman"/>
              </a:rPr>
              <a:t>any </a:t>
            </a:r>
            <a:r>
              <a:rPr sz="2400" spc="130" dirty="0">
                <a:solidFill>
                  <a:srgbClr val="FFFFFF"/>
                </a:solidFill>
                <a:latin typeface="Times New Roman"/>
                <a:cs typeface="Times New Roman"/>
              </a:rPr>
              <a:t>WHERE </a:t>
            </a:r>
            <a:r>
              <a:rPr sz="2400" spc="105" dirty="0">
                <a:solidFill>
                  <a:srgbClr val="FFFFFF"/>
                </a:solidFill>
                <a:latin typeface="Times New Roman"/>
                <a:cs typeface="Times New Roman"/>
              </a:rPr>
              <a:t>or  </a:t>
            </a:r>
            <a:r>
              <a:rPr sz="2400" spc="160" dirty="0">
                <a:solidFill>
                  <a:srgbClr val="FFFFFF"/>
                </a:solidFill>
                <a:latin typeface="Times New Roman"/>
                <a:cs typeface="Times New Roman"/>
              </a:rPr>
              <a:t>HAVING</a:t>
            </a:r>
            <a:r>
              <a:rPr sz="2400" spc="-95" dirty="0">
                <a:solidFill>
                  <a:srgbClr val="FFFFFF"/>
                </a:solidFill>
                <a:latin typeface="Times New Roman"/>
                <a:cs typeface="Times New Roman"/>
              </a:rPr>
              <a:t> </a:t>
            </a:r>
            <a:r>
              <a:rPr sz="2400" spc="100" dirty="0">
                <a:solidFill>
                  <a:srgbClr val="FFFFFF"/>
                </a:solidFill>
                <a:latin typeface="Times New Roman"/>
                <a:cs typeface="Times New Roman"/>
              </a:rPr>
              <a:t>conditions</a:t>
            </a:r>
            <a:r>
              <a:rPr sz="2400" spc="-100" dirty="0">
                <a:solidFill>
                  <a:srgbClr val="FFFFFF"/>
                </a:solidFill>
                <a:latin typeface="Times New Roman"/>
                <a:cs typeface="Times New Roman"/>
              </a:rPr>
              <a:t> </a:t>
            </a:r>
            <a:r>
              <a:rPr sz="2400" spc="70" dirty="0">
                <a:solidFill>
                  <a:srgbClr val="FFFFFF"/>
                </a:solidFill>
                <a:latin typeface="Times New Roman"/>
                <a:cs typeface="Times New Roman"/>
              </a:rPr>
              <a:t>of</a:t>
            </a:r>
            <a:r>
              <a:rPr sz="2400" spc="-95" dirty="0">
                <a:solidFill>
                  <a:srgbClr val="FFFFFF"/>
                </a:solidFill>
                <a:latin typeface="Times New Roman"/>
                <a:cs typeface="Times New Roman"/>
              </a:rPr>
              <a:t> </a:t>
            </a:r>
            <a:r>
              <a:rPr sz="2400" spc="135" dirty="0">
                <a:solidFill>
                  <a:srgbClr val="FFFFFF"/>
                </a:solidFill>
                <a:latin typeface="Times New Roman"/>
                <a:cs typeface="Times New Roman"/>
              </a:rPr>
              <a:t>the</a:t>
            </a:r>
            <a:r>
              <a:rPr sz="2400" spc="-95" dirty="0">
                <a:solidFill>
                  <a:srgbClr val="FFFFFF"/>
                </a:solidFill>
                <a:latin typeface="Times New Roman"/>
                <a:cs typeface="Times New Roman"/>
              </a:rPr>
              <a:t> </a:t>
            </a:r>
            <a:r>
              <a:rPr sz="2400" spc="100" dirty="0">
                <a:solidFill>
                  <a:srgbClr val="FFFFFF"/>
                </a:solidFill>
                <a:latin typeface="Times New Roman"/>
                <a:cs typeface="Times New Roman"/>
              </a:rPr>
              <a:t>SELECT</a:t>
            </a:r>
            <a:r>
              <a:rPr sz="2400" spc="-85" dirty="0">
                <a:solidFill>
                  <a:srgbClr val="FFFFFF"/>
                </a:solidFill>
                <a:latin typeface="Times New Roman"/>
                <a:cs typeface="Times New Roman"/>
              </a:rPr>
              <a:t> </a:t>
            </a:r>
            <a:r>
              <a:rPr sz="2400" spc="95" dirty="0">
                <a:solidFill>
                  <a:srgbClr val="FFFFFF"/>
                </a:solidFill>
                <a:latin typeface="Times New Roman"/>
                <a:cs typeface="Times New Roman"/>
              </a:rPr>
              <a:t>statement.</a:t>
            </a:r>
            <a:endParaRPr sz="2400">
              <a:latin typeface="Times New Roman"/>
              <a:cs typeface="Times New Roman"/>
            </a:endParaRPr>
          </a:p>
        </p:txBody>
      </p:sp>
      <p:sp>
        <p:nvSpPr>
          <p:cNvPr id="5" name="object 5"/>
          <p:cNvSpPr/>
          <p:nvPr/>
        </p:nvSpPr>
        <p:spPr>
          <a:xfrm>
            <a:off x="1499616" y="4863845"/>
            <a:ext cx="2334895" cy="862330"/>
          </a:xfrm>
          <a:custGeom>
            <a:avLst/>
            <a:gdLst/>
            <a:ahLst/>
            <a:cxnLst/>
            <a:rect l="l" t="t" r="r" b="b"/>
            <a:pathLst>
              <a:path w="2334895" h="862329">
                <a:moveTo>
                  <a:pt x="2334768" y="143637"/>
                </a:moveTo>
                <a:lnTo>
                  <a:pt x="2327440" y="98221"/>
                </a:lnTo>
                <a:lnTo>
                  <a:pt x="2307056" y="58788"/>
                </a:lnTo>
                <a:lnTo>
                  <a:pt x="2275979" y="27711"/>
                </a:lnTo>
                <a:lnTo>
                  <a:pt x="2236546" y="7327"/>
                </a:lnTo>
                <a:lnTo>
                  <a:pt x="2191131" y="0"/>
                </a:lnTo>
                <a:lnTo>
                  <a:pt x="143637" y="0"/>
                </a:lnTo>
                <a:lnTo>
                  <a:pt x="98209" y="7327"/>
                </a:lnTo>
                <a:lnTo>
                  <a:pt x="58775" y="27711"/>
                </a:lnTo>
                <a:lnTo>
                  <a:pt x="27698" y="58788"/>
                </a:lnTo>
                <a:lnTo>
                  <a:pt x="7315" y="98221"/>
                </a:lnTo>
                <a:lnTo>
                  <a:pt x="0" y="143637"/>
                </a:lnTo>
                <a:lnTo>
                  <a:pt x="0" y="718185"/>
                </a:lnTo>
                <a:lnTo>
                  <a:pt x="7315" y="763587"/>
                </a:lnTo>
                <a:lnTo>
                  <a:pt x="27698" y="803021"/>
                </a:lnTo>
                <a:lnTo>
                  <a:pt x="58775" y="834110"/>
                </a:lnTo>
                <a:lnTo>
                  <a:pt x="98209" y="854506"/>
                </a:lnTo>
                <a:lnTo>
                  <a:pt x="143637" y="861822"/>
                </a:lnTo>
                <a:lnTo>
                  <a:pt x="2191131" y="861822"/>
                </a:lnTo>
                <a:lnTo>
                  <a:pt x="2236546" y="854506"/>
                </a:lnTo>
                <a:lnTo>
                  <a:pt x="2275979" y="834110"/>
                </a:lnTo>
                <a:lnTo>
                  <a:pt x="2307056" y="803021"/>
                </a:lnTo>
                <a:lnTo>
                  <a:pt x="2327440" y="763587"/>
                </a:lnTo>
                <a:lnTo>
                  <a:pt x="2334768" y="718185"/>
                </a:lnTo>
                <a:lnTo>
                  <a:pt x="2334768" y="652272"/>
                </a:lnTo>
                <a:lnTo>
                  <a:pt x="2334768" y="210324"/>
                </a:lnTo>
                <a:lnTo>
                  <a:pt x="2334768" y="143637"/>
                </a:lnTo>
                <a:close/>
              </a:path>
            </a:pathLst>
          </a:custGeom>
          <a:solidFill>
            <a:srgbClr val="C0504D"/>
          </a:solidFill>
        </p:spPr>
        <p:txBody>
          <a:bodyPr wrap="square" lIns="0" tIns="0" rIns="0" bIns="0" rtlCol="0"/>
          <a:lstStyle/>
          <a:p>
            <a:endParaRPr/>
          </a:p>
        </p:txBody>
      </p:sp>
      <p:sp>
        <p:nvSpPr>
          <p:cNvPr id="6" name="object 6"/>
          <p:cNvSpPr txBox="1"/>
          <p:nvPr/>
        </p:nvSpPr>
        <p:spPr>
          <a:xfrm>
            <a:off x="2129535" y="4955032"/>
            <a:ext cx="1073785" cy="574040"/>
          </a:xfrm>
          <a:prstGeom prst="rect">
            <a:avLst/>
          </a:prstGeom>
        </p:spPr>
        <p:txBody>
          <a:bodyPr vert="horz" wrap="square" lIns="0" tIns="12700" rIns="0" bIns="0" rtlCol="0">
            <a:spAutoFit/>
          </a:bodyPr>
          <a:lstStyle/>
          <a:p>
            <a:pPr marL="341630" marR="5080" indent="-329565">
              <a:lnSpc>
                <a:spcPct val="100000"/>
              </a:lnSpc>
              <a:spcBef>
                <a:spcPts val="100"/>
              </a:spcBef>
            </a:pPr>
            <a:r>
              <a:rPr sz="1800" spc="40" dirty="0">
                <a:solidFill>
                  <a:srgbClr val="FFFFFF"/>
                </a:solidFill>
                <a:latin typeface="Times New Roman"/>
                <a:cs typeface="Times New Roman"/>
              </a:rPr>
              <a:t>Left</a:t>
            </a:r>
            <a:r>
              <a:rPr sz="1800" spc="-155" dirty="0">
                <a:solidFill>
                  <a:srgbClr val="FFFFFF"/>
                </a:solidFill>
                <a:latin typeface="Times New Roman"/>
                <a:cs typeface="Times New Roman"/>
              </a:rPr>
              <a:t> </a:t>
            </a:r>
            <a:r>
              <a:rPr sz="1800" spc="120" dirty="0">
                <a:solidFill>
                  <a:srgbClr val="FFFFFF"/>
                </a:solidFill>
                <a:latin typeface="Times New Roman"/>
                <a:cs typeface="Times New Roman"/>
              </a:rPr>
              <a:t>Outer  </a:t>
            </a:r>
            <a:r>
              <a:rPr sz="1800" spc="20" dirty="0">
                <a:solidFill>
                  <a:srgbClr val="FFFFFF"/>
                </a:solidFill>
                <a:latin typeface="Times New Roman"/>
                <a:cs typeface="Times New Roman"/>
              </a:rPr>
              <a:t>Join</a:t>
            </a:r>
            <a:endParaRPr sz="1800">
              <a:latin typeface="Times New Roman"/>
              <a:cs typeface="Times New Roman"/>
            </a:endParaRPr>
          </a:p>
        </p:txBody>
      </p:sp>
      <p:sp>
        <p:nvSpPr>
          <p:cNvPr id="7" name="object 7"/>
          <p:cNvSpPr/>
          <p:nvPr/>
        </p:nvSpPr>
        <p:spPr>
          <a:xfrm>
            <a:off x="4973574" y="4854701"/>
            <a:ext cx="2335530" cy="862330"/>
          </a:xfrm>
          <a:custGeom>
            <a:avLst/>
            <a:gdLst/>
            <a:ahLst/>
            <a:cxnLst/>
            <a:rect l="l" t="t" r="r" b="b"/>
            <a:pathLst>
              <a:path w="2335529" h="862329">
                <a:moveTo>
                  <a:pt x="2335530" y="143637"/>
                </a:moveTo>
                <a:lnTo>
                  <a:pt x="2328202" y="98221"/>
                </a:lnTo>
                <a:lnTo>
                  <a:pt x="2307818" y="58788"/>
                </a:lnTo>
                <a:lnTo>
                  <a:pt x="2276741" y="27711"/>
                </a:lnTo>
                <a:lnTo>
                  <a:pt x="2237308" y="7327"/>
                </a:lnTo>
                <a:lnTo>
                  <a:pt x="2191893" y="0"/>
                </a:lnTo>
                <a:lnTo>
                  <a:pt x="143637" y="0"/>
                </a:lnTo>
                <a:lnTo>
                  <a:pt x="98209" y="7327"/>
                </a:lnTo>
                <a:lnTo>
                  <a:pt x="58775" y="27711"/>
                </a:lnTo>
                <a:lnTo>
                  <a:pt x="27698" y="58788"/>
                </a:lnTo>
                <a:lnTo>
                  <a:pt x="7315" y="98221"/>
                </a:lnTo>
                <a:lnTo>
                  <a:pt x="0" y="143637"/>
                </a:lnTo>
                <a:lnTo>
                  <a:pt x="0" y="718185"/>
                </a:lnTo>
                <a:lnTo>
                  <a:pt x="7315" y="763587"/>
                </a:lnTo>
                <a:lnTo>
                  <a:pt x="27698" y="803021"/>
                </a:lnTo>
                <a:lnTo>
                  <a:pt x="58775" y="834110"/>
                </a:lnTo>
                <a:lnTo>
                  <a:pt x="98209" y="854506"/>
                </a:lnTo>
                <a:lnTo>
                  <a:pt x="143637" y="861822"/>
                </a:lnTo>
                <a:lnTo>
                  <a:pt x="2191893" y="861822"/>
                </a:lnTo>
                <a:lnTo>
                  <a:pt x="2237308" y="854506"/>
                </a:lnTo>
                <a:lnTo>
                  <a:pt x="2276741" y="834110"/>
                </a:lnTo>
                <a:lnTo>
                  <a:pt x="2307818" y="803021"/>
                </a:lnTo>
                <a:lnTo>
                  <a:pt x="2328202" y="763587"/>
                </a:lnTo>
                <a:lnTo>
                  <a:pt x="2335530" y="718185"/>
                </a:lnTo>
                <a:lnTo>
                  <a:pt x="2335530" y="652272"/>
                </a:lnTo>
                <a:lnTo>
                  <a:pt x="2335530" y="210312"/>
                </a:lnTo>
                <a:lnTo>
                  <a:pt x="2335530" y="143637"/>
                </a:lnTo>
                <a:close/>
              </a:path>
            </a:pathLst>
          </a:custGeom>
          <a:solidFill>
            <a:srgbClr val="C0504D"/>
          </a:solidFill>
        </p:spPr>
        <p:txBody>
          <a:bodyPr wrap="square" lIns="0" tIns="0" rIns="0" bIns="0" rtlCol="0"/>
          <a:lstStyle/>
          <a:p>
            <a:endParaRPr/>
          </a:p>
        </p:txBody>
      </p:sp>
      <p:sp>
        <p:nvSpPr>
          <p:cNvPr id="8" name="object 8"/>
          <p:cNvSpPr txBox="1"/>
          <p:nvPr/>
        </p:nvSpPr>
        <p:spPr>
          <a:xfrm>
            <a:off x="5548376" y="4919471"/>
            <a:ext cx="1225550" cy="574040"/>
          </a:xfrm>
          <a:prstGeom prst="rect">
            <a:avLst/>
          </a:prstGeom>
        </p:spPr>
        <p:txBody>
          <a:bodyPr vert="horz" wrap="square" lIns="0" tIns="12700" rIns="0" bIns="0" rtlCol="0">
            <a:spAutoFit/>
          </a:bodyPr>
          <a:lstStyle/>
          <a:p>
            <a:pPr marL="417195" marR="5080" indent="-405130">
              <a:lnSpc>
                <a:spcPct val="100000"/>
              </a:lnSpc>
              <a:spcBef>
                <a:spcPts val="100"/>
              </a:spcBef>
            </a:pPr>
            <a:r>
              <a:rPr sz="1800" spc="70" dirty="0">
                <a:solidFill>
                  <a:srgbClr val="FFFFFF"/>
                </a:solidFill>
                <a:latin typeface="Times New Roman"/>
                <a:cs typeface="Times New Roman"/>
              </a:rPr>
              <a:t>Right</a:t>
            </a:r>
            <a:r>
              <a:rPr sz="1800" spc="-155" dirty="0">
                <a:solidFill>
                  <a:srgbClr val="FFFFFF"/>
                </a:solidFill>
                <a:latin typeface="Times New Roman"/>
                <a:cs typeface="Times New Roman"/>
              </a:rPr>
              <a:t> </a:t>
            </a:r>
            <a:r>
              <a:rPr sz="1800" spc="120" dirty="0">
                <a:solidFill>
                  <a:srgbClr val="FFFFFF"/>
                </a:solidFill>
                <a:latin typeface="Times New Roman"/>
                <a:cs typeface="Times New Roman"/>
              </a:rPr>
              <a:t>Outer  </a:t>
            </a:r>
            <a:r>
              <a:rPr sz="1800" spc="20" dirty="0">
                <a:solidFill>
                  <a:srgbClr val="FFFFFF"/>
                </a:solidFill>
                <a:latin typeface="Times New Roman"/>
                <a:cs typeface="Times New Roman"/>
              </a:rPr>
              <a:t>Join</a:t>
            </a:r>
            <a:endParaRPr sz="1800">
              <a:latin typeface="Times New Roman"/>
              <a:cs typeface="Times New Roman"/>
            </a:endParaRPr>
          </a:p>
        </p:txBody>
      </p:sp>
      <p:grpSp>
        <p:nvGrpSpPr>
          <p:cNvPr id="9" name="object 9"/>
          <p:cNvGrpSpPr/>
          <p:nvPr/>
        </p:nvGrpSpPr>
        <p:grpSpPr>
          <a:xfrm>
            <a:off x="2629280" y="4291203"/>
            <a:ext cx="3679190" cy="574040"/>
            <a:chOff x="2629280" y="4291203"/>
            <a:chExt cx="3679190" cy="574040"/>
          </a:xfrm>
        </p:grpSpPr>
        <p:sp>
          <p:nvSpPr>
            <p:cNvPr id="10" name="object 10"/>
            <p:cNvSpPr/>
            <p:nvPr/>
          </p:nvSpPr>
          <p:spPr>
            <a:xfrm>
              <a:off x="4496180" y="4291203"/>
              <a:ext cx="0" cy="354330"/>
            </a:xfrm>
            <a:custGeom>
              <a:avLst/>
              <a:gdLst/>
              <a:ahLst/>
              <a:cxnLst/>
              <a:rect l="l" t="t" r="r" b="b"/>
              <a:pathLst>
                <a:path h="354329">
                  <a:moveTo>
                    <a:pt x="0" y="0"/>
                  </a:moveTo>
                  <a:lnTo>
                    <a:pt x="0" y="354330"/>
                  </a:lnTo>
                </a:path>
              </a:pathLst>
            </a:custGeom>
            <a:ln w="19050">
              <a:solidFill>
                <a:srgbClr val="000000"/>
              </a:solidFill>
            </a:ln>
          </p:spPr>
          <p:txBody>
            <a:bodyPr wrap="square" lIns="0" tIns="0" rIns="0" bIns="0" rtlCol="0"/>
            <a:lstStyle/>
            <a:p>
              <a:endParaRPr/>
            </a:p>
          </p:txBody>
        </p:sp>
        <p:sp>
          <p:nvSpPr>
            <p:cNvPr id="11" name="object 11"/>
            <p:cNvSpPr/>
            <p:nvPr/>
          </p:nvSpPr>
          <p:spPr>
            <a:xfrm>
              <a:off x="2687192" y="4645533"/>
              <a:ext cx="3587750" cy="0"/>
            </a:xfrm>
            <a:custGeom>
              <a:avLst/>
              <a:gdLst/>
              <a:ahLst/>
              <a:cxnLst/>
              <a:rect l="l" t="t" r="r" b="b"/>
              <a:pathLst>
                <a:path w="3587750">
                  <a:moveTo>
                    <a:pt x="0" y="0"/>
                  </a:moveTo>
                  <a:lnTo>
                    <a:pt x="3587241" y="0"/>
                  </a:lnTo>
                </a:path>
              </a:pathLst>
            </a:custGeom>
            <a:ln w="19050">
              <a:solidFill>
                <a:srgbClr val="000000"/>
              </a:solidFill>
            </a:ln>
          </p:spPr>
          <p:txBody>
            <a:bodyPr wrap="square" lIns="0" tIns="0" rIns="0" bIns="0" rtlCol="0"/>
            <a:lstStyle/>
            <a:p>
              <a:endParaRPr/>
            </a:p>
          </p:txBody>
        </p:sp>
        <p:pic>
          <p:nvPicPr>
            <p:cNvPr id="12" name="object 12"/>
            <p:cNvPicPr/>
            <p:nvPr/>
          </p:nvPicPr>
          <p:blipFill>
            <a:blip r:embed="rId3" cstate="print"/>
            <a:stretch>
              <a:fillRect/>
            </a:stretch>
          </p:blipFill>
          <p:spPr>
            <a:xfrm>
              <a:off x="2629280" y="4645533"/>
              <a:ext cx="76200" cy="219201"/>
            </a:xfrm>
            <a:prstGeom prst="rect">
              <a:avLst/>
            </a:prstGeom>
          </p:spPr>
        </p:pic>
        <p:pic>
          <p:nvPicPr>
            <p:cNvPr id="13" name="object 13"/>
            <p:cNvPicPr/>
            <p:nvPr/>
          </p:nvPicPr>
          <p:blipFill>
            <a:blip r:embed="rId4" cstate="print"/>
            <a:stretch>
              <a:fillRect/>
            </a:stretch>
          </p:blipFill>
          <p:spPr>
            <a:xfrm>
              <a:off x="6232397" y="4632198"/>
              <a:ext cx="76073" cy="232410"/>
            </a:xfrm>
            <a:prstGeom prst="rect">
              <a:avLst/>
            </a:prstGeom>
          </p:spPr>
        </p:pic>
      </p:grpSp>
      <p:sp>
        <p:nvSpPr>
          <p:cNvPr id="14" name="object 14"/>
          <p:cNvSpPr txBox="1"/>
          <p:nvPr/>
        </p:nvSpPr>
        <p:spPr>
          <a:xfrm>
            <a:off x="2036826" y="3602735"/>
            <a:ext cx="4817110" cy="400050"/>
          </a:xfrm>
          <a:prstGeom prst="rect">
            <a:avLst/>
          </a:prstGeom>
          <a:solidFill>
            <a:srgbClr val="00AFEF"/>
          </a:solidFill>
        </p:spPr>
        <p:txBody>
          <a:bodyPr vert="horz" wrap="square" lIns="0" tIns="0" rIns="0" bIns="0" rtlCol="0">
            <a:spAutoFit/>
          </a:bodyPr>
          <a:lstStyle/>
          <a:p>
            <a:pPr marL="196215">
              <a:lnSpc>
                <a:spcPts val="2365"/>
              </a:lnSpc>
            </a:pPr>
            <a:r>
              <a:rPr sz="2000" spc="105" dirty="0">
                <a:solidFill>
                  <a:srgbClr val="FFFFFF"/>
                </a:solidFill>
                <a:latin typeface="Times New Roman"/>
                <a:cs typeface="Times New Roman"/>
              </a:rPr>
              <a:t>Two</a:t>
            </a:r>
            <a:r>
              <a:rPr sz="2000" spc="-75" dirty="0">
                <a:solidFill>
                  <a:srgbClr val="FFFFFF"/>
                </a:solidFill>
                <a:latin typeface="Times New Roman"/>
                <a:cs typeface="Times New Roman"/>
              </a:rPr>
              <a:t> </a:t>
            </a:r>
            <a:r>
              <a:rPr sz="2000" spc="55" dirty="0">
                <a:solidFill>
                  <a:srgbClr val="FFFFFF"/>
                </a:solidFill>
                <a:latin typeface="Times New Roman"/>
                <a:cs typeface="Times New Roman"/>
              </a:rPr>
              <a:t>types</a:t>
            </a:r>
            <a:r>
              <a:rPr sz="2000" spc="-60" dirty="0">
                <a:solidFill>
                  <a:srgbClr val="FFFFFF"/>
                </a:solidFill>
                <a:latin typeface="Times New Roman"/>
                <a:cs typeface="Times New Roman"/>
              </a:rPr>
              <a:t> </a:t>
            </a:r>
            <a:r>
              <a:rPr sz="2000" spc="55" dirty="0">
                <a:solidFill>
                  <a:srgbClr val="FFFFFF"/>
                </a:solidFill>
                <a:latin typeface="Times New Roman"/>
                <a:cs typeface="Times New Roman"/>
              </a:rPr>
              <a:t>of</a:t>
            </a:r>
            <a:r>
              <a:rPr sz="2000" spc="-75" dirty="0">
                <a:solidFill>
                  <a:srgbClr val="FFFFFF"/>
                </a:solidFill>
                <a:latin typeface="Times New Roman"/>
                <a:cs typeface="Times New Roman"/>
              </a:rPr>
              <a:t> </a:t>
            </a:r>
            <a:r>
              <a:rPr sz="2000" spc="70" dirty="0">
                <a:solidFill>
                  <a:srgbClr val="FFFFFF"/>
                </a:solidFill>
                <a:latin typeface="Times New Roman"/>
                <a:cs typeface="Times New Roman"/>
              </a:rPr>
              <a:t>commonly</a:t>
            </a:r>
            <a:r>
              <a:rPr sz="2000" spc="-55" dirty="0">
                <a:solidFill>
                  <a:srgbClr val="FFFFFF"/>
                </a:solidFill>
                <a:latin typeface="Times New Roman"/>
                <a:cs typeface="Times New Roman"/>
              </a:rPr>
              <a:t> </a:t>
            </a:r>
            <a:r>
              <a:rPr sz="2000" spc="80" dirty="0">
                <a:solidFill>
                  <a:srgbClr val="FFFFFF"/>
                </a:solidFill>
                <a:latin typeface="Times New Roman"/>
                <a:cs typeface="Times New Roman"/>
              </a:rPr>
              <a:t>used</a:t>
            </a:r>
            <a:r>
              <a:rPr sz="2000" spc="-75" dirty="0">
                <a:solidFill>
                  <a:srgbClr val="FFFFFF"/>
                </a:solidFill>
                <a:latin typeface="Times New Roman"/>
                <a:cs typeface="Times New Roman"/>
              </a:rPr>
              <a:t> </a:t>
            </a:r>
            <a:r>
              <a:rPr sz="2000" spc="95" dirty="0">
                <a:solidFill>
                  <a:srgbClr val="FFFFFF"/>
                </a:solidFill>
                <a:latin typeface="Times New Roman"/>
                <a:cs typeface="Times New Roman"/>
              </a:rPr>
              <a:t>outer</a:t>
            </a:r>
            <a:r>
              <a:rPr sz="2000" spc="-65" dirty="0">
                <a:solidFill>
                  <a:srgbClr val="FFFFFF"/>
                </a:solidFill>
                <a:latin typeface="Times New Roman"/>
                <a:cs typeface="Times New Roman"/>
              </a:rPr>
              <a:t> </a:t>
            </a:r>
            <a:r>
              <a:rPr sz="2000" spc="55" dirty="0">
                <a:solidFill>
                  <a:srgbClr val="FFFFFF"/>
                </a:solidFill>
                <a:latin typeface="Times New Roman"/>
                <a:cs typeface="Times New Roman"/>
              </a:rPr>
              <a:t>joins</a:t>
            </a:r>
            <a:endParaRPr sz="2000">
              <a:latin typeface="Times New Roman"/>
              <a:cs typeface="Times New Roman"/>
            </a:endParaRPr>
          </a:p>
        </p:txBody>
      </p:sp>
      <p:sp>
        <p:nvSpPr>
          <p:cNvPr id="16" name="object 16"/>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04" baseline="4629" dirty="0"/>
              <a:t>9/</a:t>
            </a:r>
            <a:r>
              <a:rPr sz="1800" spc="-262" baseline="4629" dirty="0"/>
              <a:t> </a:t>
            </a:r>
            <a:fld id="{81D60167-4931-47E6-BA6A-407CBD079E47}" type="slidenum">
              <a:rPr sz="1200" spc="15" dirty="0"/>
              <a:t>31</a:t>
            </a:fld>
            <a:endParaRPr sz="1200"/>
          </a:p>
        </p:txBody>
      </p:sp>
      <p:sp>
        <p:nvSpPr>
          <p:cNvPr id="17" name="object 17"/>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p:cNvGrpSpPr/>
          <p:nvPr/>
        </p:nvGrpSpPr>
        <p:grpSpPr>
          <a:xfrm>
            <a:off x="304800" y="838200"/>
            <a:ext cx="8686800" cy="762000"/>
            <a:chOff x="0" y="21039"/>
            <a:chExt cx="6096000" cy="1067040"/>
          </a:xfrm>
          <a:scene3d>
            <a:camera prst="orthographicFront"/>
            <a:lightRig rig="flat" dir="t"/>
          </a:scene3d>
        </p:grpSpPr>
        <p:sp>
          <p:nvSpPr>
            <p:cNvPr id="6" name="Rounded Rectangle 5"/>
            <p:cNvSpPr/>
            <p:nvPr/>
          </p:nvSpPr>
          <p:spPr>
            <a:xfrm>
              <a:off x="0" y="21039"/>
              <a:ext cx="6096000" cy="1067040"/>
            </a:xfrm>
            <a:prstGeom prst="roundRect">
              <a:avLst/>
            </a:prstGeom>
            <a:sp3d prstMaterial="plastic">
              <a:bevelT w="120900" h="88900"/>
              <a:bevelB w="88900" h="31750" prst="angle"/>
            </a:sp3d>
          </p:spPr>
          <p:style>
            <a:lnRef idx="0">
              <a:schemeClr val="lt1">
                <a:hueOff val="0"/>
                <a:satOff val="0"/>
                <a:lumOff val="0"/>
                <a:alphaOff val="0"/>
              </a:schemeClr>
            </a:lnRef>
            <a:fillRef idx="3">
              <a:schemeClr val="accent4">
                <a:alpha val="90000"/>
                <a:hueOff val="0"/>
                <a:satOff val="0"/>
                <a:lumOff val="0"/>
                <a:alphaOff val="0"/>
              </a:schemeClr>
            </a:fillRef>
            <a:effectRef idx="2">
              <a:schemeClr val="accent4">
                <a:alpha val="90000"/>
                <a:hueOff val="0"/>
                <a:satOff val="0"/>
                <a:lumOff val="0"/>
                <a:alphaOff val="0"/>
              </a:schemeClr>
            </a:effectRef>
            <a:fontRef idx="minor">
              <a:schemeClr val="lt1"/>
            </a:fontRef>
          </p:style>
        </p:sp>
        <p:sp>
          <p:nvSpPr>
            <p:cNvPr id="7" name="Rounded Rectangle 4"/>
            <p:cNvSpPr/>
            <p:nvPr/>
          </p:nvSpPr>
          <p:spPr>
            <a:xfrm>
              <a:off x="52089" y="73128"/>
              <a:ext cx="5991822" cy="962862"/>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defTabSz="889000">
                <a:lnSpc>
                  <a:spcPct val="90000"/>
                </a:lnSpc>
                <a:spcBef>
                  <a:spcPct val="0"/>
                </a:spcBef>
                <a:spcAft>
                  <a:spcPct val="35000"/>
                </a:spcAft>
              </a:pPr>
              <a:r>
                <a:rPr lang="en-US" sz="1800">
                  <a:latin typeface="Calibri" pitchFamily="34" charset="0"/>
                  <a:cs typeface="Calibri" pitchFamily="34" charset="0"/>
                </a:rPr>
                <a:t>Returns </a:t>
              </a:r>
              <a:r>
                <a:rPr lang="en-US" sz="1800" dirty="0">
                  <a:latin typeface="Calibri" pitchFamily="34" charset="0"/>
                  <a:cs typeface="Calibri" pitchFamily="34" charset="0"/>
                </a:rPr>
                <a:t>all the records from the left table and only matching records from the right table.</a:t>
              </a:r>
              <a:endParaRPr lang="en-US" sz="1800" kern="1200" dirty="0">
                <a:latin typeface="Calibri" pitchFamily="34" charset="0"/>
                <a:cs typeface="Calibri" pitchFamily="34" charset="0"/>
              </a:endParaRPr>
            </a:p>
          </p:txBody>
        </p:sp>
      </p:grpSp>
      <p:sp>
        <p:nvSpPr>
          <p:cNvPr id="8" name="TextBox 7"/>
          <p:cNvSpPr txBox="1"/>
          <p:nvPr/>
        </p:nvSpPr>
        <p:spPr>
          <a:xfrm>
            <a:off x="381000" y="1676400"/>
            <a:ext cx="2133600" cy="369332"/>
          </a:xfrm>
          <a:prstGeom prst="rect">
            <a:avLst/>
          </a:prstGeom>
          <a:noFill/>
        </p:spPr>
        <p:txBody>
          <a:bodyPr wrap="square" rtlCol="0">
            <a:spAutoFit/>
          </a:bodyPr>
          <a:lstStyle/>
          <a:p>
            <a:pPr marL="341313" indent="-341313">
              <a:lnSpc>
                <a:spcPct val="100000"/>
              </a:lnSpc>
              <a:spcBef>
                <a:spcPts val="0"/>
              </a:spcBef>
              <a:buFont typeface="Wingdings" pitchFamily="2" charset="2"/>
              <a:buChar char="Ø"/>
            </a:pPr>
            <a:r>
              <a:rPr lang="en-US" sz="1800" dirty="0">
                <a:latin typeface="Calibri" pitchFamily="34" charset="0"/>
                <a:cs typeface="Calibri" pitchFamily="34" charset="0"/>
              </a:rPr>
              <a:t>The syntax :</a:t>
            </a:r>
          </a:p>
        </p:txBody>
      </p:sp>
      <p:sp>
        <p:nvSpPr>
          <p:cNvPr id="10" name="TextBox 9"/>
          <p:cNvSpPr txBox="1"/>
          <p:nvPr/>
        </p:nvSpPr>
        <p:spPr>
          <a:xfrm>
            <a:off x="762000" y="2057400"/>
            <a:ext cx="7696200" cy="1077218"/>
          </a:xfrm>
          <a:prstGeom prst="rect">
            <a:avLst/>
          </a:prstGeom>
          <a:ln/>
        </p:spPr>
        <p:style>
          <a:lnRef idx="1">
            <a:schemeClr val="accent1"/>
          </a:lnRef>
          <a:fillRef idx="2">
            <a:schemeClr val="accent1"/>
          </a:fillRef>
          <a:effectRef idx="1">
            <a:schemeClr val="accent1"/>
          </a:effectRef>
          <a:fontRef idx="minor">
            <a:schemeClr val="dk1"/>
          </a:fontRef>
        </p:style>
        <p:txBody>
          <a:bodyPr wrap="square" rtlCol="0">
            <a:spAutoFit/>
          </a:bodyPr>
          <a:lstStyle/>
          <a:p>
            <a:pPr>
              <a:lnSpc>
                <a:spcPct val="100000"/>
              </a:lnSpc>
              <a:spcBef>
                <a:spcPts val="600"/>
              </a:spcBef>
            </a:pPr>
            <a:r>
              <a:rPr lang="en-US" b="1" dirty="0"/>
              <a:t>SELECT</a:t>
            </a:r>
            <a:r>
              <a:rPr lang="en-US" dirty="0"/>
              <a:t> &lt;ColumnName1&gt;, &lt;ColumnName2&gt;...&lt;</a:t>
            </a:r>
            <a:r>
              <a:rPr lang="en-US" dirty="0" err="1"/>
              <a:t>ColumnNameN</a:t>
            </a:r>
            <a:r>
              <a:rPr lang="en-US" dirty="0"/>
              <a:t>&gt;</a:t>
            </a:r>
          </a:p>
          <a:p>
            <a:pPr>
              <a:lnSpc>
                <a:spcPct val="100000"/>
              </a:lnSpc>
              <a:spcBef>
                <a:spcPts val="600"/>
              </a:spcBef>
            </a:pPr>
            <a:r>
              <a:rPr lang="en-US" b="1" dirty="0"/>
              <a:t>   FROM</a:t>
            </a:r>
            <a:r>
              <a:rPr lang="en-US" dirty="0"/>
              <a:t> </a:t>
            </a:r>
            <a:r>
              <a:rPr lang="en-US" dirty="0" err="1"/>
              <a:t>Table_A</a:t>
            </a:r>
            <a:r>
              <a:rPr lang="en-US" dirty="0"/>
              <a:t>  AS  </a:t>
            </a:r>
            <a:r>
              <a:rPr lang="en-US" dirty="0" err="1">
                <a:solidFill>
                  <a:srgbClr val="FF0000"/>
                </a:solidFill>
              </a:rPr>
              <a:t>Alias_A</a:t>
            </a:r>
            <a:r>
              <a:rPr lang="en-US" dirty="0"/>
              <a:t>  </a:t>
            </a:r>
            <a:r>
              <a:rPr lang="en-US" b="1" dirty="0">
                <a:solidFill>
                  <a:srgbClr val="004E4C"/>
                </a:solidFill>
              </a:rPr>
              <a:t>LEFT OUTER JOIN </a:t>
            </a:r>
            <a:r>
              <a:rPr lang="en-US" dirty="0">
                <a:solidFill>
                  <a:srgbClr val="004E4C"/>
                </a:solidFill>
              </a:rPr>
              <a:t> </a:t>
            </a:r>
            <a:r>
              <a:rPr lang="en-US" dirty="0" err="1"/>
              <a:t>Table_B</a:t>
            </a:r>
            <a:r>
              <a:rPr lang="en-US" dirty="0"/>
              <a:t>  AS  </a:t>
            </a:r>
            <a:r>
              <a:rPr lang="en-US" dirty="0" err="1">
                <a:solidFill>
                  <a:srgbClr val="FF0000"/>
                </a:solidFill>
              </a:rPr>
              <a:t>Alias_B</a:t>
            </a:r>
            <a:endParaRPr lang="en-US" dirty="0">
              <a:solidFill>
                <a:srgbClr val="FF0000"/>
              </a:solidFill>
            </a:endParaRPr>
          </a:p>
          <a:p>
            <a:pPr>
              <a:lnSpc>
                <a:spcPct val="100000"/>
              </a:lnSpc>
              <a:spcBef>
                <a:spcPts val="600"/>
              </a:spcBef>
            </a:pPr>
            <a:r>
              <a:rPr lang="en-US" b="1" dirty="0"/>
              <a:t>        ON</a:t>
            </a:r>
            <a:r>
              <a:rPr lang="en-US" dirty="0"/>
              <a:t>  </a:t>
            </a:r>
            <a:r>
              <a:rPr lang="en-US" dirty="0" err="1">
                <a:solidFill>
                  <a:srgbClr val="FF0000"/>
                </a:solidFill>
              </a:rPr>
              <a:t>Alias_A</a:t>
            </a:r>
            <a:r>
              <a:rPr lang="en-US" dirty="0"/>
              <a:t>.&lt;</a:t>
            </a:r>
            <a:r>
              <a:rPr lang="en-US" dirty="0" err="1"/>
              <a:t>CommonColumn</a:t>
            </a:r>
            <a:r>
              <a:rPr lang="en-US" dirty="0"/>
              <a:t>&gt; </a:t>
            </a:r>
            <a:r>
              <a:rPr lang="en-US" dirty="0">
                <a:solidFill>
                  <a:srgbClr val="0036A2"/>
                </a:solidFill>
              </a:rPr>
              <a:t>=</a:t>
            </a:r>
            <a:r>
              <a:rPr lang="en-US" dirty="0"/>
              <a:t> </a:t>
            </a:r>
            <a:r>
              <a:rPr lang="en-US" dirty="0" err="1">
                <a:solidFill>
                  <a:srgbClr val="FF0000"/>
                </a:solidFill>
              </a:rPr>
              <a:t>Alias_B</a:t>
            </a:r>
            <a:r>
              <a:rPr lang="en-US" dirty="0">
                <a:solidFill>
                  <a:srgbClr val="FF0000"/>
                </a:solidFill>
              </a:rPr>
              <a:t>.</a:t>
            </a:r>
            <a:r>
              <a:rPr lang="en-US" dirty="0"/>
              <a:t>&lt;</a:t>
            </a:r>
            <a:r>
              <a:rPr lang="en-US" dirty="0" err="1"/>
              <a:t>CommonColumn</a:t>
            </a:r>
            <a:r>
              <a:rPr lang="en-US" dirty="0"/>
              <a:t>&gt;</a:t>
            </a:r>
            <a:endParaRPr lang="en-US" sz="1050" dirty="0"/>
          </a:p>
        </p:txBody>
      </p:sp>
      <p:sp>
        <p:nvSpPr>
          <p:cNvPr id="12" name="TextBox 11"/>
          <p:cNvSpPr txBox="1"/>
          <p:nvPr/>
        </p:nvSpPr>
        <p:spPr>
          <a:xfrm>
            <a:off x="762000" y="3505200"/>
            <a:ext cx="7924800" cy="923330"/>
          </a:xfrm>
          <a:prstGeom prst="rect">
            <a:avLst/>
          </a:prstGeom>
          <a:ln/>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a:t>SELECT </a:t>
            </a:r>
            <a:r>
              <a:rPr lang="en-US" dirty="0" err="1"/>
              <a:t>A.CustomerID</a:t>
            </a:r>
            <a:r>
              <a:rPr lang="en-US" dirty="0"/>
              <a:t>, </a:t>
            </a:r>
            <a:r>
              <a:rPr lang="en-US" dirty="0" err="1"/>
              <a:t>B.DueDate</a:t>
            </a:r>
            <a:r>
              <a:rPr lang="en-US" dirty="0"/>
              <a:t>, </a:t>
            </a:r>
            <a:r>
              <a:rPr lang="en-US" dirty="0" err="1"/>
              <a:t>B.ShipDate</a:t>
            </a:r>
            <a:endParaRPr lang="en-US" dirty="0"/>
          </a:p>
          <a:p>
            <a:r>
              <a:rPr lang="en-US" dirty="0"/>
              <a:t>    FROM Customer A </a:t>
            </a:r>
            <a:r>
              <a:rPr lang="en-US" dirty="0">
                <a:solidFill>
                  <a:srgbClr val="F61828"/>
                </a:solidFill>
              </a:rPr>
              <a:t>LEFT OUTER JOIN  </a:t>
            </a:r>
            <a:r>
              <a:rPr lang="en-US" dirty="0" err="1"/>
              <a:t>SalesOrderHeader</a:t>
            </a:r>
            <a:r>
              <a:rPr lang="en-US" dirty="0"/>
              <a:t> B</a:t>
            </a:r>
          </a:p>
          <a:p>
            <a:r>
              <a:rPr lang="en-US" dirty="0"/>
              <a:t>           ON  </a:t>
            </a:r>
            <a:r>
              <a:rPr lang="en-US" dirty="0" err="1"/>
              <a:t>A.CustomerID</a:t>
            </a:r>
            <a:r>
              <a:rPr lang="en-US" dirty="0"/>
              <a:t> = </a:t>
            </a:r>
            <a:r>
              <a:rPr lang="en-US" dirty="0" err="1"/>
              <a:t>B.CustomerID</a:t>
            </a:r>
            <a:r>
              <a:rPr lang="en-US" dirty="0"/>
              <a:t> AND YEAR(</a:t>
            </a:r>
            <a:r>
              <a:rPr lang="en-US" dirty="0" err="1"/>
              <a:t>B.DueDate</a:t>
            </a:r>
            <a:r>
              <a:rPr lang="en-US" dirty="0"/>
              <a:t>)&lt;</a:t>
            </a:r>
            <a:r>
              <a:rPr lang="en-US"/>
              <a:t>2012;</a:t>
            </a:r>
            <a:endParaRPr lang="en-US" dirty="0"/>
          </a:p>
        </p:txBody>
      </p:sp>
      <p:pic>
        <p:nvPicPr>
          <p:cNvPr id="13" name="Picture 12" descr="Figure 9.24.tif"/>
          <p:cNvPicPr>
            <a:picLocks noChangeAspect="1"/>
          </p:cNvPicPr>
          <p:nvPr/>
        </p:nvPicPr>
        <p:blipFill>
          <a:blip r:embed="rId3" cstate="print"/>
          <a:stretch>
            <a:fillRect/>
          </a:stretch>
        </p:blipFill>
        <p:spPr>
          <a:xfrm>
            <a:off x="2514600" y="4527349"/>
            <a:ext cx="3942233" cy="2330651"/>
          </a:xfrm>
          <a:prstGeom prst="rect">
            <a:avLst/>
          </a:prstGeom>
        </p:spPr>
      </p:pic>
      <p:sp>
        <p:nvSpPr>
          <p:cNvPr id="14" name="TextBox 13"/>
          <p:cNvSpPr txBox="1"/>
          <p:nvPr/>
        </p:nvSpPr>
        <p:spPr>
          <a:xfrm>
            <a:off x="304800" y="3124200"/>
            <a:ext cx="2133600" cy="369332"/>
          </a:xfrm>
          <a:prstGeom prst="rect">
            <a:avLst/>
          </a:prstGeom>
          <a:noFill/>
        </p:spPr>
        <p:txBody>
          <a:bodyPr wrap="square" rtlCol="0">
            <a:spAutoFit/>
          </a:bodyPr>
          <a:lstStyle/>
          <a:p>
            <a:pPr marL="341313" indent="-341313">
              <a:lnSpc>
                <a:spcPct val="100000"/>
              </a:lnSpc>
              <a:spcBef>
                <a:spcPts val="0"/>
              </a:spcBef>
              <a:buFont typeface="Wingdings" pitchFamily="2" charset="2"/>
              <a:buChar char="Ø"/>
            </a:pPr>
            <a:r>
              <a:rPr lang="en-US" sz="1800" dirty="0">
                <a:latin typeface="Calibri" pitchFamily="34" charset="0"/>
                <a:cs typeface="Calibri" pitchFamily="34" charset="0"/>
              </a:rPr>
              <a:t>For example :</a:t>
            </a:r>
          </a:p>
        </p:txBody>
      </p:sp>
      <p:sp>
        <p:nvSpPr>
          <p:cNvPr id="15" name="object 16">
            <a:extLst>
              <a:ext uri="{FF2B5EF4-FFF2-40B4-BE49-F238E27FC236}">
                <a16:creationId xmlns:a16="http://schemas.microsoft.com/office/drawing/2014/main" id="{67FA57E6-273E-41BD-AA68-F0EF7EDB48B1}"/>
              </a:ext>
            </a:extLst>
          </p:cNvPr>
          <p:cNvSpPr txBox="1">
            <a:spLocks/>
          </p:cNvSpPr>
          <p:nvPr/>
        </p:nvSpPr>
        <p:spPr>
          <a:xfrm>
            <a:off x="7912607" y="6569709"/>
            <a:ext cx="909954" cy="256540"/>
          </a:xfrm>
          <a:prstGeom prst="rect">
            <a:avLst/>
          </a:prstGeom>
        </p:spPr>
        <p:txBody>
          <a:bodyPr vert="horz" wrap="square" lIns="0" tIns="18415"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spcBef>
                <a:spcPts val="145"/>
              </a:spcBef>
            </a:pPr>
            <a:r>
              <a:rPr lang="en-US" spc="52" baseline="4629"/>
              <a:t>Session </a:t>
            </a:r>
            <a:r>
              <a:rPr lang="en-US" spc="104" baseline="4629"/>
              <a:t>9/</a:t>
            </a:r>
            <a:r>
              <a:rPr lang="en-US" spc="-262" baseline="4629"/>
              <a:t> </a:t>
            </a:r>
            <a:fld id="{81D60167-4931-47E6-BA6A-407CBD079E47}" type="slidenum">
              <a:rPr sz="1200" spc="15" smtClean="0"/>
              <a:pPr marL="12700">
                <a:spcBef>
                  <a:spcPts val="145"/>
                </a:spcBef>
              </a:pPr>
              <a:t>32</a:t>
            </a:fld>
            <a:endParaRPr sz="1200"/>
          </a:p>
        </p:txBody>
      </p:sp>
      <p:sp>
        <p:nvSpPr>
          <p:cNvPr id="16" name="object 2">
            <a:extLst>
              <a:ext uri="{FF2B5EF4-FFF2-40B4-BE49-F238E27FC236}">
                <a16:creationId xmlns:a16="http://schemas.microsoft.com/office/drawing/2014/main" id="{F224DFB8-49A7-47DB-AC1E-60679C5B612B}"/>
              </a:ext>
            </a:extLst>
          </p:cNvPr>
          <p:cNvSpPr txBox="1">
            <a:spLocks noGrp="1"/>
          </p:cNvSpPr>
          <p:nvPr/>
        </p:nvSpPr>
        <p:spPr>
          <a:xfrm>
            <a:off x="275492" y="54472"/>
            <a:ext cx="3839308" cy="628377"/>
          </a:xfrm>
          <a:prstGeom prst="rect">
            <a:avLst/>
          </a:prstGeom>
        </p:spPr>
        <p:txBody>
          <a:bodyPr vert="horz" wrap="square" lIns="0" tIns="12700" rIns="0" bIns="0" rtlCol="0">
            <a:spAutoFit/>
          </a:bodyPr>
          <a:lstStyle>
            <a:lvl1pPr>
              <a:defRPr sz="4000" b="0" i="0">
                <a:solidFill>
                  <a:schemeClr val="bg1"/>
                </a:solidFill>
                <a:latin typeface="Times New Roman"/>
                <a:ea typeface="+mj-ea"/>
                <a:cs typeface="Times New Roman"/>
              </a:defRPr>
            </a:lvl1pPr>
          </a:lstStyle>
          <a:p>
            <a:pPr marL="12700">
              <a:lnSpc>
                <a:spcPct val="100000"/>
              </a:lnSpc>
              <a:spcBef>
                <a:spcPts val="100"/>
              </a:spcBef>
            </a:pPr>
            <a:r>
              <a:rPr lang="en-US" spc="265"/>
              <a:t>Left </a:t>
            </a:r>
            <a:r>
              <a:rPr spc="265"/>
              <a:t>Outer</a:t>
            </a:r>
            <a:r>
              <a:rPr spc="-240"/>
              <a:t> </a:t>
            </a:r>
            <a:r>
              <a:rPr spc="45" dirty="0"/>
              <a:t>Join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81000" y="1262386"/>
            <a:ext cx="8382000" cy="923330"/>
          </a:xfrm>
          <a:prstGeom prst="rect">
            <a:avLst/>
          </a:prstGeom>
          <a:noFill/>
        </p:spPr>
        <p:txBody>
          <a:bodyPr wrap="square" rtlCol="0">
            <a:spAutoFit/>
          </a:bodyPr>
          <a:lstStyle/>
          <a:p>
            <a:pPr marL="341313" indent="-341313">
              <a:lnSpc>
                <a:spcPct val="100000"/>
              </a:lnSpc>
              <a:spcBef>
                <a:spcPts val="0"/>
              </a:spcBef>
              <a:buFont typeface="Wingdings" pitchFamily="2" charset="2"/>
              <a:buChar char="Ø"/>
            </a:pPr>
            <a:r>
              <a:rPr lang="en-US" sz="1800">
                <a:latin typeface="Calibri" pitchFamily="34" charset="0"/>
                <a:cs typeface="Calibri" pitchFamily="34" charset="0"/>
              </a:rPr>
              <a:t>Retrieves </a:t>
            </a:r>
            <a:r>
              <a:rPr lang="en-US" sz="1800" dirty="0">
                <a:latin typeface="Calibri" pitchFamily="34" charset="0"/>
                <a:cs typeface="Calibri" pitchFamily="34" charset="0"/>
              </a:rPr>
              <a:t>all the records from the second table in the join regardless of whether there is matching data in the first table or not. </a:t>
            </a:r>
          </a:p>
          <a:p>
            <a:pPr marL="341313" indent="-341313">
              <a:lnSpc>
                <a:spcPct val="100000"/>
              </a:lnSpc>
              <a:spcBef>
                <a:spcPts val="0"/>
              </a:spcBef>
              <a:buFont typeface="Wingdings" pitchFamily="2" charset="2"/>
              <a:buChar char="Ø"/>
            </a:pPr>
            <a:endParaRPr lang="en-US" sz="1800" dirty="0">
              <a:latin typeface="Calibri" pitchFamily="34" charset="0"/>
              <a:cs typeface="Calibri" pitchFamily="34" charset="0"/>
            </a:endParaRPr>
          </a:p>
        </p:txBody>
      </p:sp>
      <p:sp>
        <p:nvSpPr>
          <p:cNvPr id="6" name="Rounded Rectangle 5"/>
          <p:cNvSpPr/>
          <p:nvPr/>
        </p:nvSpPr>
        <p:spPr>
          <a:xfrm>
            <a:off x="762000" y="2419367"/>
            <a:ext cx="1066800" cy="381000"/>
          </a:xfrm>
          <a:prstGeom prst="roundRect">
            <a:avLst/>
          </a:prstGeom>
        </p:spPr>
        <p:style>
          <a:lnRef idx="0">
            <a:schemeClr val="accent5"/>
          </a:lnRef>
          <a:fillRef idx="3">
            <a:schemeClr val="accent5"/>
          </a:fillRef>
          <a:effectRef idx="3">
            <a:schemeClr val="accent5"/>
          </a:effectRef>
          <a:fontRef idx="minor">
            <a:schemeClr val="lt1"/>
          </a:fontRef>
        </p:style>
        <p:txBody>
          <a:bodyPr rtlCol="0" anchor="ctr"/>
          <a:lstStyle/>
          <a:p>
            <a:r>
              <a:rPr lang="en-US" sz="1600" b="1" dirty="0"/>
              <a:t>Syntax:</a:t>
            </a:r>
          </a:p>
        </p:txBody>
      </p:sp>
      <p:sp>
        <p:nvSpPr>
          <p:cNvPr id="7" name="TextBox 6"/>
          <p:cNvSpPr txBox="1"/>
          <p:nvPr/>
        </p:nvSpPr>
        <p:spPr>
          <a:xfrm>
            <a:off x="762000" y="2943837"/>
            <a:ext cx="8001000" cy="1077218"/>
          </a:xfrm>
          <a:prstGeom prst="rect">
            <a:avLst/>
          </a:prstGeom>
          <a:solidFill>
            <a:schemeClr val="accent1">
              <a:lumMod val="60000"/>
              <a:lumOff val="40000"/>
            </a:schemeClr>
          </a:solidFill>
          <a:ln>
            <a:solidFill>
              <a:schemeClr val="tx1"/>
            </a:solidFill>
          </a:ln>
        </p:spPr>
        <p:txBody>
          <a:bodyPr wrap="square" rtlCol="0">
            <a:spAutoFit/>
          </a:bodyPr>
          <a:lstStyle/>
          <a:p>
            <a:pPr>
              <a:lnSpc>
                <a:spcPct val="100000"/>
              </a:lnSpc>
              <a:spcBef>
                <a:spcPts val="600"/>
              </a:spcBef>
            </a:pPr>
            <a:r>
              <a:rPr lang="en-US" b="1"/>
              <a:t>SELECT</a:t>
            </a:r>
            <a:r>
              <a:rPr lang="en-US"/>
              <a:t> </a:t>
            </a:r>
            <a:r>
              <a:rPr lang="en-US" dirty="0"/>
              <a:t>&lt;Column List&gt;</a:t>
            </a:r>
          </a:p>
          <a:p>
            <a:pPr>
              <a:lnSpc>
                <a:spcPct val="100000"/>
              </a:lnSpc>
              <a:spcBef>
                <a:spcPts val="600"/>
              </a:spcBef>
            </a:pPr>
            <a:r>
              <a:rPr lang="en-US" b="1" dirty="0"/>
              <a:t>   FROM</a:t>
            </a:r>
            <a:r>
              <a:rPr lang="en-US" dirty="0"/>
              <a:t> </a:t>
            </a:r>
            <a:r>
              <a:rPr lang="en-US" dirty="0" err="1"/>
              <a:t>Table_A</a:t>
            </a:r>
            <a:r>
              <a:rPr lang="en-US" dirty="0"/>
              <a:t>  AS  </a:t>
            </a:r>
            <a:r>
              <a:rPr lang="en-US" dirty="0" err="1">
                <a:solidFill>
                  <a:srgbClr val="FF0000"/>
                </a:solidFill>
              </a:rPr>
              <a:t>Alias_A</a:t>
            </a:r>
            <a:r>
              <a:rPr lang="en-US" dirty="0"/>
              <a:t>  </a:t>
            </a:r>
            <a:r>
              <a:rPr lang="en-US" b="1" dirty="0">
                <a:solidFill>
                  <a:srgbClr val="004E4C"/>
                </a:solidFill>
              </a:rPr>
              <a:t>RIGHT OUTER JOIN </a:t>
            </a:r>
            <a:r>
              <a:rPr lang="en-US" dirty="0">
                <a:solidFill>
                  <a:srgbClr val="004E4C"/>
                </a:solidFill>
              </a:rPr>
              <a:t> </a:t>
            </a:r>
            <a:r>
              <a:rPr lang="en-US" dirty="0" err="1"/>
              <a:t>Table_B</a:t>
            </a:r>
            <a:r>
              <a:rPr lang="en-US" dirty="0"/>
              <a:t>  AS  </a:t>
            </a:r>
            <a:r>
              <a:rPr lang="en-US" dirty="0" err="1">
                <a:solidFill>
                  <a:srgbClr val="FF0000"/>
                </a:solidFill>
              </a:rPr>
              <a:t>Alias_B</a:t>
            </a:r>
            <a:endParaRPr lang="en-US" dirty="0">
              <a:solidFill>
                <a:srgbClr val="FF0000"/>
              </a:solidFill>
            </a:endParaRPr>
          </a:p>
          <a:p>
            <a:pPr>
              <a:lnSpc>
                <a:spcPct val="100000"/>
              </a:lnSpc>
              <a:spcBef>
                <a:spcPts val="600"/>
              </a:spcBef>
            </a:pPr>
            <a:r>
              <a:rPr lang="en-US" b="1" dirty="0"/>
              <a:t>        ON</a:t>
            </a:r>
            <a:r>
              <a:rPr lang="en-US" dirty="0"/>
              <a:t>  </a:t>
            </a:r>
            <a:r>
              <a:rPr lang="en-US" dirty="0" err="1">
                <a:solidFill>
                  <a:srgbClr val="FF0000"/>
                </a:solidFill>
              </a:rPr>
              <a:t>Alias_A</a:t>
            </a:r>
            <a:r>
              <a:rPr lang="en-US" dirty="0"/>
              <a:t>.&lt;</a:t>
            </a:r>
            <a:r>
              <a:rPr lang="en-US" dirty="0" err="1"/>
              <a:t>CommonColumn</a:t>
            </a:r>
            <a:r>
              <a:rPr lang="en-US" dirty="0"/>
              <a:t>&gt; </a:t>
            </a:r>
            <a:r>
              <a:rPr lang="en-US" dirty="0">
                <a:solidFill>
                  <a:srgbClr val="0036A2"/>
                </a:solidFill>
              </a:rPr>
              <a:t>=</a:t>
            </a:r>
            <a:r>
              <a:rPr lang="en-US" dirty="0"/>
              <a:t> </a:t>
            </a:r>
            <a:r>
              <a:rPr lang="en-US" dirty="0" err="1">
                <a:solidFill>
                  <a:srgbClr val="FF0000"/>
                </a:solidFill>
              </a:rPr>
              <a:t>Alias_B</a:t>
            </a:r>
            <a:r>
              <a:rPr lang="en-US" dirty="0">
                <a:solidFill>
                  <a:srgbClr val="FF0000"/>
                </a:solidFill>
              </a:rPr>
              <a:t>.</a:t>
            </a:r>
            <a:r>
              <a:rPr lang="en-US" dirty="0"/>
              <a:t>&lt;</a:t>
            </a:r>
            <a:r>
              <a:rPr lang="en-US" dirty="0" err="1"/>
              <a:t>CommonColumn</a:t>
            </a:r>
            <a:r>
              <a:rPr lang="en-US" dirty="0"/>
              <a:t>&gt;</a:t>
            </a:r>
            <a:endParaRPr lang="en-US" sz="1050" dirty="0"/>
          </a:p>
        </p:txBody>
      </p:sp>
      <p:sp>
        <p:nvSpPr>
          <p:cNvPr id="8" name="object 16">
            <a:extLst>
              <a:ext uri="{FF2B5EF4-FFF2-40B4-BE49-F238E27FC236}">
                <a16:creationId xmlns:a16="http://schemas.microsoft.com/office/drawing/2014/main" id="{B09D3357-82E7-4A7B-885A-EEBBE5DDC622}"/>
              </a:ext>
            </a:extLst>
          </p:cNvPr>
          <p:cNvSpPr txBox="1">
            <a:spLocks/>
          </p:cNvSpPr>
          <p:nvPr/>
        </p:nvSpPr>
        <p:spPr>
          <a:xfrm>
            <a:off x="7912607" y="6569709"/>
            <a:ext cx="909954" cy="256540"/>
          </a:xfrm>
          <a:prstGeom prst="rect">
            <a:avLst/>
          </a:prstGeom>
        </p:spPr>
        <p:txBody>
          <a:bodyPr vert="horz" wrap="square" lIns="0" tIns="18415"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spcBef>
                <a:spcPts val="145"/>
              </a:spcBef>
            </a:pPr>
            <a:r>
              <a:rPr lang="en-US" spc="52" baseline="4629"/>
              <a:t>Session </a:t>
            </a:r>
            <a:r>
              <a:rPr lang="en-US" spc="104" baseline="4629"/>
              <a:t>9/</a:t>
            </a:r>
            <a:r>
              <a:rPr lang="en-US" spc="-262" baseline="4629"/>
              <a:t> </a:t>
            </a:r>
            <a:fld id="{81D60167-4931-47E6-BA6A-407CBD079E47}" type="slidenum">
              <a:rPr sz="1200" spc="15" smtClean="0"/>
              <a:pPr marL="12700">
                <a:spcBef>
                  <a:spcPts val="145"/>
                </a:spcBef>
              </a:pPr>
              <a:t>33</a:t>
            </a:fld>
            <a:endParaRPr sz="1200"/>
          </a:p>
        </p:txBody>
      </p:sp>
      <p:sp>
        <p:nvSpPr>
          <p:cNvPr id="11" name="object 2">
            <a:extLst>
              <a:ext uri="{FF2B5EF4-FFF2-40B4-BE49-F238E27FC236}">
                <a16:creationId xmlns:a16="http://schemas.microsoft.com/office/drawing/2014/main" id="{83846AC5-A55A-4BF9-B2DC-1A8A138FB98B}"/>
              </a:ext>
            </a:extLst>
          </p:cNvPr>
          <p:cNvSpPr txBox="1">
            <a:spLocks noGrp="1"/>
          </p:cNvSpPr>
          <p:nvPr/>
        </p:nvSpPr>
        <p:spPr>
          <a:xfrm>
            <a:off x="275492" y="54472"/>
            <a:ext cx="3839308" cy="628377"/>
          </a:xfrm>
          <a:prstGeom prst="rect">
            <a:avLst/>
          </a:prstGeom>
        </p:spPr>
        <p:txBody>
          <a:bodyPr vert="horz" wrap="square" lIns="0" tIns="12700" rIns="0" bIns="0" rtlCol="0">
            <a:spAutoFit/>
          </a:bodyPr>
          <a:lstStyle>
            <a:lvl1pPr>
              <a:defRPr sz="4000" b="0" i="0">
                <a:solidFill>
                  <a:schemeClr val="bg1"/>
                </a:solidFill>
                <a:latin typeface="Times New Roman"/>
                <a:ea typeface="+mj-ea"/>
                <a:cs typeface="Times New Roman"/>
              </a:defRPr>
            </a:lvl1pPr>
          </a:lstStyle>
          <a:p>
            <a:pPr marL="12700">
              <a:lnSpc>
                <a:spcPct val="100000"/>
              </a:lnSpc>
              <a:spcBef>
                <a:spcPts val="100"/>
              </a:spcBef>
            </a:pPr>
            <a:r>
              <a:rPr lang="en-US" spc="265"/>
              <a:t>Right </a:t>
            </a:r>
            <a:r>
              <a:rPr spc="265"/>
              <a:t>Outer</a:t>
            </a:r>
            <a:r>
              <a:rPr spc="-240"/>
              <a:t> </a:t>
            </a:r>
            <a:r>
              <a:rPr spc="45" dirty="0"/>
              <a:t>Join</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
            <a:ext cx="1925955" cy="635635"/>
          </a:xfrm>
          <a:prstGeom prst="rect">
            <a:avLst/>
          </a:prstGeom>
        </p:spPr>
        <p:txBody>
          <a:bodyPr vert="horz" wrap="square" lIns="0" tIns="12700" rIns="0" bIns="0" rtlCol="0">
            <a:spAutoFit/>
          </a:bodyPr>
          <a:lstStyle/>
          <a:p>
            <a:pPr marL="12700">
              <a:lnSpc>
                <a:spcPct val="100000"/>
              </a:lnSpc>
              <a:spcBef>
                <a:spcPts val="100"/>
              </a:spcBef>
            </a:pPr>
            <a:r>
              <a:rPr spc="75" dirty="0"/>
              <a:t>Self</a:t>
            </a:r>
            <a:r>
              <a:rPr spc="25" dirty="0"/>
              <a:t>-</a:t>
            </a:r>
            <a:r>
              <a:rPr spc="45" dirty="0"/>
              <a:t>Join</a:t>
            </a:r>
          </a:p>
        </p:txBody>
      </p:sp>
      <p:sp>
        <p:nvSpPr>
          <p:cNvPr id="3" name="object 3"/>
          <p:cNvSpPr/>
          <p:nvPr/>
        </p:nvSpPr>
        <p:spPr>
          <a:xfrm>
            <a:off x="457200" y="838201"/>
            <a:ext cx="8305800" cy="1197019"/>
          </a:xfrm>
          <a:custGeom>
            <a:avLst/>
            <a:gdLst/>
            <a:ahLst/>
            <a:cxnLst/>
            <a:rect l="l" t="t" r="r" b="b"/>
            <a:pathLst>
              <a:path w="7231380" h="1964055">
                <a:moveTo>
                  <a:pt x="7231380" y="327279"/>
                </a:moveTo>
                <a:lnTo>
                  <a:pt x="7227824" y="278930"/>
                </a:lnTo>
                <a:lnTo>
                  <a:pt x="7217511" y="232778"/>
                </a:lnTo>
                <a:lnTo>
                  <a:pt x="7200951" y="189331"/>
                </a:lnTo>
                <a:lnTo>
                  <a:pt x="7178637" y="149098"/>
                </a:lnTo>
                <a:lnTo>
                  <a:pt x="7151090" y="112572"/>
                </a:lnTo>
                <a:lnTo>
                  <a:pt x="7118807" y="80289"/>
                </a:lnTo>
                <a:lnTo>
                  <a:pt x="7082282" y="52743"/>
                </a:lnTo>
                <a:lnTo>
                  <a:pt x="7042048" y="30429"/>
                </a:lnTo>
                <a:lnTo>
                  <a:pt x="6998602" y="13868"/>
                </a:lnTo>
                <a:lnTo>
                  <a:pt x="6952450" y="3556"/>
                </a:lnTo>
                <a:lnTo>
                  <a:pt x="6904101" y="0"/>
                </a:lnTo>
                <a:lnTo>
                  <a:pt x="327291" y="0"/>
                </a:lnTo>
                <a:lnTo>
                  <a:pt x="278917" y="3556"/>
                </a:lnTo>
                <a:lnTo>
                  <a:pt x="232752" y="13868"/>
                </a:lnTo>
                <a:lnTo>
                  <a:pt x="189306" y="30429"/>
                </a:lnTo>
                <a:lnTo>
                  <a:pt x="149072" y="52743"/>
                </a:lnTo>
                <a:lnTo>
                  <a:pt x="112560" y="80289"/>
                </a:lnTo>
                <a:lnTo>
                  <a:pt x="80276" y="112572"/>
                </a:lnTo>
                <a:lnTo>
                  <a:pt x="52717" y="149098"/>
                </a:lnTo>
                <a:lnTo>
                  <a:pt x="30416" y="189331"/>
                </a:lnTo>
                <a:lnTo>
                  <a:pt x="13855" y="232778"/>
                </a:lnTo>
                <a:lnTo>
                  <a:pt x="3543" y="278930"/>
                </a:lnTo>
                <a:lnTo>
                  <a:pt x="0" y="327279"/>
                </a:lnTo>
                <a:lnTo>
                  <a:pt x="0" y="1636395"/>
                </a:lnTo>
                <a:lnTo>
                  <a:pt x="3543" y="1684756"/>
                </a:lnTo>
                <a:lnTo>
                  <a:pt x="13855" y="1730908"/>
                </a:lnTo>
                <a:lnTo>
                  <a:pt x="30416" y="1774355"/>
                </a:lnTo>
                <a:lnTo>
                  <a:pt x="52717" y="1814588"/>
                </a:lnTo>
                <a:lnTo>
                  <a:pt x="80276" y="1851113"/>
                </a:lnTo>
                <a:lnTo>
                  <a:pt x="112560" y="1883397"/>
                </a:lnTo>
                <a:lnTo>
                  <a:pt x="149072" y="1910943"/>
                </a:lnTo>
                <a:lnTo>
                  <a:pt x="189306" y="1933257"/>
                </a:lnTo>
                <a:lnTo>
                  <a:pt x="232752" y="1949818"/>
                </a:lnTo>
                <a:lnTo>
                  <a:pt x="278917" y="1960130"/>
                </a:lnTo>
                <a:lnTo>
                  <a:pt x="327291" y="1963674"/>
                </a:lnTo>
                <a:lnTo>
                  <a:pt x="6904101" y="1963674"/>
                </a:lnTo>
                <a:lnTo>
                  <a:pt x="6952450" y="1960130"/>
                </a:lnTo>
                <a:lnTo>
                  <a:pt x="6998602" y="1949818"/>
                </a:lnTo>
                <a:lnTo>
                  <a:pt x="7042048" y="1933257"/>
                </a:lnTo>
                <a:lnTo>
                  <a:pt x="7082282" y="1910943"/>
                </a:lnTo>
                <a:lnTo>
                  <a:pt x="7118807" y="1883397"/>
                </a:lnTo>
                <a:lnTo>
                  <a:pt x="7151090" y="1851113"/>
                </a:lnTo>
                <a:lnTo>
                  <a:pt x="7178637" y="1814588"/>
                </a:lnTo>
                <a:lnTo>
                  <a:pt x="7200951" y="1774355"/>
                </a:lnTo>
                <a:lnTo>
                  <a:pt x="7217511" y="1730908"/>
                </a:lnTo>
                <a:lnTo>
                  <a:pt x="7227824" y="1684756"/>
                </a:lnTo>
                <a:lnTo>
                  <a:pt x="7231380" y="1636395"/>
                </a:lnTo>
                <a:lnTo>
                  <a:pt x="7231380" y="1485138"/>
                </a:lnTo>
                <a:lnTo>
                  <a:pt x="7231380" y="478548"/>
                </a:lnTo>
                <a:lnTo>
                  <a:pt x="7231380" y="327279"/>
                </a:lnTo>
                <a:close/>
              </a:path>
            </a:pathLst>
          </a:custGeom>
          <a:solidFill>
            <a:srgbClr val="F79546"/>
          </a:solidFill>
        </p:spPr>
        <p:txBody>
          <a:bodyPr wrap="square" lIns="0" tIns="0" rIns="0" bIns="0" rtlCol="0"/>
          <a:lstStyle/>
          <a:p>
            <a:endParaRPr/>
          </a:p>
        </p:txBody>
      </p:sp>
      <p:sp>
        <p:nvSpPr>
          <p:cNvPr id="4" name="object 4"/>
          <p:cNvSpPr txBox="1"/>
          <p:nvPr/>
        </p:nvSpPr>
        <p:spPr>
          <a:xfrm>
            <a:off x="685800" y="914400"/>
            <a:ext cx="7467600" cy="1120820"/>
          </a:xfrm>
          <a:prstGeom prst="rect">
            <a:avLst/>
          </a:prstGeom>
        </p:spPr>
        <p:txBody>
          <a:bodyPr vert="horz" wrap="square" lIns="0" tIns="12700" rIns="0" bIns="0" rtlCol="0">
            <a:spAutoFit/>
          </a:bodyPr>
          <a:lstStyle/>
          <a:p>
            <a:pPr marL="355600" marR="5080" indent="-342900" algn="just">
              <a:lnSpc>
                <a:spcPct val="100000"/>
              </a:lnSpc>
              <a:spcBef>
                <a:spcPts val="100"/>
              </a:spcBef>
              <a:buFont typeface="Wingdings"/>
              <a:buChar char=""/>
              <a:tabLst>
                <a:tab pos="355600" algn="l"/>
              </a:tabLst>
            </a:pPr>
            <a:r>
              <a:rPr sz="2400" spc="215" dirty="0">
                <a:solidFill>
                  <a:srgbClr val="FFFFFF"/>
                </a:solidFill>
                <a:latin typeface="Times New Roman"/>
                <a:cs typeface="Times New Roman"/>
              </a:rPr>
              <a:t>A </a:t>
            </a:r>
            <a:r>
              <a:rPr sz="2400" spc="50" dirty="0">
                <a:solidFill>
                  <a:srgbClr val="FFFFFF"/>
                </a:solidFill>
                <a:latin typeface="Times New Roman"/>
                <a:cs typeface="Times New Roman"/>
              </a:rPr>
              <a:t>self-join </a:t>
            </a:r>
            <a:r>
              <a:rPr sz="2400" spc="10" dirty="0">
                <a:solidFill>
                  <a:srgbClr val="FFFFFF"/>
                </a:solidFill>
                <a:latin typeface="Times New Roman"/>
                <a:cs typeface="Times New Roman"/>
              </a:rPr>
              <a:t>is </a:t>
            </a:r>
            <a:r>
              <a:rPr sz="2400" spc="100" dirty="0">
                <a:solidFill>
                  <a:srgbClr val="FFFFFF"/>
                </a:solidFill>
                <a:latin typeface="Times New Roman"/>
                <a:cs typeface="Times New Roman"/>
              </a:rPr>
              <a:t>used </a:t>
            </a:r>
            <a:r>
              <a:rPr sz="2400" spc="130" dirty="0">
                <a:solidFill>
                  <a:srgbClr val="FFFFFF"/>
                </a:solidFill>
                <a:latin typeface="Times New Roman"/>
                <a:cs typeface="Times New Roman"/>
              </a:rPr>
              <a:t>to </a:t>
            </a:r>
            <a:r>
              <a:rPr sz="2400" spc="100" dirty="0">
                <a:solidFill>
                  <a:srgbClr val="FFFFFF"/>
                </a:solidFill>
                <a:latin typeface="Times New Roman"/>
                <a:cs typeface="Times New Roman"/>
              </a:rPr>
              <a:t>find </a:t>
            </a:r>
            <a:r>
              <a:rPr sz="2400" spc="75" dirty="0">
                <a:solidFill>
                  <a:srgbClr val="FFFFFF"/>
                </a:solidFill>
                <a:latin typeface="Times New Roman"/>
                <a:cs typeface="Times New Roman"/>
              </a:rPr>
              <a:t>records </a:t>
            </a:r>
            <a:r>
              <a:rPr sz="2400" spc="114" dirty="0">
                <a:solidFill>
                  <a:srgbClr val="FFFFFF"/>
                </a:solidFill>
                <a:latin typeface="Times New Roman"/>
                <a:cs typeface="Times New Roman"/>
              </a:rPr>
              <a:t>in </a:t>
            </a:r>
            <a:r>
              <a:rPr sz="2400" spc="40" dirty="0">
                <a:solidFill>
                  <a:srgbClr val="FFFFFF"/>
                </a:solidFill>
                <a:latin typeface="Times New Roman"/>
                <a:cs typeface="Times New Roman"/>
              </a:rPr>
              <a:t>a </a:t>
            </a:r>
            <a:r>
              <a:rPr sz="2400" spc="70" dirty="0">
                <a:solidFill>
                  <a:srgbClr val="FFFFFF"/>
                </a:solidFill>
                <a:latin typeface="Times New Roman"/>
                <a:cs typeface="Times New Roman"/>
              </a:rPr>
              <a:t>table  </a:t>
            </a:r>
            <a:r>
              <a:rPr sz="2400" spc="140" dirty="0">
                <a:solidFill>
                  <a:srgbClr val="FFFFFF"/>
                </a:solidFill>
                <a:latin typeface="Times New Roman"/>
                <a:cs typeface="Times New Roman"/>
              </a:rPr>
              <a:t>that </a:t>
            </a:r>
            <a:r>
              <a:rPr sz="2400" spc="65" dirty="0">
                <a:solidFill>
                  <a:srgbClr val="FFFFFF"/>
                </a:solidFill>
                <a:latin typeface="Times New Roman"/>
                <a:cs typeface="Times New Roman"/>
              </a:rPr>
              <a:t>are </a:t>
            </a:r>
            <a:r>
              <a:rPr sz="2400" spc="80" dirty="0">
                <a:solidFill>
                  <a:srgbClr val="FFFFFF"/>
                </a:solidFill>
                <a:latin typeface="Times New Roman"/>
                <a:cs typeface="Times New Roman"/>
              </a:rPr>
              <a:t>related </a:t>
            </a:r>
            <a:r>
              <a:rPr sz="2400" spc="130" dirty="0">
                <a:solidFill>
                  <a:srgbClr val="FFFFFF"/>
                </a:solidFill>
                <a:latin typeface="Times New Roman"/>
                <a:cs typeface="Times New Roman"/>
              </a:rPr>
              <a:t>to </a:t>
            </a:r>
            <a:r>
              <a:rPr sz="2400" spc="125" dirty="0">
                <a:solidFill>
                  <a:srgbClr val="FFFFFF"/>
                </a:solidFill>
                <a:latin typeface="Times New Roman"/>
                <a:cs typeface="Times New Roman"/>
              </a:rPr>
              <a:t>other </a:t>
            </a:r>
            <a:r>
              <a:rPr sz="2400" spc="75" dirty="0">
                <a:solidFill>
                  <a:srgbClr val="FFFFFF"/>
                </a:solidFill>
                <a:latin typeface="Times New Roman"/>
                <a:cs typeface="Times New Roman"/>
              </a:rPr>
              <a:t>records </a:t>
            </a:r>
            <a:r>
              <a:rPr sz="2400" spc="114" dirty="0">
                <a:solidFill>
                  <a:srgbClr val="FFFFFF"/>
                </a:solidFill>
                <a:latin typeface="Times New Roman"/>
                <a:cs typeface="Times New Roman"/>
              </a:rPr>
              <a:t>in </a:t>
            </a:r>
            <a:r>
              <a:rPr sz="2400" spc="135" dirty="0">
                <a:solidFill>
                  <a:srgbClr val="FFFFFF"/>
                </a:solidFill>
                <a:latin typeface="Times New Roman"/>
                <a:cs typeface="Times New Roman"/>
              </a:rPr>
              <a:t>the </a:t>
            </a:r>
            <a:r>
              <a:rPr sz="2400" spc="55" dirty="0">
                <a:solidFill>
                  <a:srgbClr val="FFFFFF"/>
                </a:solidFill>
                <a:latin typeface="Times New Roman"/>
                <a:cs typeface="Times New Roman"/>
              </a:rPr>
              <a:t>same  </a:t>
            </a:r>
            <a:r>
              <a:rPr sz="2400" spc="60" dirty="0">
                <a:solidFill>
                  <a:srgbClr val="FFFFFF"/>
                </a:solidFill>
                <a:latin typeface="Times New Roman"/>
                <a:cs typeface="Times New Roman"/>
              </a:rPr>
              <a:t>table.</a:t>
            </a:r>
            <a:endParaRPr sz="2400">
              <a:latin typeface="Times New Roman"/>
              <a:cs typeface="Times New Roman"/>
            </a:endParaRPr>
          </a:p>
          <a:p>
            <a:pPr marL="355600" indent="-342900" algn="just">
              <a:lnSpc>
                <a:spcPct val="100000"/>
              </a:lnSpc>
              <a:buFont typeface="Wingdings"/>
              <a:buChar char=""/>
              <a:tabLst>
                <a:tab pos="355600" algn="l"/>
              </a:tabLst>
            </a:pPr>
            <a:r>
              <a:rPr sz="2400" spc="215" dirty="0">
                <a:solidFill>
                  <a:srgbClr val="FFFFFF"/>
                </a:solidFill>
                <a:latin typeface="Times New Roman"/>
                <a:cs typeface="Times New Roman"/>
              </a:rPr>
              <a:t>A</a:t>
            </a:r>
            <a:r>
              <a:rPr sz="2400" spc="-95" dirty="0">
                <a:solidFill>
                  <a:srgbClr val="FFFFFF"/>
                </a:solidFill>
                <a:latin typeface="Times New Roman"/>
                <a:cs typeface="Times New Roman"/>
              </a:rPr>
              <a:t> </a:t>
            </a:r>
            <a:r>
              <a:rPr sz="2400" spc="70" dirty="0">
                <a:solidFill>
                  <a:srgbClr val="FFFFFF"/>
                </a:solidFill>
                <a:latin typeface="Times New Roman"/>
                <a:cs typeface="Times New Roman"/>
              </a:rPr>
              <a:t>table</a:t>
            </a:r>
            <a:r>
              <a:rPr sz="2400" spc="-85" dirty="0">
                <a:solidFill>
                  <a:srgbClr val="FFFFFF"/>
                </a:solidFill>
                <a:latin typeface="Times New Roman"/>
                <a:cs typeface="Times New Roman"/>
              </a:rPr>
              <a:t> </a:t>
            </a:r>
            <a:r>
              <a:rPr sz="2400" spc="10" dirty="0">
                <a:solidFill>
                  <a:srgbClr val="FFFFFF"/>
                </a:solidFill>
                <a:latin typeface="Times New Roman"/>
                <a:cs typeface="Times New Roman"/>
              </a:rPr>
              <a:t>is</a:t>
            </a:r>
            <a:r>
              <a:rPr sz="2400" spc="-90" dirty="0">
                <a:solidFill>
                  <a:srgbClr val="FFFFFF"/>
                </a:solidFill>
                <a:latin typeface="Times New Roman"/>
                <a:cs typeface="Times New Roman"/>
              </a:rPr>
              <a:t> </a:t>
            </a:r>
            <a:r>
              <a:rPr sz="2400" spc="90" dirty="0">
                <a:solidFill>
                  <a:srgbClr val="FFFFFF"/>
                </a:solidFill>
                <a:latin typeface="Times New Roman"/>
                <a:cs typeface="Times New Roman"/>
              </a:rPr>
              <a:t>joined</a:t>
            </a:r>
            <a:r>
              <a:rPr sz="2400" spc="-100" dirty="0">
                <a:solidFill>
                  <a:srgbClr val="FFFFFF"/>
                </a:solidFill>
                <a:latin typeface="Times New Roman"/>
                <a:cs typeface="Times New Roman"/>
              </a:rPr>
              <a:t> </a:t>
            </a:r>
            <a:r>
              <a:rPr sz="2400" spc="130" dirty="0">
                <a:solidFill>
                  <a:srgbClr val="FFFFFF"/>
                </a:solidFill>
                <a:latin typeface="Times New Roman"/>
                <a:cs typeface="Times New Roman"/>
              </a:rPr>
              <a:t>to</a:t>
            </a:r>
            <a:r>
              <a:rPr sz="2400" spc="-90" dirty="0">
                <a:solidFill>
                  <a:srgbClr val="FFFFFF"/>
                </a:solidFill>
                <a:latin typeface="Times New Roman"/>
                <a:cs typeface="Times New Roman"/>
              </a:rPr>
              <a:t> </a:t>
            </a:r>
            <a:r>
              <a:rPr sz="2400" spc="40" dirty="0">
                <a:solidFill>
                  <a:srgbClr val="FFFFFF"/>
                </a:solidFill>
                <a:latin typeface="Times New Roman"/>
                <a:cs typeface="Times New Roman"/>
              </a:rPr>
              <a:t>itself</a:t>
            </a:r>
            <a:r>
              <a:rPr sz="2400" spc="-90" dirty="0">
                <a:solidFill>
                  <a:srgbClr val="FFFFFF"/>
                </a:solidFill>
                <a:latin typeface="Times New Roman"/>
                <a:cs typeface="Times New Roman"/>
              </a:rPr>
              <a:t> </a:t>
            </a:r>
            <a:r>
              <a:rPr sz="2400" spc="114" dirty="0">
                <a:solidFill>
                  <a:srgbClr val="FFFFFF"/>
                </a:solidFill>
                <a:latin typeface="Times New Roman"/>
                <a:cs typeface="Times New Roman"/>
              </a:rPr>
              <a:t>in</a:t>
            </a:r>
            <a:r>
              <a:rPr sz="2400" spc="-95" dirty="0">
                <a:solidFill>
                  <a:srgbClr val="FFFFFF"/>
                </a:solidFill>
                <a:latin typeface="Times New Roman"/>
                <a:cs typeface="Times New Roman"/>
              </a:rPr>
              <a:t> </a:t>
            </a:r>
            <a:r>
              <a:rPr sz="2400" spc="40" dirty="0">
                <a:solidFill>
                  <a:srgbClr val="FFFFFF"/>
                </a:solidFill>
                <a:latin typeface="Times New Roman"/>
                <a:cs typeface="Times New Roman"/>
              </a:rPr>
              <a:t>a</a:t>
            </a:r>
            <a:r>
              <a:rPr sz="2400" spc="-80" dirty="0">
                <a:solidFill>
                  <a:srgbClr val="FFFFFF"/>
                </a:solidFill>
                <a:latin typeface="Times New Roman"/>
                <a:cs typeface="Times New Roman"/>
              </a:rPr>
              <a:t> </a:t>
            </a:r>
            <a:r>
              <a:rPr sz="2400" spc="45" dirty="0">
                <a:solidFill>
                  <a:srgbClr val="FFFFFF"/>
                </a:solidFill>
                <a:latin typeface="Times New Roman"/>
                <a:cs typeface="Times New Roman"/>
              </a:rPr>
              <a:t>self-join.</a:t>
            </a:r>
            <a:endParaRPr sz="24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04" baseline="4629" dirty="0"/>
              <a:t>9/</a:t>
            </a:r>
            <a:r>
              <a:rPr sz="1800" spc="-262" baseline="4629" dirty="0"/>
              <a:t> </a:t>
            </a:r>
            <a:fld id="{81D60167-4931-47E6-BA6A-407CBD079E47}" type="slidenum">
              <a:rPr sz="1200" spc="15" dirty="0"/>
              <a:t>34</a:t>
            </a:fld>
            <a:endParaRPr sz="1200"/>
          </a:p>
        </p:txBody>
      </p:sp>
      <p:sp>
        <p:nvSpPr>
          <p:cNvPr id="9" name="object 9"/>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pic>
        <p:nvPicPr>
          <p:cNvPr id="10" name="Picture 9" descr="Figure 9.25.tif">
            <a:extLst>
              <a:ext uri="{FF2B5EF4-FFF2-40B4-BE49-F238E27FC236}">
                <a16:creationId xmlns:a16="http://schemas.microsoft.com/office/drawing/2014/main" id="{EB415C27-CDA1-4486-8096-74D78425B849}"/>
              </a:ext>
            </a:extLst>
          </p:cNvPr>
          <p:cNvPicPr>
            <a:picLocks noChangeAspect="1"/>
          </p:cNvPicPr>
          <p:nvPr/>
        </p:nvPicPr>
        <p:blipFill>
          <a:blip r:embed="rId3" cstate="print"/>
          <a:stretch>
            <a:fillRect/>
          </a:stretch>
        </p:blipFill>
        <p:spPr>
          <a:xfrm>
            <a:off x="1336970" y="2111419"/>
            <a:ext cx="6165259" cy="2513227"/>
          </a:xfrm>
          <a:prstGeom prst="rect">
            <a:avLst/>
          </a:prstGeom>
        </p:spPr>
      </p:pic>
      <p:sp>
        <p:nvSpPr>
          <p:cNvPr id="11" name="TextBox 10">
            <a:extLst>
              <a:ext uri="{FF2B5EF4-FFF2-40B4-BE49-F238E27FC236}">
                <a16:creationId xmlns:a16="http://schemas.microsoft.com/office/drawing/2014/main" id="{2642861D-40D8-4A93-8C0B-161165BE8AFD}"/>
              </a:ext>
            </a:extLst>
          </p:cNvPr>
          <p:cNvSpPr txBox="1"/>
          <p:nvPr/>
        </p:nvSpPr>
        <p:spPr>
          <a:xfrm>
            <a:off x="782476" y="5083061"/>
            <a:ext cx="6553200" cy="1323439"/>
          </a:xfrm>
          <a:prstGeom prst="rect">
            <a:avLst/>
          </a:prstGeom>
          <a:solidFill>
            <a:schemeClr val="accent1">
              <a:lumMod val="60000"/>
              <a:lumOff val="40000"/>
            </a:schemeClr>
          </a:solidFill>
          <a:ln>
            <a:solidFill>
              <a:schemeClr val="tx1"/>
            </a:solidFill>
          </a:ln>
        </p:spPr>
        <p:txBody>
          <a:bodyPr wrap="square" rtlCol="0">
            <a:spAutoFit/>
          </a:bodyPr>
          <a:lstStyle/>
          <a:p>
            <a:r>
              <a:rPr lang="en-US" sz="1600" dirty="0"/>
              <a:t>SELECT TOP 7 </a:t>
            </a:r>
            <a:r>
              <a:rPr lang="en-US" sz="1600" dirty="0" err="1"/>
              <a:t>A.fname</a:t>
            </a:r>
            <a:r>
              <a:rPr lang="en-US" sz="1600" dirty="0"/>
              <a:t> + ' ' + </a:t>
            </a:r>
            <a:r>
              <a:rPr lang="en-US" sz="1600" dirty="0" err="1"/>
              <a:t>A.lname</a:t>
            </a:r>
            <a:r>
              <a:rPr lang="en-US" sz="1600" dirty="0"/>
              <a:t> AS 'Employee Name', </a:t>
            </a:r>
          </a:p>
          <a:p>
            <a:r>
              <a:rPr lang="en-US" sz="1600" dirty="0" err="1"/>
              <a:t>B.fname</a:t>
            </a:r>
            <a:r>
              <a:rPr lang="en-US" sz="1600" dirty="0"/>
              <a:t> + ' '+</a:t>
            </a:r>
            <a:r>
              <a:rPr lang="en-US" sz="1600" dirty="0" err="1"/>
              <a:t>B.lname</a:t>
            </a:r>
            <a:r>
              <a:rPr lang="en-US" sz="1600" dirty="0"/>
              <a:t> AS 'Manager'</a:t>
            </a:r>
          </a:p>
          <a:p>
            <a:r>
              <a:rPr lang="en-US" sz="1600" dirty="0"/>
              <a:t>FROM</a:t>
            </a:r>
          </a:p>
          <a:p>
            <a:r>
              <a:rPr lang="en-US" sz="1600" dirty="0"/>
              <a:t>Employee AS A INNER JOIN Employee AS B </a:t>
            </a:r>
          </a:p>
          <a:p>
            <a:r>
              <a:rPr lang="en-US" sz="1600" dirty="0"/>
              <a:t>ON </a:t>
            </a:r>
            <a:r>
              <a:rPr lang="en-US" sz="1600" dirty="0" err="1"/>
              <a:t>A.mgr_id</a:t>
            </a:r>
            <a:r>
              <a:rPr lang="en-US" sz="1600" dirty="0"/>
              <a:t> = </a:t>
            </a:r>
            <a:r>
              <a:rPr lang="en-US" sz="1600" dirty="0" err="1"/>
              <a:t>B.emp_id</a:t>
            </a:r>
            <a:endParaRPr lang="en-US" sz="1000" dirty="0"/>
          </a:p>
        </p:txBody>
      </p:sp>
      <p:pic>
        <p:nvPicPr>
          <p:cNvPr id="12" name="Picture 11" descr="Figure 9.26.tif">
            <a:extLst>
              <a:ext uri="{FF2B5EF4-FFF2-40B4-BE49-F238E27FC236}">
                <a16:creationId xmlns:a16="http://schemas.microsoft.com/office/drawing/2014/main" id="{B749EC47-20C9-474D-B86C-EEDF63B7D05D}"/>
              </a:ext>
            </a:extLst>
          </p:cNvPr>
          <p:cNvPicPr>
            <a:picLocks noChangeAspect="1"/>
          </p:cNvPicPr>
          <p:nvPr/>
        </p:nvPicPr>
        <p:blipFill>
          <a:blip r:embed="rId4" cstate="print"/>
          <a:stretch>
            <a:fillRect/>
          </a:stretch>
        </p:blipFill>
        <p:spPr>
          <a:xfrm>
            <a:off x="6233907" y="4801192"/>
            <a:ext cx="2847840" cy="1736980"/>
          </a:xfrm>
          <a:prstGeom prst="rect">
            <a:avLst/>
          </a:prstGeom>
        </p:spPr>
      </p:pic>
      <p:sp>
        <p:nvSpPr>
          <p:cNvPr id="13" name="TextBox 12">
            <a:extLst>
              <a:ext uri="{FF2B5EF4-FFF2-40B4-BE49-F238E27FC236}">
                <a16:creationId xmlns:a16="http://schemas.microsoft.com/office/drawing/2014/main" id="{A4C86B08-6840-4B74-874A-28BA2740523F}"/>
              </a:ext>
            </a:extLst>
          </p:cNvPr>
          <p:cNvSpPr txBox="1"/>
          <p:nvPr/>
        </p:nvSpPr>
        <p:spPr>
          <a:xfrm>
            <a:off x="381000" y="4651442"/>
            <a:ext cx="2133600" cy="369332"/>
          </a:xfrm>
          <a:prstGeom prst="rect">
            <a:avLst/>
          </a:prstGeom>
          <a:noFill/>
        </p:spPr>
        <p:txBody>
          <a:bodyPr wrap="square" rtlCol="0">
            <a:spAutoFit/>
          </a:bodyPr>
          <a:lstStyle/>
          <a:p>
            <a:pPr marL="341313" indent="-341313">
              <a:lnSpc>
                <a:spcPct val="100000"/>
              </a:lnSpc>
              <a:spcBef>
                <a:spcPts val="0"/>
              </a:spcBef>
              <a:buFont typeface="Wingdings" pitchFamily="2" charset="2"/>
              <a:buChar char="Ø"/>
            </a:pPr>
            <a:r>
              <a:rPr lang="en-US" sz="1800" dirty="0">
                <a:latin typeface="Calibri" pitchFamily="34" charset="0"/>
                <a:cs typeface="Calibri" pitchFamily="34" charset="0"/>
              </a:rPr>
              <a:t>For example: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
            <a:ext cx="4247515" cy="635635"/>
          </a:xfrm>
          <a:prstGeom prst="rect">
            <a:avLst/>
          </a:prstGeom>
        </p:spPr>
        <p:txBody>
          <a:bodyPr vert="horz" wrap="square" lIns="0" tIns="12700" rIns="0" bIns="0" rtlCol="0">
            <a:spAutoFit/>
          </a:bodyPr>
          <a:lstStyle/>
          <a:p>
            <a:pPr marL="12700">
              <a:lnSpc>
                <a:spcPct val="100000"/>
              </a:lnSpc>
              <a:spcBef>
                <a:spcPts val="100"/>
              </a:spcBef>
            </a:pPr>
            <a:r>
              <a:rPr spc="130" dirty="0"/>
              <a:t>MERGE</a:t>
            </a:r>
            <a:r>
              <a:rPr spc="-210" dirty="0"/>
              <a:t> </a:t>
            </a:r>
            <a:r>
              <a:rPr spc="190" dirty="0"/>
              <a:t>Statement</a:t>
            </a:r>
          </a:p>
        </p:txBody>
      </p:sp>
      <p:pic>
        <p:nvPicPr>
          <p:cNvPr id="7" name="object 7"/>
          <p:cNvPicPr/>
          <p:nvPr/>
        </p:nvPicPr>
        <p:blipFill>
          <a:blip r:embed="rId3" cstate="print"/>
          <a:stretch>
            <a:fillRect/>
          </a:stretch>
        </p:blipFill>
        <p:spPr>
          <a:xfrm>
            <a:off x="794766" y="990600"/>
            <a:ext cx="7554468" cy="1377696"/>
          </a:xfrm>
          <a:prstGeom prst="rect">
            <a:avLst/>
          </a:prstGeom>
        </p:spPr>
      </p:pic>
      <p:sp>
        <p:nvSpPr>
          <p:cNvPr id="9" name="object 9"/>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04" baseline="4629" dirty="0"/>
              <a:t>9/</a:t>
            </a:r>
            <a:r>
              <a:rPr sz="1800" spc="-262" baseline="4629" dirty="0"/>
              <a:t> </a:t>
            </a:r>
            <a:fld id="{81D60167-4931-47E6-BA6A-407CBD079E47}" type="slidenum">
              <a:rPr sz="1200" spc="15" dirty="0"/>
              <a:t>35</a:t>
            </a:fld>
            <a:endParaRPr sz="1200"/>
          </a:p>
        </p:txBody>
      </p:sp>
      <p:sp>
        <p:nvSpPr>
          <p:cNvPr id="10" name="object 10"/>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pic>
        <p:nvPicPr>
          <p:cNvPr id="11" name="Picture 10" descr="Figure 9.27.tif">
            <a:extLst>
              <a:ext uri="{FF2B5EF4-FFF2-40B4-BE49-F238E27FC236}">
                <a16:creationId xmlns:a16="http://schemas.microsoft.com/office/drawing/2014/main" id="{512F8558-8ACD-4063-B5E8-B9C1CE614515}"/>
              </a:ext>
            </a:extLst>
          </p:cNvPr>
          <p:cNvPicPr>
            <a:picLocks noChangeAspect="1"/>
          </p:cNvPicPr>
          <p:nvPr/>
        </p:nvPicPr>
        <p:blipFill>
          <a:blip r:embed="rId4" cstate="print"/>
          <a:stretch>
            <a:fillRect/>
          </a:stretch>
        </p:blipFill>
        <p:spPr>
          <a:xfrm>
            <a:off x="2514600" y="2667000"/>
            <a:ext cx="4343400" cy="3780593"/>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
            <a:ext cx="7924800" cy="635635"/>
          </a:xfrm>
          <a:prstGeom prst="rect">
            <a:avLst/>
          </a:prstGeom>
        </p:spPr>
        <p:txBody>
          <a:bodyPr vert="horz" wrap="square" lIns="0" tIns="12700" rIns="0" bIns="0" rtlCol="0">
            <a:spAutoFit/>
          </a:bodyPr>
          <a:lstStyle/>
          <a:p>
            <a:pPr marL="12700">
              <a:lnSpc>
                <a:spcPct val="100000"/>
              </a:lnSpc>
              <a:spcBef>
                <a:spcPts val="100"/>
              </a:spcBef>
            </a:pPr>
            <a:r>
              <a:rPr spc="280" dirty="0"/>
              <a:t>Common</a:t>
            </a:r>
            <a:r>
              <a:rPr spc="-165" dirty="0"/>
              <a:t> </a:t>
            </a:r>
            <a:r>
              <a:rPr spc="140" dirty="0"/>
              <a:t>Table</a:t>
            </a:r>
            <a:r>
              <a:rPr spc="-175" dirty="0"/>
              <a:t> </a:t>
            </a:r>
            <a:r>
              <a:rPr spc="114" dirty="0"/>
              <a:t>Expressions</a:t>
            </a:r>
            <a:r>
              <a:rPr spc="-160" dirty="0"/>
              <a:t> </a:t>
            </a:r>
            <a:r>
              <a:rPr spc="140" dirty="0"/>
              <a:t>(CTEs)</a:t>
            </a:r>
          </a:p>
        </p:txBody>
      </p:sp>
      <p:grpSp>
        <p:nvGrpSpPr>
          <p:cNvPr id="3" name="object 3"/>
          <p:cNvGrpSpPr/>
          <p:nvPr/>
        </p:nvGrpSpPr>
        <p:grpSpPr>
          <a:xfrm>
            <a:off x="518922" y="978408"/>
            <a:ext cx="8326755" cy="1399540"/>
            <a:chOff x="518922" y="978408"/>
            <a:chExt cx="8326755" cy="1399540"/>
          </a:xfrm>
        </p:grpSpPr>
        <p:pic>
          <p:nvPicPr>
            <p:cNvPr id="4" name="object 4"/>
            <p:cNvPicPr/>
            <p:nvPr/>
          </p:nvPicPr>
          <p:blipFill>
            <a:blip r:embed="rId3" cstate="print"/>
            <a:stretch>
              <a:fillRect/>
            </a:stretch>
          </p:blipFill>
          <p:spPr>
            <a:xfrm>
              <a:off x="518922" y="978408"/>
              <a:ext cx="8326374" cy="1399032"/>
            </a:xfrm>
            <a:prstGeom prst="rect">
              <a:avLst/>
            </a:prstGeom>
          </p:spPr>
        </p:pic>
        <p:pic>
          <p:nvPicPr>
            <p:cNvPr id="5" name="object 5"/>
            <p:cNvPicPr/>
            <p:nvPr/>
          </p:nvPicPr>
          <p:blipFill>
            <a:blip r:embed="rId4" cstate="print"/>
            <a:stretch>
              <a:fillRect/>
            </a:stretch>
          </p:blipFill>
          <p:spPr>
            <a:xfrm>
              <a:off x="560070" y="996696"/>
              <a:ext cx="8250935" cy="1323594"/>
            </a:xfrm>
            <a:prstGeom prst="rect">
              <a:avLst/>
            </a:prstGeom>
          </p:spPr>
        </p:pic>
      </p:grpSp>
      <p:grpSp>
        <p:nvGrpSpPr>
          <p:cNvPr id="6" name="object 6"/>
          <p:cNvGrpSpPr/>
          <p:nvPr/>
        </p:nvGrpSpPr>
        <p:grpSpPr>
          <a:xfrm>
            <a:off x="659891" y="2535199"/>
            <a:ext cx="7870190" cy="805815"/>
            <a:chOff x="659891" y="2535199"/>
            <a:chExt cx="7870190" cy="805815"/>
          </a:xfrm>
        </p:grpSpPr>
        <p:pic>
          <p:nvPicPr>
            <p:cNvPr id="7" name="object 7"/>
            <p:cNvPicPr/>
            <p:nvPr/>
          </p:nvPicPr>
          <p:blipFill>
            <a:blip r:embed="rId5" cstate="print"/>
            <a:stretch>
              <a:fillRect/>
            </a:stretch>
          </p:blipFill>
          <p:spPr>
            <a:xfrm>
              <a:off x="659891" y="2535199"/>
              <a:ext cx="7869935" cy="805408"/>
            </a:xfrm>
            <a:prstGeom prst="rect">
              <a:avLst/>
            </a:prstGeom>
          </p:spPr>
        </p:pic>
        <p:pic>
          <p:nvPicPr>
            <p:cNvPr id="8" name="object 8"/>
            <p:cNvPicPr/>
            <p:nvPr/>
          </p:nvPicPr>
          <p:blipFill>
            <a:blip r:embed="rId6" cstate="print"/>
            <a:stretch>
              <a:fillRect/>
            </a:stretch>
          </p:blipFill>
          <p:spPr>
            <a:xfrm>
              <a:off x="701039" y="2553461"/>
              <a:ext cx="7794498" cy="729995"/>
            </a:xfrm>
            <a:prstGeom prst="rect">
              <a:avLst/>
            </a:prstGeom>
          </p:spPr>
        </p:pic>
      </p:grpSp>
      <p:sp>
        <p:nvSpPr>
          <p:cNvPr id="9" name="object 9"/>
          <p:cNvSpPr txBox="1"/>
          <p:nvPr/>
        </p:nvSpPr>
        <p:spPr>
          <a:xfrm>
            <a:off x="850646" y="1066546"/>
            <a:ext cx="7567930" cy="1926589"/>
          </a:xfrm>
          <a:prstGeom prst="rect">
            <a:avLst/>
          </a:prstGeom>
        </p:spPr>
        <p:txBody>
          <a:bodyPr vert="horz" wrap="square" lIns="0" tIns="12700" rIns="0" bIns="0" rtlCol="0">
            <a:spAutoFit/>
          </a:bodyPr>
          <a:lstStyle/>
          <a:p>
            <a:pPr marL="355600" marR="5080" indent="-342900" algn="just">
              <a:lnSpc>
                <a:spcPct val="100000"/>
              </a:lnSpc>
              <a:spcBef>
                <a:spcPts val="100"/>
              </a:spcBef>
              <a:buFont typeface="Wingdings"/>
              <a:buChar char=""/>
              <a:tabLst>
                <a:tab pos="355600" algn="l"/>
              </a:tabLst>
            </a:pPr>
            <a:r>
              <a:rPr sz="2000" spc="175" dirty="0">
                <a:solidFill>
                  <a:srgbClr val="FFFFFF"/>
                </a:solidFill>
                <a:latin typeface="Times New Roman"/>
                <a:cs typeface="Times New Roman"/>
              </a:rPr>
              <a:t>A </a:t>
            </a:r>
            <a:r>
              <a:rPr sz="2000" spc="150" dirty="0">
                <a:solidFill>
                  <a:srgbClr val="FFFFFF"/>
                </a:solidFill>
                <a:latin typeface="Times New Roman"/>
                <a:cs typeface="Times New Roman"/>
              </a:rPr>
              <a:t>CTE </a:t>
            </a:r>
            <a:r>
              <a:rPr sz="2000" spc="10" dirty="0">
                <a:solidFill>
                  <a:srgbClr val="FFFFFF"/>
                </a:solidFill>
                <a:latin typeface="Times New Roman"/>
                <a:cs typeface="Times New Roman"/>
              </a:rPr>
              <a:t>is </a:t>
            </a:r>
            <a:r>
              <a:rPr sz="2000" spc="30" dirty="0">
                <a:solidFill>
                  <a:srgbClr val="FFFFFF"/>
                </a:solidFill>
                <a:latin typeface="Times New Roman"/>
                <a:cs typeface="Times New Roman"/>
              </a:rPr>
              <a:t>similar </a:t>
            </a:r>
            <a:r>
              <a:rPr sz="2000" spc="110" dirty="0">
                <a:solidFill>
                  <a:srgbClr val="FFFFFF"/>
                </a:solidFill>
                <a:latin typeface="Times New Roman"/>
                <a:cs typeface="Times New Roman"/>
              </a:rPr>
              <a:t>to </a:t>
            </a:r>
            <a:r>
              <a:rPr sz="2000" spc="30" dirty="0">
                <a:solidFill>
                  <a:srgbClr val="FFFFFF"/>
                </a:solidFill>
                <a:latin typeface="Times New Roman"/>
                <a:cs typeface="Times New Roman"/>
              </a:rPr>
              <a:t>a </a:t>
            </a:r>
            <a:r>
              <a:rPr sz="2000" spc="75" dirty="0">
                <a:solidFill>
                  <a:srgbClr val="FFFFFF"/>
                </a:solidFill>
                <a:latin typeface="Times New Roman"/>
                <a:cs typeface="Times New Roman"/>
              </a:rPr>
              <a:t>temporary </a:t>
            </a:r>
            <a:r>
              <a:rPr sz="2000" spc="65" dirty="0">
                <a:solidFill>
                  <a:srgbClr val="FFFFFF"/>
                </a:solidFill>
                <a:latin typeface="Times New Roman"/>
                <a:cs typeface="Times New Roman"/>
              </a:rPr>
              <a:t>resultset </a:t>
            </a:r>
            <a:r>
              <a:rPr sz="2000" spc="80" dirty="0">
                <a:solidFill>
                  <a:srgbClr val="FFFFFF"/>
                </a:solidFill>
                <a:latin typeface="Times New Roman"/>
                <a:cs typeface="Times New Roman"/>
              </a:rPr>
              <a:t>defined </a:t>
            </a:r>
            <a:r>
              <a:rPr sz="2000" spc="90" dirty="0">
                <a:solidFill>
                  <a:srgbClr val="FFFFFF"/>
                </a:solidFill>
                <a:latin typeface="Times New Roman"/>
                <a:cs typeface="Times New Roman"/>
              </a:rPr>
              <a:t>within </a:t>
            </a:r>
            <a:r>
              <a:rPr sz="2000" spc="114" dirty="0">
                <a:solidFill>
                  <a:srgbClr val="FFFFFF"/>
                </a:solidFill>
                <a:latin typeface="Times New Roman"/>
                <a:cs typeface="Times New Roman"/>
              </a:rPr>
              <a:t>the  </a:t>
            </a:r>
            <a:r>
              <a:rPr sz="2000" spc="85" dirty="0">
                <a:solidFill>
                  <a:srgbClr val="FFFFFF"/>
                </a:solidFill>
                <a:latin typeface="Times New Roman"/>
                <a:cs typeface="Times New Roman"/>
              </a:rPr>
              <a:t>execution </a:t>
            </a:r>
            <a:r>
              <a:rPr sz="2000" spc="55" dirty="0">
                <a:solidFill>
                  <a:srgbClr val="FFFFFF"/>
                </a:solidFill>
                <a:latin typeface="Times New Roman"/>
                <a:cs typeface="Times New Roman"/>
              </a:rPr>
              <a:t>scope </a:t>
            </a:r>
            <a:r>
              <a:rPr sz="2000" spc="60" dirty="0">
                <a:solidFill>
                  <a:srgbClr val="FFFFFF"/>
                </a:solidFill>
                <a:latin typeface="Times New Roman"/>
                <a:cs typeface="Times New Roman"/>
              </a:rPr>
              <a:t>of </a:t>
            </a:r>
            <a:r>
              <a:rPr sz="2000" spc="30" dirty="0">
                <a:solidFill>
                  <a:srgbClr val="FFFFFF"/>
                </a:solidFill>
                <a:latin typeface="Times New Roman"/>
                <a:cs typeface="Times New Roman"/>
              </a:rPr>
              <a:t>a </a:t>
            </a:r>
            <a:r>
              <a:rPr sz="2000" spc="35" dirty="0">
                <a:solidFill>
                  <a:srgbClr val="FFFFFF"/>
                </a:solidFill>
                <a:latin typeface="Times New Roman"/>
                <a:cs typeface="Times New Roman"/>
              </a:rPr>
              <a:t>single</a:t>
            </a:r>
            <a:r>
              <a:rPr sz="2000" spc="570" dirty="0">
                <a:solidFill>
                  <a:srgbClr val="FFFFFF"/>
                </a:solidFill>
                <a:latin typeface="Times New Roman"/>
                <a:cs typeface="Times New Roman"/>
              </a:rPr>
              <a:t> </a:t>
            </a:r>
            <a:r>
              <a:rPr sz="2000" spc="70" dirty="0">
                <a:solidFill>
                  <a:srgbClr val="FFFFFF"/>
                </a:solidFill>
                <a:latin typeface="Times New Roman"/>
                <a:cs typeface="Times New Roman"/>
              </a:rPr>
              <a:t>SELECT, </a:t>
            </a:r>
            <a:r>
              <a:rPr sz="2000" spc="65" dirty="0">
                <a:solidFill>
                  <a:srgbClr val="FFFFFF"/>
                </a:solidFill>
                <a:latin typeface="Times New Roman"/>
                <a:cs typeface="Times New Roman"/>
              </a:rPr>
              <a:t>INSERT, </a:t>
            </a:r>
            <a:r>
              <a:rPr sz="2000" spc="95" dirty="0">
                <a:solidFill>
                  <a:srgbClr val="FFFFFF"/>
                </a:solidFill>
                <a:latin typeface="Times New Roman"/>
                <a:cs typeface="Times New Roman"/>
              </a:rPr>
              <a:t>UPDATE,  </a:t>
            </a:r>
            <a:r>
              <a:rPr sz="2000" spc="35" dirty="0">
                <a:solidFill>
                  <a:srgbClr val="FFFFFF"/>
                </a:solidFill>
                <a:latin typeface="Times New Roman"/>
                <a:cs typeface="Times New Roman"/>
              </a:rPr>
              <a:t>DELETE, </a:t>
            </a:r>
            <a:r>
              <a:rPr sz="2000" spc="85" dirty="0">
                <a:solidFill>
                  <a:srgbClr val="FFFFFF"/>
                </a:solidFill>
                <a:latin typeface="Times New Roman"/>
                <a:cs typeface="Times New Roman"/>
              </a:rPr>
              <a:t>or </a:t>
            </a:r>
            <a:r>
              <a:rPr sz="2000" spc="114" dirty="0">
                <a:solidFill>
                  <a:srgbClr val="FFFFFF"/>
                </a:solidFill>
                <a:latin typeface="Times New Roman"/>
                <a:cs typeface="Times New Roman"/>
              </a:rPr>
              <a:t>CREATE VIEW </a:t>
            </a:r>
            <a:r>
              <a:rPr sz="2000" spc="80" dirty="0">
                <a:solidFill>
                  <a:srgbClr val="FFFFFF"/>
                </a:solidFill>
                <a:latin typeface="Times New Roman"/>
                <a:cs typeface="Times New Roman"/>
              </a:rPr>
              <a:t>statement. </a:t>
            </a:r>
            <a:r>
              <a:rPr sz="2000" spc="175" dirty="0">
                <a:solidFill>
                  <a:srgbClr val="FFFFFF"/>
                </a:solidFill>
                <a:latin typeface="Times New Roman"/>
                <a:cs typeface="Times New Roman"/>
              </a:rPr>
              <a:t>A </a:t>
            </a:r>
            <a:r>
              <a:rPr sz="2000" spc="145" dirty="0">
                <a:solidFill>
                  <a:srgbClr val="FFFFFF"/>
                </a:solidFill>
                <a:latin typeface="Times New Roman"/>
                <a:cs typeface="Times New Roman"/>
              </a:rPr>
              <a:t>CTE </a:t>
            </a:r>
            <a:r>
              <a:rPr sz="2000" spc="5" dirty="0">
                <a:solidFill>
                  <a:srgbClr val="FFFFFF"/>
                </a:solidFill>
                <a:latin typeface="Times New Roman"/>
                <a:cs typeface="Times New Roman"/>
              </a:rPr>
              <a:t>is </a:t>
            </a:r>
            <a:r>
              <a:rPr sz="2000" spc="30" dirty="0">
                <a:solidFill>
                  <a:srgbClr val="FFFFFF"/>
                </a:solidFill>
                <a:latin typeface="Times New Roman"/>
                <a:cs typeface="Times New Roman"/>
              </a:rPr>
              <a:t>a </a:t>
            </a:r>
            <a:r>
              <a:rPr sz="2000" spc="95" dirty="0">
                <a:solidFill>
                  <a:srgbClr val="FFFFFF"/>
                </a:solidFill>
                <a:latin typeface="Times New Roman"/>
                <a:cs typeface="Times New Roman"/>
              </a:rPr>
              <a:t>named  </a:t>
            </a:r>
            <a:r>
              <a:rPr sz="2000" spc="65" dirty="0">
                <a:solidFill>
                  <a:srgbClr val="FFFFFF"/>
                </a:solidFill>
                <a:latin typeface="Times New Roman"/>
                <a:cs typeface="Times New Roman"/>
              </a:rPr>
              <a:t>expression</a:t>
            </a:r>
            <a:r>
              <a:rPr sz="2000" spc="-45" dirty="0">
                <a:solidFill>
                  <a:srgbClr val="FFFFFF"/>
                </a:solidFill>
                <a:latin typeface="Times New Roman"/>
                <a:cs typeface="Times New Roman"/>
              </a:rPr>
              <a:t> </a:t>
            </a:r>
            <a:r>
              <a:rPr sz="2000" spc="80" dirty="0">
                <a:solidFill>
                  <a:srgbClr val="FFFFFF"/>
                </a:solidFill>
                <a:latin typeface="Times New Roman"/>
                <a:cs typeface="Times New Roman"/>
              </a:rPr>
              <a:t>defined</a:t>
            </a:r>
            <a:r>
              <a:rPr sz="2000" spc="-75" dirty="0">
                <a:solidFill>
                  <a:srgbClr val="FFFFFF"/>
                </a:solidFill>
                <a:latin typeface="Times New Roman"/>
                <a:cs typeface="Times New Roman"/>
              </a:rPr>
              <a:t> </a:t>
            </a:r>
            <a:r>
              <a:rPr sz="2000" spc="95" dirty="0">
                <a:solidFill>
                  <a:srgbClr val="FFFFFF"/>
                </a:solidFill>
                <a:latin typeface="Times New Roman"/>
                <a:cs typeface="Times New Roman"/>
              </a:rPr>
              <a:t>in</a:t>
            </a:r>
            <a:r>
              <a:rPr sz="2000" spc="-75" dirty="0">
                <a:solidFill>
                  <a:srgbClr val="FFFFFF"/>
                </a:solidFill>
                <a:latin typeface="Times New Roman"/>
                <a:cs typeface="Times New Roman"/>
              </a:rPr>
              <a:t> </a:t>
            </a:r>
            <a:r>
              <a:rPr sz="2000" spc="30" dirty="0">
                <a:solidFill>
                  <a:srgbClr val="FFFFFF"/>
                </a:solidFill>
                <a:latin typeface="Times New Roman"/>
                <a:cs typeface="Times New Roman"/>
              </a:rPr>
              <a:t>a</a:t>
            </a:r>
            <a:r>
              <a:rPr sz="2000" spc="-75" dirty="0">
                <a:solidFill>
                  <a:srgbClr val="FFFFFF"/>
                </a:solidFill>
                <a:latin typeface="Times New Roman"/>
                <a:cs typeface="Times New Roman"/>
              </a:rPr>
              <a:t> </a:t>
            </a:r>
            <a:r>
              <a:rPr sz="2000" spc="65" dirty="0">
                <a:solidFill>
                  <a:srgbClr val="FFFFFF"/>
                </a:solidFill>
                <a:latin typeface="Times New Roman"/>
                <a:cs typeface="Times New Roman"/>
              </a:rPr>
              <a:t>query.</a:t>
            </a:r>
            <a:endParaRPr sz="2000">
              <a:latin typeface="Times New Roman"/>
              <a:cs typeface="Times New Roman"/>
            </a:endParaRPr>
          </a:p>
          <a:p>
            <a:pPr>
              <a:lnSpc>
                <a:spcPct val="100000"/>
              </a:lnSpc>
              <a:spcBef>
                <a:spcPts val="45"/>
              </a:spcBef>
              <a:buClr>
                <a:srgbClr val="FFFFFF"/>
              </a:buClr>
              <a:buFont typeface="Wingdings"/>
              <a:buChar char=""/>
            </a:pPr>
            <a:endParaRPr sz="2750">
              <a:latin typeface="Times New Roman"/>
              <a:cs typeface="Times New Roman"/>
            </a:endParaRPr>
          </a:p>
          <a:p>
            <a:pPr marL="541020" lvl="1" indent="-335915">
              <a:lnSpc>
                <a:spcPct val="100000"/>
              </a:lnSpc>
              <a:buFont typeface="Wingdings"/>
              <a:buChar char=""/>
              <a:tabLst>
                <a:tab pos="540385" algn="l"/>
                <a:tab pos="541020" algn="l"/>
              </a:tabLst>
            </a:pPr>
            <a:r>
              <a:rPr sz="1800" spc="160" dirty="0">
                <a:solidFill>
                  <a:srgbClr val="FFFFFF"/>
                </a:solidFill>
                <a:latin typeface="Times New Roman"/>
                <a:cs typeface="Times New Roman"/>
              </a:rPr>
              <a:t>A</a:t>
            </a:r>
            <a:r>
              <a:rPr sz="1800" spc="-65" dirty="0">
                <a:solidFill>
                  <a:srgbClr val="FFFFFF"/>
                </a:solidFill>
                <a:latin typeface="Times New Roman"/>
                <a:cs typeface="Times New Roman"/>
              </a:rPr>
              <a:t> </a:t>
            </a:r>
            <a:r>
              <a:rPr sz="1800" spc="135" dirty="0">
                <a:solidFill>
                  <a:srgbClr val="FFFFFF"/>
                </a:solidFill>
                <a:latin typeface="Times New Roman"/>
                <a:cs typeface="Times New Roman"/>
              </a:rPr>
              <a:t>CTE</a:t>
            </a:r>
            <a:r>
              <a:rPr sz="1800" spc="-65" dirty="0">
                <a:solidFill>
                  <a:srgbClr val="FFFFFF"/>
                </a:solidFill>
                <a:latin typeface="Times New Roman"/>
                <a:cs typeface="Times New Roman"/>
              </a:rPr>
              <a:t> </a:t>
            </a:r>
            <a:r>
              <a:rPr sz="1800" spc="100" dirty="0">
                <a:solidFill>
                  <a:srgbClr val="FFFFFF"/>
                </a:solidFill>
                <a:latin typeface="Times New Roman"/>
                <a:cs typeface="Times New Roman"/>
              </a:rPr>
              <a:t>that</a:t>
            </a:r>
            <a:r>
              <a:rPr sz="1800" spc="-70" dirty="0">
                <a:solidFill>
                  <a:srgbClr val="FFFFFF"/>
                </a:solidFill>
                <a:latin typeface="Times New Roman"/>
                <a:cs typeface="Times New Roman"/>
              </a:rPr>
              <a:t> </a:t>
            </a:r>
            <a:r>
              <a:rPr sz="1800" spc="65" dirty="0">
                <a:solidFill>
                  <a:srgbClr val="FFFFFF"/>
                </a:solidFill>
                <a:latin typeface="Times New Roman"/>
                <a:cs typeface="Times New Roman"/>
              </a:rPr>
              <a:t>include</a:t>
            </a:r>
            <a:r>
              <a:rPr sz="1800" spc="-70" dirty="0">
                <a:solidFill>
                  <a:srgbClr val="FFFFFF"/>
                </a:solidFill>
                <a:latin typeface="Times New Roman"/>
                <a:cs typeface="Times New Roman"/>
              </a:rPr>
              <a:t> </a:t>
            </a:r>
            <a:r>
              <a:rPr sz="1800" spc="50" dirty="0">
                <a:solidFill>
                  <a:srgbClr val="FFFFFF"/>
                </a:solidFill>
                <a:latin typeface="Times New Roman"/>
                <a:cs typeface="Times New Roman"/>
              </a:rPr>
              <a:t>references</a:t>
            </a:r>
            <a:r>
              <a:rPr sz="1800" spc="-70" dirty="0">
                <a:solidFill>
                  <a:srgbClr val="FFFFFF"/>
                </a:solidFill>
                <a:latin typeface="Times New Roman"/>
                <a:cs typeface="Times New Roman"/>
              </a:rPr>
              <a:t> </a:t>
            </a:r>
            <a:r>
              <a:rPr sz="1800" spc="100" dirty="0">
                <a:solidFill>
                  <a:srgbClr val="FFFFFF"/>
                </a:solidFill>
                <a:latin typeface="Times New Roman"/>
                <a:cs typeface="Times New Roman"/>
              </a:rPr>
              <a:t>to</a:t>
            </a:r>
            <a:r>
              <a:rPr sz="1800" spc="-65" dirty="0">
                <a:solidFill>
                  <a:srgbClr val="FFFFFF"/>
                </a:solidFill>
                <a:latin typeface="Times New Roman"/>
                <a:cs typeface="Times New Roman"/>
              </a:rPr>
              <a:t> </a:t>
            </a:r>
            <a:r>
              <a:rPr sz="1800" spc="30" dirty="0">
                <a:solidFill>
                  <a:srgbClr val="FFFFFF"/>
                </a:solidFill>
                <a:latin typeface="Times New Roman"/>
                <a:cs typeface="Times New Roman"/>
              </a:rPr>
              <a:t>itself</a:t>
            </a:r>
            <a:r>
              <a:rPr sz="1800" spc="-60" dirty="0">
                <a:solidFill>
                  <a:srgbClr val="FFFFFF"/>
                </a:solidFill>
                <a:latin typeface="Times New Roman"/>
                <a:cs typeface="Times New Roman"/>
              </a:rPr>
              <a:t> </a:t>
            </a:r>
            <a:r>
              <a:rPr sz="1800" spc="5" dirty="0">
                <a:solidFill>
                  <a:srgbClr val="FFFFFF"/>
                </a:solidFill>
                <a:latin typeface="Times New Roman"/>
                <a:cs typeface="Times New Roman"/>
              </a:rPr>
              <a:t>is</a:t>
            </a:r>
            <a:r>
              <a:rPr sz="1800" spc="-50" dirty="0">
                <a:solidFill>
                  <a:srgbClr val="FFFFFF"/>
                </a:solidFill>
                <a:latin typeface="Times New Roman"/>
                <a:cs typeface="Times New Roman"/>
              </a:rPr>
              <a:t> </a:t>
            </a:r>
            <a:r>
              <a:rPr sz="1800" spc="30" dirty="0">
                <a:solidFill>
                  <a:srgbClr val="FFFFFF"/>
                </a:solidFill>
                <a:latin typeface="Times New Roman"/>
                <a:cs typeface="Times New Roman"/>
              </a:rPr>
              <a:t>called</a:t>
            </a:r>
            <a:r>
              <a:rPr sz="1800" spc="-70" dirty="0">
                <a:solidFill>
                  <a:srgbClr val="FFFFFF"/>
                </a:solidFill>
                <a:latin typeface="Times New Roman"/>
                <a:cs typeface="Times New Roman"/>
              </a:rPr>
              <a:t> </a:t>
            </a:r>
            <a:r>
              <a:rPr sz="1800" spc="30" dirty="0">
                <a:solidFill>
                  <a:srgbClr val="FFFFFF"/>
                </a:solidFill>
                <a:latin typeface="Times New Roman"/>
                <a:cs typeface="Times New Roman"/>
              </a:rPr>
              <a:t>a</a:t>
            </a:r>
            <a:r>
              <a:rPr sz="1800" spc="-75" dirty="0">
                <a:solidFill>
                  <a:srgbClr val="FFFFFF"/>
                </a:solidFill>
                <a:latin typeface="Times New Roman"/>
                <a:cs typeface="Times New Roman"/>
              </a:rPr>
              <a:t> </a:t>
            </a:r>
            <a:r>
              <a:rPr sz="1800" spc="45" dirty="0">
                <a:solidFill>
                  <a:srgbClr val="FFFF00"/>
                </a:solidFill>
                <a:latin typeface="Times New Roman"/>
                <a:cs typeface="Times New Roman"/>
              </a:rPr>
              <a:t>recursive</a:t>
            </a:r>
            <a:r>
              <a:rPr sz="1800" spc="-70" dirty="0">
                <a:solidFill>
                  <a:srgbClr val="FFFF00"/>
                </a:solidFill>
                <a:latin typeface="Times New Roman"/>
                <a:cs typeface="Times New Roman"/>
              </a:rPr>
              <a:t> </a:t>
            </a:r>
            <a:r>
              <a:rPr sz="1800" spc="100" dirty="0">
                <a:solidFill>
                  <a:srgbClr val="FFFF00"/>
                </a:solidFill>
                <a:latin typeface="Times New Roman"/>
                <a:cs typeface="Times New Roman"/>
              </a:rPr>
              <a:t>CTE</a:t>
            </a:r>
            <a:r>
              <a:rPr sz="1800" spc="100" dirty="0">
                <a:solidFill>
                  <a:srgbClr val="FFFFFF"/>
                </a:solidFill>
                <a:latin typeface="Times New Roman"/>
                <a:cs typeface="Times New Roman"/>
              </a:rPr>
              <a:t>.</a:t>
            </a:r>
            <a:endParaRPr sz="1800">
              <a:latin typeface="Times New Roman"/>
              <a:cs typeface="Times New Roman"/>
            </a:endParaRPr>
          </a:p>
        </p:txBody>
      </p:sp>
      <p:pic>
        <p:nvPicPr>
          <p:cNvPr id="10" name="object 10"/>
          <p:cNvPicPr/>
          <p:nvPr/>
        </p:nvPicPr>
        <p:blipFill>
          <a:blip r:embed="rId7" cstate="print"/>
          <a:stretch>
            <a:fillRect/>
          </a:stretch>
        </p:blipFill>
        <p:spPr>
          <a:xfrm>
            <a:off x="964691" y="3408426"/>
            <a:ext cx="7321296" cy="2922270"/>
          </a:xfrm>
          <a:prstGeom prst="rect">
            <a:avLst/>
          </a:prstGeom>
        </p:spPr>
      </p:pic>
      <p:sp>
        <p:nvSpPr>
          <p:cNvPr id="12" name="object 12"/>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04" baseline="4629" dirty="0"/>
              <a:t>9/</a:t>
            </a:r>
            <a:r>
              <a:rPr sz="1800" spc="-262" baseline="4629" dirty="0"/>
              <a:t> </a:t>
            </a:r>
            <a:fld id="{81D60167-4931-47E6-BA6A-407CBD079E47}" type="slidenum">
              <a:rPr sz="1200" spc="15" dirty="0"/>
              <a:t>36</a:t>
            </a:fld>
            <a:endParaRPr sz="1200"/>
          </a:p>
        </p:txBody>
      </p:sp>
      <p:sp>
        <p:nvSpPr>
          <p:cNvPr id="13" name="object 13"/>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idx="4294967295"/>
          </p:nvPr>
        </p:nvSpPr>
        <p:spPr>
          <a:xfrm>
            <a:off x="152400" y="74177"/>
            <a:ext cx="7620000" cy="615553"/>
          </a:xfrm>
        </p:spPr>
        <p:txBody>
          <a:bodyPr/>
          <a:lstStyle/>
          <a:p>
            <a:r>
              <a:rPr lang="en-US" dirty="0"/>
              <a:t>Common Table Expressions (</a:t>
            </a:r>
            <a:r>
              <a:rPr lang="en-US"/>
              <a:t>CTEs)</a:t>
            </a:r>
            <a:endParaRPr lang="en-US" dirty="0"/>
          </a:p>
        </p:txBody>
      </p:sp>
      <p:sp>
        <p:nvSpPr>
          <p:cNvPr id="5" name="TextBox 4"/>
          <p:cNvSpPr txBox="1"/>
          <p:nvPr/>
        </p:nvSpPr>
        <p:spPr>
          <a:xfrm>
            <a:off x="381000" y="990600"/>
            <a:ext cx="8534400" cy="369332"/>
          </a:xfrm>
          <a:prstGeom prst="rect">
            <a:avLst/>
          </a:prstGeom>
          <a:noFill/>
        </p:spPr>
        <p:txBody>
          <a:bodyPr wrap="square" rtlCol="0">
            <a:spAutoFit/>
          </a:bodyPr>
          <a:lstStyle/>
          <a:p>
            <a:pPr marL="341313" indent="-341313">
              <a:lnSpc>
                <a:spcPct val="100000"/>
              </a:lnSpc>
              <a:spcBef>
                <a:spcPts val="0"/>
              </a:spcBef>
              <a:buFont typeface="Wingdings" pitchFamily="2" charset="2"/>
              <a:buChar char="Ø"/>
            </a:pPr>
            <a:r>
              <a:rPr lang="en-US" sz="1800" dirty="0">
                <a:latin typeface="Calibri" pitchFamily="34" charset="0"/>
                <a:cs typeface="Calibri" pitchFamily="34" charset="0"/>
              </a:rPr>
              <a:t>Following code snippet defines two CTEs using a single </a:t>
            </a:r>
            <a:r>
              <a:rPr lang="en-US" sz="1800" dirty="0">
                <a:cs typeface="Courier New" pitchFamily="49" charset="0"/>
              </a:rPr>
              <a:t>WITH</a:t>
            </a:r>
            <a:r>
              <a:rPr lang="en-US" sz="1800" dirty="0">
                <a:latin typeface="Calibri" pitchFamily="34" charset="0"/>
                <a:cs typeface="Calibri" pitchFamily="34" charset="0"/>
              </a:rPr>
              <a:t> clause:</a:t>
            </a:r>
          </a:p>
        </p:txBody>
      </p:sp>
      <p:sp>
        <p:nvSpPr>
          <p:cNvPr id="7" name="TextBox 6"/>
          <p:cNvSpPr txBox="1"/>
          <p:nvPr/>
        </p:nvSpPr>
        <p:spPr>
          <a:xfrm>
            <a:off x="762000" y="1447800"/>
            <a:ext cx="6705600" cy="4616648"/>
          </a:xfrm>
          <a:prstGeom prst="rect">
            <a:avLst/>
          </a:prstGeom>
          <a:solidFill>
            <a:schemeClr val="accent1">
              <a:lumMod val="60000"/>
              <a:lumOff val="40000"/>
            </a:schemeClr>
          </a:solidFill>
          <a:ln>
            <a:solidFill>
              <a:schemeClr val="tx1"/>
            </a:solidFill>
          </a:ln>
        </p:spPr>
        <p:txBody>
          <a:bodyPr wrap="square" rtlCol="0">
            <a:spAutoFit/>
          </a:bodyPr>
          <a:lstStyle/>
          <a:p>
            <a:r>
              <a:rPr lang="en-US" sz="1600" dirty="0"/>
              <a:t>WITH </a:t>
            </a:r>
            <a:r>
              <a:rPr lang="en-US" sz="1600" dirty="0" err="1"/>
              <a:t>CTE_Students</a:t>
            </a:r>
            <a:endParaRPr lang="en-US" sz="1600" dirty="0"/>
          </a:p>
          <a:p>
            <a:r>
              <a:rPr lang="en-US" sz="1600" dirty="0"/>
              <a:t>AS</a:t>
            </a:r>
          </a:p>
          <a:p>
            <a:r>
              <a:rPr lang="en-US" sz="1600" dirty="0"/>
              <a:t>(</a:t>
            </a:r>
          </a:p>
          <a:p>
            <a:r>
              <a:rPr lang="en-US" sz="1600" dirty="0"/>
              <a:t>Select </a:t>
            </a:r>
            <a:r>
              <a:rPr lang="en-US" sz="1600" dirty="0" err="1"/>
              <a:t>StudentCode</a:t>
            </a:r>
            <a:r>
              <a:rPr lang="en-US" sz="1600" dirty="0"/>
              <a:t>, </a:t>
            </a:r>
            <a:r>
              <a:rPr lang="en-US" sz="1600" dirty="0" err="1"/>
              <a:t>S.Name,C.CityName</a:t>
            </a:r>
            <a:r>
              <a:rPr lang="en-US" sz="1600" dirty="0"/>
              <a:t>, </a:t>
            </a:r>
            <a:r>
              <a:rPr lang="en-US" sz="1600" dirty="0" err="1"/>
              <a:t>St.Status</a:t>
            </a:r>
            <a:endParaRPr lang="en-US" sz="1600" dirty="0"/>
          </a:p>
          <a:p>
            <a:r>
              <a:rPr lang="en-US" sz="1600" dirty="0"/>
              <a:t>FROM Student S</a:t>
            </a:r>
          </a:p>
          <a:p>
            <a:r>
              <a:rPr lang="en-US" sz="1600" dirty="0"/>
              <a:t>INNER JOIN City C</a:t>
            </a:r>
          </a:p>
          <a:p>
            <a:r>
              <a:rPr lang="en-US" sz="1600" dirty="0"/>
              <a:t>ON </a:t>
            </a:r>
            <a:r>
              <a:rPr lang="en-US" sz="1600" dirty="0" err="1"/>
              <a:t>S.CityCode</a:t>
            </a:r>
            <a:r>
              <a:rPr lang="en-US" sz="1600" dirty="0"/>
              <a:t> = </a:t>
            </a:r>
            <a:r>
              <a:rPr lang="en-US" sz="1600" dirty="0" err="1"/>
              <a:t>C.CityCode</a:t>
            </a:r>
            <a:endParaRPr lang="en-US" sz="1600" dirty="0"/>
          </a:p>
          <a:p>
            <a:r>
              <a:rPr lang="en-US" sz="1600" dirty="0"/>
              <a:t>INNER JOIN Status St</a:t>
            </a:r>
          </a:p>
          <a:p>
            <a:r>
              <a:rPr lang="en-US" sz="1600" dirty="0"/>
              <a:t>ON </a:t>
            </a:r>
            <a:r>
              <a:rPr lang="en-US" sz="1600" dirty="0" err="1"/>
              <a:t>S.StatusId</a:t>
            </a:r>
            <a:r>
              <a:rPr lang="en-US" sz="1600" dirty="0"/>
              <a:t> = </a:t>
            </a:r>
            <a:r>
              <a:rPr lang="en-US" sz="1600" dirty="0" err="1"/>
              <a:t>St.StatusId</a:t>
            </a:r>
            <a:r>
              <a:rPr lang="en-US" sz="1600" dirty="0"/>
              <a:t>)</a:t>
            </a:r>
          </a:p>
          <a:p>
            <a:r>
              <a:rPr lang="en-US" sz="1600" dirty="0"/>
              <a:t>,</a:t>
            </a:r>
          </a:p>
          <a:p>
            <a:r>
              <a:rPr lang="en-US" sz="1600" dirty="0" err="1"/>
              <a:t>StatusRecord</a:t>
            </a:r>
            <a:r>
              <a:rPr lang="en-US" sz="1600" dirty="0"/>
              <a:t> –- This is the second CTE being defined</a:t>
            </a:r>
          </a:p>
          <a:p>
            <a:r>
              <a:rPr lang="en-US" sz="1600" dirty="0"/>
              <a:t>AS</a:t>
            </a:r>
          </a:p>
          <a:p>
            <a:r>
              <a:rPr lang="en-US" sz="1600" dirty="0"/>
              <a:t>(</a:t>
            </a:r>
          </a:p>
          <a:p>
            <a:r>
              <a:rPr lang="en-US" sz="1600" dirty="0"/>
              <a:t>SELECT Status, COUNT(Name) AS </a:t>
            </a:r>
            <a:r>
              <a:rPr lang="en-US" sz="1600" dirty="0" err="1"/>
              <a:t>CountofStudents</a:t>
            </a:r>
            <a:endParaRPr lang="en-US" sz="1600" dirty="0"/>
          </a:p>
          <a:p>
            <a:r>
              <a:rPr lang="en-US" sz="1600" dirty="0"/>
              <a:t>FROM </a:t>
            </a:r>
            <a:r>
              <a:rPr lang="en-US" sz="1600" dirty="0" err="1"/>
              <a:t>CTE_Students</a:t>
            </a:r>
            <a:endParaRPr lang="en-US" sz="1600" dirty="0"/>
          </a:p>
          <a:p>
            <a:r>
              <a:rPr lang="en-US" sz="1600" dirty="0"/>
              <a:t>GROUP BY Status</a:t>
            </a:r>
          </a:p>
          <a:p>
            <a:r>
              <a:rPr lang="en-US" sz="1600" dirty="0"/>
              <a:t>)</a:t>
            </a:r>
          </a:p>
          <a:p>
            <a:r>
              <a:rPr lang="en-US" sz="1600" dirty="0"/>
              <a:t>SELECT * FROM </a:t>
            </a:r>
            <a:r>
              <a:rPr lang="en-US" sz="1600" dirty="0" err="1"/>
              <a:t>StatusRecord</a:t>
            </a:r>
            <a:endParaRPr lang="en-US" sz="1600" dirty="0"/>
          </a:p>
        </p:txBody>
      </p:sp>
      <p:sp>
        <p:nvSpPr>
          <p:cNvPr id="8" name="object 12">
            <a:extLst>
              <a:ext uri="{FF2B5EF4-FFF2-40B4-BE49-F238E27FC236}">
                <a16:creationId xmlns:a16="http://schemas.microsoft.com/office/drawing/2014/main" id="{1BF42DC2-3E93-45AD-A571-6B0F39D82CE3}"/>
              </a:ext>
            </a:extLst>
          </p:cNvPr>
          <p:cNvSpPr txBox="1">
            <a:spLocks/>
          </p:cNvSpPr>
          <p:nvPr/>
        </p:nvSpPr>
        <p:spPr>
          <a:xfrm>
            <a:off x="7912607" y="6569709"/>
            <a:ext cx="909954" cy="256540"/>
          </a:xfrm>
          <a:prstGeom prst="rect">
            <a:avLst/>
          </a:prstGeom>
        </p:spPr>
        <p:txBody>
          <a:bodyPr vert="horz" wrap="square" lIns="0" tIns="18415"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spcBef>
                <a:spcPts val="145"/>
              </a:spcBef>
            </a:pPr>
            <a:r>
              <a:rPr lang="en-US" spc="52" baseline="4629"/>
              <a:t>Session </a:t>
            </a:r>
            <a:r>
              <a:rPr lang="en-US" spc="104" baseline="4629"/>
              <a:t>9/</a:t>
            </a:r>
            <a:r>
              <a:rPr lang="en-US" spc="-262" baseline="4629"/>
              <a:t> </a:t>
            </a:r>
            <a:fld id="{81D60167-4931-47E6-BA6A-407CBD079E47}" type="slidenum">
              <a:rPr sz="1200" spc="15" smtClean="0"/>
              <a:pPr marL="12700">
                <a:spcBef>
                  <a:spcPts val="145"/>
                </a:spcBef>
              </a:pPr>
              <a:t>37</a:t>
            </a:fld>
            <a:endParaRPr sz="1200"/>
          </a:p>
        </p:txBody>
      </p:sp>
      <p:pic>
        <p:nvPicPr>
          <p:cNvPr id="9" name="Picture 8" descr="Figure 9.30.tif">
            <a:extLst>
              <a:ext uri="{FF2B5EF4-FFF2-40B4-BE49-F238E27FC236}">
                <a16:creationId xmlns:a16="http://schemas.microsoft.com/office/drawing/2014/main" id="{5939BED1-A797-4D3B-AC13-ED26D92D27C5}"/>
              </a:ext>
            </a:extLst>
          </p:cNvPr>
          <p:cNvPicPr>
            <a:picLocks noChangeAspect="1"/>
          </p:cNvPicPr>
          <p:nvPr/>
        </p:nvPicPr>
        <p:blipFill>
          <a:blip r:embed="rId3" cstate="print"/>
          <a:stretch>
            <a:fillRect/>
          </a:stretch>
        </p:blipFill>
        <p:spPr>
          <a:xfrm>
            <a:off x="5422526" y="4851392"/>
            <a:ext cx="3492874" cy="1243536"/>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
            <a:ext cx="8517255" cy="635635"/>
          </a:xfrm>
          <a:prstGeom prst="rect">
            <a:avLst/>
          </a:prstGeom>
        </p:spPr>
        <p:txBody>
          <a:bodyPr vert="horz" wrap="square" lIns="0" tIns="12700" rIns="0" bIns="0" rtlCol="0">
            <a:spAutoFit/>
          </a:bodyPr>
          <a:lstStyle/>
          <a:p>
            <a:pPr marL="12700">
              <a:lnSpc>
                <a:spcPct val="100000"/>
              </a:lnSpc>
              <a:spcBef>
                <a:spcPts val="100"/>
              </a:spcBef>
            </a:pPr>
            <a:r>
              <a:rPr spc="204" dirty="0"/>
              <a:t>Combining</a:t>
            </a:r>
            <a:r>
              <a:rPr spc="-165" dirty="0"/>
              <a:t> </a:t>
            </a:r>
            <a:r>
              <a:rPr spc="165" dirty="0"/>
              <a:t>Data</a:t>
            </a:r>
            <a:r>
              <a:rPr spc="-150" dirty="0"/>
              <a:t> </a:t>
            </a:r>
            <a:r>
              <a:rPr spc="145" dirty="0"/>
              <a:t>Using</a:t>
            </a:r>
            <a:r>
              <a:rPr spc="-150" dirty="0"/>
              <a:t> </a:t>
            </a:r>
            <a:r>
              <a:rPr spc="165" dirty="0"/>
              <a:t>SET</a:t>
            </a:r>
            <a:r>
              <a:rPr spc="-165" dirty="0"/>
              <a:t> </a:t>
            </a:r>
            <a:r>
              <a:rPr spc="185" dirty="0"/>
              <a:t>Operators</a:t>
            </a:r>
          </a:p>
        </p:txBody>
      </p:sp>
      <p:grpSp>
        <p:nvGrpSpPr>
          <p:cNvPr id="3" name="object 3"/>
          <p:cNvGrpSpPr/>
          <p:nvPr/>
        </p:nvGrpSpPr>
        <p:grpSpPr>
          <a:xfrm>
            <a:off x="425195" y="1620011"/>
            <a:ext cx="8703945" cy="3290570"/>
            <a:chOff x="425195" y="1620011"/>
            <a:chExt cx="8703945" cy="3290570"/>
          </a:xfrm>
        </p:grpSpPr>
        <p:pic>
          <p:nvPicPr>
            <p:cNvPr id="4" name="object 4"/>
            <p:cNvPicPr/>
            <p:nvPr/>
          </p:nvPicPr>
          <p:blipFill>
            <a:blip r:embed="rId3" cstate="print"/>
            <a:stretch>
              <a:fillRect/>
            </a:stretch>
          </p:blipFill>
          <p:spPr>
            <a:xfrm>
              <a:off x="425195" y="1620011"/>
              <a:ext cx="8703564" cy="3290316"/>
            </a:xfrm>
            <a:prstGeom prst="rect">
              <a:avLst/>
            </a:prstGeom>
          </p:spPr>
        </p:pic>
        <p:pic>
          <p:nvPicPr>
            <p:cNvPr id="5" name="object 5"/>
            <p:cNvPicPr/>
            <p:nvPr/>
          </p:nvPicPr>
          <p:blipFill>
            <a:blip r:embed="rId4" cstate="print"/>
            <a:stretch>
              <a:fillRect/>
            </a:stretch>
          </p:blipFill>
          <p:spPr>
            <a:xfrm>
              <a:off x="466343" y="1638299"/>
              <a:ext cx="8628126" cy="3214878"/>
            </a:xfrm>
            <a:prstGeom prst="rect">
              <a:avLst/>
            </a:prstGeom>
          </p:spPr>
        </p:pic>
      </p:grpSp>
      <p:sp>
        <p:nvSpPr>
          <p:cNvPr id="6" name="object 6"/>
          <p:cNvSpPr txBox="1"/>
          <p:nvPr/>
        </p:nvSpPr>
        <p:spPr>
          <a:xfrm>
            <a:off x="807973" y="1753870"/>
            <a:ext cx="8094345" cy="2352040"/>
          </a:xfrm>
          <a:prstGeom prst="rect">
            <a:avLst/>
          </a:prstGeom>
        </p:spPr>
        <p:txBody>
          <a:bodyPr vert="horz" wrap="square" lIns="0" tIns="12700" rIns="0" bIns="0" rtlCol="0">
            <a:spAutoFit/>
          </a:bodyPr>
          <a:lstStyle/>
          <a:p>
            <a:pPr marL="355600" marR="5080" indent="-342900">
              <a:lnSpc>
                <a:spcPct val="100000"/>
              </a:lnSpc>
              <a:spcBef>
                <a:spcPts val="100"/>
              </a:spcBef>
              <a:buClr>
                <a:srgbClr val="FFFFFF"/>
              </a:buClr>
              <a:buFont typeface="Wingdings"/>
              <a:buChar char=""/>
              <a:tabLst>
                <a:tab pos="419734" algn="l"/>
                <a:tab pos="420370" algn="l"/>
              </a:tabLst>
            </a:pPr>
            <a:r>
              <a:rPr dirty="0"/>
              <a:t>	</a:t>
            </a:r>
            <a:r>
              <a:rPr sz="2400" spc="114" dirty="0">
                <a:solidFill>
                  <a:srgbClr val="FFFFFF"/>
                </a:solidFill>
                <a:latin typeface="Times New Roman"/>
                <a:cs typeface="Times New Roman"/>
              </a:rPr>
              <a:t>SQL </a:t>
            </a:r>
            <a:r>
              <a:rPr sz="2400" spc="70" dirty="0">
                <a:solidFill>
                  <a:srgbClr val="FFFFFF"/>
                </a:solidFill>
                <a:latin typeface="Times New Roman"/>
                <a:cs typeface="Times New Roman"/>
              </a:rPr>
              <a:t>Server </a:t>
            </a:r>
            <a:r>
              <a:rPr sz="2400" spc="-110" dirty="0">
                <a:solidFill>
                  <a:srgbClr val="FFFFFF"/>
                </a:solidFill>
                <a:latin typeface="Times New Roman"/>
                <a:cs typeface="Times New Roman"/>
              </a:rPr>
              <a:t>2019 </a:t>
            </a:r>
            <a:r>
              <a:rPr sz="2400" spc="75" dirty="0">
                <a:solidFill>
                  <a:srgbClr val="FFFFFF"/>
                </a:solidFill>
                <a:latin typeface="Times New Roman"/>
                <a:cs typeface="Times New Roman"/>
              </a:rPr>
              <a:t>provides </a:t>
            </a:r>
            <a:r>
              <a:rPr sz="2400" spc="85" dirty="0">
                <a:solidFill>
                  <a:srgbClr val="FFFFFF"/>
                </a:solidFill>
                <a:latin typeface="Times New Roman"/>
                <a:cs typeface="Times New Roman"/>
              </a:rPr>
              <a:t>certain </a:t>
            </a:r>
            <a:r>
              <a:rPr sz="2400" spc="65" dirty="0">
                <a:solidFill>
                  <a:srgbClr val="FFFFFF"/>
                </a:solidFill>
                <a:latin typeface="Times New Roman"/>
                <a:cs typeface="Times New Roman"/>
              </a:rPr>
              <a:t>keywords, </a:t>
            </a:r>
            <a:r>
              <a:rPr sz="2400" spc="40" dirty="0">
                <a:solidFill>
                  <a:srgbClr val="FFFFFF"/>
                </a:solidFill>
                <a:latin typeface="Times New Roman"/>
                <a:cs typeface="Times New Roman"/>
              </a:rPr>
              <a:t>also </a:t>
            </a:r>
            <a:r>
              <a:rPr sz="2400" spc="45" dirty="0">
                <a:solidFill>
                  <a:srgbClr val="FFFFFF"/>
                </a:solidFill>
                <a:latin typeface="Times New Roman"/>
                <a:cs typeface="Times New Roman"/>
              </a:rPr>
              <a:t>called </a:t>
            </a:r>
            <a:r>
              <a:rPr sz="2400" spc="20" dirty="0">
                <a:solidFill>
                  <a:srgbClr val="FFFFFF"/>
                </a:solidFill>
                <a:latin typeface="Times New Roman"/>
                <a:cs typeface="Times New Roman"/>
              </a:rPr>
              <a:t>as  </a:t>
            </a:r>
            <a:r>
              <a:rPr sz="2400" spc="80" dirty="0">
                <a:solidFill>
                  <a:srgbClr val="FFFFFF"/>
                </a:solidFill>
                <a:latin typeface="Times New Roman"/>
                <a:cs typeface="Times New Roman"/>
              </a:rPr>
              <a:t>operators,</a:t>
            </a:r>
            <a:r>
              <a:rPr sz="2400" spc="-90" dirty="0">
                <a:solidFill>
                  <a:srgbClr val="FFFFFF"/>
                </a:solidFill>
                <a:latin typeface="Times New Roman"/>
                <a:cs typeface="Times New Roman"/>
              </a:rPr>
              <a:t> </a:t>
            </a:r>
            <a:r>
              <a:rPr sz="2400" spc="130" dirty="0">
                <a:solidFill>
                  <a:srgbClr val="FFFFFF"/>
                </a:solidFill>
                <a:latin typeface="Times New Roman"/>
                <a:cs typeface="Times New Roman"/>
              </a:rPr>
              <a:t>to</a:t>
            </a:r>
            <a:r>
              <a:rPr sz="2400" spc="-90" dirty="0">
                <a:solidFill>
                  <a:srgbClr val="FFFFFF"/>
                </a:solidFill>
                <a:latin typeface="Times New Roman"/>
                <a:cs typeface="Times New Roman"/>
              </a:rPr>
              <a:t> </a:t>
            </a:r>
            <a:r>
              <a:rPr sz="2400" spc="90" dirty="0">
                <a:solidFill>
                  <a:srgbClr val="FFFFFF"/>
                </a:solidFill>
                <a:latin typeface="Times New Roman"/>
                <a:cs typeface="Times New Roman"/>
              </a:rPr>
              <a:t>combine</a:t>
            </a:r>
            <a:r>
              <a:rPr sz="2400" spc="-95" dirty="0">
                <a:solidFill>
                  <a:srgbClr val="FFFFFF"/>
                </a:solidFill>
                <a:latin typeface="Times New Roman"/>
                <a:cs typeface="Times New Roman"/>
              </a:rPr>
              <a:t> </a:t>
            </a:r>
            <a:r>
              <a:rPr sz="2400" spc="95" dirty="0">
                <a:solidFill>
                  <a:srgbClr val="FFFFFF"/>
                </a:solidFill>
                <a:latin typeface="Times New Roman"/>
                <a:cs typeface="Times New Roman"/>
              </a:rPr>
              <a:t>data</a:t>
            </a:r>
            <a:r>
              <a:rPr sz="2400" spc="-75" dirty="0">
                <a:solidFill>
                  <a:srgbClr val="FFFFFF"/>
                </a:solidFill>
                <a:latin typeface="Times New Roman"/>
                <a:cs typeface="Times New Roman"/>
              </a:rPr>
              <a:t> </a:t>
            </a:r>
            <a:r>
              <a:rPr sz="2400" spc="90" dirty="0">
                <a:solidFill>
                  <a:srgbClr val="FFFFFF"/>
                </a:solidFill>
                <a:latin typeface="Times New Roman"/>
                <a:cs typeface="Times New Roman"/>
              </a:rPr>
              <a:t>from</a:t>
            </a:r>
            <a:r>
              <a:rPr sz="2400" spc="-90" dirty="0">
                <a:solidFill>
                  <a:srgbClr val="FFFFFF"/>
                </a:solidFill>
                <a:latin typeface="Times New Roman"/>
                <a:cs typeface="Times New Roman"/>
              </a:rPr>
              <a:t> </a:t>
            </a:r>
            <a:r>
              <a:rPr sz="2400" spc="80" dirty="0">
                <a:solidFill>
                  <a:srgbClr val="FFFFFF"/>
                </a:solidFill>
                <a:latin typeface="Times New Roman"/>
                <a:cs typeface="Times New Roman"/>
              </a:rPr>
              <a:t>multiple</a:t>
            </a:r>
            <a:r>
              <a:rPr sz="2400" spc="-70" dirty="0">
                <a:solidFill>
                  <a:srgbClr val="FFFFFF"/>
                </a:solidFill>
                <a:latin typeface="Times New Roman"/>
                <a:cs typeface="Times New Roman"/>
              </a:rPr>
              <a:t> </a:t>
            </a:r>
            <a:r>
              <a:rPr sz="2400" spc="50" dirty="0">
                <a:solidFill>
                  <a:srgbClr val="FFFFFF"/>
                </a:solidFill>
                <a:latin typeface="Times New Roman"/>
                <a:cs typeface="Times New Roman"/>
              </a:rPr>
              <a:t>tables.</a:t>
            </a:r>
            <a:endParaRPr sz="2400">
              <a:latin typeface="Times New Roman"/>
              <a:cs typeface="Times New Roman"/>
            </a:endParaRPr>
          </a:p>
          <a:p>
            <a:pPr marL="12700">
              <a:lnSpc>
                <a:spcPct val="100000"/>
              </a:lnSpc>
              <a:spcBef>
                <a:spcPts val="2955"/>
              </a:spcBef>
            </a:pPr>
            <a:r>
              <a:rPr sz="2000" spc="85" dirty="0">
                <a:solidFill>
                  <a:srgbClr val="FFFFFF"/>
                </a:solidFill>
                <a:latin typeface="Times New Roman"/>
                <a:cs typeface="Times New Roman"/>
              </a:rPr>
              <a:t>These</a:t>
            </a:r>
            <a:r>
              <a:rPr sz="2000" spc="-65" dirty="0">
                <a:solidFill>
                  <a:srgbClr val="FFFFFF"/>
                </a:solidFill>
                <a:latin typeface="Times New Roman"/>
                <a:cs typeface="Times New Roman"/>
              </a:rPr>
              <a:t> </a:t>
            </a:r>
            <a:r>
              <a:rPr sz="2000" spc="70" dirty="0">
                <a:solidFill>
                  <a:srgbClr val="FFFFFF"/>
                </a:solidFill>
                <a:latin typeface="Times New Roman"/>
                <a:cs typeface="Times New Roman"/>
              </a:rPr>
              <a:t>operators</a:t>
            </a:r>
            <a:r>
              <a:rPr sz="2000" spc="-40" dirty="0">
                <a:solidFill>
                  <a:srgbClr val="FFFFFF"/>
                </a:solidFill>
                <a:latin typeface="Times New Roman"/>
                <a:cs typeface="Times New Roman"/>
              </a:rPr>
              <a:t> </a:t>
            </a:r>
            <a:r>
              <a:rPr sz="2000" spc="50" dirty="0">
                <a:solidFill>
                  <a:srgbClr val="FFFFFF"/>
                </a:solidFill>
                <a:latin typeface="Times New Roman"/>
                <a:cs typeface="Times New Roman"/>
              </a:rPr>
              <a:t>are</a:t>
            </a:r>
            <a:r>
              <a:rPr sz="2000" spc="-70" dirty="0">
                <a:solidFill>
                  <a:srgbClr val="FFFFFF"/>
                </a:solidFill>
                <a:latin typeface="Times New Roman"/>
                <a:cs typeface="Times New Roman"/>
              </a:rPr>
              <a:t> </a:t>
            </a:r>
            <a:r>
              <a:rPr sz="2000" spc="20" dirty="0">
                <a:solidFill>
                  <a:srgbClr val="FFFFFF"/>
                </a:solidFill>
                <a:latin typeface="Times New Roman"/>
                <a:cs typeface="Times New Roman"/>
              </a:rPr>
              <a:t>as</a:t>
            </a:r>
            <a:r>
              <a:rPr sz="2000" spc="-75" dirty="0">
                <a:solidFill>
                  <a:srgbClr val="FFFFFF"/>
                </a:solidFill>
                <a:latin typeface="Times New Roman"/>
                <a:cs typeface="Times New Roman"/>
              </a:rPr>
              <a:t> </a:t>
            </a:r>
            <a:r>
              <a:rPr sz="2000" spc="25" dirty="0">
                <a:solidFill>
                  <a:srgbClr val="FFFFFF"/>
                </a:solidFill>
                <a:latin typeface="Times New Roman"/>
                <a:cs typeface="Times New Roman"/>
              </a:rPr>
              <a:t>follows:</a:t>
            </a:r>
            <a:endParaRPr sz="2000">
              <a:latin typeface="Times New Roman"/>
              <a:cs typeface="Times New Roman"/>
            </a:endParaRPr>
          </a:p>
          <a:p>
            <a:pPr marL="701040" lvl="1" indent="-343535">
              <a:lnSpc>
                <a:spcPct val="100000"/>
              </a:lnSpc>
              <a:buFont typeface="Wingdings"/>
              <a:buChar char=""/>
              <a:tabLst>
                <a:tab pos="701040" algn="l"/>
                <a:tab pos="701675" algn="l"/>
              </a:tabLst>
            </a:pPr>
            <a:r>
              <a:rPr sz="2000" spc="145" dirty="0">
                <a:solidFill>
                  <a:srgbClr val="FFFFFF"/>
                </a:solidFill>
                <a:latin typeface="Times New Roman"/>
                <a:cs typeface="Times New Roman"/>
              </a:rPr>
              <a:t>UNION</a:t>
            </a:r>
            <a:endParaRPr sz="2000">
              <a:latin typeface="Times New Roman"/>
              <a:cs typeface="Times New Roman"/>
            </a:endParaRPr>
          </a:p>
          <a:p>
            <a:pPr marL="701040" lvl="1" indent="-343535">
              <a:lnSpc>
                <a:spcPct val="100000"/>
              </a:lnSpc>
              <a:buFont typeface="Wingdings"/>
              <a:buChar char=""/>
              <a:tabLst>
                <a:tab pos="701040" algn="l"/>
                <a:tab pos="701675" algn="l"/>
              </a:tabLst>
            </a:pPr>
            <a:r>
              <a:rPr sz="2000" spc="100" dirty="0">
                <a:solidFill>
                  <a:srgbClr val="FFFFFF"/>
                </a:solidFill>
                <a:latin typeface="Times New Roman"/>
                <a:cs typeface="Times New Roman"/>
              </a:rPr>
              <a:t>INTERSECT</a:t>
            </a:r>
            <a:endParaRPr sz="2000">
              <a:latin typeface="Times New Roman"/>
              <a:cs typeface="Times New Roman"/>
            </a:endParaRPr>
          </a:p>
          <a:p>
            <a:pPr marL="701040" lvl="1" indent="-343535">
              <a:lnSpc>
                <a:spcPct val="100000"/>
              </a:lnSpc>
              <a:buFont typeface="Wingdings"/>
              <a:buChar char=""/>
              <a:tabLst>
                <a:tab pos="701040" algn="l"/>
                <a:tab pos="701675" algn="l"/>
              </a:tabLst>
            </a:pPr>
            <a:r>
              <a:rPr sz="2000" spc="85" dirty="0">
                <a:solidFill>
                  <a:srgbClr val="FFFFFF"/>
                </a:solidFill>
                <a:latin typeface="Times New Roman"/>
                <a:cs typeface="Times New Roman"/>
              </a:rPr>
              <a:t>EXCEPT</a:t>
            </a:r>
            <a:endParaRPr sz="20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04" baseline="4629" dirty="0"/>
              <a:t>9/</a:t>
            </a:r>
            <a:r>
              <a:rPr sz="1800" spc="-262" baseline="4629" dirty="0"/>
              <a:t> </a:t>
            </a:r>
            <a:fld id="{81D60167-4931-47E6-BA6A-407CBD079E47}" type="slidenum">
              <a:rPr sz="1200" spc="15" dirty="0"/>
              <a:t>38</a:t>
            </a:fld>
            <a:endParaRPr sz="1200"/>
          </a:p>
        </p:txBody>
      </p:sp>
      <p:sp>
        <p:nvSpPr>
          <p:cNvPr id="9" name="object 9"/>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236982" y="835913"/>
            <a:ext cx="7740015" cy="2101850"/>
          </a:xfrm>
          <a:custGeom>
            <a:avLst/>
            <a:gdLst/>
            <a:ahLst/>
            <a:cxnLst/>
            <a:rect l="l" t="t" r="r" b="b"/>
            <a:pathLst>
              <a:path w="7740015" h="2101850">
                <a:moveTo>
                  <a:pt x="7739634" y="350266"/>
                </a:moveTo>
                <a:lnTo>
                  <a:pt x="7736433" y="302742"/>
                </a:lnTo>
                <a:lnTo>
                  <a:pt x="7727112" y="257162"/>
                </a:lnTo>
                <a:lnTo>
                  <a:pt x="7712100" y="213944"/>
                </a:lnTo>
                <a:lnTo>
                  <a:pt x="7691806" y="173494"/>
                </a:lnTo>
                <a:lnTo>
                  <a:pt x="7666634" y="136245"/>
                </a:lnTo>
                <a:lnTo>
                  <a:pt x="7637031" y="102603"/>
                </a:lnTo>
                <a:lnTo>
                  <a:pt x="7603388" y="72999"/>
                </a:lnTo>
                <a:lnTo>
                  <a:pt x="7566139" y="47828"/>
                </a:lnTo>
                <a:lnTo>
                  <a:pt x="7525690" y="27533"/>
                </a:lnTo>
                <a:lnTo>
                  <a:pt x="7482472" y="12522"/>
                </a:lnTo>
                <a:lnTo>
                  <a:pt x="7436891" y="3200"/>
                </a:lnTo>
                <a:lnTo>
                  <a:pt x="7389368" y="0"/>
                </a:lnTo>
                <a:lnTo>
                  <a:pt x="350278" y="0"/>
                </a:lnTo>
                <a:lnTo>
                  <a:pt x="302742" y="3200"/>
                </a:lnTo>
                <a:lnTo>
                  <a:pt x="257149" y="12522"/>
                </a:lnTo>
                <a:lnTo>
                  <a:pt x="213931" y="27533"/>
                </a:lnTo>
                <a:lnTo>
                  <a:pt x="173482" y="47828"/>
                </a:lnTo>
                <a:lnTo>
                  <a:pt x="136220" y="72999"/>
                </a:lnTo>
                <a:lnTo>
                  <a:pt x="102590" y="102603"/>
                </a:lnTo>
                <a:lnTo>
                  <a:pt x="72974" y="136245"/>
                </a:lnTo>
                <a:lnTo>
                  <a:pt x="47815" y="173494"/>
                </a:lnTo>
                <a:lnTo>
                  <a:pt x="27520" y="213944"/>
                </a:lnTo>
                <a:lnTo>
                  <a:pt x="12509" y="257162"/>
                </a:lnTo>
                <a:lnTo>
                  <a:pt x="3187" y="302742"/>
                </a:lnTo>
                <a:lnTo>
                  <a:pt x="0" y="350266"/>
                </a:lnTo>
                <a:lnTo>
                  <a:pt x="0" y="1751330"/>
                </a:lnTo>
                <a:lnTo>
                  <a:pt x="3187" y="1798866"/>
                </a:lnTo>
                <a:lnTo>
                  <a:pt x="12509" y="1844446"/>
                </a:lnTo>
                <a:lnTo>
                  <a:pt x="27520" y="1887664"/>
                </a:lnTo>
                <a:lnTo>
                  <a:pt x="47815" y="1928114"/>
                </a:lnTo>
                <a:lnTo>
                  <a:pt x="72974" y="1965363"/>
                </a:lnTo>
                <a:lnTo>
                  <a:pt x="102590" y="1999005"/>
                </a:lnTo>
                <a:lnTo>
                  <a:pt x="136220" y="2028609"/>
                </a:lnTo>
                <a:lnTo>
                  <a:pt x="173482" y="2053780"/>
                </a:lnTo>
                <a:lnTo>
                  <a:pt x="213931" y="2074075"/>
                </a:lnTo>
                <a:lnTo>
                  <a:pt x="257149" y="2089086"/>
                </a:lnTo>
                <a:lnTo>
                  <a:pt x="302742" y="2098408"/>
                </a:lnTo>
                <a:lnTo>
                  <a:pt x="350278" y="2101596"/>
                </a:lnTo>
                <a:lnTo>
                  <a:pt x="7389368" y="2101596"/>
                </a:lnTo>
                <a:lnTo>
                  <a:pt x="7436891" y="2098408"/>
                </a:lnTo>
                <a:lnTo>
                  <a:pt x="7482472" y="2089086"/>
                </a:lnTo>
                <a:lnTo>
                  <a:pt x="7525690" y="2074075"/>
                </a:lnTo>
                <a:lnTo>
                  <a:pt x="7566139" y="2053780"/>
                </a:lnTo>
                <a:lnTo>
                  <a:pt x="7603388" y="2028609"/>
                </a:lnTo>
                <a:lnTo>
                  <a:pt x="7637031" y="1999005"/>
                </a:lnTo>
                <a:lnTo>
                  <a:pt x="7666634" y="1965363"/>
                </a:lnTo>
                <a:lnTo>
                  <a:pt x="7691806" y="1928114"/>
                </a:lnTo>
                <a:lnTo>
                  <a:pt x="7712100" y="1887664"/>
                </a:lnTo>
                <a:lnTo>
                  <a:pt x="7727112" y="1844446"/>
                </a:lnTo>
                <a:lnTo>
                  <a:pt x="7736433" y="1798866"/>
                </a:lnTo>
                <a:lnTo>
                  <a:pt x="7739634" y="1751330"/>
                </a:lnTo>
                <a:lnTo>
                  <a:pt x="7739634" y="350266"/>
                </a:lnTo>
                <a:close/>
              </a:path>
            </a:pathLst>
          </a:custGeom>
          <a:solidFill>
            <a:srgbClr val="4AACC5"/>
          </a:solidFill>
        </p:spPr>
        <p:txBody>
          <a:bodyPr wrap="square" lIns="0" tIns="0" rIns="0" bIns="0" rtlCol="0"/>
          <a:lstStyle/>
          <a:p>
            <a:endParaRPr/>
          </a:p>
        </p:txBody>
      </p:sp>
      <p:sp>
        <p:nvSpPr>
          <p:cNvPr id="4" name="object 4"/>
          <p:cNvSpPr txBox="1"/>
          <p:nvPr/>
        </p:nvSpPr>
        <p:spPr>
          <a:xfrm>
            <a:off x="594868" y="5034026"/>
            <a:ext cx="4719955" cy="299720"/>
          </a:xfrm>
          <a:prstGeom prst="rect">
            <a:avLst/>
          </a:prstGeom>
        </p:spPr>
        <p:txBody>
          <a:bodyPr vert="horz" wrap="square" lIns="0" tIns="12700" rIns="0" bIns="0" rtlCol="0">
            <a:spAutoFit/>
          </a:bodyPr>
          <a:lstStyle/>
          <a:p>
            <a:pPr marL="12700">
              <a:lnSpc>
                <a:spcPct val="100000"/>
              </a:lnSpc>
              <a:spcBef>
                <a:spcPts val="100"/>
              </a:spcBef>
            </a:pPr>
            <a:r>
              <a:rPr sz="1800" spc="40" dirty="0">
                <a:latin typeface="Times New Roman"/>
                <a:cs typeface="Times New Roman"/>
              </a:rPr>
              <a:t>Following</a:t>
            </a:r>
            <a:r>
              <a:rPr sz="1800" spc="-65" dirty="0">
                <a:latin typeface="Times New Roman"/>
                <a:cs typeface="Times New Roman"/>
              </a:rPr>
              <a:t> </a:t>
            </a:r>
            <a:r>
              <a:rPr sz="1800" spc="5" dirty="0">
                <a:latin typeface="Times New Roman"/>
                <a:cs typeface="Times New Roman"/>
              </a:rPr>
              <a:t>is</a:t>
            </a:r>
            <a:r>
              <a:rPr sz="1800" spc="-60" dirty="0">
                <a:latin typeface="Times New Roman"/>
                <a:cs typeface="Times New Roman"/>
              </a:rPr>
              <a:t> </a:t>
            </a:r>
            <a:r>
              <a:rPr sz="1800" spc="100" dirty="0">
                <a:latin typeface="Times New Roman"/>
                <a:cs typeface="Times New Roman"/>
              </a:rPr>
              <a:t>the</a:t>
            </a:r>
            <a:r>
              <a:rPr sz="1800" spc="-60" dirty="0">
                <a:latin typeface="Times New Roman"/>
                <a:cs typeface="Times New Roman"/>
              </a:rPr>
              <a:t> </a:t>
            </a:r>
            <a:r>
              <a:rPr sz="1800" spc="65" dirty="0">
                <a:latin typeface="Times New Roman"/>
                <a:cs typeface="Times New Roman"/>
              </a:rPr>
              <a:t>syntax</a:t>
            </a:r>
            <a:r>
              <a:rPr sz="1800" spc="-70" dirty="0">
                <a:latin typeface="Times New Roman"/>
                <a:cs typeface="Times New Roman"/>
              </a:rPr>
              <a:t> </a:t>
            </a:r>
            <a:r>
              <a:rPr sz="1800" spc="50" dirty="0">
                <a:latin typeface="Times New Roman"/>
                <a:cs typeface="Times New Roman"/>
              </a:rPr>
              <a:t>of</a:t>
            </a:r>
            <a:r>
              <a:rPr sz="1800" spc="-60" dirty="0">
                <a:latin typeface="Times New Roman"/>
                <a:cs typeface="Times New Roman"/>
              </a:rPr>
              <a:t> </a:t>
            </a:r>
            <a:r>
              <a:rPr sz="1800" spc="100" dirty="0">
                <a:latin typeface="Times New Roman"/>
                <a:cs typeface="Times New Roman"/>
              </a:rPr>
              <a:t>the</a:t>
            </a:r>
            <a:r>
              <a:rPr sz="1800" spc="-60" dirty="0">
                <a:latin typeface="Times New Roman"/>
                <a:cs typeface="Times New Roman"/>
              </a:rPr>
              <a:t> </a:t>
            </a:r>
            <a:r>
              <a:rPr sz="1800" spc="130" dirty="0">
                <a:latin typeface="Times New Roman"/>
                <a:cs typeface="Times New Roman"/>
              </a:rPr>
              <a:t>UNION</a:t>
            </a:r>
            <a:r>
              <a:rPr sz="1800" spc="-70" dirty="0">
                <a:latin typeface="Times New Roman"/>
                <a:cs typeface="Times New Roman"/>
              </a:rPr>
              <a:t> </a:t>
            </a:r>
            <a:r>
              <a:rPr sz="1800" spc="65" dirty="0">
                <a:latin typeface="Times New Roman"/>
                <a:cs typeface="Times New Roman"/>
              </a:rPr>
              <a:t>operator.</a:t>
            </a:r>
            <a:endParaRPr sz="1800">
              <a:latin typeface="Times New Roman"/>
              <a:cs typeface="Times New Roman"/>
            </a:endParaRPr>
          </a:p>
        </p:txBody>
      </p:sp>
      <p:sp>
        <p:nvSpPr>
          <p:cNvPr id="5" name="object 5"/>
          <p:cNvSpPr/>
          <p:nvPr/>
        </p:nvSpPr>
        <p:spPr>
          <a:xfrm>
            <a:off x="1679448" y="3047237"/>
            <a:ext cx="7175500" cy="1826260"/>
          </a:xfrm>
          <a:custGeom>
            <a:avLst/>
            <a:gdLst/>
            <a:ahLst/>
            <a:cxnLst/>
            <a:rect l="l" t="t" r="r" b="b"/>
            <a:pathLst>
              <a:path w="7175500" h="1826260">
                <a:moveTo>
                  <a:pt x="7174992" y="304292"/>
                </a:moveTo>
                <a:lnTo>
                  <a:pt x="7171004" y="254952"/>
                </a:lnTo>
                <a:lnTo>
                  <a:pt x="7159472" y="208127"/>
                </a:lnTo>
                <a:lnTo>
                  <a:pt x="7141019" y="164477"/>
                </a:lnTo>
                <a:lnTo>
                  <a:pt x="7116267" y="124599"/>
                </a:lnTo>
                <a:lnTo>
                  <a:pt x="7085851" y="89141"/>
                </a:lnTo>
                <a:lnTo>
                  <a:pt x="7050392" y="58724"/>
                </a:lnTo>
                <a:lnTo>
                  <a:pt x="7010514" y="33972"/>
                </a:lnTo>
                <a:lnTo>
                  <a:pt x="6966864" y="15519"/>
                </a:lnTo>
                <a:lnTo>
                  <a:pt x="6920039" y="3987"/>
                </a:lnTo>
                <a:lnTo>
                  <a:pt x="6870700" y="0"/>
                </a:lnTo>
                <a:lnTo>
                  <a:pt x="304292" y="0"/>
                </a:lnTo>
                <a:lnTo>
                  <a:pt x="254939" y="3987"/>
                </a:lnTo>
                <a:lnTo>
                  <a:pt x="208114" y="15519"/>
                </a:lnTo>
                <a:lnTo>
                  <a:pt x="164465" y="33972"/>
                </a:lnTo>
                <a:lnTo>
                  <a:pt x="124587" y="58724"/>
                </a:lnTo>
                <a:lnTo>
                  <a:pt x="89128" y="89141"/>
                </a:lnTo>
                <a:lnTo>
                  <a:pt x="58712" y="124599"/>
                </a:lnTo>
                <a:lnTo>
                  <a:pt x="33959" y="164477"/>
                </a:lnTo>
                <a:lnTo>
                  <a:pt x="15506" y="208127"/>
                </a:lnTo>
                <a:lnTo>
                  <a:pt x="3975" y="254952"/>
                </a:lnTo>
                <a:lnTo>
                  <a:pt x="0" y="304292"/>
                </a:lnTo>
                <a:lnTo>
                  <a:pt x="0" y="1521460"/>
                </a:lnTo>
                <a:lnTo>
                  <a:pt x="3975" y="1570812"/>
                </a:lnTo>
                <a:lnTo>
                  <a:pt x="15506" y="1617637"/>
                </a:lnTo>
                <a:lnTo>
                  <a:pt x="33959" y="1661287"/>
                </a:lnTo>
                <a:lnTo>
                  <a:pt x="58712" y="1701165"/>
                </a:lnTo>
                <a:lnTo>
                  <a:pt x="89128" y="1736623"/>
                </a:lnTo>
                <a:lnTo>
                  <a:pt x="124587" y="1767039"/>
                </a:lnTo>
                <a:lnTo>
                  <a:pt x="164465" y="1791792"/>
                </a:lnTo>
                <a:lnTo>
                  <a:pt x="208114" y="1810245"/>
                </a:lnTo>
                <a:lnTo>
                  <a:pt x="254939" y="1821776"/>
                </a:lnTo>
                <a:lnTo>
                  <a:pt x="304292" y="1825752"/>
                </a:lnTo>
                <a:lnTo>
                  <a:pt x="6870700" y="1825752"/>
                </a:lnTo>
                <a:lnTo>
                  <a:pt x="6920039" y="1821776"/>
                </a:lnTo>
                <a:lnTo>
                  <a:pt x="6966864" y="1810245"/>
                </a:lnTo>
                <a:lnTo>
                  <a:pt x="7010514" y="1791792"/>
                </a:lnTo>
                <a:lnTo>
                  <a:pt x="7050392" y="1767039"/>
                </a:lnTo>
                <a:lnTo>
                  <a:pt x="7085851" y="1736623"/>
                </a:lnTo>
                <a:lnTo>
                  <a:pt x="7116267" y="1701165"/>
                </a:lnTo>
                <a:lnTo>
                  <a:pt x="7141019" y="1661287"/>
                </a:lnTo>
                <a:lnTo>
                  <a:pt x="7159472" y="1617637"/>
                </a:lnTo>
                <a:lnTo>
                  <a:pt x="7171004" y="1570812"/>
                </a:lnTo>
                <a:lnTo>
                  <a:pt x="7174992" y="1521460"/>
                </a:lnTo>
                <a:lnTo>
                  <a:pt x="7174992" y="304292"/>
                </a:lnTo>
                <a:close/>
              </a:path>
            </a:pathLst>
          </a:custGeom>
          <a:solidFill>
            <a:srgbClr val="F79546"/>
          </a:solidFill>
        </p:spPr>
        <p:txBody>
          <a:bodyPr wrap="square" lIns="0" tIns="0" rIns="0" bIns="0" rtlCol="0"/>
          <a:lstStyle/>
          <a:p>
            <a:endParaRPr/>
          </a:p>
        </p:txBody>
      </p:sp>
      <p:sp>
        <p:nvSpPr>
          <p:cNvPr id="6" name="object 6"/>
          <p:cNvSpPr txBox="1"/>
          <p:nvPr/>
        </p:nvSpPr>
        <p:spPr>
          <a:xfrm>
            <a:off x="446023" y="838453"/>
            <a:ext cx="8162290" cy="3816350"/>
          </a:xfrm>
          <a:prstGeom prst="rect">
            <a:avLst/>
          </a:prstGeom>
        </p:spPr>
        <p:txBody>
          <a:bodyPr vert="horz" wrap="square" lIns="0" tIns="12700" rIns="0" bIns="0" rtlCol="0">
            <a:spAutoFit/>
          </a:bodyPr>
          <a:lstStyle/>
          <a:p>
            <a:pPr marL="355600" marR="1100455" indent="-342900" algn="just">
              <a:lnSpc>
                <a:spcPct val="100000"/>
              </a:lnSpc>
              <a:spcBef>
                <a:spcPts val="100"/>
              </a:spcBef>
              <a:buFont typeface="Wingdings"/>
              <a:buChar char=""/>
              <a:tabLst>
                <a:tab pos="355600" algn="l"/>
              </a:tabLst>
            </a:pPr>
            <a:r>
              <a:rPr sz="2400" spc="75" dirty="0">
                <a:solidFill>
                  <a:srgbClr val="FFFFFF"/>
                </a:solidFill>
                <a:latin typeface="Times New Roman"/>
                <a:cs typeface="Times New Roman"/>
              </a:rPr>
              <a:t>Results</a:t>
            </a:r>
            <a:r>
              <a:rPr sz="2400" spc="-30" dirty="0">
                <a:solidFill>
                  <a:srgbClr val="FFFFFF"/>
                </a:solidFill>
                <a:latin typeface="Times New Roman"/>
                <a:cs typeface="Times New Roman"/>
              </a:rPr>
              <a:t> </a:t>
            </a:r>
            <a:r>
              <a:rPr sz="2400" spc="90" dirty="0">
                <a:solidFill>
                  <a:srgbClr val="FFFFFF"/>
                </a:solidFill>
                <a:latin typeface="Times New Roman"/>
                <a:cs typeface="Times New Roman"/>
              </a:rPr>
              <a:t>from</a:t>
            </a:r>
            <a:r>
              <a:rPr sz="2400" spc="-30" dirty="0">
                <a:solidFill>
                  <a:srgbClr val="FFFFFF"/>
                </a:solidFill>
                <a:latin typeface="Times New Roman"/>
                <a:cs typeface="Times New Roman"/>
              </a:rPr>
              <a:t> </a:t>
            </a:r>
            <a:r>
              <a:rPr sz="2400" spc="110" dirty="0">
                <a:solidFill>
                  <a:srgbClr val="FFFFFF"/>
                </a:solidFill>
                <a:latin typeface="Times New Roman"/>
                <a:cs typeface="Times New Roman"/>
              </a:rPr>
              <a:t>two</a:t>
            </a:r>
            <a:r>
              <a:rPr sz="2400" spc="-25" dirty="0">
                <a:solidFill>
                  <a:srgbClr val="FFFFFF"/>
                </a:solidFill>
                <a:latin typeface="Times New Roman"/>
                <a:cs typeface="Times New Roman"/>
              </a:rPr>
              <a:t> </a:t>
            </a:r>
            <a:r>
              <a:rPr sz="2400" spc="85" dirty="0">
                <a:solidFill>
                  <a:srgbClr val="FFFFFF"/>
                </a:solidFill>
                <a:latin typeface="Times New Roman"/>
                <a:cs typeface="Times New Roman"/>
              </a:rPr>
              <a:t>different</a:t>
            </a:r>
            <a:r>
              <a:rPr sz="2400" spc="-25" dirty="0">
                <a:solidFill>
                  <a:srgbClr val="FFFFFF"/>
                </a:solidFill>
                <a:latin typeface="Times New Roman"/>
                <a:cs typeface="Times New Roman"/>
              </a:rPr>
              <a:t> </a:t>
            </a:r>
            <a:r>
              <a:rPr sz="2400" spc="90" dirty="0">
                <a:solidFill>
                  <a:srgbClr val="FFFFFF"/>
                </a:solidFill>
                <a:latin typeface="Times New Roman"/>
                <a:cs typeface="Times New Roman"/>
              </a:rPr>
              <a:t>query</a:t>
            </a:r>
            <a:r>
              <a:rPr sz="2400" spc="-25" dirty="0">
                <a:solidFill>
                  <a:srgbClr val="FFFFFF"/>
                </a:solidFill>
                <a:latin typeface="Times New Roman"/>
                <a:cs typeface="Times New Roman"/>
              </a:rPr>
              <a:t> </a:t>
            </a:r>
            <a:r>
              <a:rPr sz="2400" spc="95" dirty="0">
                <a:solidFill>
                  <a:srgbClr val="FFFFFF"/>
                </a:solidFill>
                <a:latin typeface="Times New Roman"/>
                <a:cs typeface="Times New Roman"/>
              </a:rPr>
              <a:t>statements</a:t>
            </a:r>
            <a:r>
              <a:rPr sz="2400" spc="-30" dirty="0">
                <a:solidFill>
                  <a:srgbClr val="FFFFFF"/>
                </a:solidFill>
                <a:latin typeface="Times New Roman"/>
                <a:cs typeface="Times New Roman"/>
              </a:rPr>
              <a:t> </a:t>
            </a:r>
            <a:r>
              <a:rPr sz="2400" spc="90" dirty="0">
                <a:solidFill>
                  <a:srgbClr val="FFFFFF"/>
                </a:solidFill>
                <a:latin typeface="Times New Roman"/>
                <a:cs typeface="Times New Roman"/>
              </a:rPr>
              <a:t>can</a:t>
            </a:r>
            <a:r>
              <a:rPr sz="2400" spc="-25" dirty="0">
                <a:solidFill>
                  <a:srgbClr val="FFFFFF"/>
                </a:solidFill>
                <a:latin typeface="Times New Roman"/>
                <a:cs typeface="Times New Roman"/>
              </a:rPr>
              <a:t> </a:t>
            </a:r>
            <a:r>
              <a:rPr sz="2400" spc="80" dirty="0">
                <a:solidFill>
                  <a:srgbClr val="FFFFFF"/>
                </a:solidFill>
                <a:latin typeface="Times New Roman"/>
                <a:cs typeface="Times New Roman"/>
              </a:rPr>
              <a:t>be  </a:t>
            </a:r>
            <a:r>
              <a:rPr sz="2400" spc="95" dirty="0">
                <a:solidFill>
                  <a:srgbClr val="FFFFFF"/>
                </a:solidFill>
                <a:latin typeface="Times New Roman"/>
                <a:cs typeface="Times New Roman"/>
              </a:rPr>
              <a:t>combined </a:t>
            </a:r>
            <a:r>
              <a:rPr sz="2400" spc="125" dirty="0">
                <a:solidFill>
                  <a:srgbClr val="FFFFFF"/>
                </a:solidFill>
                <a:latin typeface="Times New Roman"/>
                <a:cs typeface="Times New Roman"/>
              </a:rPr>
              <a:t>into </a:t>
            </a:r>
            <a:r>
              <a:rPr sz="2400" spc="40" dirty="0">
                <a:solidFill>
                  <a:srgbClr val="FFFFFF"/>
                </a:solidFill>
                <a:latin typeface="Times New Roman"/>
                <a:cs typeface="Times New Roman"/>
              </a:rPr>
              <a:t>a single </a:t>
            </a:r>
            <a:r>
              <a:rPr sz="2400" spc="75" dirty="0">
                <a:solidFill>
                  <a:srgbClr val="FFFFFF"/>
                </a:solidFill>
                <a:latin typeface="Times New Roman"/>
                <a:cs typeface="Times New Roman"/>
              </a:rPr>
              <a:t>resultset using </a:t>
            </a:r>
            <a:r>
              <a:rPr sz="2400" spc="175" dirty="0">
                <a:solidFill>
                  <a:srgbClr val="FFFFFF"/>
                </a:solidFill>
                <a:latin typeface="Times New Roman"/>
                <a:cs typeface="Times New Roman"/>
              </a:rPr>
              <a:t>UNION  </a:t>
            </a:r>
            <a:r>
              <a:rPr sz="2400" spc="85" dirty="0">
                <a:solidFill>
                  <a:srgbClr val="FFFFFF"/>
                </a:solidFill>
                <a:latin typeface="Times New Roman"/>
                <a:cs typeface="Times New Roman"/>
              </a:rPr>
              <a:t>operator.</a:t>
            </a:r>
            <a:endParaRPr sz="2400">
              <a:latin typeface="Times New Roman"/>
              <a:cs typeface="Times New Roman"/>
            </a:endParaRPr>
          </a:p>
          <a:p>
            <a:pPr marL="355600" marR="1101725" indent="-342900" algn="just">
              <a:lnSpc>
                <a:spcPct val="100000"/>
              </a:lnSpc>
              <a:buFont typeface="Wingdings"/>
              <a:buChar char=""/>
              <a:tabLst>
                <a:tab pos="355600" algn="l"/>
              </a:tabLst>
            </a:pPr>
            <a:r>
              <a:rPr sz="2400" spc="120" dirty="0">
                <a:solidFill>
                  <a:srgbClr val="FFFFFF"/>
                </a:solidFill>
                <a:latin typeface="Times New Roman"/>
                <a:cs typeface="Times New Roman"/>
              </a:rPr>
              <a:t>Query </a:t>
            </a:r>
            <a:r>
              <a:rPr sz="2400" spc="95" dirty="0">
                <a:solidFill>
                  <a:srgbClr val="FFFFFF"/>
                </a:solidFill>
                <a:latin typeface="Times New Roman"/>
                <a:cs typeface="Times New Roman"/>
              </a:rPr>
              <a:t>statements </a:t>
            </a:r>
            <a:r>
              <a:rPr sz="2400" spc="114" dirty="0">
                <a:solidFill>
                  <a:srgbClr val="FFFFFF"/>
                </a:solidFill>
                <a:latin typeface="Times New Roman"/>
                <a:cs typeface="Times New Roman"/>
              </a:rPr>
              <a:t>must </a:t>
            </a:r>
            <a:r>
              <a:rPr sz="2400" spc="85" dirty="0">
                <a:solidFill>
                  <a:srgbClr val="FFFFFF"/>
                </a:solidFill>
                <a:latin typeface="Times New Roman"/>
                <a:cs typeface="Times New Roman"/>
              </a:rPr>
              <a:t>have </a:t>
            </a:r>
            <a:r>
              <a:rPr sz="2400" spc="75" dirty="0">
                <a:solidFill>
                  <a:srgbClr val="FFFFFF"/>
                </a:solidFill>
                <a:latin typeface="Times New Roman"/>
                <a:cs typeface="Times New Roman"/>
              </a:rPr>
              <a:t>compatible </a:t>
            </a:r>
            <a:r>
              <a:rPr sz="2400" spc="105" dirty="0">
                <a:solidFill>
                  <a:srgbClr val="FFFFFF"/>
                </a:solidFill>
                <a:latin typeface="Times New Roman"/>
                <a:cs typeface="Times New Roman"/>
              </a:rPr>
              <a:t>column  </a:t>
            </a:r>
            <a:r>
              <a:rPr sz="2400" spc="65" dirty="0">
                <a:solidFill>
                  <a:srgbClr val="FFFFFF"/>
                </a:solidFill>
                <a:latin typeface="Times New Roman"/>
                <a:cs typeface="Times New Roman"/>
              </a:rPr>
              <a:t>types</a:t>
            </a:r>
            <a:r>
              <a:rPr sz="2400" spc="-90" dirty="0">
                <a:solidFill>
                  <a:srgbClr val="FFFFFF"/>
                </a:solidFill>
                <a:latin typeface="Times New Roman"/>
                <a:cs typeface="Times New Roman"/>
              </a:rPr>
              <a:t> </a:t>
            </a:r>
            <a:r>
              <a:rPr sz="2400" spc="135" dirty="0">
                <a:solidFill>
                  <a:srgbClr val="FFFFFF"/>
                </a:solidFill>
                <a:latin typeface="Times New Roman"/>
                <a:cs typeface="Times New Roman"/>
              </a:rPr>
              <a:t>and</a:t>
            </a:r>
            <a:r>
              <a:rPr sz="2400" spc="-90" dirty="0">
                <a:solidFill>
                  <a:srgbClr val="FFFFFF"/>
                </a:solidFill>
                <a:latin typeface="Times New Roman"/>
                <a:cs typeface="Times New Roman"/>
              </a:rPr>
              <a:t> </a:t>
            </a:r>
            <a:r>
              <a:rPr sz="2400" spc="80" dirty="0">
                <a:solidFill>
                  <a:srgbClr val="FFFFFF"/>
                </a:solidFill>
                <a:latin typeface="Times New Roman"/>
                <a:cs typeface="Times New Roman"/>
              </a:rPr>
              <a:t>equal</a:t>
            </a:r>
            <a:r>
              <a:rPr sz="2400" spc="-85" dirty="0">
                <a:solidFill>
                  <a:srgbClr val="FFFFFF"/>
                </a:solidFill>
                <a:latin typeface="Times New Roman"/>
                <a:cs typeface="Times New Roman"/>
              </a:rPr>
              <a:t> </a:t>
            </a:r>
            <a:r>
              <a:rPr sz="2400" spc="130" dirty="0">
                <a:solidFill>
                  <a:srgbClr val="FFFFFF"/>
                </a:solidFill>
                <a:latin typeface="Times New Roman"/>
                <a:cs typeface="Times New Roman"/>
              </a:rPr>
              <a:t>number</a:t>
            </a:r>
            <a:r>
              <a:rPr sz="2400" spc="-95" dirty="0">
                <a:solidFill>
                  <a:srgbClr val="FFFFFF"/>
                </a:solidFill>
                <a:latin typeface="Times New Roman"/>
                <a:cs typeface="Times New Roman"/>
              </a:rPr>
              <a:t> </a:t>
            </a:r>
            <a:r>
              <a:rPr sz="2400" spc="70" dirty="0">
                <a:solidFill>
                  <a:srgbClr val="FFFFFF"/>
                </a:solidFill>
                <a:latin typeface="Times New Roman"/>
                <a:cs typeface="Times New Roman"/>
              </a:rPr>
              <a:t>of</a:t>
            </a:r>
            <a:r>
              <a:rPr sz="2400" spc="-90" dirty="0">
                <a:solidFill>
                  <a:srgbClr val="FFFFFF"/>
                </a:solidFill>
                <a:latin typeface="Times New Roman"/>
                <a:cs typeface="Times New Roman"/>
              </a:rPr>
              <a:t> </a:t>
            </a:r>
            <a:r>
              <a:rPr sz="2400" spc="80" dirty="0">
                <a:solidFill>
                  <a:srgbClr val="FFFFFF"/>
                </a:solidFill>
                <a:latin typeface="Times New Roman"/>
                <a:cs typeface="Times New Roman"/>
              </a:rPr>
              <a:t>columns.</a:t>
            </a:r>
            <a:endParaRPr sz="2400">
              <a:latin typeface="Times New Roman"/>
              <a:cs typeface="Times New Roman"/>
            </a:endParaRPr>
          </a:p>
          <a:p>
            <a:pPr>
              <a:lnSpc>
                <a:spcPct val="100000"/>
              </a:lnSpc>
              <a:spcBef>
                <a:spcPts val="50"/>
              </a:spcBef>
              <a:buClr>
                <a:srgbClr val="FFFFFF"/>
              </a:buClr>
              <a:buFont typeface="Wingdings"/>
              <a:buChar char=""/>
            </a:pPr>
            <a:endParaRPr sz="2950">
              <a:latin typeface="Times New Roman"/>
              <a:cs typeface="Times New Roman"/>
            </a:endParaRPr>
          </a:p>
          <a:p>
            <a:pPr marL="1743075" marR="5715" lvl="1" indent="-342900" algn="just">
              <a:lnSpc>
                <a:spcPct val="100000"/>
              </a:lnSpc>
              <a:buFont typeface="Wingdings"/>
              <a:buChar char=""/>
              <a:tabLst>
                <a:tab pos="1743710" algn="l"/>
              </a:tabLst>
            </a:pPr>
            <a:r>
              <a:rPr sz="2000" spc="130" dirty="0">
                <a:solidFill>
                  <a:srgbClr val="FFFFFF"/>
                </a:solidFill>
                <a:latin typeface="Times New Roman"/>
                <a:cs typeface="Times New Roman"/>
              </a:rPr>
              <a:t>The</a:t>
            </a:r>
            <a:r>
              <a:rPr sz="2000" spc="10" dirty="0">
                <a:solidFill>
                  <a:srgbClr val="FFFFFF"/>
                </a:solidFill>
                <a:latin typeface="Times New Roman"/>
                <a:cs typeface="Times New Roman"/>
              </a:rPr>
              <a:t> </a:t>
            </a:r>
            <a:r>
              <a:rPr sz="2000" spc="90" dirty="0">
                <a:solidFill>
                  <a:srgbClr val="FFFFFF"/>
                </a:solidFill>
                <a:latin typeface="Times New Roman"/>
                <a:cs typeface="Times New Roman"/>
              </a:rPr>
              <a:t>column</a:t>
            </a:r>
            <a:r>
              <a:rPr sz="2000" spc="30" dirty="0">
                <a:solidFill>
                  <a:srgbClr val="FFFFFF"/>
                </a:solidFill>
                <a:latin typeface="Times New Roman"/>
                <a:cs typeface="Times New Roman"/>
              </a:rPr>
              <a:t> </a:t>
            </a:r>
            <a:r>
              <a:rPr sz="2000" spc="75" dirty="0">
                <a:solidFill>
                  <a:srgbClr val="FFFFFF"/>
                </a:solidFill>
                <a:latin typeface="Times New Roman"/>
                <a:cs typeface="Times New Roman"/>
              </a:rPr>
              <a:t>names</a:t>
            </a:r>
            <a:r>
              <a:rPr sz="2000" spc="15" dirty="0">
                <a:solidFill>
                  <a:srgbClr val="FFFFFF"/>
                </a:solidFill>
                <a:latin typeface="Times New Roman"/>
                <a:cs typeface="Times New Roman"/>
              </a:rPr>
              <a:t> </a:t>
            </a:r>
            <a:r>
              <a:rPr sz="2000" spc="75" dirty="0">
                <a:solidFill>
                  <a:srgbClr val="FFFFFF"/>
                </a:solidFill>
                <a:latin typeface="Times New Roman"/>
                <a:cs typeface="Times New Roman"/>
              </a:rPr>
              <a:t>can</a:t>
            </a:r>
            <a:r>
              <a:rPr sz="2000" spc="20" dirty="0">
                <a:solidFill>
                  <a:srgbClr val="FFFFFF"/>
                </a:solidFill>
                <a:latin typeface="Times New Roman"/>
                <a:cs typeface="Times New Roman"/>
              </a:rPr>
              <a:t> </a:t>
            </a:r>
            <a:r>
              <a:rPr sz="2000" spc="70" dirty="0">
                <a:solidFill>
                  <a:srgbClr val="FFFFFF"/>
                </a:solidFill>
                <a:latin typeface="Times New Roman"/>
                <a:cs typeface="Times New Roman"/>
              </a:rPr>
              <a:t>be</a:t>
            </a:r>
            <a:r>
              <a:rPr sz="2000" spc="15" dirty="0">
                <a:solidFill>
                  <a:srgbClr val="FFFFFF"/>
                </a:solidFill>
                <a:latin typeface="Times New Roman"/>
                <a:cs typeface="Times New Roman"/>
              </a:rPr>
              <a:t> </a:t>
            </a:r>
            <a:r>
              <a:rPr sz="2000" spc="70" dirty="0">
                <a:solidFill>
                  <a:srgbClr val="FFFFFF"/>
                </a:solidFill>
                <a:latin typeface="Times New Roman"/>
                <a:cs typeface="Times New Roman"/>
              </a:rPr>
              <a:t>different</a:t>
            </a:r>
            <a:r>
              <a:rPr sz="2000" spc="25" dirty="0">
                <a:solidFill>
                  <a:srgbClr val="FFFFFF"/>
                </a:solidFill>
                <a:latin typeface="Times New Roman"/>
                <a:cs typeface="Times New Roman"/>
              </a:rPr>
              <a:t> </a:t>
            </a:r>
            <a:r>
              <a:rPr sz="2000" spc="95" dirty="0">
                <a:solidFill>
                  <a:srgbClr val="FFFFFF"/>
                </a:solidFill>
                <a:latin typeface="Times New Roman"/>
                <a:cs typeface="Times New Roman"/>
              </a:rPr>
              <a:t>in</a:t>
            </a:r>
            <a:r>
              <a:rPr sz="2000" spc="20" dirty="0">
                <a:solidFill>
                  <a:srgbClr val="FFFFFF"/>
                </a:solidFill>
                <a:latin typeface="Times New Roman"/>
                <a:cs typeface="Times New Roman"/>
              </a:rPr>
              <a:t> </a:t>
            </a:r>
            <a:r>
              <a:rPr sz="2000" spc="65" dirty="0">
                <a:solidFill>
                  <a:srgbClr val="FFFFFF"/>
                </a:solidFill>
                <a:latin typeface="Times New Roman"/>
                <a:cs typeface="Times New Roman"/>
              </a:rPr>
              <a:t>each</a:t>
            </a:r>
            <a:r>
              <a:rPr sz="2000" spc="15" dirty="0">
                <a:solidFill>
                  <a:srgbClr val="FFFFFF"/>
                </a:solidFill>
                <a:latin typeface="Times New Roman"/>
                <a:cs typeface="Times New Roman"/>
              </a:rPr>
              <a:t> </a:t>
            </a:r>
            <a:r>
              <a:rPr sz="2000" spc="80" dirty="0">
                <a:solidFill>
                  <a:srgbClr val="FFFFFF"/>
                </a:solidFill>
                <a:latin typeface="Times New Roman"/>
                <a:cs typeface="Times New Roman"/>
              </a:rPr>
              <a:t>statement,</a:t>
            </a:r>
            <a:r>
              <a:rPr sz="2000" spc="25" dirty="0">
                <a:solidFill>
                  <a:srgbClr val="FFFFFF"/>
                </a:solidFill>
                <a:latin typeface="Times New Roman"/>
                <a:cs typeface="Times New Roman"/>
              </a:rPr>
              <a:t> </a:t>
            </a:r>
            <a:r>
              <a:rPr sz="2000" spc="120" dirty="0">
                <a:solidFill>
                  <a:srgbClr val="FFFFFF"/>
                </a:solidFill>
                <a:latin typeface="Times New Roman"/>
                <a:cs typeface="Times New Roman"/>
              </a:rPr>
              <a:t>but  </a:t>
            </a:r>
            <a:r>
              <a:rPr sz="2000" spc="110" dirty="0">
                <a:solidFill>
                  <a:srgbClr val="FFFFFF"/>
                </a:solidFill>
                <a:latin typeface="Times New Roman"/>
                <a:cs typeface="Times New Roman"/>
              </a:rPr>
              <a:t>the</a:t>
            </a:r>
            <a:r>
              <a:rPr sz="2000" spc="-65" dirty="0">
                <a:solidFill>
                  <a:srgbClr val="FFFFFF"/>
                </a:solidFill>
                <a:latin typeface="Times New Roman"/>
                <a:cs typeface="Times New Roman"/>
              </a:rPr>
              <a:t> </a:t>
            </a:r>
            <a:r>
              <a:rPr sz="2000" spc="80" dirty="0">
                <a:solidFill>
                  <a:srgbClr val="FFFFFF"/>
                </a:solidFill>
                <a:latin typeface="Times New Roman"/>
                <a:cs typeface="Times New Roman"/>
              </a:rPr>
              <a:t>data</a:t>
            </a:r>
            <a:r>
              <a:rPr sz="2000" spc="-70" dirty="0">
                <a:solidFill>
                  <a:srgbClr val="FFFFFF"/>
                </a:solidFill>
                <a:latin typeface="Times New Roman"/>
                <a:cs typeface="Times New Roman"/>
              </a:rPr>
              <a:t> </a:t>
            </a:r>
            <a:r>
              <a:rPr sz="2000" spc="55" dirty="0">
                <a:solidFill>
                  <a:srgbClr val="FFFFFF"/>
                </a:solidFill>
                <a:latin typeface="Times New Roman"/>
                <a:cs typeface="Times New Roman"/>
              </a:rPr>
              <a:t>types</a:t>
            </a:r>
            <a:r>
              <a:rPr sz="2000" spc="-55" dirty="0">
                <a:solidFill>
                  <a:srgbClr val="FFFFFF"/>
                </a:solidFill>
                <a:latin typeface="Times New Roman"/>
                <a:cs typeface="Times New Roman"/>
              </a:rPr>
              <a:t> </a:t>
            </a:r>
            <a:r>
              <a:rPr sz="2000" spc="95" dirty="0">
                <a:solidFill>
                  <a:srgbClr val="FFFFFF"/>
                </a:solidFill>
                <a:latin typeface="Times New Roman"/>
                <a:cs typeface="Times New Roman"/>
              </a:rPr>
              <a:t>must</a:t>
            </a:r>
            <a:r>
              <a:rPr sz="2000" spc="-75" dirty="0">
                <a:solidFill>
                  <a:srgbClr val="FFFFFF"/>
                </a:solidFill>
                <a:latin typeface="Times New Roman"/>
                <a:cs typeface="Times New Roman"/>
              </a:rPr>
              <a:t> </a:t>
            </a:r>
            <a:r>
              <a:rPr sz="2000" spc="65" dirty="0">
                <a:solidFill>
                  <a:srgbClr val="FFFFFF"/>
                </a:solidFill>
                <a:latin typeface="Times New Roman"/>
                <a:cs typeface="Times New Roman"/>
              </a:rPr>
              <a:t>be</a:t>
            </a:r>
            <a:r>
              <a:rPr sz="2000" spc="-60" dirty="0">
                <a:solidFill>
                  <a:srgbClr val="FFFFFF"/>
                </a:solidFill>
                <a:latin typeface="Times New Roman"/>
                <a:cs typeface="Times New Roman"/>
              </a:rPr>
              <a:t> </a:t>
            </a:r>
            <a:r>
              <a:rPr sz="2000" spc="55" dirty="0">
                <a:solidFill>
                  <a:srgbClr val="FFFFFF"/>
                </a:solidFill>
                <a:latin typeface="Times New Roman"/>
                <a:cs typeface="Times New Roman"/>
              </a:rPr>
              <a:t>compatible.</a:t>
            </a:r>
            <a:endParaRPr sz="2000">
              <a:latin typeface="Times New Roman"/>
              <a:cs typeface="Times New Roman"/>
            </a:endParaRPr>
          </a:p>
          <a:p>
            <a:pPr marL="1743075" marR="5080" lvl="1" indent="-342900" algn="just">
              <a:lnSpc>
                <a:spcPct val="100000"/>
              </a:lnSpc>
              <a:buFont typeface="Wingdings"/>
              <a:buChar char=""/>
              <a:tabLst>
                <a:tab pos="1743710" algn="l"/>
              </a:tabLst>
            </a:pPr>
            <a:r>
              <a:rPr sz="2000" spc="-45" dirty="0">
                <a:solidFill>
                  <a:srgbClr val="FFFFFF"/>
                </a:solidFill>
                <a:latin typeface="Times New Roman"/>
                <a:cs typeface="Times New Roman"/>
              </a:rPr>
              <a:t>By </a:t>
            </a:r>
            <a:r>
              <a:rPr sz="2000" spc="60" dirty="0">
                <a:solidFill>
                  <a:srgbClr val="FFFFFF"/>
                </a:solidFill>
                <a:latin typeface="Times New Roman"/>
                <a:cs typeface="Times New Roman"/>
              </a:rPr>
              <a:t>compatible </a:t>
            </a:r>
            <a:r>
              <a:rPr sz="2000" spc="80" dirty="0">
                <a:solidFill>
                  <a:srgbClr val="FFFFFF"/>
                </a:solidFill>
                <a:latin typeface="Times New Roman"/>
                <a:cs typeface="Times New Roman"/>
              </a:rPr>
              <a:t>data </a:t>
            </a:r>
            <a:r>
              <a:rPr sz="2000" spc="45" dirty="0">
                <a:solidFill>
                  <a:srgbClr val="FFFFFF"/>
                </a:solidFill>
                <a:latin typeface="Times New Roman"/>
                <a:cs typeface="Times New Roman"/>
              </a:rPr>
              <a:t>types, </a:t>
            </a:r>
            <a:r>
              <a:rPr sz="2000" spc="65" dirty="0">
                <a:solidFill>
                  <a:srgbClr val="FFFFFF"/>
                </a:solidFill>
                <a:latin typeface="Times New Roman"/>
                <a:cs typeface="Times New Roman"/>
              </a:rPr>
              <a:t>it </a:t>
            </a:r>
            <a:r>
              <a:rPr sz="2000" spc="70" dirty="0">
                <a:solidFill>
                  <a:srgbClr val="FFFFFF"/>
                </a:solidFill>
                <a:latin typeface="Times New Roman"/>
                <a:cs typeface="Times New Roman"/>
              </a:rPr>
              <a:t>means </a:t>
            </a:r>
            <a:r>
              <a:rPr sz="2000" spc="114" dirty="0">
                <a:solidFill>
                  <a:srgbClr val="FFFFFF"/>
                </a:solidFill>
                <a:latin typeface="Times New Roman"/>
                <a:cs typeface="Times New Roman"/>
              </a:rPr>
              <a:t>that </a:t>
            </a:r>
            <a:r>
              <a:rPr sz="2000" spc="65" dirty="0">
                <a:solidFill>
                  <a:srgbClr val="FFFFFF"/>
                </a:solidFill>
                <a:latin typeface="Times New Roman"/>
                <a:cs typeface="Times New Roman"/>
              </a:rPr>
              <a:t>it </a:t>
            </a:r>
            <a:r>
              <a:rPr sz="2000" spc="90" dirty="0">
                <a:solidFill>
                  <a:srgbClr val="FFFFFF"/>
                </a:solidFill>
                <a:latin typeface="Times New Roman"/>
                <a:cs typeface="Times New Roman"/>
              </a:rPr>
              <a:t>should </a:t>
            </a:r>
            <a:r>
              <a:rPr sz="2000" spc="60" dirty="0">
                <a:solidFill>
                  <a:srgbClr val="FFFFFF"/>
                </a:solidFill>
                <a:latin typeface="Times New Roman"/>
                <a:cs typeface="Times New Roman"/>
              </a:rPr>
              <a:t>be  </a:t>
            </a:r>
            <a:r>
              <a:rPr sz="2000" spc="45" dirty="0">
                <a:solidFill>
                  <a:srgbClr val="FFFFFF"/>
                </a:solidFill>
                <a:latin typeface="Times New Roman"/>
                <a:cs typeface="Times New Roman"/>
              </a:rPr>
              <a:t>possible</a:t>
            </a:r>
            <a:r>
              <a:rPr sz="2000" spc="-60" dirty="0">
                <a:solidFill>
                  <a:srgbClr val="FFFFFF"/>
                </a:solidFill>
                <a:latin typeface="Times New Roman"/>
                <a:cs typeface="Times New Roman"/>
              </a:rPr>
              <a:t> </a:t>
            </a:r>
            <a:r>
              <a:rPr sz="2000" spc="110" dirty="0">
                <a:solidFill>
                  <a:srgbClr val="FFFFFF"/>
                </a:solidFill>
                <a:latin typeface="Times New Roman"/>
                <a:cs typeface="Times New Roman"/>
              </a:rPr>
              <a:t>to</a:t>
            </a:r>
            <a:r>
              <a:rPr sz="2000" spc="-60" dirty="0">
                <a:solidFill>
                  <a:srgbClr val="FFFFFF"/>
                </a:solidFill>
                <a:latin typeface="Times New Roman"/>
                <a:cs typeface="Times New Roman"/>
              </a:rPr>
              <a:t> </a:t>
            </a:r>
            <a:r>
              <a:rPr sz="2000" spc="85" dirty="0">
                <a:solidFill>
                  <a:srgbClr val="FFFFFF"/>
                </a:solidFill>
                <a:latin typeface="Times New Roman"/>
                <a:cs typeface="Times New Roman"/>
              </a:rPr>
              <a:t>convert</a:t>
            </a:r>
            <a:r>
              <a:rPr sz="2000" spc="-50" dirty="0">
                <a:solidFill>
                  <a:srgbClr val="FFFFFF"/>
                </a:solidFill>
                <a:latin typeface="Times New Roman"/>
                <a:cs typeface="Times New Roman"/>
              </a:rPr>
              <a:t> </a:t>
            </a:r>
            <a:r>
              <a:rPr sz="2000" spc="110" dirty="0">
                <a:solidFill>
                  <a:srgbClr val="FFFFFF"/>
                </a:solidFill>
                <a:latin typeface="Times New Roman"/>
                <a:cs typeface="Times New Roman"/>
              </a:rPr>
              <a:t>the</a:t>
            </a:r>
            <a:r>
              <a:rPr sz="2000" spc="-60" dirty="0">
                <a:solidFill>
                  <a:srgbClr val="FFFFFF"/>
                </a:solidFill>
                <a:latin typeface="Times New Roman"/>
                <a:cs typeface="Times New Roman"/>
              </a:rPr>
              <a:t> </a:t>
            </a:r>
            <a:r>
              <a:rPr sz="2000" spc="95" dirty="0">
                <a:solidFill>
                  <a:srgbClr val="FFFFFF"/>
                </a:solidFill>
                <a:latin typeface="Times New Roman"/>
                <a:cs typeface="Times New Roman"/>
              </a:rPr>
              <a:t>contents</a:t>
            </a:r>
            <a:r>
              <a:rPr sz="2000" spc="-45" dirty="0">
                <a:solidFill>
                  <a:srgbClr val="FFFFFF"/>
                </a:solidFill>
                <a:latin typeface="Times New Roman"/>
                <a:cs typeface="Times New Roman"/>
              </a:rPr>
              <a:t> </a:t>
            </a:r>
            <a:r>
              <a:rPr sz="2000" spc="60" dirty="0">
                <a:solidFill>
                  <a:srgbClr val="FFFFFF"/>
                </a:solidFill>
                <a:latin typeface="Times New Roman"/>
                <a:cs typeface="Times New Roman"/>
              </a:rPr>
              <a:t>of</a:t>
            </a:r>
            <a:r>
              <a:rPr sz="2000" spc="-65" dirty="0">
                <a:solidFill>
                  <a:srgbClr val="FFFFFF"/>
                </a:solidFill>
                <a:latin typeface="Times New Roman"/>
                <a:cs typeface="Times New Roman"/>
              </a:rPr>
              <a:t> </a:t>
            </a:r>
            <a:r>
              <a:rPr sz="2000" spc="105" dirty="0">
                <a:solidFill>
                  <a:srgbClr val="FFFFFF"/>
                </a:solidFill>
                <a:latin typeface="Times New Roman"/>
                <a:cs typeface="Times New Roman"/>
              </a:rPr>
              <a:t>one</a:t>
            </a:r>
            <a:r>
              <a:rPr sz="2000" spc="-50" dirty="0">
                <a:solidFill>
                  <a:srgbClr val="FFFFFF"/>
                </a:solidFill>
                <a:latin typeface="Times New Roman"/>
                <a:cs typeface="Times New Roman"/>
              </a:rPr>
              <a:t> </a:t>
            </a:r>
            <a:r>
              <a:rPr sz="2000" spc="60" dirty="0">
                <a:solidFill>
                  <a:srgbClr val="FFFFFF"/>
                </a:solidFill>
                <a:latin typeface="Times New Roman"/>
                <a:cs typeface="Times New Roman"/>
              </a:rPr>
              <a:t>of</a:t>
            </a:r>
            <a:r>
              <a:rPr sz="2000" spc="-60" dirty="0">
                <a:solidFill>
                  <a:srgbClr val="FFFFFF"/>
                </a:solidFill>
                <a:latin typeface="Times New Roman"/>
                <a:cs typeface="Times New Roman"/>
              </a:rPr>
              <a:t> </a:t>
            </a:r>
            <a:r>
              <a:rPr sz="2000" spc="110" dirty="0">
                <a:solidFill>
                  <a:srgbClr val="FFFFFF"/>
                </a:solidFill>
                <a:latin typeface="Times New Roman"/>
                <a:cs typeface="Times New Roman"/>
              </a:rPr>
              <a:t>the</a:t>
            </a:r>
            <a:r>
              <a:rPr sz="2000" spc="-55" dirty="0">
                <a:solidFill>
                  <a:srgbClr val="FFFFFF"/>
                </a:solidFill>
                <a:latin typeface="Times New Roman"/>
                <a:cs typeface="Times New Roman"/>
              </a:rPr>
              <a:t> </a:t>
            </a:r>
            <a:r>
              <a:rPr sz="2000" spc="75" dirty="0">
                <a:solidFill>
                  <a:srgbClr val="FFFFFF"/>
                </a:solidFill>
                <a:latin typeface="Times New Roman"/>
                <a:cs typeface="Times New Roman"/>
              </a:rPr>
              <a:t>columns</a:t>
            </a:r>
            <a:r>
              <a:rPr sz="2000" spc="-75" dirty="0">
                <a:solidFill>
                  <a:srgbClr val="FFFFFF"/>
                </a:solidFill>
                <a:latin typeface="Times New Roman"/>
                <a:cs typeface="Times New Roman"/>
              </a:rPr>
              <a:t> </a:t>
            </a:r>
            <a:r>
              <a:rPr sz="2000" spc="100" dirty="0">
                <a:solidFill>
                  <a:srgbClr val="FFFFFF"/>
                </a:solidFill>
                <a:latin typeface="Times New Roman"/>
                <a:cs typeface="Times New Roman"/>
              </a:rPr>
              <a:t>into  </a:t>
            </a:r>
            <a:r>
              <a:rPr sz="2000" spc="90" dirty="0">
                <a:solidFill>
                  <a:srgbClr val="FFFFFF"/>
                </a:solidFill>
                <a:latin typeface="Times New Roman"/>
                <a:cs typeface="Times New Roman"/>
              </a:rPr>
              <a:t>another.</a:t>
            </a:r>
            <a:endParaRPr sz="2000">
              <a:latin typeface="Times New Roman"/>
              <a:cs typeface="Times New Roman"/>
            </a:endParaRPr>
          </a:p>
        </p:txBody>
      </p:sp>
      <p:pic>
        <p:nvPicPr>
          <p:cNvPr id="7" name="object 7"/>
          <p:cNvPicPr/>
          <p:nvPr/>
        </p:nvPicPr>
        <p:blipFill>
          <a:blip r:embed="rId3" cstate="print"/>
          <a:stretch>
            <a:fillRect/>
          </a:stretch>
        </p:blipFill>
        <p:spPr>
          <a:xfrm>
            <a:off x="1007363" y="5410200"/>
            <a:ext cx="7637526" cy="390144"/>
          </a:xfrm>
          <a:prstGeom prst="rect">
            <a:avLst/>
          </a:prstGeom>
        </p:spPr>
      </p:pic>
      <p:sp>
        <p:nvSpPr>
          <p:cNvPr id="9" name="object 9"/>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04" baseline="4629" dirty="0"/>
              <a:t>9/</a:t>
            </a:r>
            <a:r>
              <a:rPr sz="1800" spc="-262" baseline="4629" dirty="0"/>
              <a:t> </a:t>
            </a:r>
            <a:fld id="{81D60167-4931-47E6-BA6A-407CBD079E47}" type="slidenum">
              <a:rPr sz="1200" spc="15" dirty="0"/>
              <a:t>39</a:t>
            </a:fld>
            <a:endParaRPr sz="1200"/>
          </a:p>
        </p:txBody>
      </p:sp>
      <p:sp>
        <p:nvSpPr>
          <p:cNvPr id="10" name="object 10"/>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13" name="Title 3">
            <a:extLst>
              <a:ext uri="{FF2B5EF4-FFF2-40B4-BE49-F238E27FC236}">
                <a16:creationId xmlns:a16="http://schemas.microsoft.com/office/drawing/2014/main" id="{A000D97D-14EF-46B1-8CDF-43CA98FB7DCE}"/>
              </a:ext>
            </a:extLst>
          </p:cNvPr>
          <p:cNvSpPr txBox="1">
            <a:spLocks/>
          </p:cNvSpPr>
          <p:nvPr/>
        </p:nvSpPr>
        <p:spPr>
          <a:xfrm>
            <a:off x="304800" y="76200"/>
            <a:ext cx="7620000" cy="615553"/>
          </a:xfrm>
          <a:prstGeom prst="rect">
            <a:avLst/>
          </a:prstGeom>
        </p:spPr>
        <p:txBody>
          <a:bodyPr wrap="square" lIns="0" tIns="0" rIns="0" bIns="0">
            <a:spAutoFit/>
          </a:bodyPr>
          <a:lstStyle>
            <a:lvl1pPr>
              <a:defRPr sz="4000" b="0" i="0">
                <a:solidFill>
                  <a:schemeClr val="bg1"/>
                </a:solidFill>
                <a:latin typeface="Times New Roman"/>
                <a:ea typeface="+mj-ea"/>
                <a:cs typeface="Times New Roman"/>
              </a:defRPr>
            </a:lvl1pPr>
          </a:lstStyle>
          <a:p>
            <a:r>
              <a:rPr lang="en-US" kern="0"/>
              <a:t>UNION Operator 1-2</a:t>
            </a:r>
            <a:endParaRPr lang="en-US" kern="0" dirty="0"/>
          </a:p>
        </p:txBody>
      </p:sp>
      <p:sp>
        <p:nvSpPr>
          <p:cNvPr id="14" name="TextBox 13">
            <a:extLst>
              <a:ext uri="{FF2B5EF4-FFF2-40B4-BE49-F238E27FC236}">
                <a16:creationId xmlns:a16="http://schemas.microsoft.com/office/drawing/2014/main" id="{F572EA21-F8EF-46B7-9FE7-55692AC3F3FA}"/>
              </a:ext>
            </a:extLst>
          </p:cNvPr>
          <p:cNvSpPr txBox="1"/>
          <p:nvPr/>
        </p:nvSpPr>
        <p:spPr>
          <a:xfrm>
            <a:off x="533400" y="5906869"/>
            <a:ext cx="8382000" cy="646331"/>
          </a:xfrm>
          <a:prstGeom prst="rect">
            <a:avLst/>
          </a:prstGeom>
          <a:noFill/>
        </p:spPr>
        <p:txBody>
          <a:bodyPr wrap="square" rtlCol="0">
            <a:spAutoFit/>
          </a:bodyPr>
          <a:lstStyle/>
          <a:p>
            <a:pPr marL="341313" indent="-341313">
              <a:lnSpc>
                <a:spcPct val="100000"/>
              </a:lnSpc>
              <a:spcBef>
                <a:spcPts val="0"/>
              </a:spcBef>
              <a:buFont typeface="Wingdings" pitchFamily="2" charset="2"/>
              <a:buChar char="Ø"/>
            </a:pPr>
            <a:r>
              <a:rPr lang="en-US" sz="1800" dirty="0">
                <a:latin typeface="Calibri" pitchFamily="34" charset="0"/>
                <a:cs typeface="Calibri" pitchFamily="34" charset="0"/>
              </a:rPr>
              <a:t>If you include the </a:t>
            </a:r>
            <a:r>
              <a:rPr lang="en-US" sz="1800" dirty="0">
                <a:cs typeface="Courier New" pitchFamily="49" charset="0"/>
              </a:rPr>
              <a:t>ALL</a:t>
            </a:r>
            <a:r>
              <a:rPr lang="en-US" sz="1800" dirty="0">
                <a:latin typeface="Calibri" pitchFamily="34" charset="0"/>
                <a:cs typeface="Calibri" pitchFamily="34" charset="0"/>
              </a:rPr>
              <a:t> clause, all rows are included in the </a:t>
            </a:r>
            <a:r>
              <a:rPr lang="en-US" sz="1800" dirty="0" err="1">
                <a:latin typeface="Calibri" pitchFamily="34" charset="0"/>
                <a:cs typeface="Calibri" pitchFamily="34" charset="0"/>
              </a:rPr>
              <a:t>resultset</a:t>
            </a:r>
            <a:r>
              <a:rPr lang="en-US" sz="1800" dirty="0">
                <a:latin typeface="Calibri" pitchFamily="34" charset="0"/>
                <a:cs typeface="Calibri" pitchFamily="34" charset="0"/>
              </a:rPr>
              <a:t> including duplicate records. </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idx="4294967295"/>
          </p:nvPr>
        </p:nvSpPr>
        <p:spPr>
          <a:xfrm>
            <a:off x="304800" y="76200"/>
            <a:ext cx="7620000" cy="615553"/>
          </a:xfrm>
        </p:spPr>
        <p:txBody>
          <a:bodyPr/>
          <a:lstStyle/>
          <a:p>
            <a:r>
              <a:rPr lang="en-US" dirty="0"/>
              <a:t>UNION </a:t>
            </a:r>
            <a:r>
              <a:rPr lang="en-US"/>
              <a:t>Operator 2-2</a:t>
            </a:r>
            <a:endParaRPr lang="en-US" dirty="0"/>
          </a:p>
        </p:txBody>
      </p:sp>
      <p:sp>
        <p:nvSpPr>
          <p:cNvPr id="5" name="TextBox 4"/>
          <p:cNvSpPr txBox="1"/>
          <p:nvPr/>
        </p:nvSpPr>
        <p:spPr>
          <a:xfrm>
            <a:off x="381000" y="849868"/>
            <a:ext cx="8534400" cy="369332"/>
          </a:xfrm>
          <a:prstGeom prst="rect">
            <a:avLst/>
          </a:prstGeom>
          <a:noFill/>
        </p:spPr>
        <p:txBody>
          <a:bodyPr wrap="square" rtlCol="0">
            <a:spAutoFit/>
          </a:bodyPr>
          <a:lstStyle/>
          <a:p>
            <a:pPr marL="341313" indent="-341313">
              <a:lnSpc>
                <a:spcPct val="100000"/>
              </a:lnSpc>
              <a:spcBef>
                <a:spcPts val="0"/>
              </a:spcBef>
              <a:buFont typeface="Wingdings" pitchFamily="2" charset="2"/>
              <a:buChar char="Ø"/>
            </a:pPr>
            <a:r>
              <a:rPr lang="en-US" sz="1800">
                <a:latin typeface="Calibri" pitchFamily="34" charset="0"/>
                <a:cs typeface="Calibri" pitchFamily="34" charset="0"/>
              </a:rPr>
              <a:t>For example: Union</a:t>
            </a:r>
            <a:endParaRPr lang="en-US" sz="1800" dirty="0">
              <a:latin typeface="Calibri" pitchFamily="34" charset="0"/>
              <a:cs typeface="Calibri" pitchFamily="34" charset="0"/>
            </a:endParaRPr>
          </a:p>
        </p:txBody>
      </p:sp>
      <p:sp>
        <p:nvSpPr>
          <p:cNvPr id="10" name="object 9">
            <a:extLst>
              <a:ext uri="{FF2B5EF4-FFF2-40B4-BE49-F238E27FC236}">
                <a16:creationId xmlns:a16="http://schemas.microsoft.com/office/drawing/2014/main" id="{DE419CB3-5DDC-4CB9-B0B1-84E154287634}"/>
              </a:ext>
            </a:extLst>
          </p:cNvPr>
          <p:cNvSpPr txBox="1">
            <a:spLocks/>
          </p:cNvSpPr>
          <p:nvPr/>
        </p:nvSpPr>
        <p:spPr>
          <a:xfrm>
            <a:off x="7912607" y="6569709"/>
            <a:ext cx="909954" cy="256540"/>
          </a:xfrm>
          <a:prstGeom prst="rect">
            <a:avLst/>
          </a:prstGeom>
        </p:spPr>
        <p:txBody>
          <a:bodyPr vert="horz" wrap="square" lIns="0" tIns="18415"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spcBef>
                <a:spcPts val="145"/>
              </a:spcBef>
            </a:pPr>
            <a:r>
              <a:rPr lang="en-US" spc="52" baseline="4629"/>
              <a:t>Session </a:t>
            </a:r>
            <a:r>
              <a:rPr lang="en-US" spc="104" baseline="4629"/>
              <a:t>9/</a:t>
            </a:r>
            <a:r>
              <a:rPr lang="en-US" spc="-262" baseline="4629"/>
              <a:t> </a:t>
            </a:r>
            <a:fld id="{81D60167-4931-47E6-BA6A-407CBD079E47}" type="slidenum">
              <a:rPr sz="1200" spc="15" smtClean="0"/>
              <a:pPr marL="12700">
                <a:spcBef>
                  <a:spcPts val="145"/>
                </a:spcBef>
              </a:pPr>
              <a:t>40</a:t>
            </a:fld>
            <a:endParaRPr sz="1200"/>
          </a:p>
        </p:txBody>
      </p:sp>
      <p:pic>
        <p:nvPicPr>
          <p:cNvPr id="3" name="Picture 2">
            <a:extLst>
              <a:ext uri="{FF2B5EF4-FFF2-40B4-BE49-F238E27FC236}">
                <a16:creationId xmlns:a16="http://schemas.microsoft.com/office/drawing/2014/main" id="{B4718EC3-A4FE-4E67-9E7F-1D0886D47035}"/>
              </a:ext>
            </a:extLst>
          </p:cNvPr>
          <p:cNvPicPr>
            <a:picLocks noChangeAspect="1"/>
          </p:cNvPicPr>
          <p:nvPr/>
        </p:nvPicPr>
        <p:blipFill>
          <a:blip r:embed="rId3"/>
          <a:stretch>
            <a:fillRect/>
          </a:stretch>
        </p:blipFill>
        <p:spPr>
          <a:xfrm>
            <a:off x="370114" y="1251857"/>
            <a:ext cx="3820886" cy="2383797"/>
          </a:xfrm>
          <a:prstGeom prst="rect">
            <a:avLst/>
          </a:prstGeom>
        </p:spPr>
      </p:pic>
      <p:pic>
        <p:nvPicPr>
          <p:cNvPr id="12" name="Picture 11">
            <a:extLst>
              <a:ext uri="{FF2B5EF4-FFF2-40B4-BE49-F238E27FC236}">
                <a16:creationId xmlns:a16="http://schemas.microsoft.com/office/drawing/2014/main" id="{E074D1E1-1E32-4A4A-9F3C-E8AFEF3DF60E}"/>
              </a:ext>
            </a:extLst>
          </p:cNvPr>
          <p:cNvPicPr>
            <a:picLocks noChangeAspect="1"/>
          </p:cNvPicPr>
          <p:nvPr/>
        </p:nvPicPr>
        <p:blipFill>
          <a:blip r:embed="rId4"/>
          <a:stretch>
            <a:fillRect/>
          </a:stretch>
        </p:blipFill>
        <p:spPr>
          <a:xfrm>
            <a:off x="4343004" y="1251857"/>
            <a:ext cx="4572396" cy="1981372"/>
          </a:xfrm>
          <a:prstGeom prst="rect">
            <a:avLst/>
          </a:prstGeom>
        </p:spPr>
      </p:pic>
      <p:pic>
        <p:nvPicPr>
          <p:cNvPr id="14" name="Picture 13">
            <a:extLst>
              <a:ext uri="{FF2B5EF4-FFF2-40B4-BE49-F238E27FC236}">
                <a16:creationId xmlns:a16="http://schemas.microsoft.com/office/drawing/2014/main" id="{F1E2FE6F-F96F-4D50-906B-C13349625EDB}"/>
              </a:ext>
            </a:extLst>
          </p:cNvPr>
          <p:cNvPicPr>
            <a:picLocks noChangeAspect="1"/>
          </p:cNvPicPr>
          <p:nvPr/>
        </p:nvPicPr>
        <p:blipFill>
          <a:blip r:embed="rId5"/>
          <a:stretch>
            <a:fillRect/>
          </a:stretch>
        </p:blipFill>
        <p:spPr>
          <a:xfrm>
            <a:off x="391886" y="4114800"/>
            <a:ext cx="3958253" cy="1752600"/>
          </a:xfrm>
          <a:prstGeom prst="rect">
            <a:avLst/>
          </a:prstGeom>
        </p:spPr>
      </p:pic>
      <p:pic>
        <p:nvPicPr>
          <p:cNvPr id="16" name="Picture 15">
            <a:extLst>
              <a:ext uri="{FF2B5EF4-FFF2-40B4-BE49-F238E27FC236}">
                <a16:creationId xmlns:a16="http://schemas.microsoft.com/office/drawing/2014/main" id="{55CF1368-4234-454F-8A7E-4DB1666985C2}"/>
              </a:ext>
            </a:extLst>
          </p:cNvPr>
          <p:cNvPicPr>
            <a:picLocks noChangeAspect="1"/>
          </p:cNvPicPr>
          <p:nvPr/>
        </p:nvPicPr>
        <p:blipFill>
          <a:blip r:embed="rId6"/>
          <a:stretch>
            <a:fillRect/>
          </a:stretch>
        </p:blipFill>
        <p:spPr>
          <a:xfrm>
            <a:off x="4648200" y="3635654"/>
            <a:ext cx="3958253" cy="2728249"/>
          </a:xfrm>
          <a:prstGeom prst="rect">
            <a:avLst/>
          </a:prstGeom>
        </p:spPr>
      </p:pic>
    </p:spTree>
    <p:extLst>
      <p:ext uri="{BB962C8B-B14F-4D97-AF65-F5344CB8AC3E}">
        <p14:creationId xmlns:p14="http://schemas.microsoft.com/office/powerpoint/2010/main" val="375588493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idx="4294967295"/>
          </p:nvPr>
        </p:nvSpPr>
        <p:spPr>
          <a:xfrm>
            <a:off x="304800" y="76200"/>
            <a:ext cx="7620000" cy="615553"/>
          </a:xfrm>
        </p:spPr>
        <p:txBody>
          <a:bodyPr/>
          <a:lstStyle/>
          <a:p>
            <a:r>
              <a:rPr lang="en-US" dirty="0"/>
              <a:t>UNION </a:t>
            </a:r>
            <a:r>
              <a:rPr lang="en-US"/>
              <a:t>Operator 2-3</a:t>
            </a:r>
            <a:endParaRPr lang="en-US" dirty="0"/>
          </a:p>
        </p:txBody>
      </p:sp>
      <p:sp>
        <p:nvSpPr>
          <p:cNvPr id="5" name="TextBox 4"/>
          <p:cNvSpPr txBox="1"/>
          <p:nvPr/>
        </p:nvSpPr>
        <p:spPr>
          <a:xfrm>
            <a:off x="381000" y="849868"/>
            <a:ext cx="8534400" cy="369332"/>
          </a:xfrm>
          <a:prstGeom prst="rect">
            <a:avLst/>
          </a:prstGeom>
          <a:noFill/>
        </p:spPr>
        <p:txBody>
          <a:bodyPr wrap="square" rtlCol="0">
            <a:spAutoFit/>
          </a:bodyPr>
          <a:lstStyle/>
          <a:p>
            <a:pPr marL="341313" indent="-341313">
              <a:lnSpc>
                <a:spcPct val="100000"/>
              </a:lnSpc>
              <a:spcBef>
                <a:spcPts val="0"/>
              </a:spcBef>
              <a:buFont typeface="Wingdings" pitchFamily="2" charset="2"/>
              <a:buChar char="Ø"/>
            </a:pPr>
            <a:r>
              <a:rPr lang="en-US" sz="1800">
                <a:latin typeface="Calibri" pitchFamily="34" charset="0"/>
                <a:cs typeface="Calibri" pitchFamily="34" charset="0"/>
              </a:rPr>
              <a:t>For example: Union All</a:t>
            </a:r>
            <a:endParaRPr lang="en-US" sz="1800" dirty="0">
              <a:latin typeface="Calibri" pitchFamily="34" charset="0"/>
              <a:cs typeface="Calibri" pitchFamily="34" charset="0"/>
            </a:endParaRPr>
          </a:p>
        </p:txBody>
      </p:sp>
      <p:sp>
        <p:nvSpPr>
          <p:cNvPr id="10" name="object 9">
            <a:extLst>
              <a:ext uri="{FF2B5EF4-FFF2-40B4-BE49-F238E27FC236}">
                <a16:creationId xmlns:a16="http://schemas.microsoft.com/office/drawing/2014/main" id="{DE419CB3-5DDC-4CB9-B0B1-84E154287634}"/>
              </a:ext>
            </a:extLst>
          </p:cNvPr>
          <p:cNvSpPr txBox="1">
            <a:spLocks/>
          </p:cNvSpPr>
          <p:nvPr/>
        </p:nvSpPr>
        <p:spPr>
          <a:xfrm>
            <a:off x="7912607" y="6569709"/>
            <a:ext cx="909954" cy="256540"/>
          </a:xfrm>
          <a:prstGeom prst="rect">
            <a:avLst/>
          </a:prstGeom>
        </p:spPr>
        <p:txBody>
          <a:bodyPr vert="horz" wrap="square" lIns="0" tIns="18415"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spcBef>
                <a:spcPts val="145"/>
              </a:spcBef>
            </a:pPr>
            <a:r>
              <a:rPr lang="en-US" spc="52" baseline="4629"/>
              <a:t>Session </a:t>
            </a:r>
            <a:r>
              <a:rPr lang="en-US" spc="104" baseline="4629"/>
              <a:t>9/</a:t>
            </a:r>
            <a:r>
              <a:rPr lang="en-US" spc="-262" baseline="4629"/>
              <a:t> </a:t>
            </a:r>
            <a:fld id="{81D60167-4931-47E6-BA6A-407CBD079E47}" type="slidenum">
              <a:rPr sz="1200" spc="15" smtClean="0"/>
              <a:pPr marL="12700">
                <a:spcBef>
                  <a:spcPts val="145"/>
                </a:spcBef>
              </a:pPr>
              <a:t>41</a:t>
            </a:fld>
            <a:endParaRPr sz="1200"/>
          </a:p>
        </p:txBody>
      </p:sp>
      <p:pic>
        <p:nvPicPr>
          <p:cNvPr id="3" name="Picture 2">
            <a:extLst>
              <a:ext uri="{FF2B5EF4-FFF2-40B4-BE49-F238E27FC236}">
                <a16:creationId xmlns:a16="http://schemas.microsoft.com/office/drawing/2014/main" id="{B4718EC3-A4FE-4E67-9E7F-1D0886D47035}"/>
              </a:ext>
            </a:extLst>
          </p:cNvPr>
          <p:cNvPicPr>
            <a:picLocks noChangeAspect="1"/>
          </p:cNvPicPr>
          <p:nvPr/>
        </p:nvPicPr>
        <p:blipFill>
          <a:blip r:embed="rId3"/>
          <a:stretch>
            <a:fillRect/>
          </a:stretch>
        </p:blipFill>
        <p:spPr>
          <a:xfrm>
            <a:off x="370114" y="1251857"/>
            <a:ext cx="3820886" cy="2383797"/>
          </a:xfrm>
          <a:prstGeom prst="rect">
            <a:avLst/>
          </a:prstGeom>
        </p:spPr>
      </p:pic>
      <p:pic>
        <p:nvPicPr>
          <p:cNvPr id="12" name="Picture 11">
            <a:extLst>
              <a:ext uri="{FF2B5EF4-FFF2-40B4-BE49-F238E27FC236}">
                <a16:creationId xmlns:a16="http://schemas.microsoft.com/office/drawing/2014/main" id="{E074D1E1-1E32-4A4A-9F3C-E8AFEF3DF60E}"/>
              </a:ext>
            </a:extLst>
          </p:cNvPr>
          <p:cNvPicPr>
            <a:picLocks noChangeAspect="1"/>
          </p:cNvPicPr>
          <p:nvPr/>
        </p:nvPicPr>
        <p:blipFill>
          <a:blip r:embed="rId4"/>
          <a:stretch>
            <a:fillRect/>
          </a:stretch>
        </p:blipFill>
        <p:spPr>
          <a:xfrm>
            <a:off x="4343004" y="1251857"/>
            <a:ext cx="4572396" cy="1981372"/>
          </a:xfrm>
          <a:prstGeom prst="rect">
            <a:avLst/>
          </a:prstGeom>
        </p:spPr>
      </p:pic>
      <p:pic>
        <p:nvPicPr>
          <p:cNvPr id="6" name="Picture 5">
            <a:extLst>
              <a:ext uri="{FF2B5EF4-FFF2-40B4-BE49-F238E27FC236}">
                <a16:creationId xmlns:a16="http://schemas.microsoft.com/office/drawing/2014/main" id="{B073C0DA-8143-414B-926C-0D42FEC97FAC}"/>
              </a:ext>
            </a:extLst>
          </p:cNvPr>
          <p:cNvPicPr>
            <a:picLocks noChangeAspect="1"/>
          </p:cNvPicPr>
          <p:nvPr/>
        </p:nvPicPr>
        <p:blipFill>
          <a:blip r:embed="rId5"/>
          <a:stretch>
            <a:fillRect/>
          </a:stretch>
        </p:blipFill>
        <p:spPr>
          <a:xfrm>
            <a:off x="370114" y="4158075"/>
            <a:ext cx="4051311" cy="1850057"/>
          </a:xfrm>
          <a:prstGeom prst="rect">
            <a:avLst/>
          </a:prstGeom>
        </p:spPr>
      </p:pic>
      <p:pic>
        <p:nvPicPr>
          <p:cNvPr id="8" name="Picture 7">
            <a:extLst>
              <a:ext uri="{FF2B5EF4-FFF2-40B4-BE49-F238E27FC236}">
                <a16:creationId xmlns:a16="http://schemas.microsoft.com/office/drawing/2014/main" id="{A0F9DA99-6107-489B-A71E-24B1CBEB7E35}"/>
              </a:ext>
            </a:extLst>
          </p:cNvPr>
          <p:cNvPicPr>
            <a:picLocks noChangeAspect="1"/>
          </p:cNvPicPr>
          <p:nvPr/>
        </p:nvPicPr>
        <p:blipFill>
          <a:blip r:embed="rId6"/>
          <a:stretch>
            <a:fillRect/>
          </a:stretch>
        </p:blipFill>
        <p:spPr>
          <a:xfrm>
            <a:off x="4492270" y="3657944"/>
            <a:ext cx="3820887" cy="2751296"/>
          </a:xfrm>
          <a:prstGeom prst="rect">
            <a:avLst/>
          </a:prstGeom>
        </p:spPr>
      </p:pic>
    </p:spTree>
    <p:extLst>
      <p:ext uri="{BB962C8B-B14F-4D97-AF65-F5344CB8AC3E}">
        <p14:creationId xmlns:p14="http://schemas.microsoft.com/office/powerpoint/2010/main" val="190565188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
            <a:ext cx="5130165" cy="635635"/>
          </a:xfrm>
          <a:prstGeom prst="rect">
            <a:avLst/>
          </a:prstGeom>
        </p:spPr>
        <p:txBody>
          <a:bodyPr vert="horz" wrap="square" lIns="0" tIns="12700" rIns="0" bIns="0" rtlCol="0">
            <a:spAutoFit/>
          </a:bodyPr>
          <a:lstStyle/>
          <a:p>
            <a:pPr marL="12700">
              <a:lnSpc>
                <a:spcPct val="100000"/>
              </a:lnSpc>
              <a:spcBef>
                <a:spcPts val="100"/>
              </a:spcBef>
            </a:pPr>
            <a:r>
              <a:rPr spc="210" dirty="0"/>
              <a:t>INTERSECT</a:t>
            </a:r>
            <a:r>
              <a:rPr spc="-245" dirty="0"/>
              <a:t> </a:t>
            </a:r>
            <a:r>
              <a:rPr spc="210" dirty="0"/>
              <a:t>Operator</a:t>
            </a:r>
          </a:p>
        </p:txBody>
      </p:sp>
      <p:sp>
        <p:nvSpPr>
          <p:cNvPr id="3" name="object 3"/>
          <p:cNvSpPr/>
          <p:nvPr/>
        </p:nvSpPr>
        <p:spPr>
          <a:xfrm>
            <a:off x="228599" y="2769744"/>
            <a:ext cx="8593961" cy="1805156"/>
          </a:xfrm>
          <a:custGeom>
            <a:avLst/>
            <a:gdLst/>
            <a:ahLst/>
            <a:cxnLst/>
            <a:rect l="l" t="t" r="r" b="b"/>
            <a:pathLst>
              <a:path w="8439150" h="2365375">
                <a:moveTo>
                  <a:pt x="8439150" y="394208"/>
                </a:moveTo>
                <a:lnTo>
                  <a:pt x="8436077" y="344766"/>
                </a:lnTo>
                <a:lnTo>
                  <a:pt x="8427098" y="297167"/>
                </a:lnTo>
                <a:lnTo>
                  <a:pt x="8412607" y="251752"/>
                </a:lnTo>
                <a:lnTo>
                  <a:pt x="8392947" y="208915"/>
                </a:lnTo>
                <a:lnTo>
                  <a:pt x="8368500" y="169011"/>
                </a:lnTo>
                <a:lnTo>
                  <a:pt x="8339645" y="132422"/>
                </a:lnTo>
                <a:lnTo>
                  <a:pt x="8306727" y="99504"/>
                </a:lnTo>
                <a:lnTo>
                  <a:pt x="8270138" y="70650"/>
                </a:lnTo>
                <a:lnTo>
                  <a:pt x="8230235" y="46202"/>
                </a:lnTo>
                <a:lnTo>
                  <a:pt x="8187398" y="26543"/>
                </a:lnTo>
                <a:lnTo>
                  <a:pt x="8141983" y="12052"/>
                </a:lnTo>
                <a:lnTo>
                  <a:pt x="8094383" y="3073"/>
                </a:lnTo>
                <a:lnTo>
                  <a:pt x="8044942" y="0"/>
                </a:lnTo>
                <a:lnTo>
                  <a:pt x="394220" y="0"/>
                </a:lnTo>
                <a:lnTo>
                  <a:pt x="344766" y="3073"/>
                </a:lnTo>
                <a:lnTo>
                  <a:pt x="297141" y="12052"/>
                </a:lnTo>
                <a:lnTo>
                  <a:pt x="251726" y="26543"/>
                </a:lnTo>
                <a:lnTo>
                  <a:pt x="208889" y="46202"/>
                </a:lnTo>
                <a:lnTo>
                  <a:pt x="168986" y="70650"/>
                </a:lnTo>
                <a:lnTo>
                  <a:pt x="132397" y="99504"/>
                </a:lnTo>
                <a:lnTo>
                  <a:pt x="99479" y="132422"/>
                </a:lnTo>
                <a:lnTo>
                  <a:pt x="70624" y="169011"/>
                </a:lnTo>
                <a:lnTo>
                  <a:pt x="46177" y="208915"/>
                </a:lnTo>
                <a:lnTo>
                  <a:pt x="26530" y="251752"/>
                </a:lnTo>
                <a:lnTo>
                  <a:pt x="12026" y="297167"/>
                </a:lnTo>
                <a:lnTo>
                  <a:pt x="3060" y="344766"/>
                </a:lnTo>
                <a:lnTo>
                  <a:pt x="0" y="394208"/>
                </a:lnTo>
                <a:lnTo>
                  <a:pt x="0" y="1971027"/>
                </a:lnTo>
                <a:lnTo>
                  <a:pt x="3060" y="2020481"/>
                </a:lnTo>
                <a:lnTo>
                  <a:pt x="12026" y="2068106"/>
                </a:lnTo>
                <a:lnTo>
                  <a:pt x="26530" y="2113521"/>
                </a:lnTo>
                <a:lnTo>
                  <a:pt x="46177" y="2156358"/>
                </a:lnTo>
                <a:lnTo>
                  <a:pt x="70624" y="2196261"/>
                </a:lnTo>
                <a:lnTo>
                  <a:pt x="99479" y="2232850"/>
                </a:lnTo>
                <a:lnTo>
                  <a:pt x="132397" y="2265769"/>
                </a:lnTo>
                <a:lnTo>
                  <a:pt x="168986" y="2294623"/>
                </a:lnTo>
                <a:lnTo>
                  <a:pt x="208889" y="2319070"/>
                </a:lnTo>
                <a:lnTo>
                  <a:pt x="251726" y="2338717"/>
                </a:lnTo>
                <a:lnTo>
                  <a:pt x="297141" y="2353221"/>
                </a:lnTo>
                <a:lnTo>
                  <a:pt x="344766" y="2362187"/>
                </a:lnTo>
                <a:lnTo>
                  <a:pt x="394220" y="2365248"/>
                </a:lnTo>
                <a:lnTo>
                  <a:pt x="8044942" y="2365248"/>
                </a:lnTo>
                <a:lnTo>
                  <a:pt x="8094383" y="2362187"/>
                </a:lnTo>
                <a:lnTo>
                  <a:pt x="8141983" y="2353221"/>
                </a:lnTo>
                <a:lnTo>
                  <a:pt x="8187398" y="2338717"/>
                </a:lnTo>
                <a:lnTo>
                  <a:pt x="8230235" y="2319070"/>
                </a:lnTo>
                <a:lnTo>
                  <a:pt x="8270138" y="2294623"/>
                </a:lnTo>
                <a:lnTo>
                  <a:pt x="8306727" y="2265769"/>
                </a:lnTo>
                <a:lnTo>
                  <a:pt x="8339645" y="2232850"/>
                </a:lnTo>
                <a:lnTo>
                  <a:pt x="8368500" y="2196261"/>
                </a:lnTo>
                <a:lnTo>
                  <a:pt x="8392947" y="2156358"/>
                </a:lnTo>
                <a:lnTo>
                  <a:pt x="8412607" y="2113521"/>
                </a:lnTo>
                <a:lnTo>
                  <a:pt x="8427098" y="2068106"/>
                </a:lnTo>
                <a:lnTo>
                  <a:pt x="8436077" y="2020481"/>
                </a:lnTo>
                <a:lnTo>
                  <a:pt x="8439150" y="1971027"/>
                </a:lnTo>
                <a:lnTo>
                  <a:pt x="8439150" y="1789176"/>
                </a:lnTo>
                <a:lnTo>
                  <a:pt x="8439150" y="576072"/>
                </a:lnTo>
                <a:lnTo>
                  <a:pt x="8439150" y="394208"/>
                </a:lnTo>
                <a:close/>
              </a:path>
            </a:pathLst>
          </a:custGeom>
          <a:solidFill>
            <a:srgbClr val="4F81BC"/>
          </a:solidFill>
        </p:spPr>
        <p:txBody>
          <a:bodyPr wrap="square" lIns="0" tIns="0" rIns="0" bIns="0" rtlCol="0"/>
          <a:lstStyle/>
          <a:p>
            <a:endParaRPr/>
          </a:p>
        </p:txBody>
      </p:sp>
      <p:sp>
        <p:nvSpPr>
          <p:cNvPr id="4" name="object 4"/>
          <p:cNvSpPr txBox="1"/>
          <p:nvPr/>
        </p:nvSpPr>
        <p:spPr>
          <a:xfrm>
            <a:off x="629284" y="2934546"/>
            <a:ext cx="8094980" cy="1549400"/>
          </a:xfrm>
          <a:prstGeom prst="rect">
            <a:avLst/>
          </a:prstGeom>
        </p:spPr>
        <p:txBody>
          <a:bodyPr vert="horz" wrap="square" lIns="0" tIns="12065" rIns="0" bIns="0" rtlCol="0">
            <a:spAutoFit/>
          </a:bodyPr>
          <a:lstStyle/>
          <a:p>
            <a:pPr marL="12700">
              <a:lnSpc>
                <a:spcPct val="100000"/>
              </a:lnSpc>
              <a:spcBef>
                <a:spcPts val="95"/>
              </a:spcBef>
            </a:pPr>
            <a:r>
              <a:rPr sz="2000" spc="130" dirty="0">
                <a:solidFill>
                  <a:srgbClr val="FFFFFF"/>
                </a:solidFill>
                <a:latin typeface="Times New Roman"/>
                <a:cs typeface="Times New Roman"/>
              </a:rPr>
              <a:t>The</a:t>
            </a:r>
            <a:r>
              <a:rPr sz="2000" spc="-75" dirty="0">
                <a:solidFill>
                  <a:srgbClr val="FFFFFF"/>
                </a:solidFill>
                <a:latin typeface="Times New Roman"/>
                <a:cs typeface="Times New Roman"/>
              </a:rPr>
              <a:t> </a:t>
            </a:r>
            <a:r>
              <a:rPr sz="2000" spc="30" dirty="0">
                <a:solidFill>
                  <a:srgbClr val="FFFFFF"/>
                </a:solidFill>
                <a:latin typeface="Times New Roman"/>
                <a:cs typeface="Times New Roman"/>
              </a:rPr>
              <a:t>basic</a:t>
            </a:r>
            <a:r>
              <a:rPr sz="2000" spc="-70" dirty="0">
                <a:solidFill>
                  <a:srgbClr val="FFFFFF"/>
                </a:solidFill>
                <a:latin typeface="Times New Roman"/>
                <a:cs typeface="Times New Roman"/>
              </a:rPr>
              <a:t> </a:t>
            </a:r>
            <a:r>
              <a:rPr sz="2000" spc="55" dirty="0">
                <a:solidFill>
                  <a:srgbClr val="FFFFFF"/>
                </a:solidFill>
                <a:latin typeface="Times New Roman"/>
                <a:cs typeface="Times New Roman"/>
              </a:rPr>
              <a:t>rules</a:t>
            </a:r>
            <a:r>
              <a:rPr sz="2000" spc="-65" dirty="0">
                <a:solidFill>
                  <a:srgbClr val="FFFFFF"/>
                </a:solidFill>
                <a:latin typeface="Times New Roman"/>
                <a:cs typeface="Times New Roman"/>
              </a:rPr>
              <a:t> </a:t>
            </a:r>
            <a:r>
              <a:rPr sz="2000" spc="65" dirty="0">
                <a:solidFill>
                  <a:srgbClr val="FFFFFF"/>
                </a:solidFill>
                <a:latin typeface="Times New Roman"/>
                <a:cs typeface="Times New Roman"/>
              </a:rPr>
              <a:t>for</a:t>
            </a:r>
            <a:r>
              <a:rPr sz="2000" spc="-70" dirty="0">
                <a:solidFill>
                  <a:srgbClr val="FFFFFF"/>
                </a:solidFill>
                <a:latin typeface="Times New Roman"/>
                <a:cs typeface="Times New Roman"/>
              </a:rPr>
              <a:t> </a:t>
            </a:r>
            <a:r>
              <a:rPr sz="2000" spc="65" dirty="0">
                <a:solidFill>
                  <a:srgbClr val="FFFFFF"/>
                </a:solidFill>
                <a:latin typeface="Times New Roman"/>
                <a:cs typeface="Times New Roman"/>
              </a:rPr>
              <a:t>using</a:t>
            </a:r>
            <a:r>
              <a:rPr sz="2000" spc="-75" dirty="0">
                <a:solidFill>
                  <a:srgbClr val="FFFFFF"/>
                </a:solidFill>
                <a:latin typeface="Times New Roman"/>
                <a:cs typeface="Times New Roman"/>
              </a:rPr>
              <a:t> </a:t>
            </a:r>
            <a:r>
              <a:rPr sz="2000" spc="100" dirty="0">
                <a:solidFill>
                  <a:srgbClr val="FFFFFF"/>
                </a:solidFill>
                <a:latin typeface="Times New Roman"/>
                <a:cs typeface="Times New Roman"/>
              </a:rPr>
              <a:t>INTERSECT</a:t>
            </a:r>
            <a:r>
              <a:rPr sz="2000" spc="-75" dirty="0">
                <a:solidFill>
                  <a:srgbClr val="FFFFFF"/>
                </a:solidFill>
                <a:latin typeface="Times New Roman"/>
                <a:cs typeface="Times New Roman"/>
              </a:rPr>
              <a:t> </a:t>
            </a:r>
            <a:r>
              <a:rPr sz="2000" spc="50" dirty="0">
                <a:solidFill>
                  <a:srgbClr val="FFFFFF"/>
                </a:solidFill>
                <a:latin typeface="Times New Roman"/>
                <a:cs typeface="Times New Roman"/>
              </a:rPr>
              <a:t>are</a:t>
            </a:r>
            <a:r>
              <a:rPr sz="2000" spc="-70" dirty="0">
                <a:solidFill>
                  <a:srgbClr val="FFFFFF"/>
                </a:solidFill>
                <a:latin typeface="Times New Roman"/>
                <a:cs typeface="Times New Roman"/>
              </a:rPr>
              <a:t> </a:t>
            </a:r>
            <a:r>
              <a:rPr sz="2000" spc="20" dirty="0">
                <a:solidFill>
                  <a:srgbClr val="FFFFFF"/>
                </a:solidFill>
                <a:latin typeface="Times New Roman"/>
                <a:cs typeface="Times New Roman"/>
              </a:rPr>
              <a:t>as</a:t>
            </a:r>
            <a:r>
              <a:rPr sz="2000" spc="-75" dirty="0">
                <a:solidFill>
                  <a:srgbClr val="FFFFFF"/>
                </a:solidFill>
                <a:latin typeface="Times New Roman"/>
                <a:cs typeface="Times New Roman"/>
              </a:rPr>
              <a:t> </a:t>
            </a:r>
            <a:r>
              <a:rPr sz="2000" spc="25" dirty="0">
                <a:solidFill>
                  <a:srgbClr val="FFFFFF"/>
                </a:solidFill>
                <a:latin typeface="Times New Roman"/>
                <a:cs typeface="Times New Roman"/>
              </a:rPr>
              <a:t>follows:</a:t>
            </a:r>
            <a:endParaRPr sz="2000">
              <a:latin typeface="Times New Roman"/>
              <a:cs typeface="Times New Roman"/>
            </a:endParaRPr>
          </a:p>
          <a:p>
            <a:pPr marL="355600" marR="5080" indent="-342900">
              <a:lnSpc>
                <a:spcPct val="100000"/>
              </a:lnSpc>
              <a:spcBef>
                <a:spcPts val="2400"/>
              </a:spcBef>
              <a:buFont typeface="Wingdings"/>
              <a:buChar char=""/>
              <a:tabLst>
                <a:tab pos="354965" algn="l"/>
                <a:tab pos="355600" algn="l"/>
              </a:tabLst>
            </a:pPr>
            <a:r>
              <a:rPr sz="2000" spc="100" dirty="0">
                <a:solidFill>
                  <a:srgbClr val="FFFFFF"/>
                </a:solidFill>
                <a:latin typeface="Times New Roman"/>
                <a:cs typeface="Times New Roman"/>
              </a:rPr>
              <a:t>Number</a:t>
            </a:r>
            <a:r>
              <a:rPr sz="2000" spc="-25" dirty="0">
                <a:solidFill>
                  <a:srgbClr val="FFFFFF"/>
                </a:solidFill>
                <a:latin typeface="Times New Roman"/>
                <a:cs typeface="Times New Roman"/>
              </a:rPr>
              <a:t> </a:t>
            </a:r>
            <a:r>
              <a:rPr sz="2000" spc="55" dirty="0">
                <a:solidFill>
                  <a:srgbClr val="FFFFFF"/>
                </a:solidFill>
                <a:latin typeface="Times New Roman"/>
                <a:cs typeface="Times New Roman"/>
              </a:rPr>
              <a:t>of</a:t>
            </a:r>
            <a:r>
              <a:rPr sz="2000" spc="-35" dirty="0">
                <a:solidFill>
                  <a:srgbClr val="FFFFFF"/>
                </a:solidFill>
                <a:latin typeface="Times New Roman"/>
                <a:cs typeface="Times New Roman"/>
              </a:rPr>
              <a:t> </a:t>
            </a:r>
            <a:r>
              <a:rPr sz="2000" spc="80" dirty="0">
                <a:solidFill>
                  <a:srgbClr val="FFFFFF"/>
                </a:solidFill>
                <a:latin typeface="Times New Roman"/>
                <a:cs typeface="Times New Roman"/>
              </a:rPr>
              <a:t>columns</a:t>
            </a:r>
            <a:r>
              <a:rPr sz="2000" spc="-30" dirty="0">
                <a:solidFill>
                  <a:srgbClr val="FFFFFF"/>
                </a:solidFill>
                <a:latin typeface="Times New Roman"/>
                <a:cs typeface="Times New Roman"/>
              </a:rPr>
              <a:t> </a:t>
            </a:r>
            <a:r>
              <a:rPr sz="2000" spc="110" dirty="0">
                <a:solidFill>
                  <a:srgbClr val="FFFFFF"/>
                </a:solidFill>
                <a:latin typeface="Times New Roman"/>
                <a:cs typeface="Times New Roman"/>
              </a:rPr>
              <a:t>and</a:t>
            </a:r>
            <a:r>
              <a:rPr sz="2000" spc="-25" dirty="0">
                <a:solidFill>
                  <a:srgbClr val="FFFFFF"/>
                </a:solidFill>
                <a:latin typeface="Times New Roman"/>
                <a:cs typeface="Times New Roman"/>
              </a:rPr>
              <a:t> </a:t>
            </a:r>
            <a:r>
              <a:rPr sz="2000" spc="85" dirty="0">
                <a:solidFill>
                  <a:srgbClr val="FFFFFF"/>
                </a:solidFill>
                <a:latin typeface="Times New Roman"/>
                <a:cs typeface="Times New Roman"/>
              </a:rPr>
              <a:t>order</a:t>
            </a:r>
            <a:r>
              <a:rPr sz="2000" spc="-30" dirty="0">
                <a:solidFill>
                  <a:srgbClr val="FFFFFF"/>
                </a:solidFill>
                <a:latin typeface="Times New Roman"/>
                <a:cs typeface="Times New Roman"/>
              </a:rPr>
              <a:t> </a:t>
            </a:r>
            <a:r>
              <a:rPr sz="2000" spc="95" dirty="0">
                <a:solidFill>
                  <a:srgbClr val="FFFFFF"/>
                </a:solidFill>
                <a:latin typeface="Times New Roman"/>
                <a:cs typeface="Times New Roman"/>
              </a:rPr>
              <a:t>in</a:t>
            </a:r>
            <a:r>
              <a:rPr sz="2000" spc="-35" dirty="0">
                <a:solidFill>
                  <a:srgbClr val="FFFFFF"/>
                </a:solidFill>
                <a:latin typeface="Times New Roman"/>
                <a:cs typeface="Times New Roman"/>
              </a:rPr>
              <a:t> </a:t>
            </a:r>
            <a:r>
              <a:rPr sz="2000" spc="80" dirty="0">
                <a:solidFill>
                  <a:srgbClr val="FFFFFF"/>
                </a:solidFill>
                <a:latin typeface="Times New Roman"/>
                <a:cs typeface="Times New Roman"/>
              </a:rPr>
              <a:t>which</a:t>
            </a:r>
            <a:r>
              <a:rPr sz="2000" spc="-35" dirty="0">
                <a:solidFill>
                  <a:srgbClr val="FFFFFF"/>
                </a:solidFill>
                <a:latin typeface="Times New Roman"/>
                <a:cs typeface="Times New Roman"/>
              </a:rPr>
              <a:t> </a:t>
            </a:r>
            <a:r>
              <a:rPr sz="2000" spc="85" dirty="0">
                <a:solidFill>
                  <a:srgbClr val="FFFFFF"/>
                </a:solidFill>
                <a:latin typeface="Times New Roman"/>
                <a:cs typeface="Times New Roman"/>
              </a:rPr>
              <a:t>they</a:t>
            </a:r>
            <a:r>
              <a:rPr sz="2000" spc="-30" dirty="0">
                <a:solidFill>
                  <a:srgbClr val="FFFFFF"/>
                </a:solidFill>
                <a:latin typeface="Times New Roman"/>
                <a:cs typeface="Times New Roman"/>
              </a:rPr>
              <a:t> </a:t>
            </a:r>
            <a:r>
              <a:rPr sz="2000" spc="55" dirty="0">
                <a:solidFill>
                  <a:srgbClr val="FFFFFF"/>
                </a:solidFill>
                <a:latin typeface="Times New Roman"/>
                <a:cs typeface="Times New Roman"/>
              </a:rPr>
              <a:t>are</a:t>
            </a:r>
            <a:r>
              <a:rPr sz="2000" spc="-30" dirty="0">
                <a:solidFill>
                  <a:srgbClr val="FFFFFF"/>
                </a:solidFill>
                <a:latin typeface="Times New Roman"/>
                <a:cs typeface="Times New Roman"/>
              </a:rPr>
              <a:t> </a:t>
            </a:r>
            <a:r>
              <a:rPr sz="2000" spc="50" dirty="0">
                <a:solidFill>
                  <a:srgbClr val="FFFFFF"/>
                </a:solidFill>
                <a:latin typeface="Times New Roman"/>
                <a:cs typeface="Times New Roman"/>
              </a:rPr>
              <a:t>given</a:t>
            </a:r>
            <a:r>
              <a:rPr sz="2000" spc="-25" dirty="0">
                <a:solidFill>
                  <a:srgbClr val="FFFFFF"/>
                </a:solidFill>
                <a:latin typeface="Times New Roman"/>
                <a:cs typeface="Times New Roman"/>
              </a:rPr>
              <a:t> </a:t>
            </a:r>
            <a:r>
              <a:rPr sz="2000" spc="95" dirty="0">
                <a:solidFill>
                  <a:srgbClr val="FFFFFF"/>
                </a:solidFill>
                <a:latin typeface="Times New Roman"/>
                <a:cs typeface="Times New Roman"/>
              </a:rPr>
              <a:t>must</a:t>
            </a:r>
            <a:r>
              <a:rPr sz="2000" spc="-30" dirty="0">
                <a:solidFill>
                  <a:srgbClr val="FFFFFF"/>
                </a:solidFill>
                <a:latin typeface="Times New Roman"/>
                <a:cs typeface="Times New Roman"/>
              </a:rPr>
              <a:t> </a:t>
            </a:r>
            <a:r>
              <a:rPr sz="2000" spc="70" dirty="0">
                <a:solidFill>
                  <a:srgbClr val="FFFFFF"/>
                </a:solidFill>
                <a:latin typeface="Times New Roman"/>
                <a:cs typeface="Times New Roman"/>
              </a:rPr>
              <a:t>be</a:t>
            </a:r>
            <a:r>
              <a:rPr sz="2000" spc="-35" dirty="0">
                <a:solidFill>
                  <a:srgbClr val="FFFFFF"/>
                </a:solidFill>
                <a:latin typeface="Times New Roman"/>
                <a:cs typeface="Times New Roman"/>
              </a:rPr>
              <a:t> </a:t>
            </a:r>
            <a:r>
              <a:rPr sz="2000" spc="45" dirty="0">
                <a:solidFill>
                  <a:srgbClr val="FFFFFF"/>
                </a:solidFill>
                <a:latin typeface="Times New Roman"/>
                <a:cs typeface="Times New Roman"/>
              </a:rPr>
              <a:t>same</a:t>
            </a:r>
            <a:r>
              <a:rPr sz="2000" spc="-30" dirty="0">
                <a:solidFill>
                  <a:srgbClr val="FFFFFF"/>
                </a:solidFill>
                <a:latin typeface="Times New Roman"/>
                <a:cs typeface="Times New Roman"/>
              </a:rPr>
              <a:t> </a:t>
            </a:r>
            <a:r>
              <a:rPr sz="2000" spc="95" dirty="0">
                <a:solidFill>
                  <a:srgbClr val="FFFFFF"/>
                </a:solidFill>
                <a:latin typeface="Times New Roman"/>
                <a:cs typeface="Times New Roman"/>
              </a:rPr>
              <a:t>in  </a:t>
            </a:r>
            <a:r>
              <a:rPr sz="2000" spc="120" dirty="0">
                <a:solidFill>
                  <a:srgbClr val="FFFFFF"/>
                </a:solidFill>
                <a:latin typeface="Times New Roman"/>
                <a:cs typeface="Times New Roman"/>
              </a:rPr>
              <a:t>both</a:t>
            </a:r>
            <a:r>
              <a:rPr sz="2000" spc="-65" dirty="0">
                <a:solidFill>
                  <a:srgbClr val="FFFFFF"/>
                </a:solidFill>
                <a:latin typeface="Times New Roman"/>
                <a:cs typeface="Times New Roman"/>
              </a:rPr>
              <a:t> </a:t>
            </a:r>
            <a:r>
              <a:rPr sz="2000" spc="55" dirty="0">
                <a:solidFill>
                  <a:srgbClr val="FFFFFF"/>
                </a:solidFill>
                <a:latin typeface="Times New Roman"/>
                <a:cs typeface="Times New Roman"/>
              </a:rPr>
              <a:t>queries.</a:t>
            </a:r>
            <a:endParaRPr sz="2000">
              <a:latin typeface="Times New Roman"/>
              <a:cs typeface="Times New Roman"/>
            </a:endParaRPr>
          </a:p>
          <a:p>
            <a:pPr marL="355600" indent="-342900">
              <a:lnSpc>
                <a:spcPct val="100000"/>
              </a:lnSpc>
              <a:spcBef>
                <a:spcPts val="5"/>
              </a:spcBef>
              <a:buFont typeface="Wingdings"/>
              <a:buChar char=""/>
              <a:tabLst>
                <a:tab pos="354965" algn="l"/>
                <a:tab pos="355600" algn="l"/>
              </a:tabLst>
            </a:pPr>
            <a:r>
              <a:rPr sz="2000" spc="80" dirty="0">
                <a:solidFill>
                  <a:srgbClr val="FFFFFF"/>
                </a:solidFill>
                <a:latin typeface="Times New Roman"/>
                <a:cs typeface="Times New Roman"/>
              </a:rPr>
              <a:t>Data</a:t>
            </a:r>
            <a:r>
              <a:rPr sz="2000" spc="-60" dirty="0">
                <a:solidFill>
                  <a:srgbClr val="FFFFFF"/>
                </a:solidFill>
                <a:latin typeface="Times New Roman"/>
                <a:cs typeface="Times New Roman"/>
              </a:rPr>
              <a:t> </a:t>
            </a:r>
            <a:r>
              <a:rPr sz="2000" spc="55" dirty="0">
                <a:solidFill>
                  <a:srgbClr val="FFFFFF"/>
                </a:solidFill>
                <a:latin typeface="Times New Roman"/>
                <a:cs typeface="Times New Roman"/>
              </a:rPr>
              <a:t>types</a:t>
            </a:r>
            <a:r>
              <a:rPr sz="2000" spc="-55" dirty="0">
                <a:solidFill>
                  <a:srgbClr val="FFFFFF"/>
                </a:solidFill>
                <a:latin typeface="Times New Roman"/>
                <a:cs typeface="Times New Roman"/>
              </a:rPr>
              <a:t> </a:t>
            </a:r>
            <a:r>
              <a:rPr sz="2000" spc="55" dirty="0">
                <a:solidFill>
                  <a:srgbClr val="FFFFFF"/>
                </a:solidFill>
                <a:latin typeface="Times New Roman"/>
                <a:cs typeface="Times New Roman"/>
              </a:rPr>
              <a:t>of</a:t>
            </a:r>
            <a:r>
              <a:rPr sz="2000" spc="-70" dirty="0">
                <a:solidFill>
                  <a:srgbClr val="FFFFFF"/>
                </a:solidFill>
                <a:latin typeface="Times New Roman"/>
                <a:cs typeface="Times New Roman"/>
              </a:rPr>
              <a:t> </a:t>
            </a:r>
            <a:r>
              <a:rPr sz="2000" spc="110" dirty="0">
                <a:solidFill>
                  <a:srgbClr val="FFFFFF"/>
                </a:solidFill>
                <a:latin typeface="Times New Roman"/>
                <a:cs typeface="Times New Roman"/>
              </a:rPr>
              <a:t>the</a:t>
            </a:r>
            <a:r>
              <a:rPr sz="2000" spc="-60" dirty="0">
                <a:solidFill>
                  <a:srgbClr val="FFFFFF"/>
                </a:solidFill>
                <a:latin typeface="Times New Roman"/>
                <a:cs typeface="Times New Roman"/>
              </a:rPr>
              <a:t> </a:t>
            </a:r>
            <a:r>
              <a:rPr sz="2000" spc="75" dirty="0">
                <a:solidFill>
                  <a:srgbClr val="FFFFFF"/>
                </a:solidFill>
                <a:latin typeface="Times New Roman"/>
                <a:cs typeface="Times New Roman"/>
              </a:rPr>
              <a:t>columns</a:t>
            </a:r>
            <a:r>
              <a:rPr sz="2000" spc="-65" dirty="0">
                <a:solidFill>
                  <a:srgbClr val="FFFFFF"/>
                </a:solidFill>
                <a:latin typeface="Times New Roman"/>
                <a:cs typeface="Times New Roman"/>
              </a:rPr>
              <a:t> </a:t>
            </a:r>
            <a:r>
              <a:rPr sz="2000" spc="60" dirty="0">
                <a:solidFill>
                  <a:srgbClr val="FFFFFF"/>
                </a:solidFill>
                <a:latin typeface="Times New Roman"/>
                <a:cs typeface="Times New Roman"/>
              </a:rPr>
              <a:t>being</a:t>
            </a:r>
            <a:r>
              <a:rPr sz="2000" spc="-60" dirty="0">
                <a:solidFill>
                  <a:srgbClr val="FFFFFF"/>
                </a:solidFill>
                <a:latin typeface="Times New Roman"/>
                <a:cs typeface="Times New Roman"/>
              </a:rPr>
              <a:t> </a:t>
            </a:r>
            <a:r>
              <a:rPr sz="2000" spc="80" dirty="0">
                <a:solidFill>
                  <a:srgbClr val="FFFFFF"/>
                </a:solidFill>
                <a:latin typeface="Times New Roman"/>
                <a:cs typeface="Times New Roman"/>
              </a:rPr>
              <a:t>used</a:t>
            </a:r>
            <a:r>
              <a:rPr sz="2000" spc="-75" dirty="0">
                <a:solidFill>
                  <a:srgbClr val="FFFFFF"/>
                </a:solidFill>
                <a:latin typeface="Times New Roman"/>
                <a:cs typeface="Times New Roman"/>
              </a:rPr>
              <a:t> </a:t>
            </a:r>
            <a:r>
              <a:rPr sz="2000" spc="95" dirty="0">
                <a:solidFill>
                  <a:srgbClr val="FFFFFF"/>
                </a:solidFill>
                <a:latin typeface="Times New Roman"/>
                <a:cs typeface="Times New Roman"/>
              </a:rPr>
              <a:t>must</a:t>
            </a:r>
            <a:r>
              <a:rPr sz="2000" spc="-70" dirty="0">
                <a:solidFill>
                  <a:srgbClr val="FFFFFF"/>
                </a:solidFill>
                <a:latin typeface="Times New Roman"/>
                <a:cs typeface="Times New Roman"/>
              </a:rPr>
              <a:t> </a:t>
            </a:r>
            <a:r>
              <a:rPr sz="2000" spc="65" dirty="0">
                <a:solidFill>
                  <a:srgbClr val="FFFFFF"/>
                </a:solidFill>
                <a:latin typeface="Times New Roman"/>
                <a:cs typeface="Times New Roman"/>
              </a:rPr>
              <a:t>be</a:t>
            </a:r>
            <a:r>
              <a:rPr sz="2000" spc="-65" dirty="0">
                <a:solidFill>
                  <a:srgbClr val="FFFFFF"/>
                </a:solidFill>
                <a:latin typeface="Times New Roman"/>
                <a:cs typeface="Times New Roman"/>
              </a:rPr>
              <a:t> </a:t>
            </a:r>
            <a:r>
              <a:rPr sz="2000" spc="55" dirty="0">
                <a:solidFill>
                  <a:srgbClr val="FFFFFF"/>
                </a:solidFill>
                <a:latin typeface="Times New Roman"/>
                <a:cs typeface="Times New Roman"/>
              </a:rPr>
              <a:t>compatible.</a:t>
            </a:r>
            <a:endParaRPr sz="2000">
              <a:latin typeface="Times New Roman"/>
              <a:cs typeface="Times New Roman"/>
            </a:endParaRPr>
          </a:p>
        </p:txBody>
      </p:sp>
      <p:pic>
        <p:nvPicPr>
          <p:cNvPr id="5" name="object 5"/>
          <p:cNvPicPr/>
          <p:nvPr/>
        </p:nvPicPr>
        <p:blipFill>
          <a:blip r:embed="rId3" cstate="print"/>
          <a:stretch>
            <a:fillRect/>
          </a:stretch>
        </p:blipFill>
        <p:spPr>
          <a:xfrm>
            <a:off x="133350" y="828753"/>
            <a:ext cx="8689211" cy="1795273"/>
          </a:xfrm>
          <a:prstGeom prst="rect">
            <a:avLst/>
          </a:prstGeom>
        </p:spPr>
      </p:pic>
      <p:sp>
        <p:nvSpPr>
          <p:cNvPr id="6" name="object 6"/>
          <p:cNvSpPr txBox="1"/>
          <p:nvPr/>
        </p:nvSpPr>
        <p:spPr>
          <a:xfrm>
            <a:off x="266761" y="1312263"/>
            <a:ext cx="8422387" cy="1138773"/>
          </a:xfrm>
          <a:prstGeom prst="rect">
            <a:avLst/>
          </a:prstGeom>
        </p:spPr>
        <p:txBody>
          <a:bodyPr vert="horz" wrap="square" lIns="0" tIns="30480" rIns="0" bIns="0" rtlCol="0">
            <a:spAutoFit/>
          </a:bodyPr>
          <a:lstStyle/>
          <a:p>
            <a:pPr marL="547370" marR="328930" indent="-342900" algn="just">
              <a:lnSpc>
                <a:spcPct val="100000"/>
              </a:lnSpc>
              <a:spcBef>
                <a:spcPts val="240"/>
              </a:spcBef>
              <a:buClr>
                <a:srgbClr val="FFFFFF"/>
              </a:buClr>
              <a:buFont typeface="Wingdings"/>
              <a:buChar char=""/>
              <a:tabLst>
                <a:tab pos="612140" algn="l"/>
              </a:tabLst>
            </a:pPr>
            <a:r>
              <a:rPr dirty="0"/>
              <a:t>	</a:t>
            </a:r>
            <a:r>
              <a:rPr sz="2400" spc="160" dirty="0">
                <a:solidFill>
                  <a:srgbClr val="FFFFFF"/>
                </a:solidFill>
                <a:latin typeface="Times New Roman"/>
                <a:cs typeface="Times New Roman"/>
              </a:rPr>
              <a:t>The </a:t>
            </a:r>
            <a:r>
              <a:rPr sz="2400" spc="125" dirty="0">
                <a:solidFill>
                  <a:srgbClr val="FFFFFF"/>
                </a:solidFill>
                <a:latin typeface="Times New Roman"/>
                <a:cs typeface="Times New Roman"/>
              </a:rPr>
              <a:t>INTERSECT </a:t>
            </a:r>
            <a:r>
              <a:rPr sz="2400" spc="100" dirty="0">
                <a:solidFill>
                  <a:srgbClr val="FFFFFF"/>
                </a:solidFill>
                <a:latin typeface="Times New Roman"/>
                <a:cs typeface="Times New Roman"/>
              </a:rPr>
              <a:t>operator </a:t>
            </a:r>
            <a:r>
              <a:rPr sz="2400" spc="10" dirty="0">
                <a:solidFill>
                  <a:srgbClr val="FFFFFF"/>
                </a:solidFill>
                <a:latin typeface="Times New Roman"/>
                <a:cs typeface="Times New Roman"/>
              </a:rPr>
              <a:t>is</a:t>
            </a:r>
            <a:r>
              <a:rPr sz="2400" spc="620" dirty="0">
                <a:solidFill>
                  <a:srgbClr val="FFFFFF"/>
                </a:solidFill>
                <a:latin typeface="Times New Roman"/>
                <a:cs typeface="Times New Roman"/>
              </a:rPr>
              <a:t> </a:t>
            </a:r>
            <a:r>
              <a:rPr sz="2400" spc="100" dirty="0">
                <a:solidFill>
                  <a:srgbClr val="FFFFFF"/>
                </a:solidFill>
                <a:latin typeface="Times New Roman"/>
                <a:cs typeface="Times New Roman"/>
              </a:rPr>
              <a:t>used </a:t>
            </a:r>
            <a:r>
              <a:rPr sz="2400" spc="105" dirty="0">
                <a:solidFill>
                  <a:srgbClr val="FFFFFF"/>
                </a:solidFill>
                <a:latin typeface="Times New Roman"/>
                <a:cs typeface="Times New Roman"/>
              </a:rPr>
              <a:t>with two  </a:t>
            </a:r>
            <a:r>
              <a:rPr sz="2400" spc="90" dirty="0">
                <a:solidFill>
                  <a:srgbClr val="FFFFFF"/>
                </a:solidFill>
                <a:latin typeface="Times New Roman"/>
                <a:cs typeface="Times New Roman"/>
              </a:rPr>
              <a:t>query </a:t>
            </a:r>
            <a:r>
              <a:rPr sz="2400" spc="95" dirty="0">
                <a:solidFill>
                  <a:srgbClr val="FFFFFF"/>
                </a:solidFill>
                <a:latin typeface="Times New Roman"/>
                <a:cs typeface="Times New Roman"/>
              </a:rPr>
              <a:t>statements </a:t>
            </a:r>
            <a:r>
              <a:rPr sz="2400" spc="130" dirty="0">
                <a:solidFill>
                  <a:srgbClr val="FFFFFF"/>
                </a:solidFill>
                <a:latin typeface="Times New Roman"/>
                <a:cs typeface="Times New Roman"/>
              </a:rPr>
              <a:t>to return </a:t>
            </a:r>
            <a:r>
              <a:rPr sz="2400" spc="40" dirty="0">
                <a:solidFill>
                  <a:srgbClr val="FFFFFF"/>
                </a:solidFill>
                <a:latin typeface="Times New Roman"/>
                <a:cs typeface="Times New Roman"/>
              </a:rPr>
              <a:t>a </a:t>
            </a:r>
            <a:r>
              <a:rPr sz="2400" spc="90" dirty="0">
                <a:solidFill>
                  <a:srgbClr val="FFFFFF"/>
                </a:solidFill>
                <a:latin typeface="Times New Roman"/>
                <a:cs typeface="Times New Roman"/>
              </a:rPr>
              <a:t>distinct </a:t>
            </a:r>
            <a:r>
              <a:rPr sz="2400" spc="70" dirty="0">
                <a:solidFill>
                  <a:srgbClr val="FFFFFF"/>
                </a:solidFill>
                <a:latin typeface="Times New Roman"/>
                <a:cs typeface="Times New Roman"/>
              </a:rPr>
              <a:t>set of </a:t>
            </a:r>
            <a:r>
              <a:rPr sz="2400" spc="65" dirty="0">
                <a:solidFill>
                  <a:srgbClr val="FFFFFF"/>
                </a:solidFill>
                <a:latin typeface="Times New Roman"/>
                <a:cs typeface="Times New Roman"/>
              </a:rPr>
              <a:t>rows  </a:t>
            </a:r>
            <a:r>
              <a:rPr sz="2400" spc="140" dirty="0">
                <a:solidFill>
                  <a:srgbClr val="FFFFFF"/>
                </a:solidFill>
                <a:latin typeface="Times New Roman"/>
                <a:cs typeface="Times New Roman"/>
              </a:rPr>
              <a:t>that</a:t>
            </a:r>
            <a:r>
              <a:rPr sz="2400" spc="-80" dirty="0">
                <a:solidFill>
                  <a:srgbClr val="FFFFFF"/>
                </a:solidFill>
                <a:latin typeface="Times New Roman"/>
                <a:cs typeface="Times New Roman"/>
              </a:rPr>
              <a:t> </a:t>
            </a:r>
            <a:r>
              <a:rPr sz="2400" spc="65" dirty="0">
                <a:solidFill>
                  <a:srgbClr val="FFFFFF"/>
                </a:solidFill>
                <a:latin typeface="Times New Roman"/>
                <a:cs typeface="Times New Roman"/>
              </a:rPr>
              <a:t>are</a:t>
            </a:r>
            <a:r>
              <a:rPr sz="2400" spc="-90" dirty="0">
                <a:solidFill>
                  <a:srgbClr val="FFFFFF"/>
                </a:solidFill>
                <a:latin typeface="Times New Roman"/>
                <a:cs typeface="Times New Roman"/>
              </a:rPr>
              <a:t> </a:t>
            </a:r>
            <a:r>
              <a:rPr sz="2400" spc="114" dirty="0">
                <a:solidFill>
                  <a:srgbClr val="FFFFFF"/>
                </a:solidFill>
                <a:latin typeface="Times New Roman"/>
                <a:cs typeface="Times New Roman"/>
              </a:rPr>
              <a:t>common</a:t>
            </a:r>
            <a:r>
              <a:rPr sz="2400" spc="-100" dirty="0">
                <a:solidFill>
                  <a:srgbClr val="FFFFFF"/>
                </a:solidFill>
                <a:latin typeface="Times New Roman"/>
                <a:cs typeface="Times New Roman"/>
              </a:rPr>
              <a:t> </a:t>
            </a:r>
            <a:r>
              <a:rPr sz="2400" spc="130" dirty="0">
                <a:solidFill>
                  <a:srgbClr val="FFFFFF"/>
                </a:solidFill>
                <a:latin typeface="Times New Roman"/>
                <a:cs typeface="Times New Roman"/>
              </a:rPr>
              <a:t>to</a:t>
            </a:r>
            <a:r>
              <a:rPr sz="2400" spc="-95" dirty="0">
                <a:solidFill>
                  <a:srgbClr val="FFFFFF"/>
                </a:solidFill>
                <a:latin typeface="Times New Roman"/>
                <a:cs typeface="Times New Roman"/>
              </a:rPr>
              <a:t> </a:t>
            </a:r>
            <a:r>
              <a:rPr sz="2400" spc="145" dirty="0">
                <a:solidFill>
                  <a:srgbClr val="FFFFFF"/>
                </a:solidFill>
                <a:latin typeface="Times New Roman"/>
                <a:cs typeface="Times New Roman"/>
              </a:rPr>
              <a:t>both</a:t>
            </a:r>
            <a:r>
              <a:rPr sz="2400" spc="-85" dirty="0">
                <a:solidFill>
                  <a:srgbClr val="FFFFFF"/>
                </a:solidFill>
                <a:latin typeface="Times New Roman"/>
                <a:cs typeface="Times New Roman"/>
              </a:rPr>
              <a:t> </a:t>
            </a:r>
            <a:r>
              <a:rPr sz="2400" spc="135" dirty="0">
                <a:solidFill>
                  <a:srgbClr val="FFFFFF"/>
                </a:solidFill>
                <a:latin typeface="Times New Roman"/>
                <a:cs typeface="Times New Roman"/>
              </a:rPr>
              <a:t>the</a:t>
            </a:r>
            <a:r>
              <a:rPr sz="2400" spc="-90" dirty="0">
                <a:solidFill>
                  <a:srgbClr val="FFFFFF"/>
                </a:solidFill>
                <a:latin typeface="Times New Roman"/>
                <a:cs typeface="Times New Roman"/>
              </a:rPr>
              <a:t> </a:t>
            </a:r>
            <a:r>
              <a:rPr sz="2400" spc="95" dirty="0">
                <a:solidFill>
                  <a:srgbClr val="FFFFFF"/>
                </a:solidFill>
                <a:latin typeface="Times New Roman"/>
                <a:cs typeface="Times New Roman"/>
              </a:rPr>
              <a:t>query</a:t>
            </a:r>
            <a:r>
              <a:rPr sz="2400" spc="-100" dirty="0">
                <a:solidFill>
                  <a:srgbClr val="FFFFFF"/>
                </a:solidFill>
                <a:latin typeface="Times New Roman"/>
                <a:cs typeface="Times New Roman"/>
              </a:rPr>
              <a:t> </a:t>
            </a:r>
            <a:r>
              <a:rPr sz="2400" spc="85" dirty="0">
                <a:solidFill>
                  <a:srgbClr val="FFFFFF"/>
                </a:solidFill>
                <a:latin typeface="Times New Roman"/>
                <a:cs typeface="Times New Roman"/>
              </a:rPr>
              <a:t>statements.</a:t>
            </a:r>
            <a:endParaRPr sz="24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04" baseline="4629" dirty="0"/>
              <a:t>9/</a:t>
            </a:r>
            <a:r>
              <a:rPr sz="1800" spc="-262" baseline="4629" dirty="0"/>
              <a:t> </a:t>
            </a:r>
            <a:fld id="{81D60167-4931-47E6-BA6A-407CBD079E47}" type="slidenum">
              <a:rPr sz="1200" spc="15" dirty="0"/>
              <a:t>42</a:t>
            </a:fld>
            <a:endParaRPr sz="1200"/>
          </a:p>
        </p:txBody>
      </p:sp>
      <p:sp>
        <p:nvSpPr>
          <p:cNvPr id="9" name="object 9"/>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12" name="Rounded Rectangle 8">
            <a:extLst>
              <a:ext uri="{FF2B5EF4-FFF2-40B4-BE49-F238E27FC236}">
                <a16:creationId xmlns:a16="http://schemas.microsoft.com/office/drawing/2014/main" id="{0F6EFEE9-158A-450E-8855-597208F6C21B}"/>
              </a:ext>
            </a:extLst>
          </p:cNvPr>
          <p:cNvSpPr/>
          <p:nvPr/>
        </p:nvSpPr>
        <p:spPr>
          <a:xfrm>
            <a:off x="609600" y="4694952"/>
            <a:ext cx="1066800" cy="381000"/>
          </a:xfrm>
          <a:prstGeom prst="roundRect">
            <a:avLst/>
          </a:prstGeom>
        </p:spPr>
        <p:style>
          <a:lnRef idx="0">
            <a:schemeClr val="accent5"/>
          </a:lnRef>
          <a:fillRef idx="3">
            <a:schemeClr val="accent5"/>
          </a:fillRef>
          <a:effectRef idx="3">
            <a:schemeClr val="accent5"/>
          </a:effectRef>
          <a:fontRef idx="minor">
            <a:schemeClr val="lt1"/>
          </a:fontRef>
        </p:style>
        <p:txBody>
          <a:bodyPr rtlCol="0" anchor="ctr"/>
          <a:lstStyle/>
          <a:p>
            <a:r>
              <a:rPr lang="en-US" sz="1600" b="1" dirty="0"/>
              <a:t>Syntax:</a:t>
            </a:r>
          </a:p>
        </p:txBody>
      </p:sp>
      <p:sp>
        <p:nvSpPr>
          <p:cNvPr id="13" name="TextBox 12">
            <a:extLst>
              <a:ext uri="{FF2B5EF4-FFF2-40B4-BE49-F238E27FC236}">
                <a16:creationId xmlns:a16="http://schemas.microsoft.com/office/drawing/2014/main" id="{BBBB2A42-9618-4C20-989B-1699982039C3}"/>
              </a:ext>
            </a:extLst>
          </p:cNvPr>
          <p:cNvSpPr txBox="1"/>
          <p:nvPr/>
        </p:nvSpPr>
        <p:spPr>
          <a:xfrm>
            <a:off x="2057400" y="4694952"/>
            <a:ext cx="2819400" cy="1066959"/>
          </a:xfrm>
          <a:prstGeom prst="rect">
            <a:avLst/>
          </a:prstGeom>
          <a:solidFill>
            <a:schemeClr val="accent1">
              <a:lumMod val="60000"/>
              <a:lumOff val="40000"/>
            </a:schemeClr>
          </a:solidFill>
          <a:ln>
            <a:solidFill>
              <a:schemeClr val="tx1"/>
            </a:solidFill>
          </a:ln>
        </p:spPr>
        <p:txBody>
          <a:bodyPr wrap="square" rtlCol="0">
            <a:spAutoFit/>
          </a:bodyPr>
          <a:lstStyle/>
          <a:p>
            <a:pPr>
              <a:lnSpc>
                <a:spcPct val="100000"/>
              </a:lnSpc>
              <a:spcBef>
                <a:spcPts val="800"/>
              </a:spcBef>
            </a:pPr>
            <a:r>
              <a:rPr lang="en-US" dirty="0"/>
              <a:t> </a:t>
            </a:r>
            <a:r>
              <a:rPr lang="en-US" sz="1600" dirty="0"/>
              <a:t>Query_statement1</a:t>
            </a:r>
          </a:p>
          <a:p>
            <a:pPr>
              <a:lnSpc>
                <a:spcPct val="100000"/>
              </a:lnSpc>
              <a:spcBef>
                <a:spcPts val="800"/>
              </a:spcBef>
            </a:pPr>
            <a:r>
              <a:rPr lang="en-US" sz="1600" dirty="0"/>
              <a:t> INTERSECT</a:t>
            </a:r>
          </a:p>
          <a:p>
            <a:pPr>
              <a:lnSpc>
                <a:spcPct val="100000"/>
              </a:lnSpc>
              <a:spcBef>
                <a:spcPts val="800"/>
              </a:spcBef>
            </a:pPr>
            <a:r>
              <a:rPr lang="en-US" sz="1600" dirty="0"/>
              <a:t> Query_statement2</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
            <a:ext cx="5130165" cy="635635"/>
          </a:xfrm>
          <a:prstGeom prst="rect">
            <a:avLst/>
          </a:prstGeom>
        </p:spPr>
        <p:txBody>
          <a:bodyPr vert="horz" wrap="square" lIns="0" tIns="12700" rIns="0" bIns="0" rtlCol="0">
            <a:spAutoFit/>
          </a:bodyPr>
          <a:lstStyle/>
          <a:p>
            <a:pPr marL="12700">
              <a:lnSpc>
                <a:spcPct val="100000"/>
              </a:lnSpc>
              <a:spcBef>
                <a:spcPts val="100"/>
              </a:spcBef>
            </a:pPr>
            <a:r>
              <a:rPr spc="210" dirty="0"/>
              <a:t>INTERSECT</a:t>
            </a:r>
            <a:r>
              <a:rPr spc="-245" dirty="0"/>
              <a:t> </a:t>
            </a:r>
            <a:r>
              <a:rPr spc="210" dirty="0"/>
              <a:t>Operator</a:t>
            </a:r>
          </a:p>
        </p:txBody>
      </p:sp>
      <p:sp>
        <p:nvSpPr>
          <p:cNvPr id="8" name="object 8"/>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04" baseline="4629" dirty="0"/>
              <a:t>9/</a:t>
            </a:r>
            <a:r>
              <a:rPr sz="1800" spc="-262" baseline="4629" dirty="0"/>
              <a:t> </a:t>
            </a:r>
            <a:fld id="{81D60167-4931-47E6-BA6A-407CBD079E47}" type="slidenum">
              <a:rPr sz="1200" spc="15" dirty="0"/>
              <a:t>43</a:t>
            </a:fld>
            <a:endParaRPr sz="1200"/>
          </a:p>
        </p:txBody>
      </p:sp>
      <p:sp>
        <p:nvSpPr>
          <p:cNvPr id="9" name="object 9"/>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10" name="TextBox 11">
            <a:extLst>
              <a:ext uri="{FF2B5EF4-FFF2-40B4-BE49-F238E27FC236}">
                <a16:creationId xmlns:a16="http://schemas.microsoft.com/office/drawing/2014/main" id="{507AA368-B6F6-4759-B6BD-5D784F3E09D7}"/>
              </a:ext>
            </a:extLst>
          </p:cNvPr>
          <p:cNvSpPr txBox="1"/>
          <p:nvPr/>
        </p:nvSpPr>
        <p:spPr>
          <a:xfrm>
            <a:off x="0" y="838200"/>
            <a:ext cx="2171700" cy="369332"/>
          </a:xfrm>
          <a:prstGeom prst="rect">
            <a:avLst/>
          </a:prstGeom>
          <a:noFill/>
        </p:spPr>
        <p:txBody>
          <a:bodyPr wrap="square" rtlCol="0">
            <a:spAutoFit/>
          </a:bodyPr>
          <a:lstStyle>
            <a:defPPr>
              <a:defRPr lang="en-US"/>
            </a:defPPr>
            <a:lvl1pPr algn="l" rtl="0" fontAlgn="base">
              <a:lnSpc>
                <a:spcPct val="70000"/>
              </a:lnSpc>
              <a:spcBef>
                <a:spcPct val="50000"/>
              </a:spcBef>
              <a:spcAft>
                <a:spcPct val="0"/>
              </a:spcAft>
              <a:defRPr sz="1400" kern="1200">
                <a:solidFill>
                  <a:schemeClr val="tx1"/>
                </a:solidFill>
                <a:latin typeface="Courier New" pitchFamily="49" charset="0"/>
                <a:ea typeface="+mn-ea"/>
                <a:cs typeface="+mn-cs"/>
              </a:defRPr>
            </a:lvl1pPr>
            <a:lvl2pPr marL="457200" algn="l" rtl="0" fontAlgn="base">
              <a:lnSpc>
                <a:spcPct val="70000"/>
              </a:lnSpc>
              <a:spcBef>
                <a:spcPct val="50000"/>
              </a:spcBef>
              <a:spcAft>
                <a:spcPct val="0"/>
              </a:spcAft>
              <a:defRPr sz="1400" kern="1200">
                <a:solidFill>
                  <a:schemeClr val="tx1"/>
                </a:solidFill>
                <a:latin typeface="Courier New" pitchFamily="49" charset="0"/>
                <a:ea typeface="+mn-ea"/>
                <a:cs typeface="+mn-cs"/>
              </a:defRPr>
            </a:lvl2pPr>
            <a:lvl3pPr marL="914400" algn="l" rtl="0" fontAlgn="base">
              <a:lnSpc>
                <a:spcPct val="70000"/>
              </a:lnSpc>
              <a:spcBef>
                <a:spcPct val="50000"/>
              </a:spcBef>
              <a:spcAft>
                <a:spcPct val="0"/>
              </a:spcAft>
              <a:defRPr sz="1400" kern="1200">
                <a:solidFill>
                  <a:schemeClr val="tx1"/>
                </a:solidFill>
                <a:latin typeface="Courier New" pitchFamily="49" charset="0"/>
                <a:ea typeface="+mn-ea"/>
                <a:cs typeface="+mn-cs"/>
              </a:defRPr>
            </a:lvl3pPr>
            <a:lvl4pPr marL="1371600" algn="l" rtl="0" fontAlgn="base">
              <a:lnSpc>
                <a:spcPct val="70000"/>
              </a:lnSpc>
              <a:spcBef>
                <a:spcPct val="50000"/>
              </a:spcBef>
              <a:spcAft>
                <a:spcPct val="0"/>
              </a:spcAft>
              <a:defRPr sz="1400" kern="1200">
                <a:solidFill>
                  <a:schemeClr val="tx1"/>
                </a:solidFill>
                <a:latin typeface="Courier New" pitchFamily="49" charset="0"/>
                <a:ea typeface="+mn-ea"/>
                <a:cs typeface="+mn-cs"/>
              </a:defRPr>
            </a:lvl4pPr>
            <a:lvl5pPr marL="1828800" algn="l" rtl="0" fontAlgn="base">
              <a:lnSpc>
                <a:spcPct val="70000"/>
              </a:lnSpc>
              <a:spcBef>
                <a:spcPct val="50000"/>
              </a:spcBef>
              <a:spcAft>
                <a:spcPct val="0"/>
              </a:spcAft>
              <a:defRPr sz="1400" kern="1200">
                <a:solidFill>
                  <a:schemeClr val="tx1"/>
                </a:solidFill>
                <a:latin typeface="Courier New" pitchFamily="49" charset="0"/>
                <a:ea typeface="+mn-ea"/>
                <a:cs typeface="+mn-cs"/>
              </a:defRPr>
            </a:lvl5pPr>
            <a:lvl6pPr marL="2286000" algn="l" defTabSz="914400" rtl="0" eaLnBrk="1" latinLnBrk="0" hangingPunct="1">
              <a:defRPr sz="1400" kern="1200">
                <a:solidFill>
                  <a:schemeClr val="tx1"/>
                </a:solidFill>
                <a:latin typeface="Courier New" pitchFamily="49" charset="0"/>
                <a:ea typeface="+mn-ea"/>
                <a:cs typeface="+mn-cs"/>
              </a:defRPr>
            </a:lvl6pPr>
            <a:lvl7pPr marL="2743200" algn="l" defTabSz="914400" rtl="0" eaLnBrk="1" latinLnBrk="0" hangingPunct="1">
              <a:defRPr sz="1400" kern="1200">
                <a:solidFill>
                  <a:schemeClr val="tx1"/>
                </a:solidFill>
                <a:latin typeface="Courier New" pitchFamily="49" charset="0"/>
                <a:ea typeface="+mn-ea"/>
                <a:cs typeface="+mn-cs"/>
              </a:defRPr>
            </a:lvl7pPr>
            <a:lvl8pPr marL="3200400" algn="l" defTabSz="914400" rtl="0" eaLnBrk="1" latinLnBrk="0" hangingPunct="1">
              <a:defRPr sz="1400" kern="1200">
                <a:solidFill>
                  <a:schemeClr val="tx1"/>
                </a:solidFill>
                <a:latin typeface="Courier New" pitchFamily="49" charset="0"/>
                <a:ea typeface="+mn-ea"/>
                <a:cs typeface="+mn-cs"/>
              </a:defRPr>
            </a:lvl8pPr>
            <a:lvl9pPr marL="3657600" algn="l" defTabSz="914400" rtl="0" eaLnBrk="1" latinLnBrk="0" hangingPunct="1">
              <a:defRPr sz="1400" kern="1200">
                <a:solidFill>
                  <a:schemeClr val="tx1"/>
                </a:solidFill>
                <a:latin typeface="Courier New" pitchFamily="49" charset="0"/>
                <a:ea typeface="+mn-ea"/>
                <a:cs typeface="+mn-cs"/>
              </a:defRPr>
            </a:lvl9pPr>
          </a:lstStyle>
          <a:p>
            <a:pPr marL="341313" indent="-341313">
              <a:lnSpc>
                <a:spcPct val="100000"/>
              </a:lnSpc>
              <a:spcBef>
                <a:spcPts val="0"/>
              </a:spcBef>
              <a:buFont typeface="Wingdings" pitchFamily="2" charset="2"/>
              <a:buChar char="Ø"/>
            </a:pPr>
            <a:r>
              <a:rPr lang="en-US" sz="1800" dirty="0">
                <a:latin typeface="Calibri" pitchFamily="34" charset="0"/>
                <a:cs typeface="Calibri" pitchFamily="34" charset="0"/>
              </a:rPr>
              <a:t>For example: </a:t>
            </a:r>
          </a:p>
        </p:txBody>
      </p:sp>
      <p:pic>
        <p:nvPicPr>
          <p:cNvPr id="14" name="Picture 13">
            <a:extLst>
              <a:ext uri="{FF2B5EF4-FFF2-40B4-BE49-F238E27FC236}">
                <a16:creationId xmlns:a16="http://schemas.microsoft.com/office/drawing/2014/main" id="{00E859C8-6391-48FE-BFF4-98BA261A60CA}"/>
              </a:ext>
            </a:extLst>
          </p:cNvPr>
          <p:cNvPicPr>
            <a:picLocks noChangeAspect="1"/>
          </p:cNvPicPr>
          <p:nvPr/>
        </p:nvPicPr>
        <p:blipFill>
          <a:blip r:embed="rId3"/>
          <a:stretch>
            <a:fillRect/>
          </a:stretch>
        </p:blipFill>
        <p:spPr>
          <a:xfrm>
            <a:off x="304799" y="1187657"/>
            <a:ext cx="5427643" cy="1573230"/>
          </a:xfrm>
          <a:prstGeom prst="rect">
            <a:avLst/>
          </a:prstGeom>
        </p:spPr>
      </p:pic>
      <p:pic>
        <p:nvPicPr>
          <p:cNvPr id="16" name="Picture 15">
            <a:extLst>
              <a:ext uri="{FF2B5EF4-FFF2-40B4-BE49-F238E27FC236}">
                <a16:creationId xmlns:a16="http://schemas.microsoft.com/office/drawing/2014/main" id="{6FFA516E-BFD6-43C8-8808-E66B0AF9F9B7}"/>
              </a:ext>
            </a:extLst>
          </p:cNvPr>
          <p:cNvPicPr>
            <a:picLocks noChangeAspect="1"/>
          </p:cNvPicPr>
          <p:nvPr/>
        </p:nvPicPr>
        <p:blipFill>
          <a:blip r:embed="rId4"/>
          <a:stretch>
            <a:fillRect/>
          </a:stretch>
        </p:blipFill>
        <p:spPr>
          <a:xfrm>
            <a:off x="348590" y="2966336"/>
            <a:ext cx="5383851" cy="1211367"/>
          </a:xfrm>
          <a:prstGeom prst="rect">
            <a:avLst/>
          </a:prstGeom>
        </p:spPr>
      </p:pic>
      <p:pic>
        <p:nvPicPr>
          <p:cNvPr id="18" name="Picture 17">
            <a:extLst>
              <a:ext uri="{FF2B5EF4-FFF2-40B4-BE49-F238E27FC236}">
                <a16:creationId xmlns:a16="http://schemas.microsoft.com/office/drawing/2014/main" id="{54EA7503-7220-4EE8-ADFF-1B893FFCE935}"/>
              </a:ext>
            </a:extLst>
          </p:cNvPr>
          <p:cNvPicPr>
            <a:picLocks noChangeAspect="1"/>
          </p:cNvPicPr>
          <p:nvPr/>
        </p:nvPicPr>
        <p:blipFill>
          <a:blip r:embed="rId5"/>
          <a:stretch>
            <a:fillRect/>
          </a:stretch>
        </p:blipFill>
        <p:spPr>
          <a:xfrm>
            <a:off x="5867400" y="1207532"/>
            <a:ext cx="3120141" cy="2138082"/>
          </a:xfrm>
          <a:prstGeom prst="rect">
            <a:avLst/>
          </a:prstGeom>
        </p:spPr>
      </p:pic>
      <p:pic>
        <p:nvPicPr>
          <p:cNvPr id="22" name="Picture 21">
            <a:extLst>
              <a:ext uri="{FF2B5EF4-FFF2-40B4-BE49-F238E27FC236}">
                <a16:creationId xmlns:a16="http://schemas.microsoft.com/office/drawing/2014/main" id="{C4CB029A-F3EC-4110-8EC2-8BCEBDEBFB93}"/>
              </a:ext>
            </a:extLst>
          </p:cNvPr>
          <p:cNvPicPr>
            <a:picLocks noChangeAspect="1"/>
          </p:cNvPicPr>
          <p:nvPr/>
        </p:nvPicPr>
        <p:blipFill>
          <a:blip r:embed="rId6"/>
          <a:stretch>
            <a:fillRect/>
          </a:stretch>
        </p:blipFill>
        <p:spPr>
          <a:xfrm>
            <a:off x="891221" y="4541936"/>
            <a:ext cx="7361558" cy="1691787"/>
          </a:xfrm>
          <a:prstGeom prst="rect">
            <a:avLst/>
          </a:prstGeom>
        </p:spPr>
      </p:pic>
    </p:spTree>
    <p:extLst>
      <p:ext uri="{BB962C8B-B14F-4D97-AF65-F5344CB8AC3E}">
        <p14:creationId xmlns:p14="http://schemas.microsoft.com/office/powerpoint/2010/main" val="356288056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
            <a:ext cx="4199255" cy="635635"/>
          </a:xfrm>
          <a:prstGeom prst="rect">
            <a:avLst/>
          </a:prstGeom>
        </p:spPr>
        <p:txBody>
          <a:bodyPr vert="horz" wrap="square" lIns="0" tIns="12700" rIns="0" bIns="0" rtlCol="0">
            <a:spAutoFit/>
          </a:bodyPr>
          <a:lstStyle/>
          <a:p>
            <a:pPr marL="12700">
              <a:lnSpc>
                <a:spcPct val="100000"/>
              </a:lnSpc>
              <a:spcBef>
                <a:spcPts val="100"/>
              </a:spcBef>
            </a:pPr>
            <a:r>
              <a:rPr spc="170" dirty="0"/>
              <a:t>EXCEPT</a:t>
            </a:r>
            <a:r>
              <a:rPr spc="-254" dirty="0"/>
              <a:t> </a:t>
            </a:r>
            <a:r>
              <a:rPr spc="210" dirty="0"/>
              <a:t>Operator</a:t>
            </a:r>
          </a:p>
        </p:txBody>
      </p:sp>
      <p:sp>
        <p:nvSpPr>
          <p:cNvPr id="3" name="object 3"/>
          <p:cNvSpPr/>
          <p:nvPr/>
        </p:nvSpPr>
        <p:spPr>
          <a:xfrm>
            <a:off x="381000" y="914401"/>
            <a:ext cx="8382000" cy="1752600"/>
          </a:xfrm>
          <a:custGeom>
            <a:avLst/>
            <a:gdLst/>
            <a:ahLst/>
            <a:cxnLst/>
            <a:rect l="l" t="t" r="r" b="b"/>
            <a:pathLst>
              <a:path w="8382000" h="3988435">
                <a:moveTo>
                  <a:pt x="8382000" y="664718"/>
                </a:moveTo>
                <a:lnTo>
                  <a:pt x="8380323" y="617245"/>
                </a:lnTo>
                <a:lnTo>
                  <a:pt x="8375396" y="570674"/>
                </a:lnTo>
                <a:lnTo>
                  <a:pt x="8367306" y="525106"/>
                </a:lnTo>
                <a:lnTo>
                  <a:pt x="8356193" y="480682"/>
                </a:lnTo>
                <a:lnTo>
                  <a:pt x="8342147" y="437489"/>
                </a:lnTo>
                <a:lnTo>
                  <a:pt x="8325294" y="395643"/>
                </a:lnTo>
                <a:lnTo>
                  <a:pt x="8305736" y="355257"/>
                </a:lnTo>
                <a:lnTo>
                  <a:pt x="8283588" y="316458"/>
                </a:lnTo>
                <a:lnTo>
                  <a:pt x="8258962" y="279336"/>
                </a:lnTo>
                <a:lnTo>
                  <a:pt x="8231975" y="244030"/>
                </a:lnTo>
                <a:lnTo>
                  <a:pt x="8202739" y="210629"/>
                </a:lnTo>
                <a:lnTo>
                  <a:pt x="8171370" y="179260"/>
                </a:lnTo>
                <a:lnTo>
                  <a:pt x="8137969" y="150025"/>
                </a:lnTo>
                <a:lnTo>
                  <a:pt x="8102663" y="123037"/>
                </a:lnTo>
                <a:lnTo>
                  <a:pt x="8065541" y="98412"/>
                </a:lnTo>
                <a:lnTo>
                  <a:pt x="8026743" y="76263"/>
                </a:lnTo>
                <a:lnTo>
                  <a:pt x="7986357" y="56705"/>
                </a:lnTo>
                <a:lnTo>
                  <a:pt x="7944510" y="39852"/>
                </a:lnTo>
                <a:lnTo>
                  <a:pt x="7901318" y="25806"/>
                </a:lnTo>
                <a:lnTo>
                  <a:pt x="7856893" y="14693"/>
                </a:lnTo>
                <a:lnTo>
                  <a:pt x="7811325" y="6604"/>
                </a:lnTo>
                <a:lnTo>
                  <a:pt x="7764754" y="1676"/>
                </a:lnTo>
                <a:lnTo>
                  <a:pt x="7717282" y="0"/>
                </a:lnTo>
                <a:lnTo>
                  <a:pt x="664730" y="0"/>
                </a:lnTo>
                <a:lnTo>
                  <a:pt x="617258" y="1676"/>
                </a:lnTo>
                <a:lnTo>
                  <a:pt x="570687" y="6604"/>
                </a:lnTo>
                <a:lnTo>
                  <a:pt x="525119" y="14693"/>
                </a:lnTo>
                <a:lnTo>
                  <a:pt x="480695" y="25806"/>
                </a:lnTo>
                <a:lnTo>
                  <a:pt x="437502" y="39852"/>
                </a:lnTo>
                <a:lnTo>
                  <a:pt x="395655" y="56705"/>
                </a:lnTo>
                <a:lnTo>
                  <a:pt x="355269" y="76263"/>
                </a:lnTo>
                <a:lnTo>
                  <a:pt x="316471" y="98412"/>
                </a:lnTo>
                <a:lnTo>
                  <a:pt x="279349" y="123037"/>
                </a:lnTo>
                <a:lnTo>
                  <a:pt x="244043" y="150025"/>
                </a:lnTo>
                <a:lnTo>
                  <a:pt x="210642" y="179260"/>
                </a:lnTo>
                <a:lnTo>
                  <a:pt x="179260" y="210629"/>
                </a:lnTo>
                <a:lnTo>
                  <a:pt x="150025" y="244030"/>
                </a:lnTo>
                <a:lnTo>
                  <a:pt x="123037" y="279336"/>
                </a:lnTo>
                <a:lnTo>
                  <a:pt x="98412" y="316458"/>
                </a:lnTo>
                <a:lnTo>
                  <a:pt x="76263" y="355257"/>
                </a:lnTo>
                <a:lnTo>
                  <a:pt x="56705" y="395643"/>
                </a:lnTo>
                <a:lnTo>
                  <a:pt x="39839" y="437489"/>
                </a:lnTo>
                <a:lnTo>
                  <a:pt x="25793" y="480682"/>
                </a:lnTo>
                <a:lnTo>
                  <a:pt x="14681" y="525106"/>
                </a:lnTo>
                <a:lnTo>
                  <a:pt x="6591" y="570674"/>
                </a:lnTo>
                <a:lnTo>
                  <a:pt x="1663" y="617245"/>
                </a:lnTo>
                <a:lnTo>
                  <a:pt x="0" y="664718"/>
                </a:lnTo>
                <a:lnTo>
                  <a:pt x="0" y="3323590"/>
                </a:lnTo>
                <a:lnTo>
                  <a:pt x="1663" y="3371075"/>
                </a:lnTo>
                <a:lnTo>
                  <a:pt x="6591" y="3417646"/>
                </a:lnTo>
                <a:lnTo>
                  <a:pt x="14681" y="3463213"/>
                </a:lnTo>
                <a:lnTo>
                  <a:pt x="25793" y="3507638"/>
                </a:lnTo>
                <a:lnTo>
                  <a:pt x="39839" y="3550831"/>
                </a:lnTo>
                <a:lnTo>
                  <a:pt x="56705" y="3592677"/>
                </a:lnTo>
                <a:lnTo>
                  <a:pt x="76263" y="3633063"/>
                </a:lnTo>
                <a:lnTo>
                  <a:pt x="98412" y="3671862"/>
                </a:lnTo>
                <a:lnTo>
                  <a:pt x="123037" y="3708984"/>
                </a:lnTo>
                <a:lnTo>
                  <a:pt x="150025" y="3744290"/>
                </a:lnTo>
                <a:lnTo>
                  <a:pt x="179260" y="3777691"/>
                </a:lnTo>
                <a:lnTo>
                  <a:pt x="210642" y="3809060"/>
                </a:lnTo>
                <a:lnTo>
                  <a:pt x="244043" y="3838295"/>
                </a:lnTo>
                <a:lnTo>
                  <a:pt x="279349" y="3865283"/>
                </a:lnTo>
                <a:lnTo>
                  <a:pt x="316471" y="3889908"/>
                </a:lnTo>
                <a:lnTo>
                  <a:pt x="355269" y="3912057"/>
                </a:lnTo>
                <a:lnTo>
                  <a:pt x="395655" y="3931615"/>
                </a:lnTo>
                <a:lnTo>
                  <a:pt x="437502" y="3948468"/>
                </a:lnTo>
                <a:lnTo>
                  <a:pt x="480695" y="3962514"/>
                </a:lnTo>
                <a:lnTo>
                  <a:pt x="525119" y="3973626"/>
                </a:lnTo>
                <a:lnTo>
                  <a:pt x="570687" y="3981716"/>
                </a:lnTo>
                <a:lnTo>
                  <a:pt x="617258" y="3986644"/>
                </a:lnTo>
                <a:lnTo>
                  <a:pt x="664730" y="3988308"/>
                </a:lnTo>
                <a:lnTo>
                  <a:pt x="7717282" y="3988308"/>
                </a:lnTo>
                <a:lnTo>
                  <a:pt x="7764754" y="3986644"/>
                </a:lnTo>
                <a:lnTo>
                  <a:pt x="7811325" y="3981716"/>
                </a:lnTo>
                <a:lnTo>
                  <a:pt x="7856893" y="3973626"/>
                </a:lnTo>
                <a:lnTo>
                  <a:pt x="7901318" y="3962514"/>
                </a:lnTo>
                <a:lnTo>
                  <a:pt x="7944510" y="3948468"/>
                </a:lnTo>
                <a:lnTo>
                  <a:pt x="7986357" y="3931615"/>
                </a:lnTo>
                <a:lnTo>
                  <a:pt x="8026743" y="3912057"/>
                </a:lnTo>
                <a:lnTo>
                  <a:pt x="8065541" y="3889908"/>
                </a:lnTo>
                <a:lnTo>
                  <a:pt x="8102663" y="3865283"/>
                </a:lnTo>
                <a:lnTo>
                  <a:pt x="8137969" y="3838295"/>
                </a:lnTo>
                <a:lnTo>
                  <a:pt x="8171370" y="3809060"/>
                </a:lnTo>
                <a:lnTo>
                  <a:pt x="8202739" y="3777691"/>
                </a:lnTo>
                <a:lnTo>
                  <a:pt x="8231975" y="3744290"/>
                </a:lnTo>
                <a:lnTo>
                  <a:pt x="8258962" y="3708984"/>
                </a:lnTo>
                <a:lnTo>
                  <a:pt x="8283588" y="3671862"/>
                </a:lnTo>
                <a:lnTo>
                  <a:pt x="8305736" y="3633063"/>
                </a:lnTo>
                <a:lnTo>
                  <a:pt x="8325294" y="3592677"/>
                </a:lnTo>
                <a:lnTo>
                  <a:pt x="8342147" y="3550831"/>
                </a:lnTo>
                <a:lnTo>
                  <a:pt x="8356193" y="3507638"/>
                </a:lnTo>
                <a:lnTo>
                  <a:pt x="8367306" y="3463213"/>
                </a:lnTo>
                <a:lnTo>
                  <a:pt x="8375396" y="3417646"/>
                </a:lnTo>
                <a:lnTo>
                  <a:pt x="8380323" y="3371075"/>
                </a:lnTo>
                <a:lnTo>
                  <a:pt x="8382000" y="3323590"/>
                </a:lnTo>
                <a:lnTo>
                  <a:pt x="8382000" y="3016758"/>
                </a:lnTo>
                <a:lnTo>
                  <a:pt x="8382000" y="971550"/>
                </a:lnTo>
                <a:lnTo>
                  <a:pt x="8382000" y="664718"/>
                </a:lnTo>
                <a:close/>
              </a:path>
            </a:pathLst>
          </a:custGeom>
          <a:solidFill>
            <a:srgbClr val="4AACC5"/>
          </a:solidFill>
        </p:spPr>
        <p:txBody>
          <a:bodyPr wrap="square" lIns="0" tIns="0" rIns="0" bIns="0" rtlCol="0"/>
          <a:lstStyle/>
          <a:p>
            <a:endParaRPr/>
          </a:p>
        </p:txBody>
      </p:sp>
      <p:sp>
        <p:nvSpPr>
          <p:cNvPr id="4" name="object 4"/>
          <p:cNvSpPr txBox="1"/>
          <p:nvPr/>
        </p:nvSpPr>
        <p:spPr>
          <a:xfrm>
            <a:off x="685800" y="1054417"/>
            <a:ext cx="7848600" cy="1490152"/>
          </a:xfrm>
          <a:prstGeom prst="rect">
            <a:avLst/>
          </a:prstGeom>
        </p:spPr>
        <p:txBody>
          <a:bodyPr vert="horz" wrap="square" lIns="0" tIns="12700" rIns="0" bIns="0" rtlCol="0">
            <a:spAutoFit/>
          </a:bodyPr>
          <a:lstStyle/>
          <a:p>
            <a:pPr marL="355600" marR="5080" indent="-342900" algn="just">
              <a:lnSpc>
                <a:spcPct val="100000"/>
              </a:lnSpc>
              <a:spcBef>
                <a:spcPts val="100"/>
              </a:spcBef>
              <a:buFont typeface="Wingdings"/>
              <a:buChar char=""/>
              <a:tabLst>
                <a:tab pos="355600" algn="l"/>
              </a:tabLst>
            </a:pPr>
            <a:r>
              <a:rPr sz="2400" spc="160" dirty="0">
                <a:solidFill>
                  <a:srgbClr val="FFFFFF"/>
                </a:solidFill>
                <a:latin typeface="Times New Roman"/>
                <a:cs typeface="Times New Roman"/>
              </a:rPr>
              <a:t>The </a:t>
            </a:r>
            <a:r>
              <a:rPr sz="2400" spc="100" dirty="0">
                <a:solidFill>
                  <a:srgbClr val="FFFFFF"/>
                </a:solidFill>
                <a:latin typeface="Times New Roman"/>
                <a:cs typeface="Times New Roman"/>
              </a:rPr>
              <a:t>EXCEPT operator </a:t>
            </a:r>
            <a:r>
              <a:rPr sz="2400" spc="114" dirty="0">
                <a:solidFill>
                  <a:srgbClr val="FFFFFF"/>
                </a:solidFill>
                <a:latin typeface="Times New Roman"/>
                <a:cs typeface="Times New Roman"/>
              </a:rPr>
              <a:t>returns </a:t>
            </a:r>
            <a:r>
              <a:rPr sz="2400" spc="15" dirty="0">
                <a:solidFill>
                  <a:srgbClr val="FFFFFF"/>
                </a:solidFill>
                <a:latin typeface="Times New Roman"/>
                <a:cs typeface="Times New Roman"/>
              </a:rPr>
              <a:t>all </a:t>
            </a:r>
            <a:r>
              <a:rPr sz="2400" spc="70" dirty="0">
                <a:solidFill>
                  <a:srgbClr val="FFFFFF"/>
                </a:solidFill>
                <a:latin typeface="Times New Roman"/>
                <a:cs typeface="Times New Roman"/>
              </a:rPr>
              <a:t>of </a:t>
            </a:r>
            <a:r>
              <a:rPr sz="2400" spc="135" dirty="0">
                <a:solidFill>
                  <a:srgbClr val="FFFFFF"/>
                </a:solidFill>
                <a:latin typeface="Times New Roman"/>
                <a:cs typeface="Times New Roman"/>
              </a:rPr>
              <a:t>the  </a:t>
            </a:r>
            <a:r>
              <a:rPr sz="2400" spc="90" dirty="0">
                <a:solidFill>
                  <a:srgbClr val="FFFFFF"/>
                </a:solidFill>
                <a:latin typeface="Times New Roman"/>
                <a:cs typeface="Times New Roman"/>
              </a:rPr>
              <a:t>distinct </a:t>
            </a:r>
            <a:r>
              <a:rPr sz="2400" spc="70" dirty="0">
                <a:solidFill>
                  <a:srgbClr val="FFFFFF"/>
                </a:solidFill>
                <a:latin typeface="Times New Roman"/>
                <a:cs typeface="Times New Roman"/>
              </a:rPr>
              <a:t>rows </a:t>
            </a:r>
            <a:r>
              <a:rPr sz="2400" spc="90" dirty="0">
                <a:solidFill>
                  <a:srgbClr val="FFFFFF"/>
                </a:solidFill>
                <a:latin typeface="Times New Roman"/>
                <a:cs typeface="Times New Roman"/>
              </a:rPr>
              <a:t>from </a:t>
            </a:r>
            <a:r>
              <a:rPr sz="2400" spc="135" dirty="0">
                <a:solidFill>
                  <a:srgbClr val="FFFFFF"/>
                </a:solidFill>
                <a:latin typeface="Times New Roman"/>
                <a:cs typeface="Times New Roman"/>
              </a:rPr>
              <a:t>the </a:t>
            </a:r>
            <a:r>
              <a:rPr sz="2400" spc="90" dirty="0">
                <a:solidFill>
                  <a:srgbClr val="FFFFFF"/>
                </a:solidFill>
                <a:latin typeface="Times New Roman"/>
                <a:cs typeface="Times New Roman"/>
              </a:rPr>
              <a:t>query </a:t>
            </a:r>
            <a:r>
              <a:rPr sz="2400" spc="60" dirty="0">
                <a:solidFill>
                  <a:srgbClr val="FFFFFF"/>
                </a:solidFill>
                <a:latin typeface="Times New Roman"/>
                <a:cs typeface="Times New Roman"/>
              </a:rPr>
              <a:t>given </a:t>
            </a:r>
            <a:r>
              <a:rPr sz="2400" spc="165" dirty="0">
                <a:solidFill>
                  <a:srgbClr val="FFFFFF"/>
                </a:solidFill>
                <a:latin typeface="Times New Roman"/>
                <a:cs typeface="Times New Roman"/>
              </a:rPr>
              <a:t>on </a:t>
            </a:r>
            <a:r>
              <a:rPr sz="2400" spc="55" dirty="0">
                <a:solidFill>
                  <a:srgbClr val="FFFFFF"/>
                </a:solidFill>
                <a:latin typeface="Times New Roman"/>
                <a:cs typeface="Times New Roman"/>
              </a:rPr>
              <a:t>left </a:t>
            </a:r>
            <a:r>
              <a:rPr sz="2400" spc="65" dirty="0">
                <a:solidFill>
                  <a:srgbClr val="FFFFFF"/>
                </a:solidFill>
                <a:latin typeface="Times New Roman"/>
                <a:cs typeface="Times New Roman"/>
              </a:rPr>
              <a:t>of  </a:t>
            </a:r>
            <a:r>
              <a:rPr sz="2400" spc="135" dirty="0">
                <a:solidFill>
                  <a:srgbClr val="FFFFFF"/>
                </a:solidFill>
                <a:latin typeface="Times New Roman"/>
                <a:cs typeface="Times New Roman"/>
              </a:rPr>
              <a:t>the </a:t>
            </a:r>
            <a:r>
              <a:rPr sz="2400" spc="100" dirty="0">
                <a:solidFill>
                  <a:srgbClr val="FFFFFF"/>
                </a:solidFill>
                <a:latin typeface="Times New Roman"/>
                <a:cs typeface="Times New Roman"/>
              </a:rPr>
              <a:t>EXCEPT operator </a:t>
            </a:r>
            <a:r>
              <a:rPr sz="2400" spc="135" dirty="0">
                <a:solidFill>
                  <a:srgbClr val="FFFFFF"/>
                </a:solidFill>
                <a:latin typeface="Times New Roman"/>
                <a:cs typeface="Times New Roman"/>
              </a:rPr>
              <a:t>and </a:t>
            </a:r>
            <a:r>
              <a:rPr sz="2400" spc="65" dirty="0">
                <a:solidFill>
                  <a:srgbClr val="FFFFFF"/>
                </a:solidFill>
                <a:latin typeface="Times New Roman"/>
                <a:cs typeface="Times New Roman"/>
              </a:rPr>
              <a:t>removes </a:t>
            </a:r>
            <a:r>
              <a:rPr sz="2400" spc="15" dirty="0">
                <a:solidFill>
                  <a:srgbClr val="FFFFFF"/>
                </a:solidFill>
                <a:latin typeface="Times New Roman"/>
                <a:cs typeface="Times New Roman"/>
              </a:rPr>
              <a:t>all </a:t>
            </a:r>
            <a:r>
              <a:rPr sz="2400" spc="70" dirty="0">
                <a:solidFill>
                  <a:srgbClr val="FFFFFF"/>
                </a:solidFill>
                <a:latin typeface="Times New Roman"/>
                <a:cs typeface="Times New Roman"/>
              </a:rPr>
              <a:t>rows  </a:t>
            </a:r>
            <a:r>
              <a:rPr sz="2400" spc="90" dirty="0">
                <a:solidFill>
                  <a:srgbClr val="FFFFFF"/>
                </a:solidFill>
                <a:latin typeface="Times New Roman"/>
                <a:cs typeface="Times New Roman"/>
              </a:rPr>
              <a:t>from </a:t>
            </a:r>
            <a:r>
              <a:rPr sz="2400" spc="135" dirty="0">
                <a:solidFill>
                  <a:srgbClr val="FFFFFF"/>
                </a:solidFill>
                <a:latin typeface="Times New Roman"/>
                <a:cs typeface="Times New Roman"/>
              </a:rPr>
              <a:t>the </a:t>
            </a:r>
            <a:r>
              <a:rPr sz="2400" spc="75" dirty="0">
                <a:solidFill>
                  <a:srgbClr val="FFFFFF"/>
                </a:solidFill>
                <a:latin typeface="Times New Roman"/>
                <a:cs typeface="Times New Roman"/>
              </a:rPr>
              <a:t>resultset </a:t>
            </a:r>
            <a:r>
              <a:rPr sz="2400" spc="140" dirty="0">
                <a:solidFill>
                  <a:srgbClr val="FFFFFF"/>
                </a:solidFill>
                <a:latin typeface="Times New Roman"/>
                <a:cs typeface="Times New Roman"/>
              </a:rPr>
              <a:t>that </a:t>
            </a:r>
            <a:r>
              <a:rPr sz="2400" spc="105" dirty="0">
                <a:solidFill>
                  <a:srgbClr val="FFFFFF"/>
                </a:solidFill>
                <a:latin typeface="Times New Roman"/>
                <a:cs typeface="Times New Roman"/>
              </a:rPr>
              <a:t>match </a:t>
            </a:r>
            <a:r>
              <a:rPr sz="2400" spc="70" dirty="0">
                <a:solidFill>
                  <a:srgbClr val="FFFFFF"/>
                </a:solidFill>
                <a:latin typeface="Times New Roman"/>
                <a:cs typeface="Times New Roman"/>
              </a:rPr>
              <a:t>rows </a:t>
            </a:r>
            <a:r>
              <a:rPr sz="2400" spc="165" dirty="0">
                <a:solidFill>
                  <a:srgbClr val="FFFFFF"/>
                </a:solidFill>
                <a:latin typeface="Times New Roman"/>
                <a:cs typeface="Times New Roman"/>
              </a:rPr>
              <a:t>on </a:t>
            </a:r>
            <a:r>
              <a:rPr sz="2400" spc="85" dirty="0">
                <a:solidFill>
                  <a:srgbClr val="FFFFFF"/>
                </a:solidFill>
                <a:latin typeface="Times New Roman"/>
                <a:cs typeface="Times New Roman"/>
              </a:rPr>
              <a:t>right </a:t>
            </a:r>
            <a:r>
              <a:rPr sz="2400" spc="70" dirty="0">
                <a:solidFill>
                  <a:srgbClr val="FFFFFF"/>
                </a:solidFill>
                <a:latin typeface="Times New Roman"/>
                <a:cs typeface="Times New Roman"/>
              </a:rPr>
              <a:t>of  </a:t>
            </a:r>
            <a:r>
              <a:rPr sz="2400" spc="135" dirty="0">
                <a:solidFill>
                  <a:srgbClr val="FFFFFF"/>
                </a:solidFill>
                <a:latin typeface="Times New Roman"/>
                <a:cs typeface="Times New Roman"/>
              </a:rPr>
              <a:t>the </a:t>
            </a:r>
            <a:r>
              <a:rPr sz="2400" spc="100" dirty="0">
                <a:solidFill>
                  <a:srgbClr val="FFFFFF"/>
                </a:solidFill>
                <a:latin typeface="Times New Roman"/>
                <a:cs typeface="Times New Roman"/>
              </a:rPr>
              <a:t>EXCEPT</a:t>
            </a:r>
            <a:r>
              <a:rPr sz="2400" spc="-325" dirty="0">
                <a:solidFill>
                  <a:srgbClr val="FFFFFF"/>
                </a:solidFill>
                <a:latin typeface="Times New Roman"/>
                <a:cs typeface="Times New Roman"/>
              </a:rPr>
              <a:t> </a:t>
            </a:r>
            <a:r>
              <a:rPr sz="2400" spc="90" dirty="0">
                <a:solidFill>
                  <a:srgbClr val="FFFFFF"/>
                </a:solidFill>
                <a:latin typeface="Times New Roman"/>
                <a:cs typeface="Times New Roman"/>
              </a:rPr>
              <a:t>operator.</a:t>
            </a:r>
            <a:endParaRPr sz="2400">
              <a:latin typeface="Times New Roman"/>
              <a:cs typeface="Times New Roman"/>
            </a:endParaRPr>
          </a:p>
        </p:txBody>
      </p:sp>
      <p:sp>
        <p:nvSpPr>
          <p:cNvPr id="6" name="object 6"/>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04" baseline="4629" dirty="0"/>
              <a:t>9/</a:t>
            </a:r>
            <a:r>
              <a:rPr sz="1800" spc="-262" baseline="4629" dirty="0"/>
              <a:t> </a:t>
            </a:r>
            <a:fld id="{81D60167-4931-47E6-BA6A-407CBD079E47}" type="slidenum">
              <a:rPr sz="1200" spc="15" dirty="0"/>
              <a:t>44</a:t>
            </a:fld>
            <a:endParaRPr sz="1200"/>
          </a:p>
        </p:txBody>
      </p:sp>
      <p:sp>
        <p:nvSpPr>
          <p:cNvPr id="7" name="object 7"/>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8" name="Rounded Rectangle 8">
            <a:extLst>
              <a:ext uri="{FF2B5EF4-FFF2-40B4-BE49-F238E27FC236}">
                <a16:creationId xmlns:a16="http://schemas.microsoft.com/office/drawing/2014/main" id="{C355BFBB-5EA8-4AF6-A906-A9CF7F179685}"/>
              </a:ext>
            </a:extLst>
          </p:cNvPr>
          <p:cNvSpPr/>
          <p:nvPr/>
        </p:nvSpPr>
        <p:spPr>
          <a:xfrm>
            <a:off x="533400" y="3107722"/>
            <a:ext cx="1066800" cy="381000"/>
          </a:xfrm>
          <a:prstGeom prst="roundRect">
            <a:avLst/>
          </a:prstGeom>
        </p:spPr>
        <p:style>
          <a:lnRef idx="0">
            <a:schemeClr val="accent5"/>
          </a:lnRef>
          <a:fillRef idx="3">
            <a:schemeClr val="accent5"/>
          </a:fillRef>
          <a:effectRef idx="3">
            <a:schemeClr val="accent5"/>
          </a:effectRef>
          <a:fontRef idx="minor">
            <a:schemeClr val="lt1"/>
          </a:fontRef>
        </p:style>
        <p:txBody>
          <a:bodyPr rtlCol="0" anchor="ctr"/>
          <a:lstStyle/>
          <a:p>
            <a:r>
              <a:rPr lang="en-US" sz="1600" b="1" dirty="0"/>
              <a:t>Syntax:</a:t>
            </a:r>
          </a:p>
        </p:txBody>
      </p:sp>
      <p:sp>
        <p:nvSpPr>
          <p:cNvPr id="9" name="TextBox 8">
            <a:extLst>
              <a:ext uri="{FF2B5EF4-FFF2-40B4-BE49-F238E27FC236}">
                <a16:creationId xmlns:a16="http://schemas.microsoft.com/office/drawing/2014/main" id="{FD346D64-E1CC-40AB-981D-2B86FAC89D1F}"/>
              </a:ext>
            </a:extLst>
          </p:cNvPr>
          <p:cNvSpPr txBox="1"/>
          <p:nvPr/>
        </p:nvSpPr>
        <p:spPr>
          <a:xfrm>
            <a:off x="1905000" y="3061144"/>
            <a:ext cx="2743200" cy="1036181"/>
          </a:xfrm>
          <a:prstGeom prst="rect">
            <a:avLst/>
          </a:prstGeom>
          <a:solidFill>
            <a:schemeClr val="accent1">
              <a:lumMod val="60000"/>
              <a:lumOff val="40000"/>
            </a:schemeClr>
          </a:solidFill>
          <a:ln>
            <a:solidFill>
              <a:schemeClr val="tx1"/>
            </a:solidFill>
          </a:ln>
        </p:spPr>
        <p:txBody>
          <a:bodyPr wrap="square" rtlCol="0">
            <a:spAutoFit/>
          </a:bodyPr>
          <a:lstStyle/>
          <a:p>
            <a:pPr>
              <a:lnSpc>
                <a:spcPct val="100000"/>
              </a:lnSpc>
              <a:spcBef>
                <a:spcPts val="800"/>
              </a:spcBef>
            </a:pPr>
            <a:r>
              <a:rPr lang="en-US" sz="1600" dirty="0"/>
              <a:t>Query_statement1</a:t>
            </a:r>
          </a:p>
          <a:p>
            <a:pPr>
              <a:lnSpc>
                <a:spcPct val="100000"/>
              </a:lnSpc>
              <a:spcBef>
                <a:spcPts val="800"/>
              </a:spcBef>
            </a:pPr>
            <a:r>
              <a:rPr lang="en-US" sz="1600" dirty="0"/>
              <a:t>EXCEPT</a:t>
            </a:r>
          </a:p>
          <a:p>
            <a:pPr>
              <a:lnSpc>
                <a:spcPct val="100000"/>
              </a:lnSpc>
              <a:spcBef>
                <a:spcPts val="800"/>
              </a:spcBef>
            </a:pPr>
            <a:r>
              <a:rPr lang="en-US" sz="1600" dirty="0"/>
              <a:t>Query_statement2</a:t>
            </a:r>
            <a:endParaRPr lang="en-US" dirty="0"/>
          </a:p>
        </p:txBody>
      </p:sp>
      <p:sp>
        <p:nvSpPr>
          <p:cNvPr id="10" name="TextBox 9">
            <a:extLst>
              <a:ext uri="{FF2B5EF4-FFF2-40B4-BE49-F238E27FC236}">
                <a16:creationId xmlns:a16="http://schemas.microsoft.com/office/drawing/2014/main" id="{7A09152A-A55F-4637-83F4-2FB0ABD5EE01}"/>
              </a:ext>
            </a:extLst>
          </p:cNvPr>
          <p:cNvSpPr txBox="1"/>
          <p:nvPr/>
        </p:nvSpPr>
        <p:spPr>
          <a:xfrm>
            <a:off x="190500" y="4427147"/>
            <a:ext cx="8534400" cy="646331"/>
          </a:xfrm>
          <a:prstGeom prst="rect">
            <a:avLst/>
          </a:prstGeom>
          <a:noFill/>
        </p:spPr>
        <p:txBody>
          <a:bodyPr wrap="square" rtlCol="0">
            <a:spAutoFit/>
          </a:bodyPr>
          <a:lstStyle/>
          <a:p>
            <a:pPr marL="341313" indent="-341313">
              <a:lnSpc>
                <a:spcPct val="100000"/>
              </a:lnSpc>
              <a:spcBef>
                <a:spcPts val="0"/>
              </a:spcBef>
              <a:buFont typeface="Wingdings" pitchFamily="2" charset="2"/>
              <a:buChar char="Ø"/>
            </a:pPr>
            <a:r>
              <a:rPr lang="en-US" sz="1800" dirty="0">
                <a:latin typeface="Calibri" pitchFamily="34" charset="0"/>
                <a:cs typeface="Calibri" pitchFamily="34" charset="0"/>
              </a:rPr>
              <a:t>The two rules that apply to </a:t>
            </a:r>
            <a:r>
              <a:rPr lang="en-US" sz="1800" dirty="0">
                <a:cs typeface="Courier New" pitchFamily="49" charset="0"/>
              </a:rPr>
              <a:t>INTERSECT </a:t>
            </a:r>
            <a:r>
              <a:rPr lang="en-US" sz="1800" dirty="0">
                <a:latin typeface="Calibri" pitchFamily="34" charset="0"/>
                <a:cs typeface="Calibri" pitchFamily="34" charset="0"/>
              </a:rPr>
              <a:t>operator are also applicable for </a:t>
            </a:r>
            <a:r>
              <a:rPr lang="en-US" sz="1800" dirty="0">
                <a:cs typeface="Courier New" pitchFamily="49" charset="0"/>
              </a:rPr>
              <a:t>EXCEPT</a:t>
            </a:r>
            <a:r>
              <a:rPr lang="en-US" sz="1800" dirty="0">
                <a:latin typeface="Calibri" pitchFamily="34" charset="0"/>
                <a:cs typeface="Calibri" pitchFamily="34" charset="0"/>
              </a:rPr>
              <a:t> operator.</a:t>
            </a:r>
          </a:p>
        </p:txBody>
      </p:sp>
      <p:sp>
        <p:nvSpPr>
          <p:cNvPr id="11" name="TextBox 10">
            <a:extLst>
              <a:ext uri="{FF2B5EF4-FFF2-40B4-BE49-F238E27FC236}">
                <a16:creationId xmlns:a16="http://schemas.microsoft.com/office/drawing/2014/main" id="{02D5BC7F-04DF-4FDD-89AD-D53D24270362}"/>
              </a:ext>
            </a:extLst>
          </p:cNvPr>
          <p:cNvSpPr txBox="1"/>
          <p:nvPr/>
        </p:nvSpPr>
        <p:spPr>
          <a:xfrm>
            <a:off x="152400" y="5199007"/>
            <a:ext cx="2171700" cy="369332"/>
          </a:xfrm>
          <a:prstGeom prst="rect">
            <a:avLst/>
          </a:prstGeom>
          <a:noFill/>
        </p:spPr>
        <p:txBody>
          <a:bodyPr wrap="square" rtlCol="0">
            <a:spAutoFit/>
          </a:bodyPr>
          <a:lstStyle/>
          <a:p>
            <a:pPr marL="341313" indent="-341313">
              <a:lnSpc>
                <a:spcPct val="100000"/>
              </a:lnSpc>
              <a:spcBef>
                <a:spcPts val="0"/>
              </a:spcBef>
              <a:buFont typeface="Wingdings" pitchFamily="2" charset="2"/>
              <a:buChar char="Ø"/>
            </a:pPr>
            <a:r>
              <a:rPr lang="en-US" sz="1800" dirty="0">
                <a:latin typeface="Calibri" pitchFamily="34" charset="0"/>
                <a:cs typeface="Calibri" pitchFamily="34" charset="0"/>
              </a:rPr>
              <a:t>For example: </a:t>
            </a:r>
          </a:p>
        </p:txBody>
      </p:sp>
      <p:sp>
        <p:nvSpPr>
          <p:cNvPr id="12" name="TextBox 11">
            <a:extLst>
              <a:ext uri="{FF2B5EF4-FFF2-40B4-BE49-F238E27FC236}">
                <a16:creationId xmlns:a16="http://schemas.microsoft.com/office/drawing/2014/main" id="{4171E188-911B-4E11-9F04-AE69F9E84C08}"/>
              </a:ext>
            </a:extLst>
          </p:cNvPr>
          <p:cNvSpPr txBox="1"/>
          <p:nvPr/>
        </p:nvSpPr>
        <p:spPr>
          <a:xfrm>
            <a:off x="1987731" y="5380752"/>
            <a:ext cx="5410200" cy="1036181"/>
          </a:xfrm>
          <a:prstGeom prst="rect">
            <a:avLst/>
          </a:prstGeom>
          <a:solidFill>
            <a:schemeClr val="accent1">
              <a:lumMod val="60000"/>
              <a:lumOff val="40000"/>
            </a:schemeClr>
          </a:solidFill>
          <a:ln>
            <a:solidFill>
              <a:schemeClr val="tx1"/>
            </a:solidFill>
          </a:ln>
        </p:spPr>
        <p:txBody>
          <a:bodyPr wrap="square" rtlCol="0">
            <a:spAutoFit/>
          </a:bodyPr>
          <a:lstStyle/>
          <a:p>
            <a:pPr>
              <a:lnSpc>
                <a:spcPct val="100000"/>
              </a:lnSpc>
              <a:spcBef>
                <a:spcPts val="800"/>
              </a:spcBef>
            </a:pPr>
            <a:r>
              <a:rPr lang="en-US" sz="1600" dirty="0"/>
              <a:t>SELECT </a:t>
            </a:r>
            <a:r>
              <a:rPr lang="en-US" sz="1600" dirty="0" err="1"/>
              <a:t>ProductId</a:t>
            </a:r>
            <a:r>
              <a:rPr lang="en-US" sz="1600" dirty="0"/>
              <a:t> FROM Product</a:t>
            </a:r>
          </a:p>
          <a:p>
            <a:pPr>
              <a:lnSpc>
                <a:spcPct val="100000"/>
              </a:lnSpc>
              <a:spcBef>
                <a:spcPts val="800"/>
              </a:spcBef>
            </a:pPr>
            <a:r>
              <a:rPr lang="en-US" sz="1600" dirty="0"/>
              <a:t>EXCEPT</a:t>
            </a:r>
          </a:p>
          <a:p>
            <a:pPr>
              <a:lnSpc>
                <a:spcPct val="100000"/>
              </a:lnSpc>
              <a:spcBef>
                <a:spcPts val="800"/>
              </a:spcBef>
            </a:pPr>
            <a:r>
              <a:rPr lang="en-US" sz="1600" dirty="0"/>
              <a:t>SELECT </a:t>
            </a:r>
            <a:r>
              <a:rPr lang="en-US" sz="1600" dirty="0" err="1"/>
              <a:t>ProductId</a:t>
            </a:r>
            <a:r>
              <a:rPr lang="en-US" sz="1600" dirty="0"/>
              <a:t> FROM </a:t>
            </a:r>
            <a:r>
              <a:rPr lang="en-US" sz="1600" dirty="0" err="1"/>
              <a:t>SalesOrderDetail</a:t>
            </a:r>
            <a:endParaRPr lang="en-US" sz="16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
            <a:ext cx="4199255" cy="635635"/>
          </a:xfrm>
          <a:prstGeom prst="rect">
            <a:avLst/>
          </a:prstGeom>
        </p:spPr>
        <p:txBody>
          <a:bodyPr vert="horz" wrap="square" lIns="0" tIns="12700" rIns="0" bIns="0" rtlCol="0">
            <a:spAutoFit/>
          </a:bodyPr>
          <a:lstStyle/>
          <a:p>
            <a:pPr marL="12700">
              <a:lnSpc>
                <a:spcPct val="100000"/>
              </a:lnSpc>
              <a:spcBef>
                <a:spcPts val="100"/>
              </a:spcBef>
            </a:pPr>
            <a:r>
              <a:rPr spc="170" dirty="0"/>
              <a:t>EXCEPT</a:t>
            </a:r>
            <a:r>
              <a:rPr spc="-254" dirty="0"/>
              <a:t> </a:t>
            </a:r>
            <a:r>
              <a:rPr spc="210" dirty="0"/>
              <a:t>Operator</a:t>
            </a:r>
          </a:p>
        </p:txBody>
      </p:sp>
      <p:sp>
        <p:nvSpPr>
          <p:cNvPr id="6" name="object 6"/>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04" baseline="4629" dirty="0"/>
              <a:t>9/</a:t>
            </a:r>
            <a:r>
              <a:rPr sz="1800" spc="-262" baseline="4629" dirty="0"/>
              <a:t> </a:t>
            </a:r>
            <a:fld id="{81D60167-4931-47E6-BA6A-407CBD079E47}" type="slidenum">
              <a:rPr sz="1200" spc="15" dirty="0"/>
              <a:t>45</a:t>
            </a:fld>
            <a:endParaRPr sz="1200"/>
          </a:p>
        </p:txBody>
      </p:sp>
      <p:sp>
        <p:nvSpPr>
          <p:cNvPr id="7" name="object 7"/>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pic>
        <p:nvPicPr>
          <p:cNvPr id="13" name="Picture 12">
            <a:extLst>
              <a:ext uri="{FF2B5EF4-FFF2-40B4-BE49-F238E27FC236}">
                <a16:creationId xmlns:a16="http://schemas.microsoft.com/office/drawing/2014/main" id="{CD34A852-2E5F-4F2A-9523-55AF85143D19}"/>
              </a:ext>
            </a:extLst>
          </p:cNvPr>
          <p:cNvPicPr>
            <a:picLocks noChangeAspect="1"/>
          </p:cNvPicPr>
          <p:nvPr/>
        </p:nvPicPr>
        <p:blipFill>
          <a:blip r:embed="rId3"/>
          <a:stretch>
            <a:fillRect/>
          </a:stretch>
        </p:blipFill>
        <p:spPr>
          <a:xfrm>
            <a:off x="228599" y="977478"/>
            <a:ext cx="4154247" cy="2727694"/>
          </a:xfrm>
          <a:prstGeom prst="rect">
            <a:avLst/>
          </a:prstGeom>
        </p:spPr>
      </p:pic>
      <p:pic>
        <p:nvPicPr>
          <p:cNvPr id="15" name="Picture 14">
            <a:extLst>
              <a:ext uri="{FF2B5EF4-FFF2-40B4-BE49-F238E27FC236}">
                <a16:creationId xmlns:a16="http://schemas.microsoft.com/office/drawing/2014/main" id="{F84CE9E4-81D3-4DC2-A67F-8CDF713425C0}"/>
              </a:ext>
            </a:extLst>
          </p:cNvPr>
          <p:cNvPicPr>
            <a:picLocks noChangeAspect="1"/>
          </p:cNvPicPr>
          <p:nvPr/>
        </p:nvPicPr>
        <p:blipFill>
          <a:blip r:embed="rId4"/>
          <a:stretch>
            <a:fillRect/>
          </a:stretch>
        </p:blipFill>
        <p:spPr>
          <a:xfrm>
            <a:off x="4572000" y="977478"/>
            <a:ext cx="4511431" cy="1905165"/>
          </a:xfrm>
          <a:prstGeom prst="rect">
            <a:avLst/>
          </a:prstGeom>
        </p:spPr>
      </p:pic>
      <p:pic>
        <p:nvPicPr>
          <p:cNvPr id="19" name="Picture 18">
            <a:extLst>
              <a:ext uri="{FF2B5EF4-FFF2-40B4-BE49-F238E27FC236}">
                <a16:creationId xmlns:a16="http://schemas.microsoft.com/office/drawing/2014/main" id="{636BFACC-6FD5-45AF-B636-C1E2C4B0B0C2}"/>
              </a:ext>
            </a:extLst>
          </p:cNvPr>
          <p:cNvPicPr>
            <a:picLocks noChangeAspect="1"/>
          </p:cNvPicPr>
          <p:nvPr/>
        </p:nvPicPr>
        <p:blipFill>
          <a:blip r:embed="rId5"/>
          <a:stretch>
            <a:fillRect/>
          </a:stretch>
        </p:blipFill>
        <p:spPr>
          <a:xfrm>
            <a:off x="4953001" y="4031522"/>
            <a:ext cx="3581400" cy="1859333"/>
          </a:xfrm>
          <a:prstGeom prst="rect">
            <a:avLst/>
          </a:prstGeom>
        </p:spPr>
      </p:pic>
      <p:pic>
        <p:nvPicPr>
          <p:cNvPr id="21" name="Picture 20">
            <a:extLst>
              <a:ext uri="{FF2B5EF4-FFF2-40B4-BE49-F238E27FC236}">
                <a16:creationId xmlns:a16="http://schemas.microsoft.com/office/drawing/2014/main" id="{248F8F00-6A66-447F-96E1-F1E68A0F9894}"/>
              </a:ext>
            </a:extLst>
          </p:cNvPr>
          <p:cNvPicPr>
            <a:picLocks noChangeAspect="1"/>
          </p:cNvPicPr>
          <p:nvPr/>
        </p:nvPicPr>
        <p:blipFill>
          <a:blip r:embed="rId6"/>
          <a:stretch>
            <a:fillRect/>
          </a:stretch>
        </p:blipFill>
        <p:spPr>
          <a:xfrm>
            <a:off x="228598" y="4031522"/>
            <a:ext cx="4343401" cy="1856046"/>
          </a:xfrm>
          <a:prstGeom prst="rect">
            <a:avLst/>
          </a:prstGeom>
        </p:spPr>
      </p:pic>
    </p:spTree>
    <p:extLst>
      <p:ext uri="{BB962C8B-B14F-4D97-AF65-F5344CB8AC3E}">
        <p14:creationId xmlns:p14="http://schemas.microsoft.com/office/powerpoint/2010/main" val="3045520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92075">
              <a:lnSpc>
                <a:spcPct val="100000"/>
              </a:lnSpc>
              <a:spcBef>
                <a:spcPts val="100"/>
              </a:spcBef>
            </a:pPr>
            <a:r>
              <a:rPr spc="114" dirty="0"/>
              <a:t>Pivoting</a:t>
            </a:r>
            <a:r>
              <a:rPr spc="-190" dirty="0"/>
              <a:t> </a:t>
            </a:r>
            <a:r>
              <a:rPr spc="229" dirty="0"/>
              <a:t>and</a:t>
            </a:r>
            <a:r>
              <a:rPr spc="-155" dirty="0"/>
              <a:t> </a:t>
            </a:r>
            <a:r>
              <a:rPr spc="200" dirty="0"/>
              <a:t>Grouping</a:t>
            </a:r>
            <a:r>
              <a:rPr spc="-155" dirty="0"/>
              <a:t> </a:t>
            </a:r>
            <a:r>
              <a:rPr spc="165" dirty="0"/>
              <a:t>Set</a:t>
            </a:r>
            <a:r>
              <a:rPr spc="-165" dirty="0"/>
              <a:t> </a:t>
            </a:r>
            <a:r>
              <a:rPr spc="190" dirty="0"/>
              <a:t>Operations</a:t>
            </a:r>
          </a:p>
        </p:txBody>
      </p:sp>
      <p:grpSp>
        <p:nvGrpSpPr>
          <p:cNvPr id="3" name="object 3"/>
          <p:cNvGrpSpPr/>
          <p:nvPr/>
        </p:nvGrpSpPr>
        <p:grpSpPr>
          <a:xfrm>
            <a:off x="339852" y="995933"/>
            <a:ext cx="6770370" cy="1652270"/>
            <a:chOff x="339852" y="995933"/>
            <a:chExt cx="6770370" cy="1652270"/>
          </a:xfrm>
        </p:grpSpPr>
        <p:pic>
          <p:nvPicPr>
            <p:cNvPr id="4" name="object 4"/>
            <p:cNvPicPr/>
            <p:nvPr/>
          </p:nvPicPr>
          <p:blipFill>
            <a:blip r:embed="rId3" cstate="print"/>
            <a:stretch>
              <a:fillRect/>
            </a:stretch>
          </p:blipFill>
          <p:spPr>
            <a:xfrm>
              <a:off x="339852" y="995933"/>
              <a:ext cx="6770370" cy="1652016"/>
            </a:xfrm>
            <a:prstGeom prst="rect">
              <a:avLst/>
            </a:prstGeom>
          </p:spPr>
        </p:pic>
        <p:sp>
          <p:nvSpPr>
            <p:cNvPr id="5" name="object 5"/>
            <p:cNvSpPr/>
            <p:nvPr/>
          </p:nvSpPr>
          <p:spPr>
            <a:xfrm>
              <a:off x="381000" y="1014221"/>
              <a:ext cx="6695440" cy="1576705"/>
            </a:xfrm>
            <a:custGeom>
              <a:avLst/>
              <a:gdLst/>
              <a:ahLst/>
              <a:cxnLst/>
              <a:rect l="l" t="t" r="r" b="b"/>
              <a:pathLst>
                <a:path w="6695440" h="1576705">
                  <a:moveTo>
                    <a:pt x="6694932" y="262763"/>
                  </a:moveTo>
                  <a:lnTo>
                    <a:pt x="6690690" y="215531"/>
                  </a:lnTo>
                  <a:lnTo>
                    <a:pt x="6678485" y="171069"/>
                  </a:lnTo>
                  <a:lnTo>
                    <a:pt x="6659054" y="130124"/>
                  </a:lnTo>
                  <a:lnTo>
                    <a:pt x="6633146" y="93459"/>
                  </a:lnTo>
                  <a:lnTo>
                    <a:pt x="6601473" y="61785"/>
                  </a:lnTo>
                  <a:lnTo>
                    <a:pt x="6564808" y="35877"/>
                  </a:lnTo>
                  <a:lnTo>
                    <a:pt x="6523863" y="16446"/>
                  </a:lnTo>
                  <a:lnTo>
                    <a:pt x="6479400" y="4241"/>
                  </a:lnTo>
                  <a:lnTo>
                    <a:pt x="6432169" y="0"/>
                  </a:lnTo>
                  <a:lnTo>
                    <a:pt x="262763" y="0"/>
                  </a:lnTo>
                  <a:lnTo>
                    <a:pt x="215519" y="4241"/>
                  </a:lnTo>
                  <a:lnTo>
                    <a:pt x="171069" y="16446"/>
                  </a:lnTo>
                  <a:lnTo>
                    <a:pt x="130136" y="35877"/>
                  </a:lnTo>
                  <a:lnTo>
                    <a:pt x="93459" y="61785"/>
                  </a:lnTo>
                  <a:lnTo>
                    <a:pt x="61785" y="93459"/>
                  </a:lnTo>
                  <a:lnTo>
                    <a:pt x="35864" y="130124"/>
                  </a:lnTo>
                  <a:lnTo>
                    <a:pt x="16433" y="171069"/>
                  </a:lnTo>
                  <a:lnTo>
                    <a:pt x="4229" y="215531"/>
                  </a:lnTo>
                  <a:lnTo>
                    <a:pt x="0" y="262763"/>
                  </a:lnTo>
                  <a:lnTo>
                    <a:pt x="0" y="1313815"/>
                  </a:lnTo>
                  <a:lnTo>
                    <a:pt x="4229" y="1361059"/>
                  </a:lnTo>
                  <a:lnTo>
                    <a:pt x="16433" y="1405521"/>
                  </a:lnTo>
                  <a:lnTo>
                    <a:pt x="35864" y="1446466"/>
                  </a:lnTo>
                  <a:lnTo>
                    <a:pt x="61785" y="1483131"/>
                  </a:lnTo>
                  <a:lnTo>
                    <a:pt x="93459" y="1514805"/>
                  </a:lnTo>
                  <a:lnTo>
                    <a:pt x="130136" y="1540713"/>
                  </a:lnTo>
                  <a:lnTo>
                    <a:pt x="171069" y="1560144"/>
                  </a:lnTo>
                  <a:lnTo>
                    <a:pt x="215519" y="1572348"/>
                  </a:lnTo>
                  <a:lnTo>
                    <a:pt x="262763" y="1576578"/>
                  </a:lnTo>
                  <a:lnTo>
                    <a:pt x="6432169" y="1576578"/>
                  </a:lnTo>
                  <a:lnTo>
                    <a:pt x="6479400" y="1572348"/>
                  </a:lnTo>
                  <a:lnTo>
                    <a:pt x="6523863" y="1560144"/>
                  </a:lnTo>
                  <a:lnTo>
                    <a:pt x="6564808" y="1540713"/>
                  </a:lnTo>
                  <a:lnTo>
                    <a:pt x="6601473" y="1514805"/>
                  </a:lnTo>
                  <a:lnTo>
                    <a:pt x="6633146" y="1483131"/>
                  </a:lnTo>
                  <a:lnTo>
                    <a:pt x="6659054" y="1446466"/>
                  </a:lnTo>
                  <a:lnTo>
                    <a:pt x="6678485" y="1405521"/>
                  </a:lnTo>
                  <a:lnTo>
                    <a:pt x="6690690" y="1361059"/>
                  </a:lnTo>
                  <a:lnTo>
                    <a:pt x="6694932" y="1313815"/>
                  </a:lnTo>
                  <a:lnTo>
                    <a:pt x="6694932" y="1192530"/>
                  </a:lnTo>
                  <a:lnTo>
                    <a:pt x="6694932" y="384048"/>
                  </a:lnTo>
                  <a:lnTo>
                    <a:pt x="6694932" y="262763"/>
                  </a:lnTo>
                  <a:close/>
                </a:path>
              </a:pathLst>
            </a:custGeom>
            <a:solidFill>
              <a:srgbClr val="205868"/>
            </a:solidFill>
          </p:spPr>
          <p:txBody>
            <a:bodyPr wrap="square" lIns="0" tIns="0" rIns="0" bIns="0" rtlCol="0"/>
            <a:lstStyle/>
            <a:p>
              <a:endParaRPr/>
            </a:p>
          </p:txBody>
        </p:sp>
      </p:grpSp>
      <p:sp>
        <p:nvSpPr>
          <p:cNvPr id="6" name="object 6"/>
          <p:cNvSpPr txBox="1"/>
          <p:nvPr/>
        </p:nvSpPr>
        <p:spPr>
          <a:xfrm>
            <a:off x="717041" y="1175258"/>
            <a:ext cx="5999480" cy="1123315"/>
          </a:xfrm>
          <a:prstGeom prst="rect">
            <a:avLst/>
          </a:prstGeom>
        </p:spPr>
        <p:txBody>
          <a:bodyPr vert="horz" wrap="square" lIns="0" tIns="12700" rIns="0" bIns="0" rtlCol="0">
            <a:spAutoFit/>
          </a:bodyPr>
          <a:lstStyle/>
          <a:p>
            <a:pPr marL="354965" marR="5080" indent="-342900" algn="just">
              <a:lnSpc>
                <a:spcPct val="100000"/>
              </a:lnSpc>
              <a:spcBef>
                <a:spcPts val="100"/>
              </a:spcBef>
              <a:buFont typeface="Wingdings"/>
              <a:buChar char=""/>
              <a:tabLst>
                <a:tab pos="355600" algn="l"/>
              </a:tabLst>
            </a:pPr>
            <a:r>
              <a:rPr sz="2400" spc="160" dirty="0">
                <a:solidFill>
                  <a:srgbClr val="FFFFFF"/>
                </a:solidFill>
                <a:latin typeface="Times New Roman"/>
                <a:cs typeface="Times New Roman"/>
              </a:rPr>
              <a:t>The </a:t>
            </a:r>
            <a:r>
              <a:rPr sz="2400" spc="60" dirty="0">
                <a:solidFill>
                  <a:srgbClr val="FFFFFF"/>
                </a:solidFill>
                <a:latin typeface="Times New Roman"/>
                <a:cs typeface="Times New Roman"/>
              </a:rPr>
              <a:t>process </a:t>
            </a:r>
            <a:r>
              <a:rPr sz="2400" spc="65" dirty="0">
                <a:solidFill>
                  <a:srgbClr val="FFFFFF"/>
                </a:solidFill>
                <a:latin typeface="Times New Roman"/>
                <a:cs typeface="Times New Roman"/>
              </a:rPr>
              <a:t>of </a:t>
            </a:r>
            <a:r>
              <a:rPr sz="2400" spc="90" dirty="0">
                <a:solidFill>
                  <a:srgbClr val="FFFFFF"/>
                </a:solidFill>
                <a:latin typeface="Times New Roman"/>
                <a:cs typeface="Times New Roman"/>
              </a:rPr>
              <a:t>transforming </a:t>
            </a:r>
            <a:r>
              <a:rPr sz="2400" spc="95" dirty="0">
                <a:solidFill>
                  <a:srgbClr val="FFFFFF"/>
                </a:solidFill>
                <a:latin typeface="Times New Roman"/>
                <a:cs typeface="Times New Roman"/>
              </a:rPr>
              <a:t>data </a:t>
            </a:r>
            <a:r>
              <a:rPr sz="2400" spc="85" dirty="0">
                <a:solidFill>
                  <a:srgbClr val="FFFFFF"/>
                </a:solidFill>
                <a:latin typeface="Times New Roman"/>
                <a:cs typeface="Times New Roman"/>
              </a:rPr>
              <a:t>from </a:t>
            </a:r>
            <a:r>
              <a:rPr sz="2400" spc="40" dirty="0">
                <a:solidFill>
                  <a:srgbClr val="FFFFFF"/>
                </a:solidFill>
                <a:latin typeface="Times New Roman"/>
                <a:cs typeface="Times New Roman"/>
              </a:rPr>
              <a:t>a  </a:t>
            </a:r>
            <a:r>
              <a:rPr sz="2400" spc="70" dirty="0">
                <a:solidFill>
                  <a:srgbClr val="FFFFFF"/>
                </a:solidFill>
                <a:latin typeface="Times New Roman"/>
                <a:cs typeface="Times New Roman"/>
              </a:rPr>
              <a:t>row-based </a:t>
            </a:r>
            <a:r>
              <a:rPr sz="2400" spc="105" dirty="0">
                <a:solidFill>
                  <a:srgbClr val="FFFFFF"/>
                </a:solidFill>
                <a:latin typeface="Times New Roman"/>
                <a:cs typeface="Times New Roman"/>
              </a:rPr>
              <a:t>orientation </a:t>
            </a:r>
            <a:r>
              <a:rPr sz="2400" spc="130" dirty="0">
                <a:solidFill>
                  <a:srgbClr val="FFFFFF"/>
                </a:solidFill>
                <a:latin typeface="Times New Roman"/>
                <a:cs typeface="Times New Roman"/>
              </a:rPr>
              <a:t>to </a:t>
            </a:r>
            <a:r>
              <a:rPr sz="2400" spc="40" dirty="0">
                <a:solidFill>
                  <a:srgbClr val="FFFFFF"/>
                </a:solidFill>
                <a:latin typeface="Times New Roman"/>
                <a:cs typeface="Times New Roman"/>
              </a:rPr>
              <a:t>a </a:t>
            </a:r>
            <a:r>
              <a:rPr sz="2400" spc="85" dirty="0">
                <a:solidFill>
                  <a:srgbClr val="FFFFFF"/>
                </a:solidFill>
                <a:latin typeface="Times New Roman"/>
                <a:cs typeface="Times New Roman"/>
              </a:rPr>
              <a:t>column-based  </a:t>
            </a:r>
            <a:r>
              <a:rPr sz="2400" spc="105" dirty="0">
                <a:solidFill>
                  <a:srgbClr val="FFFFFF"/>
                </a:solidFill>
                <a:latin typeface="Times New Roman"/>
                <a:cs typeface="Times New Roman"/>
              </a:rPr>
              <a:t>orientation </a:t>
            </a:r>
            <a:r>
              <a:rPr sz="2400" spc="10" dirty="0">
                <a:solidFill>
                  <a:srgbClr val="FFFFFF"/>
                </a:solidFill>
                <a:latin typeface="Times New Roman"/>
                <a:cs typeface="Times New Roman"/>
              </a:rPr>
              <a:t>is </a:t>
            </a:r>
            <a:r>
              <a:rPr sz="2400" spc="45" dirty="0">
                <a:solidFill>
                  <a:srgbClr val="FFFFFF"/>
                </a:solidFill>
                <a:latin typeface="Times New Roman"/>
                <a:cs typeface="Times New Roman"/>
              </a:rPr>
              <a:t>called</a:t>
            </a:r>
            <a:r>
              <a:rPr sz="2400" spc="-375" dirty="0">
                <a:solidFill>
                  <a:srgbClr val="FFFFFF"/>
                </a:solidFill>
                <a:latin typeface="Times New Roman"/>
                <a:cs typeface="Times New Roman"/>
              </a:rPr>
              <a:t> </a:t>
            </a:r>
            <a:r>
              <a:rPr sz="2400" spc="75" dirty="0">
                <a:solidFill>
                  <a:srgbClr val="FFFFFF"/>
                </a:solidFill>
                <a:latin typeface="Times New Roman"/>
                <a:cs typeface="Times New Roman"/>
              </a:rPr>
              <a:t>pivoting.</a:t>
            </a:r>
            <a:endParaRPr sz="2400">
              <a:latin typeface="Times New Roman"/>
              <a:cs typeface="Times New Roman"/>
            </a:endParaRPr>
          </a:p>
        </p:txBody>
      </p:sp>
      <p:grpSp>
        <p:nvGrpSpPr>
          <p:cNvPr id="7" name="object 7"/>
          <p:cNvGrpSpPr/>
          <p:nvPr/>
        </p:nvGrpSpPr>
        <p:grpSpPr>
          <a:xfrm>
            <a:off x="1787651" y="3007614"/>
            <a:ext cx="7267575" cy="2057400"/>
            <a:chOff x="1787651" y="3007614"/>
            <a:chExt cx="7267575" cy="2057400"/>
          </a:xfrm>
        </p:grpSpPr>
        <p:pic>
          <p:nvPicPr>
            <p:cNvPr id="8" name="object 8"/>
            <p:cNvPicPr/>
            <p:nvPr/>
          </p:nvPicPr>
          <p:blipFill>
            <a:blip r:embed="rId4" cstate="print"/>
            <a:stretch>
              <a:fillRect/>
            </a:stretch>
          </p:blipFill>
          <p:spPr>
            <a:xfrm>
              <a:off x="1787651" y="3007614"/>
              <a:ext cx="7267194" cy="2057400"/>
            </a:xfrm>
            <a:prstGeom prst="rect">
              <a:avLst/>
            </a:prstGeom>
          </p:spPr>
        </p:pic>
        <p:pic>
          <p:nvPicPr>
            <p:cNvPr id="9" name="object 9"/>
            <p:cNvPicPr/>
            <p:nvPr/>
          </p:nvPicPr>
          <p:blipFill>
            <a:blip r:embed="rId5" cstate="print"/>
            <a:stretch>
              <a:fillRect/>
            </a:stretch>
          </p:blipFill>
          <p:spPr>
            <a:xfrm>
              <a:off x="1828799" y="3025902"/>
              <a:ext cx="7191756" cy="1981962"/>
            </a:xfrm>
            <a:prstGeom prst="rect">
              <a:avLst/>
            </a:prstGeom>
          </p:spPr>
        </p:pic>
      </p:grpSp>
      <p:sp>
        <p:nvSpPr>
          <p:cNvPr id="10" name="object 10"/>
          <p:cNvSpPr txBox="1"/>
          <p:nvPr/>
        </p:nvSpPr>
        <p:spPr>
          <a:xfrm>
            <a:off x="2309367" y="3440684"/>
            <a:ext cx="6231890" cy="1367155"/>
          </a:xfrm>
          <a:prstGeom prst="rect">
            <a:avLst/>
          </a:prstGeom>
        </p:spPr>
        <p:txBody>
          <a:bodyPr vert="horz" wrap="square" lIns="0" tIns="12700" rIns="0" bIns="0" rtlCol="0">
            <a:spAutoFit/>
          </a:bodyPr>
          <a:lstStyle/>
          <a:p>
            <a:pPr marL="355600" marR="5080" indent="-342900" algn="just">
              <a:lnSpc>
                <a:spcPct val="100000"/>
              </a:lnSpc>
              <a:spcBef>
                <a:spcPts val="100"/>
              </a:spcBef>
              <a:buFont typeface="Wingdings"/>
              <a:buChar char=""/>
              <a:tabLst>
                <a:tab pos="355600" algn="l"/>
              </a:tabLst>
            </a:pPr>
            <a:r>
              <a:rPr sz="2200" spc="145" dirty="0">
                <a:solidFill>
                  <a:srgbClr val="FFFFFF"/>
                </a:solidFill>
                <a:latin typeface="Times New Roman"/>
                <a:cs typeface="Times New Roman"/>
              </a:rPr>
              <a:t>The </a:t>
            </a:r>
            <a:r>
              <a:rPr sz="2200" spc="135" dirty="0">
                <a:solidFill>
                  <a:srgbClr val="FFFFFF"/>
                </a:solidFill>
                <a:latin typeface="Times New Roman"/>
                <a:cs typeface="Times New Roman"/>
              </a:rPr>
              <a:t>PIVOT </a:t>
            </a:r>
            <a:r>
              <a:rPr sz="2200" spc="120" dirty="0">
                <a:solidFill>
                  <a:srgbClr val="FFFFFF"/>
                </a:solidFill>
                <a:latin typeface="Times New Roman"/>
                <a:cs typeface="Times New Roman"/>
              </a:rPr>
              <a:t>and </a:t>
            </a:r>
            <a:r>
              <a:rPr sz="2200" spc="145" dirty="0">
                <a:solidFill>
                  <a:srgbClr val="FFFFFF"/>
                </a:solidFill>
                <a:latin typeface="Times New Roman"/>
                <a:cs typeface="Times New Roman"/>
              </a:rPr>
              <a:t>UNPIVOT </a:t>
            </a:r>
            <a:r>
              <a:rPr sz="2200" spc="80" dirty="0">
                <a:solidFill>
                  <a:srgbClr val="FFFFFF"/>
                </a:solidFill>
                <a:latin typeface="Times New Roman"/>
                <a:cs typeface="Times New Roman"/>
              </a:rPr>
              <a:t>operators </a:t>
            </a:r>
            <a:r>
              <a:rPr sz="2200" spc="65" dirty="0">
                <a:solidFill>
                  <a:srgbClr val="FFFFFF"/>
                </a:solidFill>
                <a:latin typeface="Times New Roman"/>
                <a:cs typeface="Times New Roman"/>
              </a:rPr>
              <a:t>of </a:t>
            </a:r>
            <a:r>
              <a:rPr sz="2200" spc="110" dirty="0">
                <a:solidFill>
                  <a:srgbClr val="FFFFFF"/>
                </a:solidFill>
                <a:latin typeface="Times New Roman"/>
                <a:cs typeface="Times New Roman"/>
              </a:rPr>
              <a:t>SQL  </a:t>
            </a:r>
            <a:r>
              <a:rPr sz="2200" spc="70" dirty="0">
                <a:solidFill>
                  <a:srgbClr val="FFFFFF"/>
                </a:solidFill>
                <a:latin typeface="Times New Roman"/>
                <a:cs typeface="Times New Roman"/>
              </a:rPr>
              <a:t>Server </a:t>
            </a:r>
            <a:r>
              <a:rPr sz="2200" spc="85" dirty="0">
                <a:solidFill>
                  <a:srgbClr val="FFFFFF"/>
                </a:solidFill>
                <a:latin typeface="Times New Roman"/>
                <a:cs typeface="Times New Roman"/>
              </a:rPr>
              <a:t>help </a:t>
            </a:r>
            <a:r>
              <a:rPr sz="2200" spc="120" dirty="0">
                <a:solidFill>
                  <a:srgbClr val="FFFFFF"/>
                </a:solidFill>
                <a:latin typeface="Times New Roman"/>
                <a:cs typeface="Times New Roman"/>
              </a:rPr>
              <a:t>to </a:t>
            </a:r>
            <a:r>
              <a:rPr sz="2200" spc="75" dirty="0">
                <a:solidFill>
                  <a:srgbClr val="FFFFFF"/>
                </a:solidFill>
                <a:latin typeface="Times New Roman"/>
                <a:cs typeface="Times New Roman"/>
              </a:rPr>
              <a:t>change </a:t>
            </a:r>
            <a:r>
              <a:rPr sz="2200" spc="120" dirty="0">
                <a:solidFill>
                  <a:srgbClr val="FFFFFF"/>
                </a:solidFill>
                <a:latin typeface="Times New Roman"/>
                <a:cs typeface="Times New Roman"/>
              </a:rPr>
              <a:t>the </a:t>
            </a:r>
            <a:r>
              <a:rPr sz="2200" spc="95" dirty="0">
                <a:solidFill>
                  <a:srgbClr val="FFFFFF"/>
                </a:solidFill>
                <a:latin typeface="Times New Roman"/>
                <a:cs typeface="Times New Roman"/>
              </a:rPr>
              <a:t>orientation </a:t>
            </a:r>
            <a:r>
              <a:rPr sz="2200" spc="65" dirty="0">
                <a:solidFill>
                  <a:srgbClr val="FFFFFF"/>
                </a:solidFill>
                <a:latin typeface="Times New Roman"/>
                <a:cs typeface="Times New Roman"/>
              </a:rPr>
              <a:t>of </a:t>
            </a:r>
            <a:r>
              <a:rPr sz="2200" spc="85" dirty="0">
                <a:solidFill>
                  <a:srgbClr val="FFFFFF"/>
                </a:solidFill>
                <a:latin typeface="Times New Roman"/>
                <a:cs typeface="Times New Roman"/>
              </a:rPr>
              <a:t>data  </a:t>
            </a:r>
            <a:r>
              <a:rPr sz="2200" spc="80" dirty="0">
                <a:solidFill>
                  <a:srgbClr val="FFFFFF"/>
                </a:solidFill>
                <a:latin typeface="Times New Roman"/>
                <a:cs typeface="Times New Roman"/>
              </a:rPr>
              <a:t>from </a:t>
            </a:r>
            <a:r>
              <a:rPr sz="2200" spc="90" dirty="0">
                <a:solidFill>
                  <a:srgbClr val="FFFFFF"/>
                </a:solidFill>
                <a:latin typeface="Times New Roman"/>
                <a:cs typeface="Times New Roman"/>
              </a:rPr>
              <a:t>column-oriented </a:t>
            </a:r>
            <a:r>
              <a:rPr sz="2200" spc="114" dirty="0">
                <a:solidFill>
                  <a:srgbClr val="FFFFFF"/>
                </a:solidFill>
                <a:latin typeface="Times New Roman"/>
                <a:cs typeface="Times New Roman"/>
              </a:rPr>
              <a:t>to </a:t>
            </a:r>
            <a:r>
              <a:rPr sz="2200" spc="85" dirty="0">
                <a:solidFill>
                  <a:srgbClr val="FFFFFF"/>
                </a:solidFill>
                <a:latin typeface="Times New Roman"/>
                <a:cs typeface="Times New Roman"/>
              </a:rPr>
              <a:t>row-oriented </a:t>
            </a:r>
            <a:r>
              <a:rPr sz="2200" spc="125" dirty="0">
                <a:solidFill>
                  <a:srgbClr val="FFFFFF"/>
                </a:solidFill>
                <a:latin typeface="Times New Roman"/>
                <a:cs typeface="Times New Roman"/>
              </a:rPr>
              <a:t>and </a:t>
            </a:r>
            <a:r>
              <a:rPr sz="2200" spc="30" dirty="0">
                <a:solidFill>
                  <a:srgbClr val="FFFFFF"/>
                </a:solidFill>
                <a:latin typeface="Times New Roman"/>
                <a:cs typeface="Times New Roman"/>
              </a:rPr>
              <a:t>vice  </a:t>
            </a:r>
            <a:r>
              <a:rPr sz="2200" spc="40" dirty="0">
                <a:solidFill>
                  <a:srgbClr val="FFFFFF"/>
                </a:solidFill>
                <a:latin typeface="Times New Roman"/>
                <a:cs typeface="Times New Roman"/>
              </a:rPr>
              <a:t>versa.</a:t>
            </a:r>
            <a:endParaRPr sz="2200">
              <a:latin typeface="Times New Roman"/>
              <a:cs typeface="Times New Roman"/>
            </a:endParaRPr>
          </a:p>
        </p:txBody>
      </p:sp>
      <p:sp>
        <p:nvSpPr>
          <p:cNvPr id="12" name="object 12"/>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04" baseline="4629" dirty="0"/>
              <a:t>9/</a:t>
            </a:r>
            <a:r>
              <a:rPr sz="1800" spc="-262" baseline="4629" dirty="0"/>
              <a:t> </a:t>
            </a:r>
            <a:fld id="{81D60167-4931-47E6-BA6A-407CBD079E47}" type="slidenum">
              <a:rPr sz="1200" spc="15" dirty="0"/>
              <a:t>46</a:t>
            </a:fld>
            <a:endParaRPr sz="1200"/>
          </a:p>
        </p:txBody>
      </p:sp>
      <p:sp>
        <p:nvSpPr>
          <p:cNvPr id="13" name="object 13"/>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
            <a:ext cx="3805554" cy="635635"/>
          </a:xfrm>
          <a:prstGeom prst="rect">
            <a:avLst/>
          </a:prstGeom>
        </p:spPr>
        <p:txBody>
          <a:bodyPr vert="horz" wrap="square" lIns="0" tIns="12700" rIns="0" bIns="0" rtlCol="0">
            <a:spAutoFit/>
          </a:bodyPr>
          <a:lstStyle/>
          <a:p>
            <a:pPr marL="12700">
              <a:lnSpc>
                <a:spcPct val="100000"/>
              </a:lnSpc>
              <a:spcBef>
                <a:spcPts val="100"/>
              </a:spcBef>
            </a:pPr>
            <a:r>
              <a:rPr spc="245" dirty="0"/>
              <a:t>PIVOT</a:t>
            </a:r>
            <a:r>
              <a:rPr spc="-229" dirty="0"/>
              <a:t> </a:t>
            </a:r>
            <a:r>
              <a:rPr spc="210" dirty="0"/>
              <a:t>Operator</a:t>
            </a:r>
          </a:p>
        </p:txBody>
      </p:sp>
      <p:pic>
        <p:nvPicPr>
          <p:cNvPr id="3" name="object 3"/>
          <p:cNvPicPr/>
          <p:nvPr/>
        </p:nvPicPr>
        <p:blipFill>
          <a:blip r:embed="rId3" cstate="print"/>
          <a:stretch>
            <a:fillRect/>
          </a:stretch>
        </p:blipFill>
        <p:spPr>
          <a:xfrm>
            <a:off x="276606" y="934211"/>
            <a:ext cx="8525256" cy="2606040"/>
          </a:xfrm>
          <a:prstGeom prst="rect">
            <a:avLst/>
          </a:prstGeom>
        </p:spPr>
      </p:pic>
      <p:pic>
        <p:nvPicPr>
          <p:cNvPr id="4" name="object 4"/>
          <p:cNvPicPr/>
          <p:nvPr/>
        </p:nvPicPr>
        <p:blipFill>
          <a:blip r:embed="rId4" cstate="print"/>
          <a:stretch>
            <a:fillRect/>
          </a:stretch>
        </p:blipFill>
        <p:spPr>
          <a:xfrm>
            <a:off x="2693670" y="4597146"/>
            <a:ext cx="3691128" cy="1956054"/>
          </a:xfrm>
          <a:prstGeom prst="rect">
            <a:avLst/>
          </a:prstGeom>
        </p:spPr>
      </p:pic>
      <p:sp>
        <p:nvSpPr>
          <p:cNvPr id="5" name="object 5"/>
          <p:cNvSpPr txBox="1"/>
          <p:nvPr/>
        </p:nvSpPr>
        <p:spPr>
          <a:xfrm>
            <a:off x="3563111" y="6619240"/>
            <a:ext cx="2011680" cy="238760"/>
          </a:xfrm>
          <a:prstGeom prst="rect">
            <a:avLst/>
          </a:prstGeom>
        </p:spPr>
        <p:txBody>
          <a:bodyPr vert="horz" wrap="square" lIns="0" tIns="12065" rIns="0" bIns="0" rtlCol="0">
            <a:spAutoFit/>
          </a:bodyPr>
          <a:lstStyle/>
          <a:p>
            <a:pPr marL="12700">
              <a:lnSpc>
                <a:spcPct val="100000"/>
              </a:lnSpc>
              <a:spcBef>
                <a:spcPts val="95"/>
              </a:spcBef>
            </a:pPr>
            <a:r>
              <a:rPr sz="1400" b="1" spc="-60" dirty="0">
                <a:latin typeface="Arial"/>
                <a:cs typeface="Arial"/>
              </a:rPr>
              <a:t>Grouping </a:t>
            </a:r>
            <a:r>
              <a:rPr sz="1400" b="1" spc="-40" dirty="0">
                <a:latin typeface="Arial"/>
                <a:cs typeface="Arial"/>
              </a:rPr>
              <a:t>without</a:t>
            </a:r>
            <a:r>
              <a:rPr sz="1400" b="1" spc="-225" dirty="0">
                <a:latin typeface="Arial"/>
                <a:cs typeface="Arial"/>
              </a:rPr>
              <a:t> </a:t>
            </a:r>
            <a:r>
              <a:rPr sz="1400" b="1" spc="60" dirty="0">
                <a:latin typeface="Arial"/>
                <a:cs typeface="Arial"/>
              </a:rPr>
              <a:t>PIVOT</a:t>
            </a:r>
            <a:endParaRPr sz="1400">
              <a:latin typeface="Arial"/>
              <a:cs typeface="Arial"/>
            </a:endParaRPr>
          </a:p>
        </p:txBody>
      </p:sp>
      <p:sp>
        <p:nvSpPr>
          <p:cNvPr id="7" name="object 7"/>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04" baseline="4629" dirty="0"/>
              <a:t>9/</a:t>
            </a:r>
            <a:r>
              <a:rPr sz="1800" spc="-262" baseline="4629" dirty="0"/>
              <a:t> </a:t>
            </a:r>
            <a:fld id="{81D60167-4931-47E6-BA6A-407CBD079E47}" type="slidenum">
              <a:rPr sz="1200" spc="15" dirty="0"/>
              <a:t>47</a:t>
            </a:fld>
            <a:endParaRPr sz="1200"/>
          </a:p>
        </p:txBody>
      </p:sp>
      <p:sp>
        <p:nvSpPr>
          <p:cNvPr id="8" name="object 8"/>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9" name="TextBox 8">
            <a:extLst>
              <a:ext uri="{FF2B5EF4-FFF2-40B4-BE49-F238E27FC236}">
                <a16:creationId xmlns:a16="http://schemas.microsoft.com/office/drawing/2014/main" id="{2CB2DDD4-FD30-47E1-9307-BEEAB3ADA03A}"/>
              </a:ext>
            </a:extLst>
          </p:cNvPr>
          <p:cNvSpPr txBox="1"/>
          <p:nvPr/>
        </p:nvSpPr>
        <p:spPr>
          <a:xfrm>
            <a:off x="762000" y="3733800"/>
            <a:ext cx="7924800" cy="830997"/>
          </a:xfrm>
          <a:prstGeom prst="rect">
            <a:avLst/>
          </a:prstGeom>
          <a:solidFill>
            <a:schemeClr val="accent1">
              <a:lumMod val="60000"/>
              <a:lumOff val="40000"/>
            </a:schemeClr>
          </a:solidFill>
          <a:ln>
            <a:solidFill>
              <a:schemeClr val="tx1"/>
            </a:solidFill>
          </a:ln>
        </p:spPr>
        <p:txBody>
          <a:bodyPr wrap="square" rtlCol="0">
            <a:spAutoFit/>
          </a:bodyPr>
          <a:lstStyle/>
          <a:p>
            <a:r>
              <a:rPr lang="en-US" sz="1600" dirty="0"/>
              <a:t>SELECT TOP 5 SUM(</a:t>
            </a:r>
            <a:r>
              <a:rPr lang="en-US" sz="1600" dirty="0" err="1"/>
              <a:t>SalesYTD</a:t>
            </a:r>
            <a:r>
              <a:rPr lang="en-US" sz="1600" dirty="0"/>
              <a:t>) AS </a:t>
            </a:r>
            <a:r>
              <a:rPr lang="en-US" sz="1600" dirty="0" err="1"/>
              <a:t>TotalSalesYTD</a:t>
            </a:r>
            <a:r>
              <a:rPr lang="en-US" sz="1600" dirty="0"/>
              <a:t>, Name</a:t>
            </a:r>
          </a:p>
          <a:p>
            <a:r>
              <a:rPr lang="en-US" sz="1600" dirty="0"/>
              <a:t>FROM </a:t>
            </a:r>
            <a:r>
              <a:rPr lang="en-US" sz="1600" dirty="0" err="1"/>
              <a:t>Sales.SalesTerritory</a:t>
            </a:r>
            <a:endParaRPr lang="en-US" sz="1600" dirty="0"/>
          </a:p>
          <a:p>
            <a:r>
              <a:rPr lang="en-US" sz="1600" dirty="0"/>
              <a:t>GROUP BY Name</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81000" y="762000"/>
            <a:ext cx="8534400" cy="1200329"/>
          </a:xfrm>
          <a:prstGeom prst="rect">
            <a:avLst/>
          </a:prstGeom>
          <a:noFill/>
        </p:spPr>
        <p:txBody>
          <a:bodyPr wrap="square" rtlCol="0">
            <a:spAutoFit/>
          </a:bodyPr>
          <a:lstStyle/>
          <a:p>
            <a:pPr marL="341313" indent="-341313">
              <a:lnSpc>
                <a:spcPct val="100000"/>
              </a:lnSpc>
              <a:spcBef>
                <a:spcPts val="0"/>
              </a:spcBef>
              <a:buFont typeface="Wingdings" pitchFamily="2" charset="2"/>
              <a:buChar char="Ø"/>
            </a:pPr>
            <a:r>
              <a:rPr lang="en-US" sz="1800" dirty="0">
                <a:latin typeface="Calibri" pitchFamily="34" charset="0"/>
                <a:cs typeface="Calibri" pitchFamily="34" charset="0"/>
              </a:rPr>
              <a:t>The top 5 year to date sales along with territory names grouped by territory names are displayed.</a:t>
            </a:r>
          </a:p>
          <a:p>
            <a:pPr marL="341313" indent="-341313">
              <a:lnSpc>
                <a:spcPct val="100000"/>
              </a:lnSpc>
              <a:spcBef>
                <a:spcPts val="0"/>
              </a:spcBef>
              <a:buFont typeface="Wingdings" pitchFamily="2" charset="2"/>
              <a:buChar char="Ø"/>
            </a:pPr>
            <a:r>
              <a:rPr lang="en-US" sz="1800" dirty="0">
                <a:latin typeface="Calibri" pitchFamily="34" charset="0"/>
                <a:cs typeface="Calibri" pitchFamily="34" charset="0"/>
              </a:rPr>
              <a:t>The same query is rewritten in the following code snippet using </a:t>
            </a:r>
            <a:r>
              <a:rPr lang="en-US" sz="1800">
                <a:latin typeface="Calibri" pitchFamily="34" charset="0"/>
                <a:cs typeface="Calibri" pitchFamily="34" charset="0"/>
              </a:rPr>
              <a:t>a </a:t>
            </a:r>
            <a:r>
              <a:rPr lang="en-US" sz="1800">
                <a:cs typeface="Courier New" pitchFamily="49" charset="0"/>
              </a:rPr>
              <a:t>PIVOT </a:t>
            </a:r>
            <a:r>
              <a:rPr lang="en-US" sz="1800">
                <a:latin typeface="Calibri" pitchFamily="34" charset="0"/>
                <a:cs typeface="Calibri" pitchFamily="34" charset="0"/>
              </a:rPr>
              <a:t>so </a:t>
            </a:r>
            <a:r>
              <a:rPr lang="en-US" sz="1800" dirty="0">
                <a:latin typeface="Calibri" pitchFamily="34" charset="0"/>
                <a:cs typeface="Calibri" pitchFamily="34" charset="0"/>
              </a:rPr>
              <a:t>that the data is transformed from a row-based orientation to a column-based orientation:</a:t>
            </a:r>
          </a:p>
        </p:txBody>
      </p:sp>
      <p:sp>
        <p:nvSpPr>
          <p:cNvPr id="6" name="TextBox 5"/>
          <p:cNvSpPr txBox="1"/>
          <p:nvPr/>
        </p:nvSpPr>
        <p:spPr>
          <a:xfrm>
            <a:off x="762000" y="1936440"/>
            <a:ext cx="7924800" cy="3702360"/>
          </a:xfrm>
          <a:prstGeom prst="rect">
            <a:avLst/>
          </a:prstGeom>
          <a:solidFill>
            <a:schemeClr val="accent1">
              <a:lumMod val="60000"/>
              <a:lumOff val="40000"/>
            </a:schemeClr>
          </a:solidFill>
          <a:ln>
            <a:solidFill>
              <a:schemeClr val="tx1"/>
            </a:solidFill>
          </a:ln>
        </p:spPr>
        <p:txBody>
          <a:bodyPr wrap="square" rtlCol="0">
            <a:spAutoFit/>
          </a:bodyPr>
          <a:lstStyle/>
          <a:p>
            <a:endParaRPr lang="en-US" dirty="0"/>
          </a:p>
          <a:p>
            <a:r>
              <a:rPr lang="en-US" dirty="0"/>
              <a:t>-- Pivot table with one row and six columns</a:t>
            </a:r>
          </a:p>
          <a:p>
            <a:r>
              <a:rPr lang="en-US" dirty="0"/>
              <a:t>SELECT TOP 5 '</a:t>
            </a:r>
            <a:r>
              <a:rPr lang="en-US" dirty="0" err="1"/>
              <a:t>TotalSalesYTD</a:t>
            </a:r>
            <a:r>
              <a:rPr lang="en-US" dirty="0"/>
              <a:t>' AS </a:t>
            </a:r>
            <a:r>
              <a:rPr lang="en-US" dirty="0" err="1"/>
              <a:t>GrandTotal</a:t>
            </a:r>
            <a:r>
              <a:rPr lang="en-US" dirty="0"/>
              <a:t>,</a:t>
            </a:r>
          </a:p>
          <a:p>
            <a:r>
              <a:rPr lang="en-US" dirty="0"/>
              <a:t>[Northwest], [Northeast], [Central], [Southwest],[Southeast]</a:t>
            </a:r>
          </a:p>
          <a:p>
            <a:r>
              <a:rPr lang="en-US" dirty="0"/>
              <a:t>FROM</a:t>
            </a:r>
          </a:p>
          <a:p>
            <a:r>
              <a:rPr lang="en-US" dirty="0"/>
              <a:t>(SELECT TOP 5 Name, </a:t>
            </a:r>
            <a:r>
              <a:rPr lang="en-US" dirty="0" err="1"/>
              <a:t>SalesYTD</a:t>
            </a:r>
            <a:endParaRPr lang="en-US" dirty="0"/>
          </a:p>
          <a:p>
            <a:r>
              <a:rPr lang="en-US" dirty="0"/>
              <a:t>FROM </a:t>
            </a:r>
            <a:r>
              <a:rPr lang="en-US" dirty="0" err="1"/>
              <a:t>Sales.SalesTerritory</a:t>
            </a:r>
            <a:endParaRPr lang="en-US" dirty="0"/>
          </a:p>
          <a:p>
            <a:r>
              <a:rPr lang="en-US" dirty="0"/>
              <a:t>) AS </a:t>
            </a:r>
            <a:r>
              <a:rPr lang="en-US" dirty="0" err="1"/>
              <a:t>SourceTable</a:t>
            </a:r>
            <a:endParaRPr lang="en-US" dirty="0"/>
          </a:p>
          <a:p>
            <a:r>
              <a:rPr lang="en-US" dirty="0"/>
              <a:t>PIVOT</a:t>
            </a:r>
          </a:p>
          <a:p>
            <a:r>
              <a:rPr lang="en-US" dirty="0"/>
              <a:t>(</a:t>
            </a:r>
          </a:p>
          <a:p>
            <a:r>
              <a:rPr lang="en-US" dirty="0"/>
              <a:t>SUM(</a:t>
            </a:r>
            <a:r>
              <a:rPr lang="en-US" dirty="0" err="1"/>
              <a:t>SalesYTD</a:t>
            </a:r>
            <a:r>
              <a:rPr lang="en-US" dirty="0"/>
              <a:t>)</a:t>
            </a:r>
          </a:p>
          <a:p>
            <a:r>
              <a:rPr lang="en-US" dirty="0"/>
              <a:t>FOR Name IN ([Northwest], [Northeast], [Central], [Southwest], [Southeast])</a:t>
            </a:r>
          </a:p>
          <a:p>
            <a:r>
              <a:rPr lang="en-US" dirty="0"/>
              <a:t>) AS PivotTable;</a:t>
            </a:r>
          </a:p>
          <a:p>
            <a:endParaRPr lang="en-US" sz="1050" dirty="0"/>
          </a:p>
        </p:txBody>
      </p:sp>
      <p:sp>
        <p:nvSpPr>
          <p:cNvPr id="7" name="object 7">
            <a:extLst>
              <a:ext uri="{FF2B5EF4-FFF2-40B4-BE49-F238E27FC236}">
                <a16:creationId xmlns:a16="http://schemas.microsoft.com/office/drawing/2014/main" id="{2DF1226E-62E3-4729-9613-CBF21603D9F4}"/>
              </a:ext>
            </a:extLst>
          </p:cNvPr>
          <p:cNvSpPr txBox="1">
            <a:spLocks/>
          </p:cNvSpPr>
          <p:nvPr/>
        </p:nvSpPr>
        <p:spPr>
          <a:xfrm>
            <a:off x="7912607" y="6569709"/>
            <a:ext cx="909954" cy="256540"/>
          </a:xfrm>
          <a:prstGeom prst="rect">
            <a:avLst/>
          </a:prstGeom>
        </p:spPr>
        <p:txBody>
          <a:bodyPr vert="horz" wrap="square" lIns="0" tIns="18415"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spcBef>
                <a:spcPts val="145"/>
              </a:spcBef>
            </a:pPr>
            <a:r>
              <a:rPr lang="en-US" spc="52" baseline="4629"/>
              <a:t>Session </a:t>
            </a:r>
            <a:r>
              <a:rPr lang="en-US" spc="104" baseline="4629"/>
              <a:t>9/</a:t>
            </a:r>
            <a:r>
              <a:rPr lang="en-US" spc="-262" baseline="4629"/>
              <a:t> </a:t>
            </a:r>
            <a:fld id="{81D60167-4931-47E6-BA6A-407CBD079E47}" type="slidenum">
              <a:rPr sz="1200" spc="15" smtClean="0"/>
              <a:pPr marL="12700">
                <a:spcBef>
                  <a:spcPts val="145"/>
                </a:spcBef>
              </a:pPr>
              <a:t>48</a:t>
            </a:fld>
            <a:endParaRPr sz="1200"/>
          </a:p>
        </p:txBody>
      </p:sp>
      <p:sp>
        <p:nvSpPr>
          <p:cNvPr id="8" name="object 2">
            <a:extLst>
              <a:ext uri="{FF2B5EF4-FFF2-40B4-BE49-F238E27FC236}">
                <a16:creationId xmlns:a16="http://schemas.microsoft.com/office/drawing/2014/main" id="{3615C927-5D71-425C-A2BA-DDEA129E5658}"/>
              </a:ext>
            </a:extLst>
          </p:cNvPr>
          <p:cNvSpPr txBox="1">
            <a:spLocks/>
          </p:cNvSpPr>
          <p:nvPr/>
        </p:nvSpPr>
        <p:spPr>
          <a:xfrm>
            <a:off x="383540" y="15493"/>
            <a:ext cx="3805554" cy="628377"/>
          </a:xfrm>
          <a:prstGeom prst="rect">
            <a:avLst/>
          </a:prstGeom>
        </p:spPr>
        <p:txBody>
          <a:bodyPr vert="horz" wrap="square" lIns="0" tIns="12700" rIns="0" bIns="0" rtlCol="0">
            <a:spAutoFit/>
          </a:bodyPr>
          <a:lstStyle>
            <a:lvl1pPr>
              <a:defRPr>
                <a:latin typeface="+mj-lt"/>
                <a:ea typeface="+mj-ea"/>
                <a:cs typeface="+mj-cs"/>
              </a:defRPr>
            </a:lvl1pPr>
          </a:lstStyle>
          <a:p>
            <a:pPr marL="12700">
              <a:spcBef>
                <a:spcPts val="100"/>
              </a:spcBef>
            </a:pPr>
            <a:r>
              <a:rPr lang="en-US" sz="4000" kern="0" spc="245">
                <a:solidFill>
                  <a:schemeClr val="bg1"/>
                </a:solidFill>
                <a:latin typeface="Times New Roman" panose="02020603050405020304" pitchFamily="18" charset="0"/>
                <a:cs typeface="Times New Roman" panose="02020603050405020304" pitchFamily="18" charset="0"/>
              </a:rPr>
              <a:t>PIVOT</a:t>
            </a:r>
            <a:r>
              <a:rPr lang="en-US" sz="4000" kern="0" spc="-229">
                <a:solidFill>
                  <a:schemeClr val="bg1"/>
                </a:solidFill>
                <a:latin typeface="Times New Roman" panose="02020603050405020304" pitchFamily="18" charset="0"/>
                <a:cs typeface="Times New Roman" panose="02020603050405020304" pitchFamily="18" charset="0"/>
              </a:rPr>
              <a:t> </a:t>
            </a:r>
            <a:r>
              <a:rPr lang="en-US" sz="4000" kern="0" spc="210">
                <a:solidFill>
                  <a:schemeClr val="bg1"/>
                </a:solidFill>
                <a:latin typeface="Times New Roman" panose="02020603050405020304" pitchFamily="18" charset="0"/>
                <a:cs typeface="Times New Roman" panose="02020603050405020304" pitchFamily="18" charset="0"/>
              </a:rPr>
              <a:t>Operator</a:t>
            </a:r>
            <a:endParaRPr lang="en-US" sz="4000" kern="0" spc="210" dirty="0">
              <a:solidFill>
                <a:schemeClr val="bg1"/>
              </a:solidFill>
              <a:latin typeface="Times New Roman" panose="02020603050405020304" pitchFamily="18" charset="0"/>
              <a:cs typeface="Times New Roman" panose="02020603050405020304" pitchFamily="18" charset="0"/>
            </a:endParaRPr>
          </a:p>
        </p:txBody>
      </p:sp>
      <p:pic>
        <p:nvPicPr>
          <p:cNvPr id="9" name="Picture 8" descr="Figure 9.32.tif">
            <a:extLst>
              <a:ext uri="{FF2B5EF4-FFF2-40B4-BE49-F238E27FC236}">
                <a16:creationId xmlns:a16="http://schemas.microsoft.com/office/drawing/2014/main" id="{74C59475-20A8-4470-B69C-F2F8E9B1D8BD}"/>
              </a:ext>
            </a:extLst>
          </p:cNvPr>
          <p:cNvPicPr>
            <a:picLocks noChangeAspect="1"/>
          </p:cNvPicPr>
          <p:nvPr/>
        </p:nvPicPr>
        <p:blipFill>
          <a:blip r:embed="rId3" cstate="print"/>
          <a:stretch>
            <a:fillRect/>
          </a:stretch>
        </p:blipFill>
        <p:spPr>
          <a:xfrm>
            <a:off x="1219200" y="5791200"/>
            <a:ext cx="6934200" cy="533400"/>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
            <a:ext cx="4624705" cy="635635"/>
          </a:xfrm>
          <a:prstGeom prst="rect">
            <a:avLst/>
          </a:prstGeom>
        </p:spPr>
        <p:txBody>
          <a:bodyPr vert="horz" wrap="square" lIns="0" tIns="12700" rIns="0" bIns="0" rtlCol="0">
            <a:spAutoFit/>
          </a:bodyPr>
          <a:lstStyle/>
          <a:p>
            <a:pPr marL="12700">
              <a:lnSpc>
                <a:spcPct val="100000"/>
              </a:lnSpc>
              <a:spcBef>
                <a:spcPts val="100"/>
              </a:spcBef>
            </a:pPr>
            <a:r>
              <a:rPr spc="275" dirty="0"/>
              <a:t>UNPIVOT</a:t>
            </a:r>
            <a:r>
              <a:rPr spc="-254" dirty="0"/>
              <a:t> </a:t>
            </a:r>
            <a:r>
              <a:rPr spc="210" dirty="0"/>
              <a:t>Operator</a:t>
            </a:r>
          </a:p>
        </p:txBody>
      </p:sp>
      <p:pic>
        <p:nvPicPr>
          <p:cNvPr id="3" name="object 3"/>
          <p:cNvPicPr/>
          <p:nvPr/>
        </p:nvPicPr>
        <p:blipFill>
          <a:blip r:embed="rId3" cstate="print"/>
          <a:stretch>
            <a:fillRect/>
          </a:stretch>
        </p:blipFill>
        <p:spPr>
          <a:xfrm>
            <a:off x="1014126" y="959088"/>
            <a:ext cx="7247256" cy="1003641"/>
          </a:xfrm>
          <a:prstGeom prst="rect">
            <a:avLst/>
          </a:prstGeom>
        </p:spPr>
      </p:pic>
      <p:pic>
        <p:nvPicPr>
          <p:cNvPr id="4" name="object 4"/>
          <p:cNvPicPr/>
          <p:nvPr/>
        </p:nvPicPr>
        <p:blipFill>
          <a:blip r:embed="rId4" cstate="print"/>
          <a:stretch>
            <a:fillRect/>
          </a:stretch>
        </p:blipFill>
        <p:spPr>
          <a:xfrm>
            <a:off x="3276600" y="5489120"/>
            <a:ext cx="2722308" cy="1140280"/>
          </a:xfrm>
          <a:prstGeom prst="rect">
            <a:avLst/>
          </a:prstGeom>
        </p:spPr>
      </p:pic>
      <p:sp>
        <p:nvSpPr>
          <p:cNvPr id="5" name="object 5"/>
          <p:cNvSpPr txBox="1"/>
          <p:nvPr/>
        </p:nvSpPr>
        <p:spPr>
          <a:xfrm>
            <a:off x="3841781" y="6619240"/>
            <a:ext cx="1744345" cy="238760"/>
          </a:xfrm>
          <a:prstGeom prst="rect">
            <a:avLst/>
          </a:prstGeom>
        </p:spPr>
        <p:txBody>
          <a:bodyPr vert="horz" wrap="square" lIns="0" tIns="12065" rIns="0" bIns="0" rtlCol="0">
            <a:spAutoFit/>
          </a:bodyPr>
          <a:lstStyle/>
          <a:p>
            <a:pPr marL="12700">
              <a:lnSpc>
                <a:spcPct val="100000"/>
              </a:lnSpc>
              <a:spcBef>
                <a:spcPts val="95"/>
              </a:spcBef>
            </a:pPr>
            <a:r>
              <a:rPr sz="1400" b="1" spc="-20" dirty="0">
                <a:latin typeface="Arial"/>
                <a:cs typeface="Arial"/>
              </a:rPr>
              <a:t>Output </a:t>
            </a:r>
            <a:r>
              <a:rPr sz="1400" b="1" spc="-40" dirty="0">
                <a:latin typeface="Arial"/>
                <a:cs typeface="Arial"/>
              </a:rPr>
              <a:t>for</a:t>
            </a:r>
            <a:r>
              <a:rPr sz="1400" b="1" spc="-275" dirty="0">
                <a:latin typeface="Arial"/>
                <a:cs typeface="Arial"/>
              </a:rPr>
              <a:t> </a:t>
            </a:r>
            <a:r>
              <a:rPr sz="1400" b="1" spc="70" dirty="0">
                <a:latin typeface="Arial"/>
                <a:cs typeface="Arial"/>
              </a:rPr>
              <a:t>UNPIVOT</a:t>
            </a:r>
            <a:endParaRPr sz="1400">
              <a:latin typeface="Arial"/>
              <a:cs typeface="Arial"/>
            </a:endParaRPr>
          </a:p>
        </p:txBody>
      </p:sp>
      <p:sp>
        <p:nvSpPr>
          <p:cNvPr id="7" name="object 7"/>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04" baseline="4629" dirty="0"/>
              <a:t>9/</a:t>
            </a:r>
            <a:r>
              <a:rPr sz="1800" spc="-262" baseline="4629" dirty="0"/>
              <a:t> </a:t>
            </a:r>
            <a:fld id="{81D60167-4931-47E6-BA6A-407CBD079E47}" type="slidenum">
              <a:rPr sz="1200" spc="15" dirty="0"/>
              <a:t>49</a:t>
            </a:fld>
            <a:endParaRPr sz="1200"/>
          </a:p>
        </p:txBody>
      </p:sp>
      <p:sp>
        <p:nvSpPr>
          <p:cNvPr id="8" name="object 8"/>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pic>
        <p:nvPicPr>
          <p:cNvPr id="10" name="Picture 9">
            <a:extLst>
              <a:ext uri="{FF2B5EF4-FFF2-40B4-BE49-F238E27FC236}">
                <a16:creationId xmlns:a16="http://schemas.microsoft.com/office/drawing/2014/main" id="{BE46CC4D-BD11-4B35-989C-377330E5D800}"/>
              </a:ext>
            </a:extLst>
          </p:cNvPr>
          <p:cNvPicPr>
            <a:picLocks noChangeAspect="1"/>
          </p:cNvPicPr>
          <p:nvPr/>
        </p:nvPicPr>
        <p:blipFill>
          <a:blip r:embed="rId5"/>
          <a:stretch>
            <a:fillRect/>
          </a:stretch>
        </p:blipFill>
        <p:spPr>
          <a:xfrm>
            <a:off x="669083" y="2057189"/>
            <a:ext cx="8089739" cy="3337471"/>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
            <a:ext cx="2139950" cy="635635"/>
          </a:xfrm>
          <a:prstGeom prst="rect">
            <a:avLst/>
          </a:prstGeom>
        </p:spPr>
        <p:txBody>
          <a:bodyPr vert="horz" wrap="square" lIns="0" tIns="12700" rIns="0" bIns="0" rtlCol="0">
            <a:spAutoFit/>
          </a:bodyPr>
          <a:lstStyle/>
          <a:p>
            <a:pPr marL="12700">
              <a:lnSpc>
                <a:spcPct val="100000"/>
              </a:lnSpc>
              <a:spcBef>
                <a:spcPts val="100"/>
              </a:spcBef>
            </a:pPr>
            <a:r>
              <a:rPr spc="155" dirty="0"/>
              <a:t>Summary</a:t>
            </a:r>
          </a:p>
        </p:txBody>
      </p:sp>
      <p:sp>
        <p:nvSpPr>
          <p:cNvPr id="5" name="object 5"/>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04" baseline="4629" dirty="0"/>
              <a:t>9/</a:t>
            </a:r>
            <a:r>
              <a:rPr sz="1800" spc="-262" baseline="4629" dirty="0"/>
              <a:t> </a:t>
            </a:r>
            <a:fld id="{81D60167-4931-47E6-BA6A-407CBD079E47}" type="slidenum">
              <a:rPr sz="1200" spc="15" dirty="0"/>
              <a:t>50</a:t>
            </a:fld>
            <a:endParaRPr sz="1200"/>
          </a:p>
        </p:txBody>
      </p:sp>
      <p:sp>
        <p:nvSpPr>
          <p:cNvPr id="6" name="object 6"/>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3" name="object 3"/>
          <p:cNvSpPr txBox="1">
            <a:spLocks noGrp="1"/>
          </p:cNvSpPr>
          <p:nvPr>
            <p:ph type="body" idx="1"/>
          </p:nvPr>
        </p:nvSpPr>
        <p:spPr>
          <a:xfrm>
            <a:off x="383540" y="1125473"/>
            <a:ext cx="8452485" cy="3706143"/>
          </a:xfrm>
          <a:prstGeom prst="rect">
            <a:avLst/>
          </a:prstGeom>
        </p:spPr>
        <p:txBody>
          <a:bodyPr vert="horz" wrap="square" lIns="0" tIns="12700" rIns="0" bIns="0" rtlCol="0">
            <a:spAutoFit/>
          </a:bodyPr>
          <a:lstStyle/>
          <a:p>
            <a:pPr marL="353695" indent="-341630">
              <a:lnSpc>
                <a:spcPct val="100000"/>
              </a:lnSpc>
              <a:spcBef>
                <a:spcPts val="100"/>
              </a:spcBef>
              <a:buFont typeface="Calibri"/>
              <a:buChar char="●"/>
              <a:tabLst>
                <a:tab pos="353695" algn="l"/>
                <a:tab pos="354330" algn="l"/>
              </a:tabLst>
            </a:pPr>
            <a:r>
              <a:rPr spc="130" dirty="0"/>
              <a:t>The </a:t>
            </a:r>
            <a:r>
              <a:rPr spc="145" dirty="0"/>
              <a:t>GROUP </a:t>
            </a:r>
            <a:r>
              <a:rPr spc="-50" dirty="0"/>
              <a:t>BY </a:t>
            </a:r>
            <a:r>
              <a:rPr spc="40" dirty="0"/>
              <a:t>clause </a:t>
            </a:r>
            <a:r>
              <a:rPr spc="114" dirty="0"/>
              <a:t>and </a:t>
            </a:r>
            <a:r>
              <a:rPr spc="30" dirty="0"/>
              <a:t>aggregate </a:t>
            </a:r>
            <a:r>
              <a:rPr spc="85" dirty="0"/>
              <a:t>functions </a:t>
            </a:r>
            <a:r>
              <a:rPr spc="65" dirty="0"/>
              <a:t>enable </a:t>
            </a:r>
            <a:r>
              <a:rPr spc="110" dirty="0"/>
              <a:t>to </a:t>
            </a:r>
            <a:r>
              <a:rPr spc="80" dirty="0"/>
              <a:t>group</a:t>
            </a:r>
            <a:r>
              <a:rPr spc="655" dirty="0"/>
              <a:t> </a:t>
            </a:r>
            <a:r>
              <a:rPr spc="130" dirty="0"/>
              <a:t>and/or</a:t>
            </a:r>
          </a:p>
          <a:p>
            <a:pPr marL="353695">
              <a:lnSpc>
                <a:spcPct val="100000"/>
              </a:lnSpc>
            </a:pPr>
            <a:r>
              <a:rPr spc="30" dirty="0"/>
              <a:t>aggregate</a:t>
            </a:r>
            <a:r>
              <a:rPr spc="-60" dirty="0"/>
              <a:t> </a:t>
            </a:r>
            <a:r>
              <a:rPr spc="80" dirty="0"/>
              <a:t>data</a:t>
            </a:r>
            <a:r>
              <a:rPr spc="-70" dirty="0"/>
              <a:t> </a:t>
            </a:r>
            <a:r>
              <a:rPr spc="80" dirty="0"/>
              <a:t>together</a:t>
            </a:r>
            <a:r>
              <a:rPr spc="-45" dirty="0"/>
              <a:t> </a:t>
            </a:r>
            <a:r>
              <a:rPr spc="95" dirty="0"/>
              <a:t>in</a:t>
            </a:r>
            <a:r>
              <a:rPr spc="-70" dirty="0"/>
              <a:t> </a:t>
            </a:r>
            <a:r>
              <a:rPr spc="85" dirty="0"/>
              <a:t>order</a:t>
            </a:r>
            <a:r>
              <a:rPr spc="-60" dirty="0"/>
              <a:t> </a:t>
            </a:r>
            <a:r>
              <a:rPr spc="110" dirty="0"/>
              <a:t>to</a:t>
            </a:r>
            <a:r>
              <a:rPr spc="-70" dirty="0"/>
              <a:t> </a:t>
            </a:r>
            <a:r>
              <a:rPr spc="80" dirty="0"/>
              <a:t>present</a:t>
            </a:r>
            <a:r>
              <a:rPr spc="-40" dirty="0"/>
              <a:t> </a:t>
            </a:r>
            <a:r>
              <a:rPr spc="50" dirty="0"/>
              <a:t>summarized</a:t>
            </a:r>
            <a:r>
              <a:rPr spc="-85" dirty="0"/>
              <a:t> </a:t>
            </a:r>
            <a:r>
              <a:rPr spc="75" dirty="0"/>
              <a:t>information.</a:t>
            </a:r>
          </a:p>
          <a:p>
            <a:pPr marL="353695" marR="5080" indent="-341630">
              <a:lnSpc>
                <a:spcPct val="100000"/>
              </a:lnSpc>
              <a:buFont typeface="Calibri"/>
              <a:buChar char="●"/>
              <a:tabLst>
                <a:tab pos="353695" algn="l"/>
                <a:tab pos="354330" algn="l"/>
              </a:tabLst>
            </a:pPr>
            <a:r>
              <a:rPr spc="55" dirty="0"/>
              <a:t>Spatial </a:t>
            </a:r>
            <a:r>
              <a:rPr spc="30" dirty="0"/>
              <a:t>aggregate </a:t>
            </a:r>
            <a:r>
              <a:rPr spc="85" dirty="0"/>
              <a:t>functions </a:t>
            </a:r>
            <a:r>
              <a:rPr spc="55" dirty="0"/>
              <a:t>were </a:t>
            </a:r>
            <a:r>
              <a:rPr spc="50" dirty="0"/>
              <a:t>first </a:t>
            </a:r>
            <a:r>
              <a:rPr spc="95" dirty="0"/>
              <a:t>introduced in </a:t>
            </a:r>
            <a:r>
              <a:rPr spc="90" dirty="0"/>
              <a:t>SQL </a:t>
            </a:r>
            <a:r>
              <a:rPr spc="60"/>
              <a:t>Server </a:t>
            </a:r>
            <a:r>
              <a:rPr spc="-100"/>
              <a:t>201</a:t>
            </a:r>
            <a:r>
              <a:rPr lang="en-US" spc="-100"/>
              <a:t>2</a:t>
            </a:r>
            <a:r>
              <a:rPr spc="-100"/>
              <a:t> </a:t>
            </a:r>
            <a:r>
              <a:rPr spc="114" dirty="0"/>
              <a:t>and  </a:t>
            </a:r>
            <a:r>
              <a:rPr spc="50" dirty="0"/>
              <a:t>are</a:t>
            </a:r>
            <a:r>
              <a:rPr spc="-70" dirty="0"/>
              <a:t> </a:t>
            </a:r>
            <a:r>
              <a:rPr spc="90" dirty="0"/>
              <a:t>supported</a:t>
            </a:r>
            <a:r>
              <a:rPr spc="-50" dirty="0"/>
              <a:t> </a:t>
            </a:r>
            <a:r>
              <a:rPr spc="95" dirty="0"/>
              <a:t>in</a:t>
            </a:r>
            <a:r>
              <a:rPr spc="-80" dirty="0"/>
              <a:t> </a:t>
            </a:r>
            <a:r>
              <a:rPr spc="90" dirty="0"/>
              <a:t>SQL</a:t>
            </a:r>
            <a:r>
              <a:rPr spc="-80" dirty="0"/>
              <a:t> </a:t>
            </a:r>
            <a:r>
              <a:rPr spc="60" dirty="0"/>
              <a:t>Server</a:t>
            </a:r>
            <a:r>
              <a:rPr spc="-65" dirty="0"/>
              <a:t> </a:t>
            </a:r>
            <a:r>
              <a:rPr spc="-90" dirty="0"/>
              <a:t>2019</a:t>
            </a:r>
            <a:r>
              <a:rPr spc="-70" dirty="0"/>
              <a:t> </a:t>
            </a:r>
            <a:r>
              <a:rPr spc="20" dirty="0"/>
              <a:t>as</a:t>
            </a:r>
            <a:r>
              <a:rPr spc="-70" dirty="0"/>
              <a:t> </a:t>
            </a:r>
            <a:r>
              <a:rPr spc="15" dirty="0"/>
              <a:t>well.</a:t>
            </a:r>
          </a:p>
          <a:p>
            <a:pPr marL="353695" marR="5080" indent="-341630">
              <a:lnSpc>
                <a:spcPct val="100000"/>
              </a:lnSpc>
              <a:buFont typeface="Calibri"/>
              <a:buChar char="●"/>
              <a:tabLst>
                <a:tab pos="353695" algn="l"/>
                <a:tab pos="354330" algn="l"/>
              </a:tabLst>
            </a:pPr>
            <a:r>
              <a:rPr spc="175" dirty="0"/>
              <a:t>A </a:t>
            </a:r>
            <a:r>
              <a:rPr spc="80" dirty="0"/>
              <a:t>subquery </a:t>
            </a:r>
            <a:r>
              <a:rPr spc="30" dirty="0"/>
              <a:t>allows </a:t>
            </a:r>
            <a:r>
              <a:rPr spc="110" dirty="0"/>
              <a:t>the </a:t>
            </a:r>
            <a:r>
              <a:rPr spc="65" dirty="0"/>
              <a:t>resultset </a:t>
            </a:r>
            <a:r>
              <a:rPr spc="55" dirty="0"/>
              <a:t>of </a:t>
            </a:r>
            <a:r>
              <a:rPr spc="105" dirty="0"/>
              <a:t>one </a:t>
            </a:r>
            <a:r>
              <a:rPr spc="80" dirty="0"/>
              <a:t>SELECT </a:t>
            </a:r>
            <a:r>
              <a:rPr spc="85" dirty="0"/>
              <a:t>statement </a:t>
            </a:r>
            <a:r>
              <a:rPr spc="110" dirty="0"/>
              <a:t>to </a:t>
            </a:r>
            <a:r>
              <a:rPr spc="70" dirty="0"/>
              <a:t>be </a:t>
            </a:r>
            <a:r>
              <a:rPr spc="80" dirty="0"/>
              <a:t>used </a:t>
            </a:r>
            <a:r>
              <a:rPr spc="15" dirty="0"/>
              <a:t>as  </a:t>
            </a:r>
            <a:r>
              <a:rPr spc="50" dirty="0"/>
              <a:t>criteria</a:t>
            </a:r>
            <a:r>
              <a:rPr spc="-80" dirty="0"/>
              <a:t> </a:t>
            </a:r>
            <a:r>
              <a:rPr spc="65" dirty="0"/>
              <a:t>for</a:t>
            </a:r>
            <a:r>
              <a:rPr spc="-70" dirty="0"/>
              <a:t> </a:t>
            </a:r>
            <a:r>
              <a:rPr spc="100" dirty="0"/>
              <a:t>another</a:t>
            </a:r>
            <a:r>
              <a:rPr spc="-45" dirty="0"/>
              <a:t> </a:t>
            </a:r>
            <a:r>
              <a:rPr spc="80" dirty="0"/>
              <a:t>SELECT</a:t>
            </a:r>
            <a:r>
              <a:rPr spc="-80" dirty="0"/>
              <a:t> </a:t>
            </a:r>
            <a:r>
              <a:rPr spc="75" dirty="0"/>
              <a:t>statement.</a:t>
            </a:r>
          </a:p>
          <a:p>
            <a:pPr marL="353695" marR="6350" indent="-341630">
              <a:lnSpc>
                <a:spcPct val="100000"/>
              </a:lnSpc>
              <a:buFont typeface="Calibri"/>
              <a:buChar char="●"/>
              <a:tabLst>
                <a:tab pos="353695" algn="l"/>
                <a:tab pos="354330" algn="l"/>
              </a:tabLst>
            </a:pPr>
            <a:r>
              <a:rPr spc="15" dirty="0"/>
              <a:t>Joins</a:t>
            </a:r>
            <a:r>
              <a:rPr spc="-60" dirty="0"/>
              <a:t> </a:t>
            </a:r>
            <a:r>
              <a:rPr spc="80" dirty="0"/>
              <a:t>help</a:t>
            </a:r>
            <a:r>
              <a:rPr spc="-50" dirty="0"/>
              <a:t> </a:t>
            </a:r>
            <a:r>
              <a:rPr spc="80" dirty="0"/>
              <a:t>you</a:t>
            </a:r>
            <a:r>
              <a:rPr spc="-65" dirty="0"/>
              <a:t> </a:t>
            </a:r>
            <a:r>
              <a:rPr spc="110" dirty="0"/>
              <a:t>to</a:t>
            </a:r>
            <a:r>
              <a:rPr spc="-60" dirty="0"/>
              <a:t> </a:t>
            </a:r>
            <a:r>
              <a:rPr spc="75" dirty="0"/>
              <a:t>combine</a:t>
            </a:r>
            <a:r>
              <a:rPr spc="-50" dirty="0"/>
              <a:t> </a:t>
            </a:r>
            <a:r>
              <a:rPr spc="90" dirty="0"/>
              <a:t>column</a:t>
            </a:r>
            <a:r>
              <a:rPr spc="-60" dirty="0"/>
              <a:t> </a:t>
            </a:r>
            <a:r>
              <a:rPr spc="80" dirty="0"/>
              <a:t>data</a:t>
            </a:r>
            <a:r>
              <a:rPr spc="-50" dirty="0"/>
              <a:t> </a:t>
            </a:r>
            <a:r>
              <a:rPr spc="70" dirty="0"/>
              <a:t>from</a:t>
            </a:r>
            <a:r>
              <a:rPr spc="-65" dirty="0"/>
              <a:t> </a:t>
            </a:r>
            <a:r>
              <a:rPr spc="90" dirty="0"/>
              <a:t>two</a:t>
            </a:r>
            <a:r>
              <a:rPr spc="-45" dirty="0"/>
              <a:t> </a:t>
            </a:r>
            <a:r>
              <a:rPr spc="90" dirty="0"/>
              <a:t>or</a:t>
            </a:r>
            <a:r>
              <a:rPr spc="-55" dirty="0"/>
              <a:t> </a:t>
            </a:r>
            <a:r>
              <a:rPr spc="75" dirty="0"/>
              <a:t>more</a:t>
            </a:r>
            <a:r>
              <a:rPr spc="-55" dirty="0"/>
              <a:t> </a:t>
            </a:r>
            <a:r>
              <a:rPr spc="50" dirty="0"/>
              <a:t>tables</a:t>
            </a:r>
            <a:r>
              <a:rPr spc="-45" dirty="0"/>
              <a:t> </a:t>
            </a:r>
            <a:r>
              <a:rPr spc="60" dirty="0"/>
              <a:t>based</a:t>
            </a:r>
            <a:r>
              <a:rPr spc="-60" dirty="0"/>
              <a:t> </a:t>
            </a:r>
            <a:r>
              <a:rPr spc="135" dirty="0"/>
              <a:t>on</a:t>
            </a:r>
            <a:r>
              <a:rPr spc="-60" dirty="0"/>
              <a:t> </a:t>
            </a:r>
            <a:r>
              <a:rPr spc="30" dirty="0"/>
              <a:t>a  </a:t>
            </a:r>
            <a:r>
              <a:rPr spc="15" dirty="0"/>
              <a:t>logical</a:t>
            </a:r>
            <a:r>
              <a:rPr spc="-70" dirty="0"/>
              <a:t> </a:t>
            </a:r>
            <a:r>
              <a:rPr spc="70" dirty="0"/>
              <a:t>relationship</a:t>
            </a:r>
            <a:r>
              <a:rPr spc="-45" dirty="0"/>
              <a:t> </a:t>
            </a:r>
            <a:r>
              <a:rPr spc="80" dirty="0"/>
              <a:t>between</a:t>
            </a:r>
            <a:r>
              <a:rPr spc="-50" dirty="0"/>
              <a:t> </a:t>
            </a:r>
            <a:r>
              <a:rPr spc="110" dirty="0"/>
              <a:t>the</a:t>
            </a:r>
            <a:r>
              <a:rPr spc="-60" dirty="0"/>
              <a:t> </a:t>
            </a:r>
            <a:r>
              <a:rPr spc="40" dirty="0"/>
              <a:t>tables.</a:t>
            </a:r>
          </a:p>
          <a:p>
            <a:pPr marL="353695" marR="5080" indent="-341630">
              <a:lnSpc>
                <a:spcPct val="100000"/>
              </a:lnSpc>
              <a:buFont typeface="Calibri"/>
              <a:buChar char="●"/>
              <a:tabLst>
                <a:tab pos="353695" algn="l"/>
                <a:tab pos="354330" algn="l"/>
              </a:tabLst>
            </a:pPr>
            <a:r>
              <a:rPr spc="80" dirty="0"/>
              <a:t>Set</a:t>
            </a:r>
            <a:r>
              <a:rPr spc="-20" dirty="0"/>
              <a:t> </a:t>
            </a:r>
            <a:r>
              <a:rPr spc="75" dirty="0"/>
              <a:t>operators</a:t>
            </a:r>
            <a:r>
              <a:rPr dirty="0"/>
              <a:t> </a:t>
            </a:r>
            <a:r>
              <a:rPr spc="85" dirty="0"/>
              <a:t>such</a:t>
            </a:r>
            <a:r>
              <a:rPr spc="-20" dirty="0"/>
              <a:t> </a:t>
            </a:r>
            <a:r>
              <a:rPr spc="20" dirty="0"/>
              <a:t>as</a:t>
            </a:r>
            <a:r>
              <a:rPr spc="-15" dirty="0"/>
              <a:t> </a:t>
            </a:r>
            <a:r>
              <a:rPr spc="140" dirty="0"/>
              <a:t>UNION</a:t>
            </a:r>
            <a:r>
              <a:rPr spc="-15" dirty="0"/>
              <a:t> </a:t>
            </a:r>
            <a:r>
              <a:rPr spc="110" dirty="0"/>
              <a:t>and</a:t>
            </a:r>
            <a:r>
              <a:rPr spc="-25" dirty="0"/>
              <a:t> </a:t>
            </a:r>
            <a:r>
              <a:rPr spc="100" dirty="0"/>
              <a:t>INTERSECT</a:t>
            </a:r>
            <a:r>
              <a:rPr spc="-20" dirty="0"/>
              <a:t> </a:t>
            </a:r>
            <a:r>
              <a:rPr spc="80" dirty="0"/>
              <a:t>help</a:t>
            </a:r>
            <a:r>
              <a:rPr spc="-20" dirty="0"/>
              <a:t> </a:t>
            </a:r>
            <a:r>
              <a:rPr spc="80" dirty="0"/>
              <a:t>you</a:t>
            </a:r>
            <a:r>
              <a:rPr spc="-10" dirty="0"/>
              <a:t> </a:t>
            </a:r>
            <a:r>
              <a:rPr spc="110" dirty="0"/>
              <a:t>to</a:t>
            </a:r>
            <a:r>
              <a:rPr spc="-20" dirty="0"/>
              <a:t> </a:t>
            </a:r>
            <a:r>
              <a:rPr spc="75" dirty="0"/>
              <a:t>combine</a:t>
            </a:r>
            <a:r>
              <a:rPr spc="-20" dirty="0"/>
              <a:t> </a:t>
            </a:r>
            <a:r>
              <a:rPr spc="75" dirty="0"/>
              <a:t>row  </a:t>
            </a:r>
            <a:r>
              <a:rPr spc="80" dirty="0"/>
              <a:t>data</a:t>
            </a:r>
            <a:r>
              <a:rPr spc="-75" dirty="0"/>
              <a:t> </a:t>
            </a:r>
            <a:r>
              <a:rPr spc="70" dirty="0"/>
              <a:t>from</a:t>
            </a:r>
            <a:r>
              <a:rPr spc="-70" dirty="0"/>
              <a:t> </a:t>
            </a:r>
            <a:r>
              <a:rPr spc="90" dirty="0"/>
              <a:t>two</a:t>
            </a:r>
            <a:r>
              <a:rPr spc="-60" dirty="0"/>
              <a:t> </a:t>
            </a:r>
            <a:r>
              <a:rPr spc="85" dirty="0"/>
              <a:t>or</a:t>
            </a:r>
            <a:r>
              <a:rPr spc="-70" dirty="0"/>
              <a:t> </a:t>
            </a:r>
            <a:r>
              <a:rPr spc="75" dirty="0"/>
              <a:t>more</a:t>
            </a:r>
            <a:r>
              <a:rPr spc="-70" dirty="0"/>
              <a:t> </a:t>
            </a:r>
            <a:r>
              <a:rPr spc="40" dirty="0"/>
              <a:t>tables.</a:t>
            </a:r>
          </a:p>
          <a:p>
            <a:pPr marL="353695" marR="5080" indent="-341630">
              <a:lnSpc>
                <a:spcPct val="100000"/>
              </a:lnSpc>
              <a:spcBef>
                <a:spcPts val="5"/>
              </a:spcBef>
              <a:buFont typeface="Calibri"/>
              <a:buChar char="●"/>
              <a:tabLst>
                <a:tab pos="353695" algn="l"/>
                <a:tab pos="354330" algn="l"/>
              </a:tabLst>
            </a:pPr>
            <a:r>
              <a:rPr spc="130" dirty="0"/>
              <a:t>The </a:t>
            </a:r>
            <a:r>
              <a:rPr spc="120" dirty="0"/>
              <a:t>PIVOT </a:t>
            </a:r>
            <a:r>
              <a:rPr spc="110" dirty="0"/>
              <a:t>and </a:t>
            </a:r>
            <a:r>
              <a:rPr spc="130" dirty="0"/>
              <a:t>UNPIVOT </a:t>
            </a:r>
            <a:r>
              <a:rPr spc="75" dirty="0"/>
              <a:t>operators </a:t>
            </a:r>
            <a:r>
              <a:rPr spc="80" dirty="0"/>
              <a:t>help </a:t>
            </a:r>
            <a:r>
              <a:rPr spc="110" dirty="0"/>
              <a:t>to </a:t>
            </a:r>
            <a:r>
              <a:rPr spc="70" dirty="0"/>
              <a:t>change </a:t>
            </a:r>
            <a:r>
              <a:rPr spc="110" dirty="0"/>
              <a:t>the </a:t>
            </a:r>
            <a:r>
              <a:rPr spc="90" dirty="0"/>
              <a:t>orientation </a:t>
            </a:r>
            <a:r>
              <a:rPr spc="50" dirty="0"/>
              <a:t>of  </a:t>
            </a:r>
            <a:r>
              <a:rPr spc="80" dirty="0"/>
              <a:t>data</a:t>
            </a:r>
            <a:r>
              <a:rPr spc="-70" dirty="0"/>
              <a:t> </a:t>
            </a:r>
            <a:r>
              <a:rPr spc="70" dirty="0"/>
              <a:t>from</a:t>
            </a:r>
            <a:r>
              <a:rPr spc="-70" dirty="0"/>
              <a:t> </a:t>
            </a:r>
            <a:r>
              <a:rPr spc="80" dirty="0"/>
              <a:t>column-oriented</a:t>
            </a:r>
            <a:r>
              <a:rPr spc="-45" dirty="0"/>
              <a:t> </a:t>
            </a:r>
            <a:r>
              <a:rPr spc="110" dirty="0"/>
              <a:t>to</a:t>
            </a:r>
            <a:r>
              <a:rPr spc="-65" dirty="0"/>
              <a:t> </a:t>
            </a:r>
            <a:r>
              <a:rPr spc="75" dirty="0"/>
              <a:t>row-oriented</a:t>
            </a:r>
            <a:r>
              <a:rPr spc="-45" dirty="0"/>
              <a:t> </a:t>
            </a:r>
            <a:r>
              <a:rPr spc="114" dirty="0"/>
              <a:t>and</a:t>
            </a:r>
            <a:r>
              <a:rPr spc="-75" dirty="0"/>
              <a:t> </a:t>
            </a:r>
            <a:r>
              <a:rPr spc="25" dirty="0"/>
              <a:t>vice</a:t>
            </a:r>
            <a:r>
              <a:rPr spc="-75" dirty="0"/>
              <a:t> </a:t>
            </a:r>
            <a:r>
              <a:rPr spc="35"/>
              <a:t>versa.</a:t>
            </a:r>
            <a:endParaRPr spc="3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1501</TotalTime>
  <Words>6849</Words>
  <Application>Microsoft Office PowerPoint</Application>
  <PresentationFormat>On-screen Show (4:3)</PresentationFormat>
  <Paragraphs>735</Paragraphs>
  <Slides>50</Slides>
  <Notes>50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50</vt:i4>
      </vt:variant>
    </vt:vector>
  </HeadingPairs>
  <TitlesOfParts>
    <vt:vector size="62" baseType="lpstr">
      <vt:lpstr>Arial</vt:lpstr>
      <vt:lpstr>Arial (Body)</vt:lpstr>
      <vt:lpstr>Book Antiqua</vt:lpstr>
      <vt:lpstr>Calibri</vt:lpstr>
      <vt:lpstr>Consolas</vt:lpstr>
      <vt:lpstr>Courier New</vt:lpstr>
      <vt:lpstr>Goudy Old Style</vt:lpstr>
      <vt:lpstr>Palatino Linotype</vt:lpstr>
      <vt:lpstr>Segoe UI Symbol</vt:lpstr>
      <vt:lpstr>Times New Roman</vt:lpstr>
      <vt:lpstr>Wingdings</vt:lpstr>
      <vt:lpstr>Office Theme</vt:lpstr>
      <vt:lpstr>Intelligent Data  Management with SQL  Server</vt:lpstr>
      <vt:lpstr>Objectives</vt:lpstr>
      <vt:lpstr>Introduction</vt:lpstr>
      <vt:lpstr>Grouping Data 1-5</vt:lpstr>
      <vt:lpstr>Grouping Data 2-5</vt:lpstr>
      <vt:lpstr>Grouping Data 3-5</vt:lpstr>
      <vt:lpstr>Grouping Data 4-5</vt:lpstr>
      <vt:lpstr>Grouping Data 5-5</vt:lpstr>
      <vt:lpstr>Summarizing Data 1-4</vt:lpstr>
      <vt:lpstr>Summarizing Data 2-4</vt:lpstr>
      <vt:lpstr>Summarizing Data 3-4</vt:lpstr>
      <vt:lpstr>Summarizing Data 4-4</vt:lpstr>
      <vt:lpstr>Aggregate Functions 1-3</vt:lpstr>
      <vt:lpstr>Aggregate Functions 2-3</vt:lpstr>
      <vt:lpstr>Aggregate Functions 3-3</vt:lpstr>
      <vt:lpstr>Spatial Aggregates 1-3</vt:lpstr>
      <vt:lpstr>Spatial Aggregates 2-3</vt:lpstr>
      <vt:lpstr>Spatial Aggregates 3-3</vt:lpstr>
      <vt:lpstr>More Spatial Aggregates 1-5</vt:lpstr>
      <vt:lpstr>More Spatial Aggregates 2-5</vt:lpstr>
      <vt:lpstr>More Spatial Aggregates 3-5</vt:lpstr>
      <vt:lpstr>More Spatial Aggregates 4-5</vt:lpstr>
      <vt:lpstr>More Spatial Aggregates 5-5</vt:lpstr>
      <vt:lpstr>Subqueries 1-2</vt:lpstr>
      <vt:lpstr>Subqueries 2-2</vt:lpstr>
      <vt:lpstr>Working with Multi-valued Queries</vt:lpstr>
      <vt:lpstr>Nested Subqueries</vt:lpstr>
      <vt:lpstr>Correlated Queries</vt:lpstr>
      <vt:lpstr>Joins</vt:lpstr>
      <vt:lpstr>Inner Join</vt:lpstr>
      <vt:lpstr>Outer Join</vt:lpstr>
      <vt:lpstr>PowerPoint Presentation</vt:lpstr>
      <vt:lpstr>PowerPoint Presentation</vt:lpstr>
      <vt:lpstr>Self-Join</vt:lpstr>
      <vt:lpstr>MERGE Statement</vt:lpstr>
      <vt:lpstr>Common Table Expressions (CTEs)</vt:lpstr>
      <vt:lpstr>Common Table Expressions (CTEs)</vt:lpstr>
      <vt:lpstr>Combining Data Using SET Operators</vt:lpstr>
      <vt:lpstr>PowerPoint Presentation</vt:lpstr>
      <vt:lpstr>UNION Operator 2-2</vt:lpstr>
      <vt:lpstr>UNION Operator 2-3</vt:lpstr>
      <vt:lpstr>INTERSECT Operator</vt:lpstr>
      <vt:lpstr>INTERSECT Operator</vt:lpstr>
      <vt:lpstr>EXCEPT Operator</vt:lpstr>
      <vt:lpstr>EXCEPT Operator</vt:lpstr>
      <vt:lpstr>Pivoting and Grouping Set Operations</vt:lpstr>
      <vt:lpstr>PIVOT Operator</vt:lpstr>
      <vt:lpstr>PowerPoint Presentation</vt:lpstr>
      <vt:lpstr>UNPIVOT Operator</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Aptech Limited</dc:creator>
  <cp:lastModifiedBy>Nguyen Phat Tai (FE FAI HCM)</cp:lastModifiedBy>
  <cp:revision>230</cp:revision>
  <dcterms:created xsi:type="dcterms:W3CDTF">2021-10-11T16:09:56Z</dcterms:created>
  <dcterms:modified xsi:type="dcterms:W3CDTF">2021-10-19T02:36:07Z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2021-05-25T00:00:00Z</vt:filetime>
  </property>
  <property fmtid="{D5CDD505-2E9C-101B-9397-08002B2CF9AE}" pid="3" name="Creator">
    <vt:lpwstr>Microsoft® PowerPoint® 2019</vt:lpwstr>
  </property>
  <property fmtid="{D5CDD505-2E9C-101B-9397-08002B2CF9AE}" pid="4" name="LastSaved">
    <vt:filetime>2021-10-11T00:00:00Z</vt:filetime>
  </property>
</Properties>
</file>