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000" autoAdjust="0"/>
  </p:normalViewPr>
  <p:slideViewPr>
    <p:cSldViewPr>
      <p:cViewPr varScale="1">
        <p:scale>
          <a:sx n="55" d="100"/>
          <a:sy n="55" d="100"/>
        </p:scale>
        <p:origin x="2242"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A64BD5E-3635-469D-83E9-0B8E9F9E5CF0}" type="datetimeFigureOut">
              <a:rPr lang="en-US" smtClean="0"/>
              <a:t>10/13/2021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834DD31-C011-4C27-BF09-0E53B924ED7D}" type="slidenum">
              <a:rPr lang="en-US" smtClean="0"/>
              <a:t>‹#›</a:t>
            </a:fld>
            <a:endParaRPr lang="en-US"/>
          </a:p>
        </p:txBody>
      </p:sp>
    </p:spTree>
    <p:extLst>
      <p:ext uri="{BB962C8B-B14F-4D97-AF65-F5344CB8AC3E}">
        <p14:creationId xmlns:p14="http://schemas.microsoft.com/office/powerpoint/2010/main" val="72650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5: Tạo và quản lý database</a:t>
            </a:r>
          </a:p>
        </p:txBody>
      </p:sp>
      <p:sp>
        <p:nvSpPr>
          <p:cNvPr id="4" name="Slide Number Placeholder 3"/>
          <p:cNvSpPr>
            <a:spLocks noGrp="1"/>
          </p:cNvSpPr>
          <p:nvPr>
            <p:ph type="sldNum" sz="quarter" idx="5"/>
          </p:nvPr>
        </p:nvSpPr>
        <p:spPr/>
        <p:txBody>
          <a:bodyPr/>
          <a:lstStyle/>
          <a:p>
            <a:fld id="{9834DD31-C011-4C27-BF09-0E53B924ED7D}" type="slidenum">
              <a:rPr lang="en-US" smtClean="0"/>
              <a:t>1</a:t>
            </a:fld>
            <a:endParaRPr lang="en-US"/>
          </a:p>
        </p:txBody>
      </p:sp>
    </p:spTree>
    <p:extLst>
      <p:ext uri="{BB962C8B-B14F-4D97-AF65-F5344CB8AC3E}">
        <p14:creationId xmlns:p14="http://schemas.microsoft.com/office/powerpoint/2010/main" val="1240063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Giải thích về việc sửa đổi dữ liệu hệ thống</a:t>
            </a:r>
            <a:endParaRPr lang="en-US" b="0"/>
          </a:p>
          <a:p>
            <a:pPr marL="171450" indent="-171450">
              <a:buFont typeface="Arial" panose="020B0604020202020204" pitchFamily="34" charset="0"/>
              <a:buChar char="•"/>
            </a:pPr>
            <a:r>
              <a:rPr lang="vi-VN" b="0"/>
              <a:t>Mô tả việc thêm các nhóm tập tin và nhật ký giao dịch</a:t>
            </a:r>
          </a:p>
          <a:p>
            <a:pPr marL="171450" indent="-171450">
              <a:buFont typeface="Arial" panose="020B0604020202020204" pitchFamily="34" charset="0"/>
              <a:buChar char="•"/>
            </a:pPr>
            <a:r>
              <a:rPr lang="vi-VN" b="0"/>
              <a:t>Mô tả quy trình để tạo cơ sở dữ liệu</a:t>
            </a:r>
          </a:p>
          <a:p>
            <a:pPr marL="171450" indent="-171450">
              <a:buFont typeface="Arial" panose="020B0604020202020204" pitchFamily="34" charset="0"/>
              <a:buChar char="•"/>
            </a:pPr>
            <a:r>
              <a:rPr lang="vi-VN" b="0"/>
              <a:t>Mô tả quy trình để </a:t>
            </a:r>
            <a:r>
              <a:rPr lang="en-US" b="0"/>
              <a:t>xóa</a:t>
            </a:r>
            <a:r>
              <a:rPr lang="vi-VN" b="0"/>
              <a:t> cơ sở dữ liệu</a:t>
            </a:r>
          </a:p>
          <a:p>
            <a:pPr marL="171450" indent="-171450">
              <a:buFont typeface="Arial" panose="020B0604020202020204" pitchFamily="34" charset="0"/>
              <a:buChar char="•"/>
            </a:pPr>
            <a:r>
              <a:rPr lang="vi-VN" b="0"/>
              <a:t>Mô tả ảnh chụp nhanh cơ sở dữ liệu</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2</a:t>
            </a:fld>
            <a:endParaRPr lang="en-US"/>
          </a:p>
        </p:txBody>
      </p:sp>
    </p:spTree>
    <p:extLst>
      <p:ext uri="{BB962C8B-B14F-4D97-AF65-F5344CB8AC3E}">
        <p14:creationId xmlns:p14="http://schemas.microsoft.com/office/powerpoint/2010/main" val="3133315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Sửa đổi dữ liệu hệ thống</a:t>
            </a:r>
          </a:p>
          <a:p>
            <a:pPr marL="171450" indent="-171450">
              <a:buFont typeface="Arial" panose="020B0604020202020204" pitchFamily="34" charset="0"/>
              <a:buChar char="•"/>
            </a:pPr>
            <a:r>
              <a:rPr lang="vi-VN" b="0"/>
              <a:t>Người dùng có thể tận dụng các công cụ quản trị để quản lý đầy đủ hệ thống và quản lý tất cả các đối tượng của người dùng và cơ sở dữ liệu:</a:t>
            </a:r>
            <a:endParaRPr lang="en-US" b="0"/>
          </a:p>
          <a:p>
            <a:pPr marL="171450" indent="-171450">
              <a:buFont typeface="Arial" panose="020B0604020202020204" pitchFamily="34" charset="0"/>
              <a:buChar char="•"/>
            </a:pPr>
            <a:r>
              <a:rPr lang="en-US" b="1"/>
              <a:t>Tiện ích quản trị </a:t>
            </a:r>
            <a:r>
              <a:rPr lang="vi-VN" b="1"/>
              <a:t>SSMS</a:t>
            </a:r>
            <a:r>
              <a:rPr lang="en-US" b="1"/>
              <a:t>:</a:t>
            </a:r>
          </a:p>
          <a:p>
            <a:pPr marL="628650" lvl="1" indent="-171450">
              <a:buFont typeface="Arial" panose="020B0604020202020204" pitchFamily="34" charset="0"/>
              <a:buChar char="•"/>
            </a:pPr>
            <a:r>
              <a:rPr lang="vi-VN" b="0"/>
              <a:t>Là bảng điều khiển quản trị lõi cho cài đặt SQL Server.</a:t>
            </a:r>
            <a:r>
              <a:rPr lang="en-US" b="0"/>
              <a:t> </a:t>
            </a:r>
            <a:r>
              <a:rPr lang="vi-VN" b="0"/>
              <a:t>Cho phép thực hiện các chức năng quản trị cấp cao, lên lịch các nhiệm vụ bảo trì thường xuyên, v.v.</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Management Objects (SQL-SMO) API:</a:t>
            </a:r>
          </a:p>
          <a:p>
            <a:pPr marL="628650" lvl="1" indent="-171450">
              <a:buFont typeface="Arial" panose="020B0604020202020204" pitchFamily="34" charset="0"/>
              <a:buChar char="•"/>
            </a:pPr>
            <a:r>
              <a:rPr lang="en-US" b="0"/>
              <a:t>Bao gồm chức năng đầy đủ để quản lý máy chủ SQL trong các ứng dụng.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Transact-SQL scripts and stored procedures</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Sử dụng các thủ tục lưu trữ hệ thống và các </a:t>
            </a:r>
            <a:r>
              <a:rPr lang="en-US" sz="1200" b="0">
                <a:latin typeface="Calibri" pitchFamily="34" charset="0"/>
                <a:cs typeface="Calibri" pitchFamily="34" charset="0"/>
              </a:rPr>
              <a:t>lệnh </a:t>
            </a:r>
            <a:r>
              <a:rPr lang="en-US" sz="1200" spc="-20">
                <a:latin typeface="Arial"/>
                <a:cs typeface="Arial"/>
              </a:rPr>
              <a:t>Transact-</a:t>
            </a:r>
            <a:r>
              <a:rPr lang="en-US" sz="1200" spc="-75">
                <a:latin typeface="Arial"/>
                <a:cs typeface="Arial"/>
              </a:rPr>
              <a:t> </a:t>
            </a:r>
            <a:r>
              <a:rPr lang="en-US" sz="1200" spc="15">
                <a:latin typeface="Arial"/>
                <a:cs typeface="Arial"/>
              </a:rPr>
              <a:t>SQL</a:t>
            </a:r>
            <a:endParaRPr lang="en-US" sz="1200" b="0">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9834DD31-C011-4C27-BF09-0E53B924ED7D}" type="slidenum">
              <a:rPr lang="en-US" smtClean="0"/>
              <a:t>3</a:t>
            </a:fld>
            <a:endParaRPr lang="en-US"/>
          </a:p>
        </p:txBody>
      </p:sp>
    </p:spTree>
    <p:extLst>
      <p:ext uri="{BB962C8B-B14F-4D97-AF65-F5344CB8AC3E}">
        <p14:creationId xmlns:p14="http://schemas.microsoft.com/office/powerpoint/2010/main" val="2800312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Xem dữ liệu cơ sở dữ liệu hệ thống</a:t>
            </a:r>
            <a:endParaRPr lang="en-US" b="1"/>
          </a:p>
          <a:p>
            <a:pPr marL="171450" indent="-171450">
              <a:buFont typeface="Arial" panose="020B0604020202020204" pitchFamily="34" charset="0"/>
              <a:buChar char="•"/>
            </a:pPr>
            <a:r>
              <a:rPr lang="vi-VN" b="0"/>
              <a:t>Các ứng dụng cơ sở dữ liệu có thể xác định danh mục và thông tin hệ thống bằng cách sử dụng bất kỳ phương pháp nào trong số này:</a:t>
            </a:r>
            <a:endParaRPr lang="en-US" b="0"/>
          </a:p>
          <a:p>
            <a:pPr marL="628650" lvl="1" indent="-171450">
              <a:buFont typeface="Arial" panose="020B0604020202020204" pitchFamily="34" charset="0"/>
              <a:buChar char="•"/>
            </a:pPr>
            <a:r>
              <a:rPr lang="en-US" b="1"/>
              <a:t>System Catalog Views</a:t>
            </a:r>
            <a:r>
              <a:rPr lang="en-US" b="0"/>
              <a:t>: </a:t>
            </a:r>
            <a:r>
              <a:rPr lang="vi-VN" b="0"/>
              <a:t>Hiển thị siêu dữ liệu để mô tả các đối tượng cơ sở dữ liệu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SQL-SMO: </a:t>
            </a:r>
            <a:r>
              <a:rPr lang="vi-VN" sz="1200" b="0">
                <a:latin typeface="Calibri" pitchFamily="34" charset="0"/>
                <a:cs typeface="Calibri" pitchFamily="34" charset="0"/>
              </a:rPr>
              <a:t>Mô hình đối tượng mã được quản lý mới, cung cấp một tập hợp các đối tượng được sử dụng để quản lý Microsoft SQL Server.</a:t>
            </a:r>
            <a:endParaRPr lang="en-US" sz="1200" b="0">
              <a:latin typeface="Calibri" pitchFamily="34" charset="0"/>
              <a:cs typeface="Calibri" pitchFamily="34" charset="0"/>
            </a:endParaRPr>
          </a:p>
          <a:p>
            <a:pPr marL="628650" lvl="1" indent="-171450">
              <a:buFont typeface="Arial" panose="020B0604020202020204" pitchFamily="34" charset="0"/>
              <a:buChar char="•"/>
            </a:pPr>
            <a:r>
              <a:rPr lang="en-US" b="1"/>
              <a:t>Catalog Functions</a:t>
            </a:r>
            <a:r>
              <a:rPr lang="vi-VN" b="1"/>
              <a:t>, </a:t>
            </a:r>
            <a:r>
              <a:rPr lang="en-US" b="1"/>
              <a:t>Methods</a:t>
            </a:r>
            <a:r>
              <a:rPr lang="vi-VN" b="1"/>
              <a:t>, </a:t>
            </a:r>
            <a:r>
              <a:rPr lang="en-US" b="1"/>
              <a:t>Attributes</a:t>
            </a:r>
            <a:r>
              <a:rPr lang="vi-VN" b="1"/>
              <a:t> </a:t>
            </a:r>
            <a:r>
              <a:rPr lang="en-US" b="1"/>
              <a:t>or</a:t>
            </a:r>
            <a:r>
              <a:rPr lang="vi-VN" b="1"/>
              <a:t> </a:t>
            </a:r>
            <a:r>
              <a:rPr lang="en-US" b="1"/>
              <a:t>Properties</a:t>
            </a:r>
            <a:r>
              <a:rPr lang="vi-VN" b="1"/>
              <a:t> </a:t>
            </a:r>
            <a:r>
              <a:rPr lang="en-US" b="1"/>
              <a:t>of Data </a:t>
            </a:r>
            <a:r>
              <a:rPr lang="vi-VN" b="1"/>
              <a:t>API</a:t>
            </a:r>
            <a:endParaRPr lang="en-US" b="1"/>
          </a:p>
          <a:p>
            <a:pPr marL="1085850" lvl="2" indent="-171450">
              <a:buFont typeface="Arial" panose="020B0604020202020204" pitchFamily="34" charset="0"/>
              <a:buChar char="•"/>
            </a:pPr>
            <a:r>
              <a:rPr lang="vi-VN" b="0"/>
              <a:t>Được sử dụng trong các ứng dụng Dữ liệu ActiveX (ADO), OLE DB hoặc các ứng dụng ODBC.</a:t>
            </a:r>
            <a:endParaRPr lang="en-US" b="0"/>
          </a:p>
          <a:p>
            <a:pPr marL="628650" lvl="1" indent="-171450">
              <a:buFont typeface="Arial" panose="020B0604020202020204" pitchFamily="34" charset="0"/>
              <a:buChar char="•"/>
            </a:pPr>
            <a:r>
              <a:rPr lang="en-US" b="1"/>
              <a:t>Stored Procedures and Functions</a:t>
            </a:r>
          </a:p>
          <a:p>
            <a:pPr marL="1085850" lvl="2" indent="-171450">
              <a:buFont typeface="Arial" panose="020B0604020202020204" pitchFamily="34" charset="0"/>
              <a:buChar char="•"/>
            </a:pPr>
            <a:r>
              <a:rPr lang="vi-VN" b="0"/>
              <a:t>Được sử dụng trong Transact-SQL dưới dạng các thủ tục lưu trữ và các </a:t>
            </a:r>
            <a:r>
              <a:rPr lang="en-US" b="0"/>
              <a:t>hàm </a:t>
            </a:r>
            <a:r>
              <a:rPr lang="vi-VN" b="0"/>
              <a:t>tích hợp</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4</a:t>
            </a:fld>
            <a:endParaRPr lang="en-US"/>
          </a:p>
        </p:txBody>
      </p:sp>
    </p:spTree>
    <p:extLst>
      <p:ext uri="{BB962C8B-B14F-4D97-AF65-F5344CB8AC3E}">
        <p14:creationId xmlns:p14="http://schemas.microsoft.com/office/powerpoint/2010/main" val="2510419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a:t>
            </a:r>
            <a:r>
              <a:rPr lang="vi-VN" b="1"/>
              <a:t>ơ</a:t>
            </a:r>
            <a:r>
              <a:rPr lang="en-US" b="1"/>
              <a:t> sở dữ liệu do ng</a:t>
            </a:r>
            <a:r>
              <a:rPr lang="vi-VN" b="1"/>
              <a:t>ư</a:t>
            </a:r>
            <a:r>
              <a:rPr lang="en-US" b="1"/>
              <a:t>ời dùng tự định nghĩa</a:t>
            </a:r>
          </a:p>
          <a:p>
            <a:r>
              <a:rPr lang="vi-VN"/>
              <a:t>Sử dụng SQL Server 2019</a:t>
            </a:r>
          </a:p>
          <a:p>
            <a:pPr marL="171450" indent="-171450">
              <a:buFont typeface="Arial" panose="020B0604020202020204" pitchFamily="34" charset="0"/>
              <a:buChar char="•"/>
            </a:pPr>
            <a:r>
              <a:rPr lang="vi-VN"/>
              <a:t>Người dùng có thể tạo cơ sở dữ liệu của riêng họ, còn được gọi là cơ sở dữ liệu do người dùng xác định và</a:t>
            </a:r>
            <a:r>
              <a:rPr lang="en-US"/>
              <a:t> </a:t>
            </a:r>
            <a:r>
              <a:rPr lang="vi-VN"/>
              <a:t>làm việc với họ.</a:t>
            </a:r>
          </a:p>
          <a:p>
            <a:pPr marL="171450" indent="-171450">
              <a:buFont typeface="Arial" panose="020B0604020202020204" pitchFamily="34" charset="0"/>
              <a:buChar char="•"/>
            </a:pPr>
            <a:r>
              <a:rPr lang="vi-VN"/>
              <a:t>Mục đích của các cơ sở dữ liệu này là lưu trữ dữ liệu người dùng.</a:t>
            </a:r>
            <a:endParaRPr lang="en-US"/>
          </a:p>
        </p:txBody>
      </p:sp>
      <p:sp>
        <p:nvSpPr>
          <p:cNvPr id="4" name="Slide Number Placeholder 3"/>
          <p:cNvSpPr>
            <a:spLocks noGrp="1"/>
          </p:cNvSpPr>
          <p:nvPr>
            <p:ph type="sldNum" sz="quarter" idx="5"/>
          </p:nvPr>
        </p:nvSpPr>
        <p:spPr/>
        <p:txBody>
          <a:bodyPr/>
          <a:lstStyle/>
          <a:p>
            <a:fld id="{9834DD31-C011-4C27-BF09-0E53B924ED7D}" type="slidenum">
              <a:rPr lang="en-US" smtClean="0"/>
              <a:t>5</a:t>
            </a:fld>
            <a:endParaRPr lang="en-US"/>
          </a:p>
        </p:txBody>
      </p:sp>
    </p:spTree>
    <p:extLst>
      <p:ext uri="{BB962C8B-B14F-4D97-AF65-F5344CB8AC3E}">
        <p14:creationId xmlns:p14="http://schemas.microsoft.com/office/powerpoint/2010/main" val="1648659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Tạo cơ sở dữ liệu</a:t>
            </a:r>
            <a:r>
              <a:rPr lang="en-US" b="1"/>
              <a:t> sử dụng </a:t>
            </a:r>
            <a:r>
              <a:rPr lang="en-US" sz="1200" b="1" spc="-25"/>
              <a:t>Transact-SQL</a:t>
            </a:r>
            <a:r>
              <a:rPr lang="en-US" sz="1200" spc="-25"/>
              <a:t> </a:t>
            </a:r>
            <a:r>
              <a:rPr lang="en-US" b="1"/>
              <a:t>1-3</a:t>
            </a:r>
          </a:p>
          <a:p>
            <a:r>
              <a:rPr lang="vi-VN" b="0"/>
              <a:t>Để tạo cơ sở dữ liệu do người dùng xác định, thông tin cần thiết như sau:</a:t>
            </a:r>
          </a:p>
          <a:p>
            <a:pPr marL="628650" lvl="1" indent="-171450">
              <a:buFont typeface="Arial" panose="020B0604020202020204" pitchFamily="34" charset="0"/>
              <a:buChar char="•"/>
            </a:pPr>
            <a:r>
              <a:rPr lang="vi-VN" b="0"/>
              <a:t>Tên cơ sở dữ liệu</a:t>
            </a:r>
          </a:p>
          <a:p>
            <a:pPr marL="628650" lvl="1" indent="-171450">
              <a:buFont typeface="Arial" panose="020B0604020202020204" pitchFamily="34" charset="0"/>
              <a:buChar char="•"/>
            </a:pPr>
            <a:r>
              <a:rPr lang="vi-VN" b="0"/>
              <a:t>Chủ sở hữu hoặc người tạo cơ sở dữ liệu</a:t>
            </a:r>
          </a:p>
          <a:p>
            <a:pPr marL="628650" lvl="1" indent="-171450">
              <a:buFont typeface="Arial" panose="020B0604020202020204" pitchFamily="34" charset="0"/>
              <a:buChar char="•"/>
            </a:pPr>
            <a:r>
              <a:rPr lang="vi-VN" b="0"/>
              <a:t>Kích thước của cơ sở dữ liệu</a:t>
            </a:r>
          </a:p>
          <a:p>
            <a:pPr marL="628650" lvl="1" indent="-171450">
              <a:buFont typeface="Arial" panose="020B0604020202020204" pitchFamily="34" charset="0"/>
              <a:buChar char="•"/>
            </a:pPr>
            <a:r>
              <a:rPr lang="vi-VN" b="0"/>
              <a:t>Tập tin và nhóm tập tin được sử dụng để lưu trữ nó</a:t>
            </a:r>
            <a:endParaRPr lang="en-US" b="0"/>
          </a:p>
          <a:p>
            <a:pPr marL="0" lvl="0" indent="0">
              <a:buFont typeface="Arial" panose="020B0604020202020204" pitchFamily="34" charset="0"/>
              <a:buNone/>
            </a:pPr>
            <a:r>
              <a:rPr lang="vi-VN" b="0"/>
              <a:t>Sau đây là cú pháp để tạo cơ sở dữ liệu do người dùng </a:t>
            </a:r>
            <a:r>
              <a:rPr lang="en-US" b="0"/>
              <a:t>tự</a:t>
            </a:r>
            <a:r>
              <a:rPr lang="vi-VN" b="0"/>
              <a:t> định</a:t>
            </a:r>
            <a:r>
              <a:rPr lang="en-US" b="0"/>
              <a:t> nghĩa:</a:t>
            </a:r>
          </a:p>
          <a:p>
            <a:pPr marL="628650" lvl="1" indent="-171450">
              <a:buFont typeface="Arial" panose="020B0604020202020204" pitchFamily="34" charset="0"/>
              <a:buChar char="•"/>
            </a:pPr>
            <a:r>
              <a:rPr lang="en-US" sz="1200" b="1">
                <a:latin typeface="Calibri" panose="020F0502020204030204" pitchFamily="34" charset="0"/>
                <a:cs typeface="Courier New" pitchFamily="49" charset="0"/>
              </a:rPr>
              <a:t>ON</a:t>
            </a:r>
            <a:r>
              <a:rPr lang="vi-VN" b="0"/>
              <a:t>: Cho biết các t</a:t>
            </a:r>
            <a:r>
              <a:rPr lang="en-US" b="0"/>
              <a:t>ậ</a:t>
            </a:r>
            <a:r>
              <a:rPr lang="vi-VN" b="0"/>
              <a:t>p </a:t>
            </a:r>
            <a:r>
              <a:rPr lang="en-US" b="0"/>
              <a:t>tin </a:t>
            </a:r>
            <a:r>
              <a:rPr lang="vi-VN" b="0"/>
              <a:t>đĩa được sử dụng để lưu trữ phần dữ liệu của các t</a:t>
            </a:r>
            <a:r>
              <a:rPr lang="en-US" b="0"/>
              <a:t>ậ</a:t>
            </a:r>
            <a:r>
              <a:rPr lang="vi-VN" b="0"/>
              <a:t>p </a:t>
            </a:r>
            <a:r>
              <a:rPr lang="en-US" b="0"/>
              <a:t>tin </a:t>
            </a:r>
            <a:r>
              <a:rPr lang="vi-VN" b="0"/>
              <a:t>dữ liệu và cơ sở dữ liệu.</a:t>
            </a:r>
            <a:endParaRPr lang="en-US" b="0"/>
          </a:p>
          <a:p>
            <a:pPr marL="628650" lvl="1" indent="-171450">
              <a:buFont typeface="Arial" panose="020B0604020202020204" pitchFamily="34" charset="0"/>
              <a:buChar char="•"/>
            </a:pPr>
            <a:r>
              <a:rPr lang="en-US" sz="1200" b="1">
                <a:latin typeface="Calibri" panose="020F0502020204030204" pitchFamily="34" charset="0"/>
                <a:cs typeface="Courier New" pitchFamily="49" charset="0"/>
              </a:rPr>
              <a:t>PRIMARY</a:t>
            </a:r>
            <a:r>
              <a:rPr lang="en-US" b="0"/>
              <a:t>: là danh sách &lt;fileSpec&gt; liên quan xác định nhóm tập tin chính</a:t>
            </a:r>
          </a:p>
          <a:p>
            <a:pPr marL="628650" lvl="1" indent="-171450">
              <a:buFont typeface="Arial" panose="020B0604020202020204" pitchFamily="34" charset="0"/>
              <a:buChar char="•"/>
            </a:pPr>
            <a:r>
              <a:rPr lang="en-US" b="0"/>
              <a:t>&lt;filegroup&gt;: điều khiển thuộc tính filegroup.</a:t>
            </a:r>
          </a:p>
          <a:p>
            <a:pPr marL="628650" lvl="1" indent="-171450">
              <a:buFont typeface="Arial" panose="020B0604020202020204" pitchFamily="34" charset="0"/>
              <a:buChar char="•"/>
            </a:pPr>
            <a:r>
              <a:rPr lang="en-US" sz="1200" b="1">
                <a:latin typeface="Calibri" panose="020F0502020204030204" pitchFamily="34" charset="0"/>
                <a:cs typeface="Courier New" pitchFamily="49" charset="0"/>
              </a:rPr>
              <a:t>LOG ON</a:t>
            </a:r>
            <a:r>
              <a:rPr lang="vi-VN" b="0"/>
              <a:t>: Cho biết các t</a:t>
            </a:r>
            <a:r>
              <a:rPr lang="en-US" b="0"/>
              <a:t>ậ</a:t>
            </a:r>
            <a:r>
              <a:rPr lang="vi-VN" b="0"/>
              <a:t>p </a:t>
            </a:r>
            <a:r>
              <a:rPr lang="en-US" b="0"/>
              <a:t>tin </a:t>
            </a:r>
            <a:r>
              <a:rPr lang="vi-VN" b="0"/>
              <a:t>đĩa được sử dụng để lưu trữ nhật ký cơ sở dữ liệu và t</a:t>
            </a:r>
            <a:r>
              <a:rPr lang="en-US" b="0"/>
              <a:t>ậ</a:t>
            </a:r>
            <a:r>
              <a:rPr lang="vi-VN" b="0"/>
              <a:t>p </a:t>
            </a:r>
            <a:r>
              <a:rPr lang="en-US" b="0"/>
              <a:t>tin </a:t>
            </a:r>
            <a:r>
              <a:rPr lang="vi-VN" b="0"/>
              <a:t>nhật ký.</a:t>
            </a:r>
            <a:endParaRPr lang="en-US" b="0"/>
          </a:p>
          <a:p>
            <a:pPr marL="628650" lvl="1" indent="-171450">
              <a:buFont typeface="Arial" panose="020B0604020202020204" pitchFamily="34" charset="0"/>
              <a:buChar char="•"/>
            </a:pPr>
            <a:r>
              <a:rPr lang="en-US" sz="1200" b="1">
                <a:latin typeface="Calibri" panose="020F0502020204030204" pitchFamily="34" charset="0"/>
                <a:cs typeface="Courier New" pitchFamily="49" charset="0"/>
              </a:rPr>
              <a:t>COLLATE</a:t>
            </a:r>
            <a:r>
              <a:rPr lang="en-US" b="0"/>
              <a:t>: Xác định các quy tắc so sánh và sắp xếp ký tự dựa trên tiêu chuẩn của ngôn ngữ và vị trí. Tên đối chiếu có thể là tên đối chiếu Windows hoặc tên đối chiếu SQL.</a:t>
            </a:r>
          </a:p>
        </p:txBody>
      </p:sp>
      <p:sp>
        <p:nvSpPr>
          <p:cNvPr id="4" name="Slide Number Placeholder 3"/>
          <p:cNvSpPr>
            <a:spLocks noGrp="1"/>
          </p:cNvSpPr>
          <p:nvPr>
            <p:ph type="sldNum" sz="quarter" idx="5"/>
          </p:nvPr>
        </p:nvSpPr>
        <p:spPr/>
        <p:txBody>
          <a:bodyPr/>
          <a:lstStyle/>
          <a:p>
            <a:fld id="{9834DD31-C011-4C27-BF09-0E53B924ED7D}" type="slidenum">
              <a:rPr lang="en-US" smtClean="0"/>
              <a:t>6</a:t>
            </a:fld>
            <a:endParaRPr lang="en-US"/>
          </a:p>
        </p:txBody>
      </p:sp>
    </p:spTree>
    <p:extLst>
      <p:ext uri="{BB962C8B-B14F-4D97-AF65-F5344CB8AC3E}">
        <p14:creationId xmlns:p14="http://schemas.microsoft.com/office/powerpoint/2010/main" val="3881819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Tạo cơ sở dữ liệu</a:t>
            </a:r>
            <a:r>
              <a:rPr lang="en-US" b="1"/>
              <a:t> sử dụng </a:t>
            </a:r>
            <a:r>
              <a:rPr lang="en-US" sz="1200" b="1" spc="-25"/>
              <a:t>Transact-SQL</a:t>
            </a:r>
            <a:r>
              <a:rPr lang="en-US" sz="1200" spc="-25"/>
              <a:t> </a:t>
            </a:r>
            <a:r>
              <a:rPr lang="en-US" b="1"/>
              <a:t>2-3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Cơ sở dữ liệu SQL Server sử dụng </a:t>
            </a:r>
            <a:r>
              <a:rPr lang="en-US" b="0"/>
              <a:t>2</a:t>
            </a:r>
            <a:r>
              <a:rPr lang="vi-VN" b="0"/>
              <a:t> </a:t>
            </a:r>
            <a:r>
              <a:rPr lang="en-US" b="0"/>
              <a:t>tập tin</a:t>
            </a:r>
            <a:r>
              <a:rPr lang="vi-VN" b="0"/>
              <a:t> – </a:t>
            </a:r>
            <a:r>
              <a:rPr lang="en-US" b="0"/>
              <a:t>tập tin</a:t>
            </a:r>
            <a:r>
              <a:rPr lang="vi-VN" b="0"/>
              <a:t> </a:t>
            </a:r>
            <a:r>
              <a:rPr lang="vi-VN" b="1"/>
              <a:t>.mdf</a:t>
            </a:r>
            <a:r>
              <a:rPr lang="vi-VN" b="0"/>
              <a:t>, được gọi là t</a:t>
            </a:r>
            <a:r>
              <a:rPr lang="en-US" b="0"/>
              <a:t>ậ</a:t>
            </a:r>
            <a:r>
              <a:rPr lang="vi-VN" b="0"/>
              <a:t>p </a:t>
            </a:r>
            <a:r>
              <a:rPr lang="en-US" b="0"/>
              <a:t>tin </a:t>
            </a:r>
            <a:r>
              <a:rPr lang="vi-VN" b="0"/>
              <a:t>cơ sở dữ liệu chính, chứa lược đồ và dữ liệu và t</a:t>
            </a:r>
            <a:r>
              <a:rPr lang="en-US" b="0"/>
              <a:t>ậ</a:t>
            </a:r>
            <a:r>
              <a:rPr lang="vi-VN" b="0"/>
              <a:t>p </a:t>
            </a:r>
            <a:r>
              <a:rPr lang="en-US" b="0"/>
              <a:t>tin </a:t>
            </a:r>
            <a:r>
              <a:rPr lang="vi-VN" b="1"/>
              <a:t>.ldf</a:t>
            </a:r>
            <a:r>
              <a:rPr lang="vi-VN" b="0"/>
              <a:t>, chứa nhật ký. Cơ sở dữ liệu cũng có thể sử dụng t</a:t>
            </a:r>
            <a:r>
              <a:rPr lang="en-US" b="0"/>
              <a:t>ậ</a:t>
            </a:r>
            <a:r>
              <a:rPr lang="vi-VN" b="0"/>
              <a:t>p </a:t>
            </a:r>
            <a:r>
              <a:rPr lang="en-US" b="0"/>
              <a:t>tin </a:t>
            </a:r>
            <a:r>
              <a:rPr lang="vi-VN" b="0"/>
              <a:t>cơ sở dữ liệu thứ cấp, thường sử dụng tiện ích mở rộng </a:t>
            </a:r>
            <a:r>
              <a:rPr lang="vi-VN" b="1"/>
              <a:t>.ndf</a:t>
            </a:r>
            <a:endParaRPr lang="en-US"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MDF là viết tắt </a:t>
            </a:r>
            <a:r>
              <a:rPr lang="en-US" sz="1200" b="1" spc="-35">
                <a:solidFill>
                  <a:srgbClr val="FFFFFF"/>
                </a:solidFill>
                <a:latin typeface="Arial"/>
                <a:cs typeface="Arial"/>
              </a:rPr>
              <a:t>Master</a:t>
            </a:r>
            <a:r>
              <a:rPr lang="en-US" sz="1200" b="1" spc="-110">
                <a:solidFill>
                  <a:srgbClr val="FFFFFF"/>
                </a:solidFill>
                <a:latin typeface="Arial"/>
                <a:cs typeface="Arial"/>
              </a:rPr>
              <a:t> </a:t>
            </a:r>
            <a:r>
              <a:rPr lang="en-US" sz="1200" b="1" spc="-90">
                <a:solidFill>
                  <a:srgbClr val="FFFFFF"/>
                </a:solidFill>
                <a:latin typeface="Arial"/>
                <a:cs typeface="Arial"/>
              </a:rPr>
              <a:t>Database</a:t>
            </a:r>
            <a:r>
              <a:rPr lang="en-US" sz="1200" b="1" spc="-110">
                <a:solidFill>
                  <a:srgbClr val="FFFFFF"/>
                </a:solidFill>
                <a:latin typeface="Arial"/>
                <a:cs typeface="Arial"/>
              </a:rPr>
              <a:t> </a:t>
            </a:r>
            <a:r>
              <a:rPr lang="en-US" sz="1200" b="1" spc="-25">
                <a:solidFill>
                  <a:srgbClr val="FFFFFF"/>
                </a:solidFill>
                <a:latin typeface="Arial"/>
                <a:cs typeface="Arial"/>
              </a:rPr>
              <a:t>File</a:t>
            </a:r>
            <a:endParaRPr lang="vi-VN" b="1"/>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Nó chứa thông tin chính của cơ sở dữ liệu là một phần của máy chủ.</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Tiện ích mở rộng này cũng trỏ đến nhiều t</a:t>
            </a:r>
            <a:r>
              <a:rPr lang="en-US" b="0"/>
              <a:t>ậ</a:t>
            </a:r>
            <a:r>
              <a:rPr lang="vi-VN" b="0"/>
              <a:t>p </a:t>
            </a:r>
            <a:r>
              <a:rPr lang="en-US" b="0"/>
              <a:t>tin </a:t>
            </a:r>
            <a:r>
              <a:rPr lang="vi-VN" b="0"/>
              <a:t>khác.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Đóng một vai trò quan trọng trong việc lưu trữ thông tin.</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LDF là viết tắt của </a:t>
            </a:r>
            <a:r>
              <a:rPr lang="en-US" sz="1200" b="1" spc="-25">
                <a:solidFill>
                  <a:srgbClr val="FFFFFF"/>
                </a:solidFill>
                <a:latin typeface="Arial"/>
                <a:cs typeface="Arial"/>
              </a:rPr>
              <a:t>Log</a:t>
            </a:r>
            <a:r>
              <a:rPr lang="en-US" sz="1200" b="1" spc="-130">
                <a:solidFill>
                  <a:srgbClr val="FFFFFF"/>
                </a:solidFill>
                <a:latin typeface="Arial"/>
                <a:cs typeface="Arial"/>
              </a:rPr>
              <a:t> </a:t>
            </a:r>
            <a:r>
              <a:rPr lang="en-US" sz="1200" b="1" spc="-90">
                <a:solidFill>
                  <a:srgbClr val="FFFFFF"/>
                </a:solidFill>
                <a:latin typeface="Arial"/>
                <a:cs typeface="Arial"/>
              </a:rPr>
              <a:t>Database</a:t>
            </a:r>
            <a:r>
              <a:rPr lang="en-US" sz="1200" b="1" spc="-105">
                <a:solidFill>
                  <a:srgbClr val="FFFFFF"/>
                </a:solidFill>
                <a:latin typeface="Arial"/>
                <a:cs typeface="Arial"/>
              </a:rPr>
              <a:t> </a:t>
            </a:r>
            <a:r>
              <a:rPr lang="en-US" sz="1200" b="1" spc="-25">
                <a:solidFill>
                  <a:srgbClr val="FFFFFF"/>
                </a:solidFill>
                <a:latin typeface="Arial"/>
                <a:cs typeface="Arial"/>
              </a:rPr>
              <a:t>File</a:t>
            </a:r>
            <a:endParaRPr lang="vi-VN" b="1"/>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Lưu trữ thông tin liên quan đến nhật ký giao dịch cho t</a:t>
            </a:r>
            <a:r>
              <a:rPr lang="en-US" b="0"/>
              <a:t>ậ</a:t>
            </a:r>
            <a:r>
              <a:rPr lang="vi-VN" b="0"/>
              <a:t>p </a:t>
            </a:r>
            <a:r>
              <a:rPr lang="en-US" b="0"/>
              <a:t>tin </a:t>
            </a:r>
            <a:r>
              <a:rPr lang="vi-VN" b="0"/>
              <a:t>dữ liệu chính.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Theo dõi các thay đổi đã được thực hiện trong cơ sở dữ liệu.</a:t>
            </a:r>
            <a:endParaRPr lang="en-US" b="0"/>
          </a:p>
          <a:p>
            <a:endParaRPr lang="en-US"/>
          </a:p>
        </p:txBody>
      </p:sp>
      <p:sp>
        <p:nvSpPr>
          <p:cNvPr id="4" name="Slide Number Placeholder 3"/>
          <p:cNvSpPr>
            <a:spLocks noGrp="1"/>
          </p:cNvSpPr>
          <p:nvPr>
            <p:ph type="sldNum" sz="quarter" idx="5"/>
          </p:nvPr>
        </p:nvSpPr>
        <p:spPr/>
        <p:txBody>
          <a:bodyPr/>
          <a:lstStyle/>
          <a:p>
            <a:fld id="{9834DD31-C011-4C27-BF09-0E53B924ED7D}" type="slidenum">
              <a:rPr lang="en-US" smtClean="0"/>
              <a:t>7</a:t>
            </a:fld>
            <a:endParaRPr lang="en-US"/>
          </a:p>
        </p:txBody>
      </p:sp>
    </p:spTree>
    <p:extLst>
      <p:ext uri="{BB962C8B-B14F-4D97-AF65-F5344CB8AC3E}">
        <p14:creationId xmlns:p14="http://schemas.microsoft.com/office/powerpoint/2010/main" val="2465353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Tạo cơ sở dữ liệu</a:t>
            </a:r>
            <a:r>
              <a:rPr lang="en-US" b="1"/>
              <a:t> sử dụng </a:t>
            </a:r>
            <a:r>
              <a:rPr lang="en-US" sz="1200" b="1" spc="-25"/>
              <a:t>Transact-SQL</a:t>
            </a:r>
            <a:r>
              <a:rPr lang="en-US" sz="1200" spc="-25"/>
              <a:t> </a:t>
            </a:r>
            <a:r>
              <a:rPr lang="en-US" b="1"/>
              <a:t>3-3</a:t>
            </a:r>
          </a:p>
          <a:p>
            <a:endParaRPr lang="en-US"/>
          </a:p>
        </p:txBody>
      </p:sp>
      <p:sp>
        <p:nvSpPr>
          <p:cNvPr id="4" name="Slide Number Placeholder 3"/>
          <p:cNvSpPr>
            <a:spLocks noGrp="1"/>
          </p:cNvSpPr>
          <p:nvPr>
            <p:ph type="sldNum" sz="quarter" idx="5"/>
          </p:nvPr>
        </p:nvSpPr>
        <p:spPr/>
        <p:txBody>
          <a:bodyPr/>
          <a:lstStyle/>
          <a:p>
            <a:fld id="{9834DD31-C011-4C27-BF09-0E53B924ED7D}" type="slidenum">
              <a:rPr lang="en-US" smtClean="0"/>
              <a:t>8</a:t>
            </a:fld>
            <a:endParaRPr lang="en-US"/>
          </a:p>
        </p:txBody>
      </p:sp>
    </p:spTree>
    <p:extLst>
      <p:ext uri="{BB962C8B-B14F-4D97-AF65-F5344CB8AC3E}">
        <p14:creationId xmlns:p14="http://schemas.microsoft.com/office/powerpoint/2010/main" val="2330250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Sửa đổi cơ sở dữ liệu</a:t>
            </a:r>
            <a:endParaRPr lang="en-US" b="1"/>
          </a:p>
          <a:p>
            <a:pPr marL="0" indent="0">
              <a:buFont typeface="Arial" panose="020B0604020202020204" pitchFamily="34" charset="0"/>
              <a:buNone/>
            </a:pPr>
            <a:r>
              <a:rPr lang="en-US" b="0"/>
              <a:t>Một c</a:t>
            </a:r>
            <a:r>
              <a:rPr lang="vi-VN" b="0"/>
              <a:t>ơ sở dữ liệu </a:t>
            </a:r>
            <a:r>
              <a:rPr lang="en-US" b="0"/>
              <a:t>do</a:t>
            </a:r>
            <a:r>
              <a:rPr lang="vi-VN" b="0"/>
              <a:t> người </a:t>
            </a:r>
            <a:r>
              <a:rPr lang="en-US" b="0"/>
              <a:t>dùng tự định nghĩa đ</a:t>
            </a:r>
            <a:r>
              <a:rPr lang="vi-VN" b="0"/>
              <a:t>ư</a:t>
            </a:r>
            <a:r>
              <a:rPr lang="en-US" b="0"/>
              <a:t>ợc </a:t>
            </a:r>
            <a:r>
              <a:rPr lang="vi-VN" b="0"/>
              <a:t>thực hiện như sau:</a:t>
            </a:r>
            <a:endParaRPr lang="en-US" b="0"/>
          </a:p>
          <a:p>
            <a:pPr marL="628650" lvl="1" indent="-171450">
              <a:buFont typeface="Arial" panose="020B0604020202020204" pitchFamily="34" charset="0"/>
              <a:buChar char="•"/>
            </a:pPr>
            <a:r>
              <a:rPr lang="vi-VN" b="0"/>
              <a:t>Nó phát triển hoặc giảm dần</a:t>
            </a:r>
          </a:p>
          <a:p>
            <a:pPr marL="628650" lvl="1" indent="-171450">
              <a:buFont typeface="Arial" panose="020B0604020202020204" pitchFamily="34" charset="0"/>
              <a:buChar char="•"/>
            </a:pPr>
            <a:r>
              <a:rPr lang="vi-VN" b="0"/>
              <a:t>Kích thước của nó mở rộng hoặc thu nhỏ tự động hoặc thủ công</a:t>
            </a:r>
            <a:endParaRPr lang="en-US" b="0"/>
          </a:p>
          <a:p>
            <a:r>
              <a:rPr lang="en-US" b="0"/>
              <a:t>Ví dụ:</a:t>
            </a:r>
            <a:r>
              <a:rPr lang="vi-VN" b="0"/>
              <a:t> </a:t>
            </a:r>
            <a:r>
              <a:rPr lang="en-US" b="0"/>
              <a:t>Để </a:t>
            </a:r>
            <a:r>
              <a:rPr lang="vi-VN" b="0"/>
              <a:t>đổi tên một cơ sở dữ liệu </a:t>
            </a:r>
            <a:r>
              <a:rPr lang="vi-VN" b="1"/>
              <a:t>Customer_DB </a:t>
            </a:r>
            <a:r>
              <a:rPr lang="en-US" b="0"/>
              <a:t>thành</a:t>
            </a:r>
            <a:r>
              <a:rPr lang="vi-VN" b="0"/>
              <a:t> tên cơ sở dữ liệu mới, </a:t>
            </a:r>
            <a:r>
              <a:rPr lang="vi-VN" b="1"/>
              <a:t>CUST_DB</a:t>
            </a:r>
            <a:endParaRPr lang="en-US" b="1"/>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C00000"/>
                </a:solidFill>
              </a:rPr>
              <a:t>ALTER DATABASE </a:t>
            </a:r>
            <a:r>
              <a:rPr lang="en-US" sz="1200" b="1"/>
              <a:t>Customer_DB </a:t>
            </a:r>
            <a:r>
              <a:rPr lang="en-US" sz="1200" b="1">
                <a:solidFill>
                  <a:srgbClr val="0036A2"/>
                </a:solidFill>
              </a:rPr>
              <a:t>MODIFY NAME </a:t>
            </a:r>
            <a:r>
              <a:rPr lang="en-US" sz="1200" b="1"/>
              <a:t>= CUST_DB</a:t>
            </a:r>
          </a:p>
        </p:txBody>
      </p:sp>
      <p:sp>
        <p:nvSpPr>
          <p:cNvPr id="4" name="Slide Number Placeholder 3"/>
          <p:cNvSpPr>
            <a:spLocks noGrp="1"/>
          </p:cNvSpPr>
          <p:nvPr>
            <p:ph type="sldNum" sz="quarter" idx="5"/>
          </p:nvPr>
        </p:nvSpPr>
        <p:spPr/>
        <p:txBody>
          <a:bodyPr/>
          <a:lstStyle/>
          <a:p>
            <a:fld id="{9834DD31-C011-4C27-BF09-0E53B924ED7D}" type="slidenum">
              <a:rPr lang="en-US" smtClean="0"/>
              <a:t>9</a:t>
            </a:fld>
            <a:endParaRPr lang="en-US"/>
          </a:p>
        </p:txBody>
      </p:sp>
    </p:spTree>
    <p:extLst>
      <p:ext uri="{BB962C8B-B14F-4D97-AF65-F5344CB8AC3E}">
        <p14:creationId xmlns:p14="http://schemas.microsoft.com/office/powerpoint/2010/main" val="44594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Quyền sở hữu cơ sở dữ liệu</a:t>
            </a:r>
            <a:endParaRPr lang="en-US" b="1"/>
          </a:p>
          <a:p>
            <a:pPr marL="171450" indent="-171450">
              <a:buFont typeface="Arial" panose="020B0604020202020204" pitchFamily="34" charset="0"/>
              <a:buChar char="•"/>
            </a:pPr>
            <a:r>
              <a:rPr lang="en-US" b="0"/>
              <a:t>Trong </a:t>
            </a:r>
            <a:r>
              <a:rPr lang="en-US" sz="1200" spc="25">
                <a:solidFill>
                  <a:srgbClr val="FFFFFF"/>
                </a:solidFill>
                <a:latin typeface="Arial"/>
                <a:cs typeface="Arial"/>
              </a:rPr>
              <a:t>SQL Server 2019, q</a:t>
            </a:r>
            <a:r>
              <a:rPr lang="vi-VN" b="0"/>
              <a:t>uyền sở hữu của một cơ sở dữ liệu do người dùng định </a:t>
            </a:r>
            <a:r>
              <a:rPr lang="en-US" b="0"/>
              <a:t>nghĩa </a:t>
            </a:r>
            <a:r>
              <a:rPr lang="vi-VN" b="0"/>
              <a:t>có thể được thay đổi.</a:t>
            </a:r>
          </a:p>
          <a:p>
            <a:pPr marL="171450" indent="-171450">
              <a:buFont typeface="Arial" panose="020B0604020202020204" pitchFamily="34" charset="0"/>
              <a:buChar char="•"/>
            </a:pPr>
            <a:r>
              <a:rPr lang="vi-VN" b="0"/>
              <a:t>Quyền sở hữu cơ sở dữ liệu hệ thống (</a:t>
            </a:r>
            <a:r>
              <a:rPr lang="en-US" b="1"/>
              <a:t>m</a:t>
            </a:r>
            <a:r>
              <a:rPr lang="vi-VN" b="1"/>
              <a:t>aster</a:t>
            </a:r>
            <a:r>
              <a:rPr lang="vi-VN" b="0"/>
              <a:t>, </a:t>
            </a:r>
            <a:r>
              <a:rPr lang="en-US" b="1"/>
              <a:t>m</a:t>
            </a:r>
            <a:r>
              <a:rPr lang="vi-VN" b="1"/>
              <a:t>odel </a:t>
            </a:r>
            <a:r>
              <a:rPr lang="vi-VN" b="0"/>
              <a:t>hoặc </a:t>
            </a:r>
            <a:r>
              <a:rPr lang="en-US" b="1"/>
              <a:t>t</a:t>
            </a:r>
            <a:r>
              <a:rPr lang="vi-VN" b="1"/>
              <a:t>empdb</a:t>
            </a:r>
            <a:r>
              <a:rPr lang="vi-VN" b="0"/>
              <a:t>) không thể thay đổi.</a:t>
            </a:r>
          </a:p>
          <a:p>
            <a:pPr marL="171450" indent="-171450">
              <a:buFont typeface="Arial" panose="020B0604020202020204" pitchFamily="34" charset="0"/>
              <a:buChar char="•"/>
            </a:pPr>
            <a:r>
              <a:rPr lang="en-US" b="0"/>
              <a:t>Thủ tục </a:t>
            </a:r>
            <a:r>
              <a:rPr lang="vi-VN" b="0"/>
              <a:t>hệ thống </a:t>
            </a:r>
            <a:r>
              <a:rPr lang="vi-VN" b="1"/>
              <a:t>sp_changedbowner </a:t>
            </a:r>
            <a:r>
              <a:rPr lang="vi-VN" b="0"/>
              <a:t>được sử dụng để thay đổi quyền sở hữu của cơ sở dữ liệu. Cú pháp như sau:</a:t>
            </a:r>
            <a:endParaRPr lang="en-US" b="0"/>
          </a:p>
          <a:p>
            <a:pPr marL="457200" marR="0" lvl="1"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a:solidFill>
                  <a:srgbClr val="C00000"/>
                </a:solidFill>
              </a:rPr>
              <a:t>sp_changedbowner [ @loginame = ] 'login‘</a:t>
            </a:r>
          </a:p>
          <a:p>
            <a:pPr marL="171450" lvl="0" indent="-171450">
              <a:buFont typeface="Arial" panose="020B0604020202020204" pitchFamily="34" charset="0"/>
              <a:buChar char="•"/>
            </a:pPr>
            <a:r>
              <a:rPr lang="en-US" sz="1200" b="1">
                <a:cs typeface="Courier New" pitchFamily="49" charset="0"/>
              </a:rPr>
              <a:t>login</a:t>
            </a:r>
            <a:r>
              <a:rPr lang="vi-VN" b="0"/>
              <a:t>: là tên người dùng cơ sở dữ liệu hiện có</a:t>
            </a:r>
            <a:endParaRPr lang="en-US" b="0"/>
          </a:p>
          <a:p>
            <a:pPr marL="171450" lvl="0" indent="-171450">
              <a:buFont typeface="Arial" panose="020B0604020202020204" pitchFamily="34" charset="0"/>
              <a:buChar char="•"/>
            </a:pPr>
            <a:r>
              <a:rPr lang="en-US" b="0"/>
              <a:t>Ví dụ:</a:t>
            </a:r>
          </a:p>
          <a:p>
            <a:pPr lvl="1">
              <a:lnSpc>
                <a:spcPct val="100000"/>
              </a:lnSpc>
              <a:spcBef>
                <a:spcPts val="1200"/>
              </a:spcBef>
              <a:spcAft>
                <a:spcPts val="0"/>
              </a:spcAft>
            </a:pPr>
            <a:r>
              <a:rPr lang="en-US" b="1"/>
              <a:t>USE CUST_DB</a:t>
            </a:r>
          </a:p>
          <a:p>
            <a:pPr lvl="1">
              <a:lnSpc>
                <a:spcPct val="100000"/>
              </a:lnSpc>
              <a:spcBef>
                <a:spcPts val="1200"/>
              </a:spcBef>
              <a:spcAft>
                <a:spcPts val="0"/>
              </a:spcAft>
            </a:pPr>
            <a:r>
              <a:rPr lang="en-US" b="1"/>
              <a:t>EXEC sp_changedbowner 'sa’</a:t>
            </a:r>
          </a:p>
          <a:p>
            <a:pPr marL="171450" lvl="0" indent="-171450">
              <a:buFont typeface="Arial" panose="020B0604020202020204" pitchFamily="34" charset="0"/>
              <a:buChar char="•"/>
            </a:pPr>
            <a:r>
              <a:rPr lang="vi-VN" b="0"/>
              <a:t>Sau khi </a:t>
            </a:r>
            <a:r>
              <a:rPr lang="en-US" b="1"/>
              <a:t>sp</a:t>
            </a:r>
            <a:r>
              <a:rPr lang="vi-VN" b="1"/>
              <a:t>_</a:t>
            </a:r>
            <a:r>
              <a:rPr lang="en-US" b="1"/>
              <a:t>c</a:t>
            </a:r>
            <a:r>
              <a:rPr lang="vi-VN" b="1"/>
              <a:t>hanged</a:t>
            </a:r>
            <a:r>
              <a:rPr lang="en-US" b="1"/>
              <a:t>b</a:t>
            </a:r>
            <a:r>
              <a:rPr lang="vi-VN" b="1"/>
              <a:t>owner </a:t>
            </a:r>
            <a:r>
              <a:rPr lang="vi-VN" b="0"/>
              <a:t>được thực thi, chủ sở hữu mới được gọi là người dùng </a:t>
            </a:r>
            <a:r>
              <a:rPr lang="en-US" b="1"/>
              <a:t>dbo</a:t>
            </a:r>
            <a:r>
              <a:rPr lang="vi-VN" b="0"/>
              <a:t> bên trong cơ sở dữ liệu đã chọn.</a:t>
            </a:r>
          </a:p>
          <a:p>
            <a:pPr marL="171450" lvl="0" indent="-171450">
              <a:buFont typeface="Arial" panose="020B0604020202020204" pitchFamily="34" charset="0"/>
              <a:buChar char="•"/>
            </a:pPr>
            <a:r>
              <a:rPr lang="en-US" b="1"/>
              <a:t>dbo</a:t>
            </a:r>
            <a:r>
              <a:rPr lang="vi-VN" b="0"/>
              <a:t> nhận được quyền để thực hiện tất cả các hoạt động trong cơ sở dữ liệu.</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10</a:t>
            </a:fld>
            <a:endParaRPr lang="en-US"/>
          </a:p>
        </p:txBody>
      </p:sp>
    </p:spTree>
    <p:extLst>
      <p:ext uri="{BB962C8B-B14F-4D97-AF65-F5344CB8AC3E}">
        <p14:creationId xmlns:p14="http://schemas.microsoft.com/office/powerpoint/2010/main" val="1850997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Cài đ</a:t>
            </a:r>
            <a:r>
              <a:rPr lang="vi-VN" b="1"/>
              <a:t>ặt </a:t>
            </a:r>
            <a:r>
              <a:rPr lang="en-US" b="1"/>
              <a:t>các </a:t>
            </a:r>
            <a:r>
              <a:rPr lang="vi-VN" b="1"/>
              <a:t>tùy chọn cơ sở dữ liệu</a:t>
            </a:r>
            <a:r>
              <a:rPr lang="en-US"/>
              <a:t>:</a:t>
            </a:r>
          </a:p>
          <a:p>
            <a:pPr marL="171450" indent="-171450">
              <a:buFont typeface="Arial" panose="020B0604020202020204" pitchFamily="34" charset="0"/>
              <a:buChar char="•"/>
            </a:pPr>
            <a:r>
              <a:rPr lang="vi-VN"/>
              <a:t>Tùy chọn cấp cơ sở dữ liệu </a:t>
            </a:r>
            <a:r>
              <a:rPr lang="en-US"/>
              <a:t>x</a:t>
            </a:r>
            <a:r>
              <a:rPr lang="vi-VN"/>
              <a:t>ác định các đặc điểm có thể được đặt cho mỗi </a:t>
            </a:r>
            <a:r>
              <a:rPr lang="en-US"/>
              <a:t>c</a:t>
            </a:r>
            <a:r>
              <a:rPr lang="vi-VN"/>
              <a:t>ơ</a:t>
            </a:r>
            <a:r>
              <a:rPr lang="en-US"/>
              <a:t> sở dữ liệu</a:t>
            </a:r>
            <a:r>
              <a:rPr lang="vi-VN"/>
              <a:t>.</a:t>
            </a:r>
          </a:p>
          <a:p>
            <a:pPr marL="171450" indent="-171450">
              <a:buFont typeface="Arial" panose="020B0604020202020204" pitchFamily="34" charset="0"/>
              <a:buChar char="•"/>
            </a:pPr>
            <a:r>
              <a:rPr lang="vi-VN"/>
              <a:t>Các tùy chọn này là duy nhất cho mỗi cơ sở dữ liệu, vì vậy chúng không ảnh hưởng đến các cơ sở dữ liệu khác.</a:t>
            </a:r>
          </a:p>
          <a:p>
            <a:pPr marL="171450" indent="-171450">
              <a:buFont typeface="Arial" panose="020B0604020202020204" pitchFamily="34" charset="0"/>
              <a:buChar char="•"/>
            </a:pPr>
            <a:r>
              <a:rPr lang="vi-VN"/>
              <a:t>Chúng có thể được thay đổi bằng cách sử dụng mệnh đề </a:t>
            </a:r>
            <a:r>
              <a:rPr lang="vi-VN" b="1"/>
              <a:t>SET</a:t>
            </a:r>
            <a:r>
              <a:rPr lang="vi-VN"/>
              <a:t> của câu lệnh </a:t>
            </a:r>
            <a:r>
              <a:rPr lang="en-US" sz="1200" b="1">
                <a:cs typeface="Courier New" pitchFamily="49" charset="0"/>
              </a:rPr>
              <a:t>ALTER DATABASE</a:t>
            </a:r>
            <a:endParaRPr lang="vi-VN" b="1"/>
          </a:p>
          <a:p>
            <a:pPr marL="171450" indent="-171450">
              <a:buFont typeface="Arial" panose="020B0604020202020204" pitchFamily="34" charset="0"/>
              <a:buChar char="•"/>
            </a:pPr>
            <a:r>
              <a:rPr lang="vi-VN"/>
              <a:t>Bảng sau hiển thị các tùy chọn cơ sở dữ liệu:</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Automatic options</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Kiểm soát hành vi tự động của cơ sở dữ liệu.</a:t>
            </a:r>
            <a:endParaRPr lang="en-US" sz="1200" b="0" kern="1200" baseline="0">
              <a:solidFill>
                <a:schemeClr val="dk1"/>
              </a:solidFill>
              <a:latin typeface="Arial" pitchFamily="34" charset="0"/>
              <a:ea typeface="+mn-ea"/>
              <a:cs typeface="Arial"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Cursor options</a:t>
            </a:r>
            <a:r>
              <a:rPr lang="en-US" sz="1200" b="0" kern="1200" baseline="0">
                <a:solidFill>
                  <a:schemeClr val="dk1"/>
                </a:solidFill>
                <a:latin typeface="Arial" pitchFamily="34" charset="0"/>
                <a:ea typeface="+mn-ea"/>
                <a:cs typeface="Arial" pitchFamily="34" charset="0"/>
              </a:rPr>
              <a:t>: Kiểm soát hành vi con trỏ</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Recovery options</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Kiểm soát các mô hình phục hồi của cơ sở dữ liệu.</a:t>
            </a:r>
            <a:endParaRPr lang="en-US" sz="1200" b="0" kern="1200" baseline="0">
              <a:solidFill>
                <a:schemeClr val="dk1"/>
              </a:solidFill>
              <a:latin typeface="Arial" pitchFamily="34" charset="0"/>
              <a:ea typeface="+mn-ea"/>
              <a:cs typeface="Arial"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Miscellaneous options</a:t>
            </a:r>
            <a:r>
              <a:rPr lang="en-US" sz="1200" b="0" kern="1200" baseline="0">
                <a:solidFill>
                  <a:schemeClr val="dk1"/>
                </a:solidFill>
                <a:latin typeface="Arial" pitchFamily="34" charset="0"/>
                <a:ea typeface="+mn-ea"/>
                <a:cs typeface="Arial" pitchFamily="34" charset="0"/>
              </a:rPr>
              <a:t>: Kiểm soát tuân thủ ANSI</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State options</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Kiểm soát trạng thái cơ sở dữ liệu, chẳng hạn như kết nối trực tuyến/ngoại tuyến và người dùng.</a:t>
            </a:r>
            <a:endParaRPr lang="en-US" sz="1200" b="0" kern="1200" baseline="0">
              <a:solidFill>
                <a:schemeClr val="dk1"/>
              </a:solidFill>
              <a:latin typeface="Arial" pitchFamily="34" charset="0"/>
              <a:ea typeface="+mn-ea"/>
              <a:cs typeface="Arial"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kern="1200" baseline="0">
                <a:solidFill>
                  <a:schemeClr val="dk1"/>
                </a:solidFill>
                <a:latin typeface="Arial" pitchFamily="34" charset="0"/>
                <a:ea typeface="+mn-ea"/>
                <a:cs typeface="Arial" pitchFamily="34" charset="0"/>
              </a:rPr>
              <a:t>Ví dụ: </a:t>
            </a:r>
            <a:r>
              <a:rPr lang="en-US" sz="1200" b="0" kern="1200" baseline="0">
                <a:solidFill>
                  <a:schemeClr val="dk1"/>
                </a:solidFill>
                <a:latin typeface="Arial" pitchFamily="34" charset="0"/>
                <a:ea typeface="+mn-ea"/>
                <a:cs typeface="Arial" pitchFamily="34" charset="0"/>
              </a:rPr>
              <a:t>T</a:t>
            </a:r>
            <a:r>
              <a:rPr lang="vi-VN" sz="1200" b="0" kern="1200" baseline="0">
                <a:solidFill>
                  <a:schemeClr val="dk1"/>
                </a:solidFill>
                <a:latin typeface="Arial" pitchFamily="34" charset="0"/>
                <a:ea typeface="+mn-ea"/>
                <a:cs typeface="Arial" pitchFamily="34" charset="0"/>
              </a:rPr>
              <a:t>ùy chọn </a:t>
            </a:r>
            <a:r>
              <a:rPr lang="en-US" sz="1200" b="1">
                <a:cs typeface="Courier New" pitchFamily="49" charset="0"/>
              </a:rPr>
              <a:t>AUTO_SHRINK</a:t>
            </a:r>
            <a:r>
              <a:rPr lang="en-US" sz="1200" b="1">
                <a:latin typeface="Calibri" pitchFamily="34" charset="0"/>
                <a:cs typeface="Calibri" pitchFamily="34" charset="0"/>
              </a:rPr>
              <a:t> </a:t>
            </a:r>
            <a:r>
              <a:rPr lang="vi-VN" sz="1200" b="0" kern="1200" baseline="0">
                <a:solidFill>
                  <a:schemeClr val="dk1"/>
                </a:solidFill>
                <a:latin typeface="Arial" pitchFamily="34" charset="0"/>
                <a:ea typeface="+mn-ea"/>
                <a:cs typeface="Arial" pitchFamily="34" charset="0"/>
              </a:rPr>
              <a:t>khi đặt thành </a:t>
            </a:r>
            <a:r>
              <a:rPr lang="en-US" sz="1200" b="1" kern="1200" baseline="0">
                <a:solidFill>
                  <a:schemeClr val="dk1"/>
                </a:solidFill>
                <a:latin typeface="Arial" pitchFamily="34" charset="0"/>
                <a:ea typeface="+mn-ea"/>
                <a:cs typeface="Arial" pitchFamily="34" charset="0"/>
              </a:rPr>
              <a:t>ON</a:t>
            </a:r>
            <a:r>
              <a:rPr lang="vi-VN" sz="1200" b="0" kern="1200" baseline="0">
                <a:solidFill>
                  <a:schemeClr val="dk1"/>
                </a:solidFill>
                <a:latin typeface="Arial" pitchFamily="34" charset="0"/>
                <a:ea typeface="+mn-ea"/>
                <a:cs typeface="Arial" pitchFamily="34" charset="0"/>
              </a:rPr>
              <a:t>, </a:t>
            </a:r>
            <a:r>
              <a:rPr lang="en-US" sz="1200" b="0" kern="1200" baseline="0">
                <a:solidFill>
                  <a:schemeClr val="dk1"/>
                </a:solidFill>
                <a:latin typeface="Arial" pitchFamily="34" charset="0"/>
                <a:ea typeface="+mn-ea"/>
                <a:cs typeface="Arial" pitchFamily="34" charset="0"/>
              </a:rPr>
              <a:t>sẽ </a:t>
            </a:r>
            <a:r>
              <a:rPr lang="vi-VN" sz="1200" b="0" kern="1200" baseline="0">
                <a:solidFill>
                  <a:schemeClr val="dk1"/>
                </a:solidFill>
                <a:latin typeface="Arial" pitchFamily="34" charset="0"/>
                <a:ea typeface="+mn-ea"/>
                <a:cs typeface="Arial" pitchFamily="34" charset="0"/>
              </a:rPr>
              <a:t>thu nhỏ cơ sở dữ liệu có dung lượng trống.</a:t>
            </a:r>
            <a:endParaRPr lang="en-US" sz="1200" b="0" kern="1200" baseline="0">
              <a:solidFill>
                <a:schemeClr val="dk1"/>
              </a:solidFill>
              <a:latin typeface="Arial" pitchFamily="34" charset="0"/>
              <a:ea typeface="+mn-ea"/>
              <a:cs typeface="Arial" pitchFamily="34" charset="0"/>
            </a:endParaRPr>
          </a:p>
          <a:p>
            <a:pPr lvl="2">
              <a:lnSpc>
                <a:spcPct val="100000"/>
              </a:lnSpc>
              <a:spcBef>
                <a:spcPts val="600"/>
              </a:spcBef>
            </a:pPr>
            <a:r>
              <a:rPr lang="en-US" b="1"/>
              <a:t>USE CUST_DB;</a:t>
            </a:r>
          </a:p>
          <a:p>
            <a:pPr lvl="2">
              <a:lnSpc>
                <a:spcPct val="100000"/>
              </a:lnSpc>
              <a:spcBef>
                <a:spcPts val="600"/>
              </a:spcBef>
            </a:pPr>
            <a:r>
              <a:rPr lang="en-US" b="1"/>
              <a:t>ALTER DATABASE CUST_DB</a:t>
            </a:r>
          </a:p>
          <a:p>
            <a:pPr lvl="2">
              <a:lnSpc>
                <a:spcPct val="100000"/>
              </a:lnSpc>
              <a:spcBef>
                <a:spcPts val="600"/>
              </a:spcBef>
            </a:pPr>
            <a:r>
              <a:rPr lang="en-US" b="1"/>
              <a:t>SET AUTO_SHRINK ON</a:t>
            </a:r>
          </a:p>
        </p:txBody>
      </p:sp>
      <p:sp>
        <p:nvSpPr>
          <p:cNvPr id="4" name="Slide Number Placeholder 3"/>
          <p:cNvSpPr>
            <a:spLocks noGrp="1"/>
          </p:cNvSpPr>
          <p:nvPr>
            <p:ph type="sldNum" sz="quarter" idx="5"/>
          </p:nvPr>
        </p:nvSpPr>
        <p:spPr/>
        <p:txBody>
          <a:bodyPr/>
          <a:lstStyle/>
          <a:p>
            <a:fld id="{9834DD31-C011-4C27-BF09-0E53B924ED7D}" type="slidenum">
              <a:rPr lang="en-US" smtClean="0"/>
              <a:t>11</a:t>
            </a:fld>
            <a:endParaRPr lang="en-US"/>
          </a:p>
        </p:txBody>
      </p:sp>
    </p:spTree>
    <p:extLst>
      <p:ext uri="{BB962C8B-B14F-4D97-AF65-F5344CB8AC3E}">
        <p14:creationId xmlns:p14="http://schemas.microsoft.com/office/powerpoint/2010/main" val="965702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Filegroups 1-3</a:t>
            </a:r>
          </a:p>
          <a:p>
            <a:pPr marL="628650" lvl="1" indent="-171450">
              <a:buFont typeface="Arial" panose="020B0604020202020204" pitchFamily="34" charset="0"/>
              <a:buChar char="•"/>
            </a:pPr>
            <a:r>
              <a:rPr lang="vi-VN" b="0"/>
              <a:t>Trong SQL Server, các t</a:t>
            </a:r>
            <a:r>
              <a:rPr lang="en-US" b="0"/>
              <a:t>ậ</a:t>
            </a:r>
            <a:r>
              <a:rPr lang="vi-VN" b="0"/>
              <a:t>p </a:t>
            </a:r>
            <a:r>
              <a:rPr lang="en-US" b="0"/>
              <a:t>tin </a:t>
            </a:r>
            <a:r>
              <a:rPr lang="vi-VN" b="0"/>
              <a:t>dữ liệu được sử dụng để lưu trữ các t</a:t>
            </a:r>
            <a:r>
              <a:rPr lang="en-US" b="0"/>
              <a:t>ậ</a:t>
            </a:r>
            <a:r>
              <a:rPr lang="vi-VN" b="0"/>
              <a:t>p </a:t>
            </a:r>
            <a:r>
              <a:rPr lang="en-US" b="0"/>
              <a:t>tin </a:t>
            </a:r>
            <a:r>
              <a:rPr lang="vi-VN" b="0"/>
              <a:t>cơ sở dữ liệu. </a:t>
            </a:r>
            <a:endParaRPr lang="en-US" b="0"/>
          </a:p>
          <a:p>
            <a:pPr marL="628650" lvl="1" indent="-171450">
              <a:buFont typeface="Arial" panose="020B0604020202020204" pitchFamily="34" charset="0"/>
              <a:buChar char="•"/>
            </a:pPr>
            <a:r>
              <a:rPr lang="vi-VN" b="0"/>
              <a:t>Các t</a:t>
            </a:r>
            <a:r>
              <a:rPr lang="en-US" b="0"/>
              <a:t>ậ</a:t>
            </a:r>
            <a:r>
              <a:rPr lang="vi-VN" b="0"/>
              <a:t>p </a:t>
            </a:r>
            <a:r>
              <a:rPr lang="en-US" b="0"/>
              <a:t>tin </a:t>
            </a:r>
            <a:r>
              <a:rPr lang="vi-VN" b="0"/>
              <a:t>dữ liệu được chia thành các nhóm t</a:t>
            </a:r>
            <a:r>
              <a:rPr lang="en-US" b="0"/>
              <a:t>ậ</a:t>
            </a:r>
            <a:r>
              <a:rPr lang="vi-VN" b="0"/>
              <a:t>p </a:t>
            </a:r>
            <a:r>
              <a:rPr lang="en-US" b="0"/>
              <a:t>tin </a:t>
            </a:r>
            <a:r>
              <a:rPr lang="vi-VN" b="0"/>
              <a:t>để </a:t>
            </a:r>
            <a:r>
              <a:rPr lang="en-US" b="0"/>
              <a:t>có lợi ích về </a:t>
            </a:r>
            <a:r>
              <a:rPr lang="vi-VN" b="0"/>
              <a:t>hiệu suất.</a:t>
            </a:r>
            <a:endParaRPr lang="en-US" b="0"/>
          </a:p>
          <a:p>
            <a:pPr marL="628650" lvl="1" indent="-171450">
              <a:buFont typeface="Arial" panose="020B0604020202020204" pitchFamily="34" charset="0"/>
              <a:buChar char="•"/>
            </a:pPr>
            <a:r>
              <a:rPr lang="vi-VN" b="0"/>
              <a:t>Được sử dụng để nhóm các t</a:t>
            </a:r>
            <a:r>
              <a:rPr lang="en-US" b="0"/>
              <a:t>ậ</a:t>
            </a:r>
            <a:r>
              <a:rPr lang="vi-VN" b="0"/>
              <a:t>p </a:t>
            </a:r>
            <a:r>
              <a:rPr lang="en-US" b="0"/>
              <a:t>tin </a:t>
            </a:r>
            <a:r>
              <a:rPr lang="vi-VN" b="0"/>
              <a:t>liên quan cùng lưu trữ một đối tượng cơ sở dữ liệu</a:t>
            </a:r>
            <a:endParaRPr lang="en-US" b="0"/>
          </a:p>
          <a:p>
            <a:pPr marL="0" indent="0">
              <a:buFont typeface="Arial" panose="020B0604020202020204" pitchFamily="34" charset="0"/>
              <a:buNone/>
            </a:pPr>
            <a:r>
              <a:rPr lang="vi-VN" b="0"/>
              <a:t>Mọi cơ sở dữ liệu đều có FileGroup chính, theo mặc định. </a:t>
            </a:r>
            <a:r>
              <a:rPr lang="vi-VN" b="1"/>
              <a:t>FileGroup </a:t>
            </a:r>
            <a:r>
              <a:rPr lang="en-US" sz="1200" b="1">
                <a:solidFill>
                  <a:srgbClr val="FFFFFF"/>
                </a:solidFill>
                <a:latin typeface="Calibri" pitchFamily="34" charset="0"/>
                <a:cs typeface="Calibri" pitchFamily="34" charset="0"/>
              </a:rPr>
              <a:t>Primary</a:t>
            </a:r>
            <a:r>
              <a:rPr lang="vi-VN" b="1"/>
              <a:t> </a:t>
            </a:r>
            <a:r>
              <a:rPr lang="vi-VN" b="0"/>
              <a:t>chứa t</a:t>
            </a:r>
            <a:r>
              <a:rPr lang="en-US" b="0"/>
              <a:t>ậ</a:t>
            </a:r>
            <a:r>
              <a:rPr lang="vi-VN" b="0"/>
              <a:t>p </a:t>
            </a:r>
            <a:r>
              <a:rPr lang="en-US" b="0"/>
              <a:t>tin </a:t>
            </a:r>
            <a:r>
              <a:rPr lang="vi-VN" b="0"/>
              <a:t>dữ liệu chính</a:t>
            </a:r>
            <a:r>
              <a:rPr lang="en-US" b="0"/>
              <a:t>.</a:t>
            </a:r>
          </a:p>
          <a:p>
            <a:pPr marL="628650" lvl="1" indent="-171450">
              <a:buFont typeface="Arial" panose="020B0604020202020204" pitchFamily="34" charset="0"/>
              <a:buChar char="•"/>
            </a:pPr>
            <a:r>
              <a:rPr lang="vi-VN" b="0"/>
              <a:t>Các nhóm t</a:t>
            </a:r>
            <a:r>
              <a:rPr lang="en-US" b="0"/>
              <a:t>ậ</a:t>
            </a:r>
            <a:r>
              <a:rPr lang="vi-VN" b="0"/>
              <a:t>p </a:t>
            </a:r>
            <a:r>
              <a:rPr lang="en-US" b="0"/>
              <a:t>tin </a:t>
            </a:r>
            <a:r>
              <a:rPr lang="vi-VN" b="0"/>
              <a:t>do người dùng định </a:t>
            </a:r>
            <a:r>
              <a:rPr lang="en-US" b="0"/>
              <a:t>nghĩa </a:t>
            </a:r>
            <a:r>
              <a:rPr lang="vi-VN" b="0"/>
              <a:t>sau đó có thể được tạo thành các t</a:t>
            </a:r>
            <a:r>
              <a:rPr lang="en-US" b="0"/>
              <a:t>ậ</a:t>
            </a:r>
            <a:r>
              <a:rPr lang="vi-VN" b="0"/>
              <a:t>p </a:t>
            </a:r>
            <a:r>
              <a:rPr lang="en-US" b="0"/>
              <a:t>tin </a:t>
            </a:r>
            <a:r>
              <a:rPr lang="vi-VN" b="0"/>
              <a:t>dữ liệu nhóm với nhau để quản trị, phân bổ dữ liệu và mục đích vị trí.</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a:solidFill>
                  <a:srgbClr val="FFFFFF"/>
                </a:solidFill>
                <a:latin typeface="Calibri" pitchFamily="34" charset="0"/>
                <a:cs typeface="Calibri" pitchFamily="34" charset="0"/>
              </a:rPr>
              <a:t>Filegroup </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Calibri" pitchFamily="34" charset="0"/>
                <a:ea typeface="+mn-ea"/>
                <a:cs typeface="Calibri" pitchFamily="34" charset="0"/>
              </a:rPr>
              <a:t>Primary</a:t>
            </a:r>
            <a:r>
              <a:rPr lang="en-US" sz="1200" b="0" kern="1200" baseline="0">
                <a:solidFill>
                  <a:schemeClr val="dk1"/>
                </a:solidFill>
                <a:latin typeface="Calibri" pitchFamily="34" charset="0"/>
                <a:ea typeface="+mn-ea"/>
                <a:cs typeface="Calibri" pitchFamily="34" charset="0"/>
              </a:rPr>
              <a:t>: </a:t>
            </a:r>
            <a:r>
              <a:rPr lang="vi-VN" sz="1200" b="0" kern="1200" baseline="0">
                <a:solidFill>
                  <a:schemeClr val="dk1"/>
                </a:solidFill>
                <a:latin typeface="Calibri" pitchFamily="34" charset="0"/>
                <a:ea typeface="+mn-ea"/>
                <a:cs typeface="Calibri" pitchFamily="34" charset="0"/>
              </a:rPr>
              <a:t>bao gồm các tập tin chính. Tất cả các bảng hệ thống được đặt bên trong filegroup chính</a:t>
            </a:r>
            <a:endParaRPr lang="en-US" sz="1200" b="0" kern="1200" baseline="0">
              <a:solidFill>
                <a:schemeClr val="dk1"/>
              </a:solidFill>
              <a:latin typeface="Calibri" pitchFamily="34" charset="0"/>
              <a:ea typeface="+mn-ea"/>
              <a:cs typeface="Calibri" pitchFamily="34" charset="0"/>
            </a:endParaRP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Calibri" pitchFamily="34" charset="0"/>
                <a:ea typeface="+mn-ea"/>
                <a:cs typeface="Calibri" pitchFamily="34" charset="0"/>
              </a:rPr>
              <a:t>User-defined</a:t>
            </a:r>
            <a:r>
              <a:rPr lang="en-US" sz="1200" b="0" kern="1200" baseline="0">
                <a:solidFill>
                  <a:schemeClr val="dk1"/>
                </a:solidFill>
                <a:latin typeface="Calibri" pitchFamily="34" charset="0"/>
                <a:ea typeface="+mn-ea"/>
                <a:cs typeface="Calibri" pitchFamily="34" charset="0"/>
              </a:rPr>
              <a:t>: </a:t>
            </a:r>
            <a:r>
              <a:rPr lang="vi-VN" sz="1200" b="0" kern="1200" baseline="0">
                <a:solidFill>
                  <a:schemeClr val="dk1"/>
                </a:solidFill>
                <a:latin typeface="Calibri" pitchFamily="34" charset="0"/>
                <a:ea typeface="+mn-ea"/>
                <a:cs typeface="Calibri" pitchFamily="34" charset="0"/>
              </a:rPr>
              <a:t>được tạo bởi người dùng tại thời điểm tạo hoặc sửa đổi cơ sở dữ liệu.</a:t>
            </a:r>
            <a:endParaRPr lang="en-US" sz="1200" b="0" kern="1200" baseline="0">
              <a:solidFill>
                <a:schemeClr val="dk1"/>
              </a:solidFill>
              <a:latin typeface="Calibri" pitchFamily="34" charset="0"/>
              <a:ea typeface="+mn-ea"/>
              <a:cs typeface="Calibri" pitchFamily="34" charset="0"/>
            </a:endParaRPr>
          </a:p>
        </p:txBody>
      </p:sp>
      <p:sp>
        <p:nvSpPr>
          <p:cNvPr id="4" name="Slide Number Placeholder 3"/>
          <p:cNvSpPr>
            <a:spLocks noGrp="1"/>
          </p:cNvSpPr>
          <p:nvPr>
            <p:ph type="sldNum" sz="quarter" idx="5"/>
          </p:nvPr>
        </p:nvSpPr>
        <p:spPr/>
        <p:txBody>
          <a:bodyPr/>
          <a:lstStyle/>
          <a:p>
            <a:fld id="{9834DD31-C011-4C27-BF09-0E53B924ED7D}" type="slidenum">
              <a:rPr lang="en-US" smtClean="0"/>
              <a:t>12</a:t>
            </a:fld>
            <a:endParaRPr lang="en-US"/>
          </a:p>
        </p:txBody>
      </p:sp>
    </p:spTree>
    <p:extLst>
      <p:ext uri="{BB962C8B-B14F-4D97-AF65-F5344CB8AC3E}">
        <p14:creationId xmlns:p14="http://schemas.microsoft.com/office/powerpoint/2010/main" val="2318163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Filegroups 2-3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a:latin typeface="Calibri" pitchFamily="34" charset="0"/>
                <a:cs typeface="Calibri" pitchFamily="34" charset="0"/>
              </a:rPr>
              <a:t>Filegroups </a:t>
            </a:r>
            <a:r>
              <a:rPr lang="vi-VN"/>
              <a:t>có thể được tạo khi cơ sở dữ liệu được tạo lần đầu tiên hoặc có thể được tạo sau </a:t>
            </a:r>
            <a:r>
              <a:rPr lang="en-US"/>
              <a:t>đó</a:t>
            </a:r>
            <a:r>
              <a:rPr lang="vi-VN"/>
              <a:t> khi nhiều t</a:t>
            </a:r>
            <a:r>
              <a:rPr lang="en-US"/>
              <a:t>ậ</a:t>
            </a:r>
            <a:r>
              <a:rPr lang="vi-VN"/>
              <a:t>p </a:t>
            </a:r>
            <a:r>
              <a:rPr lang="en-US"/>
              <a:t>tin </a:t>
            </a:r>
            <a:r>
              <a:rPr lang="vi-VN"/>
              <a:t>hơn được thêm vào cơ sở dữ liệu.</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Tuy nhiên, các t</a:t>
            </a:r>
            <a:r>
              <a:rPr lang="en-US"/>
              <a:t>ậ</a:t>
            </a:r>
            <a:r>
              <a:rPr lang="vi-VN"/>
              <a:t>p </a:t>
            </a:r>
            <a:r>
              <a:rPr lang="en-US"/>
              <a:t>tin </a:t>
            </a:r>
            <a:r>
              <a:rPr lang="vi-VN"/>
              <a:t>không thể được chuyển sang một nhóm t</a:t>
            </a:r>
            <a:r>
              <a:rPr lang="en-US"/>
              <a:t>ậ</a:t>
            </a:r>
            <a:r>
              <a:rPr lang="vi-VN"/>
              <a:t>p </a:t>
            </a:r>
            <a:r>
              <a:rPr lang="en-US"/>
              <a:t>tin </a:t>
            </a:r>
            <a:r>
              <a:rPr lang="vi-VN"/>
              <a:t>khác sau khi các t</a:t>
            </a:r>
            <a:r>
              <a:rPr lang="en-US"/>
              <a:t>ậ</a:t>
            </a:r>
            <a:r>
              <a:rPr lang="vi-VN"/>
              <a:t>p </a:t>
            </a:r>
            <a:r>
              <a:rPr lang="en-US"/>
              <a:t>tin </a:t>
            </a:r>
            <a:r>
              <a:rPr lang="vi-VN"/>
              <a:t>đã được thêm vào cơ sở dữ liệu.</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Một t</a:t>
            </a:r>
            <a:r>
              <a:rPr lang="en-US"/>
              <a:t>ậ</a:t>
            </a:r>
            <a:r>
              <a:rPr lang="vi-VN"/>
              <a:t>p </a:t>
            </a:r>
            <a:r>
              <a:rPr lang="en-US"/>
              <a:t>tin </a:t>
            </a:r>
            <a:r>
              <a:rPr lang="vi-VN"/>
              <a:t>không thể là thành viên của nhiều hơn một t</a:t>
            </a:r>
            <a:r>
              <a:rPr lang="en-US"/>
              <a:t>ậ</a:t>
            </a:r>
            <a:r>
              <a:rPr lang="vi-VN"/>
              <a:t>p </a:t>
            </a:r>
            <a:r>
              <a:rPr lang="en-US"/>
              <a:t>tin </a:t>
            </a:r>
            <a:r>
              <a:rPr lang="vi-VN"/>
              <a:t>cùng một lúc</a:t>
            </a:r>
            <a:r>
              <a:rPr lang="en-US"/>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Tối đa </a:t>
            </a:r>
            <a:r>
              <a:rPr lang="vi-VN" b="1"/>
              <a:t>32.767</a:t>
            </a:r>
            <a:r>
              <a:rPr lang="en-US" b="1"/>
              <a:t> </a:t>
            </a:r>
            <a:r>
              <a:rPr lang="en-US" sz="1200" b="1">
                <a:latin typeface="Calibri" pitchFamily="34" charset="0"/>
                <a:cs typeface="Calibri" pitchFamily="34" charset="0"/>
              </a:rPr>
              <a:t>filegroups</a:t>
            </a:r>
            <a:r>
              <a:rPr lang="vi-VN" b="1"/>
              <a:t> </a:t>
            </a:r>
            <a:r>
              <a:rPr lang="vi-VN"/>
              <a:t>có thể được tạo cho mỗi cơ sở dữ liệu</a:t>
            </a:r>
            <a:r>
              <a:rPr lang="en-US"/>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a:latin typeface="Calibri" pitchFamily="34" charset="0"/>
                <a:cs typeface="Calibri" pitchFamily="34" charset="0"/>
              </a:rPr>
              <a:t>Filegroups </a:t>
            </a:r>
            <a:r>
              <a:rPr lang="en-US"/>
              <a:t>có thể chứa các tập tin dữ liệu.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t>Các tập tin nhật ký giao dịch không thể thuộc về một </a:t>
            </a:r>
            <a:r>
              <a:rPr lang="en-US" sz="1200" b="0">
                <a:latin typeface="Calibri" pitchFamily="34" charset="0"/>
                <a:cs typeface="Calibri" pitchFamily="34" charset="0"/>
              </a:rPr>
              <a:t>filegroup</a:t>
            </a:r>
            <a:r>
              <a:rPr lang="en-US"/>
              <a:t>.</a:t>
            </a:r>
          </a:p>
        </p:txBody>
      </p:sp>
      <p:sp>
        <p:nvSpPr>
          <p:cNvPr id="4" name="Slide Number Placeholder 3"/>
          <p:cNvSpPr>
            <a:spLocks noGrp="1"/>
          </p:cNvSpPr>
          <p:nvPr>
            <p:ph type="sldNum" sz="quarter" idx="5"/>
          </p:nvPr>
        </p:nvSpPr>
        <p:spPr/>
        <p:txBody>
          <a:bodyPr/>
          <a:lstStyle/>
          <a:p>
            <a:fld id="{9834DD31-C011-4C27-BF09-0E53B924ED7D}" type="slidenum">
              <a:rPr lang="en-US" smtClean="0"/>
              <a:t>13</a:t>
            </a:fld>
            <a:endParaRPr lang="en-US"/>
          </a:p>
        </p:txBody>
      </p:sp>
    </p:spTree>
    <p:extLst>
      <p:ext uri="{BB962C8B-B14F-4D97-AF65-F5344CB8AC3E}">
        <p14:creationId xmlns:p14="http://schemas.microsoft.com/office/powerpoint/2010/main" val="315662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Filegroup mặc định 3-3</a:t>
            </a:r>
          </a:p>
          <a:p>
            <a:pPr marL="171450" indent="-171450">
              <a:buFont typeface="Arial" panose="020B0604020202020204" pitchFamily="34" charset="0"/>
              <a:buChar char="•"/>
            </a:pPr>
            <a:r>
              <a:rPr lang="vi-VN" b="0"/>
              <a:t>Các đối tượng được gán </a:t>
            </a:r>
            <a:r>
              <a:rPr lang="en-US" b="0"/>
              <a:t>vào</a:t>
            </a:r>
            <a:r>
              <a:rPr lang="vi-VN" b="0"/>
              <a:t> </a:t>
            </a:r>
            <a:r>
              <a:rPr lang="vi-VN" b="1"/>
              <a:t>FileGroup</a:t>
            </a:r>
            <a:r>
              <a:rPr lang="vi-VN" b="0"/>
              <a:t> mặc định khi chúng được tạo trong cơ sở dữ liệu.</a:t>
            </a:r>
            <a:r>
              <a:rPr lang="en-US" b="0"/>
              <a:t> </a:t>
            </a:r>
            <a:r>
              <a:rPr lang="fr-FR" b="1"/>
              <a:t>FileGroup </a:t>
            </a:r>
            <a:r>
              <a:rPr lang="en-US" sz="1200" b="1" spc="70">
                <a:solidFill>
                  <a:srgbClr val="FFFFFF"/>
                </a:solidFill>
                <a:latin typeface="Arial"/>
                <a:cs typeface="Arial"/>
              </a:rPr>
              <a:t>PRIMARY </a:t>
            </a:r>
            <a:r>
              <a:rPr lang="fr-FR" b="0"/>
              <a:t>là FileGroup mặc định.</a:t>
            </a:r>
            <a:endParaRPr lang="vi-VN" b="0"/>
          </a:p>
          <a:p>
            <a:pPr marL="171450" indent="-171450">
              <a:buFont typeface="Arial" panose="020B0604020202020204" pitchFamily="34" charset="0"/>
              <a:buChar char="•"/>
            </a:pPr>
            <a:r>
              <a:rPr lang="vi-VN" b="0"/>
              <a:t>Nhóm FileGroup mặc định có thể được thay đổi bằng cách sử dụng câu lệnh </a:t>
            </a:r>
            <a:r>
              <a:rPr lang="vi-VN" b="1"/>
              <a:t>ALTER DATABASE</a:t>
            </a:r>
            <a:r>
              <a:rPr lang="vi-VN" b="0"/>
              <a:t>.</a:t>
            </a:r>
          </a:p>
          <a:p>
            <a:pPr marL="171450" indent="-171450">
              <a:buFont typeface="Arial" panose="020B0604020202020204" pitchFamily="34" charset="0"/>
              <a:buChar char="•"/>
            </a:pPr>
            <a:r>
              <a:rPr lang="vi-VN" b="0"/>
              <a:t>Các đối tượng và bảng hệ thống vẫn nằm trong </a:t>
            </a:r>
            <a:r>
              <a:rPr lang="en-US" sz="1200" b="1">
                <a:cs typeface="Courier New" pitchFamily="49" charset="0"/>
              </a:rPr>
              <a:t>PRIMARY</a:t>
            </a:r>
            <a:r>
              <a:rPr lang="en-US" sz="1200" b="1">
                <a:latin typeface="Calibri" pitchFamily="34" charset="0"/>
                <a:cs typeface="Calibri" pitchFamily="34" charset="0"/>
              </a:rPr>
              <a:t> filegroup</a:t>
            </a:r>
            <a:r>
              <a:rPr lang="vi-VN" b="0"/>
              <a:t>.</a:t>
            </a:r>
          </a:p>
          <a:p>
            <a:pPr marL="171450" indent="-171450">
              <a:buFont typeface="Arial" panose="020B0604020202020204" pitchFamily="34" charset="0"/>
              <a:buChar char="•"/>
            </a:pPr>
            <a:r>
              <a:rPr lang="vi-VN" b="0"/>
              <a:t>Ví dụ:</a:t>
            </a:r>
            <a:endParaRPr lang="en-US" b="0"/>
          </a:p>
          <a:p>
            <a:pPr lvl="1">
              <a:lnSpc>
                <a:spcPct val="100000"/>
              </a:lnSpc>
              <a:spcBef>
                <a:spcPts val="1200"/>
              </a:spcBef>
            </a:pPr>
            <a:r>
              <a:rPr lang="en-US" b="0"/>
              <a:t>USE CUST_DB</a:t>
            </a:r>
            <a:br>
              <a:rPr lang="en-US" b="0"/>
            </a:br>
            <a:endParaRPr lang="en-US" b="0"/>
          </a:p>
          <a:p>
            <a:pPr lvl="1">
              <a:lnSpc>
                <a:spcPct val="100000"/>
              </a:lnSpc>
              <a:spcBef>
                <a:spcPts val="600"/>
              </a:spcBef>
            </a:pPr>
            <a:r>
              <a:rPr lang="en-US" b="0"/>
              <a:t>ALTER DATABASE CUST_DB</a:t>
            </a:r>
          </a:p>
          <a:p>
            <a:pPr lvl="1">
              <a:lnSpc>
                <a:spcPct val="100000"/>
              </a:lnSpc>
              <a:spcBef>
                <a:spcPts val="600"/>
              </a:spcBef>
              <a:tabLst>
                <a:tab pos="404813" algn="l"/>
              </a:tabLst>
            </a:pPr>
            <a:r>
              <a:rPr lang="en-US" b="0"/>
              <a:t>	ADD FILE </a:t>
            </a:r>
            <a:r>
              <a:rPr lang="en-US" b="0">
                <a:solidFill>
                  <a:srgbClr val="0036A2"/>
                </a:solidFill>
              </a:rPr>
              <a:t>(NAME = Cust_DB1, FILENAME = 'C:\DATA\Cust_DB1.ndf')</a:t>
            </a:r>
          </a:p>
          <a:p>
            <a:pPr marL="862013" lvl="2">
              <a:lnSpc>
                <a:spcPct val="100000"/>
              </a:lnSpc>
              <a:spcBef>
                <a:spcPts val="600"/>
              </a:spcBef>
            </a:pPr>
            <a:r>
              <a:rPr lang="en-US" b="0"/>
              <a:t>TO FILEGROUP </a:t>
            </a:r>
            <a:r>
              <a:rPr lang="en-US" b="0">
                <a:solidFill>
                  <a:srgbClr val="0036A2"/>
                </a:solidFill>
              </a:rPr>
              <a:t>FG_DATA</a:t>
            </a:r>
          </a:p>
          <a:p>
            <a:pPr lvl="1">
              <a:lnSpc>
                <a:spcPct val="100000"/>
              </a:lnSpc>
              <a:spcBef>
                <a:spcPts val="1200"/>
              </a:spcBef>
            </a:pPr>
            <a:endParaRPr lang="en-US" b="0"/>
          </a:p>
          <a:p>
            <a:pPr lvl="1">
              <a:lnSpc>
                <a:spcPct val="100000"/>
              </a:lnSpc>
              <a:spcBef>
                <a:spcPts val="600"/>
              </a:spcBef>
            </a:pPr>
            <a:r>
              <a:rPr lang="en-US" b="0"/>
              <a:t>ALTER DATABASE CUST_DB</a:t>
            </a:r>
          </a:p>
          <a:p>
            <a:pPr lvl="1">
              <a:lnSpc>
                <a:spcPct val="100000"/>
              </a:lnSpc>
              <a:spcBef>
                <a:spcPts val="600"/>
              </a:spcBef>
            </a:pPr>
            <a:r>
              <a:rPr lang="en-US" b="0"/>
              <a:t>     MODIFY FILEGROUP </a:t>
            </a:r>
            <a:r>
              <a:rPr lang="en-US" b="0">
                <a:solidFill>
                  <a:srgbClr val="0036A2"/>
                </a:solidFill>
              </a:rPr>
              <a:t>FG_DATA</a:t>
            </a:r>
            <a:r>
              <a:rPr lang="en-US" b="0"/>
              <a:t> DEFAULT</a:t>
            </a:r>
          </a:p>
        </p:txBody>
      </p:sp>
      <p:sp>
        <p:nvSpPr>
          <p:cNvPr id="4" name="Slide Number Placeholder 3"/>
          <p:cNvSpPr>
            <a:spLocks noGrp="1"/>
          </p:cNvSpPr>
          <p:nvPr>
            <p:ph type="sldNum" sz="quarter" idx="5"/>
          </p:nvPr>
        </p:nvSpPr>
        <p:spPr/>
        <p:txBody>
          <a:bodyPr/>
          <a:lstStyle/>
          <a:p>
            <a:fld id="{9834DD31-C011-4C27-BF09-0E53B924ED7D}" type="slidenum">
              <a:rPr lang="en-US" smtClean="0"/>
              <a:t>14</a:t>
            </a:fld>
            <a:endParaRPr lang="en-US"/>
          </a:p>
        </p:txBody>
      </p:sp>
    </p:spTree>
    <p:extLst>
      <p:ext uri="{BB962C8B-B14F-4D97-AF65-F5344CB8AC3E}">
        <p14:creationId xmlns:p14="http://schemas.microsoft.com/office/powerpoint/2010/main" val="1749643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Nhật ký giao dịch 1-2</a:t>
            </a:r>
          </a:p>
          <a:p>
            <a:pPr marL="171450" indent="-171450">
              <a:buFont typeface="Arial" panose="020B0604020202020204" pitchFamily="34" charset="0"/>
              <a:buChar char="•"/>
            </a:pPr>
            <a:r>
              <a:rPr lang="vi-VN" b="0"/>
              <a:t>Ghi lại tất cả các giao dịch và sửa đổi cơ sở dữ liệu</a:t>
            </a:r>
            <a:r>
              <a:rPr lang="en-US" b="0"/>
              <a:t>. L</a:t>
            </a:r>
            <a:r>
              <a:rPr lang="vi-VN" b="0"/>
              <a:t>à một trong những thành phần quan trọng của cơ sở dữ liệu.</a:t>
            </a:r>
            <a:r>
              <a:rPr lang="en-US" b="0"/>
              <a:t> C</a:t>
            </a:r>
            <a:r>
              <a:rPr lang="vi-VN" b="0"/>
              <a:t>ó thể là nguồn duy nhất của dữ liệu gần đây trong trường hợp lỗi hệ thống.</a:t>
            </a:r>
            <a:r>
              <a:rPr lang="en-US" b="0"/>
              <a:t> </a:t>
            </a:r>
            <a:r>
              <a:rPr lang="vi-VN" b="0"/>
              <a:t>Hỗ trợ các hoạt động như sau:</a:t>
            </a:r>
            <a:endParaRPr lang="en-US" b="0"/>
          </a:p>
          <a:p>
            <a:pPr marL="628650" lvl="1" indent="-171450">
              <a:buFont typeface="Arial" panose="020B0604020202020204" pitchFamily="34" charset="0"/>
              <a:buChar char="•"/>
            </a:pPr>
            <a:r>
              <a:rPr lang="en-US" b="1"/>
              <a:t>Phục hồi các giao dịch cá nhân</a:t>
            </a:r>
          </a:p>
          <a:p>
            <a:pPr marL="1085850" lvl="2" indent="-171450">
              <a:buFont typeface="Arial" panose="020B0604020202020204" pitchFamily="34" charset="0"/>
              <a:buChar char="•"/>
            </a:pPr>
            <a:r>
              <a:rPr lang="vi-VN" b="0"/>
              <a:t>Một giao dịch không đầy đủ được khôi phục trong trường hợp ứng dụng phát hành một câu lệnh ROLLBACK hoặc công cụ cơ sở dữ liệu phát hiện lỗi.</a:t>
            </a:r>
          </a:p>
          <a:p>
            <a:pPr marL="1085850" lvl="2" indent="-171450">
              <a:buFont typeface="Arial" panose="020B0604020202020204" pitchFamily="34" charset="0"/>
              <a:buChar char="•"/>
            </a:pPr>
            <a:r>
              <a:rPr lang="vi-VN" b="0"/>
              <a:t>Các bản ghi nhật ký được sử dụng để khôi phục các sửa đổi.</a:t>
            </a:r>
            <a:endParaRPr lang="en-US" b="0"/>
          </a:p>
          <a:p>
            <a:pPr marL="628650" lvl="1" indent="-171450">
              <a:buFont typeface="Arial" panose="020B0604020202020204" pitchFamily="34" charset="0"/>
              <a:buChar char="•"/>
            </a:pPr>
            <a:r>
              <a:rPr lang="vi-VN" b="1"/>
              <a:t>Phục hồi tất cả các giao dịch không đầy đủ khi SQL Server được khởi động</a:t>
            </a:r>
            <a:endParaRPr lang="en-US" b="1"/>
          </a:p>
          <a:p>
            <a:pPr marL="1085850" lvl="2" indent="-171450">
              <a:buFont typeface="Arial" panose="020B0604020202020204" pitchFamily="34" charset="0"/>
              <a:buChar char="•"/>
            </a:pPr>
            <a:r>
              <a:rPr lang="vi-VN" b="0"/>
              <a:t>Nếu một máy chủ đang chạy SQL Server không thành công, cơ sở dữ liệu có thể bị bỏ lại trong trạng thái không nhất quán.</a:t>
            </a:r>
          </a:p>
          <a:p>
            <a:pPr marL="1085850" lvl="2" indent="-171450">
              <a:buFont typeface="Arial" panose="020B0604020202020204" pitchFamily="34" charset="0"/>
              <a:buChar char="•"/>
            </a:pPr>
            <a:r>
              <a:rPr lang="vi-VN" b="0"/>
              <a:t>Khi một phiên bản của SQL Server được khởi động, nó sẽ chạy khôi phục từng cơ sở dữ liệu.</a:t>
            </a:r>
            <a:endParaRPr lang="en-US" b="0"/>
          </a:p>
          <a:p>
            <a:pPr marL="628650" lvl="1" indent="-171450">
              <a:buFont typeface="Arial" panose="020B0604020202020204" pitchFamily="34" charset="0"/>
              <a:buChar char="•"/>
            </a:pPr>
            <a:r>
              <a:rPr lang="en-US" sz="1200" b="1">
                <a:latin typeface="Calibri" pitchFamily="34" charset="0"/>
                <a:cs typeface="Calibri" pitchFamily="34" charset="0"/>
              </a:rPr>
              <a:t>Rolling a restored database, file, filegroup, or page forward to the point of failure</a:t>
            </a:r>
          </a:p>
          <a:p>
            <a:pPr marL="1085850" lvl="2" indent="-171450">
              <a:buFont typeface="Arial" panose="020B0604020202020204" pitchFamily="34" charset="0"/>
              <a:buChar char="•"/>
            </a:pPr>
            <a:r>
              <a:rPr lang="vi-VN"/>
              <a:t>Cơ sở dữ liệu có thể được khôi phục đến điểm thất bại sau khi mất phần cứng hoặc lỗi đĩa ảnh hưởng đến các t</a:t>
            </a:r>
            <a:r>
              <a:rPr lang="en-US"/>
              <a:t>ậ</a:t>
            </a:r>
            <a:r>
              <a:rPr lang="vi-VN"/>
              <a:t>p </a:t>
            </a:r>
            <a:r>
              <a:rPr lang="en-US"/>
              <a:t>tin </a:t>
            </a:r>
            <a:r>
              <a:rPr lang="vi-VN"/>
              <a:t>cơ sở dữ liệu.</a:t>
            </a:r>
            <a:endParaRPr lang="en-US"/>
          </a:p>
          <a:p>
            <a:pPr marL="628650" lvl="1" indent="-171450">
              <a:buFont typeface="Arial" panose="020B0604020202020204" pitchFamily="34" charset="0"/>
              <a:buChar char="•"/>
            </a:pPr>
            <a:r>
              <a:rPr lang="en-US" b="1"/>
              <a:t>Hỗ trợ sao chép giao dịch</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a:latin typeface="Calibri" pitchFamily="34" charset="0"/>
                <a:cs typeface="Calibri" pitchFamily="34" charset="0"/>
              </a:rPr>
              <a:t>Log Reader Agent </a:t>
            </a:r>
            <a:r>
              <a:rPr lang="vi-VN" b="0"/>
              <a:t>giám sát nhật ký giao dịch của mỗi cơ sở dữ liệu được cấu hình để sao chép các giao dịch.</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Hỗ trợ giải pháp máy chủ dự phòng</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giải pháp máy chủ dự phòng, phản chiếu cơ sở dữ liệu và vận chuyển nhật ký tùy thuộc vào nhật ký giao dịch.</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15</a:t>
            </a:fld>
            <a:endParaRPr lang="en-US"/>
          </a:p>
        </p:txBody>
      </p:sp>
    </p:spTree>
    <p:extLst>
      <p:ext uri="{BB962C8B-B14F-4D97-AF65-F5344CB8AC3E}">
        <p14:creationId xmlns:p14="http://schemas.microsoft.com/office/powerpoint/2010/main" val="1846951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Nhật ký giao dịch 2-2</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Làm việc của nhật ký giao dịch: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Cơ sở dữ liệu trong SQL Server có ít nhất một t</a:t>
            </a:r>
            <a:r>
              <a:rPr lang="en-US" b="0"/>
              <a:t>ậ</a:t>
            </a:r>
            <a:r>
              <a:rPr lang="vi-VN" b="0"/>
              <a:t>p </a:t>
            </a:r>
            <a:r>
              <a:rPr lang="en-US" b="0"/>
              <a:t>tin </a:t>
            </a:r>
            <a:r>
              <a:rPr lang="vi-VN" b="0"/>
              <a:t>dữ liệu và một t</a:t>
            </a:r>
            <a:r>
              <a:rPr lang="en-US" b="0"/>
              <a:t>ậ</a:t>
            </a:r>
            <a:r>
              <a:rPr lang="vi-VN" b="0"/>
              <a:t>p </a:t>
            </a:r>
            <a:r>
              <a:rPr lang="en-US" b="0"/>
              <a:t>tin </a:t>
            </a:r>
            <a:r>
              <a:rPr lang="vi-VN" b="0"/>
              <a:t>nhật ký giao dịch. Thông tin nhật ký dữ liệu và giao dịch được tách biệt, tốt nhất là trên các ổ đĩa riêng biệt.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Việc khôi phục mỗi giao dịch được thực thi bằng cách sử dụng các cách sau: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giao dịch được chuyển về phía trước khi nhật ký giao dịch được áp dụng.</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giao dịch được khôi phục khi một giao dịch </a:t>
            </a:r>
            <a:r>
              <a:rPr lang="en-US" b="0"/>
              <a:t>ch</a:t>
            </a:r>
            <a:r>
              <a:rPr lang="vi-VN" b="0"/>
              <a:t>ư</a:t>
            </a:r>
            <a:r>
              <a:rPr lang="en-US" b="0"/>
              <a:t>a hoàn thành </a:t>
            </a:r>
            <a:r>
              <a:rPr lang="vi-VN" b="0"/>
              <a:t>được </a:t>
            </a:r>
            <a:r>
              <a:rPr lang="en-US" b="0"/>
              <a:t>lùi lại</a:t>
            </a:r>
            <a:r>
              <a:rPr lang="vi-VN" b="0"/>
              <a: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1"/>
              <a:t>Thêm t</a:t>
            </a:r>
            <a:r>
              <a:rPr lang="en-US" b="1"/>
              <a:t>ậ</a:t>
            </a:r>
            <a:r>
              <a:rPr lang="vi-VN" b="1"/>
              <a:t>p nhật ký vào cơ sở dữ liệu:</a:t>
            </a:r>
            <a:endParaRPr lang="en-US" b="1"/>
          </a:p>
        </p:txBody>
      </p:sp>
      <p:sp>
        <p:nvSpPr>
          <p:cNvPr id="4" name="Slide Number Placeholder 3"/>
          <p:cNvSpPr>
            <a:spLocks noGrp="1"/>
          </p:cNvSpPr>
          <p:nvPr>
            <p:ph type="sldNum" sz="quarter" idx="5"/>
          </p:nvPr>
        </p:nvSpPr>
        <p:spPr/>
        <p:txBody>
          <a:bodyPr/>
          <a:lstStyle/>
          <a:p>
            <a:fld id="{9834DD31-C011-4C27-BF09-0E53B924ED7D}" type="slidenum">
              <a:rPr lang="en-US" smtClean="0"/>
              <a:t>16</a:t>
            </a:fld>
            <a:endParaRPr lang="en-US"/>
          </a:p>
        </p:txBody>
      </p:sp>
    </p:spTree>
    <p:extLst>
      <p:ext uri="{BB962C8B-B14F-4D97-AF65-F5344CB8AC3E}">
        <p14:creationId xmlns:p14="http://schemas.microsoft.com/office/powerpoint/2010/main" val="3345486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Tạo cơ sở dữ liệu bằng SSMS 1-2</a:t>
            </a:r>
            <a:endParaRPr lang="en-US" b="1"/>
          </a:p>
          <a:p>
            <a:pPr marL="171450" indent="-171450">
              <a:buFont typeface="Arial" panose="020B0604020202020204" pitchFamily="34" charset="0"/>
              <a:buChar char="•"/>
            </a:pPr>
            <a:r>
              <a:rPr lang="vi-VN" b="0"/>
              <a:t>Khi một cơ sở dữ liệu được tạo, các t</a:t>
            </a:r>
            <a:r>
              <a:rPr lang="en-US" b="0"/>
              <a:t>ậ</a:t>
            </a:r>
            <a:r>
              <a:rPr lang="vi-VN" b="0"/>
              <a:t>p </a:t>
            </a:r>
            <a:r>
              <a:rPr lang="en-US" b="0"/>
              <a:t>tin </a:t>
            </a:r>
            <a:r>
              <a:rPr lang="vi-VN" b="0"/>
              <a:t>dữ liệu phải lớn nhất có thể dựa trên lượng dữ liệu tối đa, dự kiến ​​trong cơ sở dữ liệu.</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17</a:t>
            </a:fld>
            <a:endParaRPr lang="en-US"/>
          </a:p>
        </p:txBody>
      </p:sp>
    </p:spTree>
    <p:extLst>
      <p:ext uri="{BB962C8B-B14F-4D97-AF65-F5344CB8AC3E}">
        <p14:creationId xmlns:p14="http://schemas.microsoft.com/office/powerpoint/2010/main" val="3294343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Tạo cơ sở dữ liệu bằng SSMS </a:t>
            </a:r>
            <a:r>
              <a:rPr lang="en-US" b="1"/>
              <a:t>2</a:t>
            </a:r>
            <a:r>
              <a:rPr lang="vi-VN" b="1"/>
              <a:t>-2</a:t>
            </a:r>
            <a:endParaRPr lang="en-US" b="1"/>
          </a:p>
          <a:p>
            <a:endParaRPr lang="en-US"/>
          </a:p>
        </p:txBody>
      </p:sp>
      <p:sp>
        <p:nvSpPr>
          <p:cNvPr id="4" name="Slide Number Placeholder 3"/>
          <p:cNvSpPr>
            <a:spLocks noGrp="1"/>
          </p:cNvSpPr>
          <p:nvPr>
            <p:ph type="sldNum" sz="quarter" idx="5"/>
          </p:nvPr>
        </p:nvSpPr>
        <p:spPr/>
        <p:txBody>
          <a:bodyPr/>
          <a:lstStyle/>
          <a:p>
            <a:fld id="{9834DD31-C011-4C27-BF09-0E53B924ED7D}" type="slidenum">
              <a:rPr lang="en-US" smtClean="0"/>
              <a:t>18</a:t>
            </a:fld>
            <a:endParaRPr lang="en-US"/>
          </a:p>
        </p:txBody>
      </p:sp>
    </p:spTree>
    <p:extLst>
      <p:ext uri="{BB962C8B-B14F-4D97-AF65-F5344CB8AC3E}">
        <p14:creationId xmlns:p14="http://schemas.microsoft.com/office/powerpoint/2010/main" val="656874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Xóa một c</a:t>
            </a:r>
            <a:r>
              <a:rPr lang="vi-VN" b="1"/>
              <a:t>ơ</a:t>
            </a:r>
            <a:r>
              <a:rPr lang="en-US" b="1"/>
              <a:t> sở dữ liệu</a:t>
            </a:r>
          </a:p>
          <a:p>
            <a:pPr marL="171450" indent="-171450">
              <a:buFont typeface="Arial" panose="020B0604020202020204" pitchFamily="34" charset="0"/>
              <a:buChar char="•"/>
            </a:pPr>
            <a:r>
              <a:rPr lang="vi-VN" b="0"/>
              <a:t>Một bản sao lưu đầy đủ của cơ sở dữ liệu phải được thực hiện trước </a:t>
            </a:r>
            <a:r>
              <a:rPr lang="en-US" b="0"/>
              <a:t>khi xóa </a:t>
            </a:r>
            <a:r>
              <a:rPr lang="vi-VN" b="0"/>
              <a:t>một cơ sở dữ liệu. Một cơ sở dữ liệu đã xóa chỉ có thể được tạo lại bằng cách khôi phục bản sao lưu.</a:t>
            </a:r>
            <a:endParaRPr lang="en-US" b="0"/>
          </a:p>
        </p:txBody>
      </p:sp>
      <p:sp>
        <p:nvSpPr>
          <p:cNvPr id="4" name="Slide Number Placeholder 3"/>
          <p:cNvSpPr>
            <a:spLocks noGrp="1"/>
          </p:cNvSpPr>
          <p:nvPr>
            <p:ph type="sldNum" sz="quarter" idx="5"/>
          </p:nvPr>
        </p:nvSpPr>
        <p:spPr/>
        <p:txBody>
          <a:bodyPr/>
          <a:lstStyle/>
          <a:p>
            <a:fld id="{9834DD31-C011-4C27-BF09-0E53B924ED7D}" type="slidenum">
              <a:rPr lang="en-US" smtClean="0"/>
              <a:t>19</a:t>
            </a:fld>
            <a:endParaRPr lang="en-US"/>
          </a:p>
        </p:txBody>
      </p:sp>
    </p:spTree>
    <p:extLst>
      <p:ext uri="{BB962C8B-B14F-4D97-AF65-F5344CB8AC3E}">
        <p14:creationId xmlns:p14="http://schemas.microsoft.com/office/powerpoint/2010/main" val="1966912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a:t>
            </a:r>
            <a:r>
              <a:rPr lang="vi-VN" b="1"/>
              <a:t>hụp </a:t>
            </a:r>
            <a:r>
              <a:rPr lang="en-US" b="1"/>
              <a:t>ảnh </a:t>
            </a:r>
            <a:r>
              <a:rPr lang="vi-VN" b="1"/>
              <a:t>Cơ sở dữ liệu</a:t>
            </a:r>
            <a:endParaRPr lang="en-US" b="1"/>
          </a:p>
          <a:p>
            <a:pPr marL="171450" indent="-171450">
              <a:buFont typeface="Arial" panose="020B0604020202020204" pitchFamily="34" charset="0"/>
              <a:buChar char="•"/>
            </a:pPr>
            <a:r>
              <a:rPr lang="vi-VN"/>
              <a:t>Tính năng chụp </a:t>
            </a:r>
            <a:r>
              <a:rPr lang="en-US"/>
              <a:t>ảnh</a:t>
            </a:r>
            <a:r>
              <a:rPr lang="vi-VN"/>
              <a:t> cơ sở dữ liệu được giới thiệu lần đầu tiên trong Microsoft SQL Server 2005</a:t>
            </a:r>
            <a:endParaRPr lang="en-US"/>
          </a:p>
          <a:p>
            <a:pPr marL="171450" indent="-171450">
              <a:buFont typeface="Arial" panose="020B0604020202020204" pitchFamily="34" charset="0"/>
              <a:buChar char="•"/>
            </a:pPr>
            <a:r>
              <a:rPr lang="vi-VN"/>
              <a:t>Nó là một tính năng cung cấp chế độ chỉ đọc, Chế độ xem tĩnh của cơ sở dữ liệu SQL Server.</a:t>
            </a:r>
          </a:p>
          <a:p>
            <a:pPr marL="171450" indent="-171450">
              <a:buFont typeface="Arial" panose="020B0604020202020204" pitchFamily="34" charset="0"/>
              <a:buChar char="•"/>
            </a:pPr>
            <a:r>
              <a:rPr lang="vi-VN"/>
              <a:t>Nếu người dùng mắc lỗi trong cơ sở dữ liệu nguồn, cơ sở dữ liệu nguồn có thể được hoàn nguyên vào trạng thái trước đó khi ảnh chụp </a:t>
            </a:r>
            <a:r>
              <a:rPr lang="en-US"/>
              <a:t>ảnh</a:t>
            </a:r>
            <a:r>
              <a:rPr lang="vi-VN"/>
              <a:t> được tạo.</a:t>
            </a:r>
            <a:endParaRPr lang="en-US"/>
          </a:p>
          <a:p>
            <a:pPr marL="171450" indent="-171450">
              <a:buFont typeface="Arial" panose="020B0604020202020204" pitchFamily="34" charset="0"/>
              <a:buChar char="•"/>
            </a:pPr>
            <a:r>
              <a:rPr lang="en-US" b="1"/>
              <a:t>Thuận lợi:</a:t>
            </a:r>
          </a:p>
          <a:p>
            <a:pPr marL="628650" lvl="1" indent="-171450">
              <a:buFont typeface="Arial" panose="020B0604020202020204" pitchFamily="34" charset="0"/>
              <a:buChar char="•"/>
            </a:pPr>
            <a:r>
              <a:rPr lang="en-US"/>
              <a:t>Cung cấp một bản sao dữ liệu thuận tiện, chỉ đọc.</a:t>
            </a:r>
          </a:p>
          <a:p>
            <a:pPr marL="628650" lvl="1" indent="-171450">
              <a:buFont typeface="Arial" panose="020B0604020202020204" pitchFamily="34" charset="0"/>
              <a:buChar char="•"/>
            </a:pPr>
            <a:r>
              <a:rPr lang="vi-VN"/>
              <a:t>Khi được truy vấn, không có sự thay đổi hiệu suất</a:t>
            </a:r>
            <a:endParaRPr lang="en-US"/>
          </a:p>
          <a:p>
            <a:pPr marL="628650" lvl="1" indent="-171450">
              <a:buFont typeface="Arial" panose="020B0604020202020204" pitchFamily="34" charset="0"/>
              <a:buChar char="•"/>
            </a:pPr>
            <a:r>
              <a:rPr lang="en-US"/>
              <a:t>Tập tin Snapshot nhỏ và tạo rất nhanh</a:t>
            </a:r>
          </a:p>
          <a:p>
            <a:pPr marL="171450" lvl="0" indent="-171450">
              <a:buFont typeface="Arial" panose="020B0604020202020204" pitchFamily="34" charset="0"/>
              <a:buChar char="•"/>
            </a:pPr>
            <a:r>
              <a:rPr lang="en-US" b="1"/>
              <a:t>Bất lợi:</a:t>
            </a:r>
          </a:p>
          <a:p>
            <a:pPr marL="628650" lvl="1" indent="-171450">
              <a:buFont typeface="Arial" panose="020B0604020202020204" pitchFamily="34" charset="0"/>
              <a:buChar char="•"/>
            </a:pPr>
            <a:r>
              <a:rPr lang="vi-VN"/>
              <a:t>Sao lưu nhanh không thể được tạo</a:t>
            </a:r>
            <a:endParaRPr lang="en-US"/>
          </a:p>
          <a:p>
            <a:pPr marL="628650" lvl="1" indent="-171450">
              <a:buFont typeface="Arial" panose="020B0604020202020204" pitchFamily="34" charset="0"/>
              <a:buChar char="•"/>
            </a:pPr>
            <a:r>
              <a:rPr lang="vi-VN"/>
              <a:t>Ảnh chụp nhanh phải tồn tại trên cùng một máy chủ cơ sở dữ liệu </a:t>
            </a:r>
            <a:r>
              <a:rPr lang="en-US"/>
              <a:t>có </a:t>
            </a:r>
            <a:r>
              <a:rPr lang="vi-VN"/>
              <a:t>cơ sở dữ liệu nguồn</a:t>
            </a:r>
            <a:endParaRPr lang="en-US"/>
          </a:p>
          <a:p>
            <a:pPr marL="628650" lvl="1" indent="-171450">
              <a:buFont typeface="Arial" panose="020B0604020202020204" pitchFamily="34" charset="0"/>
              <a:buChar char="•"/>
            </a:pPr>
            <a:r>
              <a:rPr lang="en-US"/>
              <a:t>Một ng</a:t>
            </a:r>
            <a:r>
              <a:rPr lang="vi-VN"/>
              <a:t>ư</a:t>
            </a:r>
            <a:r>
              <a:rPr lang="en-US"/>
              <a:t>ời dùng mới không thể đ</a:t>
            </a:r>
            <a:r>
              <a:rPr lang="vi-VN"/>
              <a:t>ư</a:t>
            </a:r>
            <a:r>
              <a:rPr lang="en-US"/>
              <a:t>ợc gán quyền truy cập dữ liệu trong snapshot</a:t>
            </a:r>
          </a:p>
        </p:txBody>
      </p:sp>
      <p:sp>
        <p:nvSpPr>
          <p:cNvPr id="4" name="Slide Number Placeholder 3"/>
          <p:cNvSpPr>
            <a:spLocks noGrp="1"/>
          </p:cNvSpPr>
          <p:nvPr>
            <p:ph type="sldNum" sz="quarter" idx="5"/>
          </p:nvPr>
        </p:nvSpPr>
        <p:spPr/>
        <p:txBody>
          <a:bodyPr/>
          <a:lstStyle/>
          <a:p>
            <a:fld id="{9834DD31-C011-4C27-BF09-0E53B924ED7D}" type="slidenum">
              <a:rPr lang="en-US" smtClean="0"/>
              <a:t>20</a:t>
            </a:fld>
            <a:endParaRPr lang="en-US"/>
          </a:p>
        </p:txBody>
      </p:sp>
    </p:spTree>
    <p:extLst>
      <p:ext uri="{BB962C8B-B14F-4D97-AF65-F5344CB8AC3E}">
        <p14:creationId xmlns:p14="http://schemas.microsoft.com/office/powerpoint/2010/main" val="1485899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SQL Server sử dụng cơ sở dữ liệu hệ thống để hỗ trợ các thành phần khác nhau của</a:t>
            </a:r>
            <a:r>
              <a:rPr lang="en-US"/>
              <a:t> </a:t>
            </a:r>
            <a:r>
              <a:rPr lang="vi-VN"/>
              <a:t>DBMS.</a:t>
            </a:r>
          </a:p>
          <a:p>
            <a:pPr marL="171450" indent="-171450">
              <a:buFont typeface="Arial" panose="020B0604020202020204" pitchFamily="34" charset="0"/>
              <a:buChar char="•"/>
            </a:pPr>
            <a:r>
              <a:rPr lang="vi-VN"/>
              <a:t>Các t</a:t>
            </a:r>
            <a:r>
              <a:rPr lang="en-US"/>
              <a:t>ậ</a:t>
            </a:r>
            <a:r>
              <a:rPr lang="vi-VN"/>
              <a:t>p </a:t>
            </a:r>
            <a:r>
              <a:rPr lang="en-US"/>
              <a:t>tin </a:t>
            </a:r>
            <a:r>
              <a:rPr lang="vi-VN"/>
              <a:t>dữ liệu SQL Server được sử dụng để lưu trữ các t</a:t>
            </a:r>
            <a:r>
              <a:rPr lang="en-US"/>
              <a:t>ậ</a:t>
            </a:r>
            <a:r>
              <a:rPr lang="vi-VN"/>
              <a:t>p </a:t>
            </a:r>
            <a:r>
              <a:rPr lang="en-US"/>
              <a:t>tin </a:t>
            </a:r>
            <a:r>
              <a:rPr lang="vi-VN"/>
              <a:t>cơ sở dữ liệu, được chia thành các nhóm t</a:t>
            </a:r>
            <a:r>
              <a:rPr lang="en-US"/>
              <a:t>ậ</a:t>
            </a:r>
            <a:r>
              <a:rPr lang="vi-VN"/>
              <a:t>p </a:t>
            </a:r>
            <a:r>
              <a:rPr lang="en-US"/>
              <a:t>tin </a:t>
            </a:r>
            <a:r>
              <a:rPr lang="vi-VN"/>
              <a:t>để có hiệu suất.</a:t>
            </a:r>
          </a:p>
          <a:p>
            <a:pPr marL="171450" indent="-171450">
              <a:buFont typeface="Arial" panose="020B0604020202020204" pitchFamily="34" charset="0"/>
              <a:buChar char="•"/>
            </a:pPr>
            <a:r>
              <a:rPr lang="vi-VN"/>
              <a:t>Cơ sở dữ liệu có thể được tạo và </a:t>
            </a:r>
            <a:r>
              <a:rPr lang="en-US"/>
              <a:t>xóa</a:t>
            </a:r>
            <a:r>
              <a:rPr lang="vi-VN"/>
              <a:t> bằng SSMS hoặc Transact-SQL.</a:t>
            </a:r>
          </a:p>
          <a:p>
            <a:pPr marL="171450" indent="-171450">
              <a:buFont typeface="Arial" panose="020B0604020202020204" pitchFamily="34" charset="0"/>
              <a:buChar char="•"/>
            </a:pPr>
            <a:r>
              <a:rPr lang="en-US"/>
              <a:t>Câu lệnh </a:t>
            </a:r>
            <a:r>
              <a:rPr lang="en-US" b="1" spc="60"/>
              <a:t>CREATE </a:t>
            </a:r>
            <a:r>
              <a:rPr lang="en-US" b="1" spc="105"/>
              <a:t>DATABASE </a:t>
            </a:r>
            <a:r>
              <a:rPr lang="vi-VN"/>
              <a:t>với các tùy chọn khác nhau có thể được sử dụng để tạo cơ sở dữ liệu.</a:t>
            </a:r>
          </a:p>
          <a:p>
            <a:pPr marL="171450" indent="-171450">
              <a:buFont typeface="Arial" panose="020B0604020202020204" pitchFamily="34" charset="0"/>
              <a:buChar char="•"/>
            </a:pPr>
            <a:r>
              <a:rPr lang="en-US" b="1" spc="85"/>
              <a:t>ALTER </a:t>
            </a:r>
            <a:r>
              <a:rPr lang="en-US" b="1" spc="105"/>
              <a:t>DATABASE </a:t>
            </a:r>
            <a:r>
              <a:rPr lang="vi-VN"/>
              <a:t>và </a:t>
            </a:r>
            <a:r>
              <a:rPr lang="en-US" b="1" spc="15"/>
              <a:t>DROP </a:t>
            </a:r>
            <a:r>
              <a:rPr lang="en-US" b="1" spc="105"/>
              <a:t>DATABASE </a:t>
            </a:r>
            <a:r>
              <a:rPr lang="vi-VN"/>
              <a:t>được sử dụng để sửa đổi và xóa cơ sở dữ liệu tương ứng.</a:t>
            </a:r>
          </a:p>
          <a:p>
            <a:pPr marL="171450" indent="-171450">
              <a:buFont typeface="Arial" panose="020B0604020202020204" pitchFamily="34" charset="0"/>
              <a:buChar char="•"/>
            </a:pPr>
            <a:r>
              <a:rPr lang="vi-VN"/>
              <a:t>Nhật ký giao dịch trong SQL Server ghi tất cả các giao dịch và các sửa đổi cơ sở dữ liệu được thực hiện bởi mỗi giao dịch.</a:t>
            </a:r>
          </a:p>
          <a:p>
            <a:pPr marL="171450" indent="-171450">
              <a:buFont typeface="Arial" panose="020B0604020202020204" pitchFamily="34" charset="0"/>
              <a:buChar char="•"/>
            </a:pPr>
            <a:r>
              <a:rPr lang="vi-VN"/>
              <a:t>Các đối tượng được gán cho nhóm t</a:t>
            </a:r>
            <a:r>
              <a:rPr lang="en-US"/>
              <a:t>ập</a:t>
            </a:r>
            <a:r>
              <a:rPr lang="vi-VN"/>
              <a:t> </a:t>
            </a:r>
            <a:r>
              <a:rPr lang="en-US"/>
              <a:t>tin </a:t>
            </a:r>
            <a:r>
              <a:rPr lang="vi-VN"/>
              <a:t>mặc định khi chúng được tạo trong cơ sở dữ liệu. </a:t>
            </a:r>
            <a:r>
              <a:rPr lang="en-US" b="1" spc="60"/>
              <a:t>PRIMARY</a:t>
            </a:r>
            <a:r>
              <a:rPr lang="en-US" b="1" spc="-130"/>
              <a:t> </a:t>
            </a:r>
            <a:r>
              <a:rPr lang="en-US" b="1" spc="15"/>
              <a:t>filegroup</a:t>
            </a:r>
            <a:r>
              <a:rPr lang="en-US" b="1" spc="-120"/>
              <a:t> </a:t>
            </a:r>
            <a:r>
              <a:rPr lang="vi-VN"/>
              <a:t>là FileGroup mặc định.</a:t>
            </a:r>
          </a:p>
          <a:p>
            <a:pPr marL="171450" indent="-171450">
              <a:buFont typeface="Arial" panose="020B0604020202020204" pitchFamily="34" charset="0"/>
              <a:buChar char="•"/>
            </a:pPr>
            <a:r>
              <a:rPr lang="vi-VN"/>
              <a:t>Ảnh chụp nhanh cơ sở dữ liệu là chế độ chỉ đọc, Chế độ xem tĩnh của cơ sở dữ liệu SQL Server.</a:t>
            </a:r>
            <a:endParaRPr lang="en-US"/>
          </a:p>
        </p:txBody>
      </p:sp>
      <p:sp>
        <p:nvSpPr>
          <p:cNvPr id="4" name="Slide Number Placeholder 3"/>
          <p:cNvSpPr>
            <a:spLocks noGrp="1"/>
          </p:cNvSpPr>
          <p:nvPr>
            <p:ph type="sldNum" sz="quarter" idx="5"/>
          </p:nvPr>
        </p:nvSpPr>
        <p:spPr/>
        <p:txBody>
          <a:bodyPr/>
          <a:lstStyle/>
          <a:p>
            <a:fld id="{9834DD31-C011-4C27-BF09-0E53B924ED7D}" type="slidenum">
              <a:rPr lang="en-US" smtClean="0"/>
              <a:t>21</a:t>
            </a:fld>
            <a:endParaRPr lang="en-US"/>
          </a:p>
        </p:txBody>
      </p:sp>
    </p:spTree>
    <p:extLst>
      <p:ext uri="{BB962C8B-B14F-4D97-AF65-F5344CB8AC3E}">
        <p14:creationId xmlns:p14="http://schemas.microsoft.com/office/powerpoint/2010/main" val="375874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24383"/>
            <a:ext cx="8376919"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a:xfrm>
            <a:off x="383540" y="1125473"/>
            <a:ext cx="8452485" cy="4293235"/>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a:xfrm>
            <a:off x="7934706" y="6569709"/>
            <a:ext cx="882650" cy="25654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147173"/>
            <a:ext cx="6179185" cy="1999614"/>
          </a:xfrm>
          <a:prstGeom prst="rect">
            <a:avLst/>
          </a:prstGeom>
        </p:spPr>
        <p:txBody>
          <a:bodyPr vert="horz" wrap="square" lIns="0" tIns="77470" rIns="0" bIns="0" rtlCol="0">
            <a:spAutoFit/>
          </a:bodyPr>
          <a:lstStyle/>
          <a:p>
            <a:pPr marL="1270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5</a:t>
            </a:r>
            <a:endParaRPr sz="2800">
              <a:latin typeface="Book Antiqua"/>
              <a:cs typeface="Book Antiqua"/>
            </a:endParaRPr>
          </a:p>
          <a:p>
            <a:pPr marL="1814830" marR="5080" indent="-1663064">
              <a:lnSpc>
                <a:spcPct val="101000"/>
              </a:lnSpc>
              <a:spcBef>
                <a:spcPts val="765"/>
              </a:spcBef>
            </a:pPr>
            <a:r>
              <a:rPr sz="4500" b="1" i="1" spc="-5" dirty="0">
                <a:latin typeface="Book Antiqua"/>
                <a:cs typeface="Book Antiqua"/>
              </a:rPr>
              <a:t>Creating and</a:t>
            </a:r>
            <a:r>
              <a:rPr sz="4500" b="1" i="1" spc="-95" dirty="0">
                <a:latin typeface="Book Antiqua"/>
                <a:cs typeface="Book Antiqua"/>
              </a:rPr>
              <a:t> </a:t>
            </a:r>
            <a:r>
              <a:rPr sz="4500" b="1" i="1" dirty="0">
                <a:latin typeface="Book Antiqua"/>
                <a:cs typeface="Book Antiqua"/>
              </a:rPr>
              <a:t>Managing  Databases</a:t>
            </a:r>
            <a:endParaRPr sz="4500">
              <a:latin typeface="Book Antiqua"/>
              <a:cs typeface="Book Antiqua"/>
            </a:endParaRPr>
          </a:p>
        </p:txBody>
      </p:sp>
      <p:sp>
        <p:nvSpPr>
          <p:cNvPr id="7" name="object 7"/>
          <p:cNvSpPr txBox="1">
            <a:spLocks noGrp="1"/>
          </p:cNvSpPr>
          <p:nvPr>
            <p:ph type="title"/>
          </p:nvPr>
        </p:nvSpPr>
        <p:spPr>
          <a:xfrm>
            <a:off x="2980435" y="1379473"/>
            <a:ext cx="4544060" cy="1694180"/>
          </a:xfrm>
          <a:prstGeom prst="rect">
            <a:avLst/>
          </a:prstGeom>
        </p:spPr>
        <p:txBody>
          <a:bodyPr vert="horz" wrap="square" lIns="0" tIns="12700" rIns="0" bIns="0" rtlCol="0">
            <a:spAutoFit/>
          </a:bodyPr>
          <a:lstStyle/>
          <a:p>
            <a:pPr algn="ctr">
              <a:lnSpc>
                <a:spcPct val="100000"/>
              </a:lnSpc>
              <a:spcBef>
                <a:spcPts val="100"/>
              </a:spcBef>
            </a:pPr>
            <a:r>
              <a:rPr sz="3600" b="1" spc="-5" dirty="0">
                <a:latin typeface="Times New Roman"/>
                <a:cs typeface="Times New Roman"/>
              </a:rPr>
              <a:t>Intelligent</a:t>
            </a:r>
            <a:endParaRPr sz="3600">
              <a:latin typeface="Times New Roman"/>
              <a:cs typeface="Times New Roman"/>
            </a:endParaRPr>
          </a:p>
          <a:p>
            <a:pPr marL="12700" marR="5080" algn="ctr">
              <a:lnSpc>
                <a:spcPts val="4500"/>
              </a:lnSpc>
            </a:pPr>
            <a:r>
              <a:rPr sz="3600" b="1" spc="-30" dirty="0">
                <a:latin typeface="Times New Roman"/>
                <a:cs typeface="Times New Roman"/>
              </a:rPr>
              <a:t>Data </a:t>
            </a:r>
            <a:r>
              <a:rPr sz="3600" b="1" spc="-35" dirty="0">
                <a:latin typeface="Times New Roman"/>
                <a:cs typeface="Times New Roman"/>
              </a:rPr>
              <a:t>Management</a:t>
            </a:r>
            <a:r>
              <a:rPr sz="3600" b="1" spc="-434" dirty="0">
                <a:latin typeface="Times New Roman"/>
                <a:cs typeface="Times New Roman"/>
              </a:rPr>
              <a:t> </a:t>
            </a:r>
            <a:r>
              <a:rPr sz="3600" b="1" spc="45" dirty="0">
                <a:latin typeface="Times New Roman"/>
                <a:cs typeface="Times New Roman"/>
              </a:rPr>
              <a:t>with  </a:t>
            </a:r>
            <a:r>
              <a:rPr sz="3600" b="1" spc="10" dirty="0">
                <a:latin typeface="Times New Roman"/>
                <a:cs typeface="Times New Roman"/>
              </a:rPr>
              <a:t>SQL</a:t>
            </a:r>
            <a:r>
              <a:rPr sz="3600" b="1" spc="-200" dirty="0">
                <a:latin typeface="Times New Roman"/>
                <a:cs typeface="Times New Roman"/>
              </a:rPr>
              <a:t> </a:t>
            </a:r>
            <a:r>
              <a:rPr sz="3600" b="1" spc="-45" dirty="0">
                <a:latin typeface="Times New Roman"/>
                <a:cs typeface="Times New Roman"/>
              </a:rPr>
              <a:t>Server</a:t>
            </a:r>
            <a:endParaRPr sz="36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25" dirty="0"/>
              <a:t>Objectives</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115567"/>
            <a:ext cx="6882765" cy="185483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15" dirty="0">
                <a:latin typeface="Arial"/>
                <a:cs typeface="Arial"/>
              </a:rPr>
              <a:t>Explain</a:t>
            </a:r>
            <a:r>
              <a:rPr sz="2400" spc="-150" dirty="0">
                <a:latin typeface="Arial"/>
                <a:cs typeface="Arial"/>
              </a:rPr>
              <a:t> </a:t>
            </a:r>
            <a:r>
              <a:rPr sz="2400" spc="-15" dirty="0">
                <a:latin typeface="Arial"/>
                <a:cs typeface="Arial"/>
              </a:rPr>
              <a:t>about</a:t>
            </a:r>
            <a:r>
              <a:rPr sz="2400" spc="-145" dirty="0">
                <a:latin typeface="Arial"/>
                <a:cs typeface="Arial"/>
              </a:rPr>
              <a:t> </a:t>
            </a:r>
            <a:r>
              <a:rPr sz="2400" spc="35" dirty="0">
                <a:latin typeface="Arial"/>
                <a:cs typeface="Arial"/>
              </a:rPr>
              <a:t>modification</a:t>
            </a:r>
            <a:r>
              <a:rPr sz="2400" spc="-150" dirty="0">
                <a:latin typeface="Arial"/>
                <a:cs typeface="Arial"/>
              </a:rPr>
              <a:t> </a:t>
            </a:r>
            <a:r>
              <a:rPr sz="2400" spc="70" dirty="0">
                <a:latin typeface="Arial"/>
                <a:cs typeface="Arial"/>
              </a:rPr>
              <a:t>of</a:t>
            </a:r>
            <a:r>
              <a:rPr sz="2400" spc="-170" dirty="0">
                <a:latin typeface="Arial"/>
                <a:cs typeface="Arial"/>
              </a:rPr>
              <a:t> </a:t>
            </a:r>
            <a:r>
              <a:rPr sz="2400" spc="-100" dirty="0">
                <a:latin typeface="Arial"/>
                <a:cs typeface="Arial"/>
              </a:rPr>
              <a:t>system</a:t>
            </a:r>
            <a:r>
              <a:rPr sz="2400" spc="-150" dirty="0">
                <a:latin typeface="Arial"/>
                <a:cs typeface="Arial"/>
              </a:rPr>
              <a:t> </a:t>
            </a:r>
            <a:r>
              <a:rPr sz="2400" spc="-70" dirty="0">
                <a:latin typeface="Arial"/>
                <a:cs typeface="Arial"/>
              </a:rPr>
              <a:t>data</a:t>
            </a:r>
            <a:endParaRPr sz="2400">
              <a:latin typeface="Arial"/>
              <a:cs typeface="Arial"/>
            </a:endParaRPr>
          </a:p>
          <a:p>
            <a:pPr marL="353695" indent="-341630">
              <a:lnSpc>
                <a:spcPct val="100000"/>
              </a:lnSpc>
              <a:spcBef>
                <a:spcPts val="5"/>
              </a:spcBef>
              <a:buFont typeface="Calibri"/>
              <a:buChar char="●"/>
              <a:tabLst>
                <a:tab pos="353695" algn="l"/>
                <a:tab pos="354330" algn="l"/>
              </a:tabLst>
            </a:pPr>
            <a:r>
              <a:rPr sz="2400" spc="-55" dirty="0">
                <a:latin typeface="Arial"/>
                <a:cs typeface="Arial"/>
              </a:rPr>
              <a:t>Describe</a:t>
            </a:r>
            <a:r>
              <a:rPr sz="2400" spc="-165" dirty="0">
                <a:latin typeface="Arial"/>
                <a:cs typeface="Arial"/>
              </a:rPr>
              <a:t> </a:t>
            </a:r>
            <a:r>
              <a:rPr sz="2400" spc="-20" dirty="0">
                <a:latin typeface="Arial"/>
                <a:cs typeface="Arial"/>
              </a:rPr>
              <a:t>adding</a:t>
            </a:r>
            <a:r>
              <a:rPr sz="2400" spc="-160" dirty="0">
                <a:latin typeface="Arial"/>
                <a:cs typeface="Arial"/>
              </a:rPr>
              <a:t> </a:t>
            </a:r>
            <a:r>
              <a:rPr sz="2400" spc="65" dirty="0">
                <a:latin typeface="Arial"/>
                <a:cs typeface="Arial"/>
              </a:rPr>
              <a:t>of</a:t>
            </a:r>
            <a:r>
              <a:rPr sz="2400" spc="-160" dirty="0">
                <a:latin typeface="Arial"/>
                <a:cs typeface="Arial"/>
              </a:rPr>
              <a:t> </a:t>
            </a:r>
            <a:r>
              <a:rPr sz="2400" spc="-10" dirty="0">
                <a:latin typeface="Arial"/>
                <a:cs typeface="Arial"/>
              </a:rPr>
              <a:t>filegroups</a:t>
            </a:r>
            <a:r>
              <a:rPr sz="2400" spc="-135" dirty="0">
                <a:latin typeface="Arial"/>
                <a:cs typeface="Arial"/>
              </a:rPr>
              <a:t> </a:t>
            </a:r>
            <a:r>
              <a:rPr sz="2400" spc="-45" dirty="0">
                <a:latin typeface="Arial"/>
                <a:cs typeface="Arial"/>
              </a:rPr>
              <a:t>and</a:t>
            </a:r>
            <a:r>
              <a:rPr sz="2400" spc="-155" dirty="0">
                <a:latin typeface="Arial"/>
                <a:cs typeface="Arial"/>
              </a:rPr>
              <a:t> </a:t>
            </a:r>
            <a:r>
              <a:rPr sz="2400" spc="-15" dirty="0">
                <a:latin typeface="Arial"/>
                <a:cs typeface="Arial"/>
              </a:rPr>
              <a:t>transaction</a:t>
            </a:r>
            <a:r>
              <a:rPr sz="2400" spc="-135" dirty="0">
                <a:latin typeface="Arial"/>
                <a:cs typeface="Arial"/>
              </a:rPr>
              <a:t> </a:t>
            </a:r>
            <a:r>
              <a:rPr sz="2400" spc="-80" dirty="0">
                <a:latin typeface="Arial"/>
                <a:cs typeface="Arial"/>
              </a:rPr>
              <a:t>logs</a:t>
            </a:r>
            <a:endParaRPr sz="2400">
              <a:latin typeface="Arial"/>
              <a:cs typeface="Arial"/>
            </a:endParaRPr>
          </a:p>
          <a:p>
            <a:pPr marL="353695" indent="-341630">
              <a:lnSpc>
                <a:spcPct val="100000"/>
              </a:lnSpc>
              <a:buFont typeface="Calibri"/>
              <a:buChar char="●"/>
              <a:tabLst>
                <a:tab pos="353695" algn="l"/>
                <a:tab pos="354330" algn="l"/>
              </a:tabLst>
            </a:pPr>
            <a:r>
              <a:rPr sz="2400" spc="75" dirty="0">
                <a:latin typeface="Arial"/>
                <a:cs typeface="Arial"/>
              </a:rPr>
              <a:t>Outline</a:t>
            </a:r>
            <a:r>
              <a:rPr sz="2400" spc="-150" dirty="0">
                <a:latin typeface="Arial"/>
                <a:cs typeface="Arial"/>
              </a:rPr>
              <a:t> </a:t>
            </a:r>
            <a:r>
              <a:rPr sz="2400" dirty="0">
                <a:latin typeface="Arial"/>
                <a:cs typeface="Arial"/>
              </a:rPr>
              <a:t>the</a:t>
            </a:r>
            <a:r>
              <a:rPr sz="2400" spc="-150" dirty="0">
                <a:latin typeface="Arial"/>
                <a:cs typeface="Arial"/>
              </a:rPr>
              <a:t> </a:t>
            </a:r>
            <a:r>
              <a:rPr sz="2400" spc="-110" dirty="0">
                <a:latin typeface="Arial"/>
                <a:cs typeface="Arial"/>
              </a:rPr>
              <a:t>process</a:t>
            </a:r>
            <a:r>
              <a:rPr sz="2400" spc="-170" dirty="0">
                <a:latin typeface="Arial"/>
                <a:cs typeface="Arial"/>
              </a:rPr>
              <a:t> </a:t>
            </a:r>
            <a:r>
              <a:rPr sz="2400" spc="65" dirty="0">
                <a:latin typeface="Arial"/>
                <a:cs typeface="Arial"/>
              </a:rPr>
              <a:t>to</a:t>
            </a:r>
            <a:r>
              <a:rPr sz="2400" spc="-160" dirty="0">
                <a:latin typeface="Arial"/>
                <a:cs typeface="Arial"/>
              </a:rPr>
              <a:t> </a:t>
            </a:r>
            <a:r>
              <a:rPr sz="2400" spc="-90" dirty="0">
                <a:latin typeface="Arial"/>
                <a:cs typeface="Arial"/>
              </a:rPr>
              <a:t>create</a:t>
            </a:r>
            <a:r>
              <a:rPr sz="2400" spc="-150" dirty="0">
                <a:latin typeface="Arial"/>
                <a:cs typeface="Arial"/>
              </a:rPr>
              <a:t> </a:t>
            </a:r>
            <a:r>
              <a:rPr sz="2400" spc="-229" dirty="0">
                <a:latin typeface="Arial"/>
                <a:cs typeface="Arial"/>
              </a:rPr>
              <a:t>a</a:t>
            </a:r>
            <a:r>
              <a:rPr sz="2400" spc="-150" dirty="0">
                <a:latin typeface="Arial"/>
                <a:cs typeface="Arial"/>
              </a:rPr>
              <a:t> </a:t>
            </a:r>
            <a:r>
              <a:rPr sz="2400" spc="-130" dirty="0">
                <a:latin typeface="Arial"/>
                <a:cs typeface="Arial"/>
              </a:rPr>
              <a:t>database</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a:t>
            </a:r>
            <a:r>
              <a:rPr sz="2400" spc="-170" dirty="0">
                <a:latin typeface="Arial"/>
                <a:cs typeface="Arial"/>
              </a:rPr>
              <a:t> </a:t>
            </a:r>
            <a:r>
              <a:rPr sz="2400" spc="35" dirty="0">
                <a:latin typeface="Arial"/>
                <a:cs typeface="Arial"/>
              </a:rPr>
              <a:t>how</a:t>
            </a:r>
            <a:r>
              <a:rPr sz="2400" spc="-155" dirty="0">
                <a:latin typeface="Arial"/>
                <a:cs typeface="Arial"/>
              </a:rPr>
              <a:t> </a:t>
            </a:r>
            <a:r>
              <a:rPr sz="2400" spc="65" dirty="0">
                <a:latin typeface="Arial"/>
                <a:cs typeface="Arial"/>
              </a:rPr>
              <a:t>to</a:t>
            </a:r>
            <a:r>
              <a:rPr sz="2400" spc="-150" dirty="0">
                <a:latin typeface="Arial"/>
                <a:cs typeface="Arial"/>
              </a:rPr>
              <a:t> </a:t>
            </a:r>
            <a:r>
              <a:rPr sz="2400" spc="20" dirty="0">
                <a:latin typeface="Arial"/>
                <a:cs typeface="Arial"/>
              </a:rPr>
              <a:t>drop</a:t>
            </a:r>
            <a:r>
              <a:rPr sz="2400" spc="-160" dirty="0">
                <a:latin typeface="Arial"/>
                <a:cs typeface="Arial"/>
              </a:rPr>
              <a:t> </a:t>
            </a:r>
            <a:r>
              <a:rPr sz="2400" spc="-229" dirty="0">
                <a:latin typeface="Arial"/>
                <a:cs typeface="Arial"/>
              </a:rPr>
              <a:t>a</a:t>
            </a:r>
            <a:r>
              <a:rPr sz="2400" spc="-150" dirty="0">
                <a:latin typeface="Arial"/>
                <a:cs typeface="Arial"/>
              </a:rPr>
              <a:t> </a:t>
            </a:r>
            <a:r>
              <a:rPr sz="2400" spc="-130" dirty="0">
                <a:latin typeface="Arial"/>
                <a:cs typeface="Arial"/>
              </a:rPr>
              <a:t>database</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 </a:t>
            </a:r>
            <a:r>
              <a:rPr sz="2400" spc="-130" dirty="0">
                <a:latin typeface="Arial"/>
                <a:cs typeface="Arial"/>
              </a:rPr>
              <a:t>database</a:t>
            </a:r>
            <a:r>
              <a:rPr sz="2400" spc="-305" dirty="0">
                <a:latin typeface="Arial"/>
                <a:cs typeface="Arial"/>
              </a:rPr>
              <a:t> </a:t>
            </a:r>
            <a:r>
              <a:rPr sz="2400" spc="-85" dirty="0">
                <a:latin typeface="Arial"/>
                <a:cs typeface="Arial"/>
              </a:rPr>
              <a:t>snapshots</a:t>
            </a:r>
            <a:endParaRPr sz="2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167630" cy="635635"/>
          </a:xfrm>
          <a:prstGeom prst="rect">
            <a:avLst/>
          </a:prstGeom>
        </p:spPr>
        <p:txBody>
          <a:bodyPr vert="horz" wrap="square" lIns="0" tIns="12700" rIns="0" bIns="0" rtlCol="0">
            <a:spAutoFit/>
          </a:bodyPr>
          <a:lstStyle/>
          <a:p>
            <a:pPr marL="12700">
              <a:lnSpc>
                <a:spcPct val="100000"/>
              </a:lnSpc>
              <a:spcBef>
                <a:spcPts val="100"/>
              </a:spcBef>
            </a:pPr>
            <a:r>
              <a:rPr spc="105" dirty="0"/>
              <a:t>Modifying </a:t>
            </a:r>
            <a:r>
              <a:rPr spc="-145" dirty="0"/>
              <a:t>System</a:t>
            </a:r>
            <a:r>
              <a:rPr spc="-685" dirty="0"/>
              <a:t> </a:t>
            </a:r>
            <a:r>
              <a:rPr spc="-60" dirty="0"/>
              <a:t>Data</a:t>
            </a:r>
          </a:p>
        </p:txBody>
      </p:sp>
      <p:sp>
        <p:nvSpPr>
          <p:cNvPr id="3" name="object 3"/>
          <p:cNvSpPr txBox="1"/>
          <p:nvPr/>
        </p:nvSpPr>
        <p:spPr>
          <a:xfrm>
            <a:off x="126745" y="918971"/>
            <a:ext cx="8868410" cy="635000"/>
          </a:xfrm>
          <a:prstGeom prst="rect">
            <a:avLst/>
          </a:prstGeom>
        </p:spPr>
        <p:txBody>
          <a:bodyPr vert="horz" wrap="square" lIns="0" tIns="12065" rIns="0" bIns="0" rtlCol="0">
            <a:spAutoFit/>
          </a:bodyPr>
          <a:lstStyle/>
          <a:p>
            <a:pPr marL="353695" marR="5080" indent="-341630">
              <a:lnSpc>
                <a:spcPct val="100000"/>
              </a:lnSpc>
              <a:spcBef>
                <a:spcPts val="95"/>
              </a:spcBef>
            </a:pPr>
            <a:r>
              <a:rPr sz="2000" spc="-5" dirty="0">
                <a:latin typeface="Segoe UI Symbol"/>
                <a:cs typeface="Segoe UI Symbol"/>
              </a:rPr>
              <a:t>⮚ </a:t>
            </a:r>
            <a:r>
              <a:rPr sz="2000" spc="-70" dirty="0">
                <a:latin typeface="Arial"/>
                <a:cs typeface="Arial"/>
              </a:rPr>
              <a:t>Users </a:t>
            </a:r>
            <a:r>
              <a:rPr sz="2000" spc="-75" dirty="0">
                <a:latin typeface="Arial"/>
                <a:cs typeface="Arial"/>
              </a:rPr>
              <a:t>can </a:t>
            </a:r>
            <a:r>
              <a:rPr sz="2000" spc="-20" dirty="0">
                <a:latin typeface="Arial"/>
                <a:cs typeface="Arial"/>
              </a:rPr>
              <a:t>avail </a:t>
            </a:r>
            <a:r>
              <a:rPr sz="2000" dirty="0">
                <a:latin typeface="Arial"/>
                <a:cs typeface="Arial"/>
              </a:rPr>
              <a:t>administrative </a:t>
            </a:r>
            <a:r>
              <a:rPr sz="2000" spc="-5" dirty="0">
                <a:latin typeface="Arial"/>
                <a:cs typeface="Arial"/>
              </a:rPr>
              <a:t>tools </a:t>
            </a:r>
            <a:r>
              <a:rPr sz="2000" spc="55" dirty="0">
                <a:latin typeface="Arial"/>
                <a:cs typeface="Arial"/>
              </a:rPr>
              <a:t>to </a:t>
            </a:r>
            <a:r>
              <a:rPr sz="2000" spc="75" dirty="0">
                <a:latin typeface="Arial"/>
                <a:cs typeface="Arial"/>
              </a:rPr>
              <a:t>fully </a:t>
            </a:r>
            <a:r>
              <a:rPr sz="2000" spc="-10" dirty="0">
                <a:latin typeface="Arial"/>
                <a:cs typeface="Arial"/>
              </a:rPr>
              <a:t>administer </a:t>
            </a:r>
            <a:r>
              <a:rPr sz="2000" spc="-85" dirty="0">
                <a:latin typeface="Arial"/>
                <a:cs typeface="Arial"/>
              </a:rPr>
              <a:t>system </a:t>
            </a:r>
            <a:r>
              <a:rPr sz="2000" spc="-35" dirty="0">
                <a:latin typeface="Arial"/>
                <a:cs typeface="Arial"/>
              </a:rPr>
              <a:t>and </a:t>
            </a:r>
            <a:r>
              <a:rPr sz="2000" spc="-110" dirty="0">
                <a:latin typeface="Arial"/>
                <a:cs typeface="Arial"/>
              </a:rPr>
              <a:t>manage </a:t>
            </a:r>
            <a:r>
              <a:rPr sz="2000" spc="10" dirty="0">
                <a:latin typeface="Arial"/>
                <a:cs typeface="Arial"/>
              </a:rPr>
              <a:t>all  </a:t>
            </a:r>
            <a:r>
              <a:rPr sz="2000" spc="-100" dirty="0">
                <a:latin typeface="Arial"/>
                <a:cs typeface="Arial"/>
              </a:rPr>
              <a:t>users </a:t>
            </a:r>
            <a:r>
              <a:rPr sz="2000" spc="-40" dirty="0">
                <a:latin typeface="Arial"/>
                <a:cs typeface="Arial"/>
              </a:rPr>
              <a:t>and </a:t>
            </a:r>
            <a:r>
              <a:rPr sz="2000" spc="-105" dirty="0">
                <a:latin typeface="Arial"/>
                <a:cs typeface="Arial"/>
              </a:rPr>
              <a:t>database</a:t>
            </a:r>
            <a:r>
              <a:rPr sz="2000" spc="-229" dirty="0">
                <a:latin typeface="Arial"/>
                <a:cs typeface="Arial"/>
              </a:rPr>
              <a:t> </a:t>
            </a:r>
            <a:r>
              <a:rPr sz="2000" spc="-40" dirty="0">
                <a:latin typeface="Arial"/>
                <a:cs typeface="Arial"/>
              </a:rPr>
              <a:t>objects:</a:t>
            </a:r>
            <a:endParaRPr sz="2000">
              <a:latin typeface="Arial"/>
              <a:cs typeface="Arial"/>
            </a:endParaRPr>
          </a:p>
        </p:txBody>
      </p:sp>
      <p:pic>
        <p:nvPicPr>
          <p:cNvPr id="4" name="object 4"/>
          <p:cNvPicPr/>
          <p:nvPr/>
        </p:nvPicPr>
        <p:blipFill>
          <a:blip r:embed="rId3" cstate="print"/>
          <a:stretch>
            <a:fillRect/>
          </a:stretch>
        </p:blipFill>
        <p:spPr>
          <a:xfrm>
            <a:off x="5676900" y="1940051"/>
            <a:ext cx="3467100" cy="2554224"/>
          </a:xfrm>
          <a:prstGeom prst="rect">
            <a:avLst/>
          </a:prstGeom>
        </p:spPr>
      </p:pic>
      <p:sp>
        <p:nvSpPr>
          <p:cNvPr id="5" name="object 5"/>
          <p:cNvSpPr txBox="1"/>
          <p:nvPr/>
        </p:nvSpPr>
        <p:spPr>
          <a:xfrm>
            <a:off x="6212840" y="4603496"/>
            <a:ext cx="2332355" cy="238760"/>
          </a:xfrm>
          <a:prstGeom prst="rect">
            <a:avLst/>
          </a:prstGeom>
        </p:spPr>
        <p:txBody>
          <a:bodyPr vert="horz" wrap="square" lIns="0" tIns="12065" rIns="0" bIns="0" rtlCol="0">
            <a:spAutoFit/>
          </a:bodyPr>
          <a:lstStyle/>
          <a:p>
            <a:pPr marL="12700">
              <a:lnSpc>
                <a:spcPct val="100000"/>
              </a:lnSpc>
              <a:spcBef>
                <a:spcPts val="95"/>
              </a:spcBef>
            </a:pPr>
            <a:r>
              <a:rPr sz="1400" b="1" spc="-15" dirty="0">
                <a:latin typeface="Times New Roman"/>
                <a:cs typeface="Times New Roman"/>
              </a:rPr>
              <a:t>Transact-SQL </a:t>
            </a:r>
            <a:r>
              <a:rPr sz="1400" b="1" spc="-5" dirty="0">
                <a:latin typeface="Times New Roman"/>
                <a:cs typeface="Times New Roman"/>
              </a:rPr>
              <a:t>Query</a:t>
            </a:r>
            <a:r>
              <a:rPr sz="1400" b="1" spc="-175" dirty="0">
                <a:latin typeface="Times New Roman"/>
                <a:cs typeface="Times New Roman"/>
              </a:rPr>
              <a:t> </a:t>
            </a:r>
            <a:r>
              <a:rPr sz="1400" b="1" spc="35" dirty="0">
                <a:latin typeface="Times New Roman"/>
                <a:cs typeface="Times New Roman"/>
              </a:rPr>
              <a:t>Window</a:t>
            </a:r>
            <a:endParaRPr sz="1400">
              <a:latin typeface="Times New Roman"/>
              <a:cs typeface="Times New Roman"/>
            </a:endParaRPr>
          </a:p>
        </p:txBody>
      </p:sp>
      <p:grpSp>
        <p:nvGrpSpPr>
          <p:cNvPr id="6" name="object 6"/>
          <p:cNvGrpSpPr/>
          <p:nvPr/>
        </p:nvGrpSpPr>
        <p:grpSpPr>
          <a:xfrm>
            <a:off x="292481" y="2015363"/>
            <a:ext cx="923925" cy="1510030"/>
            <a:chOff x="292481" y="2015363"/>
            <a:chExt cx="923925" cy="1510030"/>
          </a:xfrm>
        </p:grpSpPr>
        <p:sp>
          <p:nvSpPr>
            <p:cNvPr id="7" name="object 7"/>
            <p:cNvSpPr/>
            <p:nvPr/>
          </p:nvSpPr>
          <p:spPr>
            <a:xfrm>
              <a:off x="305181" y="2028063"/>
              <a:ext cx="898525" cy="1484630"/>
            </a:xfrm>
            <a:custGeom>
              <a:avLst/>
              <a:gdLst/>
              <a:ahLst/>
              <a:cxnLst/>
              <a:rect l="l" t="t" r="r" b="b"/>
              <a:pathLst>
                <a:path w="898525" h="1484629">
                  <a:moveTo>
                    <a:pt x="898397" y="0"/>
                  </a:moveTo>
                  <a:lnTo>
                    <a:pt x="449198" y="519556"/>
                  </a:lnTo>
                  <a:lnTo>
                    <a:pt x="0" y="0"/>
                  </a:lnTo>
                  <a:lnTo>
                    <a:pt x="0" y="964819"/>
                  </a:lnTo>
                  <a:lnTo>
                    <a:pt x="449198" y="1484376"/>
                  </a:lnTo>
                  <a:lnTo>
                    <a:pt x="898397" y="964819"/>
                  </a:lnTo>
                  <a:lnTo>
                    <a:pt x="898397" y="0"/>
                  </a:lnTo>
                  <a:close/>
                </a:path>
              </a:pathLst>
            </a:custGeom>
            <a:solidFill>
              <a:srgbClr val="8063A1"/>
            </a:solidFill>
          </p:spPr>
          <p:txBody>
            <a:bodyPr wrap="square" lIns="0" tIns="0" rIns="0" bIns="0" rtlCol="0"/>
            <a:lstStyle/>
            <a:p>
              <a:endParaRPr/>
            </a:p>
          </p:txBody>
        </p:sp>
        <p:sp>
          <p:nvSpPr>
            <p:cNvPr id="8" name="object 8"/>
            <p:cNvSpPr/>
            <p:nvPr/>
          </p:nvSpPr>
          <p:spPr>
            <a:xfrm>
              <a:off x="305181" y="2028063"/>
              <a:ext cx="898525" cy="1484630"/>
            </a:xfrm>
            <a:custGeom>
              <a:avLst/>
              <a:gdLst/>
              <a:ahLst/>
              <a:cxnLst/>
              <a:rect l="l" t="t" r="r" b="b"/>
              <a:pathLst>
                <a:path w="898525" h="1484629">
                  <a:moveTo>
                    <a:pt x="898397" y="0"/>
                  </a:moveTo>
                  <a:lnTo>
                    <a:pt x="898397" y="964819"/>
                  </a:lnTo>
                  <a:lnTo>
                    <a:pt x="449198" y="1484376"/>
                  </a:lnTo>
                  <a:lnTo>
                    <a:pt x="0" y="964819"/>
                  </a:lnTo>
                  <a:lnTo>
                    <a:pt x="0" y="0"/>
                  </a:lnTo>
                  <a:lnTo>
                    <a:pt x="449198" y="519556"/>
                  </a:lnTo>
                  <a:lnTo>
                    <a:pt x="898397" y="0"/>
                  </a:lnTo>
                  <a:close/>
                </a:path>
              </a:pathLst>
            </a:custGeom>
            <a:ln w="25146">
              <a:solidFill>
                <a:srgbClr val="8063A1"/>
              </a:solidFill>
            </a:ln>
          </p:spPr>
          <p:txBody>
            <a:bodyPr wrap="square" lIns="0" tIns="0" rIns="0" bIns="0" rtlCol="0"/>
            <a:lstStyle/>
            <a:p>
              <a:endParaRPr/>
            </a:p>
          </p:txBody>
        </p:sp>
      </p:grpSp>
      <p:sp>
        <p:nvSpPr>
          <p:cNvPr id="9" name="object 9"/>
          <p:cNvSpPr txBox="1"/>
          <p:nvPr/>
        </p:nvSpPr>
        <p:spPr>
          <a:xfrm>
            <a:off x="323341" y="2513330"/>
            <a:ext cx="863600" cy="459105"/>
          </a:xfrm>
          <a:prstGeom prst="rect">
            <a:avLst/>
          </a:prstGeom>
        </p:spPr>
        <p:txBody>
          <a:bodyPr vert="horz" wrap="square" lIns="0" tIns="12700" rIns="0" bIns="0" rtlCol="0">
            <a:spAutoFit/>
          </a:bodyPr>
          <a:lstStyle/>
          <a:p>
            <a:pPr algn="ctr">
              <a:lnSpc>
                <a:spcPts val="1140"/>
              </a:lnSpc>
              <a:spcBef>
                <a:spcPts val="100"/>
              </a:spcBef>
            </a:pPr>
            <a:r>
              <a:rPr sz="1000" b="1" spc="15" dirty="0">
                <a:solidFill>
                  <a:srgbClr val="FFFFFF"/>
                </a:solidFill>
                <a:latin typeface="Times New Roman"/>
                <a:cs typeface="Times New Roman"/>
              </a:rPr>
              <a:t>SSMS</a:t>
            </a:r>
            <a:endParaRPr sz="1000">
              <a:latin typeface="Times New Roman"/>
              <a:cs typeface="Times New Roman"/>
            </a:endParaRPr>
          </a:p>
          <a:p>
            <a:pPr marL="12700" marR="5080" algn="ctr">
              <a:lnSpc>
                <a:spcPts val="1130"/>
              </a:lnSpc>
              <a:spcBef>
                <a:spcPts val="35"/>
              </a:spcBef>
            </a:pPr>
            <a:r>
              <a:rPr sz="1000" b="1" spc="80" dirty="0">
                <a:solidFill>
                  <a:srgbClr val="FFFFFF"/>
                </a:solidFill>
                <a:latin typeface="Times New Roman"/>
                <a:cs typeface="Times New Roman"/>
              </a:rPr>
              <a:t>A</a:t>
            </a:r>
            <a:r>
              <a:rPr sz="1000" b="1" dirty="0">
                <a:solidFill>
                  <a:srgbClr val="FFFFFF"/>
                </a:solidFill>
                <a:latin typeface="Times New Roman"/>
                <a:cs typeface="Times New Roman"/>
              </a:rPr>
              <a:t>d</a:t>
            </a:r>
            <a:r>
              <a:rPr sz="1000" b="1" spc="-20" dirty="0">
                <a:solidFill>
                  <a:srgbClr val="FFFFFF"/>
                </a:solidFill>
                <a:latin typeface="Times New Roman"/>
                <a:cs typeface="Times New Roman"/>
              </a:rPr>
              <a:t>m</a:t>
            </a:r>
            <a:r>
              <a:rPr sz="1000" b="1" spc="-5" dirty="0">
                <a:solidFill>
                  <a:srgbClr val="FFFFFF"/>
                </a:solidFill>
                <a:latin typeface="Times New Roman"/>
                <a:cs typeface="Times New Roman"/>
              </a:rPr>
              <a:t>i</a:t>
            </a:r>
            <a:r>
              <a:rPr sz="1000" b="1" spc="15" dirty="0">
                <a:solidFill>
                  <a:srgbClr val="FFFFFF"/>
                </a:solidFill>
                <a:latin typeface="Times New Roman"/>
                <a:cs typeface="Times New Roman"/>
              </a:rPr>
              <a:t>n</a:t>
            </a:r>
            <a:r>
              <a:rPr sz="1000" b="1" spc="-5" dirty="0">
                <a:solidFill>
                  <a:srgbClr val="FFFFFF"/>
                </a:solidFill>
                <a:latin typeface="Times New Roman"/>
                <a:cs typeface="Times New Roman"/>
              </a:rPr>
              <a:t>ist</a:t>
            </a:r>
            <a:r>
              <a:rPr sz="1000" b="1" spc="-75" dirty="0">
                <a:solidFill>
                  <a:srgbClr val="FFFFFF"/>
                </a:solidFill>
                <a:latin typeface="Times New Roman"/>
                <a:cs typeface="Times New Roman"/>
              </a:rPr>
              <a:t>r</a:t>
            </a:r>
            <a:r>
              <a:rPr sz="1000" b="1" spc="-55" dirty="0">
                <a:solidFill>
                  <a:srgbClr val="FFFFFF"/>
                </a:solidFill>
                <a:latin typeface="Times New Roman"/>
                <a:cs typeface="Times New Roman"/>
              </a:rPr>
              <a:t>a</a:t>
            </a:r>
            <a:r>
              <a:rPr sz="1000" b="1" spc="-5" dirty="0">
                <a:solidFill>
                  <a:srgbClr val="FFFFFF"/>
                </a:solidFill>
                <a:latin typeface="Times New Roman"/>
                <a:cs typeface="Times New Roman"/>
              </a:rPr>
              <a:t>ti</a:t>
            </a:r>
            <a:r>
              <a:rPr sz="1000" b="1" spc="35" dirty="0">
                <a:solidFill>
                  <a:srgbClr val="FFFFFF"/>
                </a:solidFill>
                <a:latin typeface="Times New Roman"/>
                <a:cs typeface="Times New Roman"/>
              </a:rPr>
              <a:t>o</a:t>
            </a:r>
            <a:r>
              <a:rPr sz="1000" b="1" spc="20" dirty="0">
                <a:solidFill>
                  <a:srgbClr val="FFFFFF"/>
                </a:solidFill>
                <a:latin typeface="Times New Roman"/>
                <a:cs typeface="Times New Roman"/>
              </a:rPr>
              <a:t>n  </a:t>
            </a:r>
            <a:r>
              <a:rPr sz="1000" b="1" spc="-5" dirty="0">
                <a:solidFill>
                  <a:srgbClr val="FFFFFF"/>
                </a:solidFill>
                <a:latin typeface="Times New Roman"/>
                <a:cs typeface="Times New Roman"/>
              </a:rPr>
              <a:t>utilities:</a:t>
            </a:r>
            <a:endParaRPr sz="1000">
              <a:latin typeface="Times New Roman"/>
              <a:cs typeface="Times New Roman"/>
            </a:endParaRPr>
          </a:p>
        </p:txBody>
      </p:sp>
      <p:grpSp>
        <p:nvGrpSpPr>
          <p:cNvPr id="10" name="object 10"/>
          <p:cNvGrpSpPr/>
          <p:nvPr/>
        </p:nvGrpSpPr>
        <p:grpSpPr>
          <a:xfrm>
            <a:off x="1190878" y="2015363"/>
            <a:ext cx="4397375" cy="990600"/>
            <a:chOff x="1190878" y="2015363"/>
            <a:chExt cx="4397375" cy="990600"/>
          </a:xfrm>
        </p:grpSpPr>
        <p:sp>
          <p:nvSpPr>
            <p:cNvPr id="11" name="object 11"/>
            <p:cNvSpPr/>
            <p:nvPr/>
          </p:nvSpPr>
          <p:spPr>
            <a:xfrm>
              <a:off x="1203578" y="2028063"/>
              <a:ext cx="4371975" cy="965200"/>
            </a:xfrm>
            <a:custGeom>
              <a:avLst/>
              <a:gdLst/>
              <a:ahLst/>
              <a:cxnLst/>
              <a:rect l="l" t="t" r="r" b="b"/>
              <a:pathLst>
                <a:path w="4371975" h="965200">
                  <a:moveTo>
                    <a:pt x="4232529" y="0"/>
                  </a:moveTo>
                  <a:lnTo>
                    <a:pt x="0" y="0"/>
                  </a:lnTo>
                  <a:lnTo>
                    <a:pt x="0" y="964692"/>
                  </a:lnTo>
                  <a:lnTo>
                    <a:pt x="4232529" y="964692"/>
                  </a:lnTo>
                  <a:lnTo>
                    <a:pt x="4276496" y="956492"/>
                  </a:lnTo>
                  <a:lnTo>
                    <a:pt x="4314672" y="933663"/>
                  </a:lnTo>
                  <a:lnTo>
                    <a:pt x="4344771" y="898855"/>
                  </a:lnTo>
                  <a:lnTo>
                    <a:pt x="4364507" y="854720"/>
                  </a:lnTo>
                  <a:lnTo>
                    <a:pt x="4371594" y="803910"/>
                  </a:lnTo>
                  <a:lnTo>
                    <a:pt x="4371594" y="160782"/>
                  </a:lnTo>
                  <a:lnTo>
                    <a:pt x="4364507" y="109971"/>
                  </a:lnTo>
                  <a:lnTo>
                    <a:pt x="4344771" y="65836"/>
                  </a:lnTo>
                  <a:lnTo>
                    <a:pt x="4314672" y="31028"/>
                  </a:lnTo>
                  <a:lnTo>
                    <a:pt x="4276496" y="8199"/>
                  </a:lnTo>
                  <a:lnTo>
                    <a:pt x="4232529" y="0"/>
                  </a:lnTo>
                  <a:close/>
                </a:path>
              </a:pathLst>
            </a:custGeom>
            <a:solidFill>
              <a:srgbClr val="FFFFFF">
                <a:alpha val="90194"/>
              </a:srgbClr>
            </a:solidFill>
          </p:spPr>
          <p:txBody>
            <a:bodyPr wrap="square" lIns="0" tIns="0" rIns="0" bIns="0" rtlCol="0"/>
            <a:lstStyle/>
            <a:p>
              <a:endParaRPr/>
            </a:p>
          </p:txBody>
        </p:sp>
        <p:sp>
          <p:nvSpPr>
            <p:cNvPr id="12" name="object 12"/>
            <p:cNvSpPr/>
            <p:nvPr/>
          </p:nvSpPr>
          <p:spPr>
            <a:xfrm>
              <a:off x="1203578" y="2028063"/>
              <a:ext cx="4371975" cy="965200"/>
            </a:xfrm>
            <a:custGeom>
              <a:avLst/>
              <a:gdLst/>
              <a:ahLst/>
              <a:cxnLst/>
              <a:rect l="l" t="t" r="r" b="b"/>
              <a:pathLst>
                <a:path w="4371975" h="965200">
                  <a:moveTo>
                    <a:pt x="4371594" y="160782"/>
                  </a:moveTo>
                  <a:lnTo>
                    <a:pt x="4371594" y="803910"/>
                  </a:lnTo>
                  <a:lnTo>
                    <a:pt x="4364507" y="854720"/>
                  </a:lnTo>
                  <a:lnTo>
                    <a:pt x="4344771" y="898855"/>
                  </a:lnTo>
                  <a:lnTo>
                    <a:pt x="4314672" y="933663"/>
                  </a:lnTo>
                  <a:lnTo>
                    <a:pt x="4276496" y="956492"/>
                  </a:lnTo>
                  <a:lnTo>
                    <a:pt x="4232529" y="964692"/>
                  </a:lnTo>
                  <a:lnTo>
                    <a:pt x="0" y="964692"/>
                  </a:lnTo>
                  <a:lnTo>
                    <a:pt x="0" y="0"/>
                  </a:lnTo>
                  <a:lnTo>
                    <a:pt x="4232529" y="0"/>
                  </a:lnTo>
                  <a:lnTo>
                    <a:pt x="4276496" y="8199"/>
                  </a:lnTo>
                  <a:lnTo>
                    <a:pt x="4314672" y="31028"/>
                  </a:lnTo>
                  <a:lnTo>
                    <a:pt x="4344771" y="65836"/>
                  </a:lnTo>
                  <a:lnTo>
                    <a:pt x="4364507" y="109971"/>
                  </a:lnTo>
                  <a:lnTo>
                    <a:pt x="4371594" y="160782"/>
                  </a:lnTo>
                  <a:close/>
                </a:path>
              </a:pathLst>
            </a:custGeom>
            <a:ln w="25146">
              <a:solidFill>
                <a:srgbClr val="8063A1"/>
              </a:solidFill>
            </a:ln>
          </p:spPr>
          <p:txBody>
            <a:bodyPr wrap="square" lIns="0" tIns="0" rIns="0" bIns="0" rtlCol="0"/>
            <a:lstStyle/>
            <a:p>
              <a:endParaRPr/>
            </a:p>
          </p:txBody>
        </p:sp>
      </p:grpSp>
      <p:sp>
        <p:nvSpPr>
          <p:cNvPr id="13" name="object 13"/>
          <p:cNvSpPr txBox="1"/>
          <p:nvPr/>
        </p:nvSpPr>
        <p:spPr>
          <a:xfrm>
            <a:off x="1290066" y="2059939"/>
            <a:ext cx="3764915" cy="824230"/>
          </a:xfrm>
          <a:prstGeom prst="rect">
            <a:avLst/>
          </a:prstGeom>
        </p:spPr>
        <p:txBody>
          <a:bodyPr vert="horz" wrap="square" lIns="0" tIns="30480" rIns="0" bIns="0" rtlCol="0">
            <a:spAutoFit/>
          </a:bodyPr>
          <a:lstStyle/>
          <a:p>
            <a:pPr marL="12700" marR="5080">
              <a:lnSpc>
                <a:spcPct val="91400"/>
              </a:lnSpc>
              <a:spcBef>
                <a:spcPts val="240"/>
              </a:spcBef>
            </a:pPr>
            <a:r>
              <a:rPr sz="1400" spc="-45" dirty="0">
                <a:latin typeface="Arial"/>
                <a:cs typeface="Arial"/>
              </a:rPr>
              <a:t>Is</a:t>
            </a:r>
            <a:r>
              <a:rPr sz="1400" spc="-90" dirty="0">
                <a:latin typeface="Arial"/>
                <a:cs typeface="Arial"/>
              </a:rPr>
              <a:t> </a:t>
            </a:r>
            <a:r>
              <a:rPr sz="1400" dirty="0">
                <a:latin typeface="Arial"/>
                <a:cs typeface="Arial"/>
              </a:rPr>
              <a:t>the</a:t>
            </a:r>
            <a:r>
              <a:rPr sz="1400" spc="-90" dirty="0">
                <a:latin typeface="Arial"/>
                <a:cs typeface="Arial"/>
              </a:rPr>
              <a:t> </a:t>
            </a:r>
            <a:r>
              <a:rPr sz="1400" spc="-45" dirty="0">
                <a:latin typeface="Arial"/>
                <a:cs typeface="Arial"/>
              </a:rPr>
              <a:t>core</a:t>
            </a:r>
            <a:r>
              <a:rPr sz="1400" spc="-90" dirty="0">
                <a:latin typeface="Arial"/>
                <a:cs typeface="Arial"/>
              </a:rPr>
              <a:t> </a:t>
            </a:r>
            <a:r>
              <a:rPr sz="1400" dirty="0">
                <a:latin typeface="Arial"/>
                <a:cs typeface="Arial"/>
              </a:rPr>
              <a:t>administrative</a:t>
            </a:r>
            <a:r>
              <a:rPr sz="1400" spc="-75" dirty="0">
                <a:latin typeface="Arial"/>
                <a:cs typeface="Arial"/>
              </a:rPr>
              <a:t> </a:t>
            </a:r>
            <a:r>
              <a:rPr sz="1400" spc="-40" dirty="0">
                <a:latin typeface="Arial"/>
                <a:cs typeface="Arial"/>
              </a:rPr>
              <a:t>console</a:t>
            </a:r>
            <a:r>
              <a:rPr sz="1400" spc="-95" dirty="0">
                <a:latin typeface="Arial"/>
                <a:cs typeface="Arial"/>
              </a:rPr>
              <a:t> </a:t>
            </a:r>
            <a:r>
              <a:rPr sz="1400" spc="40" dirty="0">
                <a:latin typeface="Arial"/>
                <a:cs typeface="Arial"/>
              </a:rPr>
              <a:t>for</a:t>
            </a:r>
            <a:r>
              <a:rPr sz="1400" spc="-90" dirty="0">
                <a:latin typeface="Arial"/>
                <a:cs typeface="Arial"/>
              </a:rPr>
              <a:t> </a:t>
            </a:r>
            <a:r>
              <a:rPr sz="1400" spc="15" dirty="0">
                <a:latin typeface="Arial"/>
                <a:cs typeface="Arial"/>
              </a:rPr>
              <a:t>SQL</a:t>
            </a:r>
            <a:r>
              <a:rPr sz="1400" spc="-80" dirty="0">
                <a:latin typeface="Arial"/>
                <a:cs typeface="Arial"/>
              </a:rPr>
              <a:t> </a:t>
            </a:r>
            <a:r>
              <a:rPr sz="1400" spc="-35" dirty="0">
                <a:latin typeface="Arial"/>
                <a:cs typeface="Arial"/>
              </a:rPr>
              <a:t>Server  </a:t>
            </a:r>
            <a:r>
              <a:rPr sz="1400" spc="-5" dirty="0">
                <a:latin typeface="Arial"/>
                <a:cs typeface="Arial"/>
              </a:rPr>
              <a:t>installations. </a:t>
            </a:r>
            <a:r>
              <a:rPr sz="1400" spc="70" dirty="0">
                <a:latin typeface="Arial"/>
                <a:cs typeface="Arial"/>
              </a:rPr>
              <a:t>It </a:t>
            </a:r>
            <a:r>
              <a:rPr sz="1400" spc="-65" dirty="0">
                <a:latin typeface="Arial"/>
                <a:cs typeface="Arial"/>
              </a:rPr>
              <a:t>enables </a:t>
            </a:r>
            <a:r>
              <a:rPr sz="1400" spc="35" dirty="0">
                <a:latin typeface="Arial"/>
                <a:cs typeface="Arial"/>
              </a:rPr>
              <a:t>to </a:t>
            </a:r>
            <a:r>
              <a:rPr sz="1400" spc="5" dirty="0">
                <a:latin typeface="Arial"/>
                <a:cs typeface="Arial"/>
              </a:rPr>
              <a:t>perform </a:t>
            </a:r>
            <a:r>
              <a:rPr sz="1400" dirty="0">
                <a:latin typeface="Arial"/>
                <a:cs typeface="Arial"/>
              </a:rPr>
              <a:t>high-level  administrative </a:t>
            </a:r>
            <a:r>
              <a:rPr sz="1400" spc="10" dirty="0">
                <a:latin typeface="Arial"/>
                <a:cs typeface="Arial"/>
              </a:rPr>
              <a:t>functions, </a:t>
            </a:r>
            <a:r>
              <a:rPr sz="1400" spc="-40" dirty="0">
                <a:latin typeface="Arial"/>
                <a:cs typeface="Arial"/>
              </a:rPr>
              <a:t>schedule </a:t>
            </a:r>
            <a:r>
              <a:rPr sz="1400" spc="20" dirty="0">
                <a:latin typeface="Arial"/>
                <a:cs typeface="Arial"/>
              </a:rPr>
              <a:t>routine  </a:t>
            </a:r>
            <a:r>
              <a:rPr sz="1400" spc="-30" dirty="0">
                <a:latin typeface="Arial"/>
                <a:cs typeface="Arial"/>
              </a:rPr>
              <a:t>maintenance </a:t>
            </a:r>
            <a:r>
              <a:rPr sz="1400" spc="-55" dirty="0">
                <a:latin typeface="Arial"/>
                <a:cs typeface="Arial"/>
              </a:rPr>
              <a:t>tasks, </a:t>
            </a:r>
            <a:r>
              <a:rPr sz="1400" spc="-30" dirty="0">
                <a:latin typeface="Arial"/>
                <a:cs typeface="Arial"/>
              </a:rPr>
              <a:t>and </a:t>
            </a:r>
            <a:r>
              <a:rPr sz="1400" spc="-85" dirty="0">
                <a:latin typeface="Arial"/>
                <a:cs typeface="Arial"/>
              </a:rPr>
              <a:t>so</a:t>
            </a:r>
            <a:r>
              <a:rPr sz="1400" spc="-250" dirty="0">
                <a:latin typeface="Arial"/>
                <a:cs typeface="Arial"/>
              </a:rPr>
              <a:t> </a:t>
            </a:r>
            <a:r>
              <a:rPr sz="1400" spc="35" dirty="0">
                <a:latin typeface="Arial"/>
                <a:cs typeface="Arial"/>
              </a:rPr>
              <a:t>forth.</a:t>
            </a:r>
            <a:endParaRPr sz="1400">
              <a:latin typeface="Arial"/>
              <a:cs typeface="Arial"/>
            </a:endParaRPr>
          </a:p>
        </p:txBody>
      </p:sp>
      <p:grpSp>
        <p:nvGrpSpPr>
          <p:cNvPr id="14" name="object 14"/>
          <p:cNvGrpSpPr/>
          <p:nvPr/>
        </p:nvGrpSpPr>
        <p:grpSpPr>
          <a:xfrm>
            <a:off x="292481" y="3303904"/>
            <a:ext cx="923925" cy="1510030"/>
            <a:chOff x="292481" y="3303904"/>
            <a:chExt cx="923925" cy="1510030"/>
          </a:xfrm>
        </p:grpSpPr>
        <p:sp>
          <p:nvSpPr>
            <p:cNvPr id="15" name="object 15"/>
            <p:cNvSpPr/>
            <p:nvPr/>
          </p:nvSpPr>
          <p:spPr>
            <a:xfrm>
              <a:off x="305181" y="3316604"/>
              <a:ext cx="898525" cy="1484630"/>
            </a:xfrm>
            <a:custGeom>
              <a:avLst/>
              <a:gdLst/>
              <a:ahLst/>
              <a:cxnLst/>
              <a:rect l="l" t="t" r="r" b="b"/>
              <a:pathLst>
                <a:path w="898525" h="1484629">
                  <a:moveTo>
                    <a:pt x="898397" y="0"/>
                  </a:moveTo>
                  <a:lnTo>
                    <a:pt x="449198" y="519556"/>
                  </a:lnTo>
                  <a:lnTo>
                    <a:pt x="0" y="0"/>
                  </a:lnTo>
                  <a:lnTo>
                    <a:pt x="0" y="964819"/>
                  </a:lnTo>
                  <a:lnTo>
                    <a:pt x="449198" y="1484376"/>
                  </a:lnTo>
                  <a:lnTo>
                    <a:pt x="898397" y="964819"/>
                  </a:lnTo>
                  <a:lnTo>
                    <a:pt x="898397" y="0"/>
                  </a:lnTo>
                  <a:close/>
                </a:path>
              </a:pathLst>
            </a:custGeom>
            <a:solidFill>
              <a:srgbClr val="5667B4"/>
            </a:solidFill>
          </p:spPr>
          <p:txBody>
            <a:bodyPr wrap="square" lIns="0" tIns="0" rIns="0" bIns="0" rtlCol="0"/>
            <a:lstStyle/>
            <a:p>
              <a:endParaRPr/>
            </a:p>
          </p:txBody>
        </p:sp>
        <p:sp>
          <p:nvSpPr>
            <p:cNvPr id="16" name="object 16"/>
            <p:cNvSpPr/>
            <p:nvPr/>
          </p:nvSpPr>
          <p:spPr>
            <a:xfrm>
              <a:off x="305181" y="3316604"/>
              <a:ext cx="898525" cy="1484630"/>
            </a:xfrm>
            <a:custGeom>
              <a:avLst/>
              <a:gdLst/>
              <a:ahLst/>
              <a:cxnLst/>
              <a:rect l="l" t="t" r="r" b="b"/>
              <a:pathLst>
                <a:path w="898525" h="1484629">
                  <a:moveTo>
                    <a:pt x="898397" y="0"/>
                  </a:moveTo>
                  <a:lnTo>
                    <a:pt x="898397" y="964819"/>
                  </a:lnTo>
                  <a:lnTo>
                    <a:pt x="449198" y="1484376"/>
                  </a:lnTo>
                  <a:lnTo>
                    <a:pt x="0" y="964819"/>
                  </a:lnTo>
                  <a:lnTo>
                    <a:pt x="0" y="0"/>
                  </a:lnTo>
                  <a:lnTo>
                    <a:pt x="449198" y="519556"/>
                  </a:lnTo>
                  <a:lnTo>
                    <a:pt x="898397" y="0"/>
                  </a:lnTo>
                  <a:close/>
                </a:path>
              </a:pathLst>
            </a:custGeom>
            <a:ln w="25146">
              <a:solidFill>
                <a:srgbClr val="5667B4"/>
              </a:solidFill>
            </a:ln>
          </p:spPr>
          <p:txBody>
            <a:bodyPr wrap="square" lIns="0" tIns="0" rIns="0" bIns="0" rtlCol="0"/>
            <a:lstStyle/>
            <a:p>
              <a:endParaRPr/>
            </a:p>
          </p:txBody>
        </p:sp>
      </p:grpSp>
      <p:sp>
        <p:nvSpPr>
          <p:cNvPr id="17" name="object 17"/>
          <p:cNvSpPr txBox="1"/>
          <p:nvPr/>
        </p:nvSpPr>
        <p:spPr>
          <a:xfrm>
            <a:off x="348488" y="3733546"/>
            <a:ext cx="811530" cy="589915"/>
          </a:xfrm>
          <a:prstGeom prst="rect">
            <a:avLst/>
          </a:prstGeom>
        </p:spPr>
        <p:txBody>
          <a:bodyPr vert="horz" wrap="square" lIns="0" tIns="29845" rIns="0" bIns="0" rtlCol="0">
            <a:spAutoFit/>
          </a:bodyPr>
          <a:lstStyle/>
          <a:p>
            <a:pPr marL="12065" marR="5080" indent="-635" algn="ctr">
              <a:lnSpc>
                <a:spcPts val="1080"/>
              </a:lnSpc>
              <a:spcBef>
                <a:spcPts val="235"/>
              </a:spcBef>
            </a:pPr>
            <a:r>
              <a:rPr sz="1000" b="1" spc="5" dirty="0">
                <a:solidFill>
                  <a:srgbClr val="FFFFFF"/>
                </a:solidFill>
                <a:latin typeface="Times New Roman"/>
                <a:cs typeface="Times New Roman"/>
              </a:rPr>
              <a:t>SQL </a:t>
            </a:r>
            <a:r>
              <a:rPr sz="1000" b="1" spc="-10" dirty="0">
                <a:solidFill>
                  <a:srgbClr val="FFFFFF"/>
                </a:solidFill>
                <a:latin typeface="Times New Roman"/>
                <a:cs typeface="Times New Roman"/>
              </a:rPr>
              <a:t>Server  </a:t>
            </a:r>
            <a:r>
              <a:rPr sz="1000" b="1" spc="-15" dirty="0">
                <a:solidFill>
                  <a:srgbClr val="FFFFFF"/>
                </a:solidFill>
                <a:latin typeface="Times New Roman"/>
                <a:cs typeface="Times New Roman"/>
              </a:rPr>
              <a:t>Management  </a:t>
            </a:r>
            <a:r>
              <a:rPr sz="1000" b="1" dirty="0">
                <a:solidFill>
                  <a:srgbClr val="FFFFFF"/>
                </a:solidFill>
                <a:latin typeface="Times New Roman"/>
                <a:cs typeface="Times New Roman"/>
              </a:rPr>
              <a:t>Objects</a:t>
            </a:r>
            <a:r>
              <a:rPr sz="1000" b="1" spc="-114" dirty="0">
                <a:solidFill>
                  <a:srgbClr val="FFFFFF"/>
                </a:solidFill>
                <a:latin typeface="Times New Roman"/>
                <a:cs typeface="Times New Roman"/>
              </a:rPr>
              <a:t> </a:t>
            </a:r>
            <a:r>
              <a:rPr sz="1000" b="1" dirty="0">
                <a:solidFill>
                  <a:srgbClr val="FFFFFF"/>
                </a:solidFill>
                <a:latin typeface="Times New Roman"/>
                <a:cs typeface="Times New Roman"/>
              </a:rPr>
              <a:t>(SQL-  </a:t>
            </a:r>
            <a:r>
              <a:rPr sz="1000" b="1" spc="10" dirty="0">
                <a:solidFill>
                  <a:srgbClr val="FFFFFF"/>
                </a:solidFill>
                <a:latin typeface="Times New Roman"/>
                <a:cs typeface="Times New Roman"/>
              </a:rPr>
              <a:t>SMO)</a:t>
            </a:r>
            <a:r>
              <a:rPr sz="1000" b="1" spc="-75" dirty="0">
                <a:solidFill>
                  <a:srgbClr val="FFFFFF"/>
                </a:solidFill>
                <a:latin typeface="Times New Roman"/>
                <a:cs typeface="Times New Roman"/>
              </a:rPr>
              <a:t> </a:t>
            </a:r>
            <a:r>
              <a:rPr sz="1000" b="1" spc="-30" dirty="0">
                <a:solidFill>
                  <a:srgbClr val="FFFFFF"/>
                </a:solidFill>
                <a:latin typeface="Times New Roman"/>
                <a:cs typeface="Times New Roman"/>
              </a:rPr>
              <a:t>API:</a:t>
            </a:r>
            <a:endParaRPr sz="1000">
              <a:latin typeface="Times New Roman"/>
              <a:cs typeface="Times New Roman"/>
            </a:endParaRPr>
          </a:p>
        </p:txBody>
      </p:sp>
      <p:grpSp>
        <p:nvGrpSpPr>
          <p:cNvPr id="18" name="object 18"/>
          <p:cNvGrpSpPr/>
          <p:nvPr/>
        </p:nvGrpSpPr>
        <p:grpSpPr>
          <a:xfrm>
            <a:off x="1190878" y="3303904"/>
            <a:ext cx="4397375" cy="990600"/>
            <a:chOff x="1190878" y="3303904"/>
            <a:chExt cx="4397375" cy="990600"/>
          </a:xfrm>
        </p:grpSpPr>
        <p:sp>
          <p:nvSpPr>
            <p:cNvPr id="19" name="object 19"/>
            <p:cNvSpPr/>
            <p:nvPr/>
          </p:nvSpPr>
          <p:spPr>
            <a:xfrm>
              <a:off x="1203578" y="3316604"/>
              <a:ext cx="4371975" cy="965200"/>
            </a:xfrm>
            <a:custGeom>
              <a:avLst/>
              <a:gdLst/>
              <a:ahLst/>
              <a:cxnLst/>
              <a:rect l="l" t="t" r="r" b="b"/>
              <a:pathLst>
                <a:path w="4371975" h="965200">
                  <a:moveTo>
                    <a:pt x="4232529" y="0"/>
                  </a:moveTo>
                  <a:lnTo>
                    <a:pt x="0" y="0"/>
                  </a:lnTo>
                  <a:lnTo>
                    <a:pt x="0" y="964692"/>
                  </a:lnTo>
                  <a:lnTo>
                    <a:pt x="4232529" y="964692"/>
                  </a:lnTo>
                  <a:lnTo>
                    <a:pt x="4276496" y="956492"/>
                  </a:lnTo>
                  <a:lnTo>
                    <a:pt x="4314672" y="933663"/>
                  </a:lnTo>
                  <a:lnTo>
                    <a:pt x="4344771" y="898855"/>
                  </a:lnTo>
                  <a:lnTo>
                    <a:pt x="4364507" y="854720"/>
                  </a:lnTo>
                  <a:lnTo>
                    <a:pt x="4371594" y="803910"/>
                  </a:lnTo>
                  <a:lnTo>
                    <a:pt x="4371594" y="160782"/>
                  </a:lnTo>
                  <a:lnTo>
                    <a:pt x="4364507" y="109971"/>
                  </a:lnTo>
                  <a:lnTo>
                    <a:pt x="4344771" y="65836"/>
                  </a:lnTo>
                  <a:lnTo>
                    <a:pt x="4314672" y="31028"/>
                  </a:lnTo>
                  <a:lnTo>
                    <a:pt x="4276496" y="8199"/>
                  </a:lnTo>
                  <a:lnTo>
                    <a:pt x="4232529" y="0"/>
                  </a:lnTo>
                  <a:close/>
                </a:path>
              </a:pathLst>
            </a:custGeom>
            <a:solidFill>
              <a:srgbClr val="FFFFFF">
                <a:alpha val="90194"/>
              </a:srgbClr>
            </a:solidFill>
          </p:spPr>
          <p:txBody>
            <a:bodyPr wrap="square" lIns="0" tIns="0" rIns="0" bIns="0" rtlCol="0"/>
            <a:lstStyle/>
            <a:p>
              <a:endParaRPr/>
            </a:p>
          </p:txBody>
        </p:sp>
        <p:sp>
          <p:nvSpPr>
            <p:cNvPr id="20" name="object 20"/>
            <p:cNvSpPr/>
            <p:nvPr/>
          </p:nvSpPr>
          <p:spPr>
            <a:xfrm>
              <a:off x="1203578" y="3316604"/>
              <a:ext cx="4371975" cy="965200"/>
            </a:xfrm>
            <a:custGeom>
              <a:avLst/>
              <a:gdLst/>
              <a:ahLst/>
              <a:cxnLst/>
              <a:rect l="l" t="t" r="r" b="b"/>
              <a:pathLst>
                <a:path w="4371975" h="965200">
                  <a:moveTo>
                    <a:pt x="4371594" y="160782"/>
                  </a:moveTo>
                  <a:lnTo>
                    <a:pt x="4371594" y="803910"/>
                  </a:lnTo>
                  <a:lnTo>
                    <a:pt x="4364507" y="854720"/>
                  </a:lnTo>
                  <a:lnTo>
                    <a:pt x="4344771" y="898855"/>
                  </a:lnTo>
                  <a:lnTo>
                    <a:pt x="4314672" y="933663"/>
                  </a:lnTo>
                  <a:lnTo>
                    <a:pt x="4276496" y="956492"/>
                  </a:lnTo>
                  <a:lnTo>
                    <a:pt x="4232529" y="964692"/>
                  </a:lnTo>
                  <a:lnTo>
                    <a:pt x="0" y="964692"/>
                  </a:lnTo>
                  <a:lnTo>
                    <a:pt x="0" y="0"/>
                  </a:lnTo>
                  <a:lnTo>
                    <a:pt x="4232529" y="0"/>
                  </a:lnTo>
                  <a:lnTo>
                    <a:pt x="4276496" y="8199"/>
                  </a:lnTo>
                  <a:lnTo>
                    <a:pt x="4314672" y="31028"/>
                  </a:lnTo>
                  <a:lnTo>
                    <a:pt x="4344771" y="65836"/>
                  </a:lnTo>
                  <a:lnTo>
                    <a:pt x="4364507" y="109971"/>
                  </a:lnTo>
                  <a:lnTo>
                    <a:pt x="4371594" y="160782"/>
                  </a:lnTo>
                  <a:close/>
                </a:path>
              </a:pathLst>
            </a:custGeom>
            <a:ln w="25146">
              <a:solidFill>
                <a:srgbClr val="5667B4"/>
              </a:solidFill>
            </a:ln>
          </p:spPr>
          <p:txBody>
            <a:bodyPr wrap="square" lIns="0" tIns="0" rIns="0" bIns="0" rtlCol="0"/>
            <a:lstStyle/>
            <a:p>
              <a:endParaRPr/>
            </a:p>
          </p:txBody>
        </p:sp>
      </p:grpSp>
      <p:sp>
        <p:nvSpPr>
          <p:cNvPr id="21" name="object 21"/>
          <p:cNvSpPr txBox="1"/>
          <p:nvPr/>
        </p:nvSpPr>
        <p:spPr>
          <a:xfrm>
            <a:off x="1290066" y="3540759"/>
            <a:ext cx="4203700" cy="430530"/>
          </a:xfrm>
          <a:prstGeom prst="rect">
            <a:avLst/>
          </a:prstGeom>
        </p:spPr>
        <p:txBody>
          <a:bodyPr vert="horz" wrap="square" lIns="0" tIns="36830" rIns="0" bIns="0" rtlCol="0">
            <a:spAutoFit/>
          </a:bodyPr>
          <a:lstStyle/>
          <a:p>
            <a:pPr marL="12700" marR="5080">
              <a:lnSpc>
                <a:spcPts val="1510"/>
              </a:lnSpc>
              <a:spcBef>
                <a:spcPts val="290"/>
              </a:spcBef>
            </a:pPr>
            <a:r>
              <a:rPr sz="1400" spc="-15" dirty="0">
                <a:latin typeface="Arial"/>
                <a:cs typeface="Arial"/>
              </a:rPr>
              <a:t>Includes</a:t>
            </a:r>
            <a:r>
              <a:rPr sz="1400" spc="-85" dirty="0">
                <a:latin typeface="Arial"/>
                <a:cs typeface="Arial"/>
              </a:rPr>
              <a:t> </a:t>
            </a:r>
            <a:r>
              <a:rPr sz="1400" spc="-25" dirty="0">
                <a:latin typeface="Arial"/>
                <a:cs typeface="Arial"/>
              </a:rPr>
              <a:t>complete</a:t>
            </a:r>
            <a:r>
              <a:rPr sz="1400" spc="-85" dirty="0">
                <a:latin typeface="Arial"/>
                <a:cs typeface="Arial"/>
              </a:rPr>
              <a:t> </a:t>
            </a:r>
            <a:r>
              <a:rPr sz="1400" spc="30" dirty="0">
                <a:latin typeface="Arial"/>
                <a:cs typeface="Arial"/>
              </a:rPr>
              <a:t>functionality</a:t>
            </a:r>
            <a:r>
              <a:rPr sz="1400" spc="-70" dirty="0">
                <a:latin typeface="Arial"/>
                <a:cs typeface="Arial"/>
              </a:rPr>
              <a:t> </a:t>
            </a:r>
            <a:r>
              <a:rPr sz="1400" spc="40" dirty="0">
                <a:latin typeface="Arial"/>
                <a:cs typeface="Arial"/>
              </a:rPr>
              <a:t>for</a:t>
            </a:r>
            <a:r>
              <a:rPr sz="1400" spc="-75" dirty="0">
                <a:latin typeface="Arial"/>
                <a:cs typeface="Arial"/>
              </a:rPr>
              <a:t> </a:t>
            </a:r>
            <a:r>
              <a:rPr sz="1400" spc="-5" dirty="0">
                <a:latin typeface="Arial"/>
                <a:cs typeface="Arial"/>
              </a:rPr>
              <a:t>administering</a:t>
            </a:r>
            <a:r>
              <a:rPr sz="1400" spc="-80" dirty="0">
                <a:latin typeface="Arial"/>
                <a:cs typeface="Arial"/>
              </a:rPr>
              <a:t> </a:t>
            </a:r>
            <a:r>
              <a:rPr sz="1400" spc="15" dirty="0">
                <a:latin typeface="Arial"/>
                <a:cs typeface="Arial"/>
              </a:rPr>
              <a:t>SQL  </a:t>
            </a:r>
            <a:r>
              <a:rPr sz="1400" spc="-35" dirty="0">
                <a:latin typeface="Arial"/>
                <a:cs typeface="Arial"/>
              </a:rPr>
              <a:t>Server </a:t>
            </a:r>
            <a:r>
              <a:rPr sz="1400" spc="65" dirty="0">
                <a:latin typeface="Arial"/>
                <a:cs typeface="Arial"/>
              </a:rPr>
              <a:t>in</a:t>
            </a:r>
            <a:r>
              <a:rPr sz="1400" spc="-155" dirty="0">
                <a:latin typeface="Arial"/>
                <a:cs typeface="Arial"/>
              </a:rPr>
              <a:t> </a:t>
            </a:r>
            <a:r>
              <a:rPr sz="1400" spc="-15" dirty="0">
                <a:latin typeface="Arial"/>
                <a:cs typeface="Arial"/>
              </a:rPr>
              <a:t>applications.</a:t>
            </a:r>
            <a:endParaRPr sz="1400">
              <a:latin typeface="Arial"/>
              <a:cs typeface="Arial"/>
            </a:endParaRPr>
          </a:p>
        </p:txBody>
      </p:sp>
      <p:grpSp>
        <p:nvGrpSpPr>
          <p:cNvPr id="22" name="object 22"/>
          <p:cNvGrpSpPr/>
          <p:nvPr/>
        </p:nvGrpSpPr>
        <p:grpSpPr>
          <a:xfrm>
            <a:off x="292481" y="4592446"/>
            <a:ext cx="923925" cy="1510030"/>
            <a:chOff x="292481" y="4592446"/>
            <a:chExt cx="923925" cy="1510030"/>
          </a:xfrm>
        </p:grpSpPr>
        <p:sp>
          <p:nvSpPr>
            <p:cNvPr id="23" name="object 23"/>
            <p:cNvSpPr/>
            <p:nvPr/>
          </p:nvSpPr>
          <p:spPr>
            <a:xfrm>
              <a:off x="305181" y="4605146"/>
              <a:ext cx="898525" cy="1484630"/>
            </a:xfrm>
            <a:custGeom>
              <a:avLst/>
              <a:gdLst/>
              <a:ahLst/>
              <a:cxnLst/>
              <a:rect l="l" t="t" r="r" b="b"/>
              <a:pathLst>
                <a:path w="898525" h="1484629">
                  <a:moveTo>
                    <a:pt x="898397" y="0"/>
                  </a:moveTo>
                  <a:lnTo>
                    <a:pt x="449198" y="519556"/>
                  </a:lnTo>
                  <a:lnTo>
                    <a:pt x="0" y="0"/>
                  </a:lnTo>
                  <a:lnTo>
                    <a:pt x="0" y="964819"/>
                  </a:lnTo>
                  <a:lnTo>
                    <a:pt x="449198" y="1484376"/>
                  </a:lnTo>
                  <a:lnTo>
                    <a:pt x="898397" y="964819"/>
                  </a:lnTo>
                  <a:lnTo>
                    <a:pt x="898397" y="0"/>
                  </a:lnTo>
                  <a:close/>
                </a:path>
              </a:pathLst>
            </a:custGeom>
            <a:solidFill>
              <a:srgbClr val="4AACC5"/>
            </a:solidFill>
          </p:spPr>
          <p:txBody>
            <a:bodyPr wrap="square" lIns="0" tIns="0" rIns="0" bIns="0" rtlCol="0"/>
            <a:lstStyle/>
            <a:p>
              <a:endParaRPr/>
            </a:p>
          </p:txBody>
        </p:sp>
        <p:sp>
          <p:nvSpPr>
            <p:cNvPr id="24" name="object 24"/>
            <p:cNvSpPr/>
            <p:nvPr/>
          </p:nvSpPr>
          <p:spPr>
            <a:xfrm>
              <a:off x="305181" y="4605146"/>
              <a:ext cx="898525" cy="1484630"/>
            </a:xfrm>
            <a:custGeom>
              <a:avLst/>
              <a:gdLst/>
              <a:ahLst/>
              <a:cxnLst/>
              <a:rect l="l" t="t" r="r" b="b"/>
              <a:pathLst>
                <a:path w="898525" h="1484629">
                  <a:moveTo>
                    <a:pt x="898397" y="0"/>
                  </a:moveTo>
                  <a:lnTo>
                    <a:pt x="898397" y="964819"/>
                  </a:lnTo>
                  <a:lnTo>
                    <a:pt x="449198" y="1484376"/>
                  </a:lnTo>
                  <a:lnTo>
                    <a:pt x="0" y="964819"/>
                  </a:lnTo>
                  <a:lnTo>
                    <a:pt x="0" y="0"/>
                  </a:lnTo>
                  <a:lnTo>
                    <a:pt x="449198" y="519556"/>
                  </a:lnTo>
                  <a:lnTo>
                    <a:pt x="898397" y="0"/>
                  </a:lnTo>
                  <a:close/>
                </a:path>
              </a:pathLst>
            </a:custGeom>
            <a:ln w="25146">
              <a:solidFill>
                <a:srgbClr val="4AACC5"/>
              </a:solidFill>
            </a:ln>
          </p:spPr>
          <p:txBody>
            <a:bodyPr wrap="square" lIns="0" tIns="0" rIns="0" bIns="0" rtlCol="0"/>
            <a:lstStyle/>
            <a:p>
              <a:endParaRPr/>
            </a:p>
          </p:txBody>
        </p:sp>
      </p:grpSp>
      <p:sp>
        <p:nvSpPr>
          <p:cNvPr id="25" name="object 25"/>
          <p:cNvSpPr txBox="1"/>
          <p:nvPr/>
        </p:nvSpPr>
        <p:spPr>
          <a:xfrm>
            <a:off x="356361" y="5022341"/>
            <a:ext cx="798195" cy="589915"/>
          </a:xfrm>
          <a:prstGeom prst="rect">
            <a:avLst/>
          </a:prstGeom>
        </p:spPr>
        <p:txBody>
          <a:bodyPr vert="horz" wrap="square" lIns="0" tIns="29845" rIns="0" bIns="0" rtlCol="0">
            <a:spAutoFit/>
          </a:bodyPr>
          <a:lstStyle/>
          <a:p>
            <a:pPr marL="12700" marR="5080" algn="ctr">
              <a:lnSpc>
                <a:spcPts val="1080"/>
              </a:lnSpc>
              <a:spcBef>
                <a:spcPts val="235"/>
              </a:spcBef>
            </a:pPr>
            <a:r>
              <a:rPr sz="1000" b="1" spc="25" dirty="0">
                <a:solidFill>
                  <a:srgbClr val="FFFFFF"/>
                </a:solidFill>
                <a:latin typeface="Times New Roman"/>
                <a:cs typeface="Times New Roman"/>
              </a:rPr>
              <a:t>T</a:t>
            </a:r>
            <a:r>
              <a:rPr sz="1000" b="1" spc="-50" dirty="0">
                <a:solidFill>
                  <a:srgbClr val="FFFFFF"/>
                </a:solidFill>
                <a:latin typeface="Times New Roman"/>
                <a:cs typeface="Times New Roman"/>
              </a:rPr>
              <a:t>r</a:t>
            </a:r>
            <a:r>
              <a:rPr sz="1000" b="1" spc="-65" dirty="0">
                <a:solidFill>
                  <a:srgbClr val="FFFFFF"/>
                </a:solidFill>
                <a:latin typeface="Times New Roman"/>
                <a:cs typeface="Times New Roman"/>
              </a:rPr>
              <a:t>a</a:t>
            </a:r>
            <a:r>
              <a:rPr sz="1000" b="1" spc="15" dirty="0">
                <a:solidFill>
                  <a:srgbClr val="FFFFFF"/>
                </a:solidFill>
                <a:latin typeface="Times New Roman"/>
                <a:cs typeface="Times New Roman"/>
              </a:rPr>
              <a:t>n</a:t>
            </a:r>
            <a:r>
              <a:rPr sz="1000" b="1" spc="-10" dirty="0">
                <a:solidFill>
                  <a:srgbClr val="FFFFFF"/>
                </a:solidFill>
                <a:latin typeface="Times New Roman"/>
                <a:cs typeface="Times New Roman"/>
              </a:rPr>
              <a:t>s</a:t>
            </a:r>
            <a:r>
              <a:rPr sz="1000" b="1" spc="-50" dirty="0">
                <a:solidFill>
                  <a:srgbClr val="FFFFFF"/>
                </a:solidFill>
                <a:latin typeface="Times New Roman"/>
                <a:cs typeface="Times New Roman"/>
              </a:rPr>
              <a:t>a</a:t>
            </a:r>
            <a:r>
              <a:rPr sz="1000" b="1" spc="10" dirty="0">
                <a:solidFill>
                  <a:srgbClr val="FFFFFF"/>
                </a:solidFill>
                <a:latin typeface="Times New Roman"/>
                <a:cs typeface="Times New Roman"/>
              </a:rPr>
              <a:t>c</a:t>
            </a:r>
            <a:r>
              <a:rPr sz="1000" b="1" spc="-5" dirty="0">
                <a:solidFill>
                  <a:srgbClr val="FFFFFF"/>
                </a:solidFill>
                <a:latin typeface="Times New Roman"/>
                <a:cs typeface="Times New Roman"/>
              </a:rPr>
              <a:t>t</a:t>
            </a:r>
            <a:r>
              <a:rPr sz="1000" b="1" dirty="0">
                <a:solidFill>
                  <a:srgbClr val="FFFFFF"/>
                </a:solidFill>
                <a:latin typeface="Times New Roman"/>
                <a:cs typeface="Times New Roman"/>
              </a:rPr>
              <a:t>-</a:t>
            </a:r>
            <a:r>
              <a:rPr sz="1000" b="1" spc="30" dirty="0">
                <a:solidFill>
                  <a:srgbClr val="FFFFFF"/>
                </a:solidFill>
                <a:latin typeface="Times New Roman"/>
                <a:cs typeface="Times New Roman"/>
              </a:rPr>
              <a:t>S</a:t>
            </a:r>
            <a:r>
              <a:rPr sz="1000" b="1" spc="40" dirty="0">
                <a:solidFill>
                  <a:srgbClr val="FFFFFF"/>
                </a:solidFill>
                <a:latin typeface="Times New Roman"/>
                <a:cs typeface="Times New Roman"/>
              </a:rPr>
              <a:t>Q</a:t>
            </a:r>
            <a:r>
              <a:rPr sz="1000" b="1" spc="-40" dirty="0">
                <a:solidFill>
                  <a:srgbClr val="FFFFFF"/>
                </a:solidFill>
                <a:latin typeface="Times New Roman"/>
                <a:cs typeface="Times New Roman"/>
              </a:rPr>
              <a:t>L  </a:t>
            </a:r>
            <a:r>
              <a:rPr sz="1000" b="1" spc="-10" dirty="0">
                <a:solidFill>
                  <a:srgbClr val="FFFFFF"/>
                </a:solidFill>
                <a:latin typeface="Times New Roman"/>
                <a:cs typeface="Times New Roman"/>
              </a:rPr>
              <a:t>scripts </a:t>
            </a:r>
            <a:r>
              <a:rPr sz="1000" b="1" spc="-5" dirty="0">
                <a:solidFill>
                  <a:srgbClr val="FFFFFF"/>
                </a:solidFill>
                <a:latin typeface="Times New Roman"/>
                <a:cs typeface="Times New Roman"/>
              </a:rPr>
              <a:t>and  </a:t>
            </a:r>
            <a:r>
              <a:rPr sz="1000" b="1" dirty="0">
                <a:solidFill>
                  <a:srgbClr val="FFFFFF"/>
                </a:solidFill>
                <a:latin typeface="Times New Roman"/>
                <a:cs typeface="Times New Roman"/>
              </a:rPr>
              <a:t>stored  </a:t>
            </a:r>
            <a:r>
              <a:rPr sz="1000" b="1" spc="-15" dirty="0">
                <a:solidFill>
                  <a:srgbClr val="FFFFFF"/>
                </a:solidFill>
                <a:latin typeface="Times New Roman"/>
                <a:cs typeface="Times New Roman"/>
              </a:rPr>
              <a:t>procedures:</a:t>
            </a:r>
            <a:endParaRPr sz="1000">
              <a:latin typeface="Times New Roman"/>
              <a:cs typeface="Times New Roman"/>
            </a:endParaRPr>
          </a:p>
        </p:txBody>
      </p:sp>
      <p:grpSp>
        <p:nvGrpSpPr>
          <p:cNvPr id="26" name="object 26"/>
          <p:cNvGrpSpPr/>
          <p:nvPr/>
        </p:nvGrpSpPr>
        <p:grpSpPr>
          <a:xfrm>
            <a:off x="1191005" y="4592573"/>
            <a:ext cx="4396740" cy="990600"/>
            <a:chOff x="1191005" y="4592573"/>
            <a:chExt cx="4396740" cy="990600"/>
          </a:xfrm>
        </p:grpSpPr>
        <p:sp>
          <p:nvSpPr>
            <p:cNvPr id="27" name="object 27"/>
            <p:cNvSpPr/>
            <p:nvPr/>
          </p:nvSpPr>
          <p:spPr>
            <a:xfrm>
              <a:off x="1203578" y="4605146"/>
              <a:ext cx="4371975" cy="965835"/>
            </a:xfrm>
            <a:custGeom>
              <a:avLst/>
              <a:gdLst/>
              <a:ahLst/>
              <a:cxnLst/>
              <a:rect l="l" t="t" r="r" b="b"/>
              <a:pathLst>
                <a:path w="4371975" h="965835">
                  <a:moveTo>
                    <a:pt x="4232529" y="0"/>
                  </a:moveTo>
                  <a:lnTo>
                    <a:pt x="0" y="0"/>
                  </a:lnTo>
                  <a:lnTo>
                    <a:pt x="0" y="965453"/>
                  </a:lnTo>
                  <a:lnTo>
                    <a:pt x="4232529" y="965453"/>
                  </a:lnTo>
                  <a:lnTo>
                    <a:pt x="4276496" y="957253"/>
                  </a:lnTo>
                  <a:lnTo>
                    <a:pt x="4314672" y="934417"/>
                  </a:lnTo>
                  <a:lnTo>
                    <a:pt x="4344771" y="899589"/>
                  </a:lnTo>
                  <a:lnTo>
                    <a:pt x="4364507" y="855417"/>
                  </a:lnTo>
                  <a:lnTo>
                    <a:pt x="4371594" y="804544"/>
                  </a:lnTo>
                  <a:lnTo>
                    <a:pt x="4371594" y="160908"/>
                  </a:lnTo>
                  <a:lnTo>
                    <a:pt x="4364507" y="110036"/>
                  </a:lnTo>
                  <a:lnTo>
                    <a:pt x="4344771" y="65864"/>
                  </a:lnTo>
                  <a:lnTo>
                    <a:pt x="4314672" y="31036"/>
                  </a:lnTo>
                  <a:lnTo>
                    <a:pt x="4276496" y="8200"/>
                  </a:lnTo>
                  <a:lnTo>
                    <a:pt x="4232529" y="0"/>
                  </a:lnTo>
                  <a:close/>
                </a:path>
              </a:pathLst>
            </a:custGeom>
            <a:solidFill>
              <a:srgbClr val="FFFFFF">
                <a:alpha val="90194"/>
              </a:srgbClr>
            </a:solidFill>
          </p:spPr>
          <p:txBody>
            <a:bodyPr wrap="square" lIns="0" tIns="0" rIns="0" bIns="0" rtlCol="0"/>
            <a:lstStyle/>
            <a:p>
              <a:endParaRPr/>
            </a:p>
          </p:txBody>
        </p:sp>
        <p:sp>
          <p:nvSpPr>
            <p:cNvPr id="28" name="object 28"/>
            <p:cNvSpPr/>
            <p:nvPr/>
          </p:nvSpPr>
          <p:spPr>
            <a:xfrm>
              <a:off x="1203578" y="4605146"/>
              <a:ext cx="4371975" cy="965835"/>
            </a:xfrm>
            <a:custGeom>
              <a:avLst/>
              <a:gdLst/>
              <a:ahLst/>
              <a:cxnLst/>
              <a:rect l="l" t="t" r="r" b="b"/>
              <a:pathLst>
                <a:path w="4371975" h="965835">
                  <a:moveTo>
                    <a:pt x="4371594" y="160908"/>
                  </a:moveTo>
                  <a:lnTo>
                    <a:pt x="4371594" y="804544"/>
                  </a:lnTo>
                  <a:lnTo>
                    <a:pt x="4364507" y="855417"/>
                  </a:lnTo>
                  <a:lnTo>
                    <a:pt x="4344771" y="899589"/>
                  </a:lnTo>
                  <a:lnTo>
                    <a:pt x="4314672" y="934417"/>
                  </a:lnTo>
                  <a:lnTo>
                    <a:pt x="4276496" y="957253"/>
                  </a:lnTo>
                  <a:lnTo>
                    <a:pt x="4232529" y="965453"/>
                  </a:lnTo>
                  <a:lnTo>
                    <a:pt x="0" y="965453"/>
                  </a:lnTo>
                  <a:lnTo>
                    <a:pt x="0" y="0"/>
                  </a:lnTo>
                  <a:lnTo>
                    <a:pt x="4232529" y="0"/>
                  </a:lnTo>
                  <a:lnTo>
                    <a:pt x="4276496" y="8200"/>
                  </a:lnTo>
                  <a:lnTo>
                    <a:pt x="4314672" y="31036"/>
                  </a:lnTo>
                  <a:lnTo>
                    <a:pt x="4344771" y="65864"/>
                  </a:lnTo>
                  <a:lnTo>
                    <a:pt x="4364507" y="110036"/>
                  </a:lnTo>
                  <a:lnTo>
                    <a:pt x="4371594" y="160908"/>
                  </a:lnTo>
                  <a:close/>
                </a:path>
              </a:pathLst>
            </a:custGeom>
            <a:ln w="25146">
              <a:solidFill>
                <a:srgbClr val="4AACC5"/>
              </a:solidFill>
            </a:ln>
          </p:spPr>
          <p:txBody>
            <a:bodyPr wrap="square" lIns="0" tIns="0" rIns="0" bIns="0" rtlCol="0"/>
            <a:lstStyle/>
            <a:p>
              <a:endParaRPr/>
            </a:p>
          </p:txBody>
        </p:sp>
      </p:grpSp>
      <p:sp>
        <p:nvSpPr>
          <p:cNvPr id="29" name="object 29"/>
          <p:cNvSpPr txBox="1"/>
          <p:nvPr/>
        </p:nvSpPr>
        <p:spPr>
          <a:xfrm>
            <a:off x="1290066" y="4829555"/>
            <a:ext cx="4205605" cy="430530"/>
          </a:xfrm>
          <a:prstGeom prst="rect">
            <a:avLst/>
          </a:prstGeom>
        </p:spPr>
        <p:txBody>
          <a:bodyPr vert="horz" wrap="square" lIns="0" tIns="36830" rIns="0" bIns="0" rtlCol="0">
            <a:spAutoFit/>
          </a:bodyPr>
          <a:lstStyle/>
          <a:p>
            <a:pPr marL="12700" marR="5080">
              <a:lnSpc>
                <a:spcPts val="1510"/>
              </a:lnSpc>
              <a:spcBef>
                <a:spcPts val="290"/>
              </a:spcBef>
            </a:pPr>
            <a:r>
              <a:rPr sz="1400" spc="-50" dirty="0">
                <a:latin typeface="Arial"/>
                <a:cs typeface="Arial"/>
              </a:rPr>
              <a:t>Use</a:t>
            </a:r>
            <a:r>
              <a:rPr sz="1400" spc="-95" dirty="0">
                <a:latin typeface="Arial"/>
                <a:cs typeface="Arial"/>
              </a:rPr>
              <a:t> </a:t>
            </a:r>
            <a:r>
              <a:rPr sz="1400" spc="-60" dirty="0">
                <a:latin typeface="Arial"/>
                <a:cs typeface="Arial"/>
              </a:rPr>
              <a:t>system</a:t>
            </a:r>
            <a:r>
              <a:rPr sz="1400" spc="-100" dirty="0">
                <a:latin typeface="Arial"/>
                <a:cs typeface="Arial"/>
              </a:rPr>
              <a:t> </a:t>
            </a:r>
            <a:r>
              <a:rPr sz="1400" spc="-25" dirty="0">
                <a:latin typeface="Arial"/>
                <a:cs typeface="Arial"/>
              </a:rPr>
              <a:t>stored</a:t>
            </a:r>
            <a:r>
              <a:rPr sz="1400" spc="-105" dirty="0">
                <a:latin typeface="Arial"/>
                <a:cs typeface="Arial"/>
              </a:rPr>
              <a:t> </a:t>
            </a:r>
            <a:r>
              <a:rPr sz="1400" spc="-35" dirty="0">
                <a:latin typeface="Arial"/>
                <a:cs typeface="Arial"/>
              </a:rPr>
              <a:t>procedures</a:t>
            </a:r>
            <a:r>
              <a:rPr sz="1400" spc="-90" dirty="0">
                <a:latin typeface="Arial"/>
                <a:cs typeface="Arial"/>
              </a:rPr>
              <a:t> </a:t>
            </a:r>
            <a:r>
              <a:rPr sz="1400" spc="-30" dirty="0">
                <a:latin typeface="Arial"/>
                <a:cs typeface="Arial"/>
              </a:rPr>
              <a:t>and</a:t>
            </a:r>
            <a:r>
              <a:rPr sz="1400" spc="-95" dirty="0">
                <a:latin typeface="Arial"/>
                <a:cs typeface="Arial"/>
              </a:rPr>
              <a:t> </a:t>
            </a:r>
            <a:r>
              <a:rPr sz="1400" spc="-20" dirty="0">
                <a:latin typeface="Arial"/>
                <a:cs typeface="Arial"/>
              </a:rPr>
              <a:t>Transact-</a:t>
            </a:r>
            <a:r>
              <a:rPr sz="1400" spc="-75" dirty="0">
                <a:latin typeface="Arial"/>
                <a:cs typeface="Arial"/>
              </a:rPr>
              <a:t> </a:t>
            </a:r>
            <a:r>
              <a:rPr sz="1400" spc="15" dirty="0">
                <a:latin typeface="Arial"/>
                <a:cs typeface="Arial"/>
              </a:rPr>
              <a:t>SQL</a:t>
            </a:r>
            <a:r>
              <a:rPr sz="1400" spc="-85" dirty="0">
                <a:latin typeface="Arial"/>
                <a:cs typeface="Arial"/>
              </a:rPr>
              <a:t> </a:t>
            </a:r>
            <a:r>
              <a:rPr sz="1400" spc="85" dirty="0">
                <a:latin typeface="Arial"/>
                <a:cs typeface="Arial"/>
              </a:rPr>
              <a:t>DDL  </a:t>
            </a:r>
            <a:r>
              <a:rPr sz="1400" spc="-40" dirty="0">
                <a:latin typeface="Arial"/>
                <a:cs typeface="Arial"/>
              </a:rPr>
              <a:t>statements.</a:t>
            </a:r>
            <a:endParaRPr sz="1400">
              <a:latin typeface="Arial"/>
              <a:cs typeface="Arial"/>
            </a:endParaRPr>
          </a:p>
        </p:txBody>
      </p:sp>
      <p:sp>
        <p:nvSpPr>
          <p:cNvPr id="31" name="object 3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3</a:t>
            </a:fld>
            <a:endParaRPr sz="1200"/>
          </a:p>
        </p:txBody>
      </p:sp>
      <p:sp>
        <p:nvSpPr>
          <p:cNvPr id="32" name="object 3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24383"/>
            <a:ext cx="6836409" cy="635635"/>
          </a:xfrm>
          <a:prstGeom prst="rect">
            <a:avLst/>
          </a:prstGeom>
        </p:spPr>
        <p:txBody>
          <a:bodyPr vert="horz" wrap="square" lIns="0" tIns="12700" rIns="0" bIns="0" rtlCol="0">
            <a:spAutoFit/>
          </a:bodyPr>
          <a:lstStyle/>
          <a:p>
            <a:pPr marL="12700">
              <a:lnSpc>
                <a:spcPct val="100000"/>
              </a:lnSpc>
              <a:spcBef>
                <a:spcPts val="100"/>
              </a:spcBef>
            </a:pPr>
            <a:r>
              <a:rPr sz="4000" spc="90" dirty="0">
                <a:solidFill>
                  <a:srgbClr val="FFFFFF"/>
                </a:solidFill>
                <a:latin typeface="Arial"/>
                <a:cs typeface="Arial"/>
              </a:rPr>
              <a:t>Viewing </a:t>
            </a:r>
            <a:r>
              <a:rPr sz="4000" spc="-140" dirty="0">
                <a:solidFill>
                  <a:srgbClr val="FFFFFF"/>
                </a:solidFill>
                <a:latin typeface="Arial"/>
                <a:cs typeface="Arial"/>
              </a:rPr>
              <a:t>System </a:t>
            </a:r>
            <a:r>
              <a:rPr sz="4000" spc="-180" dirty="0">
                <a:solidFill>
                  <a:srgbClr val="FFFFFF"/>
                </a:solidFill>
                <a:latin typeface="Arial"/>
                <a:cs typeface="Arial"/>
              </a:rPr>
              <a:t>Database</a:t>
            </a:r>
            <a:r>
              <a:rPr sz="4000" spc="-810" dirty="0">
                <a:solidFill>
                  <a:srgbClr val="FFFFFF"/>
                </a:solidFill>
                <a:latin typeface="Arial"/>
                <a:cs typeface="Arial"/>
              </a:rPr>
              <a:t> </a:t>
            </a:r>
            <a:r>
              <a:rPr sz="4000" spc="-55" dirty="0">
                <a:solidFill>
                  <a:srgbClr val="FFFFFF"/>
                </a:solidFill>
                <a:latin typeface="Arial"/>
                <a:cs typeface="Arial"/>
              </a:rPr>
              <a:t>Data</a:t>
            </a:r>
            <a:endParaRPr sz="4000">
              <a:latin typeface="Arial"/>
              <a:cs typeface="Arial"/>
            </a:endParaRPr>
          </a:p>
        </p:txBody>
      </p:sp>
      <p:sp>
        <p:nvSpPr>
          <p:cNvPr id="3" name="object 3"/>
          <p:cNvSpPr txBox="1"/>
          <p:nvPr/>
        </p:nvSpPr>
        <p:spPr>
          <a:xfrm>
            <a:off x="483108" y="879093"/>
            <a:ext cx="7303770" cy="757555"/>
          </a:xfrm>
          <a:prstGeom prst="rect">
            <a:avLst/>
          </a:prstGeom>
        </p:spPr>
        <p:txBody>
          <a:bodyPr vert="horz" wrap="square" lIns="0" tIns="12700" rIns="0" bIns="0" rtlCol="0">
            <a:spAutoFit/>
          </a:bodyPr>
          <a:lstStyle/>
          <a:p>
            <a:pPr marL="12700" marR="5080">
              <a:lnSpc>
                <a:spcPct val="100000"/>
              </a:lnSpc>
              <a:spcBef>
                <a:spcPts val="100"/>
              </a:spcBef>
            </a:pPr>
            <a:r>
              <a:rPr sz="2400" spc="-110" dirty="0">
                <a:latin typeface="Arial"/>
                <a:cs typeface="Arial"/>
              </a:rPr>
              <a:t>Database</a:t>
            </a:r>
            <a:r>
              <a:rPr sz="2400" spc="-150" dirty="0">
                <a:latin typeface="Arial"/>
                <a:cs typeface="Arial"/>
              </a:rPr>
              <a:t> </a:t>
            </a:r>
            <a:r>
              <a:rPr sz="2400" spc="-15" dirty="0">
                <a:latin typeface="Arial"/>
                <a:cs typeface="Arial"/>
              </a:rPr>
              <a:t>applications</a:t>
            </a:r>
            <a:r>
              <a:rPr sz="2400" spc="-135" dirty="0">
                <a:latin typeface="Arial"/>
                <a:cs typeface="Arial"/>
              </a:rPr>
              <a:t> </a:t>
            </a:r>
            <a:r>
              <a:rPr sz="2400" spc="-90" dirty="0">
                <a:latin typeface="Arial"/>
                <a:cs typeface="Arial"/>
              </a:rPr>
              <a:t>can</a:t>
            </a:r>
            <a:r>
              <a:rPr sz="2400" spc="-160" dirty="0">
                <a:latin typeface="Arial"/>
                <a:cs typeface="Arial"/>
              </a:rPr>
              <a:t> </a:t>
            </a:r>
            <a:r>
              <a:rPr sz="2400" spc="-20" dirty="0">
                <a:latin typeface="Arial"/>
                <a:cs typeface="Arial"/>
              </a:rPr>
              <a:t>determine</a:t>
            </a:r>
            <a:r>
              <a:rPr sz="2400" spc="-180" dirty="0">
                <a:latin typeface="Arial"/>
                <a:cs typeface="Arial"/>
              </a:rPr>
              <a:t> </a:t>
            </a:r>
            <a:r>
              <a:rPr sz="2400" spc="-70" dirty="0">
                <a:latin typeface="Arial"/>
                <a:cs typeface="Arial"/>
              </a:rPr>
              <a:t>catalog</a:t>
            </a:r>
            <a:r>
              <a:rPr sz="2400" spc="-135" dirty="0">
                <a:latin typeface="Arial"/>
                <a:cs typeface="Arial"/>
              </a:rPr>
              <a:t> </a:t>
            </a:r>
            <a:r>
              <a:rPr sz="2400" spc="-45" dirty="0">
                <a:latin typeface="Arial"/>
                <a:cs typeface="Arial"/>
              </a:rPr>
              <a:t>and</a:t>
            </a:r>
            <a:r>
              <a:rPr sz="2400" spc="-165" dirty="0">
                <a:latin typeface="Arial"/>
                <a:cs typeface="Arial"/>
              </a:rPr>
              <a:t> </a:t>
            </a:r>
            <a:r>
              <a:rPr sz="2400" spc="-100" dirty="0">
                <a:latin typeface="Arial"/>
                <a:cs typeface="Arial"/>
              </a:rPr>
              <a:t>system  </a:t>
            </a:r>
            <a:r>
              <a:rPr sz="2400" spc="50" dirty="0">
                <a:latin typeface="Arial"/>
                <a:cs typeface="Arial"/>
              </a:rPr>
              <a:t>information</a:t>
            </a:r>
            <a:r>
              <a:rPr sz="2400" spc="-145" dirty="0">
                <a:latin typeface="Arial"/>
                <a:cs typeface="Arial"/>
              </a:rPr>
              <a:t> </a:t>
            </a:r>
            <a:r>
              <a:rPr sz="2400" spc="-15" dirty="0">
                <a:latin typeface="Arial"/>
                <a:cs typeface="Arial"/>
              </a:rPr>
              <a:t>by</a:t>
            </a:r>
            <a:r>
              <a:rPr sz="2400" spc="-160" dirty="0">
                <a:latin typeface="Arial"/>
                <a:cs typeface="Arial"/>
              </a:rPr>
              <a:t> </a:t>
            </a:r>
            <a:r>
              <a:rPr sz="2400" spc="-30" dirty="0">
                <a:latin typeface="Arial"/>
                <a:cs typeface="Arial"/>
              </a:rPr>
              <a:t>using</a:t>
            </a:r>
            <a:r>
              <a:rPr sz="2400" spc="-150" dirty="0">
                <a:latin typeface="Arial"/>
                <a:cs typeface="Arial"/>
              </a:rPr>
              <a:t> </a:t>
            </a:r>
            <a:r>
              <a:rPr sz="2400" spc="-50" dirty="0">
                <a:latin typeface="Arial"/>
                <a:cs typeface="Arial"/>
              </a:rPr>
              <a:t>any</a:t>
            </a:r>
            <a:r>
              <a:rPr sz="2400" spc="-160" dirty="0">
                <a:latin typeface="Arial"/>
                <a:cs typeface="Arial"/>
              </a:rPr>
              <a:t> </a:t>
            </a:r>
            <a:r>
              <a:rPr sz="2400" spc="65" dirty="0">
                <a:latin typeface="Arial"/>
                <a:cs typeface="Arial"/>
              </a:rPr>
              <a:t>of</a:t>
            </a:r>
            <a:r>
              <a:rPr sz="2400" spc="-160" dirty="0">
                <a:latin typeface="Arial"/>
                <a:cs typeface="Arial"/>
              </a:rPr>
              <a:t> </a:t>
            </a:r>
            <a:r>
              <a:rPr sz="2400" spc="-95" dirty="0">
                <a:latin typeface="Arial"/>
                <a:cs typeface="Arial"/>
              </a:rPr>
              <a:t>these</a:t>
            </a:r>
            <a:r>
              <a:rPr sz="2400" spc="-160" dirty="0">
                <a:latin typeface="Arial"/>
                <a:cs typeface="Arial"/>
              </a:rPr>
              <a:t> </a:t>
            </a:r>
            <a:r>
              <a:rPr sz="2400" spc="-90" dirty="0">
                <a:latin typeface="Arial"/>
                <a:cs typeface="Arial"/>
              </a:rPr>
              <a:t>approaches:</a:t>
            </a:r>
            <a:endParaRPr sz="2400">
              <a:latin typeface="Arial"/>
              <a:cs typeface="Arial"/>
            </a:endParaRPr>
          </a:p>
        </p:txBody>
      </p:sp>
      <p:pic>
        <p:nvPicPr>
          <p:cNvPr id="4" name="object 4"/>
          <p:cNvPicPr/>
          <p:nvPr/>
        </p:nvPicPr>
        <p:blipFill>
          <a:blip r:embed="rId3" cstate="print"/>
          <a:stretch>
            <a:fillRect/>
          </a:stretch>
        </p:blipFill>
        <p:spPr>
          <a:xfrm>
            <a:off x="1125474" y="2011679"/>
            <a:ext cx="6949440" cy="3812286"/>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4</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0"/>
            <a:ext cx="5208905" cy="635635"/>
          </a:xfrm>
          <a:prstGeom prst="rect">
            <a:avLst/>
          </a:prstGeom>
        </p:spPr>
        <p:txBody>
          <a:bodyPr vert="horz" wrap="square" lIns="0" tIns="12700" rIns="0" bIns="0" rtlCol="0">
            <a:spAutoFit/>
          </a:bodyPr>
          <a:lstStyle/>
          <a:p>
            <a:pPr marL="12700">
              <a:lnSpc>
                <a:spcPct val="100000"/>
              </a:lnSpc>
              <a:spcBef>
                <a:spcPts val="100"/>
              </a:spcBef>
            </a:pPr>
            <a:r>
              <a:rPr spc="-20" dirty="0"/>
              <a:t>User-defined</a:t>
            </a:r>
            <a:r>
              <a:rPr spc="-300" dirty="0"/>
              <a:t> </a:t>
            </a:r>
            <a:r>
              <a:rPr spc="-210" dirty="0"/>
              <a:t>Databases</a:t>
            </a:r>
          </a:p>
        </p:txBody>
      </p:sp>
      <p:grpSp>
        <p:nvGrpSpPr>
          <p:cNvPr id="3" name="object 3"/>
          <p:cNvGrpSpPr/>
          <p:nvPr/>
        </p:nvGrpSpPr>
        <p:grpSpPr>
          <a:xfrm>
            <a:off x="241554" y="1627631"/>
            <a:ext cx="8700770" cy="3302635"/>
            <a:chOff x="241554" y="1627631"/>
            <a:chExt cx="8700770" cy="3302635"/>
          </a:xfrm>
        </p:grpSpPr>
        <p:pic>
          <p:nvPicPr>
            <p:cNvPr id="4" name="object 4"/>
            <p:cNvPicPr/>
            <p:nvPr/>
          </p:nvPicPr>
          <p:blipFill>
            <a:blip r:embed="rId3" cstate="print"/>
            <a:stretch>
              <a:fillRect/>
            </a:stretch>
          </p:blipFill>
          <p:spPr>
            <a:xfrm>
              <a:off x="241554" y="1627631"/>
              <a:ext cx="8700516" cy="3302508"/>
            </a:xfrm>
            <a:prstGeom prst="rect">
              <a:avLst/>
            </a:prstGeom>
          </p:spPr>
        </p:pic>
        <p:sp>
          <p:nvSpPr>
            <p:cNvPr id="5" name="object 5"/>
            <p:cNvSpPr/>
            <p:nvPr/>
          </p:nvSpPr>
          <p:spPr>
            <a:xfrm>
              <a:off x="301752" y="1668017"/>
              <a:ext cx="8587105" cy="3188970"/>
            </a:xfrm>
            <a:custGeom>
              <a:avLst/>
              <a:gdLst/>
              <a:ahLst/>
              <a:cxnLst/>
              <a:rect l="l" t="t" r="r" b="b"/>
              <a:pathLst>
                <a:path w="8587105" h="3188970">
                  <a:moveTo>
                    <a:pt x="8055483" y="0"/>
                  </a:moveTo>
                  <a:lnTo>
                    <a:pt x="531507" y="0"/>
                  </a:lnTo>
                  <a:lnTo>
                    <a:pt x="483129" y="2172"/>
                  </a:lnTo>
                  <a:lnTo>
                    <a:pt x="435967" y="8564"/>
                  </a:lnTo>
                  <a:lnTo>
                    <a:pt x="390210" y="18988"/>
                  </a:lnTo>
                  <a:lnTo>
                    <a:pt x="346045" y="33256"/>
                  </a:lnTo>
                  <a:lnTo>
                    <a:pt x="303660" y="51180"/>
                  </a:lnTo>
                  <a:lnTo>
                    <a:pt x="263243" y="72573"/>
                  </a:lnTo>
                  <a:lnTo>
                    <a:pt x="224981" y="97247"/>
                  </a:lnTo>
                  <a:lnTo>
                    <a:pt x="189062" y="125013"/>
                  </a:lnTo>
                  <a:lnTo>
                    <a:pt x="155673" y="155686"/>
                  </a:lnTo>
                  <a:lnTo>
                    <a:pt x="125002" y="189075"/>
                  </a:lnTo>
                  <a:lnTo>
                    <a:pt x="97237" y="224995"/>
                  </a:lnTo>
                  <a:lnTo>
                    <a:pt x="72565" y="263256"/>
                  </a:lnTo>
                  <a:lnTo>
                    <a:pt x="51174" y="303672"/>
                  </a:lnTo>
                  <a:lnTo>
                    <a:pt x="33251" y="346055"/>
                  </a:lnTo>
                  <a:lnTo>
                    <a:pt x="18985" y="390216"/>
                  </a:lnTo>
                  <a:lnTo>
                    <a:pt x="8563" y="435968"/>
                  </a:lnTo>
                  <a:lnTo>
                    <a:pt x="2172" y="483124"/>
                  </a:lnTo>
                  <a:lnTo>
                    <a:pt x="0" y="531495"/>
                  </a:lnTo>
                  <a:lnTo>
                    <a:pt x="0" y="2657475"/>
                  </a:lnTo>
                  <a:lnTo>
                    <a:pt x="2172" y="2705845"/>
                  </a:lnTo>
                  <a:lnTo>
                    <a:pt x="8563" y="2753001"/>
                  </a:lnTo>
                  <a:lnTo>
                    <a:pt x="18985" y="2798753"/>
                  </a:lnTo>
                  <a:lnTo>
                    <a:pt x="33251" y="2842914"/>
                  </a:lnTo>
                  <a:lnTo>
                    <a:pt x="51174" y="2885297"/>
                  </a:lnTo>
                  <a:lnTo>
                    <a:pt x="72565" y="2925713"/>
                  </a:lnTo>
                  <a:lnTo>
                    <a:pt x="97237" y="2963974"/>
                  </a:lnTo>
                  <a:lnTo>
                    <a:pt x="125002" y="2999894"/>
                  </a:lnTo>
                  <a:lnTo>
                    <a:pt x="155673" y="3033283"/>
                  </a:lnTo>
                  <a:lnTo>
                    <a:pt x="189062" y="3063956"/>
                  </a:lnTo>
                  <a:lnTo>
                    <a:pt x="224981" y="3091722"/>
                  </a:lnTo>
                  <a:lnTo>
                    <a:pt x="263243" y="3116396"/>
                  </a:lnTo>
                  <a:lnTo>
                    <a:pt x="303660" y="3137789"/>
                  </a:lnTo>
                  <a:lnTo>
                    <a:pt x="346045" y="3155713"/>
                  </a:lnTo>
                  <a:lnTo>
                    <a:pt x="390210" y="3169981"/>
                  </a:lnTo>
                  <a:lnTo>
                    <a:pt x="435967" y="3180405"/>
                  </a:lnTo>
                  <a:lnTo>
                    <a:pt x="483129" y="3186797"/>
                  </a:lnTo>
                  <a:lnTo>
                    <a:pt x="531507" y="3188970"/>
                  </a:lnTo>
                  <a:lnTo>
                    <a:pt x="8055483" y="3188970"/>
                  </a:lnTo>
                  <a:lnTo>
                    <a:pt x="8103853" y="3186797"/>
                  </a:lnTo>
                  <a:lnTo>
                    <a:pt x="8151009" y="3180405"/>
                  </a:lnTo>
                  <a:lnTo>
                    <a:pt x="8196761" y="3169981"/>
                  </a:lnTo>
                  <a:lnTo>
                    <a:pt x="8240922" y="3155713"/>
                  </a:lnTo>
                  <a:lnTo>
                    <a:pt x="8283305" y="3137789"/>
                  </a:lnTo>
                  <a:lnTo>
                    <a:pt x="8323721" y="3116396"/>
                  </a:lnTo>
                  <a:lnTo>
                    <a:pt x="8361982" y="3091722"/>
                  </a:lnTo>
                  <a:lnTo>
                    <a:pt x="8397902" y="3063956"/>
                  </a:lnTo>
                  <a:lnTo>
                    <a:pt x="8431291" y="3033283"/>
                  </a:lnTo>
                  <a:lnTo>
                    <a:pt x="8461964" y="2999894"/>
                  </a:lnTo>
                  <a:lnTo>
                    <a:pt x="8489730" y="2963974"/>
                  </a:lnTo>
                  <a:lnTo>
                    <a:pt x="8514404" y="2925713"/>
                  </a:lnTo>
                  <a:lnTo>
                    <a:pt x="8535797" y="2885297"/>
                  </a:lnTo>
                  <a:lnTo>
                    <a:pt x="8553721" y="2842914"/>
                  </a:lnTo>
                  <a:lnTo>
                    <a:pt x="8567989" y="2798753"/>
                  </a:lnTo>
                  <a:lnTo>
                    <a:pt x="8578413" y="2753001"/>
                  </a:lnTo>
                  <a:lnTo>
                    <a:pt x="8584805" y="2705845"/>
                  </a:lnTo>
                  <a:lnTo>
                    <a:pt x="8586978" y="2657475"/>
                  </a:lnTo>
                  <a:lnTo>
                    <a:pt x="8586978" y="531495"/>
                  </a:lnTo>
                  <a:lnTo>
                    <a:pt x="8584805" y="483124"/>
                  </a:lnTo>
                  <a:lnTo>
                    <a:pt x="8578413" y="435968"/>
                  </a:lnTo>
                  <a:lnTo>
                    <a:pt x="8567989" y="390216"/>
                  </a:lnTo>
                  <a:lnTo>
                    <a:pt x="8553721" y="346055"/>
                  </a:lnTo>
                  <a:lnTo>
                    <a:pt x="8535797" y="303672"/>
                  </a:lnTo>
                  <a:lnTo>
                    <a:pt x="8514404" y="263256"/>
                  </a:lnTo>
                  <a:lnTo>
                    <a:pt x="8489730" y="224995"/>
                  </a:lnTo>
                  <a:lnTo>
                    <a:pt x="8461964" y="189075"/>
                  </a:lnTo>
                  <a:lnTo>
                    <a:pt x="8431291" y="155686"/>
                  </a:lnTo>
                  <a:lnTo>
                    <a:pt x="8397902" y="125013"/>
                  </a:lnTo>
                  <a:lnTo>
                    <a:pt x="8361982" y="97247"/>
                  </a:lnTo>
                  <a:lnTo>
                    <a:pt x="8323721" y="72573"/>
                  </a:lnTo>
                  <a:lnTo>
                    <a:pt x="8283305" y="51180"/>
                  </a:lnTo>
                  <a:lnTo>
                    <a:pt x="8240922" y="33256"/>
                  </a:lnTo>
                  <a:lnTo>
                    <a:pt x="8196761" y="18988"/>
                  </a:lnTo>
                  <a:lnTo>
                    <a:pt x="8151009" y="8564"/>
                  </a:lnTo>
                  <a:lnTo>
                    <a:pt x="8103853" y="2172"/>
                  </a:lnTo>
                  <a:lnTo>
                    <a:pt x="8055483" y="0"/>
                  </a:lnTo>
                  <a:close/>
                </a:path>
              </a:pathLst>
            </a:custGeom>
            <a:solidFill>
              <a:srgbClr val="4F81BC"/>
            </a:solidFill>
          </p:spPr>
          <p:txBody>
            <a:bodyPr wrap="square" lIns="0" tIns="0" rIns="0" bIns="0" rtlCol="0"/>
            <a:lstStyle/>
            <a:p>
              <a:endParaRPr/>
            </a:p>
          </p:txBody>
        </p:sp>
        <p:sp>
          <p:nvSpPr>
            <p:cNvPr id="6" name="object 6"/>
            <p:cNvSpPr/>
            <p:nvPr/>
          </p:nvSpPr>
          <p:spPr>
            <a:xfrm>
              <a:off x="301752" y="1668017"/>
              <a:ext cx="8587105" cy="3188970"/>
            </a:xfrm>
            <a:custGeom>
              <a:avLst/>
              <a:gdLst/>
              <a:ahLst/>
              <a:cxnLst/>
              <a:rect l="l" t="t" r="r" b="b"/>
              <a:pathLst>
                <a:path w="8587105" h="3188970">
                  <a:moveTo>
                    <a:pt x="0" y="531495"/>
                  </a:moveTo>
                  <a:lnTo>
                    <a:pt x="2172" y="483124"/>
                  </a:lnTo>
                  <a:lnTo>
                    <a:pt x="8563" y="435968"/>
                  </a:lnTo>
                  <a:lnTo>
                    <a:pt x="18985" y="390216"/>
                  </a:lnTo>
                  <a:lnTo>
                    <a:pt x="33251" y="346055"/>
                  </a:lnTo>
                  <a:lnTo>
                    <a:pt x="51174" y="303672"/>
                  </a:lnTo>
                  <a:lnTo>
                    <a:pt x="72565" y="263256"/>
                  </a:lnTo>
                  <a:lnTo>
                    <a:pt x="97237" y="224995"/>
                  </a:lnTo>
                  <a:lnTo>
                    <a:pt x="125002" y="189075"/>
                  </a:lnTo>
                  <a:lnTo>
                    <a:pt x="155673" y="155686"/>
                  </a:lnTo>
                  <a:lnTo>
                    <a:pt x="189062" y="125013"/>
                  </a:lnTo>
                  <a:lnTo>
                    <a:pt x="224981" y="97247"/>
                  </a:lnTo>
                  <a:lnTo>
                    <a:pt x="263243" y="72573"/>
                  </a:lnTo>
                  <a:lnTo>
                    <a:pt x="303660" y="51180"/>
                  </a:lnTo>
                  <a:lnTo>
                    <a:pt x="346045" y="33256"/>
                  </a:lnTo>
                  <a:lnTo>
                    <a:pt x="390210" y="18988"/>
                  </a:lnTo>
                  <a:lnTo>
                    <a:pt x="435967" y="8564"/>
                  </a:lnTo>
                  <a:lnTo>
                    <a:pt x="483129" y="2172"/>
                  </a:lnTo>
                  <a:lnTo>
                    <a:pt x="531507" y="0"/>
                  </a:lnTo>
                  <a:lnTo>
                    <a:pt x="8055483" y="0"/>
                  </a:lnTo>
                  <a:lnTo>
                    <a:pt x="8103853" y="2172"/>
                  </a:lnTo>
                  <a:lnTo>
                    <a:pt x="8151009" y="8564"/>
                  </a:lnTo>
                  <a:lnTo>
                    <a:pt x="8196761" y="18988"/>
                  </a:lnTo>
                  <a:lnTo>
                    <a:pt x="8240922" y="33256"/>
                  </a:lnTo>
                  <a:lnTo>
                    <a:pt x="8283305" y="51180"/>
                  </a:lnTo>
                  <a:lnTo>
                    <a:pt x="8323721" y="72573"/>
                  </a:lnTo>
                  <a:lnTo>
                    <a:pt x="8361982" y="97247"/>
                  </a:lnTo>
                  <a:lnTo>
                    <a:pt x="8397902" y="125013"/>
                  </a:lnTo>
                  <a:lnTo>
                    <a:pt x="8431291" y="155686"/>
                  </a:lnTo>
                  <a:lnTo>
                    <a:pt x="8461964" y="189075"/>
                  </a:lnTo>
                  <a:lnTo>
                    <a:pt x="8489730" y="224995"/>
                  </a:lnTo>
                  <a:lnTo>
                    <a:pt x="8514404" y="263256"/>
                  </a:lnTo>
                  <a:lnTo>
                    <a:pt x="8535797" y="303672"/>
                  </a:lnTo>
                  <a:lnTo>
                    <a:pt x="8553721" y="346055"/>
                  </a:lnTo>
                  <a:lnTo>
                    <a:pt x="8567989" y="390216"/>
                  </a:lnTo>
                  <a:lnTo>
                    <a:pt x="8578413" y="435968"/>
                  </a:lnTo>
                  <a:lnTo>
                    <a:pt x="8584805" y="483124"/>
                  </a:lnTo>
                  <a:lnTo>
                    <a:pt x="8586978" y="531495"/>
                  </a:lnTo>
                  <a:lnTo>
                    <a:pt x="8586978" y="2657475"/>
                  </a:lnTo>
                  <a:lnTo>
                    <a:pt x="8584805" y="2705845"/>
                  </a:lnTo>
                  <a:lnTo>
                    <a:pt x="8578413" y="2753001"/>
                  </a:lnTo>
                  <a:lnTo>
                    <a:pt x="8567989" y="2798753"/>
                  </a:lnTo>
                  <a:lnTo>
                    <a:pt x="8553721" y="2842914"/>
                  </a:lnTo>
                  <a:lnTo>
                    <a:pt x="8535797" y="2885297"/>
                  </a:lnTo>
                  <a:lnTo>
                    <a:pt x="8514404" y="2925713"/>
                  </a:lnTo>
                  <a:lnTo>
                    <a:pt x="8489730" y="2963974"/>
                  </a:lnTo>
                  <a:lnTo>
                    <a:pt x="8461964" y="2999894"/>
                  </a:lnTo>
                  <a:lnTo>
                    <a:pt x="8431291" y="3033283"/>
                  </a:lnTo>
                  <a:lnTo>
                    <a:pt x="8397902" y="3063956"/>
                  </a:lnTo>
                  <a:lnTo>
                    <a:pt x="8361982" y="3091722"/>
                  </a:lnTo>
                  <a:lnTo>
                    <a:pt x="8323721" y="3116396"/>
                  </a:lnTo>
                  <a:lnTo>
                    <a:pt x="8283305" y="3137789"/>
                  </a:lnTo>
                  <a:lnTo>
                    <a:pt x="8240922" y="3155713"/>
                  </a:lnTo>
                  <a:lnTo>
                    <a:pt x="8196761" y="3169981"/>
                  </a:lnTo>
                  <a:lnTo>
                    <a:pt x="8151009" y="3180405"/>
                  </a:lnTo>
                  <a:lnTo>
                    <a:pt x="8103853" y="3186797"/>
                  </a:lnTo>
                  <a:lnTo>
                    <a:pt x="8055483" y="3188970"/>
                  </a:lnTo>
                  <a:lnTo>
                    <a:pt x="531507" y="3188970"/>
                  </a:lnTo>
                  <a:lnTo>
                    <a:pt x="483129" y="3186797"/>
                  </a:lnTo>
                  <a:lnTo>
                    <a:pt x="435967" y="3180405"/>
                  </a:lnTo>
                  <a:lnTo>
                    <a:pt x="390210" y="3169981"/>
                  </a:lnTo>
                  <a:lnTo>
                    <a:pt x="346045" y="3155713"/>
                  </a:lnTo>
                  <a:lnTo>
                    <a:pt x="303660" y="3137789"/>
                  </a:lnTo>
                  <a:lnTo>
                    <a:pt x="263243" y="3116396"/>
                  </a:lnTo>
                  <a:lnTo>
                    <a:pt x="224981" y="3091722"/>
                  </a:lnTo>
                  <a:lnTo>
                    <a:pt x="189062" y="3063956"/>
                  </a:lnTo>
                  <a:lnTo>
                    <a:pt x="155673" y="3033283"/>
                  </a:lnTo>
                  <a:lnTo>
                    <a:pt x="125002" y="2999894"/>
                  </a:lnTo>
                  <a:lnTo>
                    <a:pt x="97237" y="2963974"/>
                  </a:lnTo>
                  <a:lnTo>
                    <a:pt x="72565" y="2925713"/>
                  </a:lnTo>
                  <a:lnTo>
                    <a:pt x="51174" y="2885297"/>
                  </a:lnTo>
                  <a:lnTo>
                    <a:pt x="33251" y="2842914"/>
                  </a:lnTo>
                  <a:lnTo>
                    <a:pt x="18985" y="2798753"/>
                  </a:lnTo>
                  <a:lnTo>
                    <a:pt x="8563" y="2753001"/>
                  </a:lnTo>
                  <a:lnTo>
                    <a:pt x="2172" y="2705845"/>
                  </a:lnTo>
                  <a:lnTo>
                    <a:pt x="0" y="2657475"/>
                  </a:lnTo>
                  <a:lnTo>
                    <a:pt x="0" y="531495"/>
                  </a:lnTo>
                  <a:close/>
                </a:path>
              </a:pathLst>
            </a:custGeom>
            <a:ln w="38099">
              <a:solidFill>
                <a:srgbClr val="FFFFFF"/>
              </a:solidFill>
            </a:ln>
          </p:spPr>
          <p:txBody>
            <a:bodyPr wrap="square" lIns="0" tIns="0" rIns="0" bIns="0" rtlCol="0"/>
            <a:lstStyle/>
            <a:p>
              <a:endParaRPr/>
            </a:p>
          </p:txBody>
        </p:sp>
      </p:grpSp>
      <p:sp>
        <p:nvSpPr>
          <p:cNvPr id="7" name="object 7"/>
          <p:cNvSpPr txBox="1"/>
          <p:nvPr/>
        </p:nvSpPr>
        <p:spPr>
          <a:xfrm>
            <a:off x="438658" y="2461513"/>
            <a:ext cx="8314055" cy="1461770"/>
          </a:xfrm>
          <a:prstGeom prst="rect">
            <a:avLst/>
          </a:prstGeom>
        </p:spPr>
        <p:txBody>
          <a:bodyPr vert="horz" wrap="square" lIns="0" tIns="12700" rIns="0" bIns="0" rtlCol="0">
            <a:spAutoFit/>
          </a:bodyPr>
          <a:lstStyle/>
          <a:p>
            <a:pPr marL="12700">
              <a:lnSpc>
                <a:spcPts val="3335"/>
              </a:lnSpc>
              <a:spcBef>
                <a:spcPts val="100"/>
              </a:spcBef>
            </a:pPr>
            <a:r>
              <a:rPr sz="2800" spc="10" dirty="0">
                <a:solidFill>
                  <a:srgbClr val="FFFFFF"/>
                </a:solidFill>
                <a:latin typeface="Arial"/>
                <a:cs typeface="Arial"/>
              </a:rPr>
              <a:t>Using </a:t>
            </a:r>
            <a:r>
              <a:rPr sz="2800" spc="35" dirty="0">
                <a:solidFill>
                  <a:srgbClr val="FFFFFF"/>
                </a:solidFill>
                <a:latin typeface="Arial"/>
                <a:cs typeface="Arial"/>
              </a:rPr>
              <a:t>SQL</a:t>
            </a:r>
            <a:r>
              <a:rPr sz="2800" spc="-509" dirty="0">
                <a:solidFill>
                  <a:srgbClr val="FFFFFF"/>
                </a:solidFill>
                <a:latin typeface="Arial"/>
                <a:cs typeface="Arial"/>
              </a:rPr>
              <a:t> </a:t>
            </a:r>
            <a:r>
              <a:rPr sz="2800" spc="-70" dirty="0">
                <a:solidFill>
                  <a:srgbClr val="FFFFFF"/>
                </a:solidFill>
                <a:latin typeface="Arial"/>
                <a:cs typeface="Arial"/>
              </a:rPr>
              <a:t>Server </a:t>
            </a:r>
            <a:r>
              <a:rPr sz="2800" spc="-285" dirty="0">
                <a:solidFill>
                  <a:srgbClr val="FFFFFF"/>
                </a:solidFill>
                <a:latin typeface="Arial"/>
                <a:cs typeface="Arial"/>
              </a:rPr>
              <a:t>2019</a:t>
            </a:r>
            <a:endParaRPr sz="2800">
              <a:latin typeface="Arial"/>
              <a:cs typeface="Arial"/>
            </a:endParaRPr>
          </a:p>
          <a:p>
            <a:pPr marL="298450" indent="-286385">
              <a:lnSpc>
                <a:spcPts val="2030"/>
              </a:lnSpc>
              <a:buFont typeface="Wingdings"/>
              <a:buChar char=""/>
              <a:tabLst>
                <a:tab pos="299085" algn="l"/>
              </a:tabLst>
            </a:pPr>
            <a:r>
              <a:rPr sz="1800" spc="-60" dirty="0">
                <a:solidFill>
                  <a:srgbClr val="FFFFFF"/>
                </a:solidFill>
                <a:latin typeface="Arial"/>
                <a:cs typeface="Arial"/>
              </a:rPr>
              <a:t>Users </a:t>
            </a:r>
            <a:r>
              <a:rPr sz="1800" spc="-70" dirty="0">
                <a:solidFill>
                  <a:srgbClr val="FFFFFF"/>
                </a:solidFill>
                <a:latin typeface="Arial"/>
                <a:cs typeface="Arial"/>
              </a:rPr>
              <a:t>can create </a:t>
            </a:r>
            <a:r>
              <a:rPr sz="1800" spc="35" dirty="0">
                <a:solidFill>
                  <a:srgbClr val="FFFFFF"/>
                </a:solidFill>
                <a:latin typeface="Arial"/>
                <a:cs typeface="Arial"/>
              </a:rPr>
              <a:t>their </a:t>
            </a:r>
            <a:r>
              <a:rPr sz="1800" spc="30" dirty="0">
                <a:solidFill>
                  <a:srgbClr val="FFFFFF"/>
                </a:solidFill>
                <a:latin typeface="Arial"/>
                <a:cs typeface="Arial"/>
              </a:rPr>
              <a:t>own </a:t>
            </a:r>
            <a:r>
              <a:rPr sz="1800" spc="-100" dirty="0">
                <a:solidFill>
                  <a:srgbClr val="FFFFFF"/>
                </a:solidFill>
                <a:latin typeface="Arial"/>
                <a:cs typeface="Arial"/>
              </a:rPr>
              <a:t>databases, </a:t>
            </a:r>
            <a:r>
              <a:rPr sz="1800" spc="-70" dirty="0">
                <a:solidFill>
                  <a:srgbClr val="FFFFFF"/>
                </a:solidFill>
                <a:latin typeface="Arial"/>
                <a:cs typeface="Arial"/>
              </a:rPr>
              <a:t>also </a:t>
            </a:r>
            <a:r>
              <a:rPr sz="1800" spc="-40" dirty="0">
                <a:solidFill>
                  <a:srgbClr val="FFFFFF"/>
                </a:solidFill>
                <a:latin typeface="Arial"/>
                <a:cs typeface="Arial"/>
              </a:rPr>
              <a:t>called </a:t>
            </a:r>
            <a:r>
              <a:rPr sz="1800" spc="-20" dirty="0">
                <a:solidFill>
                  <a:srgbClr val="FFFFFF"/>
                </a:solidFill>
                <a:latin typeface="Arial"/>
                <a:cs typeface="Arial"/>
              </a:rPr>
              <a:t>user-defined </a:t>
            </a:r>
            <a:r>
              <a:rPr sz="1800" spc="-105" dirty="0">
                <a:solidFill>
                  <a:srgbClr val="FFFFFF"/>
                </a:solidFill>
                <a:latin typeface="Arial"/>
                <a:cs typeface="Arial"/>
              </a:rPr>
              <a:t>databases,</a:t>
            </a:r>
            <a:r>
              <a:rPr sz="1800" spc="-95" dirty="0">
                <a:solidFill>
                  <a:srgbClr val="FFFFFF"/>
                </a:solidFill>
                <a:latin typeface="Arial"/>
                <a:cs typeface="Arial"/>
              </a:rPr>
              <a:t> </a:t>
            </a:r>
            <a:r>
              <a:rPr sz="1800" spc="-35" dirty="0">
                <a:solidFill>
                  <a:srgbClr val="FFFFFF"/>
                </a:solidFill>
                <a:latin typeface="Arial"/>
                <a:cs typeface="Arial"/>
              </a:rPr>
              <a:t>and</a:t>
            </a:r>
            <a:endParaRPr sz="1800">
              <a:latin typeface="Arial"/>
              <a:cs typeface="Arial"/>
            </a:endParaRPr>
          </a:p>
          <a:p>
            <a:pPr marL="298450">
              <a:lnSpc>
                <a:spcPts val="2055"/>
              </a:lnSpc>
            </a:pPr>
            <a:r>
              <a:rPr sz="1800" spc="45" dirty="0">
                <a:solidFill>
                  <a:srgbClr val="FFFFFF"/>
                </a:solidFill>
                <a:latin typeface="Arial"/>
                <a:cs typeface="Arial"/>
              </a:rPr>
              <a:t>work </a:t>
            </a:r>
            <a:r>
              <a:rPr sz="1800" spc="80" dirty="0">
                <a:solidFill>
                  <a:srgbClr val="FFFFFF"/>
                </a:solidFill>
                <a:latin typeface="Arial"/>
                <a:cs typeface="Arial"/>
              </a:rPr>
              <a:t>with</a:t>
            </a:r>
            <a:r>
              <a:rPr sz="1800" spc="-275" dirty="0">
                <a:solidFill>
                  <a:srgbClr val="FFFFFF"/>
                </a:solidFill>
                <a:latin typeface="Arial"/>
                <a:cs typeface="Arial"/>
              </a:rPr>
              <a:t> </a:t>
            </a:r>
            <a:r>
              <a:rPr sz="1800" spc="-10" dirty="0">
                <a:solidFill>
                  <a:srgbClr val="FFFFFF"/>
                </a:solidFill>
                <a:latin typeface="Arial"/>
                <a:cs typeface="Arial"/>
              </a:rPr>
              <a:t>them.</a:t>
            </a:r>
            <a:endParaRPr sz="1800">
              <a:latin typeface="Arial"/>
              <a:cs typeface="Arial"/>
            </a:endParaRPr>
          </a:p>
          <a:p>
            <a:pPr marL="298450" indent="-286385">
              <a:lnSpc>
                <a:spcPct val="100000"/>
              </a:lnSpc>
              <a:spcBef>
                <a:spcPts val="1730"/>
              </a:spcBef>
              <a:buFont typeface="Wingdings"/>
              <a:buChar char=""/>
              <a:tabLst>
                <a:tab pos="299085" algn="l"/>
              </a:tabLst>
            </a:pPr>
            <a:r>
              <a:rPr sz="1800" spc="15" dirty="0">
                <a:solidFill>
                  <a:srgbClr val="FFFFFF"/>
                </a:solidFill>
                <a:latin typeface="Arial"/>
                <a:cs typeface="Arial"/>
              </a:rPr>
              <a:t>The</a:t>
            </a:r>
            <a:r>
              <a:rPr sz="1800" spc="-110" dirty="0">
                <a:solidFill>
                  <a:srgbClr val="FFFFFF"/>
                </a:solidFill>
                <a:latin typeface="Arial"/>
                <a:cs typeface="Arial"/>
              </a:rPr>
              <a:t> </a:t>
            </a:r>
            <a:r>
              <a:rPr sz="1800" spc="-40" dirty="0">
                <a:solidFill>
                  <a:srgbClr val="FFFFFF"/>
                </a:solidFill>
                <a:latin typeface="Arial"/>
                <a:cs typeface="Arial"/>
              </a:rPr>
              <a:t>purpose</a:t>
            </a:r>
            <a:r>
              <a:rPr sz="1800" spc="-114" dirty="0">
                <a:solidFill>
                  <a:srgbClr val="FFFFFF"/>
                </a:solidFill>
                <a:latin typeface="Arial"/>
                <a:cs typeface="Arial"/>
              </a:rPr>
              <a:t> </a:t>
            </a:r>
            <a:r>
              <a:rPr sz="1800" spc="45" dirty="0">
                <a:solidFill>
                  <a:srgbClr val="FFFFFF"/>
                </a:solidFill>
                <a:latin typeface="Arial"/>
                <a:cs typeface="Arial"/>
              </a:rPr>
              <a:t>of</a:t>
            </a:r>
            <a:r>
              <a:rPr sz="1800" spc="-110" dirty="0">
                <a:solidFill>
                  <a:srgbClr val="FFFFFF"/>
                </a:solidFill>
                <a:latin typeface="Arial"/>
                <a:cs typeface="Arial"/>
              </a:rPr>
              <a:t> </a:t>
            </a:r>
            <a:r>
              <a:rPr sz="1800" spc="-70" dirty="0">
                <a:solidFill>
                  <a:srgbClr val="FFFFFF"/>
                </a:solidFill>
                <a:latin typeface="Arial"/>
                <a:cs typeface="Arial"/>
              </a:rPr>
              <a:t>these</a:t>
            </a:r>
            <a:r>
              <a:rPr sz="1800" spc="-110" dirty="0">
                <a:solidFill>
                  <a:srgbClr val="FFFFFF"/>
                </a:solidFill>
                <a:latin typeface="Arial"/>
                <a:cs typeface="Arial"/>
              </a:rPr>
              <a:t> databases</a:t>
            </a:r>
            <a:r>
              <a:rPr sz="1800" spc="-125" dirty="0">
                <a:solidFill>
                  <a:srgbClr val="FFFFFF"/>
                </a:solidFill>
                <a:latin typeface="Arial"/>
                <a:cs typeface="Arial"/>
              </a:rPr>
              <a:t> </a:t>
            </a:r>
            <a:r>
              <a:rPr sz="1800" spc="-45" dirty="0">
                <a:solidFill>
                  <a:srgbClr val="FFFFFF"/>
                </a:solidFill>
                <a:latin typeface="Arial"/>
                <a:cs typeface="Arial"/>
              </a:rPr>
              <a:t>is</a:t>
            </a:r>
            <a:r>
              <a:rPr sz="1800" spc="-105" dirty="0">
                <a:solidFill>
                  <a:srgbClr val="FFFFFF"/>
                </a:solidFill>
                <a:latin typeface="Arial"/>
                <a:cs typeface="Arial"/>
              </a:rPr>
              <a:t> </a:t>
            </a:r>
            <a:r>
              <a:rPr sz="1800" spc="45" dirty="0">
                <a:solidFill>
                  <a:srgbClr val="FFFFFF"/>
                </a:solidFill>
                <a:latin typeface="Arial"/>
                <a:cs typeface="Arial"/>
              </a:rPr>
              <a:t>to</a:t>
            </a:r>
            <a:r>
              <a:rPr sz="1800" spc="-110" dirty="0">
                <a:solidFill>
                  <a:srgbClr val="FFFFFF"/>
                </a:solidFill>
                <a:latin typeface="Arial"/>
                <a:cs typeface="Arial"/>
              </a:rPr>
              <a:t> </a:t>
            </a:r>
            <a:r>
              <a:rPr sz="1800" spc="-40" dirty="0">
                <a:solidFill>
                  <a:srgbClr val="FFFFFF"/>
                </a:solidFill>
                <a:latin typeface="Arial"/>
                <a:cs typeface="Arial"/>
              </a:rPr>
              <a:t>store</a:t>
            </a:r>
            <a:r>
              <a:rPr sz="1800" spc="-110" dirty="0">
                <a:solidFill>
                  <a:srgbClr val="FFFFFF"/>
                </a:solidFill>
                <a:latin typeface="Arial"/>
                <a:cs typeface="Arial"/>
              </a:rPr>
              <a:t> </a:t>
            </a:r>
            <a:r>
              <a:rPr sz="1800" spc="-65" dirty="0">
                <a:solidFill>
                  <a:srgbClr val="FFFFFF"/>
                </a:solidFill>
                <a:latin typeface="Arial"/>
                <a:cs typeface="Arial"/>
              </a:rPr>
              <a:t>user</a:t>
            </a:r>
            <a:r>
              <a:rPr sz="1800" spc="-114" dirty="0">
                <a:solidFill>
                  <a:srgbClr val="FFFFFF"/>
                </a:solidFill>
                <a:latin typeface="Arial"/>
                <a:cs typeface="Arial"/>
              </a:rPr>
              <a:t> </a:t>
            </a:r>
            <a:r>
              <a:rPr sz="1800" spc="-55" dirty="0">
                <a:solidFill>
                  <a:srgbClr val="FFFFFF"/>
                </a:solidFill>
                <a:latin typeface="Arial"/>
                <a:cs typeface="Arial"/>
              </a:rPr>
              <a:t>data.</a:t>
            </a:r>
            <a:endParaRPr sz="18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5</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270" y="0"/>
            <a:ext cx="8616950" cy="574675"/>
          </a:xfrm>
          <a:prstGeom prst="rect">
            <a:avLst/>
          </a:prstGeom>
        </p:spPr>
        <p:txBody>
          <a:bodyPr vert="horz" wrap="square" lIns="0" tIns="12700" rIns="0" bIns="0" rtlCol="0">
            <a:spAutoFit/>
          </a:bodyPr>
          <a:lstStyle/>
          <a:p>
            <a:pPr marL="12700">
              <a:lnSpc>
                <a:spcPct val="100000"/>
              </a:lnSpc>
              <a:spcBef>
                <a:spcPts val="100"/>
              </a:spcBef>
            </a:pPr>
            <a:r>
              <a:rPr sz="3600" spc="15" dirty="0"/>
              <a:t>Creating</a:t>
            </a:r>
            <a:r>
              <a:rPr sz="3600" spc="-260" dirty="0"/>
              <a:t> </a:t>
            </a:r>
            <a:r>
              <a:rPr sz="3600" spc="-185" dirty="0"/>
              <a:t>Databases</a:t>
            </a:r>
            <a:r>
              <a:rPr sz="3600" spc="-250" dirty="0"/>
              <a:t> </a:t>
            </a:r>
            <a:r>
              <a:rPr sz="3600" spc="10" dirty="0"/>
              <a:t>Using</a:t>
            </a:r>
            <a:r>
              <a:rPr sz="3600" spc="-240" dirty="0"/>
              <a:t> </a:t>
            </a:r>
            <a:r>
              <a:rPr sz="3600" spc="-25" dirty="0"/>
              <a:t>Transact-SQL</a:t>
            </a:r>
            <a:r>
              <a:rPr sz="3600" spc="-240" dirty="0"/>
              <a:t> </a:t>
            </a:r>
            <a:r>
              <a:rPr sz="3600" spc="-440" dirty="0"/>
              <a:t>1-3</a:t>
            </a:r>
            <a:endParaRPr sz="3600"/>
          </a:p>
        </p:txBody>
      </p:sp>
      <p:sp>
        <p:nvSpPr>
          <p:cNvPr id="3" name="object 3"/>
          <p:cNvSpPr/>
          <p:nvPr/>
        </p:nvSpPr>
        <p:spPr>
          <a:xfrm>
            <a:off x="301752" y="1238249"/>
            <a:ext cx="8540750" cy="1772920"/>
          </a:xfrm>
          <a:custGeom>
            <a:avLst/>
            <a:gdLst/>
            <a:ahLst/>
            <a:cxnLst/>
            <a:rect l="l" t="t" r="r" b="b"/>
            <a:pathLst>
              <a:path w="8540750" h="1772920">
                <a:moveTo>
                  <a:pt x="8540496" y="295402"/>
                </a:moveTo>
                <a:lnTo>
                  <a:pt x="8536622" y="247484"/>
                </a:lnTo>
                <a:lnTo>
                  <a:pt x="8525434" y="202018"/>
                </a:lnTo>
                <a:lnTo>
                  <a:pt x="8507527" y="159626"/>
                </a:lnTo>
                <a:lnTo>
                  <a:pt x="8483511" y="120929"/>
                </a:lnTo>
                <a:lnTo>
                  <a:pt x="8453984" y="86512"/>
                </a:lnTo>
                <a:lnTo>
                  <a:pt x="8419566" y="56984"/>
                </a:lnTo>
                <a:lnTo>
                  <a:pt x="8380870" y="32969"/>
                </a:lnTo>
                <a:lnTo>
                  <a:pt x="8338477" y="15062"/>
                </a:lnTo>
                <a:lnTo>
                  <a:pt x="8293011" y="3873"/>
                </a:lnTo>
                <a:lnTo>
                  <a:pt x="8245094" y="0"/>
                </a:lnTo>
                <a:lnTo>
                  <a:pt x="295402" y="0"/>
                </a:lnTo>
                <a:lnTo>
                  <a:pt x="247484" y="3873"/>
                </a:lnTo>
                <a:lnTo>
                  <a:pt x="202031" y="15062"/>
                </a:lnTo>
                <a:lnTo>
                  <a:pt x="159639" y="32969"/>
                </a:lnTo>
                <a:lnTo>
                  <a:pt x="120942" y="56984"/>
                </a:lnTo>
                <a:lnTo>
                  <a:pt x="86512" y="86512"/>
                </a:lnTo>
                <a:lnTo>
                  <a:pt x="56984" y="120929"/>
                </a:lnTo>
                <a:lnTo>
                  <a:pt x="32969" y="159626"/>
                </a:lnTo>
                <a:lnTo>
                  <a:pt x="15049" y="202018"/>
                </a:lnTo>
                <a:lnTo>
                  <a:pt x="3860" y="247484"/>
                </a:lnTo>
                <a:lnTo>
                  <a:pt x="0" y="295402"/>
                </a:lnTo>
                <a:lnTo>
                  <a:pt x="0" y="1477010"/>
                </a:lnTo>
                <a:lnTo>
                  <a:pt x="3860" y="1524939"/>
                </a:lnTo>
                <a:lnTo>
                  <a:pt x="15049" y="1570405"/>
                </a:lnTo>
                <a:lnTo>
                  <a:pt x="32969" y="1612798"/>
                </a:lnTo>
                <a:lnTo>
                  <a:pt x="56984" y="1651495"/>
                </a:lnTo>
                <a:lnTo>
                  <a:pt x="86512" y="1685912"/>
                </a:lnTo>
                <a:lnTo>
                  <a:pt x="120942" y="1715439"/>
                </a:lnTo>
                <a:lnTo>
                  <a:pt x="159639" y="1739455"/>
                </a:lnTo>
                <a:lnTo>
                  <a:pt x="202031" y="1757362"/>
                </a:lnTo>
                <a:lnTo>
                  <a:pt x="247484" y="1768551"/>
                </a:lnTo>
                <a:lnTo>
                  <a:pt x="295402" y="1772412"/>
                </a:lnTo>
                <a:lnTo>
                  <a:pt x="8245094" y="1772412"/>
                </a:lnTo>
                <a:lnTo>
                  <a:pt x="8293011" y="1768551"/>
                </a:lnTo>
                <a:lnTo>
                  <a:pt x="8338477" y="1757362"/>
                </a:lnTo>
                <a:lnTo>
                  <a:pt x="8380870" y="1739455"/>
                </a:lnTo>
                <a:lnTo>
                  <a:pt x="8419566" y="1715439"/>
                </a:lnTo>
                <a:lnTo>
                  <a:pt x="8453984" y="1685912"/>
                </a:lnTo>
                <a:lnTo>
                  <a:pt x="8483511" y="1651495"/>
                </a:lnTo>
                <a:lnTo>
                  <a:pt x="8507527" y="1612798"/>
                </a:lnTo>
                <a:lnTo>
                  <a:pt x="8525434" y="1570405"/>
                </a:lnTo>
                <a:lnTo>
                  <a:pt x="8536622" y="1524939"/>
                </a:lnTo>
                <a:lnTo>
                  <a:pt x="8540496" y="1477010"/>
                </a:lnTo>
                <a:lnTo>
                  <a:pt x="8540496" y="295402"/>
                </a:lnTo>
                <a:close/>
              </a:path>
            </a:pathLst>
          </a:custGeom>
          <a:solidFill>
            <a:srgbClr val="C0504D"/>
          </a:solidFill>
        </p:spPr>
        <p:txBody>
          <a:bodyPr wrap="square" lIns="0" tIns="0" rIns="0" bIns="0" rtlCol="0"/>
          <a:lstStyle/>
          <a:p>
            <a:endParaRPr/>
          </a:p>
        </p:txBody>
      </p:sp>
      <p:sp>
        <p:nvSpPr>
          <p:cNvPr id="4" name="object 4"/>
          <p:cNvSpPr txBox="1"/>
          <p:nvPr/>
        </p:nvSpPr>
        <p:spPr>
          <a:xfrm>
            <a:off x="453644" y="1278890"/>
            <a:ext cx="7418070" cy="2201545"/>
          </a:xfrm>
          <a:prstGeom prst="rect">
            <a:avLst/>
          </a:prstGeom>
        </p:spPr>
        <p:txBody>
          <a:bodyPr vert="horz" wrap="square" lIns="0" tIns="50165" rIns="0" bIns="0" rtlCol="0">
            <a:spAutoFit/>
          </a:bodyPr>
          <a:lstStyle/>
          <a:p>
            <a:pPr marL="278765" marR="5080">
              <a:lnSpc>
                <a:spcPts val="2380"/>
              </a:lnSpc>
              <a:spcBef>
                <a:spcPts val="395"/>
              </a:spcBef>
            </a:pPr>
            <a:r>
              <a:rPr sz="2200" spc="90" dirty="0">
                <a:solidFill>
                  <a:srgbClr val="FFFFFF"/>
                </a:solidFill>
                <a:latin typeface="Arial"/>
                <a:cs typeface="Arial"/>
              </a:rPr>
              <a:t>To </a:t>
            </a:r>
            <a:r>
              <a:rPr sz="2200" spc="-80" dirty="0">
                <a:solidFill>
                  <a:srgbClr val="FFFFFF"/>
                </a:solidFill>
                <a:latin typeface="Arial"/>
                <a:cs typeface="Arial"/>
              </a:rPr>
              <a:t>create </a:t>
            </a:r>
            <a:r>
              <a:rPr sz="2200" spc="-210" dirty="0">
                <a:solidFill>
                  <a:srgbClr val="FFFFFF"/>
                </a:solidFill>
                <a:latin typeface="Arial"/>
                <a:cs typeface="Arial"/>
              </a:rPr>
              <a:t>a </a:t>
            </a:r>
            <a:r>
              <a:rPr sz="2200" spc="-25" dirty="0">
                <a:solidFill>
                  <a:srgbClr val="FFFFFF"/>
                </a:solidFill>
                <a:latin typeface="Arial"/>
                <a:cs typeface="Arial"/>
              </a:rPr>
              <a:t>user-defined </a:t>
            </a:r>
            <a:r>
              <a:rPr sz="2200" spc="-110" dirty="0">
                <a:solidFill>
                  <a:srgbClr val="FFFFFF"/>
                </a:solidFill>
                <a:latin typeface="Arial"/>
                <a:cs typeface="Arial"/>
              </a:rPr>
              <a:t>database, </a:t>
            </a:r>
            <a:r>
              <a:rPr sz="2200" spc="-5" dirty="0">
                <a:solidFill>
                  <a:srgbClr val="FFFFFF"/>
                </a:solidFill>
                <a:latin typeface="Arial"/>
                <a:cs typeface="Arial"/>
              </a:rPr>
              <a:t>the </a:t>
            </a:r>
            <a:r>
              <a:rPr sz="2200" spc="45" dirty="0">
                <a:solidFill>
                  <a:srgbClr val="FFFFFF"/>
                </a:solidFill>
                <a:latin typeface="Arial"/>
                <a:cs typeface="Arial"/>
              </a:rPr>
              <a:t>information</a:t>
            </a:r>
            <a:r>
              <a:rPr sz="2200" spc="-420" dirty="0">
                <a:solidFill>
                  <a:srgbClr val="FFFFFF"/>
                </a:solidFill>
                <a:latin typeface="Arial"/>
                <a:cs typeface="Arial"/>
              </a:rPr>
              <a:t> </a:t>
            </a:r>
            <a:r>
              <a:rPr sz="2200" spc="-5" dirty="0">
                <a:solidFill>
                  <a:srgbClr val="FFFFFF"/>
                </a:solidFill>
                <a:latin typeface="Arial"/>
                <a:cs typeface="Arial"/>
              </a:rPr>
              <a:t>required  </a:t>
            </a:r>
            <a:r>
              <a:rPr sz="2200" spc="-55" dirty="0">
                <a:solidFill>
                  <a:srgbClr val="FFFFFF"/>
                </a:solidFill>
                <a:latin typeface="Arial"/>
                <a:cs typeface="Arial"/>
              </a:rPr>
              <a:t>is </a:t>
            </a:r>
            <a:r>
              <a:rPr sz="2200" spc="-225" dirty="0">
                <a:solidFill>
                  <a:srgbClr val="FFFFFF"/>
                </a:solidFill>
                <a:latin typeface="Arial"/>
                <a:cs typeface="Arial"/>
              </a:rPr>
              <a:t>as</a:t>
            </a:r>
            <a:r>
              <a:rPr sz="2200" spc="-260" dirty="0">
                <a:solidFill>
                  <a:srgbClr val="FFFFFF"/>
                </a:solidFill>
                <a:latin typeface="Arial"/>
                <a:cs typeface="Arial"/>
              </a:rPr>
              <a:t> </a:t>
            </a:r>
            <a:r>
              <a:rPr sz="2200" spc="15" dirty="0">
                <a:solidFill>
                  <a:srgbClr val="FFFFFF"/>
                </a:solidFill>
                <a:latin typeface="Arial"/>
                <a:cs typeface="Arial"/>
              </a:rPr>
              <a:t>follows:</a:t>
            </a:r>
            <a:endParaRPr sz="2200">
              <a:latin typeface="Arial"/>
              <a:cs typeface="Arial"/>
            </a:endParaRPr>
          </a:p>
          <a:p>
            <a:pPr marL="546735" indent="-268605">
              <a:lnSpc>
                <a:spcPts val="1950"/>
              </a:lnSpc>
              <a:buFont typeface="Segoe UI Symbol"/>
              <a:buChar char="➢"/>
              <a:tabLst>
                <a:tab pos="547370" algn="l"/>
              </a:tabLst>
            </a:pPr>
            <a:r>
              <a:rPr sz="1800" spc="-55" dirty="0">
                <a:solidFill>
                  <a:srgbClr val="FFFFFF"/>
                </a:solidFill>
                <a:latin typeface="Arial"/>
                <a:cs typeface="Arial"/>
              </a:rPr>
              <a:t>Name </a:t>
            </a:r>
            <a:r>
              <a:rPr sz="1800" spc="45" dirty="0">
                <a:solidFill>
                  <a:srgbClr val="FFFFFF"/>
                </a:solidFill>
                <a:latin typeface="Arial"/>
                <a:cs typeface="Arial"/>
              </a:rPr>
              <a:t>of </a:t>
            </a:r>
            <a:r>
              <a:rPr sz="1800" dirty="0">
                <a:solidFill>
                  <a:srgbClr val="FFFFFF"/>
                </a:solidFill>
                <a:latin typeface="Arial"/>
                <a:cs typeface="Arial"/>
              </a:rPr>
              <a:t>the</a:t>
            </a:r>
            <a:r>
              <a:rPr sz="1800" spc="-335" dirty="0">
                <a:solidFill>
                  <a:srgbClr val="FFFFFF"/>
                </a:solidFill>
                <a:latin typeface="Arial"/>
                <a:cs typeface="Arial"/>
              </a:rPr>
              <a:t> </a:t>
            </a:r>
            <a:r>
              <a:rPr sz="1800" spc="-95" dirty="0">
                <a:solidFill>
                  <a:srgbClr val="FFFFFF"/>
                </a:solidFill>
                <a:latin typeface="Arial"/>
                <a:cs typeface="Arial"/>
              </a:rPr>
              <a:t>database</a:t>
            </a:r>
            <a:endParaRPr sz="1800">
              <a:latin typeface="Arial"/>
              <a:cs typeface="Arial"/>
            </a:endParaRPr>
          </a:p>
          <a:p>
            <a:pPr marL="546735" indent="-268605">
              <a:lnSpc>
                <a:spcPts val="1945"/>
              </a:lnSpc>
              <a:buFont typeface="Segoe UI Symbol"/>
              <a:buChar char="➢"/>
              <a:tabLst>
                <a:tab pos="547370" algn="l"/>
              </a:tabLst>
            </a:pPr>
            <a:r>
              <a:rPr sz="1800" spc="30" dirty="0">
                <a:solidFill>
                  <a:srgbClr val="FFFFFF"/>
                </a:solidFill>
                <a:latin typeface="Arial"/>
                <a:cs typeface="Arial"/>
              </a:rPr>
              <a:t>Owner</a:t>
            </a:r>
            <a:r>
              <a:rPr sz="1800" spc="-114" dirty="0">
                <a:solidFill>
                  <a:srgbClr val="FFFFFF"/>
                </a:solidFill>
                <a:latin typeface="Arial"/>
                <a:cs typeface="Arial"/>
              </a:rPr>
              <a:t> </a:t>
            </a:r>
            <a:r>
              <a:rPr sz="1800" spc="25" dirty="0">
                <a:solidFill>
                  <a:srgbClr val="FFFFFF"/>
                </a:solidFill>
                <a:latin typeface="Arial"/>
                <a:cs typeface="Arial"/>
              </a:rPr>
              <a:t>or</a:t>
            </a:r>
            <a:r>
              <a:rPr sz="1800" spc="-110" dirty="0">
                <a:solidFill>
                  <a:srgbClr val="FFFFFF"/>
                </a:solidFill>
                <a:latin typeface="Arial"/>
                <a:cs typeface="Arial"/>
              </a:rPr>
              <a:t> </a:t>
            </a:r>
            <a:r>
              <a:rPr sz="1800" spc="-25" dirty="0">
                <a:solidFill>
                  <a:srgbClr val="FFFFFF"/>
                </a:solidFill>
                <a:latin typeface="Arial"/>
                <a:cs typeface="Arial"/>
              </a:rPr>
              <a:t>creator</a:t>
            </a:r>
            <a:r>
              <a:rPr sz="1800" spc="-125" dirty="0">
                <a:solidFill>
                  <a:srgbClr val="FFFFFF"/>
                </a:solidFill>
                <a:latin typeface="Arial"/>
                <a:cs typeface="Arial"/>
              </a:rPr>
              <a:t> </a:t>
            </a:r>
            <a:r>
              <a:rPr sz="1800" spc="45" dirty="0">
                <a:solidFill>
                  <a:srgbClr val="FFFFFF"/>
                </a:solidFill>
                <a:latin typeface="Arial"/>
                <a:cs typeface="Arial"/>
              </a:rPr>
              <a:t>of</a:t>
            </a:r>
            <a:r>
              <a:rPr sz="1800" spc="-11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95" dirty="0">
                <a:solidFill>
                  <a:srgbClr val="FFFFFF"/>
                </a:solidFill>
                <a:latin typeface="Arial"/>
                <a:cs typeface="Arial"/>
              </a:rPr>
              <a:t>database</a:t>
            </a:r>
            <a:endParaRPr sz="1800">
              <a:latin typeface="Arial"/>
              <a:cs typeface="Arial"/>
            </a:endParaRPr>
          </a:p>
          <a:p>
            <a:pPr marL="546735" indent="-268605">
              <a:lnSpc>
                <a:spcPts val="1945"/>
              </a:lnSpc>
              <a:buFont typeface="Segoe UI Symbol"/>
              <a:buChar char="➢"/>
              <a:tabLst>
                <a:tab pos="547370" algn="l"/>
              </a:tabLst>
            </a:pPr>
            <a:r>
              <a:rPr sz="1800" spc="-100" dirty="0">
                <a:solidFill>
                  <a:srgbClr val="FFFFFF"/>
                </a:solidFill>
                <a:latin typeface="Arial"/>
                <a:cs typeface="Arial"/>
              </a:rPr>
              <a:t>Size </a:t>
            </a:r>
            <a:r>
              <a:rPr sz="1800" spc="45" dirty="0">
                <a:solidFill>
                  <a:srgbClr val="FFFFFF"/>
                </a:solidFill>
                <a:latin typeface="Arial"/>
                <a:cs typeface="Arial"/>
              </a:rPr>
              <a:t>of </a:t>
            </a:r>
            <a:r>
              <a:rPr sz="1800" dirty="0">
                <a:solidFill>
                  <a:srgbClr val="FFFFFF"/>
                </a:solidFill>
                <a:latin typeface="Arial"/>
                <a:cs typeface="Arial"/>
              </a:rPr>
              <a:t>the</a:t>
            </a:r>
            <a:r>
              <a:rPr sz="1800" spc="-290" dirty="0">
                <a:solidFill>
                  <a:srgbClr val="FFFFFF"/>
                </a:solidFill>
                <a:latin typeface="Arial"/>
                <a:cs typeface="Arial"/>
              </a:rPr>
              <a:t> </a:t>
            </a:r>
            <a:r>
              <a:rPr sz="1800" spc="-95" dirty="0">
                <a:solidFill>
                  <a:srgbClr val="FFFFFF"/>
                </a:solidFill>
                <a:latin typeface="Arial"/>
                <a:cs typeface="Arial"/>
              </a:rPr>
              <a:t>database</a:t>
            </a:r>
            <a:endParaRPr sz="1800">
              <a:latin typeface="Arial"/>
              <a:cs typeface="Arial"/>
            </a:endParaRPr>
          </a:p>
          <a:p>
            <a:pPr marL="546735" indent="-268605">
              <a:lnSpc>
                <a:spcPts val="2050"/>
              </a:lnSpc>
              <a:buFont typeface="Segoe UI Symbol"/>
              <a:buChar char="➢"/>
              <a:tabLst>
                <a:tab pos="547370" algn="l"/>
              </a:tabLst>
            </a:pPr>
            <a:r>
              <a:rPr sz="1800" spc="-50" dirty="0">
                <a:solidFill>
                  <a:srgbClr val="FFFFFF"/>
                </a:solidFill>
                <a:latin typeface="Arial"/>
                <a:cs typeface="Arial"/>
              </a:rPr>
              <a:t>Files</a:t>
            </a:r>
            <a:r>
              <a:rPr sz="1800" spc="-114" dirty="0">
                <a:solidFill>
                  <a:srgbClr val="FFFFFF"/>
                </a:solidFill>
                <a:latin typeface="Arial"/>
                <a:cs typeface="Arial"/>
              </a:rPr>
              <a:t> </a:t>
            </a:r>
            <a:r>
              <a:rPr sz="1800" spc="-35" dirty="0">
                <a:solidFill>
                  <a:srgbClr val="FFFFFF"/>
                </a:solidFill>
                <a:latin typeface="Arial"/>
                <a:cs typeface="Arial"/>
              </a:rPr>
              <a:t>and</a:t>
            </a:r>
            <a:r>
              <a:rPr sz="1800" spc="-120" dirty="0">
                <a:solidFill>
                  <a:srgbClr val="FFFFFF"/>
                </a:solidFill>
                <a:latin typeface="Arial"/>
                <a:cs typeface="Arial"/>
              </a:rPr>
              <a:t> </a:t>
            </a:r>
            <a:r>
              <a:rPr sz="1800" spc="-5" dirty="0">
                <a:solidFill>
                  <a:srgbClr val="FFFFFF"/>
                </a:solidFill>
                <a:latin typeface="Arial"/>
                <a:cs typeface="Arial"/>
              </a:rPr>
              <a:t>filegroups</a:t>
            </a:r>
            <a:r>
              <a:rPr sz="1800" spc="-105" dirty="0">
                <a:solidFill>
                  <a:srgbClr val="FFFFFF"/>
                </a:solidFill>
                <a:latin typeface="Arial"/>
                <a:cs typeface="Arial"/>
              </a:rPr>
              <a:t> </a:t>
            </a:r>
            <a:r>
              <a:rPr sz="1800" spc="-80" dirty="0">
                <a:solidFill>
                  <a:srgbClr val="FFFFFF"/>
                </a:solidFill>
                <a:latin typeface="Arial"/>
                <a:cs typeface="Arial"/>
              </a:rPr>
              <a:t>used</a:t>
            </a:r>
            <a:r>
              <a:rPr sz="1800" spc="-120"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spc="-35" dirty="0">
                <a:solidFill>
                  <a:srgbClr val="FFFFFF"/>
                </a:solidFill>
                <a:latin typeface="Arial"/>
                <a:cs typeface="Arial"/>
              </a:rPr>
              <a:t>store</a:t>
            </a:r>
            <a:r>
              <a:rPr sz="1800" spc="-114" dirty="0">
                <a:solidFill>
                  <a:srgbClr val="FFFFFF"/>
                </a:solidFill>
                <a:latin typeface="Arial"/>
                <a:cs typeface="Arial"/>
              </a:rPr>
              <a:t> </a:t>
            </a:r>
            <a:r>
              <a:rPr sz="1800" spc="105" dirty="0">
                <a:solidFill>
                  <a:srgbClr val="FFFFFF"/>
                </a:solidFill>
                <a:latin typeface="Arial"/>
                <a:cs typeface="Arial"/>
              </a:rPr>
              <a:t>it</a:t>
            </a:r>
            <a:endParaRPr sz="1800">
              <a:latin typeface="Arial"/>
              <a:cs typeface="Arial"/>
            </a:endParaRPr>
          </a:p>
          <a:p>
            <a:pPr marL="12700">
              <a:lnSpc>
                <a:spcPct val="100000"/>
              </a:lnSpc>
              <a:spcBef>
                <a:spcPts val="1785"/>
              </a:spcBef>
            </a:pPr>
            <a:r>
              <a:rPr sz="2000" spc="20" dirty="0">
                <a:latin typeface="Arial"/>
                <a:cs typeface="Arial"/>
              </a:rPr>
              <a:t>Following</a:t>
            </a:r>
            <a:r>
              <a:rPr sz="2000" spc="-105" dirty="0">
                <a:latin typeface="Arial"/>
                <a:cs typeface="Arial"/>
              </a:rPr>
              <a:t> </a:t>
            </a:r>
            <a:r>
              <a:rPr sz="2000" spc="-50" dirty="0">
                <a:latin typeface="Arial"/>
                <a:cs typeface="Arial"/>
              </a:rPr>
              <a:t>is</a:t>
            </a:r>
            <a:r>
              <a:rPr sz="2000" spc="-140" dirty="0">
                <a:latin typeface="Arial"/>
                <a:cs typeface="Arial"/>
              </a:rPr>
              <a:t> </a:t>
            </a:r>
            <a:r>
              <a:rPr sz="2000" dirty="0">
                <a:latin typeface="Arial"/>
                <a:cs typeface="Arial"/>
              </a:rPr>
              <a:t>the</a:t>
            </a:r>
            <a:r>
              <a:rPr sz="2000" spc="-120" dirty="0">
                <a:latin typeface="Arial"/>
                <a:cs typeface="Arial"/>
              </a:rPr>
              <a:t> </a:t>
            </a:r>
            <a:r>
              <a:rPr sz="2000" spc="-20" dirty="0">
                <a:latin typeface="Arial"/>
                <a:cs typeface="Arial"/>
              </a:rPr>
              <a:t>syntax</a:t>
            </a:r>
            <a:r>
              <a:rPr sz="2000" spc="-114" dirty="0">
                <a:latin typeface="Arial"/>
                <a:cs typeface="Arial"/>
              </a:rPr>
              <a:t> </a:t>
            </a:r>
            <a:r>
              <a:rPr sz="2000" spc="50" dirty="0">
                <a:latin typeface="Arial"/>
                <a:cs typeface="Arial"/>
              </a:rPr>
              <a:t>to</a:t>
            </a:r>
            <a:r>
              <a:rPr sz="2000" spc="-130" dirty="0">
                <a:latin typeface="Arial"/>
                <a:cs typeface="Arial"/>
              </a:rPr>
              <a:t> </a:t>
            </a:r>
            <a:r>
              <a:rPr sz="2000" spc="-75" dirty="0">
                <a:latin typeface="Arial"/>
                <a:cs typeface="Arial"/>
              </a:rPr>
              <a:t>create</a:t>
            </a:r>
            <a:r>
              <a:rPr sz="2000" spc="-114" dirty="0">
                <a:latin typeface="Arial"/>
                <a:cs typeface="Arial"/>
              </a:rPr>
              <a:t> </a:t>
            </a:r>
            <a:r>
              <a:rPr sz="2000" spc="-195" dirty="0">
                <a:latin typeface="Arial"/>
                <a:cs typeface="Arial"/>
              </a:rPr>
              <a:t>a</a:t>
            </a:r>
            <a:r>
              <a:rPr sz="2000" spc="-135" dirty="0">
                <a:latin typeface="Arial"/>
                <a:cs typeface="Arial"/>
              </a:rPr>
              <a:t> </a:t>
            </a:r>
            <a:r>
              <a:rPr sz="2000" spc="-25" dirty="0">
                <a:latin typeface="Arial"/>
                <a:cs typeface="Arial"/>
              </a:rPr>
              <a:t>user-defined</a:t>
            </a:r>
            <a:r>
              <a:rPr sz="2000" spc="-130" dirty="0">
                <a:latin typeface="Arial"/>
                <a:cs typeface="Arial"/>
              </a:rPr>
              <a:t> </a:t>
            </a:r>
            <a:r>
              <a:rPr sz="2000" spc="-100" dirty="0">
                <a:latin typeface="Arial"/>
                <a:cs typeface="Arial"/>
              </a:rPr>
              <a:t>database.</a:t>
            </a:r>
            <a:endParaRPr sz="2000">
              <a:latin typeface="Arial"/>
              <a:cs typeface="Arial"/>
            </a:endParaRPr>
          </a:p>
        </p:txBody>
      </p:sp>
      <p:pic>
        <p:nvPicPr>
          <p:cNvPr id="5" name="object 5"/>
          <p:cNvPicPr/>
          <p:nvPr/>
        </p:nvPicPr>
        <p:blipFill>
          <a:blip r:embed="rId3" cstate="print"/>
          <a:stretch>
            <a:fillRect/>
          </a:stretch>
        </p:blipFill>
        <p:spPr>
          <a:xfrm>
            <a:off x="656081" y="3724655"/>
            <a:ext cx="7447026" cy="2217420"/>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6</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9268" y="1055369"/>
            <a:ext cx="8782050" cy="1881505"/>
            <a:chOff x="239268" y="1055369"/>
            <a:chExt cx="8782050" cy="1881505"/>
          </a:xfrm>
        </p:grpSpPr>
        <p:pic>
          <p:nvPicPr>
            <p:cNvPr id="3" name="object 3"/>
            <p:cNvPicPr/>
            <p:nvPr/>
          </p:nvPicPr>
          <p:blipFill>
            <a:blip r:embed="rId3" cstate="print"/>
            <a:stretch>
              <a:fillRect/>
            </a:stretch>
          </p:blipFill>
          <p:spPr>
            <a:xfrm>
              <a:off x="239268" y="1055369"/>
              <a:ext cx="8782050" cy="1881377"/>
            </a:xfrm>
            <a:prstGeom prst="rect">
              <a:avLst/>
            </a:prstGeom>
          </p:spPr>
        </p:pic>
        <p:sp>
          <p:nvSpPr>
            <p:cNvPr id="4" name="object 4"/>
            <p:cNvSpPr/>
            <p:nvPr/>
          </p:nvSpPr>
          <p:spPr>
            <a:xfrm>
              <a:off x="299465" y="1095755"/>
              <a:ext cx="8669020" cy="1767839"/>
            </a:xfrm>
            <a:custGeom>
              <a:avLst/>
              <a:gdLst/>
              <a:ahLst/>
              <a:cxnLst/>
              <a:rect l="l" t="t" r="r" b="b"/>
              <a:pathLst>
                <a:path w="8669020" h="1767839">
                  <a:moveTo>
                    <a:pt x="8373872" y="0"/>
                  </a:moveTo>
                  <a:lnTo>
                    <a:pt x="294652" y="0"/>
                  </a:lnTo>
                  <a:lnTo>
                    <a:pt x="246857" y="3857"/>
                  </a:lnTo>
                  <a:lnTo>
                    <a:pt x="201517" y="15024"/>
                  </a:lnTo>
                  <a:lnTo>
                    <a:pt x="159240" y="32894"/>
                  </a:lnTo>
                  <a:lnTo>
                    <a:pt x="120632" y="56859"/>
                  </a:lnTo>
                  <a:lnTo>
                    <a:pt x="86299" y="86312"/>
                  </a:lnTo>
                  <a:lnTo>
                    <a:pt x="56849" y="120645"/>
                  </a:lnTo>
                  <a:lnTo>
                    <a:pt x="32887" y="159252"/>
                  </a:lnTo>
                  <a:lnTo>
                    <a:pt x="15021" y="201525"/>
                  </a:lnTo>
                  <a:lnTo>
                    <a:pt x="3856" y="246857"/>
                  </a:lnTo>
                  <a:lnTo>
                    <a:pt x="0" y="294639"/>
                  </a:lnTo>
                  <a:lnTo>
                    <a:pt x="0" y="1473199"/>
                  </a:lnTo>
                  <a:lnTo>
                    <a:pt x="3856" y="1520982"/>
                  </a:lnTo>
                  <a:lnTo>
                    <a:pt x="15021" y="1566314"/>
                  </a:lnTo>
                  <a:lnTo>
                    <a:pt x="32887" y="1608587"/>
                  </a:lnTo>
                  <a:lnTo>
                    <a:pt x="56849" y="1647194"/>
                  </a:lnTo>
                  <a:lnTo>
                    <a:pt x="86299" y="1681527"/>
                  </a:lnTo>
                  <a:lnTo>
                    <a:pt x="120632" y="1710980"/>
                  </a:lnTo>
                  <a:lnTo>
                    <a:pt x="159240" y="1734945"/>
                  </a:lnTo>
                  <a:lnTo>
                    <a:pt x="201517" y="1752815"/>
                  </a:lnTo>
                  <a:lnTo>
                    <a:pt x="246857" y="1763982"/>
                  </a:lnTo>
                  <a:lnTo>
                    <a:pt x="294652" y="1767839"/>
                  </a:lnTo>
                  <a:lnTo>
                    <a:pt x="8373872" y="1767839"/>
                  </a:lnTo>
                  <a:lnTo>
                    <a:pt x="8421654" y="1763982"/>
                  </a:lnTo>
                  <a:lnTo>
                    <a:pt x="8466986" y="1752815"/>
                  </a:lnTo>
                  <a:lnTo>
                    <a:pt x="8509259" y="1734945"/>
                  </a:lnTo>
                  <a:lnTo>
                    <a:pt x="8547866" y="1710980"/>
                  </a:lnTo>
                  <a:lnTo>
                    <a:pt x="8582199" y="1681527"/>
                  </a:lnTo>
                  <a:lnTo>
                    <a:pt x="8611652" y="1647194"/>
                  </a:lnTo>
                  <a:lnTo>
                    <a:pt x="8635617" y="1608587"/>
                  </a:lnTo>
                  <a:lnTo>
                    <a:pt x="8653487" y="1566314"/>
                  </a:lnTo>
                  <a:lnTo>
                    <a:pt x="8664654" y="1520982"/>
                  </a:lnTo>
                  <a:lnTo>
                    <a:pt x="8668512" y="1473199"/>
                  </a:lnTo>
                  <a:lnTo>
                    <a:pt x="8668512" y="294639"/>
                  </a:lnTo>
                  <a:lnTo>
                    <a:pt x="8664654" y="246857"/>
                  </a:lnTo>
                  <a:lnTo>
                    <a:pt x="8653487" y="201525"/>
                  </a:lnTo>
                  <a:lnTo>
                    <a:pt x="8635617" y="159252"/>
                  </a:lnTo>
                  <a:lnTo>
                    <a:pt x="8611652" y="120645"/>
                  </a:lnTo>
                  <a:lnTo>
                    <a:pt x="8582199" y="86312"/>
                  </a:lnTo>
                  <a:lnTo>
                    <a:pt x="8547866" y="56859"/>
                  </a:lnTo>
                  <a:lnTo>
                    <a:pt x="8509259" y="32894"/>
                  </a:lnTo>
                  <a:lnTo>
                    <a:pt x="8466986" y="15024"/>
                  </a:lnTo>
                  <a:lnTo>
                    <a:pt x="8421654" y="3857"/>
                  </a:lnTo>
                  <a:lnTo>
                    <a:pt x="8373872" y="0"/>
                  </a:lnTo>
                  <a:close/>
                </a:path>
              </a:pathLst>
            </a:custGeom>
            <a:solidFill>
              <a:srgbClr val="4AACC5"/>
            </a:solidFill>
          </p:spPr>
          <p:txBody>
            <a:bodyPr wrap="square" lIns="0" tIns="0" rIns="0" bIns="0" rtlCol="0"/>
            <a:lstStyle/>
            <a:p>
              <a:endParaRPr/>
            </a:p>
          </p:txBody>
        </p:sp>
        <p:sp>
          <p:nvSpPr>
            <p:cNvPr id="5" name="object 5"/>
            <p:cNvSpPr/>
            <p:nvPr/>
          </p:nvSpPr>
          <p:spPr>
            <a:xfrm>
              <a:off x="299465" y="1095755"/>
              <a:ext cx="8669020" cy="1767839"/>
            </a:xfrm>
            <a:custGeom>
              <a:avLst/>
              <a:gdLst/>
              <a:ahLst/>
              <a:cxnLst/>
              <a:rect l="l" t="t" r="r" b="b"/>
              <a:pathLst>
                <a:path w="8669020" h="1767839">
                  <a:moveTo>
                    <a:pt x="0" y="294639"/>
                  </a:moveTo>
                  <a:lnTo>
                    <a:pt x="3856" y="246857"/>
                  </a:lnTo>
                  <a:lnTo>
                    <a:pt x="15021" y="201525"/>
                  </a:lnTo>
                  <a:lnTo>
                    <a:pt x="32887" y="159252"/>
                  </a:lnTo>
                  <a:lnTo>
                    <a:pt x="56849" y="120645"/>
                  </a:lnTo>
                  <a:lnTo>
                    <a:pt x="86299" y="86312"/>
                  </a:lnTo>
                  <a:lnTo>
                    <a:pt x="120632" y="56859"/>
                  </a:lnTo>
                  <a:lnTo>
                    <a:pt x="159240" y="32894"/>
                  </a:lnTo>
                  <a:lnTo>
                    <a:pt x="201517" y="15024"/>
                  </a:lnTo>
                  <a:lnTo>
                    <a:pt x="246857" y="3857"/>
                  </a:lnTo>
                  <a:lnTo>
                    <a:pt x="294652" y="0"/>
                  </a:lnTo>
                  <a:lnTo>
                    <a:pt x="8373872" y="0"/>
                  </a:lnTo>
                  <a:lnTo>
                    <a:pt x="8421654" y="3857"/>
                  </a:lnTo>
                  <a:lnTo>
                    <a:pt x="8466986" y="15024"/>
                  </a:lnTo>
                  <a:lnTo>
                    <a:pt x="8509259" y="32894"/>
                  </a:lnTo>
                  <a:lnTo>
                    <a:pt x="8547866" y="56859"/>
                  </a:lnTo>
                  <a:lnTo>
                    <a:pt x="8582199" y="86312"/>
                  </a:lnTo>
                  <a:lnTo>
                    <a:pt x="8611652" y="120645"/>
                  </a:lnTo>
                  <a:lnTo>
                    <a:pt x="8635617" y="159252"/>
                  </a:lnTo>
                  <a:lnTo>
                    <a:pt x="8653487" y="201525"/>
                  </a:lnTo>
                  <a:lnTo>
                    <a:pt x="8664654" y="246857"/>
                  </a:lnTo>
                  <a:lnTo>
                    <a:pt x="8668512" y="294639"/>
                  </a:lnTo>
                  <a:lnTo>
                    <a:pt x="8668512" y="1473199"/>
                  </a:lnTo>
                  <a:lnTo>
                    <a:pt x="8664654" y="1520982"/>
                  </a:lnTo>
                  <a:lnTo>
                    <a:pt x="8653487" y="1566314"/>
                  </a:lnTo>
                  <a:lnTo>
                    <a:pt x="8635617" y="1608587"/>
                  </a:lnTo>
                  <a:lnTo>
                    <a:pt x="8611652" y="1647194"/>
                  </a:lnTo>
                  <a:lnTo>
                    <a:pt x="8582199" y="1681527"/>
                  </a:lnTo>
                  <a:lnTo>
                    <a:pt x="8547866" y="1710980"/>
                  </a:lnTo>
                  <a:lnTo>
                    <a:pt x="8509259" y="1734945"/>
                  </a:lnTo>
                  <a:lnTo>
                    <a:pt x="8466986" y="1752815"/>
                  </a:lnTo>
                  <a:lnTo>
                    <a:pt x="8421654" y="1763982"/>
                  </a:lnTo>
                  <a:lnTo>
                    <a:pt x="8373872" y="1767839"/>
                  </a:lnTo>
                  <a:lnTo>
                    <a:pt x="294652" y="1767839"/>
                  </a:lnTo>
                  <a:lnTo>
                    <a:pt x="246857" y="1763982"/>
                  </a:lnTo>
                  <a:lnTo>
                    <a:pt x="201517" y="1752815"/>
                  </a:lnTo>
                  <a:lnTo>
                    <a:pt x="159240" y="1734945"/>
                  </a:lnTo>
                  <a:lnTo>
                    <a:pt x="120632" y="1710980"/>
                  </a:lnTo>
                  <a:lnTo>
                    <a:pt x="86299" y="1681527"/>
                  </a:lnTo>
                  <a:lnTo>
                    <a:pt x="56849" y="1647194"/>
                  </a:lnTo>
                  <a:lnTo>
                    <a:pt x="32887" y="1608587"/>
                  </a:lnTo>
                  <a:lnTo>
                    <a:pt x="15021" y="1566314"/>
                  </a:lnTo>
                  <a:lnTo>
                    <a:pt x="3856" y="1520982"/>
                  </a:lnTo>
                  <a:lnTo>
                    <a:pt x="0" y="1473199"/>
                  </a:lnTo>
                  <a:lnTo>
                    <a:pt x="0" y="294639"/>
                  </a:lnTo>
                  <a:close/>
                </a:path>
              </a:pathLst>
            </a:custGeom>
            <a:ln w="38100">
              <a:solidFill>
                <a:srgbClr val="FFFFFF"/>
              </a:solidFill>
            </a:ln>
          </p:spPr>
          <p:txBody>
            <a:bodyPr wrap="square" lIns="0" tIns="0" rIns="0" bIns="0" rtlCol="0"/>
            <a:lstStyle/>
            <a:p>
              <a:endParaRPr/>
            </a:p>
          </p:txBody>
        </p:sp>
      </p:grpSp>
      <p:sp>
        <p:nvSpPr>
          <p:cNvPr id="6" name="object 6"/>
          <p:cNvSpPr txBox="1"/>
          <p:nvPr/>
        </p:nvSpPr>
        <p:spPr>
          <a:xfrm>
            <a:off x="436626" y="1345691"/>
            <a:ext cx="8392795" cy="1153160"/>
          </a:xfrm>
          <a:prstGeom prst="rect">
            <a:avLst/>
          </a:prstGeom>
        </p:spPr>
        <p:txBody>
          <a:bodyPr vert="horz" wrap="square" lIns="0" tIns="46990" rIns="0" bIns="0" rtlCol="0">
            <a:spAutoFit/>
          </a:bodyPr>
          <a:lstStyle/>
          <a:p>
            <a:pPr marL="12700" marR="5080" algn="just">
              <a:lnSpc>
                <a:spcPts val="2160"/>
              </a:lnSpc>
              <a:spcBef>
                <a:spcPts val="370"/>
              </a:spcBef>
            </a:pPr>
            <a:r>
              <a:rPr sz="2000" spc="20" dirty="0">
                <a:solidFill>
                  <a:srgbClr val="FFFFFF"/>
                </a:solidFill>
                <a:latin typeface="Arial"/>
                <a:cs typeface="Arial"/>
              </a:rPr>
              <a:t>SQL </a:t>
            </a:r>
            <a:r>
              <a:rPr sz="2000" spc="-50" dirty="0">
                <a:solidFill>
                  <a:srgbClr val="FFFFFF"/>
                </a:solidFill>
                <a:latin typeface="Arial"/>
                <a:cs typeface="Arial"/>
              </a:rPr>
              <a:t>Server </a:t>
            </a:r>
            <a:r>
              <a:rPr sz="2000" spc="-120" dirty="0">
                <a:solidFill>
                  <a:srgbClr val="FFFFFF"/>
                </a:solidFill>
                <a:latin typeface="Arial"/>
                <a:cs typeface="Arial"/>
              </a:rPr>
              <a:t>databases use </a:t>
            </a:r>
            <a:r>
              <a:rPr sz="2000" spc="50" dirty="0">
                <a:solidFill>
                  <a:srgbClr val="FFFFFF"/>
                </a:solidFill>
                <a:latin typeface="Arial"/>
                <a:cs typeface="Arial"/>
              </a:rPr>
              <a:t>two </a:t>
            </a:r>
            <a:r>
              <a:rPr sz="2000" spc="-10" dirty="0">
                <a:solidFill>
                  <a:srgbClr val="FFFFFF"/>
                </a:solidFill>
                <a:latin typeface="Arial"/>
                <a:cs typeface="Arial"/>
              </a:rPr>
              <a:t>files </a:t>
            </a:r>
            <a:r>
              <a:rPr sz="2000" spc="10" dirty="0">
                <a:solidFill>
                  <a:srgbClr val="FFFFFF"/>
                </a:solidFill>
                <a:latin typeface="Arial"/>
                <a:cs typeface="Arial"/>
              </a:rPr>
              <a:t>- </a:t>
            </a:r>
            <a:r>
              <a:rPr sz="2000" spc="-65" dirty="0">
                <a:solidFill>
                  <a:srgbClr val="FFFFFF"/>
                </a:solidFill>
                <a:latin typeface="Arial"/>
                <a:cs typeface="Arial"/>
              </a:rPr>
              <a:t>an </a:t>
            </a:r>
            <a:r>
              <a:rPr sz="2000" spc="20" dirty="0">
                <a:solidFill>
                  <a:srgbClr val="FFFFFF"/>
                </a:solidFill>
                <a:latin typeface="Arial"/>
                <a:cs typeface="Arial"/>
              </a:rPr>
              <a:t>.mdf </a:t>
            </a:r>
            <a:r>
              <a:rPr sz="2000" spc="25" dirty="0">
                <a:solidFill>
                  <a:srgbClr val="FFFFFF"/>
                </a:solidFill>
                <a:latin typeface="Arial"/>
                <a:cs typeface="Arial"/>
              </a:rPr>
              <a:t>file, </a:t>
            </a:r>
            <a:r>
              <a:rPr sz="2000" spc="50" dirty="0">
                <a:solidFill>
                  <a:srgbClr val="FFFFFF"/>
                </a:solidFill>
                <a:latin typeface="Arial"/>
                <a:cs typeface="Arial"/>
              </a:rPr>
              <a:t>known </a:t>
            </a:r>
            <a:r>
              <a:rPr sz="2000" spc="-204" dirty="0">
                <a:solidFill>
                  <a:srgbClr val="FFFFFF"/>
                </a:solidFill>
                <a:latin typeface="Arial"/>
                <a:cs typeface="Arial"/>
              </a:rPr>
              <a:t>as </a:t>
            </a:r>
            <a:r>
              <a:rPr sz="2000" dirty="0">
                <a:solidFill>
                  <a:srgbClr val="FFFFFF"/>
                </a:solidFill>
                <a:latin typeface="Arial"/>
                <a:cs typeface="Arial"/>
              </a:rPr>
              <a:t>the </a:t>
            </a:r>
            <a:r>
              <a:rPr sz="2000" spc="10" dirty="0">
                <a:solidFill>
                  <a:srgbClr val="FFFFFF"/>
                </a:solidFill>
                <a:latin typeface="Arial"/>
                <a:cs typeface="Arial"/>
              </a:rPr>
              <a:t>primary  </a:t>
            </a:r>
            <a:r>
              <a:rPr sz="2000" spc="-105" dirty="0">
                <a:solidFill>
                  <a:srgbClr val="FFFFFF"/>
                </a:solidFill>
                <a:latin typeface="Arial"/>
                <a:cs typeface="Arial"/>
              </a:rPr>
              <a:t>database </a:t>
            </a:r>
            <a:r>
              <a:rPr sz="2000" spc="25" dirty="0">
                <a:solidFill>
                  <a:srgbClr val="FFFFFF"/>
                </a:solidFill>
                <a:latin typeface="Arial"/>
                <a:cs typeface="Arial"/>
              </a:rPr>
              <a:t>file, </a:t>
            </a:r>
            <a:r>
              <a:rPr sz="2000" spc="10" dirty="0">
                <a:solidFill>
                  <a:srgbClr val="FFFFFF"/>
                </a:solidFill>
                <a:latin typeface="Arial"/>
                <a:cs typeface="Arial"/>
              </a:rPr>
              <a:t>containing </a:t>
            </a:r>
            <a:r>
              <a:rPr sz="2000" dirty="0">
                <a:solidFill>
                  <a:srgbClr val="FFFFFF"/>
                </a:solidFill>
                <a:latin typeface="Arial"/>
                <a:cs typeface="Arial"/>
              </a:rPr>
              <a:t>the </a:t>
            </a:r>
            <a:r>
              <a:rPr sz="2000" spc="-110" dirty="0">
                <a:solidFill>
                  <a:srgbClr val="FFFFFF"/>
                </a:solidFill>
                <a:latin typeface="Arial"/>
                <a:cs typeface="Arial"/>
              </a:rPr>
              <a:t>schema </a:t>
            </a:r>
            <a:r>
              <a:rPr sz="2000" spc="-35" dirty="0">
                <a:solidFill>
                  <a:srgbClr val="FFFFFF"/>
                </a:solidFill>
                <a:latin typeface="Arial"/>
                <a:cs typeface="Arial"/>
              </a:rPr>
              <a:t>and </a:t>
            </a:r>
            <a:r>
              <a:rPr sz="2000" spc="-60" dirty="0">
                <a:solidFill>
                  <a:srgbClr val="FFFFFF"/>
                </a:solidFill>
                <a:latin typeface="Arial"/>
                <a:cs typeface="Arial"/>
              </a:rPr>
              <a:t>data </a:t>
            </a:r>
            <a:r>
              <a:rPr sz="2000" spc="-40" dirty="0">
                <a:solidFill>
                  <a:srgbClr val="FFFFFF"/>
                </a:solidFill>
                <a:latin typeface="Arial"/>
                <a:cs typeface="Arial"/>
              </a:rPr>
              <a:t>and </a:t>
            </a:r>
            <a:r>
              <a:rPr sz="2000" spc="-195" dirty="0">
                <a:solidFill>
                  <a:srgbClr val="FFFFFF"/>
                </a:solidFill>
                <a:latin typeface="Arial"/>
                <a:cs typeface="Arial"/>
              </a:rPr>
              <a:t>a </a:t>
            </a:r>
            <a:r>
              <a:rPr sz="2000" spc="50" dirty="0">
                <a:solidFill>
                  <a:srgbClr val="FFFFFF"/>
                </a:solidFill>
                <a:latin typeface="Arial"/>
                <a:cs typeface="Arial"/>
              </a:rPr>
              <a:t>.ldf </a:t>
            </a:r>
            <a:r>
              <a:rPr sz="2000" spc="25" dirty="0">
                <a:solidFill>
                  <a:srgbClr val="FFFFFF"/>
                </a:solidFill>
                <a:latin typeface="Arial"/>
                <a:cs typeface="Arial"/>
              </a:rPr>
              <a:t>file, </a:t>
            </a:r>
            <a:r>
              <a:rPr sz="2000" spc="35" dirty="0">
                <a:solidFill>
                  <a:srgbClr val="FFFFFF"/>
                </a:solidFill>
                <a:latin typeface="Arial"/>
                <a:cs typeface="Arial"/>
              </a:rPr>
              <a:t>which </a:t>
            </a:r>
            <a:r>
              <a:rPr sz="2000" spc="-20" dirty="0">
                <a:solidFill>
                  <a:srgbClr val="FFFFFF"/>
                </a:solidFill>
                <a:latin typeface="Arial"/>
                <a:cs typeface="Arial"/>
              </a:rPr>
              <a:t>contains  </a:t>
            </a:r>
            <a:r>
              <a:rPr sz="2000" dirty="0">
                <a:solidFill>
                  <a:srgbClr val="FFFFFF"/>
                </a:solidFill>
                <a:latin typeface="Arial"/>
                <a:cs typeface="Arial"/>
              </a:rPr>
              <a:t>the </a:t>
            </a:r>
            <a:r>
              <a:rPr sz="2000" spc="-65" dirty="0">
                <a:solidFill>
                  <a:srgbClr val="FFFFFF"/>
                </a:solidFill>
                <a:latin typeface="Arial"/>
                <a:cs typeface="Arial"/>
              </a:rPr>
              <a:t>logs. </a:t>
            </a:r>
            <a:r>
              <a:rPr sz="2000" spc="285" dirty="0">
                <a:solidFill>
                  <a:srgbClr val="FFFFFF"/>
                </a:solidFill>
                <a:latin typeface="Arial"/>
                <a:cs typeface="Arial"/>
              </a:rPr>
              <a:t>A </a:t>
            </a:r>
            <a:r>
              <a:rPr sz="2000" spc="-105" dirty="0">
                <a:solidFill>
                  <a:srgbClr val="FFFFFF"/>
                </a:solidFill>
                <a:latin typeface="Arial"/>
                <a:cs typeface="Arial"/>
              </a:rPr>
              <a:t>database </a:t>
            </a:r>
            <a:r>
              <a:rPr sz="2000" spc="-70" dirty="0">
                <a:solidFill>
                  <a:srgbClr val="FFFFFF"/>
                </a:solidFill>
                <a:latin typeface="Arial"/>
                <a:cs typeface="Arial"/>
              </a:rPr>
              <a:t>may </a:t>
            </a:r>
            <a:r>
              <a:rPr sz="2000" spc="-80" dirty="0">
                <a:solidFill>
                  <a:srgbClr val="FFFFFF"/>
                </a:solidFill>
                <a:latin typeface="Arial"/>
                <a:cs typeface="Arial"/>
              </a:rPr>
              <a:t>also </a:t>
            </a:r>
            <a:r>
              <a:rPr sz="2000" spc="-120" dirty="0">
                <a:solidFill>
                  <a:srgbClr val="FFFFFF"/>
                </a:solidFill>
                <a:latin typeface="Arial"/>
                <a:cs typeface="Arial"/>
              </a:rPr>
              <a:t>use </a:t>
            </a:r>
            <a:r>
              <a:rPr sz="2000" spc="-60" dirty="0">
                <a:solidFill>
                  <a:srgbClr val="FFFFFF"/>
                </a:solidFill>
                <a:latin typeface="Arial"/>
                <a:cs typeface="Arial"/>
              </a:rPr>
              <a:t>secondary </a:t>
            </a:r>
            <a:r>
              <a:rPr sz="2000" spc="-105" dirty="0">
                <a:solidFill>
                  <a:srgbClr val="FFFFFF"/>
                </a:solidFill>
                <a:latin typeface="Arial"/>
                <a:cs typeface="Arial"/>
              </a:rPr>
              <a:t>database </a:t>
            </a:r>
            <a:r>
              <a:rPr sz="2000" spc="25" dirty="0">
                <a:solidFill>
                  <a:srgbClr val="FFFFFF"/>
                </a:solidFill>
                <a:latin typeface="Arial"/>
                <a:cs typeface="Arial"/>
              </a:rPr>
              <a:t>file, </a:t>
            </a:r>
            <a:r>
              <a:rPr sz="2000" spc="35" dirty="0">
                <a:solidFill>
                  <a:srgbClr val="FFFFFF"/>
                </a:solidFill>
                <a:latin typeface="Arial"/>
                <a:cs typeface="Arial"/>
              </a:rPr>
              <a:t>which </a:t>
            </a:r>
            <a:r>
              <a:rPr sz="2000" spc="15" dirty="0">
                <a:solidFill>
                  <a:srgbClr val="FFFFFF"/>
                </a:solidFill>
                <a:latin typeface="Arial"/>
                <a:cs typeface="Arial"/>
              </a:rPr>
              <a:t>normally  </a:t>
            </a:r>
            <a:r>
              <a:rPr sz="2000" spc="-145" dirty="0">
                <a:solidFill>
                  <a:srgbClr val="FFFFFF"/>
                </a:solidFill>
                <a:latin typeface="Arial"/>
                <a:cs typeface="Arial"/>
              </a:rPr>
              <a:t>uses </a:t>
            </a:r>
            <a:r>
              <a:rPr sz="2000" spc="-65" dirty="0">
                <a:solidFill>
                  <a:srgbClr val="FFFFFF"/>
                </a:solidFill>
                <a:latin typeface="Arial"/>
                <a:cs typeface="Arial"/>
              </a:rPr>
              <a:t>an </a:t>
            </a:r>
            <a:r>
              <a:rPr sz="2000" spc="40" dirty="0">
                <a:solidFill>
                  <a:srgbClr val="FFFFFF"/>
                </a:solidFill>
                <a:latin typeface="Arial"/>
                <a:cs typeface="Arial"/>
              </a:rPr>
              <a:t>.ndf</a:t>
            </a:r>
            <a:r>
              <a:rPr sz="2000" spc="-180" dirty="0">
                <a:solidFill>
                  <a:srgbClr val="FFFFFF"/>
                </a:solidFill>
                <a:latin typeface="Arial"/>
                <a:cs typeface="Arial"/>
              </a:rPr>
              <a:t> </a:t>
            </a:r>
            <a:r>
              <a:rPr sz="2000" spc="-20" dirty="0">
                <a:solidFill>
                  <a:srgbClr val="FFFFFF"/>
                </a:solidFill>
                <a:latin typeface="Arial"/>
                <a:cs typeface="Arial"/>
              </a:rPr>
              <a:t>extension.</a:t>
            </a:r>
            <a:endParaRPr sz="2000">
              <a:latin typeface="Arial"/>
              <a:cs typeface="Arial"/>
            </a:endParaRPr>
          </a:p>
        </p:txBody>
      </p:sp>
      <p:sp>
        <p:nvSpPr>
          <p:cNvPr id="7" name="object 7"/>
          <p:cNvSpPr/>
          <p:nvPr/>
        </p:nvSpPr>
        <p:spPr>
          <a:xfrm>
            <a:off x="308610" y="3237737"/>
            <a:ext cx="8669655" cy="1310005"/>
          </a:xfrm>
          <a:custGeom>
            <a:avLst/>
            <a:gdLst/>
            <a:ahLst/>
            <a:cxnLst/>
            <a:rect l="l" t="t" r="r" b="b"/>
            <a:pathLst>
              <a:path w="8669655" h="1310004">
                <a:moveTo>
                  <a:pt x="8669274" y="218313"/>
                </a:moveTo>
                <a:lnTo>
                  <a:pt x="8663495" y="168275"/>
                </a:lnTo>
                <a:lnTo>
                  <a:pt x="8647074" y="122326"/>
                </a:lnTo>
                <a:lnTo>
                  <a:pt x="8621293" y="81800"/>
                </a:lnTo>
                <a:lnTo>
                  <a:pt x="8587473" y="47980"/>
                </a:lnTo>
                <a:lnTo>
                  <a:pt x="8546948" y="22199"/>
                </a:lnTo>
                <a:lnTo>
                  <a:pt x="8500999" y="5778"/>
                </a:lnTo>
                <a:lnTo>
                  <a:pt x="8450961" y="0"/>
                </a:lnTo>
                <a:lnTo>
                  <a:pt x="218313" y="0"/>
                </a:lnTo>
                <a:lnTo>
                  <a:pt x="168249" y="5778"/>
                </a:lnTo>
                <a:lnTo>
                  <a:pt x="122301" y="22199"/>
                </a:lnTo>
                <a:lnTo>
                  <a:pt x="81762" y="47980"/>
                </a:lnTo>
                <a:lnTo>
                  <a:pt x="47955" y="81800"/>
                </a:lnTo>
                <a:lnTo>
                  <a:pt x="22186" y="122326"/>
                </a:lnTo>
                <a:lnTo>
                  <a:pt x="5753" y="168275"/>
                </a:lnTo>
                <a:lnTo>
                  <a:pt x="0" y="218313"/>
                </a:lnTo>
                <a:lnTo>
                  <a:pt x="0" y="1091565"/>
                </a:lnTo>
                <a:lnTo>
                  <a:pt x="5753" y="1141615"/>
                </a:lnTo>
                <a:lnTo>
                  <a:pt x="22186" y="1187564"/>
                </a:lnTo>
                <a:lnTo>
                  <a:pt x="47955" y="1228090"/>
                </a:lnTo>
                <a:lnTo>
                  <a:pt x="81762" y="1261910"/>
                </a:lnTo>
                <a:lnTo>
                  <a:pt x="122301" y="1287691"/>
                </a:lnTo>
                <a:lnTo>
                  <a:pt x="168249" y="1304112"/>
                </a:lnTo>
                <a:lnTo>
                  <a:pt x="218313" y="1309878"/>
                </a:lnTo>
                <a:lnTo>
                  <a:pt x="8450961" y="1309878"/>
                </a:lnTo>
                <a:lnTo>
                  <a:pt x="8500999" y="1304112"/>
                </a:lnTo>
                <a:lnTo>
                  <a:pt x="8546948" y="1287691"/>
                </a:lnTo>
                <a:lnTo>
                  <a:pt x="8587473" y="1261910"/>
                </a:lnTo>
                <a:lnTo>
                  <a:pt x="8621293" y="1228090"/>
                </a:lnTo>
                <a:lnTo>
                  <a:pt x="8647074" y="1187564"/>
                </a:lnTo>
                <a:lnTo>
                  <a:pt x="8663495" y="1141615"/>
                </a:lnTo>
                <a:lnTo>
                  <a:pt x="8669274" y="1091565"/>
                </a:lnTo>
                <a:lnTo>
                  <a:pt x="8669274" y="218313"/>
                </a:lnTo>
                <a:close/>
              </a:path>
            </a:pathLst>
          </a:custGeom>
          <a:solidFill>
            <a:srgbClr val="C0504D"/>
          </a:solidFill>
        </p:spPr>
        <p:txBody>
          <a:bodyPr wrap="square" lIns="0" tIns="0" rIns="0" bIns="0" rtlCol="0"/>
          <a:lstStyle/>
          <a:p>
            <a:endParaRPr/>
          </a:p>
        </p:txBody>
      </p:sp>
      <p:sp>
        <p:nvSpPr>
          <p:cNvPr id="8" name="object 8"/>
          <p:cNvSpPr txBox="1"/>
          <p:nvPr/>
        </p:nvSpPr>
        <p:spPr>
          <a:xfrm>
            <a:off x="446023" y="3321811"/>
            <a:ext cx="6971665" cy="1086485"/>
          </a:xfrm>
          <a:prstGeom prst="rect">
            <a:avLst/>
          </a:prstGeom>
        </p:spPr>
        <p:txBody>
          <a:bodyPr vert="horz" wrap="square" lIns="0" tIns="12065" rIns="0" bIns="0" rtlCol="0">
            <a:spAutoFit/>
          </a:bodyPr>
          <a:lstStyle/>
          <a:p>
            <a:pPr marL="12700">
              <a:lnSpc>
                <a:spcPts val="2355"/>
              </a:lnSpc>
              <a:spcBef>
                <a:spcPts val="95"/>
              </a:spcBef>
            </a:pPr>
            <a:r>
              <a:rPr sz="2000" spc="60" dirty="0">
                <a:solidFill>
                  <a:srgbClr val="FFFFFF"/>
                </a:solidFill>
                <a:latin typeface="Arial"/>
                <a:cs typeface="Arial"/>
              </a:rPr>
              <a:t>MDF</a:t>
            </a:r>
            <a:r>
              <a:rPr sz="2000" spc="-125" dirty="0">
                <a:solidFill>
                  <a:srgbClr val="FFFFFF"/>
                </a:solidFill>
                <a:latin typeface="Arial"/>
                <a:cs typeface="Arial"/>
              </a:rPr>
              <a:t> </a:t>
            </a:r>
            <a:r>
              <a:rPr sz="2000" spc="-70" dirty="0">
                <a:solidFill>
                  <a:srgbClr val="FFFFFF"/>
                </a:solidFill>
                <a:latin typeface="Arial"/>
                <a:cs typeface="Arial"/>
              </a:rPr>
              <a:t>stands</a:t>
            </a:r>
            <a:r>
              <a:rPr sz="2000" spc="-114" dirty="0">
                <a:solidFill>
                  <a:srgbClr val="FFFFFF"/>
                </a:solidFill>
                <a:latin typeface="Arial"/>
                <a:cs typeface="Arial"/>
              </a:rPr>
              <a:t> </a:t>
            </a:r>
            <a:r>
              <a:rPr sz="2000" spc="65" dirty="0">
                <a:solidFill>
                  <a:srgbClr val="FFFFFF"/>
                </a:solidFill>
                <a:latin typeface="Arial"/>
                <a:cs typeface="Arial"/>
              </a:rPr>
              <a:t>for</a:t>
            </a:r>
            <a:r>
              <a:rPr sz="2000" spc="-130" dirty="0">
                <a:solidFill>
                  <a:srgbClr val="FFFFFF"/>
                </a:solidFill>
                <a:latin typeface="Arial"/>
                <a:cs typeface="Arial"/>
              </a:rPr>
              <a:t> </a:t>
            </a:r>
            <a:r>
              <a:rPr sz="2000" spc="-35" dirty="0">
                <a:solidFill>
                  <a:srgbClr val="FFFFFF"/>
                </a:solidFill>
                <a:latin typeface="Arial"/>
                <a:cs typeface="Arial"/>
              </a:rPr>
              <a:t>Master</a:t>
            </a:r>
            <a:r>
              <a:rPr sz="2000" spc="-110" dirty="0">
                <a:solidFill>
                  <a:srgbClr val="FFFFFF"/>
                </a:solidFill>
                <a:latin typeface="Arial"/>
                <a:cs typeface="Arial"/>
              </a:rPr>
              <a:t> </a:t>
            </a:r>
            <a:r>
              <a:rPr sz="2000" spc="-90" dirty="0">
                <a:solidFill>
                  <a:srgbClr val="FFFFFF"/>
                </a:solidFill>
                <a:latin typeface="Arial"/>
                <a:cs typeface="Arial"/>
              </a:rPr>
              <a:t>Database</a:t>
            </a:r>
            <a:r>
              <a:rPr sz="2000" spc="-110" dirty="0">
                <a:solidFill>
                  <a:srgbClr val="FFFFFF"/>
                </a:solidFill>
                <a:latin typeface="Arial"/>
                <a:cs typeface="Arial"/>
              </a:rPr>
              <a:t> </a:t>
            </a:r>
            <a:r>
              <a:rPr sz="2000" spc="-25" dirty="0">
                <a:solidFill>
                  <a:srgbClr val="FFFFFF"/>
                </a:solidFill>
                <a:latin typeface="Arial"/>
                <a:cs typeface="Arial"/>
              </a:rPr>
              <a:t>File.</a:t>
            </a:r>
            <a:endParaRPr sz="2000">
              <a:latin typeface="Arial"/>
              <a:cs typeface="Arial"/>
            </a:endParaRPr>
          </a:p>
          <a:p>
            <a:pPr marL="280670" indent="-268605">
              <a:lnSpc>
                <a:spcPts val="2005"/>
              </a:lnSpc>
              <a:buFont typeface="Segoe UI Symbol"/>
              <a:buChar char="➢"/>
              <a:tabLst>
                <a:tab pos="281305" algn="l"/>
              </a:tabLst>
            </a:pPr>
            <a:r>
              <a:rPr sz="1800" spc="100" dirty="0">
                <a:solidFill>
                  <a:srgbClr val="FFFFFF"/>
                </a:solidFill>
                <a:latin typeface="Arial"/>
                <a:cs typeface="Arial"/>
              </a:rPr>
              <a:t>It</a:t>
            </a:r>
            <a:r>
              <a:rPr sz="1800" spc="-120" dirty="0">
                <a:solidFill>
                  <a:srgbClr val="FFFFFF"/>
                </a:solidFill>
                <a:latin typeface="Arial"/>
                <a:cs typeface="Arial"/>
              </a:rPr>
              <a:t> </a:t>
            </a:r>
            <a:r>
              <a:rPr sz="1800" spc="-15" dirty="0">
                <a:solidFill>
                  <a:srgbClr val="FFFFFF"/>
                </a:solidFill>
                <a:latin typeface="Arial"/>
                <a:cs typeface="Arial"/>
              </a:rPr>
              <a:t>contains</a:t>
            </a:r>
            <a:r>
              <a:rPr sz="1800" spc="-120" dirty="0">
                <a:solidFill>
                  <a:srgbClr val="FFFFFF"/>
                </a:solidFill>
                <a:latin typeface="Arial"/>
                <a:cs typeface="Arial"/>
              </a:rPr>
              <a:t> </a:t>
            </a:r>
            <a:r>
              <a:rPr sz="1800" spc="-5" dirty="0">
                <a:solidFill>
                  <a:srgbClr val="FFFFFF"/>
                </a:solidFill>
                <a:latin typeface="Arial"/>
                <a:cs typeface="Arial"/>
              </a:rPr>
              <a:t>main</a:t>
            </a:r>
            <a:r>
              <a:rPr sz="1800" spc="-114" dirty="0">
                <a:solidFill>
                  <a:srgbClr val="FFFFFF"/>
                </a:solidFill>
                <a:latin typeface="Arial"/>
                <a:cs typeface="Arial"/>
              </a:rPr>
              <a:t> </a:t>
            </a:r>
            <a:r>
              <a:rPr sz="1800" spc="40" dirty="0">
                <a:solidFill>
                  <a:srgbClr val="FFFFFF"/>
                </a:solidFill>
                <a:latin typeface="Arial"/>
                <a:cs typeface="Arial"/>
              </a:rPr>
              <a:t>information</a:t>
            </a:r>
            <a:r>
              <a:rPr sz="1800" spc="-114" dirty="0">
                <a:solidFill>
                  <a:srgbClr val="FFFFFF"/>
                </a:solidFill>
                <a:latin typeface="Arial"/>
                <a:cs typeface="Arial"/>
              </a:rPr>
              <a:t> </a:t>
            </a:r>
            <a:r>
              <a:rPr sz="1800" spc="50" dirty="0">
                <a:solidFill>
                  <a:srgbClr val="FFFFFF"/>
                </a:solidFill>
                <a:latin typeface="Arial"/>
                <a:cs typeface="Arial"/>
              </a:rPr>
              <a:t>of</a:t>
            </a:r>
            <a:r>
              <a:rPr sz="1800" spc="-110" dirty="0">
                <a:solidFill>
                  <a:srgbClr val="FFFFFF"/>
                </a:solidFill>
                <a:latin typeface="Arial"/>
                <a:cs typeface="Arial"/>
              </a:rPr>
              <a:t> </a:t>
            </a:r>
            <a:r>
              <a:rPr sz="1800" spc="-175" dirty="0">
                <a:solidFill>
                  <a:srgbClr val="FFFFFF"/>
                </a:solidFill>
                <a:latin typeface="Arial"/>
                <a:cs typeface="Arial"/>
              </a:rPr>
              <a:t>a</a:t>
            </a:r>
            <a:r>
              <a:rPr sz="1800" spc="-125" dirty="0">
                <a:solidFill>
                  <a:srgbClr val="FFFFFF"/>
                </a:solidFill>
                <a:latin typeface="Arial"/>
                <a:cs typeface="Arial"/>
              </a:rPr>
              <a:t> </a:t>
            </a:r>
            <a:r>
              <a:rPr sz="1800" spc="-95" dirty="0">
                <a:solidFill>
                  <a:srgbClr val="FFFFFF"/>
                </a:solidFill>
                <a:latin typeface="Arial"/>
                <a:cs typeface="Arial"/>
              </a:rPr>
              <a:t>database</a:t>
            </a:r>
            <a:r>
              <a:rPr sz="1800" spc="-130" dirty="0">
                <a:solidFill>
                  <a:srgbClr val="FFFFFF"/>
                </a:solidFill>
                <a:latin typeface="Arial"/>
                <a:cs typeface="Arial"/>
              </a:rPr>
              <a:t> </a:t>
            </a:r>
            <a:r>
              <a:rPr sz="1800" spc="25" dirty="0">
                <a:solidFill>
                  <a:srgbClr val="FFFFFF"/>
                </a:solidFill>
                <a:latin typeface="Arial"/>
                <a:cs typeface="Arial"/>
              </a:rPr>
              <a:t>that</a:t>
            </a:r>
            <a:r>
              <a:rPr sz="1800" spc="-125" dirty="0">
                <a:solidFill>
                  <a:srgbClr val="FFFFFF"/>
                </a:solidFill>
                <a:latin typeface="Arial"/>
                <a:cs typeface="Arial"/>
              </a:rPr>
              <a:t> </a:t>
            </a:r>
            <a:r>
              <a:rPr sz="1800" spc="-90" dirty="0">
                <a:solidFill>
                  <a:srgbClr val="FFFFFF"/>
                </a:solidFill>
                <a:latin typeface="Arial"/>
                <a:cs typeface="Arial"/>
              </a:rPr>
              <a:t>are</a:t>
            </a:r>
            <a:r>
              <a:rPr sz="1800" spc="-125" dirty="0">
                <a:solidFill>
                  <a:srgbClr val="FFFFFF"/>
                </a:solidFill>
                <a:latin typeface="Arial"/>
                <a:cs typeface="Arial"/>
              </a:rPr>
              <a:t> </a:t>
            </a:r>
            <a:r>
              <a:rPr sz="1800" spc="5" dirty="0">
                <a:solidFill>
                  <a:srgbClr val="FFFFFF"/>
                </a:solidFill>
                <a:latin typeface="Arial"/>
                <a:cs typeface="Arial"/>
              </a:rPr>
              <a:t>part</a:t>
            </a:r>
            <a:r>
              <a:rPr sz="1800" spc="-120" dirty="0">
                <a:solidFill>
                  <a:srgbClr val="FFFFFF"/>
                </a:solidFill>
                <a:latin typeface="Arial"/>
                <a:cs typeface="Arial"/>
              </a:rPr>
              <a:t> </a:t>
            </a:r>
            <a:r>
              <a:rPr sz="1800" spc="50" dirty="0">
                <a:solidFill>
                  <a:srgbClr val="FFFFFF"/>
                </a:solidFill>
                <a:latin typeface="Arial"/>
                <a:cs typeface="Arial"/>
              </a:rPr>
              <a:t>of</a:t>
            </a:r>
            <a:r>
              <a:rPr sz="1800" spc="-114" dirty="0">
                <a:solidFill>
                  <a:srgbClr val="FFFFFF"/>
                </a:solidFill>
                <a:latin typeface="Arial"/>
                <a:cs typeface="Arial"/>
              </a:rPr>
              <a:t> </a:t>
            </a:r>
            <a:r>
              <a:rPr sz="1800" dirty="0">
                <a:solidFill>
                  <a:srgbClr val="FFFFFF"/>
                </a:solidFill>
                <a:latin typeface="Arial"/>
                <a:cs typeface="Arial"/>
              </a:rPr>
              <a:t>the</a:t>
            </a:r>
            <a:r>
              <a:rPr sz="1800" spc="-120" dirty="0">
                <a:solidFill>
                  <a:srgbClr val="FFFFFF"/>
                </a:solidFill>
                <a:latin typeface="Arial"/>
                <a:cs typeface="Arial"/>
              </a:rPr>
              <a:t> </a:t>
            </a:r>
            <a:r>
              <a:rPr sz="1800" spc="-55" dirty="0">
                <a:solidFill>
                  <a:srgbClr val="FFFFFF"/>
                </a:solidFill>
                <a:latin typeface="Arial"/>
                <a:cs typeface="Arial"/>
              </a:rPr>
              <a:t>server.</a:t>
            </a:r>
            <a:endParaRPr sz="1800">
              <a:latin typeface="Arial"/>
              <a:cs typeface="Arial"/>
            </a:endParaRPr>
          </a:p>
          <a:p>
            <a:pPr marL="280670" indent="-268605">
              <a:lnSpc>
                <a:spcPts val="1945"/>
              </a:lnSpc>
              <a:buFont typeface="Segoe UI Symbol"/>
              <a:buChar char="➢"/>
              <a:tabLst>
                <a:tab pos="281305" algn="l"/>
              </a:tabLst>
            </a:pPr>
            <a:r>
              <a:rPr sz="1800" spc="35" dirty="0">
                <a:solidFill>
                  <a:srgbClr val="FFFFFF"/>
                </a:solidFill>
                <a:latin typeface="Arial"/>
                <a:cs typeface="Arial"/>
              </a:rPr>
              <a:t>This</a:t>
            </a:r>
            <a:r>
              <a:rPr sz="1800" spc="-105" dirty="0">
                <a:solidFill>
                  <a:srgbClr val="FFFFFF"/>
                </a:solidFill>
                <a:latin typeface="Arial"/>
                <a:cs typeface="Arial"/>
              </a:rPr>
              <a:t> </a:t>
            </a:r>
            <a:r>
              <a:rPr sz="1800" spc="-15" dirty="0">
                <a:solidFill>
                  <a:srgbClr val="FFFFFF"/>
                </a:solidFill>
                <a:latin typeface="Arial"/>
                <a:cs typeface="Arial"/>
              </a:rPr>
              <a:t>extension</a:t>
            </a:r>
            <a:r>
              <a:rPr sz="1800" spc="-110" dirty="0">
                <a:solidFill>
                  <a:srgbClr val="FFFFFF"/>
                </a:solidFill>
                <a:latin typeface="Arial"/>
                <a:cs typeface="Arial"/>
              </a:rPr>
              <a:t> </a:t>
            </a:r>
            <a:r>
              <a:rPr sz="1800" spc="-70" dirty="0">
                <a:solidFill>
                  <a:srgbClr val="FFFFFF"/>
                </a:solidFill>
                <a:latin typeface="Arial"/>
                <a:cs typeface="Arial"/>
              </a:rPr>
              <a:t>also</a:t>
            </a:r>
            <a:r>
              <a:rPr sz="1800" spc="-120" dirty="0">
                <a:solidFill>
                  <a:srgbClr val="FFFFFF"/>
                </a:solidFill>
                <a:latin typeface="Arial"/>
                <a:cs typeface="Arial"/>
              </a:rPr>
              <a:t> </a:t>
            </a:r>
            <a:r>
              <a:rPr sz="1800" spc="10" dirty="0">
                <a:solidFill>
                  <a:srgbClr val="FFFFFF"/>
                </a:solidFill>
                <a:latin typeface="Arial"/>
                <a:cs typeface="Arial"/>
              </a:rPr>
              <a:t>points</a:t>
            </a:r>
            <a:r>
              <a:rPr sz="1800" spc="-105" dirty="0">
                <a:solidFill>
                  <a:srgbClr val="FFFFFF"/>
                </a:solidFill>
                <a:latin typeface="Arial"/>
                <a:cs typeface="Arial"/>
              </a:rPr>
              <a:t> </a:t>
            </a:r>
            <a:r>
              <a:rPr sz="1800" spc="45" dirty="0">
                <a:solidFill>
                  <a:srgbClr val="FFFFFF"/>
                </a:solidFill>
                <a:latin typeface="Arial"/>
                <a:cs typeface="Arial"/>
              </a:rPr>
              <a:t>to</a:t>
            </a:r>
            <a:r>
              <a:rPr sz="1800" spc="-120" dirty="0">
                <a:solidFill>
                  <a:srgbClr val="FFFFFF"/>
                </a:solidFill>
                <a:latin typeface="Arial"/>
                <a:cs typeface="Arial"/>
              </a:rPr>
              <a:t> </a:t>
            </a:r>
            <a:r>
              <a:rPr sz="1800" spc="-20" dirty="0">
                <a:solidFill>
                  <a:srgbClr val="FFFFFF"/>
                </a:solidFill>
                <a:latin typeface="Arial"/>
                <a:cs typeface="Arial"/>
              </a:rPr>
              <a:t>various</a:t>
            </a:r>
            <a:r>
              <a:rPr sz="1800" spc="-114" dirty="0">
                <a:solidFill>
                  <a:srgbClr val="FFFFFF"/>
                </a:solidFill>
                <a:latin typeface="Arial"/>
                <a:cs typeface="Arial"/>
              </a:rPr>
              <a:t> </a:t>
            </a:r>
            <a:r>
              <a:rPr sz="1800" spc="10" dirty="0">
                <a:solidFill>
                  <a:srgbClr val="FFFFFF"/>
                </a:solidFill>
                <a:latin typeface="Arial"/>
                <a:cs typeface="Arial"/>
              </a:rPr>
              <a:t>other</a:t>
            </a:r>
            <a:r>
              <a:rPr sz="1800" spc="-105" dirty="0">
                <a:solidFill>
                  <a:srgbClr val="FFFFFF"/>
                </a:solidFill>
                <a:latin typeface="Arial"/>
                <a:cs typeface="Arial"/>
              </a:rPr>
              <a:t> </a:t>
            </a:r>
            <a:r>
              <a:rPr sz="1800" spc="-15" dirty="0">
                <a:solidFill>
                  <a:srgbClr val="FFFFFF"/>
                </a:solidFill>
                <a:latin typeface="Arial"/>
                <a:cs typeface="Arial"/>
              </a:rPr>
              <a:t>files.</a:t>
            </a:r>
            <a:endParaRPr sz="1800">
              <a:latin typeface="Arial"/>
              <a:cs typeface="Arial"/>
            </a:endParaRPr>
          </a:p>
          <a:p>
            <a:pPr marL="280670" indent="-268605">
              <a:lnSpc>
                <a:spcPts val="2050"/>
              </a:lnSpc>
              <a:buFont typeface="Segoe UI Symbol"/>
              <a:buChar char="➢"/>
              <a:tabLst>
                <a:tab pos="281305" algn="l"/>
              </a:tabLst>
            </a:pPr>
            <a:r>
              <a:rPr sz="1800" spc="-95" dirty="0">
                <a:solidFill>
                  <a:srgbClr val="FFFFFF"/>
                </a:solidFill>
                <a:latin typeface="Arial"/>
                <a:cs typeface="Arial"/>
              </a:rPr>
              <a:t>Plays</a:t>
            </a:r>
            <a:r>
              <a:rPr sz="1800" spc="-114"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5" dirty="0">
                <a:solidFill>
                  <a:srgbClr val="FFFFFF"/>
                </a:solidFill>
                <a:latin typeface="Arial"/>
                <a:cs typeface="Arial"/>
              </a:rPr>
              <a:t>crucial</a:t>
            </a:r>
            <a:r>
              <a:rPr sz="1800" spc="-130" dirty="0">
                <a:solidFill>
                  <a:srgbClr val="FFFFFF"/>
                </a:solidFill>
                <a:latin typeface="Arial"/>
                <a:cs typeface="Arial"/>
              </a:rPr>
              <a:t> </a:t>
            </a:r>
            <a:r>
              <a:rPr sz="1800" spc="-5" dirty="0">
                <a:solidFill>
                  <a:srgbClr val="FFFFFF"/>
                </a:solidFill>
                <a:latin typeface="Arial"/>
                <a:cs typeface="Arial"/>
              </a:rPr>
              <a:t>role</a:t>
            </a:r>
            <a:r>
              <a:rPr sz="1800" spc="-114"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spc="40" dirty="0">
                <a:solidFill>
                  <a:srgbClr val="FFFFFF"/>
                </a:solidFill>
                <a:latin typeface="Arial"/>
                <a:cs typeface="Arial"/>
              </a:rPr>
              <a:t>information</a:t>
            </a:r>
            <a:r>
              <a:rPr sz="1800" spc="-114" dirty="0">
                <a:solidFill>
                  <a:srgbClr val="FFFFFF"/>
                </a:solidFill>
                <a:latin typeface="Arial"/>
                <a:cs typeface="Arial"/>
              </a:rPr>
              <a:t> </a:t>
            </a:r>
            <a:r>
              <a:rPr sz="1800" spc="-70" dirty="0">
                <a:solidFill>
                  <a:srgbClr val="FFFFFF"/>
                </a:solidFill>
                <a:latin typeface="Arial"/>
                <a:cs typeface="Arial"/>
              </a:rPr>
              <a:t>storage.</a:t>
            </a:r>
            <a:endParaRPr sz="1800">
              <a:latin typeface="Arial"/>
              <a:cs typeface="Arial"/>
            </a:endParaRPr>
          </a:p>
        </p:txBody>
      </p:sp>
      <p:sp>
        <p:nvSpPr>
          <p:cNvPr id="9" name="object 9"/>
          <p:cNvSpPr txBox="1">
            <a:spLocks noGrp="1"/>
          </p:cNvSpPr>
          <p:nvPr>
            <p:ph type="title"/>
          </p:nvPr>
        </p:nvSpPr>
        <p:spPr>
          <a:xfrm>
            <a:off x="128270" y="44449"/>
            <a:ext cx="8675370" cy="574675"/>
          </a:xfrm>
          <a:prstGeom prst="rect">
            <a:avLst/>
          </a:prstGeom>
        </p:spPr>
        <p:txBody>
          <a:bodyPr vert="horz" wrap="square" lIns="0" tIns="12700" rIns="0" bIns="0" rtlCol="0">
            <a:spAutoFit/>
          </a:bodyPr>
          <a:lstStyle/>
          <a:p>
            <a:pPr marL="12700">
              <a:lnSpc>
                <a:spcPct val="100000"/>
              </a:lnSpc>
              <a:spcBef>
                <a:spcPts val="100"/>
              </a:spcBef>
            </a:pPr>
            <a:r>
              <a:rPr sz="3600" spc="15" dirty="0"/>
              <a:t>Creating</a:t>
            </a:r>
            <a:r>
              <a:rPr sz="3600" spc="-265" dirty="0"/>
              <a:t> </a:t>
            </a:r>
            <a:r>
              <a:rPr sz="3600" spc="-185" dirty="0"/>
              <a:t>Databases</a:t>
            </a:r>
            <a:r>
              <a:rPr sz="3600" spc="-250" dirty="0"/>
              <a:t> </a:t>
            </a:r>
            <a:r>
              <a:rPr sz="3600" spc="10" dirty="0"/>
              <a:t>Using</a:t>
            </a:r>
            <a:r>
              <a:rPr sz="3600" spc="-240" dirty="0"/>
              <a:t> </a:t>
            </a:r>
            <a:r>
              <a:rPr sz="3600" spc="-25" dirty="0"/>
              <a:t>Transact-SQL</a:t>
            </a:r>
            <a:r>
              <a:rPr sz="3600" spc="-240" dirty="0"/>
              <a:t> </a:t>
            </a:r>
            <a:r>
              <a:rPr sz="3600" spc="-285" dirty="0"/>
              <a:t>2-3</a:t>
            </a:r>
            <a:endParaRPr sz="3600"/>
          </a:p>
        </p:txBody>
      </p:sp>
      <p:sp>
        <p:nvSpPr>
          <p:cNvPr id="10" name="object 10"/>
          <p:cNvSpPr/>
          <p:nvPr/>
        </p:nvSpPr>
        <p:spPr>
          <a:xfrm>
            <a:off x="289560" y="4929377"/>
            <a:ext cx="8688705" cy="1310005"/>
          </a:xfrm>
          <a:custGeom>
            <a:avLst/>
            <a:gdLst/>
            <a:ahLst/>
            <a:cxnLst/>
            <a:rect l="l" t="t" r="r" b="b"/>
            <a:pathLst>
              <a:path w="8688705" h="1310004">
                <a:moveTo>
                  <a:pt x="8688324" y="218313"/>
                </a:moveTo>
                <a:lnTo>
                  <a:pt x="8682545" y="168275"/>
                </a:lnTo>
                <a:lnTo>
                  <a:pt x="8666124" y="122326"/>
                </a:lnTo>
                <a:lnTo>
                  <a:pt x="8640343" y="81800"/>
                </a:lnTo>
                <a:lnTo>
                  <a:pt x="8606523" y="47980"/>
                </a:lnTo>
                <a:lnTo>
                  <a:pt x="8565998" y="22199"/>
                </a:lnTo>
                <a:lnTo>
                  <a:pt x="8520049" y="5778"/>
                </a:lnTo>
                <a:lnTo>
                  <a:pt x="8470011" y="0"/>
                </a:lnTo>
                <a:lnTo>
                  <a:pt x="218325" y="0"/>
                </a:lnTo>
                <a:lnTo>
                  <a:pt x="168262" y="5778"/>
                </a:lnTo>
                <a:lnTo>
                  <a:pt x="122301" y="22199"/>
                </a:lnTo>
                <a:lnTo>
                  <a:pt x="81762" y="47980"/>
                </a:lnTo>
                <a:lnTo>
                  <a:pt x="47955" y="81800"/>
                </a:lnTo>
                <a:lnTo>
                  <a:pt x="22186" y="122326"/>
                </a:lnTo>
                <a:lnTo>
                  <a:pt x="5753" y="168275"/>
                </a:lnTo>
                <a:lnTo>
                  <a:pt x="0" y="218313"/>
                </a:lnTo>
                <a:lnTo>
                  <a:pt x="0" y="1091552"/>
                </a:lnTo>
                <a:lnTo>
                  <a:pt x="5753" y="1141615"/>
                </a:lnTo>
                <a:lnTo>
                  <a:pt x="22186" y="1187577"/>
                </a:lnTo>
                <a:lnTo>
                  <a:pt x="47955" y="1228102"/>
                </a:lnTo>
                <a:lnTo>
                  <a:pt x="81762" y="1261922"/>
                </a:lnTo>
                <a:lnTo>
                  <a:pt x="122301" y="1287691"/>
                </a:lnTo>
                <a:lnTo>
                  <a:pt x="168262" y="1304112"/>
                </a:lnTo>
                <a:lnTo>
                  <a:pt x="218325" y="1309878"/>
                </a:lnTo>
                <a:lnTo>
                  <a:pt x="8470011" y="1309878"/>
                </a:lnTo>
                <a:lnTo>
                  <a:pt x="8520049" y="1304112"/>
                </a:lnTo>
                <a:lnTo>
                  <a:pt x="8565998" y="1287691"/>
                </a:lnTo>
                <a:lnTo>
                  <a:pt x="8606523" y="1261922"/>
                </a:lnTo>
                <a:lnTo>
                  <a:pt x="8640343" y="1228102"/>
                </a:lnTo>
                <a:lnTo>
                  <a:pt x="8666124" y="1187577"/>
                </a:lnTo>
                <a:lnTo>
                  <a:pt x="8682545" y="1141615"/>
                </a:lnTo>
                <a:lnTo>
                  <a:pt x="8688324" y="1091552"/>
                </a:lnTo>
                <a:lnTo>
                  <a:pt x="8688324" y="218313"/>
                </a:lnTo>
                <a:close/>
              </a:path>
            </a:pathLst>
          </a:custGeom>
          <a:solidFill>
            <a:srgbClr val="F79546"/>
          </a:solidFill>
        </p:spPr>
        <p:txBody>
          <a:bodyPr wrap="square" lIns="0" tIns="0" rIns="0" bIns="0" rtlCol="0"/>
          <a:lstStyle/>
          <a:p>
            <a:endParaRPr/>
          </a:p>
        </p:txBody>
      </p:sp>
      <p:sp>
        <p:nvSpPr>
          <p:cNvPr id="11" name="object 11"/>
          <p:cNvSpPr txBox="1"/>
          <p:nvPr/>
        </p:nvSpPr>
        <p:spPr>
          <a:xfrm>
            <a:off x="446277" y="5115052"/>
            <a:ext cx="6490970" cy="839469"/>
          </a:xfrm>
          <a:prstGeom prst="rect">
            <a:avLst/>
          </a:prstGeom>
        </p:spPr>
        <p:txBody>
          <a:bodyPr vert="horz" wrap="square" lIns="0" tIns="12065" rIns="0" bIns="0" rtlCol="0">
            <a:spAutoFit/>
          </a:bodyPr>
          <a:lstStyle/>
          <a:p>
            <a:pPr marL="12700">
              <a:lnSpc>
                <a:spcPts val="2355"/>
              </a:lnSpc>
              <a:spcBef>
                <a:spcPts val="95"/>
              </a:spcBef>
            </a:pPr>
            <a:r>
              <a:rPr sz="2000" spc="35" dirty="0">
                <a:solidFill>
                  <a:srgbClr val="FFFFFF"/>
                </a:solidFill>
                <a:latin typeface="Arial"/>
                <a:cs typeface="Arial"/>
              </a:rPr>
              <a:t>LDF</a:t>
            </a:r>
            <a:r>
              <a:rPr sz="2000" spc="-135" dirty="0">
                <a:solidFill>
                  <a:srgbClr val="FFFFFF"/>
                </a:solidFill>
                <a:latin typeface="Arial"/>
                <a:cs typeface="Arial"/>
              </a:rPr>
              <a:t> </a:t>
            </a:r>
            <a:r>
              <a:rPr sz="2000" spc="-70" dirty="0">
                <a:solidFill>
                  <a:srgbClr val="FFFFFF"/>
                </a:solidFill>
                <a:latin typeface="Arial"/>
                <a:cs typeface="Arial"/>
              </a:rPr>
              <a:t>stands</a:t>
            </a:r>
            <a:r>
              <a:rPr sz="2000" spc="-120" dirty="0">
                <a:solidFill>
                  <a:srgbClr val="FFFFFF"/>
                </a:solidFill>
                <a:latin typeface="Arial"/>
                <a:cs typeface="Arial"/>
              </a:rPr>
              <a:t> </a:t>
            </a:r>
            <a:r>
              <a:rPr sz="2000" spc="65" dirty="0">
                <a:solidFill>
                  <a:srgbClr val="FFFFFF"/>
                </a:solidFill>
                <a:latin typeface="Arial"/>
                <a:cs typeface="Arial"/>
              </a:rPr>
              <a:t>for</a:t>
            </a:r>
            <a:r>
              <a:rPr sz="2000" spc="-125" dirty="0">
                <a:solidFill>
                  <a:srgbClr val="FFFFFF"/>
                </a:solidFill>
                <a:latin typeface="Arial"/>
                <a:cs typeface="Arial"/>
              </a:rPr>
              <a:t> </a:t>
            </a:r>
            <a:r>
              <a:rPr sz="2000" spc="-25" dirty="0">
                <a:solidFill>
                  <a:srgbClr val="FFFFFF"/>
                </a:solidFill>
                <a:latin typeface="Arial"/>
                <a:cs typeface="Arial"/>
              </a:rPr>
              <a:t>Log</a:t>
            </a:r>
            <a:r>
              <a:rPr sz="2000" spc="-130" dirty="0">
                <a:solidFill>
                  <a:srgbClr val="FFFFFF"/>
                </a:solidFill>
                <a:latin typeface="Arial"/>
                <a:cs typeface="Arial"/>
              </a:rPr>
              <a:t> </a:t>
            </a:r>
            <a:r>
              <a:rPr sz="2000" spc="-90" dirty="0">
                <a:solidFill>
                  <a:srgbClr val="FFFFFF"/>
                </a:solidFill>
                <a:latin typeface="Arial"/>
                <a:cs typeface="Arial"/>
              </a:rPr>
              <a:t>Database</a:t>
            </a:r>
            <a:r>
              <a:rPr sz="2000" spc="-105" dirty="0">
                <a:solidFill>
                  <a:srgbClr val="FFFFFF"/>
                </a:solidFill>
                <a:latin typeface="Arial"/>
                <a:cs typeface="Arial"/>
              </a:rPr>
              <a:t> </a:t>
            </a:r>
            <a:r>
              <a:rPr sz="2000" spc="-25" dirty="0">
                <a:solidFill>
                  <a:srgbClr val="FFFFFF"/>
                </a:solidFill>
                <a:latin typeface="Arial"/>
                <a:cs typeface="Arial"/>
              </a:rPr>
              <a:t>File.</a:t>
            </a:r>
            <a:endParaRPr sz="2000">
              <a:latin typeface="Arial"/>
              <a:cs typeface="Arial"/>
            </a:endParaRPr>
          </a:p>
          <a:p>
            <a:pPr marL="280670" indent="-268605">
              <a:lnSpc>
                <a:spcPts val="2005"/>
              </a:lnSpc>
              <a:buFont typeface="Segoe UI Symbol"/>
              <a:buChar char="➢"/>
              <a:tabLst>
                <a:tab pos="281305" algn="l"/>
              </a:tabLst>
            </a:pPr>
            <a:r>
              <a:rPr sz="1800" spc="-55" dirty="0">
                <a:solidFill>
                  <a:srgbClr val="FFFFFF"/>
                </a:solidFill>
                <a:latin typeface="Arial"/>
                <a:cs typeface="Arial"/>
              </a:rPr>
              <a:t>Stores</a:t>
            </a:r>
            <a:r>
              <a:rPr sz="1800" spc="-114" dirty="0">
                <a:solidFill>
                  <a:srgbClr val="FFFFFF"/>
                </a:solidFill>
                <a:latin typeface="Arial"/>
                <a:cs typeface="Arial"/>
              </a:rPr>
              <a:t> </a:t>
            </a:r>
            <a:r>
              <a:rPr sz="1800" spc="40" dirty="0">
                <a:solidFill>
                  <a:srgbClr val="FFFFFF"/>
                </a:solidFill>
                <a:latin typeface="Arial"/>
                <a:cs typeface="Arial"/>
              </a:rPr>
              <a:t>information</a:t>
            </a:r>
            <a:r>
              <a:rPr sz="1800" spc="-114" dirty="0">
                <a:solidFill>
                  <a:srgbClr val="FFFFFF"/>
                </a:solidFill>
                <a:latin typeface="Arial"/>
                <a:cs typeface="Arial"/>
              </a:rPr>
              <a:t> </a:t>
            </a:r>
            <a:r>
              <a:rPr sz="1800" spc="-30" dirty="0">
                <a:solidFill>
                  <a:srgbClr val="FFFFFF"/>
                </a:solidFill>
                <a:latin typeface="Arial"/>
                <a:cs typeface="Arial"/>
              </a:rPr>
              <a:t>related</a:t>
            </a:r>
            <a:r>
              <a:rPr sz="1800" spc="-135" dirty="0">
                <a:solidFill>
                  <a:srgbClr val="FFFFFF"/>
                </a:solidFill>
                <a:latin typeface="Arial"/>
                <a:cs typeface="Arial"/>
              </a:rPr>
              <a:t> </a:t>
            </a:r>
            <a:r>
              <a:rPr sz="1800" spc="45" dirty="0">
                <a:solidFill>
                  <a:srgbClr val="FFFFFF"/>
                </a:solidFill>
                <a:latin typeface="Arial"/>
                <a:cs typeface="Arial"/>
              </a:rPr>
              <a:t>to</a:t>
            </a:r>
            <a:r>
              <a:rPr sz="1800" spc="-120" dirty="0">
                <a:solidFill>
                  <a:srgbClr val="FFFFFF"/>
                </a:solidFill>
                <a:latin typeface="Arial"/>
                <a:cs typeface="Arial"/>
              </a:rPr>
              <a:t> </a:t>
            </a:r>
            <a:r>
              <a:rPr sz="1800" spc="-10" dirty="0">
                <a:solidFill>
                  <a:srgbClr val="FFFFFF"/>
                </a:solidFill>
                <a:latin typeface="Arial"/>
                <a:cs typeface="Arial"/>
              </a:rPr>
              <a:t>transaction</a:t>
            </a:r>
            <a:r>
              <a:rPr sz="1800" spc="-125" dirty="0">
                <a:solidFill>
                  <a:srgbClr val="FFFFFF"/>
                </a:solidFill>
                <a:latin typeface="Arial"/>
                <a:cs typeface="Arial"/>
              </a:rPr>
              <a:t> </a:t>
            </a:r>
            <a:r>
              <a:rPr sz="1800" spc="-60" dirty="0">
                <a:solidFill>
                  <a:srgbClr val="FFFFFF"/>
                </a:solidFill>
                <a:latin typeface="Arial"/>
                <a:cs typeface="Arial"/>
              </a:rPr>
              <a:t>logs</a:t>
            </a:r>
            <a:r>
              <a:rPr sz="1800" spc="-114" dirty="0">
                <a:solidFill>
                  <a:srgbClr val="FFFFFF"/>
                </a:solidFill>
                <a:latin typeface="Arial"/>
                <a:cs typeface="Arial"/>
              </a:rPr>
              <a:t> </a:t>
            </a:r>
            <a:r>
              <a:rPr sz="1800" spc="60" dirty="0">
                <a:solidFill>
                  <a:srgbClr val="FFFFFF"/>
                </a:solidFill>
                <a:latin typeface="Arial"/>
                <a:cs typeface="Arial"/>
              </a:rPr>
              <a:t>for</a:t>
            </a:r>
            <a:r>
              <a:rPr sz="1800" spc="-100" dirty="0">
                <a:solidFill>
                  <a:srgbClr val="FFFFFF"/>
                </a:solidFill>
                <a:latin typeface="Arial"/>
                <a:cs typeface="Arial"/>
              </a:rPr>
              <a:t> </a:t>
            </a:r>
            <a:r>
              <a:rPr sz="1800" spc="-5" dirty="0">
                <a:solidFill>
                  <a:srgbClr val="FFFFFF"/>
                </a:solidFill>
                <a:latin typeface="Arial"/>
                <a:cs typeface="Arial"/>
              </a:rPr>
              <a:t>main</a:t>
            </a:r>
            <a:r>
              <a:rPr sz="1800" spc="-125" dirty="0">
                <a:solidFill>
                  <a:srgbClr val="FFFFFF"/>
                </a:solidFill>
                <a:latin typeface="Arial"/>
                <a:cs typeface="Arial"/>
              </a:rPr>
              <a:t> </a:t>
            </a:r>
            <a:r>
              <a:rPr sz="1800" spc="-55" dirty="0">
                <a:solidFill>
                  <a:srgbClr val="FFFFFF"/>
                </a:solidFill>
                <a:latin typeface="Arial"/>
                <a:cs typeface="Arial"/>
              </a:rPr>
              <a:t>data</a:t>
            </a:r>
            <a:r>
              <a:rPr sz="1800" spc="-130" dirty="0">
                <a:solidFill>
                  <a:srgbClr val="FFFFFF"/>
                </a:solidFill>
                <a:latin typeface="Arial"/>
                <a:cs typeface="Arial"/>
              </a:rPr>
              <a:t> </a:t>
            </a:r>
            <a:r>
              <a:rPr sz="1800" spc="25" dirty="0">
                <a:solidFill>
                  <a:srgbClr val="FFFFFF"/>
                </a:solidFill>
                <a:latin typeface="Arial"/>
                <a:cs typeface="Arial"/>
              </a:rPr>
              <a:t>file.</a:t>
            </a:r>
            <a:endParaRPr sz="1800">
              <a:latin typeface="Arial"/>
              <a:cs typeface="Arial"/>
            </a:endParaRPr>
          </a:p>
          <a:p>
            <a:pPr marL="280670" indent="-268605">
              <a:lnSpc>
                <a:spcPts val="2050"/>
              </a:lnSpc>
              <a:buFont typeface="Segoe UI Symbol"/>
              <a:buChar char="➢"/>
              <a:tabLst>
                <a:tab pos="281305" algn="l"/>
              </a:tabLst>
            </a:pPr>
            <a:r>
              <a:rPr sz="1800" spc="-85" dirty="0">
                <a:solidFill>
                  <a:srgbClr val="FFFFFF"/>
                </a:solidFill>
                <a:latin typeface="Arial"/>
                <a:cs typeface="Arial"/>
              </a:rPr>
              <a:t>Keeps</a:t>
            </a:r>
            <a:r>
              <a:rPr sz="1800" spc="-114" dirty="0">
                <a:solidFill>
                  <a:srgbClr val="FFFFFF"/>
                </a:solidFill>
                <a:latin typeface="Arial"/>
                <a:cs typeface="Arial"/>
              </a:rPr>
              <a:t> </a:t>
            </a:r>
            <a:r>
              <a:rPr sz="1800" dirty="0">
                <a:solidFill>
                  <a:srgbClr val="FFFFFF"/>
                </a:solidFill>
                <a:latin typeface="Arial"/>
                <a:cs typeface="Arial"/>
              </a:rPr>
              <a:t>track</a:t>
            </a:r>
            <a:r>
              <a:rPr sz="1800" spc="-120" dirty="0">
                <a:solidFill>
                  <a:srgbClr val="FFFFFF"/>
                </a:solidFill>
                <a:latin typeface="Arial"/>
                <a:cs typeface="Arial"/>
              </a:rPr>
              <a:t> </a:t>
            </a:r>
            <a:r>
              <a:rPr sz="1800" spc="45" dirty="0">
                <a:solidFill>
                  <a:srgbClr val="FFFFFF"/>
                </a:solidFill>
                <a:latin typeface="Arial"/>
                <a:cs typeface="Arial"/>
              </a:rPr>
              <a:t>of</a:t>
            </a:r>
            <a:r>
              <a:rPr sz="1800" spc="-120" dirty="0">
                <a:solidFill>
                  <a:srgbClr val="FFFFFF"/>
                </a:solidFill>
                <a:latin typeface="Arial"/>
                <a:cs typeface="Arial"/>
              </a:rPr>
              <a:t> </a:t>
            </a:r>
            <a:r>
              <a:rPr sz="1800" spc="-90" dirty="0">
                <a:solidFill>
                  <a:srgbClr val="FFFFFF"/>
                </a:solidFill>
                <a:latin typeface="Arial"/>
                <a:cs typeface="Arial"/>
              </a:rPr>
              <a:t>changes</a:t>
            </a:r>
            <a:r>
              <a:rPr sz="1800" spc="-114" dirty="0">
                <a:solidFill>
                  <a:srgbClr val="FFFFFF"/>
                </a:solidFill>
                <a:latin typeface="Arial"/>
                <a:cs typeface="Arial"/>
              </a:rPr>
              <a:t> </a:t>
            </a:r>
            <a:r>
              <a:rPr sz="1800" spc="25" dirty="0">
                <a:solidFill>
                  <a:srgbClr val="FFFFFF"/>
                </a:solidFill>
                <a:latin typeface="Arial"/>
                <a:cs typeface="Arial"/>
              </a:rPr>
              <a:t>that</a:t>
            </a:r>
            <a:r>
              <a:rPr sz="1800" spc="-120" dirty="0">
                <a:solidFill>
                  <a:srgbClr val="FFFFFF"/>
                </a:solidFill>
                <a:latin typeface="Arial"/>
                <a:cs typeface="Arial"/>
              </a:rPr>
              <a:t> </a:t>
            </a:r>
            <a:r>
              <a:rPr sz="1800" spc="-60" dirty="0">
                <a:solidFill>
                  <a:srgbClr val="FFFFFF"/>
                </a:solidFill>
                <a:latin typeface="Arial"/>
                <a:cs typeface="Arial"/>
              </a:rPr>
              <a:t>have</a:t>
            </a:r>
            <a:r>
              <a:rPr sz="1800" spc="-114" dirty="0">
                <a:solidFill>
                  <a:srgbClr val="FFFFFF"/>
                </a:solidFill>
                <a:latin typeface="Arial"/>
                <a:cs typeface="Arial"/>
              </a:rPr>
              <a:t> </a:t>
            </a:r>
            <a:r>
              <a:rPr sz="1800" spc="-70" dirty="0">
                <a:solidFill>
                  <a:srgbClr val="FFFFFF"/>
                </a:solidFill>
                <a:latin typeface="Arial"/>
                <a:cs typeface="Arial"/>
              </a:rPr>
              <a:t>been</a:t>
            </a:r>
            <a:r>
              <a:rPr sz="1800" spc="-120" dirty="0">
                <a:solidFill>
                  <a:srgbClr val="FFFFFF"/>
                </a:solidFill>
                <a:latin typeface="Arial"/>
                <a:cs typeface="Arial"/>
              </a:rPr>
              <a:t> </a:t>
            </a:r>
            <a:r>
              <a:rPr sz="1800" spc="-85" dirty="0">
                <a:solidFill>
                  <a:srgbClr val="FFFFFF"/>
                </a:solidFill>
                <a:latin typeface="Arial"/>
                <a:cs typeface="Arial"/>
              </a:rPr>
              <a:t>made</a:t>
            </a:r>
            <a:r>
              <a:rPr sz="1800" spc="-125"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90" dirty="0">
                <a:solidFill>
                  <a:srgbClr val="FFFFFF"/>
                </a:solidFill>
                <a:latin typeface="Arial"/>
                <a:cs typeface="Arial"/>
              </a:rPr>
              <a:t>database.</a:t>
            </a:r>
            <a:endParaRPr sz="1800">
              <a:latin typeface="Arial"/>
              <a:cs typeface="Arial"/>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7</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734" y="72135"/>
            <a:ext cx="8645525" cy="574040"/>
          </a:xfrm>
          <a:prstGeom prst="rect">
            <a:avLst/>
          </a:prstGeom>
        </p:spPr>
        <p:txBody>
          <a:bodyPr vert="horz" wrap="square" lIns="0" tIns="12700" rIns="0" bIns="0" rtlCol="0">
            <a:spAutoFit/>
          </a:bodyPr>
          <a:lstStyle/>
          <a:p>
            <a:pPr marL="12700">
              <a:lnSpc>
                <a:spcPct val="100000"/>
              </a:lnSpc>
              <a:spcBef>
                <a:spcPts val="100"/>
              </a:spcBef>
            </a:pPr>
            <a:r>
              <a:rPr sz="3600" spc="15" dirty="0"/>
              <a:t>Creating</a:t>
            </a:r>
            <a:r>
              <a:rPr sz="3600" spc="-265" dirty="0"/>
              <a:t> </a:t>
            </a:r>
            <a:r>
              <a:rPr sz="3600" spc="-190" dirty="0"/>
              <a:t>Databases</a:t>
            </a:r>
            <a:r>
              <a:rPr sz="3600" spc="-245" dirty="0"/>
              <a:t> </a:t>
            </a:r>
            <a:r>
              <a:rPr sz="3600" spc="10" dirty="0"/>
              <a:t>Using</a:t>
            </a:r>
            <a:r>
              <a:rPr sz="3600" spc="-245" dirty="0"/>
              <a:t> </a:t>
            </a:r>
            <a:r>
              <a:rPr sz="3600" spc="-20" dirty="0"/>
              <a:t>Transact-SQL</a:t>
            </a:r>
            <a:r>
              <a:rPr sz="3600" spc="-245" dirty="0"/>
              <a:t> </a:t>
            </a:r>
            <a:r>
              <a:rPr sz="3600" spc="-365" dirty="0"/>
              <a:t>3-3</a:t>
            </a:r>
            <a:endParaRPr sz="3600"/>
          </a:p>
        </p:txBody>
      </p:sp>
      <p:pic>
        <p:nvPicPr>
          <p:cNvPr id="3" name="object 3"/>
          <p:cNvPicPr/>
          <p:nvPr/>
        </p:nvPicPr>
        <p:blipFill>
          <a:blip r:embed="rId3" cstate="print"/>
          <a:stretch>
            <a:fillRect/>
          </a:stretch>
        </p:blipFill>
        <p:spPr>
          <a:xfrm>
            <a:off x="661416" y="1463039"/>
            <a:ext cx="7835646" cy="4332732"/>
          </a:xfrm>
          <a:prstGeom prst="rect">
            <a:avLst/>
          </a:prstGeom>
        </p:spPr>
      </p:pic>
      <p:sp>
        <p:nvSpPr>
          <p:cNvPr id="4" name="object 4"/>
          <p:cNvSpPr txBox="1"/>
          <p:nvPr/>
        </p:nvSpPr>
        <p:spPr>
          <a:xfrm>
            <a:off x="3728465" y="5803646"/>
            <a:ext cx="179514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Times New Roman"/>
                <a:cs typeface="Times New Roman"/>
              </a:rPr>
              <a:t>Customer_DB</a:t>
            </a:r>
            <a:r>
              <a:rPr sz="1400" b="1" spc="-110" dirty="0">
                <a:latin typeface="Times New Roman"/>
                <a:cs typeface="Times New Roman"/>
              </a:rPr>
              <a:t> </a:t>
            </a:r>
            <a:r>
              <a:rPr sz="1400" b="1" spc="-15" dirty="0">
                <a:latin typeface="Times New Roman"/>
                <a:cs typeface="Times New Roman"/>
              </a:rPr>
              <a:t>Database</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326" y="13969"/>
            <a:ext cx="4622800" cy="635635"/>
          </a:xfrm>
          <a:prstGeom prst="rect">
            <a:avLst/>
          </a:prstGeom>
        </p:spPr>
        <p:txBody>
          <a:bodyPr vert="horz" wrap="square" lIns="0" tIns="12700" rIns="0" bIns="0" rtlCol="0">
            <a:spAutoFit/>
          </a:bodyPr>
          <a:lstStyle/>
          <a:p>
            <a:pPr marL="12700">
              <a:lnSpc>
                <a:spcPct val="100000"/>
              </a:lnSpc>
              <a:spcBef>
                <a:spcPts val="100"/>
              </a:spcBef>
            </a:pPr>
            <a:r>
              <a:rPr spc="105" dirty="0"/>
              <a:t>Modifying</a:t>
            </a:r>
            <a:r>
              <a:rPr spc="-310" dirty="0"/>
              <a:t> </a:t>
            </a:r>
            <a:r>
              <a:rPr spc="-210" dirty="0"/>
              <a:t>Databases</a:t>
            </a:r>
          </a:p>
        </p:txBody>
      </p:sp>
      <p:grpSp>
        <p:nvGrpSpPr>
          <p:cNvPr id="3" name="object 3"/>
          <p:cNvGrpSpPr/>
          <p:nvPr/>
        </p:nvGrpSpPr>
        <p:grpSpPr>
          <a:xfrm>
            <a:off x="339852" y="1069809"/>
            <a:ext cx="8457565" cy="962660"/>
            <a:chOff x="339852" y="1069809"/>
            <a:chExt cx="8457565" cy="962660"/>
          </a:xfrm>
        </p:grpSpPr>
        <p:pic>
          <p:nvPicPr>
            <p:cNvPr id="4" name="object 4"/>
            <p:cNvPicPr/>
            <p:nvPr/>
          </p:nvPicPr>
          <p:blipFill>
            <a:blip r:embed="rId3" cstate="print"/>
            <a:stretch>
              <a:fillRect/>
            </a:stretch>
          </p:blipFill>
          <p:spPr>
            <a:xfrm>
              <a:off x="339852" y="1069809"/>
              <a:ext cx="8457438" cy="962444"/>
            </a:xfrm>
            <a:prstGeom prst="rect">
              <a:avLst/>
            </a:prstGeom>
          </p:spPr>
        </p:pic>
        <p:pic>
          <p:nvPicPr>
            <p:cNvPr id="5" name="object 5"/>
            <p:cNvPicPr/>
            <p:nvPr/>
          </p:nvPicPr>
          <p:blipFill>
            <a:blip r:embed="rId4" cstate="print"/>
            <a:stretch>
              <a:fillRect/>
            </a:stretch>
          </p:blipFill>
          <p:spPr>
            <a:xfrm>
              <a:off x="381000" y="1088135"/>
              <a:ext cx="8382000" cy="886967"/>
            </a:xfrm>
            <a:prstGeom prst="rect">
              <a:avLst/>
            </a:prstGeom>
          </p:spPr>
        </p:pic>
      </p:grpSp>
      <p:sp>
        <p:nvSpPr>
          <p:cNvPr id="6" name="object 6"/>
          <p:cNvSpPr txBox="1"/>
          <p:nvPr/>
        </p:nvSpPr>
        <p:spPr>
          <a:xfrm>
            <a:off x="587755" y="1368044"/>
            <a:ext cx="2458720" cy="299720"/>
          </a:xfrm>
          <a:prstGeom prst="rect">
            <a:avLst/>
          </a:prstGeom>
        </p:spPr>
        <p:txBody>
          <a:bodyPr vert="horz" wrap="square" lIns="0" tIns="12700" rIns="0" bIns="0" rtlCol="0">
            <a:spAutoFit/>
          </a:bodyPr>
          <a:lstStyle/>
          <a:p>
            <a:pPr marL="280670" indent="-268605">
              <a:lnSpc>
                <a:spcPct val="100000"/>
              </a:lnSpc>
              <a:spcBef>
                <a:spcPts val="100"/>
              </a:spcBef>
              <a:buFont typeface="Segoe UI Symbol"/>
              <a:buChar char="➢"/>
              <a:tabLst>
                <a:tab pos="281305" algn="l"/>
              </a:tabLst>
            </a:pPr>
            <a:r>
              <a:rPr sz="1800" spc="100" dirty="0">
                <a:solidFill>
                  <a:srgbClr val="FFFFFF"/>
                </a:solidFill>
                <a:latin typeface="Arial"/>
                <a:cs typeface="Arial"/>
              </a:rPr>
              <a:t>It</a:t>
            </a:r>
            <a:r>
              <a:rPr sz="1800" spc="-375" dirty="0">
                <a:solidFill>
                  <a:srgbClr val="FFFFFF"/>
                </a:solidFill>
                <a:latin typeface="Arial"/>
                <a:cs typeface="Arial"/>
              </a:rPr>
              <a:t> </a:t>
            </a:r>
            <a:r>
              <a:rPr sz="1800" spc="-45" dirty="0">
                <a:solidFill>
                  <a:srgbClr val="FFFFFF"/>
                </a:solidFill>
                <a:latin typeface="Arial"/>
                <a:cs typeface="Arial"/>
              </a:rPr>
              <a:t>grows </a:t>
            </a:r>
            <a:r>
              <a:rPr sz="1800" spc="25" dirty="0">
                <a:solidFill>
                  <a:srgbClr val="FFFFFF"/>
                </a:solidFill>
                <a:latin typeface="Arial"/>
                <a:cs typeface="Arial"/>
              </a:rPr>
              <a:t>or </a:t>
            </a:r>
            <a:r>
              <a:rPr sz="1800" spc="-10" dirty="0">
                <a:solidFill>
                  <a:srgbClr val="FFFFFF"/>
                </a:solidFill>
                <a:latin typeface="Arial"/>
                <a:cs typeface="Arial"/>
              </a:rPr>
              <a:t>diminishes</a:t>
            </a:r>
            <a:endParaRPr sz="1800">
              <a:latin typeface="Arial"/>
              <a:cs typeface="Arial"/>
            </a:endParaRPr>
          </a:p>
        </p:txBody>
      </p:sp>
      <p:sp>
        <p:nvSpPr>
          <p:cNvPr id="7" name="object 7"/>
          <p:cNvSpPr txBox="1"/>
          <p:nvPr/>
        </p:nvSpPr>
        <p:spPr>
          <a:xfrm>
            <a:off x="587755" y="1040384"/>
            <a:ext cx="5427980" cy="874394"/>
          </a:xfrm>
          <a:prstGeom prst="rect">
            <a:avLst/>
          </a:prstGeom>
        </p:spPr>
        <p:txBody>
          <a:bodyPr vert="horz" wrap="square" lIns="0" tIns="12700" rIns="0" bIns="0" rtlCol="0">
            <a:spAutoFit/>
          </a:bodyPr>
          <a:lstStyle/>
          <a:p>
            <a:pPr marL="12700">
              <a:lnSpc>
                <a:spcPct val="100000"/>
              </a:lnSpc>
              <a:spcBef>
                <a:spcPts val="100"/>
              </a:spcBef>
            </a:pPr>
            <a:r>
              <a:rPr sz="2200" spc="320" dirty="0">
                <a:solidFill>
                  <a:srgbClr val="FFFFFF"/>
                </a:solidFill>
                <a:latin typeface="Arial"/>
                <a:cs typeface="Arial"/>
              </a:rPr>
              <a:t>A</a:t>
            </a:r>
            <a:r>
              <a:rPr sz="2200" spc="-150" dirty="0">
                <a:solidFill>
                  <a:srgbClr val="FFFFFF"/>
                </a:solidFill>
                <a:latin typeface="Arial"/>
                <a:cs typeface="Arial"/>
              </a:rPr>
              <a:t> </a:t>
            </a:r>
            <a:r>
              <a:rPr sz="2200" spc="-30" dirty="0">
                <a:solidFill>
                  <a:srgbClr val="FFFFFF"/>
                </a:solidFill>
                <a:latin typeface="Arial"/>
                <a:cs typeface="Arial"/>
              </a:rPr>
              <a:t>user-define</a:t>
            </a:r>
            <a:r>
              <a:rPr sz="2200" spc="-170" dirty="0">
                <a:solidFill>
                  <a:srgbClr val="FFFFFF"/>
                </a:solidFill>
                <a:latin typeface="Arial"/>
                <a:cs typeface="Arial"/>
              </a:rPr>
              <a:t> </a:t>
            </a:r>
            <a:r>
              <a:rPr sz="2200" spc="-114" dirty="0">
                <a:solidFill>
                  <a:srgbClr val="FFFFFF"/>
                </a:solidFill>
                <a:latin typeface="Arial"/>
                <a:cs typeface="Arial"/>
              </a:rPr>
              <a:t>database</a:t>
            </a:r>
            <a:r>
              <a:rPr sz="2200" spc="-170" dirty="0">
                <a:solidFill>
                  <a:srgbClr val="FFFFFF"/>
                </a:solidFill>
                <a:latin typeface="Arial"/>
                <a:cs typeface="Arial"/>
              </a:rPr>
              <a:t> </a:t>
            </a:r>
            <a:r>
              <a:rPr sz="2200" spc="-110" dirty="0">
                <a:solidFill>
                  <a:srgbClr val="FFFFFF"/>
                </a:solidFill>
                <a:latin typeface="Arial"/>
                <a:cs typeface="Arial"/>
              </a:rPr>
              <a:t>does</a:t>
            </a:r>
            <a:r>
              <a:rPr sz="2200" spc="-165" dirty="0">
                <a:solidFill>
                  <a:srgbClr val="FFFFFF"/>
                </a:solidFill>
                <a:latin typeface="Arial"/>
                <a:cs typeface="Arial"/>
              </a:rPr>
              <a:t> </a:t>
            </a:r>
            <a:r>
              <a:rPr sz="2200" dirty="0">
                <a:solidFill>
                  <a:srgbClr val="FFFFFF"/>
                </a:solidFill>
                <a:latin typeface="Arial"/>
                <a:cs typeface="Arial"/>
              </a:rPr>
              <a:t>the</a:t>
            </a:r>
            <a:r>
              <a:rPr sz="2200" spc="-160" dirty="0">
                <a:solidFill>
                  <a:srgbClr val="FFFFFF"/>
                </a:solidFill>
                <a:latin typeface="Arial"/>
                <a:cs typeface="Arial"/>
              </a:rPr>
              <a:t> </a:t>
            </a:r>
            <a:r>
              <a:rPr sz="2200" spc="40" dirty="0">
                <a:solidFill>
                  <a:srgbClr val="FFFFFF"/>
                </a:solidFill>
                <a:latin typeface="Arial"/>
                <a:cs typeface="Arial"/>
              </a:rPr>
              <a:t>following:</a:t>
            </a:r>
            <a:endParaRPr sz="2200">
              <a:latin typeface="Arial"/>
              <a:cs typeface="Arial"/>
            </a:endParaRPr>
          </a:p>
          <a:p>
            <a:pPr marL="280670" indent="-268605">
              <a:lnSpc>
                <a:spcPct val="100000"/>
              </a:lnSpc>
              <a:spcBef>
                <a:spcPts val="1885"/>
              </a:spcBef>
              <a:buFont typeface="Segoe UI Symbol"/>
              <a:buChar char="➢"/>
              <a:tabLst>
                <a:tab pos="281305" algn="l"/>
              </a:tabLst>
            </a:pPr>
            <a:r>
              <a:rPr sz="1800" dirty="0">
                <a:solidFill>
                  <a:srgbClr val="FFFFFF"/>
                </a:solidFill>
                <a:latin typeface="Arial"/>
                <a:cs typeface="Arial"/>
              </a:rPr>
              <a:t>Its</a:t>
            </a:r>
            <a:r>
              <a:rPr sz="1800" spc="-120" dirty="0">
                <a:solidFill>
                  <a:srgbClr val="FFFFFF"/>
                </a:solidFill>
                <a:latin typeface="Arial"/>
                <a:cs typeface="Arial"/>
              </a:rPr>
              <a:t> size</a:t>
            </a:r>
            <a:r>
              <a:rPr sz="1800" spc="-114" dirty="0">
                <a:solidFill>
                  <a:srgbClr val="FFFFFF"/>
                </a:solidFill>
                <a:latin typeface="Arial"/>
                <a:cs typeface="Arial"/>
              </a:rPr>
              <a:t> </a:t>
            </a:r>
            <a:r>
              <a:rPr sz="1800" spc="-55" dirty="0">
                <a:solidFill>
                  <a:srgbClr val="FFFFFF"/>
                </a:solidFill>
                <a:latin typeface="Arial"/>
                <a:cs typeface="Arial"/>
              </a:rPr>
              <a:t>expands</a:t>
            </a:r>
            <a:r>
              <a:rPr sz="1800" spc="-114" dirty="0">
                <a:solidFill>
                  <a:srgbClr val="FFFFFF"/>
                </a:solidFill>
                <a:latin typeface="Arial"/>
                <a:cs typeface="Arial"/>
              </a:rPr>
              <a:t> </a:t>
            </a:r>
            <a:r>
              <a:rPr sz="1800" spc="25" dirty="0">
                <a:solidFill>
                  <a:srgbClr val="FFFFFF"/>
                </a:solidFill>
                <a:latin typeface="Arial"/>
                <a:cs typeface="Arial"/>
              </a:rPr>
              <a:t>or</a:t>
            </a:r>
            <a:r>
              <a:rPr sz="1800" spc="-114" dirty="0">
                <a:solidFill>
                  <a:srgbClr val="FFFFFF"/>
                </a:solidFill>
                <a:latin typeface="Arial"/>
                <a:cs typeface="Arial"/>
              </a:rPr>
              <a:t> </a:t>
            </a:r>
            <a:r>
              <a:rPr sz="1800" dirty="0">
                <a:solidFill>
                  <a:srgbClr val="FFFFFF"/>
                </a:solidFill>
                <a:latin typeface="Arial"/>
                <a:cs typeface="Arial"/>
              </a:rPr>
              <a:t>shrinks</a:t>
            </a:r>
            <a:r>
              <a:rPr sz="1800" spc="-105" dirty="0">
                <a:solidFill>
                  <a:srgbClr val="FFFFFF"/>
                </a:solidFill>
                <a:latin typeface="Arial"/>
                <a:cs typeface="Arial"/>
              </a:rPr>
              <a:t> </a:t>
            </a:r>
            <a:r>
              <a:rPr sz="1800" spc="-5" dirty="0">
                <a:solidFill>
                  <a:srgbClr val="FFFFFF"/>
                </a:solidFill>
                <a:latin typeface="Arial"/>
                <a:cs typeface="Arial"/>
              </a:rPr>
              <a:t>automatically</a:t>
            </a:r>
            <a:r>
              <a:rPr sz="1800" spc="-135" dirty="0">
                <a:solidFill>
                  <a:srgbClr val="FFFFFF"/>
                </a:solidFill>
                <a:latin typeface="Arial"/>
                <a:cs typeface="Arial"/>
              </a:rPr>
              <a:t> </a:t>
            </a:r>
            <a:r>
              <a:rPr sz="1800" spc="25" dirty="0">
                <a:solidFill>
                  <a:srgbClr val="FFFFFF"/>
                </a:solidFill>
                <a:latin typeface="Arial"/>
                <a:cs typeface="Arial"/>
              </a:rPr>
              <a:t>or</a:t>
            </a:r>
            <a:r>
              <a:rPr sz="1800" spc="-110" dirty="0">
                <a:solidFill>
                  <a:srgbClr val="FFFFFF"/>
                </a:solidFill>
                <a:latin typeface="Arial"/>
                <a:cs typeface="Arial"/>
              </a:rPr>
              <a:t> </a:t>
            </a:r>
            <a:r>
              <a:rPr sz="1800" spc="-10" dirty="0">
                <a:solidFill>
                  <a:srgbClr val="FFFFFF"/>
                </a:solidFill>
                <a:latin typeface="Arial"/>
                <a:cs typeface="Arial"/>
              </a:rPr>
              <a:t>manually</a:t>
            </a:r>
            <a:endParaRPr sz="1800">
              <a:latin typeface="Arial"/>
              <a:cs typeface="Arial"/>
            </a:endParaRPr>
          </a:p>
        </p:txBody>
      </p:sp>
      <p:pic>
        <p:nvPicPr>
          <p:cNvPr id="8" name="object 8"/>
          <p:cNvPicPr/>
          <p:nvPr/>
        </p:nvPicPr>
        <p:blipFill>
          <a:blip r:embed="rId5" cstate="print"/>
          <a:stretch>
            <a:fillRect/>
          </a:stretch>
        </p:blipFill>
        <p:spPr>
          <a:xfrm>
            <a:off x="524255" y="2647950"/>
            <a:ext cx="4047744" cy="2628900"/>
          </a:xfrm>
          <a:prstGeom prst="rect">
            <a:avLst/>
          </a:prstGeom>
        </p:spPr>
      </p:pic>
      <p:pic>
        <p:nvPicPr>
          <p:cNvPr id="9" name="object 9"/>
          <p:cNvPicPr/>
          <p:nvPr/>
        </p:nvPicPr>
        <p:blipFill>
          <a:blip r:embed="rId6" cstate="print"/>
          <a:stretch>
            <a:fillRect/>
          </a:stretch>
        </p:blipFill>
        <p:spPr>
          <a:xfrm>
            <a:off x="5024628" y="2715005"/>
            <a:ext cx="3222498" cy="2561844"/>
          </a:xfrm>
          <a:prstGeom prst="rect">
            <a:avLst/>
          </a:prstGeom>
        </p:spPr>
      </p:pic>
      <p:sp>
        <p:nvSpPr>
          <p:cNvPr id="10" name="object 10"/>
          <p:cNvSpPr txBox="1"/>
          <p:nvPr/>
        </p:nvSpPr>
        <p:spPr>
          <a:xfrm>
            <a:off x="1542541" y="5284723"/>
            <a:ext cx="213169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Syntax </a:t>
            </a:r>
            <a:r>
              <a:rPr sz="1400" b="1" spc="35" dirty="0">
                <a:latin typeface="Times New Roman"/>
                <a:cs typeface="Times New Roman"/>
              </a:rPr>
              <a:t>to</a:t>
            </a:r>
            <a:r>
              <a:rPr sz="1400" b="1" spc="-250" dirty="0">
                <a:latin typeface="Times New Roman"/>
                <a:cs typeface="Times New Roman"/>
              </a:rPr>
              <a:t> </a:t>
            </a:r>
            <a:r>
              <a:rPr sz="1400" b="1" dirty="0">
                <a:latin typeface="Times New Roman"/>
                <a:cs typeface="Times New Roman"/>
              </a:rPr>
              <a:t>modify </a:t>
            </a:r>
            <a:r>
              <a:rPr sz="1400" b="1" spc="-60" dirty="0">
                <a:latin typeface="Times New Roman"/>
                <a:cs typeface="Times New Roman"/>
              </a:rPr>
              <a:t>a </a:t>
            </a:r>
            <a:r>
              <a:rPr sz="1400" b="1" spc="-25" dirty="0">
                <a:latin typeface="Times New Roman"/>
                <a:cs typeface="Times New Roman"/>
              </a:rPr>
              <a:t>database</a:t>
            </a:r>
            <a:endParaRPr sz="14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9</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1" name="object 11"/>
          <p:cNvSpPr txBox="1"/>
          <p:nvPr/>
        </p:nvSpPr>
        <p:spPr>
          <a:xfrm>
            <a:off x="5373878" y="5275579"/>
            <a:ext cx="2424430" cy="238760"/>
          </a:xfrm>
          <a:prstGeom prst="rect">
            <a:avLst/>
          </a:prstGeom>
        </p:spPr>
        <p:txBody>
          <a:bodyPr vert="horz" wrap="square" lIns="0" tIns="12065" rIns="0" bIns="0" rtlCol="0">
            <a:spAutoFit/>
          </a:bodyPr>
          <a:lstStyle/>
          <a:p>
            <a:pPr marL="12700">
              <a:lnSpc>
                <a:spcPct val="100000"/>
              </a:lnSpc>
              <a:spcBef>
                <a:spcPts val="95"/>
              </a:spcBef>
            </a:pPr>
            <a:r>
              <a:rPr sz="1400" b="1" spc="50" dirty="0">
                <a:latin typeface="Times New Roman"/>
                <a:cs typeface="Times New Roman"/>
              </a:rPr>
              <a:t>New</a:t>
            </a:r>
            <a:r>
              <a:rPr sz="1400" b="1" spc="-110" dirty="0">
                <a:latin typeface="Times New Roman"/>
                <a:cs typeface="Times New Roman"/>
              </a:rPr>
              <a:t> </a:t>
            </a:r>
            <a:r>
              <a:rPr sz="1400" b="1" spc="-15" dirty="0">
                <a:latin typeface="Times New Roman"/>
                <a:cs typeface="Times New Roman"/>
              </a:rPr>
              <a:t>Database</a:t>
            </a:r>
            <a:r>
              <a:rPr sz="1400" b="1" spc="-95" dirty="0">
                <a:latin typeface="Times New Roman"/>
                <a:cs typeface="Times New Roman"/>
              </a:rPr>
              <a:t> </a:t>
            </a:r>
            <a:r>
              <a:rPr sz="1400" b="1" spc="5" dirty="0">
                <a:latin typeface="Times New Roman"/>
                <a:cs typeface="Times New Roman"/>
              </a:rPr>
              <a:t>Name</a:t>
            </a:r>
            <a:r>
              <a:rPr sz="1400" b="1" spc="-90" dirty="0">
                <a:latin typeface="Times New Roman"/>
                <a:cs typeface="Times New Roman"/>
              </a:rPr>
              <a:t> </a:t>
            </a:r>
            <a:r>
              <a:rPr sz="1400" b="1" spc="-15" dirty="0">
                <a:latin typeface="Times New Roman"/>
                <a:cs typeface="Times New Roman"/>
              </a:rPr>
              <a:t>CUST_DB</a:t>
            </a:r>
            <a:endParaRPr sz="1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353050" cy="635635"/>
          </a:xfrm>
          <a:prstGeom prst="rect">
            <a:avLst/>
          </a:prstGeom>
        </p:spPr>
        <p:txBody>
          <a:bodyPr vert="horz" wrap="square" lIns="0" tIns="12700" rIns="0" bIns="0" rtlCol="0">
            <a:spAutoFit/>
          </a:bodyPr>
          <a:lstStyle/>
          <a:p>
            <a:pPr marL="12700">
              <a:lnSpc>
                <a:spcPct val="100000"/>
              </a:lnSpc>
              <a:spcBef>
                <a:spcPts val="100"/>
              </a:spcBef>
            </a:pPr>
            <a:r>
              <a:rPr spc="30" dirty="0"/>
              <a:t>Ownership </a:t>
            </a:r>
            <a:r>
              <a:rPr spc="114" dirty="0"/>
              <a:t>of</a:t>
            </a:r>
            <a:r>
              <a:rPr spc="-595" dirty="0"/>
              <a:t> </a:t>
            </a:r>
            <a:r>
              <a:rPr spc="-210" dirty="0"/>
              <a:t>Databases</a:t>
            </a:r>
          </a:p>
        </p:txBody>
      </p:sp>
      <p:sp>
        <p:nvSpPr>
          <p:cNvPr id="3" name="object 3"/>
          <p:cNvSpPr/>
          <p:nvPr/>
        </p:nvSpPr>
        <p:spPr>
          <a:xfrm>
            <a:off x="495300" y="1059179"/>
            <a:ext cx="8153400" cy="2657475"/>
          </a:xfrm>
          <a:custGeom>
            <a:avLst/>
            <a:gdLst/>
            <a:ahLst/>
            <a:cxnLst/>
            <a:rect l="l" t="t" r="r" b="b"/>
            <a:pathLst>
              <a:path w="8153400" h="2657475">
                <a:moveTo>
                  <a:pt x="8153400" y="442849"/>
                </a:moveTo>
                <a:lnTo>
                  <a:pt x="8150796" y="394601"/>
                </a:lnTo>
                <a:lnTo>
                  <a:pt x="8143176" y="347853"/>
                </a:lnTo>
                <a:lnTo>
                  <a:pt x="8130819" y="302869"/>
                </a:lnTo>
                <a:lnTo>
                  <a:pt x="8113979" y="259943"/>
                </a:lnTo>
                <a:lnTo>
                  <a:pt x="8092935" y="219329"/>
                </a:lnTo>
                <a:lnTo>
                  <a:pt x="8067954" y="181305"/>
                </a:lnTo>
                <a:lnTo>
                  <a:pt x="8039303" y="146138"/>
                </a:lnTo>
                <a:lnTo>
                  <a:pt x="8007261" y="114096"/>
                </a:lnTo>
                <a:lnTo>
                  <a:pt x="7972095" y="85445"/>
                </a:lnTo>
                <a:lnTo>
                  <a:pt x="7934071" y="60464"/>
                </a:lnTo>
                <a:lnTo>
                  <a:pt x="7893456" y="39420"/>
                </a:lnTo>
                <a:lnTo>
                  <a:pt x="7850530" y="22580"/>
                </a:lnTo>
                <a:lnTo>
                  <a:pt x="7805547" y="10223"/>
                </a:lnTo>
                <a:lnTo>
                  <a:pt x="7758798" y="2603"/>
                </a:lnTo>
                <a:lnTo>
                  <a:pt x="7710551" y="0"/>
                </a:lnTo>
                <a:lnTo>
                  <a:pt x="442849" y="0"/>
                </a:lnTo>
                <a:lnTo>
                  <a:pt x="394589" y="2603"/>
                </a:lnTo>
                <a:lnTo>
                  <a:pt x="347840" y="10223"/>
                </a:lnTo>
                <a:lnTo>
                  <a:pt x="302869" y="22580"/>
                </a:lnTo>
                <a:lnTo>
                  <a:pt x="259943" y="39420"/>
                </a:lnTo>
                <a:lnTo>
                  <a:pt x="219329" y="60464"/>
                </a:lnTo>
                <a:lnTo>
                  <a:pt x="181305" y="85445"/>
                </a:lnTo>
                <a:lnTo>
                  <a:pt x="146126" y="114096"/>
                </a:lnTo>
                <a:lnTo>
                  <a:pt x="114084" y="146138"/>
                </a:lnTo>
                <a:lnTo>
                  <a:pt x="85432" y="181305"/>
                </a:lnTo>
                <a:lnTo>
                  <a:pt x="60452" y="219329"/>
                </a:lnTo>
                <a:lnTo>
                  <a:pt x="50901" y="237744"/>
                </a:lnTo>
                <a:lnTo>
                  <a:pt x="0" y="237744"/>
                </a:lnTo>
                <a:lnTo>
                  <a:pt x="0" y="442849"/>
                </a:lnTo>
                <a:lnTo>
                  <a:pt x="0" y="2214245"/>
                </a:lnTo>
                <a:lnTo>
                  <a:pt x="0" y="2635758"/>
                </a:lnTo>
                <a:lnTo>
                  <a:pt x="307352" y="2635758"/>
                </a:lnTo>
                <a:lnTo>
                  <a:pt x="347840" y="2646883"/>
                </a:lnTo>
                <a:lnTo>
                  <a:pt x="394589" y="2654503"/>
                </a:lnTo>
                <a:lnTo>
                  <a:pt x="442849" y="2657094"/>
                </a:lnTo>
                <a:lnTo>
                  <a:pt x="7710551" y="2657094"/>
                </a:lnTo>
                <a:lnTo>
                  <a:pt x="7758798" y="2654503"/>
                </a:lnTo>
                <a:lnTo>
                  <a:pt x="7805547" y="2646883"/>
                </a:lnTo>
                <a:lnTo>
                  <a:pt x="7846034" y="2635758"/>
                </a:lnTo>
                <a:lnTo>
                  <a:pt x="8013954" y="2635758"/>
                </a:lnTo>
                <a:lnTo>
                  <a:pt x="8013954" y="2536317"/>
                </a:lnTo>
                <a:lnTo>
                  <a:pt x="8039303" y="2510967"/>
                </a:lnTo>
                <a:lnTo>
                  <a:pt x="8067954" y="2475801"/>
                </a:lnTo>
                <a:lnTo>
                  <a:pt x="8092935" y="2437777"/>
                </a:lnTo>
                <a:lnTo>
                  <a:pt x="8113979" y="2397163"/>
                </a:lnTo>
                <a:lnTo>
                  <a:pt x="8130819" y="2354237"/>
                </a:lnTo>
                <a:lnTo>
                  <a:pt x="8143176" y="2309253"/>
                </a:lnTo>
                <a:lnTo>
                  <a:pt x="8150796" y="2262505"/>
                </a:lnTo>
                <a:lnTo>
                  <a:pt x="8153400" y="2214245"/>
                </a:lnTo>
                <a:lnTo>
                  <a:pt x="8153400" y="442849"/>
                </a:lnTo>
                <a:close/>
              </a:path>
            </a:pathLst>
          </a:custGeom>
          <a:solidFill>
            <a:srgbClr val="9BBA58"/>
          </a:solidFill>
        </p:spPr>
        <p:txBody>
          <a:bodyPr wrap="square" lIns="0" tIns="0" rIns="0" bIns="0" rtlCol="0"/>
          <a:lstStyle/>
          <a:p>
            <a:endParaRPr/>
          </a:p>
        </p:txBody>
      </p:sp>
      <p:sp>
        <p:nvSpPr>
          <p:cNvPr id="4" name="object 4"/>
          <p:cNvSpPr txBox="1"/>
          <p:nvPr/>
        </p:nvSpPr>
        <p:spPr>
          <a:xfrm>
            <a:off x="558800" y="1607058"/>
            <a:ext cx="7888605" cy="1658620"/>
          </a:xfrm>
          <a:prstGeom prst="rect">
            <a:avLst/>
          </a:prstGeom>
        </p:spPr>
        <p:txBody>
          <a:bodyPr vert="horz" wrap="square" lIns="0" tIns="50165" rIns="0" bIns="0" rtlCol="0">
            <a:spAutoFit/>
          </a:bodyPr>
          <a:lstStyle/>
          <a:p>
            <a:pPr marL="12700" marR="5080">
              <a:lnSpc>
                <a:spcPts val="2380"/>
              </a:lnSpc>
              <a:spcBef>
                <a:spcPts val="395"/>
              </a:spcBef>
            </a:pPr>
            <a:r>
              <a:rPr sz="2200" spc="90" dirty="0">
                <a:solidFill>
                  <a:srgbClr val="FFFFFF"/>
                </a:solidFill>
                <a:latin typeface="Arial"/>
                <a:cs typeface="Arial"/>
              </a:rPr>
              <a:t>In </a:t>
            </a:r>
            <a:r>
              <a:rPr sz="2200" spc="25" dirty="0">
                <a:solidFill>
                  <a:srgbClr val="FFFFFF"/>
                </a:solidFill>
                <a:latin typeface="Arial"/>
                <a:cs typeface="Arial"/>
              </a:rPr>
              <a:t>SQL </a:t>
            </a:r>
            <a:r>
              <a:rPr sz="2200" spc="-55" dirty="0">
                <a:solidFill>
                  <a:srgbClr val="FFFFFF"/>
                </a:solidFill>
                <a:latin typeface="Arial"/>
                <a:cs typeface="Arial"/>
              </a:rPr>
              <a:t>Server </a:t>
            </a:r>
            <a:r>
              <a:rPr sz="2200" spc="-195" dirty="0">
                <a:solidFill>
                  <a:srgbClr val="FFFFFF"/>
                </a:solidFill>
                <a:latin typeface="Arial"/>
                <a:cs typeface="Arial"/>
              </a:rPr>
              <a:t>2019, </a:t>
            </a:r>
            <a:r>
              <a:rPr sz="2200" spc="-5" dirty="0">
                <a:solidFill>
                  <a:srgbClr val="FFFFFF"/>
                </a:solidFill>
                <a:latin typeface="Arial"/>
                <a:cs typeface="Arial"/>
              </a:rPr>
              <a:t>ownership </a:t>
            </a:r>
            <a:r>
              <a:rPr sz="2200" spc="60" dirty="0">
                <a:solidFill>
                  <a:srgbClr val="FFFFFF"/>
                </a:solidFill>
                <a:latin typeface="Arial"/>
                <a:cs typeface="Arial"/>
              </a:rPr>
              <a:t>of </a:t>
            </a:r>
            <a:r>
              <a:rPr sz="2200" spc="-210" dirty="0">
                <a:solidFill>
                  <a:srgbClr val="FFFFFF"/>
                </a:solidFill>
                <a:latin typeface="Arial"/>
                <a:cs typeface="Arial"/>
              </a:rPr>
              <a:t>a </a:t>
            </a:r>
            <a:r>
              <a:rPr sz="2200" spc="-25" dirty="0">
                <a:solidFill>
                  <a:srgbClr val="FFFFFF"/>
                </a:solidFill>
                <a:latin typeface="Arial"/>
                <a:cs typeface="Arial"/>
              </a:rPr>
              <a:t>user-defined </a:t>
            </a:r>
            <a:r>
              <a:rPr sz="2200" spc="-120" dirty="0">
                <a:solidFill>
                  <a:srgbClr val="FFFFFF"/>
                </a:solidFill>
                <a:latin typeface="Arial"/>
                <a:cs typeface="Arial"/>
              </a:rPr>
              <a:t>database </a:t>
            </a:r>
            <a:r>
              <a:rPr sz="2200" spc="-80" dirty="0">
                <a:solidFill>
                  <a:srgbClr val="FFFFFF"/>
                </a:solidFill>
                <a:latin typeface="Arial"/>
                <a:cs typeface="Arial"/>
              </a:rPr>
              <a:t>can </a:t>
            </a:r>
            <a:r>
              <a:rPr sz="2200" spc="-110" dirty="0">
                <a:solidFill>
                  <a:srgbClr val="FFFFFF"/>
                </a:solidFill>
                <a:latin typeface="Arial"/>
                <a:cs typeface="Arial"/>
              </a:rPr>
              <a:t>be  </a:t>
            </a:r>
            <a:r>
              <a:rPr sz="2200" spc="-70" dirty="0">
                <a:solidFill>
                  <a:srgbClr val="FFFFFF"/>
                </a:solidFill>
                <a:latin typeface="Arial"/>
                <a:cs typeface="Arial"/>
              </a:rPr>
              <a:t>changed.</a:t>
            </a:r>
            <a:endParaRPr sz="2200">
              <a:latin typeface="Arial"/>
              <a:cs typeface="Arial"/>
            </a:endParaRPr>
          </a:p>
          <a:p>
            <a:pPr marL="298450" indent="-285750">
              <a:lnSpc>
                <a:spcPts val="1970"/>
              </a:lnSpc>
              <a:buFont typeface="Wingdings"/>
              <a:buChar char=""/>
              <a:tabLst>
                <a:tab pos="298450" algn="l"/>
              </a:tabLst>
            </a:pPr>
            <a:r>
              <a:rPr sz="1800" spc="10" dirty="0">
                <a:solidFill>
                  <a:srgbClr val="FFFFFF"/>
                </a:solidFill>
                <a:latin typeface="Arial"/>
                <a:cs typeface="Arial"/>
              </a:rPr>
              <a:t>Ownership</a:t>
            </a:r>
            <a:r>
              <a:rPr sz="1800" spc="-95" dirty="0">
                <a:solidFill>
                  <a:srgbClr val="FFFFFF"/>
                </a:solidFill>
                <a:latin typeface="Arial"/>
                <a:cs typeface="Arial"/>
              </a:rPr>
              <a:t> </a:t>
            </a:r>
            <a:r>
              <a:rPr sz="1800" spc="45" dirty="0">
                <a:solidFill>
                  <a:srgbClr val="FFFFFF"/>
                </a:solidFill>
                <a:latin typeface="Arial"/>
                <a:cs typeface="Arial"/>
              </a:rPr>
              <a:t>of</a:t>
            </a:r>
            <a:r>
              <a:rPr sz="1800" spc="-110" dirty="0">
                <a:solidFill>
                  <a:srgbClr val="FFFFFF"/>
                </a:solidFill>
                <a:latin typeface="Arial"/>
                <a:cs typeface="Arial"/>
              </a:rPr>
              <a:t> </a:t>
            </a:r>
            <a:r>
              <a:rPr sz="1800" spc="-75" dirty="0">
                <a:solidFill>
                  <a:srgbClr val="FFFFFF"/>
                </a:solidFill>
                <a:latin typeface="Arial"/>
                <a:cs typeface="Arial"/>
              </a:rPr>
              <a:t>system</a:t>
            </a:r>
            <a:r>
              <a:rPr sz="1800" spc="-105" dirty="0">
                <a:solidFill>
                  <a:srgbClr val="FFFFFF"/>
                </a:solidFill>
                <a:latin typeface="Arial"/>
                <a:cs typeface="Arial"/>
              </a:rPr>
              <a:t> </a:t>
            </a:r>
            <a:r>
              <a:rPr sz="1800" spc="-110" dirty="0">
                <a:solidFill>
                  <a:srgbClr val="FFFFFF"/>
                </a:solidFill>
                <a:latin typeface="Arial"/>
                <a:cs typeface="Arial"/>
              </a:rPr>
              <a:t>databases</a:t>
            </a:r>
            <a:r>
              <a:rPr sz="1800" spc="-125" dirty="0">
                <a:solidFill>
                  <a:srgbClr val="FFFFFF"/>
                </a:solidFill>
                <a:latin typeface="Arial"/>
                <a:cs typeface="Arial"/>
              </a:rPr>
              <a:t> </a:t>
            </a:r>
            <a:r>
              <a:rPr sz="1800" spc="-10" dirty="0">
                <a:solidFill>
                  <a:srgbClr val="FFFFFF"/>
                </a:solidFill>
                <a:latin typeface="Arial"/>
                <a:cs typeface="Arial"/>
              </a:rPr>
              <a:t>cannot</a:t>
            </a:r>
            <a:r>
              <a:rPr sz="1800" spc="-125" dirty="0">
                <a:solidFill>
                  <a:srgbClr val="FFFFFF"/>
                </a:solidFill>
                <a:latin typeface="Arial"/>
                <a:cs typeface="Arial"/>
              </a:rPr>
              <a:t> </a:t>
            </a:r>
            <a:r>
              <a:rPr sz="1800" spc="-95" dirty="0">
                <a:solidFill>
                  <a:srgbClr val="FFFFFF"/>
                </a:solidFill>
                <a:latin typeface="Arial"/>
                <a:cs typeface="Arial"/>
              </a:rPr>
              <a:t>be</a:t>
            </a:r>
            <a:r>
              <a:rPr sz="1800" spc="-105" dirty="0">
                <a:solidFill>
                  <a:srgbClr val="FFFFFF"/>
                </a:solidFill>
                <a:latin typeface="Arial"/>
                <a:cs typeface="Arial"/>
              </a:rPr>
              <a:t> </a:t>
            </a:r>
            <a:r>
              <a:rPr sz="1800" spc="-60" dirty="0">
                <a:solidFill>
                  <a:srgbClr val="FFFFFF"/>
                </a:solidFill>
                <a:latin typeface="Arial"/>
                <a:cs typeface="Arial"/>
              </a:rPr>
              <a:t>changed.</a:t>
            </a:r>
            <a:endParaRPr sz="1800">
              <a:latin typeface="Arial"/>
              <a:cs typeface="Arial"/>
            </a:endParaRPr>
          </a:p>
          <a:p>
            <a:pPr marL="298450" marR="6350" indent="-285750">
              <a:lnSpc>
                <a:spcPts val="1939"/>
              </a:lnSpc>
              <a:spcBef>
                <a:spcPts val="1975"/>
              </a:spcBef>
              <a:buFont typeface="Wingdings"/>
              <a:buChar char=""/>
              <a:tabLst>
                <a:tab pos="298450" algn="l"/>
              </a:tabLst>
            </a:pPr>
            <a:r>
              <a:rPr sz="1800" spc="15" dirty="0">
                <a:solidFill>
                  <a:srgbClr val="FFFFFF"/>
                </a:solidFill>
                <a:latin typeface="Arial"/>
                <a:cs typeface="Arial"/>
              </a:rPr>
              <a:t>The </a:t>
            </a:r>
            <a:r>
              <a:rPr sz="1800" spc="-75" dirty="0">
                <a:solidFill>
                  <a:srgbClr val="FFFFFF"/>
                </a:solidFill>
                <a:latin typeface="Arial"/>
                <a:cs typeface="Arial"/>
              </a:rPr>
              <a:t>system </a:t>
            </a:r>
            <a:r>
              <a:rPr sz="1800" spc="-30" dirty="0">
                <a:solidFill>
                  <a:srgbClr val="FFFFFF"/>
                </a:solidFill>
                <a:latin typeface="Arial"/>
                <a:cs typeface="Arial"/>
              </a:rPr>
              <a:t>procedure </a:t>
            </a:r>
            <a:r>
              <a:rPr sz="1800" spc="-80" dirty="0">
                <a:solidFill>
                  <a:srgbClr val="FFFFFF"/>
                </a:solidFill>
                <a:latin typeface="Arial"/>
                <a:cs typeface="Arial"/>
              </a:rPr>
              <a:t>sp_changedbowner </a:t>
            </a:r>
            <a:r>
              <a:rPr sz="1800" spc="-45" dirty="0">
                <a:solidFill>
                  <a:srgbClr val="FFFFFF"/>
                </a:solidFill>
                <a:latin typeface="Arial"/>
                <a:cs typeface="Arial"/>
              </a:rPr>
              <a:t>is </a:t>
            </a:r>
            <a:r>
              <a:rPr sz="1800" spc="-75" dirty="0">
                <a:solidFill>
                  <a:srgbClr val="FFFFFF"/>
                </a:solidFill>
                <a:latin typeface="Arial"/>
                <a:cs typeface="Arial"/>
              </a:rPr>
              <a:t>used </a:t>
            </a:r>
            <a:r>
              <a:rPr sz="1800" spc="45" dirty="0">
                <a:solidFill>
                  <a:srgbClr val="FFFFFF"/>
                </a:solidFill>
                <a:latin typeface="Arial"/>
                <a:cs typeface="Arial"/>
              </a:rPr>
              <a:t>to </a:t>
            </a:r>
            <a:r>
              <a:rPr sz="1800" spc="-75" dirty="0">
                <a:solidFill>
                  <a:srgbClr val="FFFFFF"/>
                </a:solidFill>
                <a:latin typeface="Arial"/>
                <a:cs typeface="Arial"/>
              </a:rPr>
              <a:t>change </a:t>
            </a:r>
            <a:r>
              <a:rPr sz="1800" dirty="0">
                <a:solidFill>
                  <a:srgbClr val="FFFFFF"/>
                </a:solidFill>
                <a:latin typeface="Arial"/>
                <a:cs typeface="Arial"/>
              </a:rPr>
              <a:t>the </a:t>
            </a:r>
            <a:r>
              <a:rPr sz="1800" spc="-5" dirty="0">
                <a:solidFill>
                  <a:srgbClr val="FFFFFF"/>
                </a:solidFill>
                <a:latin typeface="Arial"/>
                <a:cs typeface="Arial"/>
              </a:rPr>
              <a:t>ownership </a:t>
            </a:r>
            <a:r>
              <a:rPr sz="1800" spc="45" dirty="0">
                <a:solidFill>
                  <a:srgbClr val="FFFFFF"/>
                </a:solidFill>
                <a:latin typeface="Arial"/>
                <a:cs typeface="Arial"/>
              </a:rPr>
              <a:t>of  </a:t>
            </a:r>
            <a:r>
              <a:rPr sz="1800" spc="-175" dirty="0">
                <a:solidFill>
                  <a:srgbClr val="FFFFFF"/>
                </a:solidFill>
                <a:latin typeface="Arial"/>
                <a:cs typeface="Arial"/>
              </a:rPr>
              <a:t>a</a:t>
            </a:r>
            <a:r>
              <a:rPr sz="1800" spc="-125" dirty="0">
                <a:solidFill>
                  <a:srgbClr val="FFFFFF"/>
                </a:solidFill>
                <a:latin typeface="Arial"/>
                <a:cs typeface="Arial"/>
              </a:rPr>
              <a:t> </a:t>
            </a:r>
            <a:r>
              <a:rPr sz="1800" spc="-90" dirty="0">
                <a:solidFill>
                  <a:srgbClr val="FFFFFF"/>
                </a:solidFill>
                <a:latin typeface="Arial"/>
                <a:cs typeface="Arial"/>
              </a:rPr>
              <a:t>database.</a:t>
            </a:r>
            <a:endParaRPr sz="1800">
              <a:latin typeface="Arial"/>
              <a:cs typeface="Arial"/>
            </a:endParaRPr>
          </a:p>
        </p:txBody>
      </p:sp>
      <p:pic>
        <p:nvPicPr>
          <p:cNvPr id="5" name="object 5"/>
          <p:cNvPicPr/>
          <p:nvPr/>
        </p:nvPicPr>
        <p:blipFill>
          <a:blip r:embed="rId3" cstate="print"/>
          <a:stretch>
            <a:fillRect/>
          </a:stretch>
        </p:blipFill>
        <p:spPr>
          <a:xfrm>
            <a:off x="1179575" y="4448555"/>
            <a:ext cx="6784848" cy="413004"/>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10</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626100" cy="635635"/>
          </a:xfrm>
          <a:prstGeom prst="rect">
            <a:avLst/>
          </a:prstGeom>
        </p:spPr>
        <p:txBody>
          <a:bodyPr vert="horz" wrap="square" lIns="0" tIns="12700" rIns="0" bIns="0" rtlCol="0">
            <a:spAutoFit/>
          </a:bodyPr>
          <a:lstStyle/>
          <a:p>
            <a:pPr marL="12700">
              <a:lnSpc>
                <a:spcPct val="100000"/>
              </a:lnSpc>
              <a:spcBef>
                <a:spcPts val="100"/>
              </a:spcBef>
            </a:pPr>
            <a:r>
              <a:rPr spc="-5" dirty="0"/>
              <a:t>Setting </a:t>
            </a:r>
            <a:r>
              <a:rPr spc="-180" dirty="0"/>
              <a:t>Database</a:t>
            </a:r>
            <a:r>
              <a:rPr spc="-565" dirty="0"/>
              <a:t> </a:t>
            </a:r>
            <a:r>
              <a:rPr spc="65" dirty="0"/>
              <a:t>Options</a:t>
            </a:r>
          </a:p>
        </p:txBody>
      </p:sp>
      <p:sp>
        <p:nvSpPr>
          <p:cNvPr id="3" name="object 3"/>
          <p:cNvSpPr/>
          <p:nvPr/>
        </p:nvSpPr>
        <p:spPr>
          <a:xfrm>
            <a:off x="157734" y="872489"/>
            <a:ext cx="7129780" cy="966469"/>
          </a:xfrm>
          <a:custGeom>
            <a:avLst/>
            <a:gdLst/>
            <a:ahLst/>
            <a:cxnLst/>
            <a:rect l="l" t="t" r="r" b="b"/>
            <a:pathLst>
              <a:path w="7129780" h="966469">
                <a:moveTo>
                  <a:pt x="7129272" y="161036"/>
                </a:moveTo>
                <a:lnTo>
                  <a:pt x="7123506" y="118249"/>
                </a:lnTo>
                <a:lnTo>
                  <a:pt x="7107275" y="79781"/>
                </a:lnTo>
                <a:lnTo>
                  <a:pt x="7082091" y="47180"/>
                </a:lnTo>
                <a:lnTo>
                  <a:pt x="7049490" y="21996"/>
                </a:lnTo>
                <a:lnTo>
                  <a:pt x="7011022" y="5765"/>
                </a:lnTo>
                <a:lnTo>
                  <a:pt x="6968236" y="0"/>
                </a:lnTo>
                <a:lnTo>
                  <a:pt x="161036" y="0"/>
                </a:lnTo>
                <a:lnTo>
                  <a:pt x="118224" y="5765"/>
                </a:lnTo>
                <a:lnTo>
                  <a:pt x="79756" y="21996"/>
                </a:lnTo>
                <a:lnTo>
                  <a:pt x="47155" y="47180"/>
                </a:lnTo>
                <a:lnTo>
                  <a:pt x="21983" y="79781"/>
                </a:lnTo>
                <a:lnTo>
                  <a:pt x="19304" y="86106"/>
                </a:lnTo>
                <a:lnTo>
                  <a:pt x="0" y="86106"/>
                </a:lnTo>
                <a:lnTo>
                  <a:pt x="0" y="161036"/>
                </a:lnTo>
                <a:lnTo>
                  <a:pt x="0" y="805180"/>
                </a:lnTo>
                <a:lnTo>
                  <a:pt x="0" y="957834"/>
                </a:lnTo>
                <a:lnTo>
                  <a:pt x="111988" y="957834"/>
                </a:lnTo>
                <a:lnTo>
                  <a:pt x="118224" y="960462"/>
                </a:lnTo>
                <a:lnTo>
                  <a:pt x="161036" y="966216"/>
                </a:lnTo>
                <a:lnTo>
                  <a:pt x="6968236" y="966216"/>
                </a:lnTo>
                <a:lnTo>
                  <a:pt x="7011022" y="960462"/>
                </a:lnTo>
                <a:lnTo>
                  <a:pt x="7049490" y="944232"/>
                </a:lnTo>
                <a:lnTo>
                  <a:pt x="7082091" y="919035"/>
                </a:lnTo>
                <a:lnTo>
                  <a:pt x="7107275" y="886447"/>
                </a:lnTo>
                <a:lnTo>
                  <a:pt x="7123506" y="847979"/>
                </a:lnTo>
                <a:lnTo>
                  <a:pt x="7129272" y="805180"/>
                </a:lnTo>
                <a:lnTo>
                  <a:pt x="7129272" y="161036"/>
                </a:lnTo>
                <a:close/>
              </a:path>
            </a:pathLst>
          </a:custGeom>
          <a:solidFill>
            <a:srgbClr val="000000"/>
          </a:solidFill>
        </p:spPr>
        <p:txBody>
          <a:bodyPr wrap="square" lIns="0" tIns="0" rIns="0" bIns="0" rtlCol="0"/>
          <a:lstStyle/>
          <a:p>
            <a:endParaRPr/>
          </a:p>
        </p:txBody>
      </p:sp>
      <p:sp>
        <p:nvSpPr>
          <p:cNvPr id="4" name="object 4"/>
          <p:cNvSpPr/>
          <p:nvPr/>
        </p:nvSpPr>
        <p:spPr>
          <a:xfrm>
            <a:off x="2292858" y="2004821"/>
            <a:ext cx="6704965" cy="966469"/>
          </a:xfrm>
          <a:custGeom>
            <a:avLst/>
            <a:gdLst/>
            <a:ahLst/>
            <a:cxnLst/>
            <a:rect l="l" t="t" r="r" b="b"/>
            <a:pathLst>
              <a:path w="6704965" h="966469">
                <a:moveTo>
                  <a:pt x="6704838" y="161036"/>
                </a:moveTo>
                <a:lnTo>
                  <a:pt x="6699072" y="118249"/>
                </a:lnTo>
                <a:lnTo>
                  <a:pt x="6682841" y="79781"/>
                </a:lnTo>
                <a:lnTo>
                  <a:pt x="6657657" y="47180"/>
                </a:lnTo>
                <a:lnTo>
                  <a:pt x="6625056" y="21996"/>
                </a:lnTo>
                <a:lnTo>
                  <a:pt x="6586588" y="5765"/>
                </a:lnTo>
                <a:lnTo>
                  <a:pt x="6543802" y="0"/>
                </a:lnTo>
                <a:lnTo>
                  <a:pt x="161036" y="0"/>
                </a:lnTo>
                <a:lnTo>
                  <a:pt x="118237" y="5765"/>
                </a:lnTo>
                <a:lnTo>
                  <a:pt x="79768" y="21996"/>
                </a:lnTo>
                <a:lnTo>
                  <a:pt x="47180" y="47180"/>
                </a:lnTo>
                <a:lnTo>
                  <a:pt x="21983" y="79781"/>
                </a:lnTo>
                <a:lnTo>
                  <a:pt x="19304" y="86106"/>
                </a:lnTo>
                <a:lnTo>
                  <a:pt x="0" y="86106"/>
                </a:lnTo>
                <a:lnTo>
                  <a:pt x="0" y="161036"/>
                </a:lnTo>
                <a:lnTo>
                  <a:pt x="0" y="805180"/>
                </a:lnTo>
                <a:lnTo>
                  <a:pt x="0" y="958596"/>
                </a:lnTo>
                <a:lnTo>
                  <a:pt x="113804" y="958596"/>
                </a:lnTo>
                <a:lnTo>
                  <a:pt x="118237" y="960462"/>
                </a:lnTo>
                <a:lnTo>
                  <a:pt x="161036" y="966216"/>
                </a:lnTo>
                <a:lnTo>
                  <a:pt x="6543802" y="966216"/>
                </a:lnTo>
                <a:lnTo>
                  <a:pt x="6586588" y="960462"/>
                </a:lnTo>
                <a:lnTo>
                  <a:pt x="6625056" y="944232"/>
                </a:lnTo>
                <a:lnTo>
                  <a:pt x="6657657" y="919035"/>
                </a:lnTo>
                <a:lnTo>
                  <a:pt x="6682841" y="886447"/>
                </a:lnTo>
                <a:lnTo>
                  <a:pt x="6699072" y="847979"/>
                </a:lnTo>
                <a:lnTo>
                  <a:pt x="6704838" y="805180"/>
                </a:lnTo>
                <a:lnTo>
                  <a:pt x="6704838" y="161036"/>
                </a:lnTo>
                <a:close/>
              </a:path>
            </a:pathLst>
          </a:custGeom>
          <a:solidFill>
            <a:srgbClr val="C0504D"/>
          </a:solidFill>
        </p:spPr>
        <p:txBody>
          <a:bodyPr wrap="square" lIns="0" tIns="0" rIns="0" bIns="0" rtlCol="0"/>
          <a:lstStyle/>
          <a:p>
            <a:endParaRPr/>
          </a:p>
        </p:txBody>
      </p:sp>
      <p:sp>
        <p:nvSpPr>
          <p:cNvPr id="5" name="object 5"/>
          <p:cNvSpPr txBox="1"/>
          <p:nvPr/>
        </p:nvSpPr>
        <p:spPr>
          <a:xfrm>
            <a:off x="221234" y="965200"/>
            <a:ext cx="8599170" cy="1853564"/>
          </a:xfrm>
          <a:prstGeom prst="rect">
            <a:avLst/>
          </a:prstGeom>
        </p:spPr>
        <p:txBody>
          <a:bodyPr vert="horz" wrap="square" lIns="0" tIns="53975" rIns="0" bIns="0" rtlCol="0">
            <a:spAutoFit/>
          </a:bodyPr>
          <a:lstStyle/>
          <a:p>
            <a:pPr marL="12700" marR="1722755">
              <a:lnSpc>
                <a:spcPts val="2590"/>
              </a:lnSpc>
              <a:spcBef>
                <a:spcPts val="425"/>
              </a:spcBef>
            </a:pPr>
            <a:r>
              <a:rPr sz="2400" spc="-70" dirty="0">
                <a:solidFill>
                  <a:srgbClr val="FFFFFF"/>
                </a:solidFill>
                <a:latin typeface="Arial"/>
                <a:cs typeface="Arial"/>
              </a:rPr>
              <a:t>Database-level </a:t>
            </a:r>
            <a:r>
              <a:rPr sz="2400" spc="10" dirty="0">
                <a:solidFill>
                  <a:srgbClr val="FFFFFF"/>
                </a:solidFill>
                <a:latin typeface="Arial"/>
                <a:cs typeface="Arial"/>
              </a:rPr>
              <a:t>options </a:t>
            </a:r>
            <a:r>
              <a:rPr sz="2400" spc="-20" dirty="0">
                <a:solidFill>
                  <a:srgbClr val="FFFFFF"/>
                </a:solidFill>
                <a:latin typeface="Arial"/>
                <a:cs typeface="Arial"/>
              </a:rPr>
              <a:t>determine </a:t>
            </a:r>
            <a:r>
              <a:rPr sz="2400" dirty="0">
                <a:solidFill>
                  <a:srgbClr val="FFFFFF"/>
                </a:solidFill>
                <a:latin typeface="Arial"/>
                <a:cs typeface="Arial"/>
              </a:rPr>
              <a:t>the</a:t>
            </a:r>
            <a:r>
              <a:rPr sz="2400" spc="-85" dirty="0">
                <a:solidFill>
                  <a:srgbClr val="FFFFFF"/>
                </a:solidFill>
                <a:latin typeface="Arial"/>
                <a:cs typeface="Arial"/>
              </a:rPr>
              <a:t> </a:t>
            </a:r>
            <a:r>
              <a:rPr sz="2400" spc="-45" dirty="0">
                <a:solidFill>
                  <a:srgbClr val="FFFFFF"/>
                </a:solidFill>
                <a:latin typeface="Arial"/>
                <a:cs typeface="Arial"/>
              </a:rPr>
              <a:t>characteristics  </a:t>
            </a:r>
            <a:r>
              <a:rPr sz="2400" spc="65" dirty="0">
                <a:solidFill>
                  <a:srgbClr val="FFFFFF"/>
                </a:solidFill>
                <a:latin typeface="Arial"/>
                <a:cs typeface="Arial"/>
              </a:rPr>
              <a:t>of</a:t>
            </a:r>
            <a:r>
              <a:rPr sz="2400" spc="-160" dirty="0">
                <a:solidFill>
                  <a:srgbClr val="FFFFFF"/>
                </a:solidFill>
                <a:latin typeface="Arial"/>
                <a:cs typeface="Arial"/>
              </a:rPr>
              <a:t> </a:t>
            </a:r>
            <a:r>
              <a:rPr sz="2400" dirty="0">
                <a:solidFill>
                  <a:srgbClr val="FFFFFF"/>
                </a:solidFill>
                <a:latin typeface="Arial"/>
                <a:cs typeface="Arial"/>
              </a:rPr>
              <a:t>the</a:t>
            </a:r>
            <a:r>
              <a:rPr sz="2400" spc="-160" dirty="0">
                <a:solidFill>
                  <a:srgbClr val="FFFFFF"/>
                </a:solidFill>
                <a:latin typeface="Arial"/>
                <a:cs typeface="Arial"/>
              </a:rPr>
              <a:t> </a:t>
            </a:r>
            <a:r>
              <a:rPr sz="2400" spc="-130" dirty="0">
                <a:solidFill>
                  <a:srgbClr val="FFFFFF"/>
                </a:solidFill>
                <a:latin typeface="Arial"/>
                <a:cs typeface="Arial"/>
              </a:rPr>
              <a:t>database</a:t>
            </a:r>
            <a:r>
              <a:rPr sz="2400" spc="-145" dirty="0">
                <a:solidFill>
                  <a:srgbClr val="FFFFFF"/>
                </a:solidFill>
                <a:latin typeface="Arial"/>
                <a:cs typeface="Arial"/>
              </a:rPr>
              <a:t> </a:t>
            </a:r>
            <a:r>
              <a:rPr sz="2400" spc="35" dirty="0">
                <a:solidFill>
                  <a:srgbClr val="FFFFFF"/>
                </a:solidFill>
                <a:latin typeface="Arial"/>
                <a:cs typeface="Arial"/>
              </a:rPr>
              <a:t>that</a:t>
            </a:r>
            <a:r>
              <a:rPr sz="2400" spc="-140" dirty="0">
                <a:solidFill>
                  <a:srgbClr val="FFFFFF"/>
                </a:solidFill>
                <a:latin typeface="Arial"/>
                <a:cs typeface="Arial"/>
              </a:rPr>
              <a:t> </a:t>
            </a:r>
            <a:r>
              <a:rPr sz="2400" spc="-90" dirty="0">
                <a:solidFill>
                  <a:srgbClr val="FFFFFF"/>
                </a:solidFill>
                <a:latin typeface="Arial"/>
                <a:cs typeface="Arial"/>
              </a:rPr>
              <a:t>can</a:t>
            </a:r>
            <a:r>
              <a:rPr sz="2400" spc="-145" dirty="0">
                <a:solidFill>
                  <a:srgbClr val="FFFFFF"/>
                </a:solidFill>
                <a:latin typeface="Arial"/>
                <a:cs typeface="Arial"/>
              </a:rPr>
              <a:t> </a:t>
            </a:r>
            <a:r>
              <a:rPr sz="2400" spc="-120" dirty="0">
                <a:solidFill>
                  <a:srgbClr val="FFFFFF"/>
                </a:solidFill>
                <a:latin typeface="Arial"/>
                <a:cs typeface="Arial"/>
              </a:rPr>
              <a:t>be</a:t>
            </a:r>
            <a:r>
              <a:rPr sz="2400" spc="-170" dirty="0">
                <a:solidFill>
                  <a:srgbClr val="FFFFFF"/>
                </a:solidFill>
                <a:latin typeface="Arial"/>
                <a:cs typeface="Arial"/>
              </a:rPr>
              <a:t> </a:t>
            </a:r>
            <a:r>
              <a:rPr sz="2400" spc="-110" dirty="0">
                <a:solidFill>
                  <a:srgbClr val="FFFFFF"/>
                </a:solidFill>
                <a:latin typeface="Arial"/>
                <a:cs typeface="Arial"/>
              </a:rPr>
              <a:t>set</a:t>
            </a:r>
            <a:r>
              <a:rPr sz="2400" spc="-160" dirty="0">
                <a:solidFill>
                  <a:srgbClr val="FFFFFF"/>
                </a:solidFill>
                <a:latin typeface="Arial"/>
                <a:cs typeface="Arial"/>
              </a:rPr>
              <a:t> </a:t>
            </a:r>
            <a:r>
              <a:rPr sz="2400" spc="80" dirty="0">
                <a:solidFill>
                  <a:srgbClr val="FFFFFF"/>
                </a:solidFill>
                <a:latin typeface="Arial"/>
                <a:cs typeface="Arial"/>
              </a:rPr>
              <a:t>for</a:t>
            </a:r>
            <a:r>
              <a:rPr sz="2400" spc="-155" dirty="0">
                <a:solidFill>
                  <a:srgbClr val="FFFFFF"/>
                </a:solidFill>
                <a:latin typeface="Arial"/>
                <a:cs typeface="Arial"/>
              </a:rPr>
              <a:t> </a:t>
            </a:r>
            <a:r>
              <a:rPr sz="2400" spc="-125" dirty="0">
                <a:solidFill>
                  <a:srgbClr val="FFFFFF"/>
                </a:solidFill>
                <a:latin typeface="Arial"/>
                <a:cs typeface="Arial"/>
              </a:rPr>
              <a:t>each</a:t>
            </a:r>
            <a:r>
              <a:rPr sz="2400" spc="-150" dirty="0">
                <a:solidFill>
                  <a:srgbClr val="FFFFFF"/>
                </a:solidFill>
                <a:latin typeface="Arial"/>
                <a:cs typeface="Arial"/>
              </a:rPr>
              <a:t> </a:t>
            </a:r>
            <a:r>
              <a:rPr sz="2400" spc="-130" dirty="0">
                <a:solidFill>
                  <a:srgbClr val="FFFFFF"/>
                </a:solidFill>
                <a:latin typeface="Arial"/>
                <a:cs typeface="Arial"/>
              </a:rPr>
              <a:t>database</a:t>
            </a:r>
            <a:endParaRPr sz="2400">
              <a:latin typeface="Arial"/>
              <a:cs typeface="Arial"/>
            </a:endParaRPr>
          </a:p>
          <a:p>
            <a:pPr>
              <a:lnSpc>
                <a:spcPct val="100000"/>
              </a:lnSpc>
              <a:spcBef>
                <a:spcPts val="5"/>
              </a:spcBef>
            </a:pPr>
            <a:endParaRPr sz="3250">
              <a:latin typeface="Arial"/>
              <a:cs typeface="Arial"/>
            </a:endParaRPr>
          </a:p>
          <a:p>
            <a:pPr marL="2147570" marR="5080">
              <a:lnSpc>
                <a:spcPts val="2590"/>
              </a:lnSpc>
            </a:pPr>
            <a:r>
              <a:rPr sz="2400" spc="25" dirty="0">
                <a:solidFill>
                  <a:srgbClr val="FFFFFF"/>
                </a:solidFill>
                <a:latin typeface="Arial"/>
                <a:cs typeface="Arial"/>
              </a:rPr>
              <a:t>The </a:t>
            </a:r>
            <a:r>
              <a:rPr sz="2400" spc="10" dirty="0">
                <a:solidFill>
                  <a:srgbClr val="FFFFFF"/>
                </a:solidFill>
                <a:latin typeface="Arial"/>
                <a:cs typeface="Arial"/>
              </a:rPr>
              <a:t>options </a:t>
            </a:r>
            <a:r>
              <a:rPr sz="2400" spc="-114" dirty="0">
                <a:solidFill>
                  <a:srgbClr val="FFFFFF"/>
                </a:solidFill>
                <a:latin typeface="Arial"/>
                <a:cs typeface="Arial"/>
              </a:rPr>
              <a:t>are </a:t>
            </a:r>
            <a:r>
              <a:rPr sz="2400" spc="15" dirty="0">
                <a:solidFill>
                  <a:srgbClr val="FFFFFF"/>
                </a:solidFill>
                <a:latin typeface="Arial"/>
                <a:cs typeface="Arial"/>
              </a:rPr>
              <a:t>unique </a:t>
            </a:r>
            <a:r>
              <a:rPr sz="2400" spc="65" dirty="0">
                <a:solidFill>
                  <a:srgbClr val="FFFFFF"/>
                </a:solidFill>
                <a:latin typeface="Arial"/>
                <a:cs typeface="Arial"/>
              </a:rPr>
              <a:t>to </a:t>
            </a:r>
            <a:r>
              <a:rPr sz="2400" spc="-125" dirty="0">
                <a:solidFill>
                  <a:srgbClr val="FFFFFF"/>
                </a:solidFill>
                <a:latin typeface="Arial"/>
                <a:cs typeface="Arial"/>
              </a:rPr>
              <a:t>each </a:t>
            </a:r>
            <a:r>
              <a:rPr sz="2400" spc="-120" dirty="0">
                <a:solidFill>
                  <a:srgbClr val="FFFFFF"/>
                </a:solidFill>
                <a:latin typeface="Arial"/>
                <a:cs typeface="Arial"/>
              </a:rPr>
              <a:t>database, </a:t>
            </a:r>
            <a:r>
              <a:rPr sz="2400" spc="-145" dirty="0">
                <a:solidFill>
                  <a:srgbClr val="FFFFFF"/>
                </a:solidFill>
                <a:latin typeface="Arial"/>
                <a:cs typeface="Arial"/>
              </a:rPr>
              <a:t>so </a:t>
            </a:r>
            <a:r>
              <a:rPr sz="2400" dirty="0">
                <a:solidFill>
                  <a:srgbClr val="FFFFFF"/>
                </a:solidFill>
                <a:latin typeface="Arial"/>
                <a:cs typeface="Arial"/>
              </a:rPr>
              <a:t>they  </a:t>
            </a:r>
            <a:r>
              <a:rPr sz="2400" spc="-5" dirty="0">
                <a:solidFill>
                  <a:srgbClr val="FFFFFF"/>
                </a:solidFill>
                <a:latin typeface="Arial"/>
                <a:cs typeface="Arial"/>
              </a:rPr>
              <a:t>do</a:t>
            </a:r>
            <a:r>
              <a:rPr sz="2400" spc="-170" dirty="0">
                <a:solidFill>
                  <a:srgbClr val="FFFFFF"/>
                </a:solidFill>
                <a:latin typeface="Arial"/>
                <a:cs typeface="Arial"/>
              </a:rPr>
              <a:t> </a:t>
            </a:r>
            <a:r>
              <a:rPr sz="2400" spc="70" dirty="0">
                <a:solidFill>
                  <a:srgbClr val="FFFFFF"/>
                </a:solidFill>
                <a:latin typeface="Arial"/>
                <a:cs typeface="Arial"/>
              </a:rPr>
              <a:t>not</a:t>
            </a:r>
            <a:r>
              <a:rPr sz="2400" spc="-155" dirty="0">
                <a:solidFill>
                  <a:srgbClr val="FFFFFF"/>
                </a:solidFill>
                <a:latin typeface="Arial"/>
                <a:cs typeface="Arial"/>
              </a:rPr>
              <a:t> </a:t>
            </a:r>
            <a:r>
              <a:rPr sz="2400" spc="-15" dirty="0">
                <a:solidFill>
                  <a:srgbClr val="FFFFFF"/>
                </a:solidFill>
                <a:latin typeface="Arial"/>
                <a:cs typeface="Arial"/>
              </a:rPr>
              <a:t>affect</a:t>
            </a:r>
            <a:r>
              <a:rPr sz="2400" spc="-155" dirty="0">
                <a:solidFill>
                  <a:srgbClr val="FFFFFF"/>
                </a:solidFill>
                <a:latin typeface="Arial"/>
                <a:cs typeface="Arial"/>
              </a:rPr>
              <a:t> </a:t>
            </a:r>
            <a:r>
              <a:rPr sz="2400" spc="15" dirty="0">
                <a:solidFill>
                  <a:srgbClr val="FFFFFF"/>
                </a:solidFill>
                <a:latin typeface="Arial"/>
                <a:cs typeface="Arial"/>
              </a:rPr>
              <a:t>other</a:t>
            </a:r>
            <a:r>
              <a:rPr sz="2400" spc="-150" dirty="0">
                <a:solidFill>
                  <a:srgbClr val="FFFFFF"/>
                </a:solidFill>
                <a:latin typeface="Arial"/>
                <a:cs typeface="Arial"/>
              </a:rPr>
              <a:t> </a:t>
            </a:r>
            <a:r>
              <a:rPr sz="2400" spc="-145" dirty="0">
                <a:solidFill>
                  <a:srgbClr val="FFFFFF"/>
                </a:solidFill>
                <a:latin typeface="Arial"/>
                <a:cs typeface="Arial"/>
              </a:rPr>
              <a:t>databases</a:t>
            </a:r>
            <a:endParaRPr sz="2400">
              <a:latin typeface="Arial"/>
              <a:cs typeface="Arial"/>
            </a:endParaRPr>
          </a:p>
        </p:txBody>
      </p:sp>
      <p:pic>
        <p:nvPicPr>
          <p:cNvPr id="6" name="object 6"/>
          <p:cNvPicPr/>
          <p:nvPr/>
        </p:nvPicPr>
        <p:blipFill>
          <a:blip r:embed="rId3" cstate="print"/>
          <a:stretch>
            <a:fillRect/>
          </a:stretch>
        </p:blipFill>
        <p:spPr>
          <a:xfrm>
            <a:off x="942594" y="3320034"/>
            <a:ext cx="8055102" cy="1940052"/>
          </a:xfrm>
          <a:prstGeom prst="rect">
            <a:avLst/>
          </a:prstGeom>
        </p:spPr>
      </p:pic>
      <p:sp>
        <p:nvSpPr>
          <p:cNvPr id="7" name="object 7"/>
          <p:cNvSpPr txBox="1"/>
          <p:nvPr/>
        </p:nvSpPr>
        <p:spPr>
          <a:xfrm>
            <a:off x="2898394" y="5830315"/>
            <a:ext cx="2911475" cy="238760"/>
          </a:xfrm>
          <a:prstGeom prst="rect">
            <a:avLst/>
          </a:prstGeom>
        </p:spPr>
        <p:txBody>
          <a:bodyPr vert="horz" wrap="square" lIns="0" tIns="12065" rIns="0" bIns="0" rtlCol="0">
            <a:spAutoFit/>
          </a:bodyPr>
          <a:lstStyle/>
          <a:p>
            <a:pPr marL="12700">
              <a:lnSpc>
                <a:spcPct val="100000"/>
              </a:lnSpc>
              <a:spcBef>
                <a:spcPts val="95"/>
              </a:spcBef>
            </a:pPr>
            <a:r>
              <a:rPr sz="1400" b="1" spc="-15" dirty="0">
                <a:latin typeface="Times New Roman"/>
                <a:cs typeface="Times New Roman"/>
              </a:rPr>
              <a:t>Databases</a:t>
            </a:r>
            <a:r>
              <a:rPr sz="1400" b="1" spc="-85" dirty="0">
                <a:latin typeface="Times New Roman"/>
                <a:cs typeface="Times New Roman"/>
              </a:rPr>
              <a:t> </a:t>
            </a:r>
            <a:r>
              <a:rPr sz="1400" b="1" spc="20" dirty="0">
                <a:latin typeface="Times New Roman"/>
                <a:cs typeface="Times New Roman"/>
              </a:rPr>
              <a:t>Options</a:t>
            </a:r>
            <a:r>
              <a:rPr sz="1400" b="1" spc="-85" dirty="0">
                <a:latin typeface="Times New Roman"/>
                <a:cs typeface="Times New Roman"/>
              </a:rPr>
              <a:t> </a:t>
            </a:r>
            <a:r>
              <a:rPr sz="1400" b="1" spc="25" dirty="0">
                <a:latin typeface="Times New Roman"/>
                <a:cs typeface="Times New Roman"/>
              </a:rPr>
              <a:t>in</a:t>
            </a:r>
            <a:r>
              <a:rPr sz="1400" b="1" spc="-75" dirty="0">
                <a:latin typeface="Times New Roman"/>
                <a:cs typeface="Times New Roman"/>
              </a:rPr>
              <a:t> </a:t>
            </a:r>
            <a:r>
              <a:rPr sz="1400" b="1" dirty="0">
                <a:latin typeface="Times New Roman"/>
                <a:cs typeface="Times New Roman"/>
              </a:rPr>
              <a:t>SQL</a:t>
            </a:r>
            <a:r>
              <a:rPr sz="1400" b="1" spc="-80" dirty="0">
                <a:latin typeface="Times New Roman"/>
                <a:cs typeface="Times New Roman"/>
              </a:rPr>
              <a:t> </a:t>
            </a:r>
            <a:r>
              <a:rPr sz="1400" b="1" spc="-20" dirty="0">
                <a:latin typeface="Times New Roman"/>
                <a:cs typeface="Times New Roman"/>
              </a:rPr>
              <a:t>Server</a:t>
            </a:r>
            <a:r>
              <a:rPr sz="1400" b="1" spc="-80" dirty="0">
                <a:latin typeface="Times New Roman"/>
                <a:cs typeface="Times New Roman"/>
              </a:rPr>
              <a:t> </a:t>
            </a:r>
            <a:r>
              <a:rPr sz="1400" b="1" spc="-70" dirty="0">
                <a:latin typeface="Times New Roman"/>
                <a:cs typeface="Times New Roman"/>
              </a:rPr>
              <a:t>2019</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11</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978785" cy="635635"/>
          </a:xfrm>
          <a:prstGeom prst="rect">
            <a:avLst/>
          </a:prstGeom>
        </p:spPr>
        <p:txBody>
          <a:bodyPr vert="horz" wrap="square" lIns="0" tIns="12700" rIns="0" bIns="0" rtlCol="0">
            <a:spAutoFit/>
          </a:bodyPr>
          <a:lstStyle/>
          <a:p>
            <a:pPr marL="12700">
              <a:lnSpc>
                <a:spcPct val="100000"/>
              </a:lnSpc>
              <a:spcBef>
                <a:spcPts val="100"/>
              </a:spcBef>
            </a:pPr>
            <a:r>
              <a:rPr spc="-60" dirty="0"/>
              <a:t>Filegroups</a:t>
            </a:r>
            <a:r>
              <a:rPr spc="-355" dirty="0"/>
              <a:t> </a:t>
            </a:r>
            <a:r>
              <a:rPr spc="-484" dirty="0"/>
              <a:t>1-3</a:t>
            </a:r>
          </a:p>
        </p:txBody>
      </p:sp>
      <p:grpSp>
        <p:nvGrpSpPr>
          <p:cNvPr id="3" name="object 3"/>
          <p:cNvGrpSpPr/>
          <p:nvPr/>
        </p:nvGrpSpPr>
        <p:grpSpPr>
          <a:xfrm>
            <a:off x="97535" y="832103"/>
            <a:ext cx="8962390" cy="2670175"/>
            <a:chOff x="97535" y="832103"/>
            <a:chExt cx="8962390" cy="2670175"/>
          </a:xfrm>
        </p:grpSpPr>
        <p:pic>
          <p:nvPicPr>
            <p:cNvPr id="4" name="object 4"/>
            <p:cNvPicPr/>
            <p:nvPr/>
          </p:nvPicPr>
          <p:blipFill>
            <a:blip r:embed="rId3" cstate="print"/>
            <a:stretch>
              <a:fillRect/>
            </a:stretch>
          </p:blipFill>
          <p:spPr>
            <a:xfrm>
              <a:off x="97535" y="832103"/>
              <a:ext cx="8961882" cy="2670048"/>
            </a:xfrm>
            <a:prstGeom prst="rect">
              <a:avLst/>
            </a:prstGeom>
          </p:spPr>
        </p:pic>
        <p:sp>
          <p:nvSpPr>
            <p:cNvPr id="5" name="object 5"/>
            <p:cNvSpPr/>
            <p:nvPr/>
          </p:nvSpPr>
          <p:spPr>
            <a:xfrm>
              <a:off x="157733" y="872489"/>
              <a:ext cx="8848725" cy="2556510"/>
            </a:xfrm>
            <a:custGeom>
              <a:avLst/>
              <a:gdLst/>
              <a:ahLst/>
              <a:cxnLst/>
              <a:rect l="l" t="t" r="r" b="b"/>
              <a:pathLst>
                <a:path w="8848725" h="2556510">
                  <a:moveTo>
                    <a:pt x="8422259" y="0"/>
                  </a:moveTo>
                  <a:lnTo>
                    <a:pt x="426097" y="0"/>
                  </a:lnTo>
                  <a:lnTo>
                    <a:pt x="379669" y="2500"/>
                  </a:lnTo>
                  <a:lnTo>
                    <a:pt x="334688" y="9827"/>
                  </a:lnTo>
                  <a:lnTo>
                    <a:pt x="291416" y="21721"/>
                  </a:lnTo>
                  <a:lnTo>
                    <a:pt x="250112" y="37922"/>
                  </a:lnTo>
                  <a:lnTo>
                    <a:pt x="211036" y="58170"/>
                  </a:lnTo>
                  <a:lnTo>
                    <a:pt x="174448" y="82206"/>
                  </a:lnTo>
                  <a:lnTo>
                    <a:pt x="140608" y="109770"/>
                  </a:lnTo>
                  <a:lnTo>
                    <a:pt x="109775" y="140601"/>
                  </a:lnTo>
                  <a:lnTo>
                    <a:pt x="82211" y="174440"/>
                  </a:lnTo>
                  <a:lnTo>
                    <a:pt x="58173" y="211026"/>
                  </a:lnTo>
                  <a:lnTo>
                    <a:pt x="37924" y="250101"/>
                  </a:lnTo>
                  <a:lnTo>
                    <a:pt x="21722" y="291405"/>
                  </a:lnTo>
                  <a:lnTo>
                    <a:pt x="9827" y="334676"/>
                  </a:lnTo>
                  <a:lnTo>
                    <a:pt x="2500" y="379656"/>
                  </a:lnTo>
                  <a:lnTo>
                    <a:pt x="0" y="426085"/>
                  </a:lnTo>
                  <a:lnTo>
                    <a:pt x="0" y="2130425"/>
                  </a:lnTo>
                  <a:lnTo>
                    <a:pt x="2500" y="2176853"/>
                  </a:lnTo>
                  <a:lnTo>
                    <a:pt x="9827" y="2221833"/>
                  </a:lnTo>
                  <a:lnTo>
                    <a:pt x="21722" y="2265104"/>
                  </a:lnTo>
                  <a:lnTo>
                    <a:pt x="37924" y="2306408"/>
                  </a:lnTo>
                  <a:lnTo>
                    <a:pt x="58173" y="2345483"/>
                  </a:lnTo>
                  <a:lnTo>
                    <a:pt x="82211" y="2382069"/>
                  </a:lnTo>
                  <a:lnTo>
                    <a:pt x="109775" y="2415908"/>
                  </a:lnTo>
                  <a:lnTo>
                    <a:pt x="140608" y="2446739"/>
                  </a:lnTo>
                  <a:lnTo>
                    <a:pt x="174448" y="2474303"/>
                  </a:lnTo>
                  <a:lnTo>
                    <a:pt x="211036" y="2498339"/>
                  </a:lnTo>
                  <a:lnTo>
                    <a:pt x="250112" y="2518587"/>
                  </a:lnTo>
                  <a:lnTo>
                    <a:pt x="291416" y="2534788"/>
                  </a:lnTo>
                  <a:lnTo>
                    <a:pt x="334688" y="2546682"/>
                  </a:lnTo>
                  <a:lnTo>
                    <a:pt x="379669" y="2554009"/>
                  </a:lnTo>
                  <a:lnTo>
                    <a:pt x="426097" y="2556510"/>
                  </a:lnTo>
                  <a:lnTo>
                    <a:pt x="8422259" y="2556510"/>
                  </a:lnTo>
                  <a:lnTo>
                    <a:pt x="8468687" y="2554009"/>
                  </a:lnTo>
                  <a:lnTo>
                    <a:pt x="8513667" y="2546682"/>
                  </a:lnTo>
                  <a:lnTo>
                    <a:pt x="8556938" y="2534788"/>
                  </a:lnTo>
                  <a:lnTo>
                    <a:pt x="8598242" y="2518587"/>
                  </a:lnTo>
                  <a:lnTo>
                    <a:pt x="8637317" y="2498339"/>
                  </a:lnTo>
                  <a:lnTo>
                    <a:pt x="8673903" y="2474303"/>
                  </a:lnTo>
                  <a:lnTo>
                    <a:pt x="8707742" y="2446739"/>
                  </a:lnTo>
                  <a:lnTo>
                    <a:pt x="8738573" y="2415908"/>
                  </a:lnTo>
                  <a:lnTo>
                    <a:pt x="8766137" y="2382069"/>
                  </a:lnTo>
                  <a:lnTo>
                    <a:pt x="8790173" y="2345483"/>
                  </a:lnTo>
                  <a:lnTo>
                    <a:pt x="8810421" y="2306408"/>
                  </a:lnTo>
                  <a:lnTo>
                    <a:pt x="8826622" y="2265104"/>
                  </a:lnTo>
                  <a:lnTo>
                    <a:pt x="8838516" y="2221833"/>
                  </a:lnTo>
                  <a:lnTo>
                    <a:pt x="8845843" y="2176853"/>
                  </a:lnTo>
                  <a:lnTo>
                    <a:pt x="8848344" y="2130425"/>
                  </a:lnTo>
                  <a:lnTo>
                    <a:pt x="8848344" y="426085"/>
                  </a:lnTo>
                  <a:lnTo>
                    <a:pt x="8845843" y="379656"/>
                  </a:lnTo>
                  <a:lnTo>
                    <a:pt x="8838516" y="334676"/>
                  </a:lnTo>
                  <a:lnTo>
                    <a:pt x="8826622" y="291405"/>
                  </a:lnTo>
                  <a:lnTo>
                    <a:pt x="8810421" y="250101"/>
                  </a:lnTo>
                  <a:lnTo>
                    <a:pt x="8790173" y="211026"/>
                  </a:lnTo>
                  <a:lnTo>
                    <a:pt x="8766137" y="174440"/>
                  </a:lnTo>
                  <a:lnTo>
                    <a:pt x="8738573" y="140601"/>
                  </a:lnTo>
                  <a:lnTo>
                    <a:pt x="8707742" y="109770"/>
                  </a:lnTo>
                  <a:lnTo>
                    <a:pt x="8673903" y="82206"/>
                  </a:lnTo>
                  <a:lnTo>
                    <a:pt x="8637317" y="58170"/>
                  </a:lnTo>
                  <a:lnTo>
                    <a:pt x="8598242" y="37922"/>
                  </a:lnTo>
                  <a:lnTo>
                    <a:pt x="8556938" y="21721"/>
                  </a:lnTo>
                  <a:lnTo>
                    <a:pt x="8513667" y="9827"/>
                  </a:lnTo>
                  <a:lnTo>
                    <a:pt x="8468687" y="2500"/>
                  </a:lnTo>
                  <a:lnTo>
                    <a:pt x="8422259" y="0"/>
                  </a:lnTo>
                  <a:close/>
                </a:path>
              </a:pathLst>
            </a:custGeom>
            <a:solidFill>
              <a:srgbClr val="205868"/>
            </a:solidFill>
          </p:spPr>
          <p:txBody>
            <a:bodyPr wrap="square" lIns="0" tIns="0" rIns="0" bIns="0" rtlCol="0"/>
            <a:lstStyle/>
            <a:p>
              <a:endParaRPr/>
            </a:p>
          </p:txBody>
        </p:sp>
        <p:sp>
          <p:nvSpPr>
            <p:cNvPr id="6" name="object 6"/>
            <p:cNvSpPr/>
            <p:nvPr/>
          </p:nvSpPr>
          <p:spPr>
            <a:xfrm>
              <a:off x="157733" y="872489"/>
              <a:ext cx="8848725" cy="2556510"/>
            </a:xfrm>
            <a:custGeom>
              <a:avLst/>
              <a:gdLst/>
              <a:ahLst/>
              <a:cxnLst/>
              <a:rect l="l" t="t" r="r" b="b"/>
              <a:pathLst>
                <a:path w="8848725" h="2556510">
                  <a:moveTo>
                    <a:pt x="0" y="426085"/>
                  </a:moveTo>
                  <a:lnTo>
                    <a:pt x="2500" y="379656"/>
                  </a:lnTo>
                  <a:lnTo>
                    <a:pt x="9827" y="334676"/>
                  </a:lnTo>
                  <a:lnTo>
                    <a:pt x="21722" y="291405"/>
                  </a:lnTo>
                  <a:lnTo>
                    <a:pt x="37924" y="250101"/>
                  </a:lnTo>
                  <a:lnTo>
                    <a:pt x="58173" y="211026"/>
                  </a:lnTo>
                  <a:lnTo>
                    <a:pt x="82211" y="174440"/>
                  </a:lnTo>
                  <a:lnTo>
                    <a:pt x="109775" y="140601"/>
                  </a:lnTo>
                  <a:lnTo>
                    <a:pt x="140608" y="109770"/>
                  </a:lnTo>
                  <a:lnTo>
                    <a:pt x="174448" y="82206"/>
                  </a:lnTo>
                  <a:lnTo>
                    <a:pt x="211036" y="58170"/>
                  </a:lnTo>
                  <a:lnTo>
                    <a:pt x="250112" y="37922"/>
                  </a:lnTo>
                  <a:lnTo>
                    <a:pt x="291416" y="21721"/>
                  </a:lnTo>
                  <a:lnTo>
                    <a:pt x="334688" y="9827"/>
                  </a:lnTo>
                  <a:lnTo>
                    <a:pt x="379669" y="2500"/>
                  </a:lnTo>
                  <a:lnTo>
                    <a:pt x="426097" y="0"/>
                  </a:lnTo>
                  <a:lnTo>
                    <a:pt x="8422259" y="0"/>
                  </a:lnTo>
                  <a:lnTo>
                    <a:pt x="8468687" y="2500"/>
                  </a:lnTo>
                  <a:lnTo>
                    <a:pt x="8513667" y="9827"/>
                  </a:lnTo>
                  <a:lnTo>
                    <a:pt x="8556938" y="21721"/>
                  </a:lnTo>
                  <a:lnTo>
                    <a:pt x="8598242" y="37922"/>
                  </a:lnTo>
                  <a:lnTo>
                    <a:pt x="8637317" y="58170"/>
                  </a:lnTo>
                  <a:lnTo>
                    <a:pt x="8673903" y="82206"/>
                  </a:lnTo>
                  <a:lnTo>
                    <a:pt x="8707742" y="109770"/>
                  </a:lnTo>
                  <a:lnTo>
                    <a:pt x="8738573" y="140601"/>
                  </a:lnTo>
                  <a:lnTo>
                    <a:pt x="8766137" y="174440"/>
                  </a:lnTo>
                  <a:lnTo>
                    <a:pt x="8790173" y="211026"/>
                  </a:lnTo>
                  <a:lnTo>
                    <a:pt x="8810421" y="250101"/>
                  </a:lnTo>
                  <a:lnTo>
                    <a:pt x="8826622" y="291405"/>
                  </a:lnTo>
                  <a:lnTo>
                    <a:pt x="8838516" y="334676"/>
                  </a:lnTo>
                  <a:lnTo>
                    <a:pt x="8845843" y="379656"/>
                  </a:lnTo>
                  <a:lnTo>
                    <a:pt x="8848344" y="426085"/>
                  </a:lnTo>
                  <a:lnTo>
                    <a:pt x="8848344" y="2130425"/>
                  </a:lnTo>
                  <a:lnTo>
                    <a:pt x="8845843" y="2176853"/>
                  </a:lnTo>
                  <a:lnTo>
                    <a:pt x="8838516" y="2221833"/>
                  </a:lnTo>
                  <a:lnTo>
                    <a:pt x="8826622" y="2265104"/>
                  </a:lnTo>
                  <a:lnTo>
                    <a:pt x="8810421" y="2306408"/>
                  </a:lnTo>
                  <a:lnTo>
                    <a:pt x="8790173" y="2345483"/>
                  </a:lnTo>
                  <a:lnTo>
                    <a:pt x="8766137" y="2382069"/>
                  </a:lnTo>
                  <a:lnTo>
                    <a:pt x="8738573" y="2415908"/>
                  </a:lnTo>
                  <a:lnTo>
                    <a:pt x="8707742" y="2446739"/>
                  </a:lnTo>
                  <a:lnTo>
                    <a:pt x="8673903" y="2474303"/>
                  </a:lnTo>
                  <a:lnTo>
                    <a:pt x="8637317" y="2498339"/>
                  </a:lnTo>
                  <a:lnTo>
                    <a:pt x="8598242" y="2518587"/>
                  </a:lnTo>
                  <a:lnTo>
                    <a:pt x="8556938" y="2534788"/>
                  </a:lnTo>
                  <a:lnTo>
                    <a:pt x="8513667" y="2546682"/>
                  </a:lnTo>
                  <a:lnTo>
                    <a:pt x="8468687" y="2554009"/>
                  </a:lnTo>
                  <a:lnTo>
                    <a:pt x="8422259" y="2556510"/>
                  </a:lnTo>
                  <a:lnTo>
                    <a:pt x="426097" y="2556510"/>
                  </a:lnTo>
                  <a:lnTo>
                    <a:pt x="379669" y="2554009"/>
                  </a:lnTo>
                  <a:lnTo>
                    <a:pt x="334688" y="2546682"/>
                  </a:lnTo>
                  <a:lnTo>
                    <a:pt x="291416" y="2534788"/>
                  </a:lnTo>
                  <a:lnTo>
                    <a:pt x="250112" y="2518587"/>
                  </a:lnTo>
                  <a:lnTo>
                    <a:pt x="211036" y="2498339"/>
                  </a:lnTo>
                  <a:lnTo>
                    <a:pt x="174448" y="2474303"/>
                  </a:lnTo>
                  <a:lnTo>
                    <a:pt x="140608" y="2446739"/>
                  </a:lnTo>
                  <a:lnTo>
                    <a:pt x="109775" y="2415908"/>
                  </a:lnTo>
                  <a:lnTo>
                    <a:pt x="82211" y="2382069"/>
                  </a:lnTo>
                  <a:lnTo>
                    <a:pt x="58173" y="2345483"/>
                  </a:lnTo>
                  <a:lnTo>
                    <a:pt x="37924" y="2306408"/>
                  </a:lnTo>
                  <a:lnTo>
                    <a:pt x="21722" y="2265104"/>
                  </a:lnTo>
                  <a:lnTo>
                    <a:pt x="9827" y="2221833"/>
                  </a:lnTo>
                  <a:lnTo>
                    <a:pt x="2500" y="2176853"/>
                  </a:lnTo>
                  <a:lnTo>
                    <a:pt x="0" y="2130425"/>
                  </a:lnTo>
                  <a:lnTo>
                    <a:pt x="0" y="426085"/>
                  </a:lnTo>
                  <a:close/>
                </a:path>
              </a:pathLst>
            </a:custGeom>
            <a:ln w="38099">
              <a:solidFill>
                <a:srgbClr val="FFFFFF"/>
              </a:solidFill>
            </a:ln>
          </p:spPr>
          <p:txBody>
            <a:bodyPr wrap="square" lIns="0" tIns="0" rIns="0" bIns="0" rtlCol="0"/>
            <a:lstStyle/>
            <a:p>
              <a:endParaRPr/>
            </a:p>
          </p:txBody>
        </p:sp>
        <p:sp>
          <p:nvSpPr>
            <p:cNvPr id="7" name="object 7"/>
            <p:cNvSpPr/>
            <p:nvPr/>
          </p:nvSpPr>
          <p:spPr>
            <a:xfrm>
              <a:off x="375665" y="1078229"/>
              <a:ext cx="8311515" cy="1990089"/>
            </a:xfrm>
            <a:custGeom>
              <a:avLst/>
              <a:gdLst/>
              <a:ahLst/>
              <a:cxnLst/>
              <a:rect l="l" t="t" r="r" b="b"/>
              <a:pathLst>
                <a:path w="8311515" h="1990089">
                  <a:moveTo>
                    <a:pt x="8311133" y="0"/>
                  </a:moveTo>
                  <a:lnTo>
                    <a:pt x="0" y="0"/>
                  </a:lnTo>
                  <a:lnTo>
                    <a:pt x="0" y="1989582"/>
                  </a:lnTo>
                  <a:lnTo>
                    <a:pt x="8311133" y="1989582"/>
                  </a:lnTo>
                  <a:lnTo>
                    <a:pt x="8311133" y="0"/>
                  </a:lnTo>
                  <a:close/>
                </a:path>
              </a:pathLst>
            </a:custGeom>
            <a:solidFill>
              <a:srgbClr val="205868"/>
            </a:solidFill>
          </p:spPr>
          <p:txBody>
            <a:bodyPr wrap="square" lIns="0" tIns="0" rIns="0" bIns="0" rtlCol="0"/>
            <a:lstStyle/>
            <a:p>
              <a:endParaRPr/>
            </a:p>
          </p:txBody>
        </p:sp>
      </p:grpSp>
      <p:sp>
        <p:nvSpPr>
          <p:cNvPr id="8" name="object 8"/>
          <p:cNvSpPr txBox="1"/>
          <p:nvPr/>
        </p:nvSpPr>
        <p:spPr>
          <a:xfrm>
            <a:off x="439166" y="1458467"/>
            <a:ext cx="6635115" cy="1109980"/>
          </a:xfrm>
          <a:prstGeom prst="rect">
            <a:avLst/>
          </a:prstGeom>
        </p:spPr>
        <p:txBody>
          <a:bodyPr vert="horz" wrap="square" lIns="0" tIns="12700" rIns="0" bIns="0" rtlCol="0">
            <a:spAutoFit/>
          </a:bodyPr>
          <a:lstStyle/>
          <a:p>
            <a:pPr marL="66675">
              <a:lnSpc>
                <a:spcPts val="2565"/>
              </a:lnSpc>
              <a:spcBef>
                <a:spcPts val="100"/>
              </a:spcBef>
            </a:pPr>
            <a:r>
              <a:rPr sz="2200" spc="90" dirty="0">
                <a:solidFill>
                  <a:srgbClr val="FFFFFF"/>
                </a:solidFill>
                <a:latin typeface="Arial"/>
                <a:cs typeface="Arial"/>
              </a:rPr>
              <a:t>In</a:t>
            </a:r>
            <a:r>
              <a:rPr sz="2200" spc="-150" dirty="0">
                <a:solidFill>
                  <a:srgbClr val="FFFFFF"/>
                </a:solidFill>
                <a:latin typeface="Arial"/>
                <a:cs typeface="Arial"/>
              </a:rPr>
              <a:t> </a:t>
            </a:r>
            <a:r>
              <a:rPr sz="2200" spc="25" dirty="0">
                <a:solidFill>
                  <a:srgbClr val="FFFFFF"/>
                </a:solidFill>
                <a:latin typeface="Arial"/>
                <a:cs typeface="Arial"/>
              </a:rPr>
              <a:t>SQL</a:t>
            </a:r>
            <a:r>
              <a:rPr sz="2200" spc="-150" dirty="0">
                <a:solidFill>
                  <a:srgbClr val="FFFFFF"/>
                </a:solidFill>
                <a:latin typeface="Arial"/>
                <a:cs typeface="Arial"/>
              </a:rPr>
              <a:t> </a:t>
            </a:r>
            <a:r>
              <a:rPr sz="2200" spc="-55" dirty="0">
                <a:solidFill>
                  <a:srgbClr val="FFFFFF"/>
                </a:solidFill>
                <a:latin typeface="Arial"/>
                <a:cs typeface="Arial"/>
              </a:rPr>
              <a:t>Server,</a:t>
            </a:r>
            <a:r>
              <a:rPr sz="2200" spc="-155" dirty="0">
                <a:solidFill>
                  <a:srgbClr val="FFFFFF"/>
                </a:solidFill>
                <a:latin typeface="Arial"/>
                <a:cs typeface="Arial"/>
              </a:rPr>
              <a:t> </a:t>
            </a:r>
            <a:r>
              <a:rPr sz="2200" spc="-65" dirty="0">
                <a:solidFill>
                  <a:srgbClr val="FFFFFF"/>
                </a:solidFill>
                <a:latin typeface="Arial"/>
                <a:cs typeface="Arial"/>
              </a:rPr>
              <a:t>data</a:t>
            </a:r>
            <a:r>
              <a:rPr sz="2200" spc="-165" dirty="0">
                <a:solidFill>
                  <a:srgbClr val="FFFFFF"/>
                </a:solidFill>
                <a:latin typeface="Arial"/>
                <a:cs typeface="Arial"/>
              </a:rPr>
              <a:t> </a:t>
            </a:r>
            <a:r>
              <a:rPr sz="2200" spc="-5" dirty="0">
                <a:solidFill>
                  <a:srgbClr val="FFFFFF"/>
                </a:solidFill>
                <a:latin typeface="Arial"/>
                <a:cs typeface="Arial"/>
              </a:rPr>
              <a:t>files</a:t>
            </a:r>
            <a:r>
              <a:rPr sz="2200" spc="-155" dirty="0">
                <a:solidFill>
                  <a:srgbClr val="FFFFFF"/>
                </a:solidFill>
                <a:latin typeface="Arial"/>
                <a:cs typeface="Arial"/>
              </a:rPr>
              <a:t> </a:t>
            </a:r>
            <a:r>
              <a:rPr sz="2200" spc="-105" dirty="0">
                <a:solidFill>
                  <a:srgbClr val="FFFFFF"/>
                </a:solidFill>
                <a:latin typeface="Arial"/>
                <a:cs typeface="Arial"/>
              </a:rPr>
              <a:t>are</a:t>
            </a:r>
            <a:r>
              <a:rPr sz="2200" spc="-155" dirty="0">
                <a:solidFill>
                  <a:srgbClr val="FFFFFF"/>
                </a:solidFill>
                <a:latin typeface="Arial"/>
                <a:cs typeface="Arial"/>
              </a:rPr>
              <a:t> </a:t>
            </a:r>
            <a:r>
              <a:rPr sz="2200" spc="-95" dirty="0">
                <a:solidFill>
                  <a:srgbClr val="FFFFFF"/>
                </a:solidFill>
                <a:latin typeface="Arial"/>
                <a:cs typeface="Arial"/>
              </a:rPr>
              <a:t>used</a:t>
            </a:r>
            <a:r>
              <a:rPr sz="2200" spc="-160" dirty="0">
                <a:solidFill>
                  <a:srgbClr val="FFFFFF"/>
                </a:solidFill>
                <a:latin typeface="Arial"/>
                <a:cs typeface="Arial"/>
              </a:rPr>
              <a:t> </a:t>
            </a:r>
            <a:r>
              <a:rPr sz="2200" spc="60" dirty="0">
                <a:solidFill>
                  <a:srgbClr val="FFFFFF"/>
                </a:solidFill>
                <a:latin typeface="Arial"/>
                <a:cs typeface="Arial"/>
              </a:rPr>
              <a:t>to</a:t>
            </a:r>
            <a:r>
              <a:rPr sz="2200" spc="-160" dirty="0">
                <a:solidFill>
                  <a:srgbClr val="FFFFFF"/>
                </a:solidFill>
                <a:latin typeface="Arial"/>
                <a:cs typeface="Arial"/>
              </a:rPr>
              <a:t> </a:t>
            </a:r>
            <a:r>
              <a:rPr sz="2200" spc="-45" dirty="0">
                <a:solidFill>
                  <a:srgbClr val="FFFFFF"/>
                </a:solidFill>
                <a:latin typeface="Arial"/>
                <a:cs typeface="Arial"/>
              </a:rPr>
              <a:t>store</a:t>
            </a:r>
            <a:r>
              <a:rPr sz="2200" spc="-165" dirty="0">
                <a:solidFill>
                  <a:srgbClr val="FFFFFF"/>
                </a:solidFill>
                <a:latin typeface="Arial"/>
                <a:cs typeface="Arial"/>
              </a:rPr>
              <a:t> </a:t>
            </a:r>
            <a:r>
              <a:rPr sz="2200" spc="-120" dirty="0">
                <a:solidFill>
                  <a:srgbClr val="FFFFFF"/>
                </a:solidFill>
                <a:latin typeface="Arial"/>
                <a:cs typeface="Arial"/>
              </a:rPr>
              <a:t>database</a:t>
            </a:r>
            <a:r>
              <a:rPr sz="2200" spc="-170" dirty="0">
                <a:solidFill>
                  <a:srgbClr val="FFFFFF"/>
                </a:solidFill>
                <a:latin typeface="Arial"/>
                <a:cs typeface="Arial"/>
              </a:rPr>
              <a:t> </a:t>
            </a:r>
            <a:r>
              <a:rPr sz="2200" spc="-5" dirty="0">
                <a:solidFill>
                  <a:srgbClr val="FFFFFF"/>
                </a:solidFill>
                <a:latin typeface="Arial"/>
                <a:cs typeface="Arial"/>
              </a:rPr>
              <a:t>files</a:t>
            </a:r>
            <a:endParaRPr sz="2200">
              <a:latin typeface="Arial"/>
              <a:cs typeface="Arial"/>
            </a:endParaRPr>
          </a:p>
          <a:p>
            <a:pPr marL="298450" indent="-286385">
              <a:lnSpc>
                <a:spcPts val="2085"/>
              </a:lnSpc>
              <a:buFont typeface="Wingdings"/>
              <a:buChar char=""/>
              <a:tabLst>
                <a:tab pos="299085" algn="l"/>
              </a:tabLst>
            </a:pPr>
            <a:r>
              <a:rPr sz="1800" spc="-20" dirty="0">
                <a:solidFill>
                  <a:srgbClr val="FFFFFF"/>
                </a:solidFill>
                <a:latin typeface="Arial"/>
                <a:cs typeface="Arial"/>
              </a:rPr>
              <a:t>For</a:t>
            </a:r>
            <a:r>
              <a:rPr sz="1800" spc="-114"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114" dirty="0">
                <a:solidFill>
                  <a:srgbClr val="FFFFFF"/>
                </a:solidFill>
                <a:latin typeface="Arial"/>
                <a:cs typeface="Arial"/>
              </a:rPr>
              <a:t>sake</a:t>
            </a:r>
            <a:r>
              <a:rPr sz="1800" spc="-120" dirty="0">
                <a:solidFill>
                  <a:srgbClr val="FFFFFF"/>
                </a:solidFill>
                <a:latin typeface="Arial"/>
                <a:cs typeface="Arial"/>
              </a:rPr>
              <a:t> </a:t>
            </a:r>
            <a:r>
              <a:rPr sz="1800" spc="45" dirty="0">
                <a:solidFill>
                  <a:srgbClr val="FFFFFF"/>
                </a:solidFill>
                <a:latin typeface="Arial"/>
                <a:cs typeface="Arial"/>
              </a:rPr>
              <a:t>of</a:t>
            </a:r>
            <a:r>
              <a:rPr sz="1800" spc="-110" dirty="0">
                <a:solidFill>
                  <a:srgbClr val="FFFFFF"/>
                </a:solidFill>
                <a:latin typeface="Arial"/>
                <a:cs typeface="Arial"/>
              </a:rPr>
              <a:t> </a:t>
            </a:r>
            <a:r>
              <a:rPr sz="1800" spc="-25" dirty="0">
                <a:solidFill>
                  <a:srgbClr val="FFFFFF"/>
                </a:solidFill>
                <a:latin typeface="Arial"/>
                <a:cs typeface="Arial"/>
              </a:rPr>
              <a:t>performance</a:t>
            </a:r>
            <a:r>
              <a:rPr sz="1800" spc="-130" dirty="0">
                <a:solidFill>
                  <a:srgbClr val="FFFFFF"/>
                </a:solidFill>
                <a:latin typeface="Arial"/>
                <a:cs typeface="Arial"/>
              </a:rPr>
              <a:t> </a:t>
            </a:r>
            <a:r>
              <a:rPr sz="1800" spc="45" dirty="0">
                <a:solidFill>
                  <a:srgbClr val="FFFFFF"/>
                </a:solidFill>
                <a:latin typeface="Arial"/>
                <a:cs typeface="Arial"/>
              </a:rPr>
              <a:t>further</a:t>
            </a:r>
            <a:r>
              <a:rPr sz="1800" spc="-114" dirty="0">
                <a:solidFill>
                  <a:srgbClr val="FFFFFF"/>
                </a:solidFill>
                <a:latin typeface="Arial"/>
                <a:cs typeface="Arial"/>
              </a:rPr>
              <a:t> </a:t>
            </a:r>
            <a:r>
              <a:rPr sz="1800" spc="-5" dirty="0">
                <a:solidFill>
                  <a:srgbClr val="FFFFFF"/>
                </a:solidFill>
                <a:latin typeface="Arial"/>
                <a:cs typeface="Arial"/>
              </a:rPr>
              <a:t>subdivided</a:t>
            </a:r>
            <a:r>
              <a:rPr sz="1800" spc="-125" dirty="0">
                <a:solidFill>
                  <a:srgbClr val="FFFFFF"/>
                </a:solidFill>
                <a:latin typeface="Arial"/>
                <a:cs typeface="Arial"/>
              </a:rPr>
              <a:t> </a:t>
            </a:r>
            <a:r>
              <a:rPr sz="1800" spc="65" dirty="0">
                <a:solidFill>
                  <a:srgbClr val="FFFFFF"/>
                </a:solidFill>
                <a:latin typeface="Arial"/>
                <a:cs typeface="Arial"/>
              </a:rPr>
              <a:t>into</a:t>
            </a:r>
            <a:r>
              <a:rPr sz="1800" spc="-114" dirty="0">
                <a:solidFill>
                  <a:srgbClr val="FFFFFF"/>
                </a:solidFill>
                <a:latin typeface="Arial"/>
                <a:cs typeface="Arial"/>
              </a:rPr>
              <a:t> </a:t>
            </a:r>
            <a:r>
              <a:rPr sz="1800" spc="-5" dirty="0">
                <a:solidFill>
                  <a:srgbClr val="FFFFFF"/>
                </a:solidFill>
                <a:latin typeface="Arial"/>
                <a:cs typeface="Arial"/>
              </a:rPr>
              <a:t>filegroups</a:t>
            </a:r>
            <a:endParaRPr sz="1800">
              <a:latin typeface="Arial"/>
              <a:cs typeface="Arial"/>
            </a:endParaRPr>
          </a:p>
          <a:p>
            <a:pPr marL="298450" indent="-286385">
              <a:lnSpc>
                <a:spcPct val="100000"/>
              </a:lnSpc>
              <a:spcBef>
                <a:spcPts val="1730"/>
              </a:spcBef>
              <a:buFont typeface="Wingdings"/>
              <a:buChar char=""/>
              <a:tabLst>
                <a:tab pos="299085" algn="l"/>
              </a:tabLst>
            </a:pPr>
            <a:r>
              <a:rPr sz="1800" spc="-45" dirty="0">
                <a:solidFill>
                  <a:srgbClr val="FFFFFF"/>
                </a:solidFill>
                <a:latin typeface="Arial"/>
                <a:cs typeface="Arial"/>
              </a:rPr>
              <a:t>Used</a:t>
            </a:r>
            <a:r>
              <a:rPr sz="1800" spc="-125"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spc="-10" dirty="0">
                <a:solidFill>
                  <a:srgbClr val="FFFFFF"/>
                </a:solidFill>
                <a:latin typeface="Arial"/>
                <a:cs typeface="Arial"/>
              </a:rPr>
              <a:t>group</a:t>
            </a:r>
            <a:r>
              <a:rPr sz="1800" spc="-110" dirty="0">
                <a:solidFill>
                  <a:srgbClr val="FFFFFF"/>
                </a:solidFill>
                <a:latin typeface="Arial"/>
                <a:cs typeface="Arial"/>
              </a:rPr>
              <a:t> </a:t>
            </a:r>
            <a:r>
              <a:rPr sz="1800" spc="-30" dirty="0">
                <a:solidFill>
                  <a:srgbClr val="FFFFFF"/>
                </a:solidFill>
                <a:latin typeface="Arial"/>
                <a:cs typeface="Arial"/>
              </a:rPr>
              <a:t>related</a:t>
            </a:r>
            <a:r>
              <a:rPr sz="1800" spc="-125" dirty="0">
                <a:solidFill>
                  <a:srgbClr val="FFFFFF"/>
                </a:solidFill>
                <a:latin typeface="Arial"/>
                <a:cs typeface="Arial"/>
              </a:rPr>
              <a:t> </a:t>
            </a:r>
            <a:r>
              <a:rPr sz="1800" spc="-5" dirty="0">
                <a:solidFill>
                  <a:srgbClr val="FFFFFF"/>
                </a:solidFill>
                <a:latin typeface="Arial"/>
                <a:cs typeface="Arial"/>
              </a:rPr>
              <a:t>files</a:t>
            </a:r>
            <a:r>
              <a:rPr sz="1800" spc="-120" dirty="0">
                <a:solidFill>
                  <a:srgbClr val="FFFFFF"/>
                </a:solidFill>
                <a:latin typeface="Arial"/>
                <a:cs typeface="Arial"/>
              </a:rPr>
              <a:t> </a:t>
            </a:r>
            <a:r>
              <a:rPr sz="1800" spc="25" dirty="0">
                <a:solidFill>
                  <a:srgbClr val="FFFFFF"/>
                </a:solidFill>
                <a:latin typeface="Arial"/>
                <a:cs typeface="Arial"/>
              </a:rPr>
              <a:t>that</a:t>
            </a:r>
            <a:r>
              <a:rPr sz="1800" spc="-114" dirty="0">
                <a:solidFill>
                  <a:srgbClr val="FFFFFF"/>
                </a:solidFill>
                <a:latin typeface="Arial"/>
                <a:cs typeface="Arial"/>
              </a:rPr>
              <a:t> </a:t>
            </a:r>
            <a:r>
              <a:rPr sz="1800" spc="-15" dirty="0">
                <a:solidFill>
                  <a:srgbClr val="FFFFFF"/>
                </a:solidFill>
                <a:latin typeface="Arial"/>
                <a:cs typeface="Arial"/>
              </a:rPr>
              <a:t>together</a:t>
            </a:r>
            <a:r>
              <a:rPr sz="1800" spc="-114" dirty="0">
                <a:solidFill>
                  <a:srgbClr val="FFFFFF"/>
                </a:solidFill>
                <a:latin typeface="Arial"/>
                <a:cs typeface="Arial"/>
              </a:rPr>
              <a:t> </a:t>
            </a:r>
            <a:r>
              <a:rPr sz="1800" spc="-40" dirty="0">
                <a:solidFill>
                  <a:srgbClr val="FFFFFF"/>
                </a:solidFill>
                <a:latin typeface="Arial"/>
                <a:cs typeface="Arial"/>
              </a:rPr>
              <a:t>store</a:t>
            </a:r>
            <a:r>
              <a:rPr sz="1800" spc="-105"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95" dirty="0">
                <a:solidFill>
                  <a:srgbClr val="FFFFFF"/>
                </a:solidFill>
                <a:latin typeface="Arial"/>
                <a:cs typeface="Arial"/>
              </a:rPr>
              <a:t>database</a:t>
            </a:r>
            <a:r>
              <a:rPr sz="1800" spc="-130" dirty="0">
                <a:solidFill>
                  <a:srgbClr val="FFFFFF"/>
                </a:solidFill>
                <a:latin typeface="Arial"/>
                <a:cs typeface="Arial"/>
              </a:rPr>
              <a:t> </a:t>
            </a:r>
            <a:r>
              <a:rPr sz="1800" spc="-10" dirty="0">
                <a:solidFill>
                  <a:srgbClr val="FFFFFF"/>
                </a:solidFill>
                <a:latin typeface="Arial"/>
                <a:cs typeface="Arial"/>
              </a:rPr>
              <a:t>object</a:t>
            </a:r>
            <a:endParaRPr sz="1800">
              <a:latin typeface="Arial"/>
              <a:cs typeface="Arial"/>
            </a:endParaRPr>
          </a:p>
        </p:txBody>
      </p:sp>
      <p:pic>
        <p:nvPicPr>
          <p:cNvPr id="9" name="object 9"/>
          <p:cNvPicPr/>
          <p:nvPr/>
        </p:nvPicPr>
        <p:blipFill>
          <a:blip r:embed="rId4" cstate="print"/>
          <a:stretch>
            <a:fillRect/>
          </a:stretch>
        </p:blipFill>
        <p:spPr>
          <a:xfrm>
            <a:off x="717804" y="3634740"/>
            <a:ext cx="7708392" cy="1481328"/>
          </a:xfrm>
          <a:prstGeom prst="rect">
            <a:avLst/>
          </a:prstGeom>
        </p:spPr>
      </p:pic>
      <p:sp>
        <p:nvSpPr>
          <p:cNvPr id="10" name="object 10"/>
          <p:cNvSpPr txBox="1"/>
          <p:nvPr/>
        </p:nvSpPr>
        <p:spPr>
          <a:xfrm>
            <a:off x="3347211" y="5231638"/>
            <a:ext cx="228473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Filegroups</a:t>
            </a:r>
            <a:r>
              <a:rPr sz="1400" b="1" spc="-90" dirty="0">
                <a:latin typeface="Times New Roman"/>
                <a:cs typeface="Times New Roman"/>
              </a:rPr>
              <a:t> </a:t>
            </a:r>
            <a:r>
              <a:rPr sz="1400" b="1" spc="25" dirty="0">
                <a:latin typeface="Times New Roman"/>
                <a:cs typeface="Times New Roman"/>
              </a:rPr>
              <a:t>in</a:t>
            </a:r>
            <a:r>
              <a:rPr sz="1400" b="1" spc="-80" dirty="0">
                <a:latin typeface="Times New Roman"/>
                <a:cs typeface="Times New Roman"/>
              </a:rPr>
              <a:t> </a:t>
            </a:r>
            <a:r>
              <a:rPr sz="1400" b="1" dirty="0">
                <a:latin typeface="Times New Roman"/>
                <a:cs typeface="Times New Roman"/>
              </a:rPr>
              <a:t>SQL</a:t>
            </a:r>
            <a:r>
              <a:rPr sz="1400" b="1" spc="-75" dirty="0">
                <a:latin typeface="Times New Roman"/>
                <a:cs typeface="Times New Roman"/>
              </a:rPr>
              <a:t> </a:t>
            </a:r>
            <a:r>
              <a:rPr sz="1400" b="1" spc="-20" dirty="0">
                <a:latin typeface="Times New Roman"/>
                <a:cs typeface="Times New Roman"/>
              </a:rPr>
              <a:t>Server</a:t>
            </a:r>
            <a:r>
              <a:rPr sz="1400" b="1" spc="-85" dirty="0">
                <a:latin typeface="Times New Roman"/>
                <a:cs typeface="Times New Roman"/>
              </a:rPr>
              <a:t> </a:t>
            </a:r>
            <a:r>
              <a:rPr sz="1400" b="1" spc="-70" dirty="0">
                <a:latin typeface="Times New Roman"/>
                <a:cs typeface="Times New Roman"/>
              </a:rPr>
              <a:t>2019</a:t>
            </a:r>
            <a:endParaRPr sz="14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12</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8213" y="1522475"/>
            <a:ext cx="4829175" cy="2263140"/>
          </a:xfrm>
          <a:custGeom>
            <a:avLst/>
            <a:gdLst/>
            <a:ahLst/>
            <a:cxnLst/>
            <a:rect l="l" t="t" r="r" b="b"/>
            <a:pathLst>
              <a:path w="4829175" h="2263140">
                <a:moveTo>
                  <a:pt x="4451604" y="0"/>
                </a:moveTo>
                <a:lnTo>
                  <a:pt x="377202" y="0"/>
                </a:lnTo>
                <a:lnTo>
                  <a:pt x="329885" y="2939"/>
                </a:lnTo>
                <a:lnTo>
                  <a:pt x="284323" y="11521"/>
                </a:lnTo>
                <a:lnTo>
                  <a:pt x="240868" y="25393"/>
                </a:lnTo>
                <a:lnTo>
                  <a:pt x="199874" y="44200"/>
                </a:lnTo>
                <a:lnTo>
                  <a:pt x="161695" y="67589"/>
                </a:lnTo>
                <a:lnTo>
                  <a:pt x="126684" y="95206"/>
                </a:lnTo>
                <a:lnTo>
                  <a:pt x="95194" y="126697"/>
                </a:lnTo>
                <a:lnTo>
                  <a:pt x="67580" y="161709"/>
                </a:lnTo>
                <a:lnTo>
                  <a:pt x="44193" y="199887"/>
                </a:lnTo>
                <a:lnTo>
                  <a:pt x="25389" y="240878"/>
                </a:lnTo>
                <a:lnTo>
                  <a:pt x="11519" y="284327"/>
                </a:lnTo>
                <a:lnTo>
                  <a:pt x="2938" y="329883"/>
                </a:lnTo>
                <a:lnTo>
                  <a:pt x="0" y="377189"/>
                </a:lnTo>
                <a:lnTo>
                  <a:pt x="0" y="1885950"/>
                </a:lnTo>
                <a:lnTo>
                  <a:pt x="2938" y="1933256"/>
                </a:lnTo>
                <a:lnTo>
                  <a:pt x="11519" y="1978812"/>
                </a:lnTo>
                <a:lnTo>
                  <a:pt x="25389" y="2022261"/>
                </a:lnTo>
                <a:lnTo>
                  <a:pt x="44193" y="2063252"/>
                </a:lnTo>
                <a:lnTo>
                  <a:pt x="67580" y="2101430"/>
                </a:lnTo>
                <a:lnTo>
                  <a:pt x="95194" y="2136442"/>
                </a:lnTo>
                <a:lnTo>
                  <a:pt x="126684" y="2167933"/>
                </a:lnTo>
                <a:lnTo>
                  <a:pt x="161695" y="2195550"/>
                </a:lnTo>
                <a:lnTo>
                  <a:pt x="199874" y="2218939"/>
                </a:lnTo>
                <a:lnTo>
                  <a:pt x="240868" y="2237746"/>
                </a:lnTo>
                <a:lnTo>
                  <a:pt x="284323" y="2251618"/>
                </a:lnTo>
                <a:lnTo>
                  <a:pt x="329885" y="2260200"/>
                </a:lnTo>
                <a:lnTo>
                  <a:pt x="377202" y="2263140"/>
                </a:lnTo>
                <a:lnTo>
                  <a:pt x="4451604" y="2263140"/>
                </a:lnTo>
                <a:lnTo>
                  <a:pt x="4498910" y="2260200"/>
                </a:lnTo>
                <a:lnTo>
                  <a:pt x="4544466" y="2251618"/>
                </a:lnTo>
                <a:lnTo>
                  <a:pt x="4587915" y="2237746"/>
                </a:lnTo>
                <a:lnTo>
                  <a:pt x="4628906" y="2218939"/>
                </a:lnTo>
                <a:lnTo>
                  <a:pt x="4667084" y="2195550"/>
                </a:lnTo>
                <a:lnTo>
                  <a:pt x="4702096" y="2167933"/>
                </a:lnTo>
                <a:lnTo>
                  <a:pt x="4733587" y="2136442"/>
                </a:lnTo>
                <a:lnTo>
                  <a:pt x="4761204" y="2101430"/>
                </a:lnTo>
                <a:lnTo>
                  <a:pt x="4784593" y="2063252"/>
                </a:lnTo>
                <a:lnTo>
                  <a:pt x="4803400" y="2022261"/>
                </a:lnTo>
                <a:lnTo>
                  <a:pt x="4817272" y="1978812"/>
                </a:lnTo>
                <a:lnTo>
                  <a:pt x="4825854" y="1933256"/>
                </a:lnTo>
                <a:lnTo>
                  <a:pt x="4828794" y="1885950"/>
                </a:lnTo>
                <a:lnTo>
                  <a:pt x="4828794" y="377189"/>
                </a:lnTo>
                <a:lnTo>
                  <a:pt x="4825854" y="329883"/>
                </a:lnTo>
                <a:lnTo>
                  <a:pt x="4817272" y="284327"/>
                </a:lnTo>
                <a:lnTo>
                  <a:pt x="4803400" y="240878"/>
                </a:lnTo>
                <a:lnTo>
                  <a:pt x="4784593" y="199887"/>
                </a:lnTo>
                <a:lnTo>
                  <a:pt x="4761204" y="161709"/>
                </a:lnTo>
                <a:lnTo>
                  <a:pt x="4733587" y="126697"/>
                </a:lnTo>
                <a:lnTo>
                  <a:pt x="4702096" y="95206"/>
                </a:lnTo>
                <a:lnTo>
                  <a:pt x="4667084" y="67589"/>
                </a:lnTo>
                <a:lnTo>
                  <a:pt x="4628906" y="44200"/>
                </a:lnTo>
                <a:lnTo>
                  <a:pt x="4587915" y="25393"/>
                </a:lnTo>
                <a:lnTo>
                  <a:pt x="4544466" y="11521"/>
                </a:lnTo>
                <a:lnTo>
                  <a:pt x="4498910" y="2939"/>
                </a:lnTo>
                <a:lnTo>
                  <a:pt x="4451604" y="0"/>
                </a:lnTo>
                <a:close/>
              </a:path>
            </a:pathLst>
          </a:custGeom>
          <a:solidFill>
            <a:srgbClr val="205868"/>
          </a:solidFill>
        </p:spPr>
        <p:txBody>
          <a:bodyPr wrap="square" lIns="0" tIns="0" rIns="0" bIns="0" rtlCol="0"/>
          <a:lstStyle/>
          <a:p>
            <a:endParaRPr/>
          </a:p>
        </p:txBody>
      </p:sp>
      <p:sp>
        <p:nvSpPr>
          <p:cNvPr id="3" name="object 3"/>
          <p:cNvSpPr txBox="1">
            <a:spLocks noGrp="1"/>
          </p:cNvSpPr>
          <p:nvPr>
            <p:ph type="title"/>
          </p:nvPr>
        </p:nvSpPr>
        <p:spPr>
          <a:xfrm>
            <a:off x="383540" y="15493"/>
            <a:ext cx="3043555" cy="635635"/>
          </a:xfrm>
          <a:prstGeom prst="rect">
            <a:avLst/>
          </a:prstGeom>
        </p:spPr>
        <p:txBody>
          <a:bodyPr vert="horz" wrap="square" lIns="0" tIns="12700" rIns="0" bIns="0" rtlCol="0">
            <a:spAutoFit/>
          </a:bodyPr>
          <a:lstStyle/>
          <a:p>
            <a:pPr marL="12700">
              <a:lnSpc>
                <a:spcPct val="100000"/>
              </a:lnSpc>
              <a:spcBef>
                <a:spcPts val="100"/>
              </a:spcBef>
            </a:pPr>
            <a:r>
              <a:rPr spc="-60" dirty="0"/>
              <a:t>Filegroups</a:t>
            </a:r>
            <a:r>
              <a:rPr spc="-355" dirty="0"/>
              <a:t> </a:t>
            </a:r>
            <a:r>
              <a:rPr spc="-315" dirty="0"/>
              <a:t>2-3</a:t>
            </a:r>
          </a:p>
        </p:txBody>
      </p:sp>
      <p:sp>
        <p:nvSpPr>
          <p:cNvPr id="4" name="object 4"/>
          <p:cNvSpPr txBox="1"/>
          <p:nvPr/>
        </p:nvSpPr>
        <p:spPr>
          <a:xfrm>
            <a:off x="377697" y="819404"/>
            <a:ext cx="6423025" cy="2566035"/>
          </a:xfrm>
          <a:prstGeom prst="rect">
            <a:avLst/>
          </a:prstGeom>
        </p:spPr>
        <p:txBody>
          <a:bodyPr vert="horz" wrap="square" lIns="0" tIns="12700" rIns="0" bIns="0" rtlCol="0">
            <a:spAutoFit/>
          </a:bodyPr>
          <a:lstStyle/>
          <a:p>
            <a:pPr marL="132715">
              <a:lnSpc>
                <a:spcPct val="100000"/>
              </a:lnSpc>
              <a:spcBef>
                <a:spcPts val="100"/>
              </a:spcBef>
            </a:pPr>
            <a:r>
              <a:rPr sz="2800" b="1" spc="40" dirty="0">
                <a:latin typeface="Times New Roman"/>
                <a:cs typeface="Times New Roman"/>
              </a:rPr>
              <a:t>Adding</a:t>
            </a:r>
            <a:r>
              <a:rPr sz="2800" b="1" spc="-155" dirty="0">
                <a:latin typeface="Times New Roman"/>
                <a:cs typeface="Times New Roman"/>
              </a:rPr>
              <a:t> </a:t>
            </a:r>
            <a:r>
              <a:rPr sz="2800" b="1" spc="-30" dirty="0">
                <a:latin typeface="Times New Roman"/>
                <a:cs typeface="Times New Roman"/>
              </a:rPr>
              <a:t>Filegroups</a:t>
            </a:r>
            <a:r>
              <a:rPr sz="2800" b="1" spc="-140" dirty="0">
                <a:latin typeface="Times New Roman"/>
                <a:cs typeface="Times New Roman"/>
              </a:rPr>
              <a:t> </a:t>
            </a:r>
            <a:r>
              <a:rPr sz="2800" b="1" spc="70" dirty="0">
                <a:latin typeface="Times New Roman"/>
                <a:cs typeface="Times New Roman"/>
              </a:rPr>
              <a:t>to</a:t>
            </a:r>
            <a:r>
              <a:rPr sz="2800" b="1" spc="-150" dirty="0">
                <a:latin typeface="Times New Roman"/>
                <a:cs typeface="Times New Roman"/>
              </a:rPr>
              <a:t> </a:t>
            </a:r>
            <a:r>
              <a:rPr sz="2800" b="1" spc="-15" dirty="0">
                <a:latin typeface="Times New Roman"/>
                <a:cs typeface="Times New Roman"/>
              </a:rPr>
              <a:t>an</a:t>
            </a:r>
            <a:r>
              <a:rPr sz="2800" b="1" spc="-165" dirty="0">
                <a:latin typeface="Times New Roman"/>
                <a:cs typeface="Times New Roman"/>
              </a:rPr>
              <a:t> </a:t>
            </a:r>
            <a:r>
              <a:rPr sz="2800" b="1" spc="25" dirty="0">
                <a:latin typeface="Times New Roman"/>
                <a:cs typeface="Times New Roman"/>
              </a:rPr>
              <a:t>existing</a:t>
            </a:r>
            <a:r>
              <a:rPr sz="2800" b="1" spc="-140" dirty="0">
                <a:latin typeface="Times New Roman"/>
                <a:cs typeface="Times New Roman"/>
              </a:rPr>
              <a:t> </a:t>
            </a:r>
            <a:r>
              <a:rPr sz="2800" b="1" spc="-55" dirty="0">
                <a:latin typeface="Times New Roman"/>
                <a:cs typeface="Times New Roman"/>
              </a:rPr>
              <a:t>database</a:t>
            </a:r>
            <a:endParaRPr sz="2800">
              <a:latin typeface="Times New Roman"/>
              <a:cs typeface="Times New Roman"/>
            </a:endParaRPr>
          </a:p>
          <a:p>
            <a:pPr marL="355600" marR="1978660" indent="-342900" algn="just">
              <a:lnSpc>
                <a:spcPts val="1939"/>
              </a:lnSpc>
              <a:spcBef>
                <a:spcPts val="3065"/>
              </a:spcBef>
              <a:buFont typeface="Wingdings"/>
              <a:buChar char=""/>
              <a:tabLst>
                <a:tab pos="355600" algn="l"/>
              </a:tabLst>
            </a:pPr>
            <a:r>
              <a:rPr sz="1800" spc="-30" dirty="0">
                <a:solidFill>
                  <a:srgbClr val="FFFFFF"/>
                </a:solidFill>
                <a:latin typeface="Arial"/>
                <a:cs typeface="Arial"/>
              </a:rPr>
              <a:t>Filegroups </a:t>
            </a:r>
            <a:r>
              <a:rPr sz="1800" spc="-70" dirty="0">
                <a:solidFill>
                  <a:srgbClr val="FFFFFF"/>
                </a:solidFill>
                <a:latin typeface="Arial"/>
                <a:cs typeface="Arial"/>
              </a:rPr>
              <a:t>can </a:t>
            </a:r>
            <a:r>
              <a:rPr sz="1800" spc="-95" dirty="0">
                <a:solidFill>
                  <a:srgbClr val="FFFFFF"/>
                </a:solidFill>
                <a:latin typeface="Arial"/>
                <a:cs typeface="Arial"/>
              </a:rPr>
              <a:t>be </a:t>
            </a:r>
            <a:r>
              <a:rPr sz="1800" spc="-55" dirty="0">
                <a:solidFill>
                  <a:srgbClr val="FFFFFF"/>
                </a:solidFill>
                <a:latin typeface="Arial"/>
                <a:cs typeface="Arial"/>
              </a:rPr>
              <a:t>created </a:t>
            </a:r>
            <a:r>
              <a:rPr sz="1800" dirty="0">
                <a:solidFill>
                  <a:srgbClr val="FFFFFF"/>
                </a:solidFill>
                <a:latin typeface="Arial"/>
                <a:cs typeface="Arial"/>
              </a:rPr>
              <a:t>when the  </a:t>
            </a:r>
            <a:r>
              <a:rPr sz="1800" spc="-100" dirty="0">
                <a:solidFill>
                  <a:srgbClr val="FFFFFF"/>
                </a:solidFill>
                <a:latin typeface="Arial"/>
                <a:cs typeface="Arial"/>
              </a:rPr>
              <a:t>database </a:t>
            </a:r>
            <a:r>
              <a:rPr sz="1800" spc="-45" dirty="0">
                <a:solidFill>
                  <a:srgbClr val="FFFFFF"/>
                </a:solidFill>
                <a:latin typeface="Arial"/>
                <a:cs typeface="Arial"/>
              </a:rPr>
              <a:t>is </a:t>
            </a:r>
            <a:r>
              <a:rPr sz="1800" spc="-55" dirty="0">
                <a:solidFill>
                  <a:srgbClr val="FFFFFF"/>
                </a:solidFill>
                <a:latin typeface="Arial"/>
                <a:cs typeface="Arial"/>
              </a:rPr>
              <a:t>created </a:t>
            </a:r>
            <a:r>
              <a:rPr sz="1800" spc="60" dirty="0">
                <a:solidFill>
                  <a:srgbClr val="FFFFFF"/>
                </a:solidFill>
                <a:latin typeface="Arial"/>
                <a:cs typeface="Arial"/>
              </a:rPr>
              <a:t>for </a:t>
            </a:r>
            <a:r>
              <a:rPr sz="1800" dirty="0">
                <a:solidFill>
                  <a:srgbClr val="FFFFFF"/>
                </a:solidFill>
                <a:latin typeface="Arial"/>
                <a:cs typeface="Arial"/>
              </a:rPr>
              <a:t>the </a:t>
            </a:r>
            <a:r>
              <a:rPr sz="1800" spc="45" dirty="0">
                <a:solidFill>
                  <a:srgbClr val="FFFFFF"/>
                </a:solidFill>
                <a:latin typeface="Arial"/>
                <a:cs typeface="Arial"/>
              </a:rPr>
              <a:t>first </a:t>
            </a:r>
            <a:r>
              <a:rPr sz="1800" spc="10" dirty="0">
                <a:solidFill>
                  <a:srgbClr val="FFFFFF"/>
                </a:solidFill>
                <a:latin typeface="Arial"/>
                <a:cs typeface="Arial"/>
              </a:rPr>
              <a:t>time </a:t>
            </a:r>
            <a:r>
              <a:rPr sz="1800" spc="20" dirty="0">
                <a:solidFill>
                  <a:srgbClr val="FFFFFF"/>
                </a:solidFill>
                <a:latin typeface="Arial"/>
                <a:cs typeface="Arial"/>
              </a:rPr>
              <a:t>or  </a:t>
            </a:r>
            <a:r>
              <a:rPr sz="1800" spc="-65" dirty="0">
                <a:solidFill>
                  <a:srgbClr val="FFFFFF"/>
                </a:solidFill>
                <a:latin typeface="Arial"/>
                <a:cs typeface="Arial"/>
              </a:rPr>
              <a:t>can </a:t>
            </a:r>
            <a:r>
              <a:rPr sz="1800" spc="-95" dirty="0">
                <a:solidFill>
                  <a:srgbClr val="FFFFFF"/>
                </a:solidFill>
                <a:latin typeface="Arial"/>
                <a:cs typeface="Arial"/>
              </a:rPr>
              <a:t>be </a:t>
            </a:r>
            <a:r>
              <a:rPr sz="1800" spc="-55" dirty="0">
                <a:solidFill>
                  <a:srgbClr val="FFFFFF"/>
                </a:solidFill>
                <a:latin typeface="Arial"/>
                <a:cs typeface="Arial"/>
              </a:rPr>
              <a:t>created </a:t>
            </a:r>
            <a:r>
              <a:rPr sz="1800" spc="-10" dirty="0">
                <a:solidFill>
                  <a:srgbClr val="FFFFFF"/>
                </a:solidFill>
                <a:latin typeface="Arial"/>
                <a:cs typeface="Arial"/>
              </a:rPr>
              <a:t>later </a:t>
            </a:r>
            <a:r>
              <a:rPr sz="1800" dirty="0">
                <a:solidFill>
                  <a:srgbClr val="FFFFFF"/>
                </a:solidFill>
                <a:latin typeface="Arial"/>
                <a:cs typeface="Arial"/>
              </a:rPr>
              <a:t>when </a:t>
            </a:r>
            <a:r>
              <a:rPr sz="1800" spc="-30" dirty="0">
                <a:solidFill>
                  <a:srgbClr val="FFFFFF"/>
                </a:solidFill>
                <a:latin typeface="Arial"/>
                <a:cs typeface="Arial"/>
              </a:rPr>
              <a:t>more </a:t>
            </a:r>
            <a:r>
              <a:rPr sz="1800" spc="-5" dirty="0">
                <a:solidFill>
                  <a:srgbClr val="FFFFFF"/>
                </a:solidFill>
                <a:latin typeface="Arial"/>
                <a:cs typeface="Arial"/>
              </a:rPr>
              <a:t>files </a:t>
            </a:r>
            <a:r>
              <a:rPr sz="1800" spc="-90" dirty="0">
                <a:solidFill>
                  <a:srgbClr val="FFFFFF"/>
                </a:solidFill>
                <a:latin typeface="Arial"/>
                <a:cs typeface="Arial"/>
              </a:rPr>
              <a:t>are  </a:t>
            </a:r>
            <a:r>
              <a:rPr sz="1800" spc="-60" dirty="0">
                <a:solidFill>
                  <a:srgbClr val="FFFFFF"/>
                </a:solidFill>
                <a:latin typeface="Arial"/>
                <a:cs typeface="Arial"/>
              </a:rPr>
              <a:t>added </a:t>
            </a:r>
            <a:r>
              <a:rPr sz="1800" spc="45" dirty="0">
                <a:solidFill>
                  <a:srgbClr val="FFFFFF"/>
                </a:solidFill>
                <a:latin typeface="Arial"/>
                <a:cs typeface="Arial"/>
              </a:rPr>
              <a:t>to </a:t>
            </a:r>
            <a:r>
              <a:rPr sz="1800" dirty="0">
                <a:solidFill>
                  <a:srgbClr val="FFFFFF"/>
                </a:solidFill>
                <a:latin typeface="Arial"/>
                <a:cs typeface="Arial"/>
              </a:rPr>
              <a:t>the</a:t>
            </a:r>
            <a:r>
              <a:rPr sz="1800" spc="-350" dirty="0">
                <a:solidFill>
                  <a:srgbClr val="FFFFFF"/>
                </a:solidFill>
                <a:latin typeface="Arial"/>
                <a:cs typeface="Arial"/>
              </a:rPr>
              <a:t> </a:t>
            </a:r>
            <a:r>
              <a:rPr sz="1800" spc="-90" dirty="0">
                <a:solidFill>
                  <a:srgbClr val="FFFFFF"/>
                </a:solidFill>
                <a:latin typeface="Arial"/>
                <a:cs typeface="Arial"/>
              </a:rPr>
              <a:t>database.</a:t>
            </a:r>
            <a:endParaRPr sz="1800">
              <a:latin typeface="Arial"/>
              <a:cs typeface="Arial"/>
            </a:endParaRPr>
          </a:p>
          <a:p>
            <a:pPr marL="355600" marR="1979295" indent="-342900" algn="just">
              <a:lnSpc>
                <a:spcPts val="1939"/>
              </a:lnSpc>
              <a:spcBef>
                <a:spcPts val="15"/>
              </a:spcBef>
              <a:buFont typeface="Wingdings"/>
              <a:buChar char=""/>
              <a:tabLst>
                <a:tab pos="355600" algn="l"/>
              </a:tabLst>
            </a:pPr>
            <a:r>
              <a:rPr sz="1800" spc="-15" dirty="0">
                <a:solidFill>
                  <a:srgbClr val="FFFFFF"/>
                </a:solidFill>
                <a:latin typeface="Arial"/>
                <a:cs typeface="Arial"/>
              </a:rPr>
              <a:t>However, </a:t>
            </a:r>
            <a:r>
              <a:rPr sz="1800" spc="-5" dirty="0">
                <a:solidFill>
                  <a:srgbClr val="FFFFFF"/>
                </a:solidFill>
                <a:latin typeface="Arial"/>
                <a:cs typeface="Arial"/>
              </a:rPr>
              <a:t>files </a:t>
            </a:r>
            <a:r>
              <a:rPr sz="1800" spc="-10" dirty="0">
                <a:solidFill>
                  <a:srgbClr val="FFFFFF"/>
                </a:solidFill>
                <a:latin typeface="Arial"/>
                <a:cs typeface="Arial"/>
              </a:rPr>
              <a:t>cannot </a:t>
            </a:r>
            <a:r>
              <a:rPr sz="1800" spc="-95" dirty="0">
                <a:solidFill>
                  <a:srgbClr val="FFFFFF"/>
                </a:solidFill>
                <a:latin typeface="Arial"/>
                <a:cs typeface="Arial"/>
              </a:rPr>
              <a:t>be </a:t>
            </a:r>
            <a:r>
              <a:rPr sz="1800" spc="-30" dirty="0">
                <a:solidFill>
                  <a:srgbClr val="FFFFFF"/>
                </a:solidFill>
                <a:latin typeface="Arial"/>
                <a:cs typeface="Arial"/>
              </a:rPr>
              <a:t>moved </a:t>
            </a:r>
            <a:r>
              <a:rPr sz="1800" spc="45" dirty="0">
                <a:solidFill>
                  <a:srgbClr val="FFFFFF"/>
                </a:solidFill>
                <a:latin typeface="Arial"/>
                <a:cs typeface="Arial"/>
              </a:rPr>
              <a:t>to </a:t>
            </a:r>
            <a:r>
              <a:rPr sz="1800" spc="-175" dirty="0">
                <a:solidFill>
                  <a:srgbClr val="FFFFFF"/>
                </a:solidFill>
                <a:latin typeface="Arial"/>
                <a:cs typeface="Arial"/>
              </a:rPr>
              <a:t>a  </a:t>
            </a:r>
            <a:r>
              <a:rPr sz="1800" spc="30" dirty="0">
                <a:solidFill>
                  <a:srgbClr val="FFFFFF"/>
                </a:solidFill>
                <a:latin typeface="Arial"/>
                <a:cs typeface="Arial"/>
              </a:rPr>
              <a:t>different </a:t>
            </a:r>
            <a:r>
              <a:rPr sz="1800" spc="15" dirty="0">
                <a:solidFill>
                  <a:srgbClr val="FFFFFF"/>
                </a:solidFill>
                <a:latin typeface="Arial"/>
                <a:cs typeface="Arial"/>
              </a:rPr>
              <a:t>filegroup </a:t>
            </a:r>
            <a:r>
              <a:rPr sz="1800" spc="-5" dirty="0">
                <a:solidFill>
                  <a:srgbClr val="FFFFFF"/>
                </a:solidFill>
                <a:latin typeface="Arial"/>
                <a:cs typeface="Arial"/>
              </a:rPr>
              <a:t>after </a:t>
            </a:r>
            <a:r>
              <a:rPr sz="1800" dirty="0">
                <a:solidFill>
                  <a:srgbClr val="FFFFFF"/>
                </a:solidFill>
                <a:latin typeface="Arial"/>
                <a:cs typeface="Arial"/>
              </a:rPr>
              <a:t>the </a:t>
            </a:r>
            <a:r>
              <a:rPr sz="1800" spc="-5" dirty="0">
                <a:solidFill>
                  <a:srgbClr val="FFFFFF"/>
                </a:solidFill>
                <a:latin typeface="Arial"/>
                <a:cs typeface="Arial"/>
              </a:rPr>
              <a:t>files </a:t>
            </a:r>
            <a:r>
              <a:rPr sz="1800" spc="-60" dirty="0">
                <a:solidFill>
                  <a:srgbClr val="FFFFFF"/>
                </a:solidFill>
                <a:latin typeface="Arial"/>
                <a:cs typeface="Arial"/>
              </a:rPr>
              <a:t>have  </a:t>
            </a:r>
            <a:r>
              <a:rPr sz="1800" spc="-70" dirty="0">
                <a:solidFill>
                  <a:srgbClr val="FFFFFF"/>
                </a:solidFill>
                <a:latin typeface="Arial"/>
                <a:cs typeface="Arial"/>
              </a:rPr>
              <a:t>been </a:t>
            </a:r>
            <a:r>
              <a:rPr sz="1800" spc="-60" dirty="0">
                <a:solidFill>
                  <a:srgbClr val="FFFFFF"/>
                </a:solidFill>
                <a:latin typeface="Arial"/>
                <a:cs typeface="Arial"/>
              </a:rPr>
              <a:t>added </a:t>
            </a:r>
            <a:r>
              <a:rPr sz="1800" spc="45" dirty="0">
                <a:solidFill>
                  <a:srgbClr val="FFFFFF"/>
                </a:solidFill>
                <a:latin typeface="Arial"/>
                <a:cs typeface="Arial"/>
              </a:rPr>
              <a:t>to</a:t>
            </a:r>
            <a:r>
              <a:rPr sz="1800" spc="-360" dirty="0">
                <a:solidFill>
                  <a:srgbClr val="FFFFFF"/>
                </a:solidFill>
                <a:latin typeface="Arial"/>
                <a:cs typeface="Arial"/>
              </a:rPr>
              <a:t> </a:t>
            </a:r>
            <a:r>
              <a:rPr sz="1800" dirty="0">
                <a:solidFill>
                  <a:srgbClr val="FFFFFF"/>
                </a:solidFill>
                <a:latin typeface="Arial"/>
                <a:cs typeface="Arial"/>
              </a:rPr>
              <a:t>the </a:t>
            </a:r>
            <a:r>
              <a:rPr sz="1800" spc="-90" dirty="0">
                <a:solidFill>
                  <a:srgbClr val="FFFFFF"/>
                </a:solidFill>
                <a:latin typeface="Arial"/>
                <a:cs typeface="Arial"/>
              </a:rPr>
              <a:t>database.</a:t>
            </a:r>
            <a:endParaRPr sz="1800">
              <a:latin typeface="Arial"/>
              <a:cs typeface="Arial"/>
            </a:endParaRPr>
          </a:p>
        </p:txBody>
      </p:sp>
      <p:pic>
        <p:nvPicPr>
          <p:cNvPr id="5" name="object 5"/>
          <p:cNvPicPr/>
          <p:nvPr/>
        </p:nvPicPr>
        <p:blipFill>
          <a:blip r:embed="rId3" cstate="print"/>
          <a:stretch>
            <a:fillRect/>
          </a:stretch>
        </p:blipFill>
        <p:spPr>
          <a:xfrm>
            <a:off x="216408" y="3973829"/>
            <a:ext cx="4772406" cy="2263140"/>
          </a:xfrm>
          <a:prstGeom prst="rect">
            <a:avLst/>
          </a:prstGeom>
        </p:spPr>
      </p:pic>
      <p:sp>
        <p:nvSpPr>
          <p:cNvPr id="6" name="object 6"/>
          <p:cNvSpPr txBox="1"/>
          <p:nvPr/>
        </p:nvSpPr>
        <p:spPr>
          <a:xfrm>
            <a:off x="279654" y="4151376"/>
            <a:ext cx="4564380" cy="1976120"/>
          </a:xfrm>
          <a:prstGeom prst="rect">
            <a:avLst/>
          </a:prstGeom>
        </p:spPr>
        <p:txBody>
          <a:bodyPr vert="horz" wrap="square" lIns="0" tIns="46990" rIns="0" bIns="0" rtlCol="0">
            <a:spAutoFit/>
          </a:bodyPr>
          <a:lstStyle/>
          <a:p>
            <a:pPr marL="355600" marR="5715" indent="-342900">
              <a:lnSpc>
                <a:spcPts val="2160"/>
              </a:lnSpc>
              <a:spcBef>
                <a:spcPts val="370"/>
              </a:spcBef>
              <a:buFont typeface="Wingdings"/>
              <a:buChar char=""/>
              <a:tabLst>
                <a:tab pos="354965" algn="l"/>
                <a:tab pos="355600" algn="l"/>
              </a:tabLst>
            </a:pPr>
            <a:r>
              <a:rPr sz="2000" spc="285" dirty="0">
                <a:solidFill>
                  <a:srgbClr val="FFFFFF"/>
                </a:solidFill>
                <a:latin typeface="Arial"/>
                <a:cs typeface="Arial"/>
              </a:rPr>
              <a:t>A </a:t>
            </a:r>
            <a:r>
              <a:rPr sz="2000" spc="45" dirty="0">
                <a:solidFill>
                  <a:srgbClr val="FFFFFF"/>
                </a:solidFill>
                <a:latin typeface="Arial"/>
                <a:cs typeface="Arial"/>
              </a:rPr>
              <a:t>file </a:t>
            </a:r>
            <a:r>
              <a:rPr sz="2000" spc="-10" dirty="0">
                <a:solidFill>
                  <a:srgbClr val="FFFFFF"/>
                </a:solidFill>
                <a:latin typeface="Arial"/>
                <a:cs typeface="Arial"/>
              </a:rPr>
              <a:t>cannot </a:t>
            </a:r>
            <a:r>
              <a:rPr sz="2000" spc="-100" dirty="0">
                <a:solidFill>
                  <a:srgbClr val="FFFFFF"/>
                </a:solidFill>
                <a:latin typeface="Arial"/>
                <a:cs typeface="Arial"/>
              </a:rPr>
              <a:t>be </a:t>
            </a:r>
            <a:r>
              <a:rPr sz="2000" spc="-195" dirty="0">
                <a:solidFill>
                  <a:srgbClr val="FFFFFF"/>
                </a:solidFill>
                <a:latin typeface="Arial"/>
                <a:cs typeface="Arial"/>
              </a:rPr>
              <a:t>a</a:t>
            </a:r>
            <a:r>
              <a:rPr sz="2000" spc="165" dirty="0">
                <a:solidFill>
                  <a:srgbClr val="FFFFFF"/>
                </a:solidFill>
                <a:latin typeface="Arial"/>
                <a:cs typeface="Arial"/>
              </a:rPr>
              <a:t> </a:t>
            </a:r>
            <a:r>
              <a:rPr sz="2000" spc="-55" dirty="0">
                <a:solidFill>
                  <a:srgbClr val="FFFFFF"/>
                </a:solidFill>
                <a:latin typeface="Arial"/>
                <a:cs typeface="Arial"/>
              </a:rPr>
              <a:t>member </a:t>
            </a:r>
            <a:r>
              <a:rPr sz="2000" spc="50" dirty="0">
                <a:solidFill>
                  <a:srgbClr val="FFFFFF"/>
                </a:solidFill>
                <a:latin typeface="Arial"/>
                <a:cs typeface="Arial"/>
              </a:rPr>
              <a:t>of </a:t>
            </a:r>
            <a:r>
              <a:rPr sz="2000" spc="-35" dirty="0">
                <a:solidFill>
                  <a:srgbClr val="FFFFFF"/>
                </a:solidFill>
                <a:latin typeface="Arial"/>
                <a:cs typeface="Arial"/>
              </a:rPr>
              <a:t>more  </a:t>
            </a:r>
            <a:r>
              <a:rPr sz="2000" spc="15" dirty="0">
                <a:solidFill>
                  <a:srgbClr val="FFFFFF"/>
                </a:solidFill>
                <a:latin typeface="Arial"/>
                <a:cs typeface="Arial"/>
              </a:rPr>
              <a:t>than</a:t>
            </a:r>
            <a:r>
              <a:rPr sz="2000" spc="-125" dirty="0">
                <a:solidFill>
                  <a:srgbClr val="FFFFFF"/>
                </a:solidFill>
                <a:latin typeface="Arial"/>
                <a:cs typeface="Arial"/>
              </a:rPr>
              <a:t> </a:t>
            </a:r>
            <a:r>
              <a:rPr sz="2000" spc="-45" dirty="0">
                <a:solidFill>
                  <a:srgbClr val="FFFFFF"/>
                </a:solidFill>
                <a:latin typeface="Arial"/>
                <a:cs typeface="Arial"/>
              </a:rPr>
              <a:t>one</a:t>
            </a:r>
            <a:r>
              <a:rPr sz="2000" spc="-110" dirty="0">
                <a:solidFill>
                  <a:srgbClr val="FFFFFF"/>
                </a:solidFill>
                <a:latin typeface="Arial"/>
                <a:cs typeface="Arial"/>
              </a:rPr>
              <a:t> </a:t>
            </a:r>
            <a:r>
              <a:rPr sz="2000" spc="15" dirty="0">
                <a:solidFill>
                  <a:srgbClr val="FFFFFF"/>
                </a:solidFill>
                <a:latin typeface="Arial"/>
                <a:cs typeface="Arial"/>
              </a:rPr>
              <a:t>filegroup</a:t>
            </a:r>
            <a:r>
              <a:rPr sz="2000" spc="-125" dirty="0">
                <a:solidFill>
                  <a:srgbClr val="FFFFFF"/>
                </a:solidFill>
                <a:latin typeface="Arial"/>
                <a:cs typeface="Arial"/>
              </a:rPr>
              <a:t> </a:t>
            </a:r>
            <a:r>
              <a:rPr sz="2000" spc="-35" dirty="0">
                <a:solidFill>
                  <a:srgbClr val="FFFFFF"/>
                </a:solidFill>
                <a:latin typeface="Arial"/>
                <a:cs typeface="Arial"/>
              </a:rPr>
              <a:t>at</a:t>
            </a:r>
            <a:r>
              <a:rPr sz="2000" spc="-130" dirty="0">
                <a:solidFill>
                  <a:srgbClr val="FFFFFF"/>
                </a:solidFill>
                <a:latin typeface="Arial"/>
                <a:cs typeface="Arial"/>
              </a:rPr>
              <a:t> </a:t>
            </a:r>
            <a:r>
              <a:rPr sz="2000" dirty="0">
                <a:solidFill>
                  <a:srgbClr val="FFFFFF"/>
                </a:solidFill>
                <a:latin typeface="Arial"/>
                <a:cs typeface="Arial"/>
              </a:rPr>
              <a:t>the</a:t>
            </a:r>
            <a:r>
              <a:rPr sz="2000" spc="-114" dirty="0">
                <a:solidFill>
                  <a:srgbClr val="FFFFFF"/>
                </a:solidFill>
                <a:latin typeface="Arial"/>
                <a:cs typeface="Arial"/>
              </a:rPr>
              <a:t> </a:t>
            </a:r>
            <a:r>
              <a:rPr sz="2000" spc="-155" dirty="0">
                <a:solidFill>
                  <a:srgbClr val="FFFFFF"/>
                </a:solidFill>
                <a:latin typeface="Arial"/>
                <a:cs typeface="Arial"/>
              </a:rPr>
              <a:t>same</a:t>
            </a:r>
            <a:r>
              <a:rPr sz="2000" spc="-130" dirty="0">
                <a:solidFill>
                  <a:srgbClr val="FFFFFF"/>
                </a:solidFill>
                <a:latin typeface="Arial"/>
                <a:cs typeface="Arial"/>
              </a:rPr>
              <a:t> </a:t>
            </a:r>
            <a:r>
              <a:rPr sz="2000" spc="-5" dirty="0">
                <a:solidFill>
                  <a:srgbClr val="FFFFFF"/>
                </a:solidFill>
                <a:latin typeface="Arial"/>
                <a:cs typeface="Arial"/>
              </a:rPr>
              <a:t>time.</a:t>
            </a:r>
            <a:endParaRPr sz="2000">
              <a:latin typeface="Arial"/>
              <a:cs typeface="Arial"/>
            </a:endParaRPr>
          </a:p>
          <a:p>
            <a:pPr marL="355600" indent="-342900">
              <a:lnSpc>
                <a:spcPts val="2010"/>
              </a:lnSpc>
              <a:buFont typeface="Wingdings"/>
              <a:buChar char=""/>
              <a:tabLst>
                <a:tab pos="354965" algn="l"/>
                <a:tab pos="355600" algn="l"/>
              </a:tabLst>
            </a:pPr>
            <a:r>
              <a:rPr sz="2000" spc="290" dirty="0">
                <a:solidFill>
                  <a:srgbClr val="FFFFFF"/>
                </a:solidFill>
                <a:latin typeface="Arial"/>
                <a:cs typeface="Arial"/>
              </a:rPr>
              <a:t>A </a:t>
            </a:r>
            <a:r>
              <a:rPr sz="2000" dirty="0">
                <a:solidFill>
                  <a:srgbClr val="FFFFFF"/>
                </a:solidFill>
                <a:latin typeface="Arial"/>
                <a:cs typeface="Arial"/>
              </a:rPr>
              <a:t>maximum </a:t>
            </a:r>
            <a:r>
              <a:rPr sz="2000" spc="55" dirty="0">
                <a:solidFill>
                  <a:srgbClr val="FFFFFF"/>
                </a:solidFill>
                <a:latin typeface="Arial"/>
                <a:cs typeface="Arial"/>
              </a:rPr>
              <a:t>of </a:t>
            </a:r>
            <a:r>
              <a:rPr sz="2000" spc="-145" dirty="0">
                <a:solidFill>
                  <a:srgbClr val="FFFFFF"/>
                </a:solidFill>
                <a:latin typeface="Arial"/>
                <a:cs typeface="Arial"/>
              </a:rPr>
              <a:t>32,767 </a:t>
            </a:r>
            <a:r>
              <a:rPr sz="2000" spc="-10" dirty="0">
                <a:solidFill>
                  <a:srgbClr val="FFFFFF"/>
                </a:solidFill>
                <a:latin typeface="Arial"/>
                <a:cs typeface="Arial"/>
              </a:rPr>
              <a:t>filegroups</a:t>
            </a:r>
            <a:r>
              <a:rPr sz="2000" spc="70" dirty="0">
                <a:solidFill>
                  <a:srgbClr val="FFFFFF"/>
                </a:solidFill>
                <a:latin typeface="Arial"/>
                <a:cs typeface="Arial"/>
              </a:rPr>
              <a:t> </a:t>
            </a:r>
            <a:r>
              <a:rPr sz="2000" spc="-75" dirty="0">
                <a:solidFill>
                  <a:srgbClr val="FFFFFF"/>
                </a:solidFill>
                <a:latin typeface="Arial"/>
                <a:cs typeface="Arial"/>
              </a:rPr>
              <a:t>can</a:t>
            </a:r>
            <a:endParaRPr sz="2000">
              <a:latin typeface="Arial"/>
              <a:cs typeface="Arial"/>
            </a:endParaRPr>
          </a:p>
          <a:p>
            <a:pPr marL="355600">
              <a:lnSpc>
                <a:spcPts val="2160"/>
              </a:lnSpc>
            </a:pPr>
            <a:r>
              <a:rPr sz="2000" spc="-105" dirty="0">
                <a:solidFill>
                  <a:srgbClr val="FFFFFF"/>
                </a:solidFill>
                <a:latin typeface="Arial"/>
                <a:cs typeface="Arial"/>
              </a:rPr>
              <a:t>be </a:t>
            </a:r>
            <a:r>
              <a:rPr sz="2000" spc="-65" dirty="0">
                <a:solidFill>
                  <a:srgbClr val="FFFFFF"/>
                </a:solidFill>
                <a:latin typeface="Arial"/>
                <a:cs typeface="Arial"/>
              </a:rPr>
              <a:t>created </a:t>
            </a:r>
            <a:r>
              <a:rPr sz="2000" spc="65" dirty="0">
                <a:solidFill>
                  <a:srgbClr val="FFFFFF"/>
                </a:solidFill>
                <a:latin typeface="Arial"/>
                <a:cs typeface="Arial"/>
              </a:rPr>
              <a:t>for </a:t>
            </a:r>
            <a:r>
              <a:rPr sz="2000" spc="-105" dirty="0">
                <a:solidFill>
                  <a:srgbClr val="FFFFFF"/>
                </a:solidFill>
                <a:latin typeface="Arial"/>
                <a:cs typeface="Arial"/>
              </a:rPr>
              <a:t>each</a:t>
            </a:r>
            <a:r>
              <a:rPr sz="2000" spc="-395" dirty="0">
                <a:solidFill>
                  <a:srgbClr val="FFFFFF"/>
                </a:solidFill>
                <a:latin typeface="Arial"/>
                <a:cs typeface="Arial"/>
              </a:rPr>
              <a:t> </a:t>
            </a:r>
            <a:r>
              <a:rPr sz="2000" spc="-100" dirty="0">
                <a:solidFill>
                  <a:srgbClr val="FFFFFF"/>
                </a:solidFill>
                <a:latin typeface="Arial"/>
                <a:cs typeface="Arial"/>
              </a:rPr>
              <a:t>database.</a:t>
            </a:r>
            <a:endParaRPr sz="2000">
              <a:latin typeface="Arial"/>
              <a:cs typeface="Arial"/>
            </a:endParaRPr>
          </a:p>
          <a:p>
            <a:pPr marL="355600" indent="-342900">
              <a:lnSpc>
                <a:spcPts val="2160"/>
              </a:lnSpc>
              <a:buFont typeface="Wingdings"/>
              <a:buChar char=""/>
              <a:tabLst>
                <a:tab pos="354965" algn="l"/>
                <a:tab pos="355600" algn="l"/>
              </a:tabLst>
            </a:pPr>
            <a:r>
              <a:rPr sz="2000" spc="-35" dirty="0">
                <a:solidFill>
                  <a:srgbClr val="FFFFFF"/>
                </a:solidFill>
                <a:latin typeface="Arial"/>
                <a:cs typeface="Arial"/>
              </a:rPr>
              <a:t>Filegroups</a:t>
            </a:r>
            <a:r>
              <a:rPr sz="2000" spc="-114" dirty="0">
                <a:solidFill>
                  <a:srgbClr val="FFFFFF"/>
                </a:solidFill>
                <a:latin typeface="Arial"/>
                <a:cs typeface="Arial"/>
              </a:rPr>
              <a:t> </a:t>
            </a:r>
            <a:r>
              <a:rPr sz="2000" spc="-75" dirty="0">
                <a:solidFill>
                  <a:srgbClr val="FFFFFF"/>
                </a:solidFill>
                <a:latin typeface="Arial"/>
                <a:cs typeface="Arial"/>
              </a:rPr>
              <a:t>can</a:t>
            </a:r>
            <a:r>
              <a:rPr sz="2000" spc="-130" dirty="0">
                <a:solidFill>
                  <a:srgbClr val="FFFFFF"/>
                </a:solidFill>
                <a:latin typeface="Arial"/>
                <a:cs typeface="Arial"/>
              </a:rPr>
              <a:t> </a:t>
            </a:r>
            <a:r>
              <a:rPr sz="2000" spc="10" dirty="0">
                <a:solidFill>
                  <a:srgbClr val="FFFFFF"/>
                </a:solidFill>
                <a:latin typeface="Arial"/>
                <a:cs typeface="Arial"/>
              </a:rPr>
              <a:t>contain</a:t>
            </a:r>
            <a:r>
              <a:rPr sz="2000" spc="-114" dirty="0">
                <a:solidFill>
                  <a:srgbClr val="FFFFFF"/>
                </a:solidFill>
                <a:latin typeface="Arial"/>
                <a:cs typeface="Arial"/>
              </a:rPr>
              <a:t> </a:t>
            </a:r>
            <a:r>
              <a:rPr sz="2000" spc="35" dirty="0">
                <a:solidFill>
                  <a:srgbClr val="FFFFFF"/>
                </a:solidFill>
                <a:latin typeface="Arial"/>
                <a:cs typeface="Arial"/>
              </a:rPr>
              <a:t>only</a:t>
            </a:r>
            <a:r>
              <a:rPr sz="2000" spc="-110" dirty="0">
                <a:solidFill>
                  <a:srgbClr val="FFFFFF"/>
                </a:solidFill>
                <a:latin typeface="Arial"/>
                <a:cs typeface="Arial"/>
              </a:rPr>
              <a:t> </a:t>
            </a:r>
            <a:r>
              <a:rPr sz="2000" spc="-60" dirty="0">
                <a:solidFill>
                  <a:srgbClr val="FFFFFF"/>
                </a:solidFill>
                <a:latin typeface="Arial"/>
                <a:cs typeface="Arial"/>
              </a:rPr>
              <a:t>data</a:t>
            </a:r>
            <a:r>
              <a:rPr sz="2000" spc="-130" dirty="0">
                <a:solidFill>
                  <a:srgbClr val="FFFFFF"/>
                </a:solidFill>
                <a:latin typeface="Arial"/>
                <a:cs typeface="Arial"/>
              </a:rPr>
              <a:t> </a:t>
            </a:r>
            <a:r>
              <a:rPr sz="2000" spc="-15" dirty="0">
                <a:solidFill>
                  <a:srgbClr val="FFFFFF"/>
                </a:solidFill>
                <a:latin typeface="Arial"/>
                <a:cs typeface="Arial"/>
              </a:rPr>
              <a:t>files.</a:t>
            </a:r>
            <a:endParaRPr sz="2000">
              <a:latin typeface="Arial"/>
              <a:cs typeface="Arial"/>
            </a:endParaRPr>
          </a:p>
          <a:p>
            <a:pPr marL="355600" marR="5080" indent="-342900">
              <a:lnSpc>
                <a:spcPts val="2160"/>
              </a:lnSpc>
              <a:spcBef>
                <a:spcPts val="150"/>
              </a:spcBef>
              <a:buFont typeface="Wingdings"/>
              <a:buChar char=""/>
              <a:tabLst>
                <a:tab pos="354965" algn="l"/>
                <a:tab pos="355600" algn="l"/>
              </a:tabLst>
            </a:pPr>
            <a:r>
              <a:rPr sz="2000" spc="-5" dirty="0">
                <a:solidFill>
                  <a:srgbClr val="FFFFFF"/>
                </a:solidFill>
                <a:latin typeface="Arial"/>
                <a:cs typeface="Arial"/>
              </a:rPr>
              <a:t>Transaction </a:t>
            </a:r>
            <a:r>
              <a:rPr sz="2000" spc="-15" dirty="0">
                <a:solidFill>
                  <a:srgbClr val="FFFFFF"/>
                </a:solidFill>
                <a:latin typeface="Arial"/>
                <a:cs typeface="Arial"/>
              </a:rPr>
              <a:t>log </a:t>
            </a:r>
            <a:r>
              <a:rPr sz="2000" spc="-5" dirty="0">
                <a:solidFill>
                  <a:srgbClr val="FFFFFF"/>
                </a:solidFill>
                <a:latin typeface="Arial"/>
                <a:cs typeface="Arial"/>
              </a:rPr>
              <a:t>files cannot </a:t>
            </a:r>
            <a:r>
              <a:rPr sz="2000" spc="-30" dirty="0">
                <a:solidFill>
                  <a:srgbClr val="FFFFFF"/>
                </a:solidFill>
                <a:latin typeface="Arial"/>
                <a:cs typeface="Arial"/>
              </a:rPr>
              <a:t>belong </a:t>
            </a:r>
            <a:r>
              <a:rPr sz="2000" spc="55" dirty="0">
                <a:solidFill>
                  <a:srgbClr val="FFFFFF"/>
                </a:solidFill>
                <a:latin typeface="Arial"/>
                <a:cs typeface="Arial"/>
              </a:rPr>
              <a:t>to  </a:t>
            </a:r>
            <a:r>
              <a:rPr sz="2000" spc="-195" dirty="0">
                <a:solidFill>
                  <a:srgbClr val="FFFFFF"/>
                </a:solidFill>
                <a:latin typeface="Arial"/>
                <a:cs typeface="Arial"/>
              </a:rPr>
              <a:t>a</a:t>
            </a:r>
            <a:r>
              <a:rPr sz="2000" spc="-135" dirty="0">
                <a:solidFill>
                  <a:srgbClr val="FFFFFF"/>
                </a:solidFill>
                <a:latin typeface="Arial"/>
                <a:cs typeface="Arial"/>
              </a:rPr>
              <a:t> </a:t>
            </a:r>
            <a:r>
              <a:rPr sz="2000" spc="5" dirty="0">
                <a:solidFill>
                  <a:srgbClr val="FFFFFF"/>
                </a:solidFill>
                <a:latin typeface="Arial"/>
                <a:cs typeface="Arial"/>
              </a:rPr>
              <a:t>filegroup.</a:t>
            </a:r>
            <a:endParaRPr sz="2000">
              <a:latin typeface="Arial"/>
              <a:cs typeface="Arial"/>
            </a:endParaRPr>
          </a:p>
        </p:txBody>
      </p:sp>
      <p:pic>
        <p:nvPicPr>
          <p:cNvPr id="7" name="object 7"/>
          <p:cNvPicPr/>
          <p:nvPr/>
        </p:nvPicPr>
        <p:blipFill>
          <a:blip r:embed="rId4" cstate="print"/>
          <a:stretch>
            <a:fillRect/>
          </a:stretch>
        </p:blipFill>
        <p:spPr>
          <a:xfrm>
            <a:off x="5162550" y="2125217"/>
            <a:ext cx="3801617" cy="3121913"/>
          </a:xfrm>
          <a:prstGeom prst="rect">
            <a:avLst/>
          </a:prstGeom>
        </p:spPr>
      </p:pic>
      <p:sp>
        <p:nvSpPr>
          <p:cNvPr id="8" name="object 8"/>
          <p:cNvSpPr txBox="1"/>
          <p:nvPr/>
        </p:nvSpPr>
        <p:spPr>
          <a:xfrm>
            <a:off x="5069332" y="5266690"/>
            <a:ext cx="392239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Filegroup</a:t>
            </a:r>
            <a:r>
              <a:rPr sz="1400" b="1" spc="-85" dirty="0">
                <a:latin typeface="Times New Roman"/>
                <a:cs typeface="Times New Roman"/>
              </a:rPr>
              <a:t> </a:t>
            </a:r>
            <a:r>
              <a:rPr sz="1400" b="1" spc="25" dirty="0">
                <a:latin typeface="Times New Roman"/>
                <a:cs typeface="Times New Roman"/>
              </a:rPr>
              <a:t>Added</a:t>
            </a:r>
            <a:r>
              <a:rPr sz="1400" b="1" spc="-85" dirty="0">
                <a:latin typeface="Times New Roman"/>
                <a:cs typeface="Times New Roman"/>
              </a:rPr>
              <a:t> </a:t>
            </a:r>
            <a:r>
              <a:rPr sz="1400" b="1" spc="55" dirty="0">
                <a:latin typeface="Times New Roman"/>
                <a:cs typeface="Times New Roman"/>
              </a:rPr>
              <a:t>When</a:t>
            </a:r>
            <a:r>
              <a:rPr sz="1400" b="1" spc="-85" dirty="0">
                <a:latin typeface="Times New Roman"/>
                <a:cs typeface="Times New Roman"/>
              </a:rPr>
              <a:t> </a:t>
            </a:r>
            <a:r>
              <a:rPr sz="1400" b="1" spc="-5" dirty="0">
                <a:latin typeface="Times New Roman"/>
                <a:cs typeface="Times New Roman"/>
              </a:rPr>
              <a:t>Creating</a:t>
            </a:r>
            <a:r>
              <a:rPr sz="1400" b="1" spc="-80" dirty="0">
                <a:latin typeface="Times New Roman"/>
                <a:cs typeface="Times New Roman"/>
              </a:rPr>
              <a:t> </a:t>
            </a:r>
            <a:r>
              <a:rPr sz="1400" b="1" dirty="0">
                <a:latin typeface="Times New Roman"/>
                <a:cs typeface="Times New Roman"/>
              </a:rPr>
              <a:t>SalesDB</a:t>
            </a:r>
            <a:r>
              <a:rPr sz="1400" b="1" spc="-85" dirty="0">
                <a:latin typeface="Times New Roman"/>
                <a:cs typeface="Times New Roman"/>
              </a:rPr>
              <a:t> </a:t>
            </a:r>
            <a:r>
              <a:rPr sz="1400" b="1" spc="-15" dirty="0">
                <a:latin typeface="Times New Roman"/>
                <a:cs typeface="Times New Roman"/>
              </a:rPr>
              <a:t>Database</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13</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63652" y="1642872"/>
            <a:ext cx="8745855" cy="1633855"/>
            <a:chOff x="263652" y="1642872"/>
            <a:chExt cx="8745855" cy="1633855"/>
          </a:xfrm>
        </p:grpSpPr>
        <p:pic>
          <p:nvPicPr>
            <p:cNvPr id="3" name="object 3"/>
            <p:cNvPicPr/>
            <p:nvPr/>
          </p:nvPicPr>
          <p:blipFill>
            <a:blip r:embed="rId3" cstate="print"/>
            <a:stretch>
              <a:fillRect/>
            </a:stretch>
          </p:blipFill>
          <p:spPr>
            <a:xfrm>
              <a:off x="263652" y="1642872"/>
              <a:ext cx="8745474" cy="1633727"/>
            </a:xfrm>
            <a:prstGeom prst="rect">
              <a:avLst/>
            </a:prstGeom>
          </p:spPr>
        </p:pic>
        <p:pic>
          <p:nvPicPr>
            <p:cNvPr id="4" name="object 4"/>
            <p:cNvPicPr/>
            <p:nvPr/>
          </p:nvPicPr>
          <p:blipFill>
            <a:blip r:embed="rId4" cstate="print"/>
            <a:stretch>
              <a:fillRect/>
            </a:stretch>
          </p:blipFill>
          <p:spPr>
            <a:xfrm>
              <a:off x="304800" y="1661160"/>
              <a:ext cx="8670036" cy="1558289"/>
            </a:xfrm>
            <a:prstGeom prst="rect">
              <a:avLst/>
            </a:prstGeom>
          </p:spPr>
        </p:pic>
      </p:grpSp>
      <p:sp>
        <p:nvSpPr>
          <p:cNvPr id="5" name="object 5"/>
          <p:cNvSpPr txBox="1">
            <a:spLocks noGrp="1"/>
          </p:cNvSpPr>
          <p:nvPr>
            <p:ph type="title"/>
          </p:nvPr>
        </p:nvSpPr>
        <p:spPr>
          <a:xfrm>
            <a:off x="383540" y="15493"/>
            <a:ext cx="3011170" cy="635635"/>
          </a:xfrm>
          <a:prstGeom prst="rect">
            <a:avLst/>
          </a:prstGeom>
        </p:spPr>
        <p:txBody>
          <a:bodyPr vert="horz" wrap="square" lIns="0" tIns="12700" rIns="0" bIns="0" rtlCol="0">
            <a:spAutoFit/>
          </a:bodyPr>
          <a:lstStyle/>
          <a:p>
            <a:pPr marL="12700">
              <a:lnSpc>
                <a:spcPct val="100000"/>
              </a:lnSpc>
              <a:spcBef>
                <a:spcPts val="100"/>
              </a:spcBef>
            </a:pPr>
            <a:r>
              <a:rPr spc="-60" dirty="0"/>
              <a:t>Filegroups</a:t>
            </a:r>
            <a:r>
              <a:rPr spc="-360" dirty="0"/>
              <a:t> </a:t>
            </a:r>
            <a:r>
              <a:rPr spc="-400" dirty="0"/>
              <a:t>3-3</a:t>
            </a:r>
          </a:p>
        </p:txBody>
      </p:sp>
      <p:sp>
        <p:nvSpPr>
          <p:cNvPr id="6" name="object 6"/>
          <p:cNvSpPr txBox="1"/>
          <p:nvPr/>
        </p:nvSpPr>
        <p:spPr>
          <a:xfrm>
            <a:off x="453136" y="887730"/>
            <a:ext cx="8308975" cy="1979295"/>
          </a:xfrm>
          <a:prstGeom prst="rect">
            <a:avLst/>
          </a:prstGeom>
        </p:spPr>
        <p:txBody>
          <a:bodyPr vert="horz" wrap="square" lIns="0" tIns="13335" rIns="0" bIns="0" rtlCol="0">
            <a:spAutoFit/>
          </a:bodyPr>
          <a:lstStyle/>
          <a:p>
            <a:pPr marL="12700" algn="just">
              <a:lnSpc>
                <a:spcPct val="100000"/>
              </a:lnSpc>
              <a:spcBef>
                <a:spcPts val="105"/>
              </a:spcBef>
            </a:pPr>
            <a:r>
              <a:rPr sz="2800" b="1" spc="20" dirty="0">
                <a:latin typeface="Times New Roman"/>
                <a:cs typeface="Times New Roman"/>
              </a:rPr>
              <a:t>Default</a:t>
            </a:r>
            <a:r>
              <a:rPr sz="2800" b="1" spc="-160" dirty="0">
                <a:latin typeface="Times New Roman"/>
                <a:cs typeface="Times New Roman"/>
              </a:rPr>
              <a:t> </a:t>
            </a:r>
            <a:r>
              <a:rPr sz="2800" b="1" spc="-30" dirty="0">
                <a:latin typeface="Times New Roman"/>
                <a:cs typeface="Times New Roman"/>
              </a:rPr>
              <a:t>Filegroup</a:t>
            </a:r>
            <a:endParaRPr sz="2800">
              <a:latin typeface="Times New Roman"/>
              <a:cs typeface="Times New Roman"/>
            </a:endParaRPr>
          </a:p>
          <a:p>
            <a:pPr marL="82550" marR="5080" algn="just">
              <a:lnSpc>
                <a:spcPct val="100000"/>
              </a:lnSpc>
              <a:spcBef>
                <a:spcPts val="3375"/>
              </a:spcBef>
            </a:pPr>
            <a:r>
              <a:rPr sz="2400" spc="-20" dirty="0">
                <a:solidFill>
                  <a:srgbClr val="FFFFFF"/>
                </a:solidFill>
                <a:latin typeface="Arial"/>
                <a:cs typeface="Arial"/>
              </a:rPr>
              <a:t>Objects </a:t>
            </a:r>
            <a:r>
              <a:rPr sz="2400" spc="-114" dirty="0">
                <a:solidFill>
                  <a:srgbClr val="FFFFFF"/>
                </a:solidFill>
                <a:latin typeface="Arial"/>
                <a:cs typeface="Arial"/>
              </a:rPr>
              <a:t>are </a:t>
            </a:r>
            <a:r>
              <a:rPr sz="2400" spc="-110" dirty="0">
                <a:solidFill>
                  <a:srgbClr val="FFFFFF"/>
                </a:solidFill>
                <a:latin typeface="Arial"/>
                <a:cs typeface="Arial"/>
              </a:rPr>
              <a:t>assigned </a:t>
            </a:r>
            <a:r>
              <a:rPr sz="2400" spc="65" dirty="0">
                <a:solidFill>
                  <a:srgbClr val="FFFFFF"/>
                </a:solidFill>
                <a:latin typeface="Arial"/>
                <a:cs typeface="Arial"/>
              </a:rPr>
              <a:t>to </a:t>
            </a:r>
            <a:r>
              <a:rPr sz="2400" spc="5" dirty="0">
                <a:solidFill>
                  <a:srgbClr val="FFFFFF"/>
                </a:solidFill>
                <a:latin typeface="Arial"/>
                <a:cs typeface="Arial"/>
              </a:rPr>
              <a:t>the </a:t>
            </a:r>
            <a:r>
              <a:rPr sz="2400" spc="10" dirty="0">
                <a:solidFill>
                  <a:srgbClr val="FFFFFF"/>
                </a:solidFill>
                <a:latin typeface="Arial"/>
                <a:cs typeface="Arial"/>
              </a:rPr>
              <a:t>default </a:t>
            </a:r>
            <a:r>
              <a:rPr sz="2400" spc="20" dirty="0">
                <a:solidFill>
                  <a:srgbClr val="FFFFFF"/>
                </a:solidFill>
                <a:latin typeface="Arial"/>
                <a:cs typeface="Arial"/>
              </a:rPr>
              <a:t>filegroup </a:t>
            </a:r>
            <a:r>
              <a:rPr sz="2400" dirty="0">
                <a:solidFill>
                  <a:srgbClr val="FFFFFF"/>
                </a:solidFill>
                <a:latin typeface="Arial"/>
                <a:cs typeface="Arial"/>
              </a:rPr>
              <a:t>when they </a:t>
            </a:r>
            <a:r>
              <a:rPr sz="2400" spc="-114" dirty="0">
                <a:solidFill>
                  <a:srgbClr val="FFFFFF"/>
                </a:solidFill>
                <a:latin typeface="Arial"/>
                <a:cs typeface="Arial"/>
              </a:rPr>
              <a:t>are </a:t>
            </a:r>
            <a:r>
              <a:rPr sz="2400" spc="434" dirty="0">
                <a:solidFill>
                  <a:srgbClr val="FFFFFF"/>
                </a:solidFill>
                <a:latin typeface="Arial"/>
                <a:cs typeface="Arial"/>
              </a:rPr>
              <a:t> </a:t>
            </a:r>
            <a:r>
              <a:rPr sz="2400" spc="-75" dirty="0">
                <a:solidFill>
                  <a:srgbClr val="FFFFFF"/>
                </a:solidFill>
                <a:latin typeface="Arial"/>
                <a:cs typeface="Arial"/>
              </a:rPr>
              <a:t>created</a:t>
            </a:r>
            <a:r>
              <a:rPr sz="2400" spc="-130" dirty="0">
                <a:solidFill>
                  <a:srgbClr val="FFFFFF"/>
                </a:solidFill>
                <a:latin typeface="Arial"/>
                <a:cs typeface="Arial"/>
              </a:rPr>
              <a:t> </a:t>
            </a:r>
            <a:r>
              <a:rPr sz="2400" spc="114" dirty="0">
                <a:solidFill>
                  <a:srgbClr val="FFFFFF"/>
                </a:solidFill>
                <a:latin typeface="Arial"/>
                <a:cs typeface="Arial"/>
              </a:rPr>
              <a:t>in</a:t>
            </a:r>
            <a:r>
              <a:rPr sz="2400" spc="-120" dirty="0">
                <a:solidFill>
                  <a:srgbClr val="FFFFFF"/>
                </a:solidFill>
                <a:latin typeface="Arial"/>
                <a:cs typeface="Arial"/>
              </a:rPr>
              <a:t> </a:t>
            </a:r>
            <a:r>
              <a:rPr sz="2400" dirty="0">
                <a:solidFill>
                  <a:srgbClr val="FFFFFF"/>
                </a:solidFill>
                <a:latin typeface="Arial"/>
                <a:cs typeface="Arial"/>
              </a:rPr>
              <a:t>the</a:t>
            </a:r>
            <a:r>
              <a:rPr sz="2400" spc="-125" dirty="0">
                <a:solidFill>
                  <a:srgbClr val="FFFFFF"/>
                </a:solidFill>
                <a:latin typeface="Arial"/>
                <a:cs typeface="Arial"/>
              </a:rPr>
              <a:t> </a:t>
            </a:r>
            <a:r>
              <a:rPr sz="2400" spc="-120" dirty="0">
                <a:solidFill>
                  <a:srgbClr val="FFFFFF"/>
                </a:solidFill>
                <a:latin typeface="Arial"/>
                <a:cs typeface="Arial"/>
              </a:rPr>
              <a:t>database.</a:t>
            </a:r>
            <a:r>
              <a:rPr sz="2400" spc="-125" dirty="0">
                <a:solidFill>
                  <a:srgbClr val="FFFFFF"/>
                </a:solidFill>
                <a:latin typeface="Arial"/>
                <a:cs typeface="Arial"/>
              </a:rPr>
              <a:t> </a:t>
            </a:r>
            <a:r>
              <a:rPr sz="2400" spc="25" dirty="0">
                <a:solidFill>
                  <a:srgbClr val="FFFFFF"/>
                </a:solidFill>
                <a:latin typeface="Arial"/>
                <a:cs typeface="Arial"/>
              </a:rPr>
              <a:t>The</a:t>
            </a:r>
            <a:r>
              <a:rPr sz="2400" spc="-125" dirty="0">
                <a:solidFill>
                  <a:srgbClr val="FFFFFF"/>
                </a:solidFill>
                <a:latin typeface="Arial"/>
                <a:cs typeface="Arial"/>
              </a:rPr>
              <a:t> </a:t>
            </a:r>
            <a:r>
              <a:rPr sz="2400" spc="70" dirty="0">
                <a:solidFill>
                  <a:srgbClr val="FFFFFF"/>
                </a:solidFill>
                <a:latin typeface="Arial"/>
                <a:cs typeface="Arial"/>
              </a:rPr>
              <a:t>PRIMARY</a:t>
            </a:r>
            <a:r>
              <a:rPr sz="2400" spc="-114" dirty="0">
                <a:solidFill>
                  <a:srgbClr val="FFFFFF"/>
                </a:solidFill>
                <a:latin typeface="Arial"/>
                <a:cs typeface="Arial"/>
              </a:rPr>
              <a:t> </a:t>
            </a:r>
            <a:r>
              <a:rPr sz="2400" spc="20" dirty="0">
                <a:solidFill>
                  <a:srgbClr val="FFFFFF"/>
                </a:solidFill>
                <a:latin typeface="Arial"/>
                <a:cs typeface="Arial"/>
              </a:rPr>
              <a:t>filegroup</a:t>
            </a:r>
            <a:r>
              <a:rPr sz="2400" spc="-110" dirty="0">
                <a:solidFill>
                  <a:srgbClr val="FFFFFF"/>
                </a:solidFill>
                <a:latin typeface="Arial"/>
                <a:cs typeface="Arial"/>
              </a:rPr>
              <a:t> </a:t>
            </a:r>
            <a:r>
              <a:rPr sz="2400" spc="-55" dirty="0">
                <a:solidFill>
                  <a:srgbClr val="FFFFFF"/>
                </a:solidFill>
                <a:latin typeface="Arial"/>
                <a:cs typeface="Arial"/>
              </a:rPr>
              <a:t>is</a:t>
            </a:r>
            <a:r>
              <a:rPr sz="2400" spc="-125" dirty="0">
                <a:solidFill>
                  <a:srgbClr val="FFFFFF"/>
                </a:solidFill>
                <a:latin typeface="Arial"/>
                <a:cs typeface="Arial"/>
              </a:rPr>
              <a:t> </a:t>
            </a:r>
            <a:r>
              <a:rPr sz="2400" dirty="0">
                <a:solidFill>
                  <a:srgbClr val="FFFFFF"/>
                </a:solidFill>
                <a:latin typeface="Arial"/>
                <a:cs typeface="Arial"/>
              </a:rPr>
              <a:t>the</a:t>
            </a:r>
            <a:r>
              <a:rPr sz="2400" spc="-120" dirty="0">
                <a:solidFill>
                  <a:srgbClr val="FFFFFF"/>
                </a:solidFill>
                <a:latin typeface="Arial"/>
                <a:cs typeface="Arial"/>
              </a:rPr>
              <a:t> </a:t>
            </a:r>
            <a:r>
              <a:rPr sz="2400" spc="5" dirty="0">
                <a:solidFill>
                  <a:srgbClr val="FFFFFF"/>
                </a:solidFill>
                <a:latin typeface="Arial"/>
                <a:cs typeface="Arial"/>
              </a:rPr>
              <a:t>default  </a:t>
            </a:r>
            <a:r>
              <a:rPr sz="2400" spc="10" dirty="0">
                <a:solidFill>
                  <a:srgbClr val="FFFFFF"/>
                </a:solidFill>
                <a:latin typeface="Arial"/>
                <a:cs typeface="Arial"/>
              </a:rPr>
              <a:t>filegroup.</a:t>
            </a:r>
            <a:endParaRPr sz="2400">
              <a:latin typeface="Arial"/>
              <a:cs typeface="Arial"/>
            </a:endParaRPr>
          </a:p>
        </p:txBody>
      </p:sp>
      <p:pic>
        <p:nvPicPr>
          <p:cNvPr id="7" name="object 7"/>
          <p:cNvPicPr/>
          <p:nvPr/>
        </p:nvPicPr>
        <p:blipFill>
          <a:blip r:embed="rId5" cstate="print"/>
          <a:stretch>
            <a:fillRect/>
          </a:stretch>
        </p:blipFill>
        <p:spPr>
          <a:xfrm>
            <a:off x="2250185" y="3431285"/>
            <a:ext cx="4415790" cy="2574036"/>
          </a:xfrm>
          <a:prstGeom prst="rect">
            <a:avLst/>
          </a:prstGeom>
        </p:spPr>
      </p:pic>
      <p:sp>
        <p:nvSpPr>
          <p:cNvPr id="8" name="object 8"/>
          <p:cNvSpPr txBox="1"/>
          <p:nvPr/>
        </p:nvSpPr>
        <p:spPr>
          <a:xfrm>
            <a:off x="3413505" y="5986271"/>
            <a:ext cx="2094864" cy="238760"/>
          </a:xfrm>
          <a:prstGeom prst="rect">
            <a:avLst/>
          </a:prstGeom>
        </p:spPr>
        <p:txBody>
          <a:bodyPr vert="horz" wrap="square" lIns="0" tIns="12065" rIns="0" bIns="0" rtlCol="0">
            <a:spAutoFit/>
          </a:bodyPr>
          <a:lstStyle/>
          <a:p>
            <a:pPr marL="12700">
              <a:lnSpc>
                <a:spcPct val="100000"/>
              </a:lnSpc>
              <a:spcBef>
                <a:spcPts val="95"/>
              </a:spcBef>
            </a:pPr>
            <a:r>
              <a:rPr sz="1400" b="1" spc="50" dirty="0">
                <a:latin typeface="Times New Roman"/>
                <a:cs typeface="Times New Roman"/>
              </a:rPr>
              <a:t>New </a:t>
            </a:r>
            <a:r>
              <a:rPr sz="1400" b="1" spc="-15" dirty="0">
                <a:latin typeface="Times New Roman"/>
                <a:cs typeface="Times New Roman"/>
              </a:rPr>
              <a:t>File</a:t>
            </a:r>
            <a:r>
              <a:rPr sz="1400" b="1" spc="-270" dirty="0">
                <a:latin typeface="Times New Roman"/>
                <a:cs typeface="Times New Roman"/>
              </a:rPr>
              <a:t> </a:t>
            </a:r>
            <a:r>
              <a:rPr sz="1400" b="1" spc="-65" dirty="0">
                <a:latin typeface="Times New Roman"/>
                <a:cs typeface="Times New Roman"/>
              </a:rPr>
              <a:t>Cust_DB1 </a:t>
            </a:r>
            <a:r>
              <a:rPr sz="1400" b="1" spc="-5" dirty="0">
                <a:latin typeface="Times New Roman"/>
                <a:cs typeface="Times New Roman"/>
              </a:rPr>
              <a:t>Created</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14</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300855" cy="635635"/>
          </a:xfrm>
          <a:prstGeom prst="rect">
            <a:avLst/>
          </a:prstGeom>
        </p:spPr>
        <p:txBody>
          <a:bodyPr vert="horz" wrap="square" lIns="0" tIns="12700" rIns="0" bIns="0" rtlCol="0">
            <a:spAutoFit/>
          </a:bodyPr>
          <a:lstStyle/>
          <a:p>
            <a:pPr marL="12700">
              <a:lnSpc>
                <a:spcPct val="100000"/>
              </a:lnSpc>
              <a:spcBef>
                <a:spcPts val="100"/>
              </a:spcBef>
            </a:pPr>
            <a:r>
              <a:rPr spc="-10" dirty="0"/>
              <a:t>Transaction </a:t>
            </a:r>
            <a:r>
              <a:rPr spc="-40" dirty="0"/>
              <a:t>Log</a:t>
            </a:r>
            <a:r>
              <a:rPr spc="-580" dirty="0"/>
              <a:t> </a:t>
            </a:r>
            <a:r>
              <a:rPr spc="-400" dirty="0"/>
              <a:t>1-2</a:t>
            </a:r>
          </a:p>
        </p:txBody>
      </p:sp>
      <p:pic>
        <p:nvPicPr>
          <p:cNvPr id="3" name="object 3"/>
          <p:cNvPicPr/>
          <p:nvPr/>
        </p:nvPicPr>
        <p:blipFill>
          <a:blip r:embed="rId3" cstate="print"/>
          <a:stretch>
            <a:fillRect/>
          </a:stretch>
        </p:blipFill>
        <p:spPr>
          <a:xfrm>
            <a:off x="853439" y="1097280"/>
            <a:ext cx="7066788" cy="4558284"/>
          </a:xfrm>
          <a:prstGeom prst="rect">
            <a:avLst/>
          </a:prstGeom>
        </p:spPr>
      </p:pic>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15</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85893" y="5034788"/>
            <a:ext cx="274320" cy="387985"/>
          </a:xfrm>
          <a:prstGeom prst="rect">
            <a:avLst/>
          </a:prstGeom>
        </p:spPr>
        <p:txBody>
          <a:bodyPr vert="horz" wrap="square" lIns="0" tIns="76200" rIns="0" bIns="0" rtlCol="0">
            <a:spAutoFit/>
          </a:bodyPr>
          <a:lstStyle/>
          <a:p>
            <a:pPr marL="12700" marR="5080" indent="635">
              <a:lnSpc>
                <a:spcPct val="70000"/>
              </a:lnSpc>
              <a:spcBef>
                <a:spcPts val="600"/>
              </a:spcBef>
            </a:pPr>
            <a:r>
              <a:rPr sz="1400" b="1" spc="15" dirty="0">
                <a:solidFill>
                  <a:srgbClr val="F1F1F1"/>
                </a:solidFill>
                <a:latin typeface="Times New Roman"/>
                <a:cs typeface="Times New Roman"/>
              </a:rPr>
              <a:t>ed  </a:t>
            </a:r>
            <a:r>
              <a:rPr sz="1400" b="1" spc="40" dirty="0">
                <a:solidFill>
                  <a:srgbClr val="F1F1F1"/>
                </a:solidFill>
                <a:latin typeface="Times New Roman"/>
                <a:cs typeface="Times New Roman"/>
              </a:rPr>
              <a:t>o</a:t>
            </a:r>
            <a:r>
              <a:rPr sz="1400" b="1" spc="-110" dirty="0">
                <a:solidFill>
                  <a:srgbClr val="F1F1F1"/>
                </a:solidFill>
                <a:latin typeface="Times New Roman"/>
                <a:cs typeface="Times New Roman"/>
              </a:rPr>
              <a:t>r</a:t>
            </a:r>
            <a:r>
              <a:rPr sz="1400" b="1" spc="-5" dirty="0">
                <a:solidFill>
                  <a:srgbClr val="F1F1F1"/>
                </a:solidFill>
                <a:latin typeface="Times New Roman"/>
                <a:cs typeface="Times New Roman"/>
              </a:rPr>
              <a:t>y</a:t>
            </a:r>
            <a:endParaRPr sz="1400">
              <a:latin typeface="Times New Roman"/>
              <a:cs typeface="Times New Roman"/>
            </a:endParaRPr>
          </a:p>
        </p:txBody>
      </p:sp>
      <p:sp>
        <p:nvSpPr>
          <p:cNvPr id="3" name="object 3"/>
          <p:cNvSpPr txBox="1"/>
          <p:nvPr/>
        </p:nvSpPr>
        <p:spPr>
          <a:xfrm>
            <a:off x="6797547" y="5054589"/>
            <a:ext cx="903605" cy="563245"/>
          </a:xfrm>
          <a:prstGeom prst="rect">
            <a:avLst/>
          </a:prstGeom>
        </p:spPr>
        <p:txBody>
          <a:bodyPr vert="horz" wrap="square" lIns="0" tIns="52069" rIns="0" bIns="0" rtlCol="0">
            <a:spAutoFit/>
          </a:bodyPr>
          <a:lstStyle/>
          <a:p>
            <a:pPr algn="just">
              <a:lnSpc>
                <a:spcPct val="72100"/>
              </a:lnSpc>
              <a:spcBef>
                <a:spcPts val="409"/>
              </a:spcBef>
            </a:pPr>
            <a:r>
              <a:rPr sz="1400" b="1" spc="100" dirty="0">
                <a:solidFill>
                  <a:srgbClr val="F1F1F1"/>
                </a:solidFill>
                <a:latin typeface="Times New Roman"/>
                <a:cs typeface="Times New Roman"/>
              </a:rPr>
              <a:t>C</a:t>
            </a:r>
            <a:r>
              <a:rPr sz="1400" b="1" spc="50" dirty="0">
                <a:solidFill>
                  <a:srgbClr val="F1F1F1"/>
                </a:solidFill>
                <a:latin typeface="Times New Roman"/>
                <a:cs typeface="Times New Roman"/>
              </a:rPr>
              <a:t>o</a:t>
            </a:r>
            <a:r>
              <a:rPr sz="1400" b="1" spc="-35" dirty="0">
                <a:solidFill>
                  <a:srgbClr val="F1F1F1"/>
                </a:solidFill>
                <a:latin typeface="Times New Roman"/>
                <a:cs typeface="Times New Roman"/>
              </a:rPr>
              <a:t>m</a:t>
            </a:r>
            <a:r>
              <a:rPr sz="1400" b="1" spc="-20" dirty="0">
                <a:solidFill>
                  <a:srgbClr val="F1F1F1"/>
                </a:solidFill>
                <a:latin typeface="Times New Roman"/>
                <a:cs typeface="Times New Roman"/>
              </a:rPr>
              <a:t>p</a:t>
            </a:r>
            <a:r>
              <a:rPr sz="1400" b="1" spc="10" dirty="0">
                <a:solidFill>
                  <a:srgbClr val="F1F1F1"/>
                </a:solidFill>
                <a:latin typeface="Times New Roman"/>
                <a:cs typeface="Times New Roman"/>
              </a:rPr>
              <a:t>u</a:t>
            </a:r>
            <a:r>
              <a:rPr sz="1400" b="1" spc="15" dirty="0">
                <a:solidFill>
                  <a:srgbClr val="F1F1F1"/>
                </a:solidFill>
                <a:latin typeface="Times New Roman"/>
                <a:cs typeface="Times New Roman"/>
              </a:rPr>
              <a:t>t</a:t>
            </a:r>
            <a:r>
              <a:rPr sz="1400" b="1" spc="5" dirty="0">
                <a:solidFill>
                  <a:srgbClr val="F1F1F1"/>
                </a:solidFill>
                <a:latin typeface="Times New Roman"/>
                <a:cs typeface="Times New Roman"/>
              </a:rPr>
              <a:t>e</a:t>
            </a:r>
            <a:r>
              <a:rPr sz="1400" b="1" spc="-114" dirty="0">
                <a:solidFill>
                  <a:srgbClr val="F1F1F1"/>
                </a:solidFill>
                <a:latin typeface="Times New Roman"/>
                <a:cs typeface="Times New Roman"/>
              </a:rPr>
              <a:t>r</a:t>
            </a:r>
            <a:r>
              <a:rPr sz="1400" b="1" spc="-5" dirty="0">
                <a:solidFill>
                  <a:srgbClr val="F1F1F1"/>
                </a:solidFill>
                <a:latin typeface="Times New Roman"/>
                <a:cs typeface="Times New Roman"/>
              </a:rPr>
              <a:t>i</a:t>
            </a:r>
            <a:r>
              <a:rPr sz="1400" b="1" spc="-70" dirty="0">
                <a:solidFill>
                  <a:srgbClr val="F1F1F1"/>
                </a:solidFill>
                <a:latin typeface="Times New Roman"/>
                <a:cs typeface="Times New Roman"/>
              </a:rPr>
              <a:t>z  </a:t>
            </a:r>
            <a:r>
              <a:rPr sz="1400" b="1" spc="-35" dirty="0">
                <a:solidFill>
                  <a:srgbClr val="F1F1F1"/>
                </a:solidFill>
                <a:latin typeface="Times New Roman"/>
                <a:cs typeface="Times New Roman"/>
              </a:rPr>
              <a:t>parts</a:t>
            </a:r>
            <a:r>
              <a:rPr sz="1400" b="1" spc="-155" dirty="0">
                <a:solidFill>
                  <a:srgbClr val="F1F1F1"/>
                </a:solidFill>
                <a:latin typeface="Times New Roman"/>
                <a:cs typeface="Times New Roman"/>
              </a:rPr>
              <a:t> </a:t>
            </a:r>
            <a:r>
              <a:rPr sz="1400" b="1" spc="20" dirty="0">
                <a:solidFill>
                  <a:srgbClr val="F1F1F1"/>
                </a:solidFill>
                <a:latin typeface="Times New Roman"/>
                <a:cs typeface="Times New Roman"/>
              </a:rPr>
              <a:t>invent  </a:t>
            </a:r>
            <a:r>
              <a:rPr sz="1400" b="1" spc="-5" dirty="0">
                <a:solidFill>
                  <a:srgbClr val="F1F1F1"/>
                </a:solidFill>
                <a:latin typeface="Times New Roman"/>
                <a:cs typeface="Times New Roman"/>
              </a:rPr>
              <a:t>systems</a:t>
            </a:r>
            <a:endParaRPr sz="1400">
              <a:latin typeface="Times New Roman"/>
              <a:cs typeface="Times New Roman"/>
            </a:endParaRPr>
          </a:p>
        </p:txBody>
      </p:sp>
      <p:sp>
        <p:nvSpPr>
          <p:cNvPr id="4" name="object 4"/>
          <p:cNvSpPr txBox="1">
            <a:spLocks noGrp="1"/>
          </p:cNvSpPr>
          <p:nvPr>
            <p:ph type="title"/>
          </p:nvPr>
        </p:nvSpPr>
        <p:spPr>
          <a:xfrm>
            <a:off x="392938" y="37337"/>
            <a:ext cx="4365625" cy="635635"/>
          </a:xfrm>
          <a:prstGeom prst="rect">
            <a:avLst/>
          </a:prstGeom>
        </p:spPr>
        <p:txBody>
          <a:bodyPr vert="horz" wrap="square" lIns="0" tIns="12700" rIns="0" bIns="0" rtlCol="0">
            <a:spAutoFit/>
          </a:bodyPr>
          <a:lstStyle/>
          <a:p>
            <a:pPr marL="12700">
              <a:lnSpc>
                <a:spcPct val="100000"/>
              </a:lnSpc>
              <a:spcBef>
                <a:spcPts val="100"/>
              </a:spcBef>
            </a:pPr>
            <a:r>
              <a:rPr spc="-10" dirty="0"/>
              <a:t>Transaction </a:t>
            </a:r>
            <a:r>
              <a:rPr spc="-40" dirty="0"/>
              <a:t>Log</a:t>
            </a:r>
            <a:r>
              <a:rPr spc="-585" dirty="0"/>
              <a:t> </a:t>
            </a:r>
            <a:r>
              <a:rPr spc="-229" dirty="0"/>
              <a:t>2-2</a:t>
            </a:r>
          </a:p>
        </p:txBody>
      </p:sp>
      <p:grpSp>
        <p:nvGrpSpPr>
          <p:cNvPr id="5" name="object 5"/>
          <p:cNvGrpSpPr/>
          <p:nvPr/>
        </p:nvGrpSpPr>
        <p:grpSpPr>
          <a:xfrm>
            <a:off x="482345" y="1258824"/>
            <a:ext cx="8171180" cy="3020695"/>
            <a:chOff x="482345" y="1258824"/>
            <a:chExt cx="8171180" cy="3020695"/>
          </a:xfrm>
        </p:grpSpPr>
        <p:pic>
          <p:nvPicPr>
            <p:cNvPr id="6" name="object 6"/>
            <p:cNvPicPr/>
            <p:nvPr/>
          </p:nvPicPr>
          <p:blipFill>
            <a:blip r:embed="rId3" cstate="print"/>
            <a:stretch>
              <a:fillRect/>
            </a:stretch>
          </p:blipFill>
          <p:spPr>
            <a:xfrm>
              <a:off x="482345" y="1338072"/>
              <a:ext cx="8170926" cy="1551431"/>
            </a:xfrm>
            <a:prstGeom prst="rect">
              <a:avLst/>
            </a:prstGeom>
          </p:spPr>
        </p:pic>
        <p:pic>
          <p:nvPicPr>
            <p:cNvPr id="7" name="object 7"/>
            <p:cNvPicPr/>
            <p:nvPr/>
          </p:nvPicPr>
          <p:blipFill>
            <a:blip r:embed="rId4" cstate="print"/>
            <a:stretch>
              <a:fillRect/>
            </a:stretch>
          </p:blipFill>
          <p:spPr>
            <a:xfrm>
              <a:off x="488441" y="1258824"/>
              <a:ext cx="8095488" cy="1550670"/>
            </a:xfrm>
            <a:prstGeom prst="rect">
              <a:avLst/>
            </a:prstGeom>
          </p:spPr>
        </p:pic>
        <p:pic>
          <p:nvPicPr>
            <p:cNvPr id="8" name="object 8"/>
            <p:cNvPicPr/>
            <p:nvPr/>
          </p:nvPicPr>
          <p:blipFill>
            <a:blip r:embed="rId5" cstate="print"/>
            <a:stretch>
              <a:fillRect/>
            </a:stretch>
          </p:blipFill>
          <p:spPr>
            <a:xfrm>
              <a:off x="482345" y="2981706"/>
              <a:ext cx="8170926" cy="1297686"/>
            </a:xfrm>
            <a:prstGeom prst="rect">
              <a:avLst/>
            </a:prstGeom>
          </p:spPr>
        </p:pic>
        <p:pic>
          <p:nvPicPr>
            <p:cNvPr id="9" name="object 9"/>
            <p:cNvPicPr/>
            <p:nvPr/>
          </p:nvPicPr>
          <p:blipFill>
            <a:blip r:embed="rId6" cstate="print"/>
            <a:stretch>
              <a:fillRect/>
            </a:stretch>
          </p:blipFill>
          <p:spPr>
            <a:xfrm>
              <a:off x="488441" y="2915412"/>
              <a:ext cx="8095488" cy="1298448"/>
            </a:xfrm>
            <a:prstGeom prst="rect">
              <a:avLst/>
            </a:prstGeom>
          </p:spPr>
        </p:pic>
      </p:grpSp>
      <p:sp>
        <p:nvSpPr>
          <p:cNvPr id="10" name="object 10"/>
          <p:cNvSpPr txBox="1"/>
          <p:nvPr/>
        </p:nvSpPr>
        <p:spPr>
          <a:xfrm>
            <a:off x="500126" y="690368"/>
            <a:ext cx="7899400" cy="3947795"/>
          </a:xfrm>
          <a:prstGeom prst="rect">
            <a:avLst/>
          </a:prstGeom>
        </p:spPr>
        <p:txBody>
          <a:bodyPr vert="horz" wrap="square" lIns="0" tIns="160020" rIns="0" bIns="0" rtlCol="0">
            <a:spAutoFit/>
          </a:bodyPr>
          <a:lstStyle/>
          <a:p>
            <a:pPr marL="12700">
              <a:lnSpc>
                <a:spcPct val="100000"/>
              </a:lnSpc>
              <a:spcBef>
                <a:spcPts val="1260"/>
              </a:spcBef>
            </a:pPr>
            <a:r>
              <a:rPr sz="2800" b="1" spc="20" dirty="0">
                <a:latin typeface="Times New Roman"/>
                <a:cs typeface="Times New Roman"/>
              </a:rPr>
              <a:t>Working </a:t>
            </a:r>
            <a:r>
              <a:rPr sz="2800" b="1" spc="70" dirty="0">
                <a:latin typeface="Times New Roman"/>
                <a:cs typeface="Times New Roman"/>
              </a:rPr>
              <a:t>of </a:t>
            </a:r>
            <a:r>
              <a:rPr sz="2800" b="1" spc="-15" dirty="0">
                <a:latin typeface="Times New Roman"/>
                <a:cs typeface="Times New Roman"/>
              </a:rPr>
              <a:t>Transaction</a:t>
            </a:r>
            <a:r>
              <a:rPr sz="2800" b="1" spc="-540" dirty="0">
                <a:latin typeface="Times New Roman"/>
                <a:cs typeface="Times New Roman"/>
              </a:rPr>
              <a:t> </a:t>
            </a:r>
            <a:r>
              <a:rPr sz="2800" b="1" spc="-75" dirty="0">
                <a:latin typeface="Times New Roman"/>
                <a:cs typeface="Times New Roman"/>
              </a:rPr>
              <a:t>Logs:</a:t>
            </a:r>
            <a:endParaRPr sz="2800">
              <a:latin typeface="Times New Roman"/>
              <a:cs typeface="Times New Roman"/>
            </a:endParaRPr>
          </a:p>
          <a:p>
            <a:pPr marL="252095" marR="5080" algn="just">
              <a:lnSpc>
                <a:spcPct val="100000"/>
              </a:lnSpc>
              <a:spcBef>
                <a:spcPts val="994"/>
              </a:spcBef>
            </a:pPr>
            <a:r>
              <a:rPr sz="2400" spc="345" dirty="0">
                <a:latin typeface="Arial"/>
                <a:cs typeface="Arial"/>
              </a:rPr>
              <a:t>A</a:t>
            </a:r>
            <a:r>
              <a:rPr sz="2400" spc="-150" dirty="0">
                <a:latin typeface="Arial"/>
                <a:cs typeface="Arial"/>
              </a:rPr>
              <a:t> </a:t>
            </a:r>
            <a:r>
              <a:rPr sz="2400" spc="-125" dirty="0">
                <a:latin typeface="Arial"/>
                <a:cs typeface="Arial"/>
              </a:rPr>
              <a:t>database</a:t>
            </a:r>
            <a:r>
              <a:rPr sz="2400" spc="-150" dirty="0">
                <a:latin typeface="Arial"/>
                <a:cs typeface="Arial"/>
              </a:rPr>
              <a:t> </a:t>
            </a:r>
            <a:r>
              <a:rPr sz="2400" spc="114" dirty="0">
                <a:latin typeface="Arial"/>
                <a:cs typeface="Arial"/>
              </a:rPr>
              <a:t>in</a:t>
            </a:r>
            <a:r>
              <a:rPr sz="2400" spc="-150" dirty="0">
                <a:latin typeface="Arial"/>
                <a:cs typeface="Arial"/>
              </a:rPr>
              <a:t> </a:t>
            </a:r>
            <a:r>
              <a:rPr sz="2400" spc="25" dirty="0">
                <a:latin typeface="Arial"/>
                <a:cs typeface="Arial"/>
              </a:rPr>
              <a:t>SQL</a:t>
            </a:r>
            <a:r>
              <a:rPr sz="2400" spc="-150" dirty="0">
                <a:latin typeface="Arial"/>
                <a:cs typeface="Arial"/>
              </a:rPr>
              <a:t> </a:t>
            </a:r>
            <a:r>
              <a:rPr sz="2400" spc="-60" dirty="0">
                <a:latin typeface="Arial"/>
                <a:cs typeface="Arial"/>
              </a:rPr>
              <a:t>Server</a:t>
            </a:r>
            <a:r>
              <a:rPr sz="2400" spc="-145" dirty="0">
                <a:latin typeface="Arial"/>
                <a:cs typeface="Arial"/>
              </a:rPr>
              <a:t> has</a:t>
            </a:r>
            <a:r>
              <a:rPr sz="2400" spc="-140" dirty="0">
                <a:latin typeface="Arial"/>
                <a:cs typeface="Arial"/>
              </a:rPr>
              <a:t> </a:t>
            </a:r>
            <a:r>
              <a:rPr sz="2400" spc="-40" dirty="0">
                <a:latin typeface="Arial"/>
                <a:cs typeface="Arial"/>
              </a:rPr>
              <a:t>at</a:t>
            </a:r>
            <a:r>
              <a:rPr sz="2400" spc="-150" dirty="0">
                <a:latin typeface="Arial"/>
                <a:cs typeface="Arial"/>
              </a:rPr>
              <a:t> </a:t>
            </a:r>
            <a:r>
              <a:rPr sz="2400" spc="-85" dirty="0">
                <a:latin typeface="Arial"/>
                <a:cs typeface="Arial"/>
              </a:rPr>
              <a:t>least</a:t>
            </a:r>
            <a:r>
              <a:rPr sz="2400" spc="-150" dirty="0">
                <a:latin typeface="Arial"/>
                <a:cs typeface="Arial"/>
              </a:rPr>
              <a:t> </a:t>
            </a:r>
            <a:r>
              <a:rPr sz="2400" spc="-55" dirty="0">
                <a:latin typeface="Arial"/>
                <a:cs typeface="Arial"/>
              </a:rPr>
              <a:t>one</a:t>
            </a:r>
            <a:r>
              <a:rPr sz="2400" spc="-155" dirty="0">
                <a:latin typeface="Arial"/>
                <a:cs typeface="Arial"/>
              </a:rPr>
              <a:t> </a:t>
            </a:r>
            <a:r>
              <a:rPr sz="2400" spc="-70" dirty="0">
                <a:latin typeface="Arial"/>
                <a:cs typeface="Arial"/>
              </a:rPr>
              <a:t>data</a:t>
            </a:r>
            <a:r>
              <a:rPr sz="2400" spc="-150" dirty="0">
                <a:latin typeface="Arial"/>
                <a:cs typeface="Arial"/>
              </a:rPr>
              <a:t> </a:t>
            </a:r>
            <a:r>
              <a:rPr sz="2400" spc="55" dirty="0">
                <a:latin typeface="Arial"/>
                <a:cs typeface="Arial"/>
              </a:rPr>
              <a:t>file</a:t>
            </a:r>
            <a:r>
              <a:rPr sz="2400" spc="-140" dirty="0">
                <a:latin typeface="Arial"/>
                <a:cs typeface="Arial"/>
              </a:rPr>
              <a:t> </a:t>
            </a:r>
            <a:r>
              <a:rPr sz="2400" spc="-45" dirty="0">
                <a:latin typeface="Arial"/>
                <a:cs typeface="Arial"/>
              </a:rPr>
              <a:t>and</a:t>
            </a:r>
            <a:r>
              <a:rPr sz="2400" spc="-155" dirty="0">
                <a:latin typeface="Arial"/>
                <a:cs typeface="Arial"/>
              </a:rPr>
              <a:t> </a:t>
            </a:r>
            <a:r>
              <a:rPr sz="2400" spc="-55" dirty="0">
                <a:latin typeface="Arial"/>
                <a:cs typeface="Arial"/>
              </a:rPr>
              <a:t>one  </a:t>
            </a:r>
            <a:r>
              <a:rPr sz="2400" spc="-15" dirty="0">
                <a:latin typeface="Arial"/>
                <a:cs typeface="Arial"/>
              </a:rPr>
              <a:t>transaction </a:t>
            </a:r>
            <a:r>
              <a:rPr sz="2400" spc="-20" dirty="0">
                <a:latin typeface="Arial"/>
                <a:cs typeface="Arial"/>
              </a:rPr>
              <a:t>log </a:t>
            </a:r>
            <a:r>
              <a:rPr sz="2400" spc="30" dirty="0">
                <a:latin typeface="Arial"/>
                <a:cs typeface="Arial"/>
              </a:rPr>
              <a:t>file. </a:t>
            </a:r>
            <a:r>
              <a:rPr sz="2400" spc="-35" dirty="0">
                <a:latin typeface="Arial"/>
                <a:cs typeface="Arial"/>
              </a:rPr>
              <a:t>Data </a:t>
            </a:r>
            <a:r>
              <a:rPr sz="2400" spc="-45" dirty="0">
                <a:latin typeface="Arial"/>
                <a:cs typeface="Arial"/>
              </a:rPr>
              <a:t>and </a:t>
            </a:r>
            <a:r>
              <a:rPr sz="2400" spc="-15" dirty="0">
                <a:latin typeface="Arial"/>
                <a:cs typeface="Arial"/>
              </a:rPr>
              <a:t>transaction </a:t>
            </a:r>
            <a:r>
              <a:rPr sz="2400" spc="-20" dirty="0">
                <a:latin typeface="Arial"/>
                <a:cs typeface="Arial"/>
              </a:rPr>
              <a:t>log </a:t>
            </a:r>
            <a:r>
              <a:rPr sz="2400" spc="50" dirty="0">
                <a:latin typeface="Arial"/>
                <a:cs typeface="Arial"/>
              </a:rPr>
              <a:t>information  </a:t>
            </a:r>
            <a:r>
              <a:rPr sz="2400" spc="-114" dirty="0">
                <a:latin typeface="Arial"/>
                <a:cs typeface="Arial"/>
              </a:rPr>
              <a:t>are</a:t>
            </a:r>
            <a:r>
              <a:rPr sz="2400" spc="-160" dirty="0">
                <a:latin typeface="Arial"/>
                <a:cs typeface="Arial"/>
              </a:rPr>
              <a:t> </a:t>
            </a:r>
            <a:r>
              <a:rPr sz="2400" spc="10" dirty="0">
                <a:latin typeface="Arial"/>
                <a:cs typeface="Arial"/>
              </a:rPr>
              <a:t>kept</a:t>
            </a:r>
            <a:r>
              <a:rPr sz="2400" spc="-150" dirty="0">
                <a:latin typeface="Arial"/>
                <a:cs typeface="Arial"/>
              </a:rPr>
              <a:t> </a:t>
            </a:r>
            <a:r>
              <a:rPr sz="2400" spc="-95" dirty="0">
                <a:latin typeface="Arial"/>
                <a:cs typeface="Arial"/>
              </a:rPr>
              <a:t>separated,</a:t>
            </a:r>
            <a:r>
              <a:rPr sz="2400" spc="-150" dirty="0">
                <a:latin typeface="Arial"/>
                <a:cs typeface="Arial"/>
              </a:rPr>
              <a:t> </a:t>
            </a:r>
            <a:r>
              <a:rPr sz="2400" spc="-25" dirty="0">
                <a:latin typeface="Arial"/>
                <a:cs typeface="Arial"/>
              </a:rPr>
              <a:t>preferably</a:t>
            </a:r>
            <a:r>
              <a:rPr sz="2400" spc="-145" dirty="0">
                <a:latin typeface="Arial"/>
                <a:cs typeface="Arial"/>
              </a:rPr>
              <a:t> </a:t>
            </a:r>
            <a:r>
              <a:rPr sz="2400" spc="30" dirty="0">
                <a:latin typeface="Arial"/>
                <a:cs typeface="Arial"/>
              </a:rPr>
              <a:t>on</a:t>
            </a:r>
            <a:r>
              <a:rPr sz="2400" spc="-160" dirty="0">
                <a:latin typeface="Arial"/>
                <a:cs typeface="Arial"/>
              </a:rPr>
              <a:t> </a:t>
            </a:r>
            <a:r>
              <a:rPr sz="2400" spc="-114" dirty="0">
                <a:latin typeface="Arial"/>
                <a:cs typeface="Arial"/>
              </a:rPr>
              <a:t>separate</a:t>
            </a:r>
            <a:r>
              <a:rPr sz="2400" spc="-145" dirty="0">
                <a:latin typeface="Arial"/>
                <a:cs typeface="Arial"/>
              </a:rPr>
              <a:t> </a:t>
            </a:r>
            <a:r>
              <a:rPr sz="2400" spc="-35" dirty="0">
                <a:latin typeface="Arial"/>
                <a:cs typeface="Arial"/>
              </a:rPr>
              <a:t>drives.</a:t>
            </a:r>
            <a:endParaRPr sz="2400">
              <a:latin typeface="Arial"/>
              <a:cs typeface="Arial"/>
            </a:endParaRPr>
          </a:p>
          <a:p>
            <a:pPr>
              <a:lnSpc>
                <a:spcPct val="100000"/>
              </a:lnSpc>
              <a:spcBef>
                <a:spcPts val="40"/>
              </a:spcBef>
            </a:pPr>
            <a:endParaRPr sz="3750">
              <a:latin typeface="Arial"/>
              <a:cs typeface="Arial"/>
            </a:endParaRPr>
          </a:p>
          <a:p>
            <a:pPr marL="219710">
              <a:lnSpc>
                <a:spcPct val="100000"/>
              </a:lnSpc>
            </a:pPr>
            <a:r>
              <a:rPr sz="2000" spc="20" dirty="0">
                <a:latin typeface="Arial"/>
                <a:cs typeface="Arial"/>
              </a:rPr>
              <a:t>The</a:t>
            </a:r>
            <a:r>
              <a:rPr sz="2000" spc="-130" dirty="0">
                <a:latin typeface="Arial"/>
                <a:cs typeface="Arial"/>
              </a:rPr>
              <a:t> </a:t>
            </a:r>
            <a:r>
              <a:rPr sz="2000" spc="5" dirty="0">
                <a:latin typeface="Arial"/>
                <a:cs typeface="Arial"/>
              </a:rPr>
              <a:t>rollback</a:t>
            </a:r>
            <a:r>
              <a:rPr sz="2000" spc="-100" dirty="0">
                <a:latin typeface="Arial"/>
                <a:cs typeface="Arial"/>
              </a:rPr>
              <a:t> </a:t>
            </a:r>
            <a:r>
              <a:rPr sz="2000" spc="50" dirty="0">
                <a:latin typeface="Arial"/>
                <a:cs typeface="Arial"/>
              </a:rPr>
              <a:t>of</a:t>
            </a:r>
            <a:r>
              <a:rPr sz="2000" spc="-125" dirty="0">
                <a:latin typeface="Arial"/>
                <a:cs typeface="Arial"/>
              </a:rPr>
              <a:t> </a:t>
            </a:r>
            <a:r>
              <a:rPr sz="2000" spc="-105" dirty="0">
                <a:latin typeface="Arial"/>
                <a:cs typeface="Arial"/>
              </a:rPr>
              <a:t>each</a:t>
            </a:r>
            <a:r>
              <a:rPr sz="2000" spc="-114" dirty="0">
                <a:latin typeface="Arial"/>
                <a:cs typeface="Arial"/>
              </a:rPr>
              <a:t> </a:t>
            </a:r>
            <a:r>
              <a:rPr sz="2000" spc="-15" dirty="0">
                <a:latin typeface="Arial"/>
                <a:cs typeface="Arial"/>
              </a:rPr>
              <a:t>transaction</a:t>
            </a:r>
            <a:r>
              <a:rPr sz="2000" spc="-105" dirty="0">
                <a:latin typeface="Arial"/>
                <a:cs typeface="Arial"/>
              </a:rPr>
              <a:t> </a:t>
            </a:r>
            <a:r>
              <a:rPr sz="2000" spc="-50" dirty="0">
                <a:latin typeface="Arial"/>
                <a:cs typeface="Arial"/>
              </a:rPr>
              <a:t>is</a:t>
            </a:r>
            <a:r>
              <a:rPr sz="2000" spc="-130" dirty="0">
                <a:latin typeface="Arial"/>
                <a:cs typeface="Arial"/>
              </a:rPr>
              <a:t> </a:t>
            </a:r>
            <a:r>
              <a:rPr sz="2000" spc="-50" dirty="0">
                <a:latin typeface="Arial"/>
                <a:cs typeface="Arial"/>
              </a:rPr>
              <a:t>executed</a:t>
            </a:r>
            <a:r>
              <a:rPr sz="2000" spc="-110" dirty="0">
                <a:latin typeface="Arial"/>
                <a:cs typeface="Arial"/>
              </a:rPr>
              <a:t> </a:t>
            </a:r>
            <a:r>
              <a:rPr sz="2000" spc="-25" dirty="0">
                <a:latin typeface="Arial"/>
                <a:cs typeface="Arial"/>
              </a:rPr>
              <a:t>using</a:t>
            </a:r>
            <a:r>
              <a:rPr sz="2000" spc="-130" dirty="0">
                <a:latin typeface="Arial"/>
                <a:cs typeface="Arial"/>
              </a:rPr>
              <a:t> </a:t>
            </a:r>
            <a:r>
              <a:rPr sz="2000" spc="45" dirty="0">
                <a:latin typeface="Arial"/>
                <a:cs typeface="Arial"/>
              </a:rPr>
              <a:t>following</a:t>
            </a:r>
            <a:r>
              <a:rPr sz="2000" spc="-95" dirty="0">
                <a:latin typeface="Arial"/>
                <a:cs typeface="Arial"/>
              </a:rPr>
              <a:t> </a:t>
            </a:r>
            <a:r>
              <a:rPr sz="2000" spc="-80" dirty="0">
                <a:latin typeface="Arial"/>
                <a:cs typeface="Arial"/>
              </a:rPr>
              <a:t>ways:</a:t>
            </a:r>
            <a:endParaRPr sz="2000">
              <a:latin typeface="Arial"/>
              <a:cs typeface="Arial"/>
            </a:endParaRPr>
          </a:p>
          <a:p>
            <a:pPr marL="505459" indent="-286385">
              <a:lnSpc>
                <a:spcPct val="100000"/>
              </a:lnSpc>
              <a:spcBef>
                <a:spcPts val="40"/>
              </a:spcBef>
              <a:buFont typeface="Wingdings"/>
              <a:buChar char=""/>
              <a:tabLst>
                <a:tab pos="506095" algn="l"/>
              </a:tabLst>
            </a:pPr>
            <a:r>
              <a:rPr sz="1800" spc="260" dirty="0">
                <a:latin typeface="Arial"/>
                <a:cs typeface="Arial"/>
              </a:rPr>
              <a:t>A</a:t>
            </a:r>
            <a:r>
              <a:rPr sz="1800" spc="-120" dirty="0">
                <a:latin typeface="Arial"/>
                <a:cs typeface="Arial"/>
              </a:rPr>
              <a:t> </a:t>
            </a:r>
            <a:r>
              <a:rPr sz="1800" spc="-10" dirty="0">
                <a:latin typeface="Arial"/>
                <a:cs typeface="Arial"/>
              </a:rPr>
              <a:t>transaction</a:t>
            </a:r>
            <a:r>
              <a:rPr sz="1800" spc="-125" dirty="0">
                <a:latin typeface="Arial"/>
                <a:cs typeface="Arial"/>
              </a:rPr>
              <a:t> </a:t>
            </a:r>
            <a:r>
              <a:rPr sz="1800" spc="-45" dirty="0">
                <a:latin typeface="Arial"/>
                <a:cs typeface="Arial"/>
              </a:rPr>
              <a:t>is</a:t>
            </a:r>
            <a:r>
              <a:rPr sz="1800" spc="-105" dirty="0">
                <a:latin typeface="Arial"/>
                <a:cs typeface="Arial"/>
              </a:rPr>
              <a:t> </a:t>
            </a:r>
            <a:r>
              <a:rPr sz="1800" spc="15" dirty="0">
                <a:latin typeface="Arial"/>
                <a:cs typeface="Arial"/>
              </a:rPr>
              <a:t>rolled</a:t>
            </a:r>
            <a:r>
              <a:rPr sz="1800" spc="-130" dirty="0">
                <a:latin typeface="Arial"/>
                <a:cs typeface="Arial"/>
              </a:rPr>
              <a:t> </a:t>
            </a:r>
            <a:r>
              <a:rPr sz="1800" spc="20" dirty="0">
                <a:latin typeface="Arial"/>
                <a:cs typeface="Arial"/>
              </a:rPr>
              <a:t>forward</a:t>
            </a:r>
            <a:r>
              <a:rPr sz="1800" spc="-114" dirty="0">
                <a:latin typeface="Arial"/>
                <a:cs typeface="Arial"/>
              </a:rPr>
              <a:t> </a:t>
            </a:r>
            <a:r>
              <a:rPr sz="1800" dirty="0">
                <a:latin typeface="Arial"/>
                <a:cs typeface="Arial"/>
              </a:rPr>
              <a:t>when</a:t>
            </a:r>
            <a:r>
              <a:rPr sz="1800" spc="-110" dirty="0">
                <a:latin typeface="Arial"/>
                <a:cs typeface="Arial"/>
              </a:rPr>
              <a:t> </a:t>
            </a:r>
            <a:r>
              <a:rPr sz="1800" spc="-175" dirty="0">
                <a:latin typeface="Arial"/>
                <a:cs typeface="Arial"/>
              </a:rPr>
              <a:t>a</a:t>
            </a:r>
            <a:r>
              <a:rPr sz="1800" spc="-120" dirty="0">
                <a:latin typeface="Arial"/>
                <a:cs typeface="Arial"/>
              </a:rPr>
              <a:t> </a:t>
            </a:r>
            <a:r>
              <a:rPr sz="1800" spc="-10" dirty="0">
                <a:latin typeface="Arial"/>
                <a:cs typeface="Arial"/>
              </a:rPr>
              <a:t>transaction</a:t>
            </a:r>
            <a:r>
              <a:rPr sz="1800" spc="-125" dirty="0">
                <a:latin typeface="Arial"/>
                <a:cs typeface="Arial"/>
              </a:rPr>
              <a:t> </a:t>
            </a:r>
            <a:r>
              <a:rPr sz="1800" spc="-15" dirty="0">
                <a:latin typeface="Arial"/>
                <a:cs typeface="Arial"/>
              </a:rPr>
              <a:t>log</a:t>
            </a:r>
            <a:r>
              <a:rPr sz="1800" spc="-120" dirty="0">
                <a:latin typeface="Arial"/>
                <a:cs typeface="Arial"/>
              </a:rPr>
              <a:t> </a:t>
            </a:r>
            <a:r>
              <a:rPr sz="1800" spc="-45" dirty="0">
                <a:latin typeface="Arial"/>
                <a:cs typeface="Arial"/>
              </a:rPr>
              <a:t>is</a:t>
            </a:r>
            <a:r>
              <a:rPr sz="1800" spc="-105" dirty="0">
                <a:latin typeface="Arial"/>
                <a:cs typeface="Arial"/>
              </a:rPr>
              <a:t> </a:t>
            </a:r>
            <a:r>
              <a:rPr sz="1800" spc="-20" dirty="0">
                <a:latin typeface="Arial"/>
                <a:cs typeface="Arial"/>
              </a:rPr>
              <a:t>applied.</a:t>
            </a:r>
            <a:endParaRPr sz="1800">
              <a:latin typeface="Arial"/>
              <a:cs typeface="Arial"/>
            </a:endParaRPr>
          </a:p>
          <a:p>
            <a:pPr marL="505459" indent="-286385">
              <a:lnSpc>
                <a:spcPct val="100000"/>
              </a:lnSpc>
              <a:buFont typeface="Wingdings"/>
              <a:buChar char=""/>
              <a:tabLst>
                <a:tab pos="506095" algn="l"/>
              </a:tabLst>
            </a:pPr>
            <a:r>
              <a:rPr sz="1800" spc="260" dirty="0">
                <a:latin typeface="Arial"/>
                <a:cs typeface="Arial"/>
              </a:rPr>
              <a:t>A</a:t>
            </a:r>
            <a:r>
              <a:rPr sz="1800" spc="-114" dirty="0">
                <a:latin typeface="Arial"/>
                <a:cs typeface="Arial"/>
              </a:rPr>
              <a:t> </a:t>
            </a:r>
            <a:r>
              <a:rPr sz="1800" spc="-10" dirty="0">
                <a:latin typeface="Arial"/>
                <a:cs typeface="Arial"/>
              </a:rPr>
              <a:t>transaction</a:t>
            </a:r>
            <a:r>
              <a:rPr sz="1800" spc="-125" dirty="0">
                <a:latin typeface="Arial"/>
                <a:cs typeface="Arial"/>
              </a:rPr>
              <a:t> </a:t>
            </a:r>
            <a:r>
              <a:rPr sz="1800" spc="-45" dirty="0">
                <a:latin typeface="Arial"/>
                <a:cs typeface="Arial"/>
              </a:rPr>
              <a:t>is</a:t>
            </a:r>
            <a:r>
              <a:rPr sz="1800" spc="-105" dirty="0">
                <a:latin typeface="Arial"/>
                <a:cs typeface="Arial"/>
              </a:rPr>
              <a:t> </a:t>
            </a:r>
            <a:r>
              <a:rPr sz="1800" spc="15" dirty="0">
                <a:latin typeface="Arial"/>
                <a:cs typeface="Arial"/>
              </a:rPr>
              <a:t>rolled</a:t>
            </a:r>
            <a:r>
              <a:rPr sz="1800" spc="-130" dirty="0">
                <a:latin typeface="Arial"/>
                <a:cs typeface="Arial"/>
              </a:rPr>
              <a:t> </a:t>
            </a:r>
            <a:r>
              <a:rPr sz="1800" spc="-50" dirty="0">
                <a:latin typeface="Arial"/>
                <a:cs typeface="Arial"/>
              </a:rPr>
              <a:t>back</a:t>
            </a:r>
            <a:r>
              <a:rPr sz="1800" spc="-114" dirty="0">
                <a:latin typeface="Arial"/>
                <a:cs typeface="Arial"/>
              </a:rPr>
              <a:t> </a:t>
            </a:r>
            <a:r>
              <a:rPr sz="1800" dirty="0">
                <a:latin typeface="Arial"/>
                <a:cs typeface="Arial"/>
              </a:rPr>
              <a:t>when</a:t>
            </a:r>
            <a:r>
              <a:rPr sz="1800" spc="-110" dirty="0">
                <a:latin typeface="Arial"/>
                <a:cs typeface="Arial"/>
              </a:rPr>
              <a:t> </a:t>
            </a:r>
            <a:r>
              <a:rPr sz="1800" spc="-60" dirty="0">
                <a:latin typeface="Arial"/>
                <a:cs typeface="Arial"/>
              </a:rPr>
              <a:t>an</a:t>
            </a:r>
            <a:r>
              <a:rPr sz="1800" spc="-120" dirty="0">
                <a:latin typeface="Arial"/>
                <a:cs typeface="Arial"/>
              </a:rPr>
              <a:t> </a:t>
            </a:r>
            <a:r>
              <a:rPr sz="1800" spc="-5" dirty="0">
                <a:latin typeface="Arial"/>
                <a:cs typeface="Arial"/>
              </a:rPr>
              <a:t>incomplete</a:t>
            </a:r>
            <a:r>
              <a:rPr sz="1800" spc="-125" dirty="0">
                <a:latin typeface="Arial"/>
                <a:cs typeface="Arial"/>
              </a:rPr>
              <a:t> </a:t>
            </a:r>
            <a:r>
              <a:rPr sz="1800" spc="-10" dirty="0">
                <a:latin typeface="Arial"/>
                <a:cs typeface="Arial"/>
              </a:rPr>
              <a:t>transaction</a:t>
            </a:r>
            <a:r>
              <a:rPr sz="1800" spc="-125" dirty="0">
                <a:latin typeface="Arial"/>
                <a:cs typeface="Arial"/>
              </a:rPr>
              <a:t> </a:t>
            </a:r>
            <a:r>
              <a:rPr sz="1800" spc="-45" dirty="0">
                <a:latin typeface="Arial"/>
                <a:cs typeface="Arial"/>
              </a:rPr>
              <a:t>is</a:t>
            </a:r>
            <a:r>
              <a:rPr sz="1800" spc="-105" dirty="0">
                <a:latin typeface="Arial"/>
                <a:cs typeface="Arial"/>
              </a:rPr>
              <a:t> </a:t>
            </a:r>
            <a:r>
              <a:rPr sz="1800" spc="-60" dirty="0">
                <a:latin typeface="Arial"/>
                <a:cs typeface="Arial"/>
              </a:rPr>
              <a:t>backed</a:t>
            </a:r>
            <a:r>
              <a:rPr sz="1800" spc="-114" dirty="0">
                <a:latin typeface="Arial"/>
                <a:cs typeface="Arial"/>
              </a:rPr>
              <a:t> </a:t>
            </a:r>
            <a:r>
              <a:rPr sz="1800" spc="20" dirty="0">
                <a:latin typeface="Arial"/>
                <a:cs typeface="Arial"/>
              </a:rPr>
              <a:t>out.</a:t>
            </a:r>
            <a:endParaRPr sz="1800">
              <a:latin typeface="Arial"/>
              <a:cs typeface="Arial"/>
            </a:endParaRPr>
          </a:p>
          <a:p>
            <a:pPr>
              <a:lnSpc>
                <a:spcPct val="100000"/>
              </a:lnSpc>
              <a:spcBef>
                <a:spcPts val="50"/>
              </a:spcBef>
            </a:pPr>
            <a:endParaRPr sz="2750">
              <a:latin typeface="Arial"/>
              <a:cs typeface="Arial"/>
            </a:endParaRPr>
          </a:p>
          <a:p>
            <a:pPr marL="252095">
              <a:lnSpc>
                <a:spcPct val="100000"/>
              </a:lnSpc>
            </a:pPr>
            <a:r>
              <a:rPr sz="2000" b="1" spc="30" dirty="0">
                <a:latin typeface="Times New Roman"/>
                <a:cs typeface="Times New Roman"/>
              </a:rPr>
              <a:t>Adding</a:t>
            </a:r>
            <a:r>
              <a:rPr sz="2000" b="1" spc="-110" dirty="0">
                <a:latin typeface="Times New Roman"/>
                <a:cs typeface="Times New Roman"/>
              </a:rPr>
              <a:t> </a:t>
            </a:r>
            <a:r>
              <a:rPr sz="2000" b="1" spc="-35" dirty="0">
                <a:latin typeface="Times New Roman"/>
                <a:cs typeface="Times New Roman"/>
              </a:rPr>
              <a:t>Log</a:t>
            </a:r>
            <a:r>
              <a:rPr sz="2000" b="1" spc="-85" dirty="0">
                <a:latin typeface="Times New Roman"/>
                <a:cs typeface="Times New Roman"/>
              </a:rPr>
              <a:t> </a:t>
            </a:r>
            <a:r>
              <a:rPr sz="2000" b="1" spc="10" dirty="0">
                <a:latin typeface="Times New Roman"/>
                <a:cs typeface="Times New Roman"/>
              </a:rPr>
              <a:t>files</a:t>
            </a:r>
            <a:r>
              <a:rPr sz="2000" b="1" spc="-105" dirty="0">
                <a:latin typeface="Times New Roman"/>
                <a:cs typeface="Times New Roman"/>
              </a:rPr>
              <a:t> </a:t>
            </a:r>
            <a:r>
              <a:rPr sz="2000" b="1" spc="55" dirty="0">
                <a:latin typeface="Times New Roman"/>
                <a:cs typeface="Times New Roman"/>
              </a:rPr>
              <a:t>to</a:t>
            </a:r>
            <a:r>
              <a:rPr sz="2000" b="1" spc="-105" dirty="0">
                <a:latin typeface="Times New Roman"/>
                <a:cs typeface="Times New Roman"/>
              </a:rPr>
              <a:t> </a:t>
            </a:r>
            <a:r>
              <a:rPr sz="2000" b="1" spc="-80" dirty="0">
                <a:latin typeface="Times New Roman"/>
                <a:cs typeface="Times New Roman"/>
              </a:rPr>
              <a:t>a</a:t>
            </a:r>
            <a:r>
              <a:rPr sz="2000" b="1" spc="-100" dirty="0">
                <a:latin typeface="Times New Roman"/>
                <a:cs typeface="Times New Roman"/>
              </a:rPr>
              <a:t> </a:t>
            </a:r>
            <a:r>
              <a:rPr sz="2000" b="1" spc="-40" dirty="0">
                <a:latin typeface="Times New Roman"/>
                <a:cs typeface="Times New Roman"/>
              </a:rPr>
              <a:t>database</a:t>
            </a:r>
            <a:endParaRPr sz="2000">
              <a:latin typeface="Times New Roman"/>
              <a:cs typeface="Times New Roman"/>
            </a:endParaRPr>
          </a:p>
        </p:txBody>
      </p:sp>
      <p:pic>
        <p:nvPicPr>
          <p:cNvPr id="11" name="object 11"/>
          <p:cNvPicPr/>
          <p:nvPr/>
        </p:nvPicPr>
        <p:blipFill>
          <a:blip r:embed="rId7" cstate="print"/>
          <a:stretch>
            <a:fillRect/>
          </a:stretch>
        </p:blipFill>
        <p:spPr>
          <a:xfrm>
            <a:off x="1427225" y="4724400"/>
            <a:ext cx="6284214" cy="1780794"/>
          </a:xfrm>
          <a:prstGeom prst="rect">
            <a:avLst/>
          </a:prstGeom>
        </p:spPr>
      </p:pic>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16</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0"/>
            <a:ext cx="7854950" cy="635635"/>
          </a:xfrm>
          <a:prstGeom prst="rect">
            <a:avLst/>
          </a:prstGeom>
        </p:spPr>
        <p:txBody>
          <a:bodyPr vert="horz" wrap="square" lIns="0" tIns="12700" rIns="0" bIns="0" rtlCol="0">
            <a:spAutoFit/>
          </a:bodyPr>
          <a:lstStyle/>
          <a:p>
            <a:pPr marL="12700">
              <a:lnSpc>
                <a:spcPct val="100000"/>
              </a:lnSpc>
              <a:spcBef>
                <a:spcPts val="100"/>
              </a:spcBef>
            </a:pPr>
            <a:r>
              <a:rPr spc="15" dirty="0"/>
              <a:t>Creating </a:t>
            </a:r>
            <a:r>
              <a:rPr spc="-210" dirty="0"/>
              <a:t>Databases </a:t>
            </a:r>
            <a:r>
              <a:rPr spc="10" dirty="0"/>
              <a:t>Using</a:t>
            </a:r>
            <a:r>
              <a:rPr spc="-730" dirty="0"/>
              <a:t> </a:t>
            </a:r>
            <a:r>
              <a:rPr spc="-130" dirty="0"/>
              <a:t>SSMS </a:t>
            </a:r>
            <a:r>
              <a:rPr spc="-400" dirty="0"/>
              <a:t>1-2</a:t>
            </a:r>
          </a:p>
        </p:txBody>
      </p:sp>
      <p:sp>
        <p:nvSpPr>
          <p:cNvPr id="3" name="object 3"/>
          <p:cNvSpPr txBox="1"/>
          <p:nvPr/>
        </p:nvSpPr>
        <p:spPr>
          <a:xfrm>
            <a:off x="459740" y="837692"/>
            <a:ext cx="8148955" cy="1123315"/>
          </a:xfrm>
          <a:prstGeom prst="rect">
            <a:avLst/>
          </a:prstGeom>
        </p:spPr>
        <p:txBody>
          <a:bodyPr vert="horz" wrap="square" lIns="0" tIns="12700" rIns="0" bIns="0" rtlCol="0">
            <a:spAutoFit/>
          </a:bodyPr>
          <a:lstStyle/>
          <a:p>
            <a:pPr marL="12700" marR="5080" algn="just">
              <a:lnSpc>
                <a:spcPct val="100000"/>
              </a:lnSpc>
              <a:spcBef>
                <a:spcPts val="100"/>
              </a:spcBef>
            </a:pPr>
            <a:r>
              <a:rPr sz="2400" spc="85" dirty="0">
                <a:latin typeface="Arial"/>
                <a:cs typeface="Arial"/>
              </a:rPr>
              <a:t>When </a:t>
            </a:r>
            <a:r>
              <a:rPr sz="2400" spc="-229" dirty="0">
                <a:latin typeface="Arial"/>
                <a:cs typeface="Arial"/>
              </a:rPr>
              <a:t>a </a:t>
            </a:r>
            <a:r>
              <a:rPr sz="2400" spc="-125" dirty="0">
                <a:latin typeface="Arial"/>
                <a:cs typeface="Arial"/>
              </a:rPr>
              <a:t>database </a:t>
            </a:r>
            <a:r>
              <a:rPr sz="2400" spc="-60" dirty="0">
                <a:latin typeface="Arial"/>
                <a:cs typeface="Arial"/>
              </a:rPr>
              <a:t>is </a:t>
            </a:r>
            <a:r>
              <a:rPr sz="2400" spc="-70" dirty="0">
                <a:latin typeface="Arial"/>
                <a:cs typeface="Arial"/>
              </a:rPr>
              <a:t>created, data </a:t>
            </a:r>
            <a:r>
              <a:rPr sz="2400" spc="-5" dirty="0">
                <a:latin typeface="Arial"/>
                <a:cs typeface="Arial"/>
              </a:rPr>
              <a:t>files </a:t>
            </a:r>
            <a:r>
              <a:rPr sz="2400" dirty="0">
                <a:latin typeface="Arial"/>
                <a:cs typeface="Arial"/>
              </a:rPr>
              <a:t>should </a:t>
            </a:r>
            <a:r>
              <a:rPr sz="2400" spc="-120" dirty="0">
                <a:latin typeface="Arial"/>
                <a:cs typeface="Arial"/>
              </a:rPr>
              <a:t>be </a:t>
            </a:r>
            <a:r>
              <a:rPr sz="2400" spc="-245" dirty="0">
                <a:latin typeface="Arial"/>
                <a:cs typeface="Arial"/>
              </a:rPr>
              <a:t>as </a:t>
            </a:r>
            <a:r>
              <a:rPr sz="2400" spc="-75" dirty="0">
                <a:latin typeface="Arial"/>
                <a:cs typeface="Arial"/>
              </a:rPr>
              <a:t>large </a:t>
            </a:r>
            <a:r>
              <a:rPr sz="2400" spc="-250" dirty="0">
                <a:latin typeface="Arial"/>
                <a:cs typeface="Arial"/>
              </a:rPr>
              <a:t>as  </a:t>
            </a:r>
            <a:r>
              <a:rPr sz="2400" spc="-65" dirty="0">
                <a:latin typeface="Arial"/>
                <a:cs typeface="Arial"/>
              </a:rPr>
              <a:t>possible</a:t>
            </a:r>
            <a:r>
              <a:rPr sz="2400" spc="535" dirty="0">
                <a:latin typeface="Arial"/>
                <a:cs typeface="Arial"/>
              </a:rPr>
              <a:t> </a:t>
            </a:r>
            <a:r>
              <a:rPr sz="2400" spc="-145" dirty="0">
                <a:latin typeface="Arial"/>
                <a:cs typeface="Arial"/>
              </a:rPr>
              <a:t>based </a:t>
            </a:r>
            <a:r>
              <a:rPr sz="2400" spc="30" dirty="0">
                <a:latin typeface="Arial"/>
                <a:cs typeface="Arial"/>
              </a:rPr>
              <a:t>on </a:t>
            </a:r>
            <a:r>
              <a:rPr sz="2400" spc="5" dirty="0">
                <a:latin typeface="Arial"/>
                <a:cs typeface="Arial"/>
              </a:rPr>
              <a:t>maximum </a:t>
            </a:r>
            <a:r>
              <a:rPr sz="2400" dirty="0">
                <a:latin typeface="Arial"/>
                <a:cs typeface="Arial"/>
              </a:rPr>
              <a:t>amount </a:t>
            </a:r>
            <a:r>
              <a:rPr sz="2400" spc="65" dirty="0">
                <a:latin typeface="Arial"/>
                <a:cs typeface="Arial"/>
              </a:rPr>
              <a:t>of </a:t>
            </a:r>
            <a:r>
              <a:rPr sz="2400" spc="-70" dirty="0">
                <a:latin typeface="Arial"/>
                <a:cs typeface="Arial"/>
              </a:rPr>
              <a:t>data, </a:t>
            </a:r>
            <a:r>
              <a:rPr sz="2400" spc="45" dirty="0">
                <a:latin typeface="Arial"/>
                <a:cs typeface="Arial"/>
              </a:rPr>
              <a:t>which </a:t>
            </a:r>
            <a:r>
              <a:rPr sz="2400" spc="-55" dirty="0">
                <a:latin typeface="Arial"/>
                <a:cs typeface="Arial"/>
              </a:rPr>
              <a:t>is  </a:t>
            </a:r>
            <a:r>
              <a:rPr sz="2400" spc="-60" dirty="0">
                <a:latin typeface="Arial"/>
                <a:cs typeface="Arial"/>
              </a:rPr>
              <a:t>expected </a:t>
            </a:r>
            <a:r>
              <a:rPr sz="2400" spc="114" dirty="0">
                <a:latin typeface="Arial"/>
                <a:cs typeface="Arial"/>
              </a:rPr>
              <a:t>in</a:t>
            </a:r>
            <a:r>
              <a:rPr sz="2400" spc="-430" dirty="0">
                <a:latin typeface="Arial"/>
                <a:cs typeface="Arial"/>
              </a:rPr>
              <a:t> </a:t>
            </a:r>
            <a:r>
              <a:rPr sz="2400" dirty="0">
                <a:latin typeface="Arial"/>
                <a:cs typeface="Arial"/>
              </a:rPr>
              <a:t>the </a:t>
            </a:r>
            <a:r>
              <a:rPr sz="2400" spc="-120" dirty="0">
                <a:latin typeface="Arial"/>
                <a:cs typeface="Arial"/>
              </a:rPr>
              <a:t>database.</a:t>
            </a:r>
            <a:endParaRPr sz="2400">
              <a:latin typeface="Arial"/>
              <a:cs typeface="Arial"/>
            </a:endParaRPr>
          </a:p>
        </p:txBody>
      </p:sp>
      <p:pic>
        <p:nvPicPr>
          <p:cNvPr id="4" name="object 4"/>
          <p:cNvPicPr/>
          <p:nvPr/>
        </p:nvPicPr>
        <p:blipFill>
          <a:blip r:embed="rId3" cstate="print"/>
          <a:stretch>
            <a:fillRect/>
          </a:stretch>
        </p:blipFill>
        <p:spPr>
          <a:xfrm>
            <a:off x="1012697" y="2021585"/>
            <a:ext cx="2560319" cy="2705100"/>
          </a:xfrm>
          <a:prstGeom prst="rect">
            <a:avLst/>
          </a:prstGeom>
        </p:spPr>
      </p:pic>
      <p:pic>
        <p:nvPicPr>
          <p:cNvPr id="5" name="object 5"/>
          <p:cNvPicPr/>
          <p:nvPr/>
        </p:nvPicPr>
        <p:blipFill>
          <a:blip r:embed="rId4" cstate="print"/>
          <a:stretch>
            <a:fillRect/>
          </a:stretch>
        </p:blipFill>
        <p:spPr>
          <a:xfrm>
            <a:off x="3981450" y="1780032"/>
            <a:ext cx="4603242" cy="3521202"/>
          </a:xfrm>
          <a:prstGeom prst="rect">
            <a:avLst/>
          </a:prstGeom>
        </p:spPr>
      </p:pic>
      <p:sp>
        <p:nvSpPr>
          <p:cNvPr id="6" name="object 6"/>
          <p:cNvSpPr txBox="1"/>
          <p:nvPr/>
        </p:nvSpPr>
        <p:spPr>
          <a:xfrm>
            <a:off x="1403603" y="4725161"/>
            <a:ext cx="1696720" cy="238760"/>
          </a:xfrm>
          <a:prstGeom prst="rect">
            <a:avLst/>
          </a:prstGeom>
        </p:spPr>
        <p:txBody>
          <a:bodyPr vert="horz" wrap="square" lIns="0" tIns="12065" rIns="0" bIns="0" rtlCol="0">
            <a:spAutoFit/>
          </a:bodyPr>
          <a:lstStyle/>
          <a:p>
            <a:pPr marL="12700">
              <a:lnSpc>
                <a:spcPct val="100000"/>
              </a:lnSpc>
              <a:spcBef>
                <a:spcPts val="95"/>
              </a:spcBef>
            </a:pPr>
            <a:r>
              <a:rPr sz="1400" b="1" spc="50" dirty="0">
                <a:latin typeface="Times New Roman"/>
                <a:cs typeface="Times New Roman"/>
              </a:rPr>
              <a:t>New</a:t>
            </a:r>
            <a:r>
              <a:rPr sz="1400" b="1" spc="-225" dirty="0">
                <a:latin typeface="Times New Roman"/>
                <a:cs typeface="Times New Roman"/>
              </a:rPr>
              <a:t> </a:t>
            </a:r>
            <a:r>
              <a:rPr sz="1400" b="1" spc="-15" dirty="0">
                <a:latin typeface="Times New Roman"/>
                <a:cs typeface="Times New Roman"/>
              </a:rPr>
              <a:t>Database </a:t>
            </a:r>
            <a:r>
              <a:rPr sz="1400" b="1" spc="30" dirty="0">
                <a:latin typeface="Times New Roman"/>
                <a:cs typeface="Times New Roman"/>
              </a:rPr>
              <a:t>Option</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17</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7" name="object 7"/>
          <p:cNvSpPr txBox="1"/>
          <p:nvPr/>
        </p:nvSpPr>
        <p:spPr>
          <a:xfrm>
            <a:off x="5329173" y="5392928"/>
            <a:ext cx="1813560" cy="238760"/>
          </a:xfrm>
          <a:prstGeom prst="rect">
            <a:avLst/>
          </a:prstGeom>
        </p:spPr>
        <p:txBody>
          <a:bodyPr vert="horz" wrap="square" lIns="0" tIns="12065" rIns="0" bIns="0" rtlCol="0">
            <a:spAutoFit/>
          </a:bodyPr>
          <a:lstStyle/>
          <a:p>
            <a:pPr marL="12700">
              <a:lnSpc>
                <a:spcPct val="100000"/>
              </a:lnSpc>
              <a:spcBef>
                <a:spcPts val="95"/>
              </a:spcBef>
            </a:pPr>
            <a:r>
              <a:rPr sz="1400" b="1" spc="50" dirty="0">
                <a:latin typeface="Times New Roman"/>
                <a:cs typeface="Times New Roman"/>
              </a:rPr>
              <a:t>New</a:t>
            </a:r>
            <a:r>
              <a:rPr sz="1400" b="1" spc="-225" dirty="0">
                <a:latin typeface="Times New Roman"/>
                <a:cs typeface="Times New Roman"/>
              </a:rPr>
              <a:t> </a:t>
            </a:r>
            <a:r>
              <a:rPr sz="1400" b="1" spc="-15" dirty="0">
                <a:latin typeface="Times New Roman"/>
                <a:cs typeface="Times New Roman"/>
              </a:rPr>
              <a:t>Database </a:t>
            </a:r>
            <a:r>
              <a:rPr sz="1400" b="1" spc="40" dirty="0">
                <a:latin typeface="Times New Roman"/>
                <a:cs typeface="Times New Roman"/>
              </a:rPr>
              <a:t>Window</a:t>
            </a:r>
            <a:endParaRPr sz="14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919720" cy="635635"/>
          </a:xfrm>
          <a:prstGeom prst="rect">
            <a:avLst/>
          </a:prstGeom>
        </p:spPr>
        <p:txBody>
          <a:bodyPr vert="horz" wrap="square" lIns="0" tIns="12700" rIns="0" bIns="0" rtlCol="0">
            <a:spAutoFit/>
          </a:bodyPr>
          <a:lstStyle/>
          <a:p>
            <a:pPr marL="12700">
              <a:lnSpc>
                <a:spcPct val="100000"/>
              </a:lnSpc>
              <a:spcBef>
                <a:spcPts val="100"/>
              </a:spcBef>
            </a:pPr>
            <a:r>
              <a:rPr spc="15" dirty="0"/>
              <a:t>Creating </a:t>
            </a:r>
            <a:r>
              <a:rPr spc="-210" dirty="0"/>
              <a:t>Databases </a:t>
            </a:r>
            <a:r>
              <a:rPr spc="10" dirty="0"/>
              <a:t>Using</a:t>
            </a:r>
            <a:r>
              <a:rPr spc="-745" dirty="0"/>
              <a:t> </a:t>
            </a:r>
            <a:r>
              <a:rPr spc="-130" dirty="0"/>
              <a:t>SSMS </a:t>
            </a:r>
            <a:r>
              <a:rPr spc="-225" dirty="0"/>
              <a:t>2-2</a:t>
            </a:r>
          </a:p>
        </p:txBody>
      </p:sp>
      <p:pic>
        <p:nvPicPr>
          <p:cNvPr id="3" name="object 3"/>
          <p:cNvPicPr/>
          <p:nvPr/>
        </p:nvPicPr>
        <p:blipFill>
          <a:blip r:embed="rId3" cstate="print"/>
          <a:stretch>
            <a:fillRect/>
          </a:stretch>
        </p:blipFill>
        <p:spPr>
          <a:xfrm>
            <a:off x="178307" y="790955"/>
            <a:ext cx="4646676" cy="1645920"/>
          </a:xfrm>
          <a:prstGeom prst="rect">
            <a:avLst/>
          </a:prstGeom>
        </p:spPr>
      </p:pic>
      <p:pic>
        <p:nvPicPr>
          <p:cNvPr id="4" name="object 4"/>
          <p:cNvPicPr/>
          <p:nvPr/>
        </p:nvPicPr>
        <p:blipFill>
          <a:blip r:embed="rId4" cstate="print"/>
          <a:stretch>
            <a:fillRect/>
          </a:stretch>
        </p:blipFill>
        <p:spPr>
          <a:xfrm>
            <a:off x="4261103" y="2556510"/>
            <a:ext cx="4425696" cy="3601212"/>
          </a:xfrm>
          <a:prstGeom prst="rect">
            <a:avLst/>
          </a:prstGeom>
        </p:spPr>
      </p:pic>
      <p:sp>
        <p:nvSpPr>
          <p:cNvPr id="5" name="object 5"/>
          <p:cNvSpPr txBox="1"/>
          <p:nvPr/>
        </p:nvSpPr>
        <p:spPr>
          <a:xfrm>
            <a:off x="1644395" y="2427477"/>
            <a:ext cx="125730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Recovery</a:t>
            </a:r>
            <a:r>
              <a:rPr sz="1400" b="1" spc="-125" dirty="0">
                <a:latin typeface="Times New Roman"/>
                <a:cs typeface="Times New Roman"/>
              </a:rPr>
              <a:t> </a:t>
            </a:r>
            <a:r>
              <a:rPr sz="1400" b="1" dirty="0">
                <a:latin typeface="Times New Roman"/>
                <a:cs typeface="Times New Roman"/>
              </a:rPr>
              <a:t>Model</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object 6"/>
          <p:cNvSpPr txBox="1"/>
          <p:nvPr/>
        </p:nvSpPr>
        <p:spPr>
          <a:xfrm>
            <a:off x="5893053" y="6208014"/>
            <a:ext cx="1482090" cy="238760"/>
          </a:xfrm>
          <a:prstGeom prst="rect">
            <a:avLst/>
          </a:prstGeom>
        </p:spPr>
        <p:txBody>
          <a:bodyPr vert="horz" wrap="square" lIns="0" tIns="12065" rIns="0" bIns="0" rtlCol="0">
            <a:spAutoFit/>
          </a:bodyPr>
          <a:lstStyle/>
          <a:p>
            <a:pPr marL="12700">
              <a:lnSpc>
                <a:spcPct val="100000"/>
              </a:lnSpc>
              <a:spcBef>
                <a:spcPts val="95"/>
              </a:spcBef>
            </a:pPr>
            <a:r>
              <a:rPr sz="1400" b="1" spc="15" dirty="0">
                <a:latin typeface="Times New Roman"/>
                <a:cs typeface="Times New Roman"/>
              </a:rPr>
              <a:t>Adding </a:t>
            </a:r>
            <a:r>
              <a:rPr sz="1400" b="1" spc="-60" dirty="0">
                <a:latin typeface="Times New Roman"/>
                <a:cs typeface="Times New Roman"/>
              </a:rPr>
              <a:t>a</a:t>
            </a:r>
            <a:r>
              <a:rPr sz="1400" b="1" spc="-190" dirty="0">
                <a:latin typeface="Times New Roman"/>
                <a:cs typeface="Times New Roman"/>
              </a:rPr>
              <a:t> </a:t>
            </a:r>
            <a:r>
              <a:rPr sz="1400" b="1" spc="-20" dirty="0">
                <a:latin typeface="Times New Roman"/>
                <a:cs typeface="Times New Roman"/>
              </a:rPr>
              <a:t>Filegroup</a:t>
            </a:r>
            <a:endParaRPr sz="14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4019" y="0"/>
            <a:ext cx="5862829" cy="628377"/>
          </a:xfrm>
          <a:prstGeom prst="rect">
            <a:avLst/>
          </a:prstGeom>
        </p:spPr>
        <p:txBody>
          <a:bodyPr vert="horz" wrap="square" lIns="0" tIns="12700" rIns="0" bIns="0" rtlCol="0">
            <a:spAutoFit/>
          </a:bodyPr>
          <a:lstStyle/>
          <a:p>
            <a:pPr marL="12700">
              <a:lnSpc>
                <a:spcPct val="100000"/>
              </a:lnSpc>
              <a:spcBef>
                <a:spcPts val="100"/>
              </a:spcBef>
            </a:pPr>
            <a:r>
              <a:rPr spc="65" dirty="0"/>
              <a:t>Dropping </a:t>
            </a:r>
            <a:r>
              <a:rPr spc="-380"/>
              <a:t>a</a:t>
            </a:r>
            <a:r>
              <a:rPr spc="-675"/>
              <a:t> </a:t>
            </a:r>
            <a:r>
              <a:rPr lang="en-US" spc="-675"/>
              <a:t> </a:t>
            </a:r>
            <a:r>
              <a:rPr spc="-180"/>
              <a:t>Database</a:t>
            </a:r>
            <a:endParaRPr spc="-180" dirty="0"/>
          </a:p>
        </p:txBody>
      </p:sp>
      <p:sp>
        <p:nvSpPr>
          <p:cNvPr id="3" name="object 3"/>
          <p:cNvSpPr/>
          <p:nvPr/>
        </p:nvSpPr>
        <p:spPr>
          <a:xfrm>
            <a:off x="566166" y="1014983"/>
            <a:ext cx="8011795" cy="1195070"/>
          </a:xfrm>
          <a:custGeom>
            <a:avLst/>
            <a:gdLst/>
            <a:ahLst/>
            <a:cxnLst/>
            <a:rect l="l" t="t" r="r" b="b"/>
            <a:pathLst>
              <a:path w="8011795" h="1195070">
                <a:moveTo>
                  <a:pt x="7812532" y="0"/>
                </a:moveTo>
                <a:lnTo>
                  <a:pt x="199136" y="0"/>
                </a:lnTo>
                <a:lnTo>
                  <a:pt x="153475" y="5259"/>
                </a:lnTo>
                <a:lnTo>
                  <a:pt x="111560" y="20240"/>
                </a:lnTo>
                <a:lnTo>
                  <a:pt x="74585" y="43747"/>
                </a:lnTo>
                <a:lnTo>
                  <a:pt x="43747" y="74585"/>
                </a:lnTo>
                <a:lnTo>
                  <a:pt x="20240" y="111560"/>
                </a:lnTo>
                <a:lnTo>
                  <a:pt x="5259" y="153475"/>
                </a:lnTo>
                <a:lnTo>
                  <a:pt x="0" y="199136"/>
                </a:lnTo>
                <a:lnTo>
                  <a:pt x="0" y="995680"/>
                </a:lnTo>
                <a:lnTo>
                  <a:pt x="5259" y="1041340"/>
                </a:lnTo>
                <a:lnTo>
                  <a:pt x="20240" y="1083255"/>
                </a:lnTo>
                <a:lnTo>
                  <a:pt x="43747" y="1120230"/>
                </a:lnTo>
                <a:lnTo>
                  <a:pt x="74585" y="1151068"/>
                </a:lnTo>
                <a:lnTo>
                  <a:pt x="111560" y="1174575"/>
                </a:lnTo>
                <a:lnTo>
                  <a:pt x="153475" y="1189556"/>
                </a:lnTo>
                <a:lnTo>
                  <a:pt x="199136" y="1194816"/>
                </a:lnTo>
                <a:lnTo>
                  <a:pt x="7812532" y="1194816"/>
                </a:lnTo>
                <a:lnTo>
                  <a:pt x="7858192" y="1189556"/>
                </a:lnTo>
                <a:lnTo>
                  <a:pt x="7900107" y="1174575"/>
                </a:lnTo>
                <a:lnTo>
                  <a:pt x="7937082" y="1151068"/>
                </a:lnTo>
                <a:lnTo>
                  <a:pt x="7967920" y="1120230"/>
                </a:lnTo>
                <a:lnTo>
                  <a:pt x="7991427" y="1083255"/>
                </a:lnTo>
                <a:lnTo>
                  <a:pt x="8006408" y="1041340"/>
                </a:lnTo>
                <a:lnTo>
                  <a:pt x="8011668" y="995680"/>
                </a:lnTo>
                <a:lnTo>
                  <a:pt x="8011668" y="199136"/>
                </a:lnTo>
                <a:lnTo>
                  <a:pt x="8006408" y="153475"/>
                </a:lnTo>
                <a:lnTo>
                  <a:pt x="7991427" y="111560"/>
                </a:lnTo>
                <a:lnTo>
                  <a:pt x="7967920" y="74585"/>
                </a:lnTo>
                <a:lnTo>
                  <a:pt x="7937082" y="43747"/>
                </a:lnTo>
                <a:lnTo>
                  <a:pt x="7900107" y="20240"/>
                </a:lnTo>
                <a:lnTo>
                  <a:pt x="7858192" y="5259"/>
                </a:lnTo>
                <a:lnTo>
                  <a:pt x="7812532" y="0"/>
                </a:lnTo>
                <a:close/>
              </a:path>
            </a:pathLst>
          </a:custGeom>
          <a:solidFill>
            <a:srgbClr val="4AACC5"/>
          </a:solidFill>
        </p:spPr>
        <p:txBody>
          <a:bodyPr wrap="square" lIns="0" tIns="0" rIns="0" bIns="0" rtlCol="0"/>
          <a:lstStyle/>
          <a:p>
            <a:endParaRPr/>
          </a:p>
        </p:txBody>
      </p:sp>
      <p:sp>
        <p:nvSpPr>
          <p:cNvPr id="4" name="object 4"/>
          <p:cNvSpPr txBox="1"/>
          <p:nvPr/>
        </p:nvSpPr>
        <p:spPr>
          <a:xfrm>
            <a:off x="702563" y="1143000"/>
            <a:ext cx="7875270" cy="1078230"/>
          </a:xfrm>
          <a:prstGeom prst="rect">
            <a:avLst/>
          </a:prstGeom>
          <a:solidFill>
            <a:srgbClr val="4AACC5"/>
          </a:solidFill>
        </p:spPr>
        <p:txBody>
          <a:bodyPr vert="horz" wrap="square" lIns="0" tIns="0" rIns="0" bIns="0" rtlCol="0">
            <a:spAutoFit/>
          </a:bodyPr>
          <a:lstStyle/>
          <a:p>
            <a:pPr marL="76200">
              <a:lnSpc>
                <a:spcPts val="2400"/>
              </a:lnSpc>
              <a:tabLst>
                <a:tab pos="513715" algn="l"/>
                <a:tab pos="1155065" algn="l"/>
                <a:tab pos="2305050" algn="l"/>
                <a:tab pos="2766695" algn="l"/>
                <a:tab pos="3382010" algn="l"/>
                <a:tab pos="4700270" algn="l"/>
                <a:tab pos="5541010" algn="l"/>
                <a:tab pos="6040120" algn="l"/>
                <a:tab pos="6963409" algn="l"/>
              </a:tabLst>
            </a:pPr>
            <a:r>
              <a:rPr sz="2400" spc="345" dirty="0">
                <a:solidFill>
                  <a:srgbClr val="FFFFFF"/>
                </a:solidFill>
                <a:latin typeface="Arial"/>
                <a:cs typeface="Arial"/>
              </a:rPr>
              <a:t>A	</a:t>
            </a:r>
            <a:r>
              <a:rPr sz="2400" spc="120" dirty="0">
                <a:solidFill>
                  <a:srgbClr val="FFFFFF"/>
                </a:solidFill>
                <a:latin typeface="Arial"/>
                <a:cs typeface="Arial"/>
              </a:rPr>
              <a:t>full	</a:t>
            </a:r>
            <a:r>
              <a:rPr sz="2400" spc="-35" dirty="0">
                <a:solidFill>
                  <a:srgbClr val="FFFFFF"/>
                </a:solidFill>
                <a:latin typeface="Arial"/>
                <a:cs typeface="Arial"/>
              </a:rPr>
              <a:t>backup	</a:t>
            </a:r>
            <a:r>
              <a:rPr sz="2400" spc="65" dirty="0">
                <a:solidFill>
                  <a:srgbClr val="FFFFFF"/>
                </a:solidFill>
                <a:latin typeface="Arial"/>
                <a:cs typeface="Arial"/>
              </a:rPr>
              <a:t>of	</a:t>
            </a:r>
            <a:r>
              <a:rPr sz="2400" dirty="0">
                <a:solidFill>
                  <a:srgbClr val="FFFFFF"/>
                </a:solidFill>
                <a:latin typeface="Arial"/>
                <a:cs typeface="Arial"/>
              </a:rPr>
              <a:t>the	</a:t>
            </a:r>
            <a:r>
              <a:rPr sz="2400" spc="-125" dirty="0">
                <a:solidFill>
                  <a:srgbClr val="FFFFFF"/>
                </a:solidFill>
                <a:latin typeface="Arial"/>
                <a:cs typeface="Arial"/>
              </a:rPr>
              <a:t>database	</a:t>
            </a:r>
            <a:r>
              <a:rPr sz="2400" spc="-20" dirty="0">
                <a:solidFill>
                  <a:srgbClr val="FFFFFF"/>
                </a:solidFill>
                <a:latin typeface="Arial"/>
                <a:cs typeface="Arial"/>
              </a:rPr>
              <a:t>must	</a:t>
            </a:r>
            <a:r>
              <a:rPr sz="2400" spc="-120" dirty="0">
                <a:solidFill>
                  <a:srgbClr val="FFFFFF"/>
                </a:solidFill>
                <a:latin typeface="Arial"/>
                <a:cs typeface="Arial"/>
              </a:rPr>
              <a:t>be	</a:t>
            </a:r>
            <a:r>
              <a:rPr sz="2400" spc="-20" dirty="0">
                <a:solidFill>
                  <a:srgbClr val="FFFFFF"/>
                </a:solidFill>
                <a:latin typeface="Arial"/>
                <a:cs typeface="Arial"/>
              </a:rPr>
              <a:t>taken	</a:t>
            </a:r>
            <a:r>
              <a:rPr sz="2400" spc="-40" dirty="0">
                <a:solidFill>
                  <a:srgbClr val="FFFFFF"/>
                </a:solidFill>
                <a:latin typeface="Arial"/>
                <a:cs typeface="Arial"/>
              </a:rPr>
              <a:t>before</a:t>
            </a:r>
            <a:endParaRPr sz="2400">
              <a:latin typeface="Arial"/>
              <a:cs typeface="Arial"/>
            </a:endParaRPr>
          </a:p>
          <a:p>
            <a:pPr marL="76200" marR="68580">
              <a:lnSpc>
                <a:spcPts val="2590"/>
              </a:lnSpc>
              <a:spcBef>
                <a:spcPts val="180"/>
              </a:spcBef>
              <a:tabLst>
                <a:tab pos="6485890" algn="l"/>
              </a:tabLst>
            </a:pPr>
            <a:r>
              <a:rPr sz="2400" spc="40" dirty="0">
                <a:solidFill>
                  <a:srgbClr val="FFFFFF"/>
                </a:solidFill>
                <a:latin typeface="Arial"/>
                <a:cs typeface="Arial"/>
              </a:rPr>
              <a:t>dropp</a:t>
            </a:r>
            <a:r>
              <a:rPr sz="2400" spc="20" dirty="0">
                <a:solidFill>
                  <a:srgbClr val="FFFFFF"/>
                </a:solidFill>
                <a:latin typeface="Arial"/>
                <a:cs typeface="Arial"/>
              </a:rPr>
              <a:t>i</a:t>
            </a:r>
            <a:r>
              <a:rPr sz="2400" spc="-40" dirty="0">
                <a:solidFill>
                  <a:srgbClr val="FFFFFF"/>
                </a:solidFill>
                <a:latin typeface="Arial"/>
                <a:cs typeface="Arial"/>
              </a:rPr>
              <a:t>ng</a:t>
            </a:r>
            <a:r>
              <a:rPr sz="2400" dirty="0">
                <a:solidFill>
                  <a:srgbClr val="FFFFFF"/>
                </a:solidFill>
                <a:latin typeface="Arial"/>
                <a:cs typeface="Arial"/>
              </a:rPr>
              <a:t> </a:t>
            </a:r>
            <a:r>
              <a:rPr sz="2400" spc="-229" dirty="0">
                <a:solidFill>
                  <a:srgbClr val="FFFFFF"/>
                </a:solidFill>
                <a:latin typeface="Arial"/>
                <a:cs typeface="Arial"/>
              </a:rPr>
              <a:t>a</a:t>
            </a:r>
            <a:r>
              <a:rPr sz="2400" spc="-5" dirty="0">
                <a:solidFill>
                  <a:srgbClr val="FFFFFF"/>
                </a:solidFill>
                <a:latin typeface="Arial"/>
                <a:cs typeface="Arial"/>
              </a:rPr>
              <a:t> </a:t>
            </a:r>
            <a:r>
              <a:rPr sz="2400" spc="-25" dirty="0">
                <a:solidFill>
                  <a:srgbClr val="FFFFFF"/>
                </a:solidFill>
                <a:latin typeface="Arial"/>
                <a:cs typeface="Arial"/>
              </a:rPr>
              <a:t>da</a:t>
            </a:r>
            <a:r>
              <a:rPr sz="2400" spc="-10" dirty="0">
                <a:solidFill>
                  <a:srgbClr val="FFFFFF"/>
                </a:solidFill>
                <a:latin typeface="Arial"/>
                <a:cs typeface="Arial"/>
              </a:rPr>
              <a:t>t</a:t>
            </a:r>
            <a:r>
              <a:rPr sz="2400" spc="-195" dirty="0">
                <a:solidFill>
                  <a:srgbClr val="FFFFFF"/>
                </a:solidFill>
                <a:latin typeface="Arial"/>
                <a:cs typeface="Arial"/>
              </a:rPr>
              <a:t>abase</a:t>
            </a:r>
            <a:r>
              <a:rPr sz="2400" spc="-65" dirty="0">
                <a:solidFill>
                  <a:srgbClr val="FFFFFF"/>
                </a:solidFill>
                <a:latin typeface="Arial"/>
                <a:cs typeface="Arial"/>
              </a:rPr>
              <a:t>.</a:t>
            </a:r>
            <a:r>
              <a:rPr sz="2400" spc="-10" dirty="0">
                <a:solidFill>
                  <a:srgbClr val="FFFFFF"/>
                </a:solidFill>
                <a:latin typeface="Arial"/>
                <a:cs typeface="Arial"/>
              </a:rPr>
              <a:t> </a:t>
            </a:r>
            <a:r>
              <a:rPr sz="2400" spc="345" dirty="0">
                <a:solidFill>
                  <a:srgbClr val="FFFFFF"/>
                </a:solidFill>
                <a:latin typeface="Arial"/>
                <a:cs typeface="Arial"/>
              </a:rPr>
              <a:t>A</a:t>
            </a:r>
            <a:r>
              <a:rPr sz="2400" spc="-10" dirty="0">
                <a:solidFill>
                  <a:srgbClr val="FFFFFF"/>
                </a:solidFill>
                <a:latin typeface="Arial"/>
                <a:cs typeface="Arial"/>
              </a:rPr>
              <a:t> </a:t>
            </a:r>
            <a:r>
              <a:rPr sz="2400" spc="-100" dirty="0">
                <a:solidFill>
                  <a:srgbClr val="FFFFFF"/>
                </a:solidFill>
                <a:latin typeface="Arial"/>
                <a:cs typeface="Arial"/>
              </a:rPr>
              <a:t>d</a:t>
            </a:r>
            <a:r>
              <a:rPr sz="2400" spc="-110" dirty="0">
                <a:solidFill>
                  <a:srgbClr val="FFFFFF"/>
                </a:solidFill>
                <a:latin typeface="Arial"/>
                <a:cs typeface="Arial"/>
              </a:rPr>
              <a:t>e</a:t>
            </a:r>
            <a:r>
              <a:rPr sz="2400" spc="-35" dirty="0">
                <a:solidFill>
                  <a:srgbClr val="FFFFFF"/>
                </a:solidFill>
                <a:latin typeface="Arial"/>
                <a:cs typeface="Arial"/>
              </a:rPr>
              <a:t>let</a:t>
            </a:r>
            <a:r>
              <a:rPr sz="2400" spc="-60" dirty="0">
                <a:solidFill>
                  <a:srgbClr val="FFFFFF"/>
                </a:solidFill>
                <a:latin typeface="Arial"/>
                <a:cs typeface="Arial"/>
              </a:rPr>
              <a:t>e</a:t>
            </a:r>
            <a:r>
              <a:rPr sz="2400" spc="20" dirty="0">
                <a:solidFill>
                  <a:srgbClr val="FFFFFF"/>
                </a:solidFill>
                <a:latin typeface="Arial"/>
                <a:cs typeface="Arial"/>
              </a:rPr>
              <a:t>d</a:t>
            </a:r>
            <a:r>
              <a:rPr sz="2400" spc="-10" dirty="0">
                <a:solidFill>
                  <a:srgbClr val="FFFFFF"/>
                </a:solidFill>
                <a:latin typeface="Arial"/>
                <a:cs typeface="Arial"/>
              </a:rPr>
              <a:t> </a:t>
            </a:r>
            <a:r>
              <a:rPr sz="2400" spc="-60" dirty="0">
                <a:solidFill>
                  <a:srgbClr val="FFFFFF"/>
                </a:solidFill>
                <a:latin typeface="Arial"/>
                <a:cs typeface="Arial"/>
              </a:rPr>
              <a:t>data</a:t>
            </a:r>
            <a:r>
              <a:rPr sz="2400" spc="-65" dirty="0">
                <a:solidFill>
                  <a:srgbClr val="FFFFFF"/>
                </a:solidFill>
                <a:latin typeface="Arial"/>
                <a:cs typeface="Arial"/>
              </a:rPr>
              <a:t>b</a:t>
            </a:r>
            <a:r>
              <a:rPr sz="2400" spc="-235" dirty="0">
                <a:solidFill>
                  <a:srgbClr val="FFFFFF"/>
                </a:solidFill>
                <a:latin typeface="Arial"/>
                <a:cs typeface="Arial"/>
              </a:rPr>
              <a:t>ase</a:t>
            </a:r>
            <a:r>
              <a:rPr sz="2400" spc="-15" dirty="0">
                <a:solidFill>
                  <a:srgbClr val="FFFFFF"/>
                </a:solidFill>
                <a:latin typeface="Arial"/>
                <a:cs typeface="Arial"/>
              </a:rPr>
              <a:t> </a:t>
            </a:r>
            <a:r>
              <a:rPr sz="2400" spc="-120" dirty="0">
                <a:solidFill>
                  <a:srgbClr val="FFFFFF"/>
                </a:solidFill>
                <a:latin typeface="Arial"/>
                <a:cs typeface="Arial"/>
              </a:rPr>
              <a:t>c</a:t>
            </a:r>
            <a:r>
              <a:rPr sz="2400" spc="-75" dirty="0">
                <a:solidFill>
                  <a:srgbClr val="FFFFFF"/>
                </a:solidFill>
                <a:latin typeface="Arial"/>
                <a:cs typeface="Arial"/>
              </a:rPr>
              <a:t>an</a:t>
            </a:r>
            <a:r>
              <a:rPr sz="2400" spc="-5" dirty="0">
                <a:solidFill>
                  <a:srgbClr val="FFFFFF"/>
                </a:solidFill>
                <a:latin typeface="Arial"/>
                <a:cs typeface="Arial"/>
              </a:rPr>
              <a:t> </a:t>
            </a:r>
            <a:r>
              <a:rPr sz="2400" spc="-120" dirty="0">
                <a:solidFill>
                  <a:srgbClr val="FFFFFF"/>
                </a:solidFill>
                <a:latin typeface="Arial"/>
                <a:cs typeface="Arial"/>
              </a:rPr>
              <a:t>be</a:t>
            </a:r>
            <a:r>
              <a:rPr sz="2400" dirty="0">
                <a:solidFill>
                  <a:srgbClr val="FFFFFF"/>
                </a:solidFill>
                <a:latin typeface="Arial"/>
                <a:cs typeface="Arial"/>
              </a:rPr>
              <a:t>	</a:t>
            </a:r>
            <a:r>
              <a:rPr sz="2400" spc="-45" dirty="0">
                <a:solidFill>
                  <a:srgbClr val="FFFFFF"/>
                </a:solidFill>
                <a:latin typeface="Arial"/>
                <a:cs typeface="Arial"/>
              </a:rPr>
              <a:t>r</a:t>
            </a:r>
            <a:r>
              <a:rPr sz="2400" spc="-80" dirty="0">
                <a:solidFill>
                  <a:srgbClr val="FFFFFF"/>
                </a:solidFill>
                <a:latin typeface="Arial"/>
                <a:cs typeface="Arial"/>
              </a:rPr>
              <a:t>e</a:t>
            </a:r>
            <a:r>
              <a:rPr sz="2400" spc="15" dirty="0">
                <a:solidFill>
                  <a:srgbClr val="FFFFFF"/>
                </a:solidFill>
                <a:latin typeface="Arial"/>
                <a:cs typeface="Arial"/>
              </a:rPr>
              <a:t>-</a:t>
            </a:r>
            <a:r>
              <a:rPr sz="2400" spc="-65" dirty="0">
                <a:solidFill>
                  <a:srgbClr val="FFFFFF"/>
                </a:solidFill>
                <a:latin typeface="Arial"/>
                <a:cs typeface="Arial"/>
              </a:rPr>
              <a:t>created  </a:t>
            </a:r>
            <a:r>
              <a:rPr sz="2400" spc="45" dirty="0">
                <a:solidFill>
                  <a:srgbClr val="FFFFFF"/>
                </a:solidFill>
                <a:latin typeface="Arial"/>
                <a:cs typeface="Arial"/>
              </a:rPr>
              <a:t>only </a:t>
            </a:r>
            <a:r>
              <a:rPr sz="2400" spc="-15" dirty="0">
                <a:solidFill>
                  <a:srgbClr val="FFFFFF"/>
                </a:solidFill>
                <a:latin typeface="Arial"/>
                <a:cs typeface="Arial"/>
              </a:rPr>
              <a:t>by </a:t>
            </a:r>
            <a:r>
              <a:rPr sz="2400" spc="-10" dirty="0">
                <a:solidFill>
                  <a:srgbClr val="FFFFFF"/>
                </a:solidFill>
                <a:latin typeface="Arial"/>
                <a:cs typeface="Arial"/>
              </a:rPr>
              <a:t>restoring</a:t>
            </a:r>
            <a:r>
              <a:rPr sz="2400" spc="-420" dirty="0">
                <a:solidFill>
                  <a:srgbClr val="FFFFFF"/>
                </a:solidFill>
                <a:latin typeface="Arial"/>
                <a:cs typeface="Arial"/>
              </a:rPr>
              <a:t> </a:t>
            </a:r>
            <a:r>
              <a:rPr sz="2400" spc="-229" dirty="0">
                <a:solidFill>
                  <a:srgbClr val="FFFFFF"/>
                </a:solidFill>
                <a:latin typeface="Arial"/>
                <a:cs typeface="Arial"/>
              </a:rPr>
              <a:t>a </a:t>
            </a:r>
            <a:r>
              <a:rPr sz="2400" spc="-40" dirty="0">
                <a:solidFill>
                  <a:srgbClr val="FFFFFF"/>
                </a:solidFill>
                <a:latin typeface="Arial"/>
                <a:cs typeface="Arial"/>
              </a:rPr>
              <a:t>backup.</a:t>
            </a:r>
            <a:endParaRPr sz="2400">
              <a:latin typeface="Arial"/>
              <a:cs typeface="Arial"/>
            </a:endParaRPr>
          </a:p>
        </p:txBody>
      </p:sp>
      <p:pic>
        <p:nvPicPr>
          <p:cNvPr id="5" name="object 5"/>
          <p:cNvPicPr/>
          <p:nvPr/>
        </p:nvPicPr>
        <p:blipFill>
          <a:blip r:embed="rId3" cstate="print"/>
          <a:stretch>
            <a:fillRect/>
          </a:stretch>
        </p:blipFill>
        <p:spPr>
          <a:xfrm>
            <a:off x="2667000" y="2365248"/>
            <a:ext cx="4029455" cy="3796283"/>
          </a:xfrm>
          <a:prstGeom prst="rect">
            <a:avLst/>
          </a:prstGeom>
        </p:spPr>
      </p:pic>
      <p:sp>
        <p:nvSpPr>
          <p:cNvPr id="6" name="object 6"/>
          <p:cNvSpPr txBox="1"/>
          <p:nvPr/>
        </p:nvSpPr>
        <p:spPr>
          <a:xfrm>
            <a:off x="4158234" y="6160261"/>
            <a:ext cx="1363345" cy="238760"/>
          </a:xfrm>
          <a:prstGeom prst="rect">
            <a:avLst/>
          </a:prstGeom>
        </p:spPr>
        <p:txBody>
          <a:bodyPr vert="horz" wrap="square" lIns="0" tIns="12065" rIns="0" bIns="0" rtlCol="0">
            <a:spAutoFit/>
          </a:bodyPr>
          <a:lstStyle/>
          <a:p>
            <a:pPr marL="12700">
              <a:lnSpc>
                <a:spcPct val="100000"/>
              </a:lnSpc>
              <a:spcBef>
                <a:spcPts val="95"/>
              </a:spcBef>
            </a:pPr>
            <a:r>
              <a:rPr sz="1400" b="1" spc="25" dirty="0">
                <a:latin typeface="Times New Roman"/>
                <a:cs typeface="Times New Roman"/>
              </a:rPr>
              <a:t>Delete </a:t>
            </a:r>
            <a:r>
              <a:rPr sz="1400" b="1" spc="-60" dirty="0">
                <a:latin typeface="Times New Roman"/>
                <a:cs typeface="Times New Roman"/>
              </a:rPr>
              <a:t>a</a:t>
            </a:r>
            <a:r>
              <a:rPr sz="1400" b="1" spc="-229" dirty="0">
                <a:latin typeface="Times New Roman"/>
                <a:cs typeface="Times New Roman"/>
              </a:rPr>
              <a:t> </a:t>
            </a:r>
            <a:r>
              <a:rPr sz="1400" b="1" spc="-15" dirty="0">
                <a:latin typeface="Times New Roman"/>
                <a:cs typeface="Times New Roman"/>
              </a:rPr>
              <a:t>Database</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19</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465" y="0"/>
            <a:ext cx="6441440" cy="635635"/>
          </a:xfrm>
          <a:prstGeom prst="rect">
            <a:avLst/>
          </a:prstGeom>
        </p:spPr>
        <p:txBody>
          <a:bodyPr vert="horz" wrap="square" lIns="0" tIns="12700" rIns="0" bIns="0" rtlCol="0">
            <a:spAutoFit/>
          </a:bodyPr>
          <a:lstStyle/>
          <a:p>
            <a:pPr marL="12700">
              <a:lnSpc>
                <a:spcPct val="100000"/>
              </a:lnSpc>
              <a:spcBef>
                <a:spcPts val="100"/>
              </a:spcBef>
            </a:pPr>
            <a:r>
              <a:rPr spc="15" dirty="0"/>
              <a:t>Creating </a:t>
            </a:r>
            <a:r>
              <a:rPr spc="-180" dirty="0"/>
              <a:t>Database</a:t>
            </a:r>
            <a:r>
              <a:rPr spc="-610" dirty="0"/>
              <a:t> </a:t>
            </a:r>
            <a:r>
              <a:rPr spc="-114" dirty="0"/>
              <a:t>Snapshots</a:t>
            </a:r>
          </a:p>
        </p:txBody>
      </p:sp>
      <p:sp>
        <p:nvSpPr>
          <p:cNvPr id="3" name="object 3"/>
          <p:cNvSpPr/>
          <p:nvPr/>
        </p:nvSpPr>
        <p:spPr>
          <a:xfrm>
            <a:off x="368808" y="783335"/>
            <a:ext cx="8254365" cy="893444"/>
          </a:xfrm>
          <a:custGeom>
            <a:avLst/>
            <a:gdLst/>
            <a:ahLst/>
            <a:cxnLst/>
            <a:rect l="l" t="t" r="r" b="b"/>
            <a:pathLst>
              <a:path w="8254365" h="893444">
                <a:moveTo>
                  <a:pt x="8253984" y="148844"/>
                </a:moveTo>
                <a:lnTo>
                  <a:pt x="8246389" y="101815"/>
                </a:lnTo>
                <a:lnTo>
                  <a:pt x="8225244" y="60960"/>
                </a:lnTo>
                <a:lnTo>
                  <a:pt x="8193024" y="28740"/>
                </a:lnTo>
                <a:lnTo>
                  <a:pt x="8152168" y="7594"/>
                </a:lnTo>
                <a:lnTo>
                  <a:pt x="8105140" y="0"/>
                </a:lnTo>
                <a:lnTo>
                  <a:pt x="148844" y="0"/>
                </a:lnTo>
                <a:lnTo>
                  <a:pt x="101790" y="7594"/>
                </a:lnTo>
                <a:lnTo>
                  <a:pt x="60934" y="28740"/>
                </a:lnTo>
                <a:lnTo>
                  <a:pt x="28714" y="60960"/>
                </a:lnTo>
                <a:lnTo>
                  <a:pt x="7581" y="101815"/>
                </a:lnTo>
                <a:lnTo>
                  <a:pt x="0" y="148844"/>
                </a:lnTo>
                <a:lnTo>
                  <a:pt x="0" y="744220"/>
                </a:lnTo>
                <a:lnTo>
                  <a:pt x="7581" y="791260"/>
                </a:lnTo>
                <a:lnTo>
                  <a:pt x="28714" y="832116"/>
                </a:lnTo>
                <a:lnTo>
                  <a:pt x="60934" y="864336"/>
                </a:lnTo>
                <a:lnTo>
                  <a:pt x="101790" y="885482"/>
                </a:lnTo>
                <a:lnTo>
                  <a:pt x="148844" y="893064"/>
                </a:lnTo>
                <a:lnTo>
                  <a:pt x="8105140" y="893064"/>
                </a:lnTo>
                <a:lnTo>
                  <a:pt x="8152168" y="885482"/>
                </a:lnTo>
                <a:lnTo>
                  <a:pt x="8193024" y="864336"/>
                </a:lnTo>
                <a:lnTo>
                  <a:pt x="8225244" y="832116"/>
                </a:lnTo>
                <a:lnTo>
                  <a:pt x="8246389" y="791260"/>
                </a:lnTo>
                <a:lnTo>
                  <a:pt x="8253984" y="744220"/>
                </a:lnTo>
                <a:lnTo>
                  <a:pt x="8253984" y="148844"/>
                </a:lnTo>
                <a:close/>
              </a:path>
            </a:pathLst>
          </a:custGeom>
          <a:solidFill>
            <a:srgbClr val="000000"/>
          </a:solidFill>
        </p:spPr>
        <p:txBody>
          <a:bodyPr wrap="square" lIns="0" tIns="0" rIns="0" bIns="0" rtlCol="0"/>
          <a:lstStyle/>
          <a:p>
            <a:endParaRPr/>
          </a:p>
        </p:txBody>
      </p:sp>
      <p:sp>
        <p:nvSpPr>
          <p:cNvPr id="4" name="object 4"/>
          <p:cNvSpPr/>
          <p:nvPr/>
        </p:nvSpPr>
        <p:spPr>
          <a:xfrm>
            <a:off x="368808" y="1842515"/>
            <a:ext cx="8254365" cy="1616710"/>
          </a:xfrm>
          <a:custGeom>
            <a:avLst/>
            <a:gdLst/>
            <a:ahLst/>
            <a:cxnLst/>
            <a:rect l="l" t="t" r="r" b="b"/>
            <a:pathLst>
              <a:path w="8254365" h="1616710">
                <a:moveTo>
                  <a:pt x="8253984" y="269367"/>
                </a:moveTo>
                <a:lnTo>
                  <a:pt x="8249640" y="220967"/>
                </a:lnTo>
                <a:lnTo>
                  <a:pt x="8239493" y="184048"/>
                </a:lnTo>
                <a:lnTo>
                  <a:pt x="8239493" y="22860"/>
                </a:lnTo>
                <a:lnTo>
                  <a:pt x="8091195" y="22860"/>
                </a:lnTo>
                <a:lnTo>
                  <a:pt x="8078584" y="16865"/>
                </a:lnTo>
                <a:lnTo>
                  <a:pt x="8033017" y="4343"/>
                </a:lnTo>
                <a:lnTo>
                  <a:pt x="7984617" y="0"/>
                </a:lnTo>
                <a:lnTo>
                  <a:pt x="269379" y="0"/>
                </a:lnTo>
                <a:lnTo>
                  <a:pt x="220954" y="4343"/>
                </a:lnTo>
                <a:lnTo>
                  <a:pt x="175374" y="16865"/>
                </a:lnTo>
                <a:lnTo>
                  <a:pt x="162750" y="22860"/>
                </a:lnTo>
                <a:lnTo>
                  <a:pt x="125730" y="22860"/>
                </a:lnTo>
                <a:lnTo>
                  <a:pt x="125730" y="42227"/>
                </a:lnTo>
                <a:lnTo>
                  <a:pt x="95808" y="63373"/>
                </a:lnTo>
                <a:lnTo>
                  <a:pt x="63347" y="95846"/>
                </a:lnTo>
                <a:lnTo>
                  <a:pt x="36766" y="133438"/>
                </a:lnTo>
                <a:lnTo>
                  <a:pt x="16840" y="175399"/>
                </a:lnTo>
                <a:lnTo>
                  <a:pt x="4330" y="220967"/>
                </a:lnTo>
                <a:lnTo>
                  <a:pt x="0" y="269367"/>
                </a:lnTo>
                <a:lnTo>
                  <a:pt x="0" y="1346835"/>
                </a:lnTo>
                <a:lnTo>
                  <a:pt x="4330" y="1395247"/>
                </a:lnTo>
                <a:lnTo>
                  <a:pt x="16840" y="1440815"/>
                </a:lnTo>
                <a:lnTo>
                  <a:pt x="36766" y="1482775"/>
                </a:lnTo>
                <a:lnTo>
                  <a:pt x="63347" y="1520367"/>
                </a:lnTo>
                <a:lnTo>
                  <a:pt x="95808" y="1552841"/>
                </a:lnTo>
                <a:lnTo>
                  <a:pt x="133413" y="1579422"/>
                </a:lnTo>
                <a:lnTo>
                  <a:pt x="175374" y="1599349"/>
                </a:lnTo>
                <a:lnTo>
                  <a:pt x="220954" y="1611871"/>
                </a:lnTo>
                <a:lnTo>
                  <a:pt x="269379" y="1616202"/>
                </a:lnTo>
                <a:lnTo>
                  <a:pt x="7984617" y="1616202"/>
                </a:lnTo>
                <a:lnTo>
                  <a:pt x="8033017" y="1611871"/>
                </a:lnTo>
                <a:lnTo>
                  <a:pt x="8078584" y="1599349"/>
                </a:lnTo>
                <a:lnTo>
                  <a:pt x="8120545" y="1579422"/>
                </a:lnTo>
                <a:lnTo>
                  <a:pt x="8158137" y="1552841"/>
                </a:lnTo>
                <a:lnTo>
                  <a:pt x="8190611" y="1520367"/>
                </a:lnTo>
                <a:lnTo>
                  <a:pt x="8217192" y="1482775"/>
                </a:lnTo>
                <a:lnTo>
                  <a:pt x="8237118" y="1440815"/>
                </a:lnTo>
                <a:lnTo>
                  <a:pt x="8249640" y="1395247"/>
                </a:lnTo>
                <a:lnTo>
                  <a:pt x="8253984" y="1346835"/>
                </a:lnTo>
                <a:lnTo>
                  <a:pt x="8253984" y="269367"/>
                </a:lnTo>
                <a:close/>
              </a:path>
            </a:pathLst>
          </a:custGeom>
          <a:solidFill>
            <a:srgbClr val="F79546"/>
          </a:solidFill>
        </p:spPr>
        <p:txBody>
          <a:bodyPr wrap="square" lIns="0" tIns="0" rIns="0" bIns="0" rtlCol="0"/>
          <a:lstStyle/>
          <a:p>
            <a:endParaRPr/>
          </a:p>
        </p:txBody>
      </p:sp>
      <p:sp>
        <p:nvSpPr>
          <p:cNvPr id="5" name="object 5"/>
          <p:cNvSpPr txBox="1"/>
          <p:nvPr/>
        </p:nvSpPr>
        <p:spPr>
          <a:xfrm>
            <a:off x="510540" y="800099"/>
            <a:ext cx="8033384" cy="2184400"/>
          </a:xfrm>
          <a:prstGeom prst="rect">
            <a:avLst/>
          </a:prstGeom>
        </p:spPr>
        <p:txBody>
          <a:bodyPr vert="horz" wrap="square" lIns="0" tIns="54610" rIns="0" bIns="0" rtlCol="0">
            <a:spAutoFit/>
          </a:bodyPr>
          <a:lstStyle/>
          <a:p>
            <a:pPr marL="12700" marR="51435">
              <a:lnSpc>
                <a:spcPts val="2590"/>
              </a:lnSpc>
              <a:spcBef>
                <a:spcPts val="430"/>
              </a:spcBef>
            </a:pPr>
            <a:r>
              <a:rPr sz="2400" spc="-110" dirty="0">
                <a:solidFill>
                  <a:srgbClr val="FFFFFF"/>
                </a:solidFill>
                <a:latin typeface="Arial"/>
                <a:cs typeface="Arial"/>
              </a:rPr>
              <a:t>Database </a:t>
            </a:r>
            <a:r>
              <a:rPr sz="2400" spc="-60" dirty="0">
                <a:solidFill>
                  <a:srgbClr val="FFFFFF"/>
                </a:solidFill>
                <a:latin typeface="Arial"/>
                <a:cs typeface="Arial"/>
              </a:rPr>
              <a:t>snapshot </a:t>
            </a:r>
            <a:r>
              <a:rPr sz="2400" spc="-30" dirty="0">
                <a:solidFill>
                  <a:srgbClr val="FFFFFF"/>
                </a:solidFill>
                <a:latin typeface="Arial"/>
                <a:cs typeface="Arial"/>
              </a:rPr>
              <a:t>feature </a:t>
            </a:r>
            <a:r>
              <a:rPr sz="2400" spc="-140" dirty="0">
                <a:solidFill>
                  <a:srgbClr val="FFFFFF"/>
                </a:solidFill>
                <a:latin typeface="Arial"/>
                <a:cs typeface="Arial"/>
              </a:rPr>
              <a:t>was </a:t>
            </a:r>
            <a:r>
              <a:rPr sz="2400" spc="60" dirty="0">
                <a:solidFill>
                  <a:srgbClr val="FFFFFF"/>
                </a:solidFill>
                <a:latin typeface="Arial"/>
                <a:cs typeface="Arial"/>
              </a:rPr>
              <a:t>first </a:t>
            </a:r>
            <a:r>
              <a:rPr sz="2400" spc="20" dirty="0">
                <a:solidFill>
                  <a:srgbClr val="FFFFFF"/>
                </a:solidFill>
                <a:latin typeface="Arial"/>
                <a:cs typeface="Arial"/>
              </a:rPr>
              <a:t>introduced </a:t>
            </a:r>
            <a:r>
              <a:rPr sz="2400" spc="114" dirty="0">
                <a:solidFill>
                  <a:srgbClr val="FFFFFF"/>
                </a:solidFill>
                <a:latin typeface="Arial"/>
                <a:cs typeface="Arial"/>
              </a:rPr>
              <a:t>in </a:t>
            </a:r>
            <a:r>
              <a:rPr sz="2400" spc="40" dirty="0">
                <a:solidFill>
                  <a:srgbClr val="FFFFFF"/>
                </a:solidFill>
                <a:latin typeface="Arial"/>
                <a:cs typeface="Arial"/>
              </a:rPr>
              <a:t>Microsoft  </a:t>
            </a:r>
            <a:r>
              <a:rPr sz="2400" spc="25" dirty="0">
                <a:solidFill>
                  <a:srgbClr val="FFFFFF"/>
                </a:solidFill>
                <a:latin typeface="Arial"/>
                <a:cs typeface="Arial"/>
              </a:rPr>
              <a:t>SQL </a:t>
            </a:r>
            <a:r>
              <a:rPr sz="2400" spc="-60" dirty="0">
                <a:solidFill>
                  <a:srgbClr val="FFFFFF"/>
                </a:solidFill>
                <a:latin typeface="Arial"/>
                <a:cs typeface="Arial"/>
              </a:rPr>
              <a:t>Server</a:t>
            </a:r>
            <a:r>
              <a:rPr sz="2400" spc="-360" dirty="0">
                <a:solidFill>
                  <a:srgbClr val="FFFFFF"/>
                </a:solidFill>
                <a:latin typeface="Arial"/>
                <a:cs typeface="Arial"/>
              </a:rPr>
              <a:t> </a:t>
            </a:r>
            <a:r>
              <a:rPr sz="2400" spc="-215" dirty="0">
                <a:solidFill>
                  <a:srgbClr val="FFFFFF"/>
                </a:solidFill>
                <a:latin typeface="Arial"/>
                <a:cs typeface="Arial"/>
              </a:rPr>
              <a:t>2005</a:t>
            </a:r>
            <a:endParaRPr sz="2400">
              <a:latin typeface="Arial"/>
              <a:cs typeface="Arial"/>
            </a:endParaRPr>
          </a:p>
          <a:p>
            <a:pPr marL="403225" marR="5080" indent="-342900">
              <a:lnSpc>
                <a:spcPts val="2160"/>
              </a:lnSpc>
              <a:spcBef>
                <a:spcPts val="2875"/>
              </a:spcBef>
              <a:buFont typeface="Wingdings"/>
              <a:buChar char=""/>
              <a:tabLst>
                <a:tab pos="403225" algn="l"/>
                <a:tab pos="403860" algn="l"/>
              </a:tabLst>
            </a:pPr>
            <a:r>
              <a:rPr sz="2000" spc="110" dirty="0">
                <a:latin typeface="Arial"/>
                <a:cs typeface="Arial"/>
              </a:rPr>
              <a:t>It </a:t>
            </a:r>
            <a:r>
              <a:rPr sz="2000" spc="-50" dirty="0">
                <a:latin typeface="Arial"/>
                <a:cs typeface="Arial"/>
              </a:rPr>
              <a:t>is </a:t>
            </a:r>
            <a:r>
              <a:rPr sz="2000" spc="-195" dirty="0">
                <a:latin typeface="Arial"/>
                <a:cs typeface="Arial"/>
              </a:rPr>
              <a:t>a </a:t>
            </a:r>
            <a:r>
              <a:rPr sz="2000" spc="-25" dirty="0">
                <a:latin typeface="Arial"/>
                <a:cs typeface="Arial"/>
              </a:rPr>
              <a:t>feature </a:t>
            </a:r>
            <a:r>
              <a:rPr sz="2000" spc="30" dirty="0">
                <a:latin typeface="Arial"/>
                <a:cs typeface="Arial"/>
              </a:rPr>
              <a:t>that </a:t>
            </a:r>
            <a:r>
              <a:rPr sz="2000" spc="-20" dirty="0">
                <a:latin typeface="Arial"/>
                <a:cs typeface="Arial"/>
              </a:rPr>
              <a:t>provides </a:t>
            </a:r>
            <a:r>
              <a:rPr sz="2000" spc="-195" dirty="0">
                <a:latin typeface="Arial"/>
                <a:cs typeface="Arial"/>
              </a:rPr>
              <a:t>a </a:t>
            </a:r>
            <a:r>
              <a:rPr sz="2000" spc="-20" dirty="0">
                <a:latin typeface="Arial"/>
                <a:cs typeface="Arial"/>
              </a:rPr>
              <a:t>read-only, static </a:t>
            </a:r>
            <a:r>
              <a:rPr sz="2000" spc="5" dirty="0">
                <a:latin typeface="Arial"/>
                <a:cs typeface="Arial"/>
              </a:rPr>
              <a:t>view </a:t>
            </a:r>
            <a:r>
              <a:rPr sz="2000" spc="50" dirty="0">
                <a:latin typeface="Arial"/>
                <a:cs typeface="Arial"/>
              </a:rPr>
              <a:t>of </a:t>
            </a:r>
            <a:r>
              <a:rPr sz="2000" spc="-195" dirty="0">
                <a:latin typeface="Arial"/>
                <a:cs typeface="Arial"/>
              </a:rPr>
              <a:t>a </a:t>
            </a:r>
            <a:r>
              <a:rPr sz="2000" spc="20" dirty="0">
                <a:latin typeface="Arial"/>
                <a:cs typeface="Arial"/>
              </a:rPr>
              <a:t>SQL </a:t>
            </a:r>
            <a:r>
              <a:rPr sz="2000" spc="-50" dirty="0">
                <a:latin typeface="Arial"/>
                <a:cs typeface="Arial"/>
              </a:rPr>
              <a:t>Server  </a:t>
            </a:r>
            <a:r>
              <a:rPr sz="2000" spc="-100" dirty="0">
                <a:latin typeface="Arial"/>
                <a:cs typeface="Arial"/>
              </a:rPr>
              <a:t>database.</a:t>
            </a:r>
            <a:endParaRPr sz="2000">
              <a:latin typeface="Arial"/>
              <a:cs typeface="Arial"/>
            </a:endParaRPr>
          </a:p>
          <a:p>
            <a:pPr marL="403225" marR="5080" indent="-342900">
              <a:lnSpc>
                <a:spcPts val="2160"/>
              </a:lnSpc>
              <a:buFont typeface="Wingdings"/>
              <a:buChar char=""/>
              <a:tabLst>
                <a:tab pos="403225" algn="l"/>
                <a:tab pos="403860" algn="l"/>
              </a:tabLst>
            </a:pPr>
            <a:r>
              <a:rPr sz="2000" spc="110" dirty="0">
                <a:latin typeface="Arial"/>
                <a:cs typeface="Arial"/>
              </a:rPr>
              <a:t>If </a:t>
            </a:r>
            <a:r>
              <a:rPr sz="2000" spc="-195" dirty="0">
                <a:latin typeface="Arial"/>
                <a:cs typeface="Arial"/>
              </a:rPr>
              <a:t>a </a:t>
            </a:r>
            <a:r>
              <a:rPr sz="2000" spc="-70" dirty="0">
                <a:latin typeface="Arial"/>
                <a:cs typeface="Arial"/>
              </a:rPr>
              <a:t>user </a:t>
            </a:r>
            <a:r>
              <a:rPr sz="2000" spc="-105" dirty="0">
                <a:latin typeface="Arial"/>
                <a:cs typeface="Arial"/>
              </a:rPr>
              <a:t>makes </a:t>
            </a:r>
            <a:r>
              <a:rPr sz="2000" spc="-195" dirty="0">
                <a:latin typeface="Arial"/>
                <a:cs typeface="Arial"/>
              </a:rPr>
              <a:t>a </a:t>
            </a:r>
            <a:r>
              <a:rPr sz="2000" spc="-40" dirty="0">
                <a:latin typeface="Arial"/>
                <a:cs typeface="Arial"/>
              </a:rPr>
              <a:t>mistake </a:t>
            </a:r>
            <a:r>
              <a:rPr sz="2000" spc="95" dirty="0">
                <a:latin typeface="Arial"/>
                <a:cs typeface="Arial"/>
              </a:rPr>
              <a:t>in </a:t>
            </a:r>
            <a:r>
              <a:rPr sz="2000" spc="-195" dirty="0">
                <a:latin typeface="Arial"/>
                <a:cs typeface="Arial"/>
              </a:rPr>
              <a:t>a </a:t>
            </a:r>
            <a:r>
              <a:rPr sz="2000" spc="-70" dirty="0">
                <a:latin typeface="Arial"/>
                <a:cs typeface="Arial"/>
              </a:rPr>
              <a:t>source </a:t>
            </a:r>
            <a:r>
              <a:rPr sz="2000" spc="-100" dirty="0">
                <a:latin typeface="Arial"/>
                <a:cs typeface="Arial"/>
              </a:rPr>
              <a:t>database, </a:t>
            </a:r>
            <a:r>
              <a:rPr sz="2000" dirty="0">
                <a:latin typeface="Arial"/>
                <a:cs typeface="Arial"/>
              </a:rPr>
              <a:t>the </a:t>
            </a:r>
            <a:r>
              <a:rPr sz="2000" spc="-70" dirty="0">
                <a:latin typeface="Arial"/>
                <a:cs typeface="Arial"/>
              </a:rPr>
              <a:t>source </a:t>
            </a:r>
            <a:r>
              <a:rPr sz="2000" spc="-105" dirty="0">
                <a:latin typeface="Arial"/>
                <a:cs typeface="Arial"/>
              </a:rPr>
              <a:t>database</a:t>
            </a:r>
            <a:r>
              <a:rPr sz="2000" spc="-225" dirty="0">
                <a:latin typeface="Arial"/>
                <a:cs typeface="Arial"/>
              </a:rPr>
              <a:t> </a:t>
            </a:r>
            <a:r>
              <a:rPr sz="2000" spc="-75" dirty="0">
                <a:latin typeface="Arial"/>
                <a:cs typeface="Arial"/>
              </a:rPr>
              <a:t>can  </a:t>
            </a:r>
            <a:r>
              <a:rPr sz="2000" spc="-105" dirty="0">
                <a:latin typeface="Arial"/>
                <a:cs typeface="Arial"/>
              </a:rPr>
              <a:t>be</a:t>
            </a:r>
            <a:r>
              <a:rPr sz="2000" spc="-120" dirty="0">
                <a:latin typeface="Arial"/>
                <a:cs typeface="Arial"/>
              </a:rPr>
              <a:t> </a:t>
            </a:r>
            <a:r>
              <a:rPr sz="2000" spc="-25" dirty="0">
                <a:latin typeface="Arial"/>
                <a:cs typeface="Arial"/>
              </a:rPr>
              <a:t>reverted</a:t>
            </a:r>
            <a:r>
              <a:rPr sz="2000" spc="-105" dirty="0">
                <a:latin typeface="Arial"/>
                <a:cs typeface="Arial"/>
              </a:rPr>
              <a:t> </a:t>
            </a:r>
            <a:r>
              <a:rPr sz="2000" spc="50" dirty="0">
                <a:latin typeface="Arial"/>
                <a:cs typeface="Arial"/>
              </a:rPr>
              <a:t>to</a:t>
            </a:r>
            <a:r>
              <a:rPr sz="2000" spc="-120" dirty="0">
                <a:latin typeface="Arial"/>
                <a:cs typeface="Arial"/>
              </a:rPr>
              <a:t> </a:t>
            </a:r>
            <a:r>
              <a:rPr sz="2000" dirty="0">
                <a:latin typeface="Arial"/>
                <a:cs typeface="Arial"/>
              </a:rPr>
              <a:t>the</a:t>
            </a:r>
            <a:r>
              <a:rPr sz="2000" spc="-120" dirty="0">
                <a:latin typeface="Arial"/>
                <a:cs typeface="Arial"/>
              </a:rPr>
              <a:t> </a:t>
            </a:r>
            <a:r>
              <a:rPr sz="2000" spc="-20" dirty="0">
                <a:latin typeface="Arial"/>
                <a:cs typeface="Arial"/>
              </a:rPr>
              <a:t>previous</a:t>
            </a:r>
            <a:r>
              <a:rPr sz="2000" spc="-110" dirty="0">
                <a:latin typeface="Arial"/>
                <a:cs typeface="Arial"/>
              </a:rPr>
              <a:t> </a:t>
            </a:r>
            <a:r>
              <a:rPr sz="2000" spc="-70" dirty="0">
                <a:latin typeface="Arial"/>
                <a:cs typeface="Arial"/>
              </a:rPr>
              <a:t>state</a:t>
            </a:r>
            <a:r>
              <a:rPr sz="2000" spc="-110" dirty="0">
                <a:latin typeface="Arial"/>
                <a:cs typeface="Arial"/>
              </a:rPr>
              <a:t> </a:t>
            </a:r>
            <a:r>
              <a:rPr sz="2000" spc="-5" dirty="0">
                <a:latin typeface="Arial"/>
                <a:cs typeface="Arial"/>
              </a:rPr>
              <a:t>when</a:t>
            </a:r>
            <a:r>
              <a:rPr sz="2000" spc="-114" dirty="0">
                <a:latin typeface="Arial"/>
                <a:cs typeface="Arial"/>
              </a:rPr>
              <a:t> </a:t>
            </a:r>
            <a:r>
              <a:rPr sz="2000" dirty="0">
                <a:latin typeface="Arial"/>
                <a:cs typeface="Arial"/>
              </a:rPr>
              <a:t>the</a:t>
            </a:r>
            <a:r>
              <a:rPr sz="2000" spc="-110" dirty="0">
                <a:latin typeface="Arial"/>
                <a:cs typeface="Arial"/>
              </a:rPr>
              <a:t> </a:t>
            </a:r>
            <a:r>
              <a:rPr sz="2000" spc="-50" dirty="0">
                <a:latin typeface="Arial"/>
                <a:cs typeface="Arial"/>
              </a:rPr>
              <a:t>snapshot</a:t>
            </a:r>
            <a:r>
              <a:rPr sz="2000" spc="-110" dirty="0">
                <a:latin typeface="Arial"/>
                <a:cs typeface="Arial"/>
              </a:rPr>
              <a:t> </a:t>
            </a:r>
            <a:r>
              <a:rPr sz="2000" spc="-120" dirty="0">
                <a:latin typeface="Arial"/>
                <a:cs typeface="Arial"/>
              </a:rPr>
              <a:t>was</a:t>
            </a:r>
            <a:r>
              <a:rPr sz="2000" spc="-114" dirty="0">
                <a:latin typeface="Arial"/>
                <a:cs typeface="Arial"/>
              </a:rPr>
              <a:t> </a:t>
            </a:r>
            <a:r>
              <a:rPr sz="2000" spc="-60" dirty="0">
                <a:latin typeface="Arial"/>
                <a:cs typeface="Arial"/>
              </a:rPr>
              <a:t>created.</a:t>
            </a:r>
            <a:endParaRPr sz="2000">
              <a:latin typeface="Arial"/>
              <a:cs typeface="Arial"/>
            </a:endParaRPr>
          </a:p>
        </p:txBody>
      </p:sp>
      <p:pic>
        <p:nvPicPr>
          <p:cNvPr id="6" name="object 6"/>
          <p:cNvPicPr/>
          <p:nvPr/>
        </p:nvPicPr>
        <p:blipFill>
          <a:blip r:embed="rId3" cstate="print"/>
          <a:stretch>
            <a:fillRect/>
          </a:stretch>
        </p:blipFill>
        <p:spPr>
          <a:xfrm>
            <a:off x="1133855" y="3647694"/>
            <a:ext cx="7552944" cy="2340102"/>
          </a:xfrm>
          <a:prstGeom prst="rect">
            <a:avLst/>
          </a:prstGeom>
        </p:spPr>
      </p:pic>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20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70" dirty="0"/>
              <a:t>Summary</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5/</a:t>
            </a:r>
            <a:r>
              <a:rPr sz="1800" spc="-247" baseline="4629" dirty="0"/>
              <a:t> </a:t>
            </a:r>
            <a:fld id="{81D60167-4931-47E6-BA6A-407CBD079E47}" type="slidenum">
              <a:rPr sz="1200" spc="-70" dirty="0"/>
              <a:t>21</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pc="20" dirty="0"/>
              <a:t>SQL </a:t>
            </a:r>
            <a:r>
              <a:rPr spc="-50" dirty="0"/>
              <a:t>Server </a:t>
            </a:r>
            <a:r>
              <a:rPr spc="-145" dirty="0"/>
              <a:t>uses </a:t>
            </a:r>
            <a:r>
              <a:rPr spc="-85" dirty="0"/>
              <a:t>system </a:t>
            </a:r>
            <a:r>
              <a:rPr spc="-120" dirty="0"/>
              <a:t>databases </a:t>
            </a:r>
            <a:r>
              <a:rPr spc="55" dirty="0"/>
              <a:t>to </a:t>
            </a:r>
            <a:r>
              <a:rPr dirty="0"/>
              <a:t>support </a:t>
            </a:r>
            <a:r>
              <a:rPr spc="35" dirty="0"/>
              <a:t>different </a:t>
            </a:r>
            <a:r>
              <a:rPr spc="-30" dirty="0"/>
              <a:t>components </a:t>
            </a:r>
            <a:r>
              <a:rPr spc="55" dirty="0"/>
              <a:t>of</a:t>
            </a:r>
            <a:r>
              <a:rPr spc="-155" dirty="0"/>
              <a:t> </a:t>
            </a:r>
            <a:r>
              <a:rPr dirty="0"/>
              <a:t>the</a:t>
            </a:r>
          </a:p>
          <a:p>
            <a:pPr marL="353695">
              <a:lnSpc>
                <a:spcPct val="100000"/>
              </a:lnSpc>
            </a:pPr>
            <a:r>
              <a:rPr spc="5" dirty="0"/>
              <a:t>DBMS.</a:t>
            </a:r>
          </a:p>
          <a:p>
            <a:pPr marL="353695" marR="5715" indent="-341630">
              <a:lnSpc>
                <a:spcPct val="100000"/>
              </a:lnSpc>
              <a:buFont typeface="Calibri"/>
              <a:buChar char="●"/>
              <a:tabLst>
                <a:tab pos="353695" algn="l"/>
                <a:tab pos="354330" algn="l"/>
              </a:tabLst>
            </a:pPr>
            <a:r>
              <a:rPr spc="20" dirty="0"/>
              <a:t>The SQL </a:t>
            </a:r>
            <a:r>
              <a:rPr spc="-50" dirty="0"/>
              <a:t>Server </a:t>
            </a:r>
            <a:r>
              <a:rPr spc="-60" dirty="0"/>
              <a:t>data </a:t>
            </a:r>
            <a:r>
              <a:rPr spc="-5" dirty="0"/>
              <a:t>files </a:t>
            </a:r>
            <a:r>
              <a:rPr spc="-95" dirty="0"/>
              <a:t>are </a:t>
            </a:r>
            <a:r>
              <a:rPr spc="-90" dirty="0"/>
              <a:t>used </a:t>
            </a:r>
            <a:r>
              <a:rPr spc="55" dirty="0"/>
              <a:t>to </a:t>
            </a:r>
            <a:r>
              <a:rPr spc="-45" dirty="0"/>
              <a:t>store </a:t>
            </a:r>
            <a:r>
              <a:rPr spc="-105" dirty="0"/>
              <a:t>database </a:t>
            </a:r>
            <a:r>
              <a:rPr spc="-15" dirty="0"/>
              <a:t>files, </a:t>
            </a:r>
            <a:r>
              <a:rPr spc="40" dirty="0"/>
              <a:t>which </a:t>
            </a:r>
            <a:r>
              <a:rPr spc="-100" dirty="0"/>
              <a:t>are  </a:t>
            </a:r>
            <a:r>
              <a:rPr spc="45" dirty="0"/>
              <a:t>further</a:t>
            </a:r>
            <a:r>
              <a:rPr spc="-120" dirty="0"/>
              <a:t> </a:t>
            </a:r>
            <a:r>
              <a:rPr spc="-5" dirty="0"/>
              <a:t>subdivided</a:t>
            </a:r>
            <a:r>
              <a:rPr spc="-135" dirty="0"/>
              <a:t> </a:t>
            </a:r>
            <a:r>
              <a:rPr spc="75" dirty="0"/>
              <a:t>into</a:t>
            </a:r>
            <a:r>
              <a:rPr spc="-114" dirty="0"/>
              <a:t> </a:t>
            </a:r>
            <a:r>
              <a:rPr spc="-10" dirty="0"/>
              <a:t>filegroups</a:t>
            </a:r>
            <a:r>
              <a:rPr spc="-114" dirty="0"/>
              <a:t> </a:t>
            </a:r>
            <a:r>
              <a:rPr spc="65" dirty="0"/>
              <a:t>for</a:t>
            </a:r>
            <a:r>
              <a:rPr spc="-125" dirty="0"/>
              <a:t> </a:t>
            </a:r>
            <a:r>
              <a:rPr dirty="0"/>
              <a:t>the</a:t>
            </a:r>
            <a:r>
              <a:rPr spc="-125" dirty="0"/>
              <a:t> sake</a:t>
            </a:r>
            <a:r>
              <a:rPr spc="-114" dirty="0"/>
              <a:t> </a:t>
            </a:r>
            <a:r>
              <a:rPr spc="50" dirty="0"/>
              <a:t>of</a:t>
            </a:r>
            <a:r>
              <a:rPr spc="-125" dirty="0"/>
              <a:t> </a:t>
            </a:r>
            <a:r>
              <a:rPr spc="-35" dirty="0"/>
              <a:t>performance.</a:t>
            </a:r>
          </a:p>
          <a:p>
            <a:pPr marL="353695" indent="-341630">
              <a:lnSpc>
                <a:spcPct val="100000"/>
              </a:lnSpc>
              <a:buFont typeface="Calibri"/>
              <a:buChar char="●"/>
              <a:tabLst>
                <a:tab pos="353695" algn="l"/>
                <a:tab pos="354330" algn="l"/>
              </a:tabLst>
            </a:pPr>
            <a:r>
              <a:rPr spc="-105" dirty="0"/>
              <a:t>Databases</a:t>
            </a:r>
            <a:r>
              <a:rPr spc="-95" dirty="0"/>
              <a:t> </a:t>
            </a:r>
            <a:r>
              <a:rPr spc="-75" dirty="0"/>
              <a:t>can</a:t>
            </a:r>
            <a:r>
              <a:rPr spc="-135" dirty="0"/>
              <a:t> </a:t>
            </a:r>
            <a:r>
              <a:rPr spc="-105" dirty="0"/>
              <a:t>be</a:t>
            </a:r>
            <a:r>
              <a:rPr spc="-114" dirty="0"/>
              <a:t> </a:t>
            </a:r>
            <a:r>
              <a:rPr spc="-65" dirty="0"/>
              <a:t>created</a:t>
            </a:r>
            <a:r>
              <a:rPr spc="-120" dirty="0"/>
              <a:t> </a:t>
            </a:r>
            <a:r>
              <a:rPr spc="-40" dirty="0"/>
              <a:t>and</a:t>
            </a:r>
            <a:r>
              <a:rPr spc="-125" dirty="0"/>
              <a:t> </a:t>
            </a:r>
            <a:r>
              <a:rPr spc="-15" dirty="0"/>
              <a:t>dropped</a:t>
            </a:r>
            <a:r>
              <a:rPr spc="-120" dirty="0"/>
              <a:t> </a:t>
            </a:r>
            <a:r>
              <a:rPr spc="-25" dirty="0"/>
              <a:t>using</a:t>
            </a:r>
            <a:r>
              <a:rPr spc="-120" dirty="0"/>
              <a:t> </a:t>
            </a:r>
            <a:r>
              <a:rPr spc="-65" dirty="0"/>
              <a:t>SSMS</a:t>
            </a:r>
            <a:r>
              <a:rPr spc="-140" dirty="0"/>
              <a:t> </a:t>
            </a:r>
            <a:r>
              <a:rPr spc="25" dirty="0"/>
              <a:t>or</a:t>
            </a:r>
            <a:r>
              <a:rPr spc="-120" dirty="0"/>
              <a:t> </a:t>
            </a:r>
            <a:r>
              <a:rPr spc="-20" dirty="0"/>
              <a:t>Transact-SQL.</a:t>
            </a:r>
          </a:p>
          <a:p>
            <a:pPr marL="353695" marR="5080" indent="-341630">
              <a:lnSpc>
                <a:spcPct val="100000"/>
              </a:lnSpc>
              <a:buFont typeface="Calibri"/>
              <a:buChar char="●"/>
              <a:tabLst>
                <a:tab pos="353695" algn="l"/>
                <a:tab pos="354330" algn="l"/>
              </a:tabLst>
            </a:pPr>
            <a:r>
              <a:rPr spc="20" dirty="0"/>
              <a:t>The </a:t>
            </a:r>
            <a:r>
              <a:rPr spc="60" dirty="0"/>
              <a:t>CREATE </a:t>
            </a:r>
            <a:r>
              <a:rPr spc="105" dirty="0"/>
              <a:t>DATABASE </a:t>
            </a:r>
            <a:r>
              <a:rPr spc="-40" dirty="0"/>
              <a:t>statement </a:t>
            </a:r>
            <a:r>
              <a:rPr spc="90" dirty="0"/>
              <a:t>with </a:t>
            </a:r>
            <a:r>
              <a:rPr spc="-20" dirty="0"/>
              <a:t>various </a:t>
            </a:r>
            <a:r>
              <a:rPr spc="10" dirty="0"/>
              <a:t>options </a:t>
            </a:r>
            <a:r>
              <a:rPr spc="-75" dirty="0"/>
              <a:t>can </a:t>
            </a:r>
            <a:r>
              <a:rPr spc="-100" dirty="0"/>
              <a:t>be </a:t>
            </a:r>
            <a:r>
              <a:rPr spc="-85" dirty="0"/>
              <a:t>used  </a:t>
            </a:r>
            <a:r>
              <a:rPr spc="50" dirty="0"/>
              <a:t>to </a:t>
            </a:r>
            <a:r>
              <a:rPr spc="-75" dirty="0"/>
              <a:t>create</a:t>
            </a:r>
            <a:r>
              <a:rPr spc="-295" dirty="0"/>
              <a:t> </a:t>
            </a:r>
            <a:r>
              <a:rPr spc="-114" dirty="0"/>
              <a:t>databases.</a:t>
            </a:r>
          </a:p>
          <a:p>
            <a:pPr marL="353695" marR="5715" indent="-341630">
              <a:lnSpc>
                <a:spcPct val="100000"/>
              </a:lnSpc>
              <a:buFont typeface="Calibri"/>
              <a:buChar char="●"/>
              <a:tabLst>
                <a:tab pos="353695" algn="l"/>
                <a:tab pos="354330" algn="l"/>
              </a:tabLst>
            </a:pPr>
            <a:r>
              <a:rPr spc="85" dirty="0"/>
              <a:t>ALTER </a:t>
            </a:r>
            <a:r>
              <a:rPr spc="105" dirty="0"/>
              <a:t>DATABASE </a:t>
            </a:r>
            <a:r>
              <a:rPr spc="-35" dirty="0"/>
              <a:t>and </a:t>
            </a:r>
            <a:r>
              <a:rPr spc="15" dirty="0"/>
              <a:t>DROP </a:t>
            </a:r>
            <a:r>
              <a:rPr spc="105" dirty="0"/>
              <a:t>DATABASE </a:t>
            </a:r>
            <a:r>
              <a:rPr spc="-95" dirty="0"/>
              <a:t>are </a:t>
            </a:r>
            <a:r>
              <a:rPr spc="-85" dirty="0"/>
              <a:t>used </a:t>
            </a:r>
            <a:r>
              <a:rPr spc="50" dirty="0"/>
              <a:t>to </a:t>
            </a:r>
            <a:r>
              <a:rPr spc="35" dirty="0"/>
              <a:t>modify </a:t>
            </a:r>
            <a:r>
              <a:rPr spc="-40" dirty="0"/>
              <a:t>and  </a:t>
            </a:r>
            <a:r>
              <a:rPr spc="-50" dirty="0"/>
              <a:t>delete </a:t>
            </a:r>
            <a:r>
              <a:rPr spc="-195" dirty="0"/>
              <a:t>a </a:t>
            </a:r>
            <a:r>
              <a:rPr spc="-105" dirty="0"/>
              <a:t>database </a:t>
            </a:r>
            <a:r>
              <a:rPr spc="-35" dirty="0"/>
              <a:t>respectively.</a:t>
            </a:r>
          </a:p>
          <a:p>
            <a:pPr marL="353695" marR="5715" indent="-341630">
              <a:lnSpc>
                <a:spcPct val="100000"/>
              </a:lnSpc>
              <a:buFont typeface="Calibri"/>
              <a:buChar char="●"/>
              <a:tabLst>
                <a:tab pos="353695" algn="l"/>
                <a:tab pos="354330" algn="l"/>
              </a:tabLst>
            </a:pPr>
            <a:r>
              <a:rPr spc="285" dirty="0"/>
              <a:t>A </a:t>
            </a:r>
            <a:r>
              <a:rPr spc="-10" dirty="0"/>
              <a:t>transaction </a:t>
            </a:r>
            <a:r>
              <a:rPr spc="-15" dirty="0"/>
              <a:t>log </a:t>
            </a:r>
            <a:r>
              <a:rPr spc="90" dirty="0"/>
              <a:t>in </a:t>
            </a:r>
            <a:r>
              <a:rPr spc="20" dirty="0"/>
              <a:t>SQL </a:t>
            </a:r>
            <a:r>
              <a:rPr spc="-50" dirty="0"/>
              <a:t>Server records </a:t>
            </a:r>
            <a:r>
              <a:rPr spc="10" dirty="0"/>
              <a:t>all </a:t>
            </a:r>
            <a:r>
              <a:rPr spc="-30" dirty="0"/>
              <a:t>transactions </a:t>
            </a:r>
            <a:r>
              <a:rPr spc="-35" dirty="0"/>
              <a:t>and </a:t>
            </a:r>
            <a:r>
              <a:rPr dirty="0"/>
              <a:t>the</a:t>
            </a:r>
            <a:r>
              <a:rPr spc="-315" dirty="0"/>
              <a:t> </a:t>
            </a:r>
            <a:r>
              <a:rPr spc="-105" dirty="0"/>
              <a:t>database  </a:t>
            </a:r>
            <a:r>
              <a:rPr spc="10" dirty="0"/>
              <a:t>modifications </a:t>
            </a:r>
            <a:r>
              <a:rPr spc="-95" dirty="0"/>
              <a:t>made </a:t>
            </a:r>
            <a:r>
              <a:rPr spc="-15" dirty="0"/>
              <a:t>by </a:t>
            </a:r>
            <a:r>
              <a:rPr spc="-105" dirty="0"/>
              <a:t>each</a:t>
            </a:r>
            <a:r>
              <a:rPr spc="-409" dirty="0"/>
              <a:t> </a:t>
            </a:r>
            <a:r>
              <a:rPr spc="-15" dirty="0"/>
              <a:t>transaction.</a:t>
            </a:r>
          </a:p>
          <a:p>
            <a:pPr marL="353695" marR="5715" indent="-341630">
              <a:lnSpc>
                <a:spcPct val="100000"/>
              </a:lnSpc>
              <a:spcBef>
                <a:spcPts val="5"/>
              </a:spcBef>
              <a:buFont typeface="Calibri"/>
              <a:buChar char="●"/>
              <a:tabLst>
                <a:tab pos="353695" algn="l"/>
                <a:tab pos="354330" algn="l"/>
              </a:tabLst>
            </a:pPr>
            <a:r>
              <a:rPr spc="-20" dirty="0"/>
              <a:t>Objects </a:t>
            </a:r>
            <a:r>
              <a:rPr spc="-95" dirty="0"/>
              <a:t>are assigned </a:t>
            </a:r>
            <a:r>
              <a:rPr spc="55" dirty="0"/>
              <a:t>to </a:t>
            </a:r>
            <a:r>
              <a:rPr dirty="0"/>
              <a:t>the </a:t>
            </a:r>
            <a:r>
              <a:rPr spc="5" dirty="0"/>
              <a:t>default </a:t>
            </a:r>
            <a:r>
              <a:rPr spc="15" dirty="0"/>
              <a:t>filegroup </a:t>
            </a:r>
            <a:r>
              <a:rPr dirty="0"/>
              <a:t>when they </a:t>
            </a:r>
            <a:r>
              <a:rPr spc="-95" dirty="0"/>
              <a:t>are </a:t>
            </a:r>
            <a:r>
              <a:rPr spc="-60" dirty="0"/>
              <a:t>created </a:t>
            </a:r>
            <a:r>
              <a:rPr spc="95" dirty="0"/>
              <a:t>in </a:t>
            </a:r>
            <a:r>
              <a:rPr dirty="0"/>
              <a:t>the  </a:t>
            </a:r>
            <a:r>
              <a:rPr spc="-100" dirty="0"/>
              <a:t>database.</a:t>
            </a:r>
            <a:r>
              <a:rPr spc="-114" dirty="0"/>
              <a:t> </a:t>
            </a:r>
            <a:r>
              <a:rPr spc="20" dirty="0"/>
              <a:t>The</a:t>
            </a:r>
            <a:r>
              <a:rPr spc="-130" dirty="0"/>
              <a:t> </a:t>
            </a:r>
            <a:r>
              <a:rPr spc="60" dirty="0"/>
              <a:t>PRIMARY</a:t>
            </a:r>
            <a:r>
              <a:rPr spc="-130" dirty="0"/>
              <a:t> </a:t>
            </a:r>
            <a:r>
              <a:rPr spc="15" dirty="0"/>
              <a:t>filegroup</a:t>
            </a:r>
            <a:r>
              <a:rPr spc="-120" dirty="0"/>
              <a:t> </a:t>
            </a:r>
            <a:r>
              <a:rPr spc="-50" dirty="0"/>
              <a:t>is</a:t>
            </a:r>
            <a:r>
              <a:rPr spc="-135" dirty="0"/>
              <a:t> </a:t>
            </a:r>
            <a:r>
              <a:rPr dirty="0"/>
              <a:t>the</a:t>
            </a:r>
            <a:r>
              <a:rPr spc="-114" dirty="0"/>
              <a:t> </a:t>
            </a:r>
            <a:r>
              <a:rPr spc="5" dirty="0"/>
              <a:t>default</a:t>
            </a:r>
            <a:r>
              <a:rPr spc="-120" dirty="0"/>
              <a:t> </a:t>
            </a:r>
            <a:r>
              <a:rPr spc="5" dirty="0"/>
              <a:t>filegroup.</a:t>
            </a:r>
          </a:p>
          <a:p>
            <a:pPr marL="353695" indent="-341630">
              <a:lnSpc>
                <a:spcPct val="100000"/>
              </a:lnSpc>
              <a:buFont typeface="Calibri"/>
              <a:buChar char="●"/>
              <a:tabLst>
                <a:tab pos="353695" algn="l"/>
                <a:tab pos="354330" algn="l"/>
              </a:tabLst>
            </a:pPr>
            <a:r>
              <a:rPr spc="285" dirty="0"/>
              <a:t>A</a:t>
            </a:r>
            <a:r>
              <a:rPr spc="-130" dirty="0"/>
              <a:t> </a:t>
            </a:r>
            <a:r>
              <a:rPr spc="-105" dirty="0"/>
              <a:t>database</a:t>
            </a:r>
            <a:r>
              <a:rPr spc="-110" dirty="0"/>
              <a:t> </a:t>
            </a:r>
            <a:r>
              <a:rPr spc="-50" dirty="0"/>
              <a:t>snapshot</a:t>
            </a:r>
            <a:r>
              <a:rPr spc="-100" dirty="0"/>
              <a:t> </a:t>
            </a:r>
            <a:r>
              <a:rPr spc="-50" dirty="0"/>
              <a:t>is</a:t>
            </a:r>
            <a:r>
              <a:rPr spc="-145" dirty="0"/>
              <a:t> </a:t>
            </a:r>
            <a:r>
              <a:rPr spc="-195" dirty="0"/>
              <a:t>a</a:t>
            </a:r>
            <a:r>
              <a:rPr spc="-130" dirty="0"/>
              <a:t> </a:t>
            </a:r>
            <a:r>
              <a:rPr spc="-20" dirty="0"/>
              <a:t>read-only,</a:t>
            </a:r>
            <a:r>
              <a:rPr spc="-100" dirty="0"/>
              <a:t> </a:t>
            </a:r>
            <a:r>
              <a:rPr spc="-20" dirty="0"/>
              <a:t>static</a:t>
            </a:r>
            <a:r>
              <a:rPr spc="-135" dirty="0"/>
              <a:t> </a:t>
            </a:r>
            <a:r>
              <a:rPr spc="5" dirty="0"/>
              <a:t>view</a:t>
            </a:r>
            <a:r>
              <a:rPr spc="-120" dirty="0"/>
              <a:t> </a:t>
            </a:r>
            <a:r>
              <a:rPr spc="50" dirty="0"/>
              <a:t>of</a:t>
            </a:r>
            <a:r>
              <a:rPr spc="-125" dirty="0"/>
              <a:t> </a:t>
            </a:r>
            <a:r>
              <a:rPr spc="-195" dirty="0"/>
              <a:t>a</a:t>
            </a:r>
            <a:r>
              <a:rPr spc="-130" dirty="0"/>
              <a:t> </a:t>
            </a:r>
            <a:r>
              <a:rPr spc="20" dirty="0"/>
              <a:t>SQL</a:t>
            </a:r>
            <a:r>
              <a:rPr spc="-135" dirty="0"/>
              <a:t> </a:t>
            </a:r>
            <a:r>
              <a:rPr spc="-50" dirty="0"/>
              <a:t>Server</a:t>
            </a:r>
            <a:r>
              <a:rPr spc="-114" dirty="0"/>
              <a:t> </a:t>
            </a:r>
            <a:r>
              <a:rPr spc="-100" dirty="0"/>
              <a:t>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204</TotalTime>
  <Words>3813</Words>
  <Application>Microsoft Office PowerPoint</Application>
  <PresentationFormat>On-screen Show (4:3)</PresentationFormat>
  <Paragraphs>332</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Book Antiqua</vt:lpstr>
      <vt:lpstr>Calibri</vt:lpstr>
      <vt:lpstr>Palatino Linotype</vt:lpstr>
      <vt:lpstr>Segoe UI Symbol</vt:lpstr>
      <vt:lpstr>Times New Roman</vt:lpstr>
      <vt:lpstr>Wingdings</vt:lpstr>
      <vt:lpstr>Office Theme</vt:lpstr>
      <vt:lpstr>Intelligent Data Management with  SQL Server</vt:lpstr>
      <vt:lpstr>Objectives</vt:lpstr>
      <vt:lpstr>Modifying System Data</vt:lpstr>
      <vt:lpstr>PowerPoint Presentation</vt:lpstr>
      <vt:lpstr>User-defined Databases</vt:lpstr>
      <vt:lpstr>Creating Databases Using Transact-SQL 1-3</vt:lpstr>
      <vt:lpstr>Creating Databases Using Transact-SQL 2-3</vt:lpstr>
      <vt:lpstr>Creating Databases Using Transact-SQL 3-3</vt:lpstr>
      <vt:lpstr>Modifying Databases</vt:lpstr>
      <vt:lpstr>Ownership of Databases</vt:lpstr>
      <vt:lpstr>Setting Database Options</vt:lpstr>
      <vt:lpstr>Filegroups 1-3</vt:lpstr>
      <vt:lpstr>Filegroups 2-3</vt:lpstr>
      <vt:lpstr>Filegroups 3-3</vt:lpstr>
      <vt:lpstr>Transaction Log 1-2</vt:lpstr>
      <vt:lpstr>Transaction Log 2-2</vt:lpstr>
      <vt:lpstr>Creating Databases Using SSMS 1-2</vt:lpstr>
      <vt:lpstr>Creating Databases Using SSMS 2-2</vt:lpstr>
      <vt:lpstr>Dropping a  Database</vt:lpstr>
      <vt:lpstr>Creating Database Snapshots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86</cp:revision>
  <dcterms:created xsi:type="dcterms:W3CDTF">2021-10-11T16:08:43Z</dcterms:created>
  <dcterms:modified xsi:type="dcterms:W3CDTF">2021-10-13T15:56:33Z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