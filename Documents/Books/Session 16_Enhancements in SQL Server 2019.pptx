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7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750" autoAdjust="0"/>
  </p:normalViewPr>
  <p:slideViewPr>
    <p:cSldViewPr>
      <p:cViewPr varScale="1">
        <p:scale>
          <a:sx n="61" d="100"/>
          <a:sy n="61" d="100"/>
        </p:scale>
        <p:origin x="207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C4221E6-BDE3-4230-AC0B-A59C39F84A03}" type="datetimeFigureOut">
              <a:rPr lang="en-US" smtClean="0"/>
              <a:t>10/30/2021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6CBF4E2-7A86-4D12-B203-B65B8991E7E1}" type="slidenum">
              <a:rPr lang="en-US" smtClean="0"/>
              <a:t>‹#›</a:t>
            </a:fld>
            <a:endParaRPr lang="en-US"/>
          </a:p>
        </p:txBody>
      </p:sp>
    </p:spTree>
    <p:extLst>
      <p:ext uri="{BB962C8B-B14F-4D97-AF65-F5344CB8AC3E}">
        <p14:creationId xmlns:p14="http://schemas.microsoft.com/office/powerpoint/2010/main" val="1275969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16:</a:t>
            </a:r>
          </a:p>
          <a:p>
            <a:r>
              <a:rPr lang="en-US" b="1"/>
              <a:t>Cải tiến trong SQL Server 2016</a:t>
            </a:r>
          </a:p>
        </p:txBody>
      </p:sp>
      <p:sp>
        <p:nvSpPr>
          <p:cNvPr id="4" name="Slide Number Placeholder 3"/>
          <p:cNvSpPr>
            <a:spLocks noGrp="1"/>
          </p:cNvSpPr>
          <p:nvPr>
            <p:ph type="sldNum" sz="quarter" idx="5"/>
          </p:nvPr>
        </p:nvSpPr>
        <p:spPr/>
        <p:txBody>
          <a:bodyPr/>
          <a:lstStyle/>
          <a:p>
            <a:fld id="{C6CBF4E2-7A86-4D12-B203-B65B8991E7E1}" type="slidenum">
              <a:rPr lang="en-US" smtClean="0"/>
              <a:t>1</a:t>
            </a:fld>
            <a:endParaRPr lang="en-US"/>
          </a:p>
        </p:txBody>
      </p:sp>
    </p:spTree>
    <p:extLst>
      <p:ext uri="{BB962C8B-B14F-4D97-AF65-F5344CB8AC3E}">
        <p14:creationId xmlns:p14="http://schemas.microsoft.com/office/powerpoint/2010/main" val="2381231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a:t>Mô tả tầm quan trọng của thông báo lỗi mới</a:t>
            </a:r>
          </a:p>
          <a:p>
            <a:pPr marL="171450" indent="-171450">
              <a:buFont typeface="Arial" panose="020B0604020202020204" pitchFamily="34" charset="0"/>
              <a:buChar char="•"/>
            </a:pPr>
            <a:r>
              <a:rPr lang="en-US"/>
              <a:t>Mô tả cách thực hiện đánh giá lỗ hổng</a:t>
            </a:r>
          </a:p>
          <a:p>
            <a:pPr marL="171450" indent="-171450">
              <a:buFont typeface="Arial" panose="020B0604020202020204" pitchFamily="34" charset="0"/>
              <a:buChar char="•"/>
            </a:pPr>
            <a:r>
              <a:rPr lang="en-US"/>
              <a:t>Giải thích cụm dữ liệu lớn</a:t>
            </a:r>
          </a:p>
          <a:p>
            <a:pPr marL="171450" indent="-171450">
              <a:buFont typeface="Arial" panose="020B0604020202020204" pitchFamily="34" charset="0"/>
              <a:buChar char="•"/>
            </a:pPr>
            <a:r>
              <a:rPr lang="en-US"/>
              <a:t>Giải thích cách sử dụng dữ liệu JSON với SQL Server 2019</a:t>
            </a:r>
          </a:p>
        </p:txBody>
      </p:sp>
      <p:sp>
        <p:nvSpPr>
          <p:cNvPr id="4" name="Slide Number Placeholder 3"/>
          <p:cNvSpPr>
            <a:spLocks noGrp="1"/>
          </p:cNvSpPr>
          <p:nvPr>
            <p:ph type="sldNum" sz="quarter" idx="5"/>
          </p:nvPr>
        </p:nvSpPr>
        <p:spPr/>
        <p:txBody>
          <a:bodyPr/>
          <a:lstStyle/>
          <a:p>
            <a:fld id="{C6CBF4E2-7A86-4D12-B203-B65B8991E7E1}" type="slidenum">
              <a:rPr lang="en-US" smtClean="0"/>
              <a:t>2</a:t>
            </a:fld>
            <a:endParaRPr lang="en-US"/>
          </a:p>
        </p:txBody>
      </p:sp>
    </p:spTree>
    <p:extLst>
      <p:ext uri="{BB962C8B-B14F-4D97-AF65-F5344CB8AC3E}">
        <p14:creationId xmlns:p14="http://schemas.microsoft.com/office/powerpoint/2010/main" val="2873902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Verbose Truncation Warnings</a:t>
            </a:r>
          </a:p>
          <a:p>
            <a:pPr marL="171450" indent="-171450">
              <a:buFont typeface="Arial" panose="020B0604020202020204" pitchFamily="34" charset="0"/>
              <a:buChar char="•"/>
            </a:pPr>
            <a:r>
              <a:rPr lang="vi-VN"/>
              <a:t>Là một trong những tính năng tuyệt vời nhất được ra mắt trong SQL Server 2019.</a:t>
            </a:r>
          </a:p>
          <a:p>
            <a:pPr marL="171450" indent="-171450">
              <a:buFont typeface="Arial" panose="020B0604020202020204" pitchFamily="34" charset="0"/>
              <a:buChar char="•"/>
            </a:pPr>
            <a:r>
              <a:rPr lang="vi-VN"/>
              <a:t>Nó tiết kiệm rất nhiều thời gian trong khi nhập, </a:t>
            </a:r>
            <a:r>
              <a:rPr lang="en-US"/>
              <a:t>thêm</a:t>
            </a:r>
            <a:r>
              <a:rPr lang="vi-VN"/>
              <a:t> và cập nhật lượng dữ liệu khổng lồ</a:t>
            </a:r>
            <a:r>
              <a:rPr lang="en-US"/>
              <a:t>.</a:t>
            </a:r>
          </a:p>
        </p:txBody>
      </p:sp>
      <p:sp>
        <p:nvSpPr>
          <p:cNvPr id="4" name="Slide Number Placeholder 3"/>
          <p:cNvSpPr>
            <a:spLocks noGrp="1"/>
          </p:cNvSpPr>
          <p:nvPr>
            <p:ph type="sldNum" sz="quarter" idx="5"/>
          </p:nvPr>
        </p:nvSpPr>
        <p:spPr/>
        <p:txBody>
          <a:bodyPr/>
          <a:lstStyle/>
          <a:p>
            <a:fld id="{C6CBF4E2-7A86-4D12-B203-B65B8991E7E1}" type="slidenum">
              <a:rPr lang="en-US" smtClean="0"/>
              <a:t>3</a:t>
            </a:fld>
            <a:endParaRPr lang="en-US"/>
          </a:p>
        </p:txBody>
      </p:sp>
    </p:spTree>
    <p:extLst>
      <p:ext uri="{BB962C8B-B14F-4D97-AF65-F5344CB8AC3E}">
        <p14:creationId xmlns:p14="http://schemas.microsoft.com/office/powerpoint/2010/main" val="251592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Verbose Truncation Warnings</a:t>
            </a:r>
          </a:p>
        </p:txBody>
      </p:sp>
      <p:sp>
        <p:nvSpPr>
          <p:cNvPr id="4" name="Slide Number Placeholder 3"/>
          <p:cNvSpPr>
            <a:spLocks noGrp="1"/>
          </p:cNvSpPr>
          <p:nvPr>
            <p:ph type="sldNum" sz="quarter" idx="5"/>
          </p:nvPr>
        </p:nvSpPr>
        <p:spPr/>
        <p:txBody>
          <a:bodyPr/>
          <a:lstStyle/>
          <a:p>
            <a:fld id="{C6CBF4E2-7A86-4D12-B203-B65B8991E7E1}" type="slidenum">
              <a:rPr lang="en-US" smtClean="0"/>
              <a:t>4</a:t>
            </a:fld>
            <a:endParaRPr lang="en-US"/>
          </a:p>
        </p:txBody>
      </p:sp>
    </p:spTree>
    <p:extLst>
      <p:ext uri="{BB962C8B-B14F-4D97-AF65-F5344CB8AC3E}">
        <p14:creationId xmlns:p14="http://schemas.microsoft.com/office/powerpoint/2010/main" val="1599976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Đánh giá lỗ hổng 1-7</a:t>
            </a:r>
          </a:p>
          <a:p>
            <a:pPr marL="171450" indent="-171450">
              <a:buFont typeface="Arial" panose="020B0604020202020204" pitchFamily="34" charset="0"/>
              <a:buChar char="•"/>
            </a:pPr>
            <a:r>
              <a:rPr lang="vi-VN" b="0"/>
              <a:t>Đánh giá lỗ hổng SQL là một dịch vụ dễ cấu hình có thể khám phá, theo dõi và giúp bạn đảo ngược hoặc giảm các lỗ hổng cơ sở dữ liệu tiềm năng.</a:t>
            </a:r>
          </a:p>
          <a:p>
            <a:pPr marL="171450" indent="-171450">
              <a:buFont typeface="Arial" panose="020B0604020202020204" pitchFamily="34" charset="0"/>
              <a:buChar char="•"/>
            </a:pPr>
            <a:r>
              <a:rPr lang="vi-VN" b="0"/>
              <a:t>Bạn có thể sử dụng nó để chủ động cải thiện bảo mật cơ sở dữ liệu của bạn</a:t>
            </a:r>
            <a:r>
              <a:rPr lang="en-US" b="0"/>
              <a:t>.</a:t>
            </a:r>
          </a:p>
          <a:p>
            <a:pPr marL="171450" indent="-171450">
              <a:buFont typeface="Arial" panose="020B0604020202020204" pitchFamily="34" charset="0"/>
              <a:buChar char="•"/>
            </a:pPr>
            <a:r>
              <a:rPr lang="vi-VN" b="0"/>
              <a:t>Đánh giá lỗ hổng là một phần của </a:t>
            </a:r>
            <a:r>
              <a:rPr lang="vi-VN" b="1"/>
              <a:t>Azure Defender </a:t>
            </a:r>
            <a:r>
              <a:rPr lang="vi-VN" b="0"/>
              <a:t>để cung cấp </a:t>
            </a:r>
            <a:r>
              <a:rPr lang="en-US" b="0"/>
              <a:t>cho </a:t>
            </a:r>
            <a:r>
              <a:rPr lang="vi-VN" b="0"/>
              <a:t>SQL, đây là gói thống nhất cho các khả năng bảo mật SQL nâng cao.</a:t>
            </a:r>
          </a:p>
          <a:p>
            <a:pPr marL="171450" indent="-171450">
              <a:buFont typeface="Arial" panose="020B0604020202020204" pitchFamily="34" charset="0"/>
              <a:buChar char="•"/>
            </a:pPr>
            <a:r>
              <a:rPr lang="vi-VN" b="0"/>
              <a:t>Đánh giá lỗ hổng có thể được truy cập và quản lý thông qua Trung tâm Azure Defender</a:t>
            </a:r>
            <a:r>
              <a:rPr lang="en-US" b="0"/>
              <a:t> </a:t>
            </a:r>
            <a:r>
              <a:rPr lang="vi-VN" b="0"/>
              <a:t>cho </a:t>
            </a:r>
            <a:r>
              <a:rPr lang="en-US" b="0"/>
              <a:t>c</a:t>
            </a:r>
            <a:r>
              <a:rPr lang="vi-VN" b="0"/>
              <a:t>ổng thông tin SQL</a:t>
            </a:r>
            <a:r>
              <a:rPr lang="en-US" b="0"/>
              <a:t>.</a:t>
            </a:r>
          </a:p>
        </p:txBody>
      </p:sp>
      <p:sp>
        <p:nvSpPr>
          <p:cNvPr id="4" name="Slide Number Placeholder 3"/>
          <p:cNvSpPr>
            <a:spLocks noGrp="1"/>
          </p:cNvSpPr>
          <p:nvPr>
            <p:ph type="sldNum" sz="quarter" idx="5"/>
          </p:nvPr>
        </p:nvSpPr>
        <p:spPr/>
        <p:txBody>
          <a:bodyPr/>
          <a:lstStyle/>
          <a:p>
            <a:fld id="{C6CBF4E2-7A86-4D12-B203-B65B8991E7E1}" type="slidenum">
              <a:rPr lang="en-US" smtClean="0"/>
              <a:t>5</a:t>
            </a:fld>
            <a:endParaRPr lang="en-US"/>
          </a:p>
        </p:txBody>
      </p:sp>
    </p:spTree>
    <p:extLst>
      <p:ext uri="{BB962C8B-B14F-4D97-AF65-F5344CB8AC3E}">
        <p14:creationId xmlns:p14="http://schemas.microsoft.com/office/powerpoint/2010/main" val="533803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Đánh giá lỗ hổng 2-7</a:t>
            </a:r>
          </a:p>
          <a:p>
            <a:pPr marL="171450" indent="-171450">
              <a:buFont typeface="Arial" panose="020B0604020202020204" pitchFamily="34" charset="0"/>
              <a:buChar char="•"/>
            </a:pPr>
            <a:r>
              <a:rPr lang="vi-VN" b="0"/>
              <a:t>Đánh giá lỗ hổng SQL là một dịch vụ cung cấp khả năng vào</a:t>
            </a:r>
            <a:r>
              <a:rPr lang="en-US" b="0"/>
              <a:t> </a:t>
            </a:r>
            <a:r>
              <a:rPr lang="vi-VN" b="0"/>
              <a:t>hiển thị trạng thái bảo mật của bạn</a:t>
            </a:r>
            <a:r>
              <a:rPr lang="en-US" b="0"/>
              <a:t>.</a:t>
            </a:r>
          </a:p>
          <a:p>
            <a:pPr marL="171450" indent="-171450">
              <a:buFont typeface="Arial" panose="020B0604020202020204" pitchFamily="34" charset="0"/>
              <a:buChar char="•"/>
            </a:pPr>
            <a:r>
              <a:rPr lang="vi-VN" b="0"/>
              <a:t>Đánh giá lỗ hổng bao gồm các bước có thể hành động để giải quyết các vấn đề bảo mật và nâng cao bảo mật cơ sở dữ liệu của bạn</a:t>
            </a:r>
            <a:r>
              <a:rPr lang="en-US" b="0"/>
              <a:t>.</a:t>
            </a:r>
          </a:p>
          <a:p>
            <a:pPr marL="171450" indent="-171450">
              <a:buFont typeface="Arial" panose="020B0604020202020204" pitchFamily="34" charset="0"/>
              <a:buChar char="•"/>
            </a:pPr>
            <a:r>
              <a:rPr lang="vi-VN" b="0"/>
              <a:t>Nó có thể giúp bạn:</a:t>
            </a:r>
          </a:p>
          <a:p>
            <a:pPr marL="628650" lvl="1" indent="-171450">
              <a:buFont typeface="Arial" panose="020B0604020202020204" pitchFamily="34" charset="0"/>
              <a:buChar char="•"/>
            </a:pPr>
            <a:r>
              <a:rPr lang="vi-VN" b="0"/>
              <a:t>Đáp ứng các yêu cầu tuân thủ yêu cầu báo cáo quét cơ sở dữ liệu</a:t>
            </a:r>
          </a:p>
          <a:p>
            <a:pPr marL="628650" lvl="1" indent="-171450">
              <a:buFont typeface="Arial" panose="020B0604020202020204" pitchFamily="34" charset="0"/>
              <a:buChar char="•"/>
            </a:pPr>
            <a:r>
              <a:rPr lang="vi-VN" b="0"/>
              <a:t>Đáp ứng các tiêu chuẩn bảo mật dữ liệu</a:t>
            </a:r>
          </a:p>
          <a:p>
            <a:pPr marL="628650" lvl="1" indent="-171450">
              <a:buFont typeface="Arial" panose="020B0604020202020204" pitchFamily="34" charset="0"/>
              <a:buChar char="•"/>
            </a:pPr>
            <a:r>
              <a:rPr lang="vi-VN" b="0"/>
              <a:t>Giám sát môi trường cơ sở dữ liệu động trong đó những thay đổi khó theo dõi</a:t>
            </a:r>
            <a:endParaRPr lang="en-US" b="0"/>
          </a:p>
          <a:p>
            <a:pPr marL="171450" lvl="0" indent="-171450">
              <a:buFont typeface="Arial" panose="020B0604020202020204" pitchFamily="34" charset="0"/>
              <a:buChar char="•"/>
            </a:pPr>
            <a:r>
              <a:rPr lang="vi-VN" b="0"/>
              <a:t>Các quy tắc dựa trên các thực tiễn tốt nhất của Microsoft và tập trung vào các vấn đề bảo mật có những rủi ro lớn nhất đối với cơ sở dữ liệu của bạn và dữ liệu có giá trị của nó.</a:t>
            </a:r>
          </a:p>
          <a:p>
            <a:pPr marL="171450" lvl="0" indent="-171450">
              <a:buFont typeface="Arial" panose="020B0604020202020204" pitchFamily="34" charset="0"/>
              <a:buChar char="•"/>
            </a:pPr>
            <a:r>
              <a:rPr lang="vi-VN" b="0"/>
              <a:t>Kết quả của quá trình quét bao gồm các bước có thể hành động để giải quyết từng vấn đề và cung cấp các tập lệnh khắc phục tùy chỉnh khi áp dụng</a:t>
            </a:r>
          </a:p>
        </p:txBody>
      </p:sp>
      <p:sp>
        <p:nvSpPr>
          <p:cNvPr id="4" name="Slide Number Placeholder 3"/>
          <p:cNvSpPr>
            <a:spLocks noGrp="1"/>
          </p:cNvSpPr>
          <p:nvPr>
            <p:ph type="sldNum" sz="quarter" idx="5"/>
          </p:nvPr>
        </p:nvSpPr>
        <p:spPr/>
        <p:txBody>
          <a:bodyPr/>
          <a:lstStyle/>
          <a:p>
            <a:fld id="{C6CBF4E2-7A86-4D12-B203-B65B8991E7E1}" type="slidenum">
              <a:rPr lang="en-US" smtClean="0"/>
              <a:t>6</a:t>
            </a:fld>
            <a:endParaRPr lang="en-US"/>
          </a:p>
        </p:txBody>
      </p:sp>
    </p:spTree>
    <p:extLst>
      <p:ext uri="{BB962C8B-B14F-4D97-AF65-F5344CB8AC3E}">
        <p14:creationId xmlns:p14="http://schemas.microsoft.com/office/powerpoint/2010/main" val="2846566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Đánh giá lỗ hổng 3-7</a:t>
            </a:r>
          </a:p>
          <a:p>
            <a:r>
              <a:rPr lang="vi-VN"/>
              <a:t>Bạn có thể tùy chỉnh một báo cáo đánh giá cho môi trường của mình bằng cách đặt đường cơ sở chấp nhận được cho:</a:t>
            </a:r>
          </a:p>
          <a:p>
            <a:pPr marL="171450" lvl="0" indent="-171450">
              <a:buFont typeface="Arial" panose="020B0604020202020204" pitchFamily="34" charset="0"/>
              <a:buChar char="•"/>
            </a:pPr>
            <a:r>
              <a:rPr lang="en-US"/>
              <a:t>Các c</a:t>
            </a:r>
            <a:r>
              <a:rPr lang="vi-VN"/>
              <a:t>ấu hình quyền</a:t>
            </a:r>
          </a:p>
          <a:p>
            <a:pPr marL="171450" lvl="0" indent="-171450">
              <a:buFont typeface="Arial" panose="020B0604020202020204" pitchFamily="34" charset="0"/>
              <a:buChar char="•"/>
            </a:pPr>
            <a:r>
              <a:rPr lang="en-US"/>
              <a:t>Các c</a:t>
            </a:r>
            <a:r>
              <a:rPr lang="vi-VN"/>
              <a:t>ấu hình tính năng.</a:t>
            </a:r>
          </a:p>
          <a:p>
            <a:pPr marL="171450" lvl="0" indent="-171450">
              <a:buFont typeface="Arial" panose="020B0604020202020204" pitchFamily="34" charset="0"/>
              <a:buChar char="•"/>
            </a:pPr>
            <a:r>
              <a:rPr lang="en-US"/>
              <a:t>Các c</a:t>
            </a:r>
            <a:r>
              <a:rPr lang="vi-VN"/>
              <a:t>ài đặt cơ sở dữ liệu</a:t>
            </a:r>
          </a:p>
          <a:p>
            <a:r>
              <a:rPr lang="vi-VN"/>
              <a:t>Các bước sau được sử dụng để thực hiện đánh giá lỗ hổng:</a:t>
            </a:r>
          </a:p>
          <a:p>
            <a:pPr marL="171450" indent="-171450">
              <a:buFont typeface="Arial" panose="020B0604020202020204" pitchFamily="34" charset="0"/>
              <a:buChar char="•"/>
            </a:pPr>
            <a:r>
              <a:rPr lang="vi-VN" b="1"/>
              <a:t>Bước 1: Chạy quét</a:t>
            </a:r>
            <a:endParaRPr lang="en-US" b="1"/>
          </a:p>
        </p:txBody>
      </p:sp>
      <p:sp>
        <p:nvSpPr>
          <p:cNvPr id="4" name="Slide Number Placeholder 3"/>
          <p:cNvSpPr>
            <a:spLocks noGrp="1"/>
          </p:cNvSpPr>
          <p:nvPr>
            <p:ph type="sldNum" sz="quarter" idx="5"/>
          </p:nvPr>
        </p:nvSpPr>
        <p:spPr/>
        <p:txBody>
          <a:bodyPr/>
          <a:lstStyle/>
          <a:p>
            <a:fld id="{C6CBF4E2-7A86-4D12-B203-B65B8991E7E1}" type="slidenum">
              <a:rPr lang="en-US" smtClean="0"/>
              <a:t>7</a:t>
            </a:fld>
            <a:endParaRPr lang="en-US"/>
          </a:p>
        </p:txBody>
      </p:sp>
    </p:spTree>
    <p:extLst>
      <p:ext uri="{BB962C8B-B14F-4D97-AF65-F5344CB8AC3E}">
        <p14:creationId xmlns:p14="http://schemas.microsoft.com/office/powerpoint/2010/main" val="277446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Đánh giá lỗ hổng 4-7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a:t>Bước </a:t>
            </a:r>
            <a:r>
              <a:rPr lang="en-US" b="1"/>
              <a:t>2</a:t>
            </a:r>
            <a:r>
              <a:rPr lang="vi-VN" b="1"/>
              <a:t>: </a:t>
            </a:r>
            <a:r>
              <a:rPr lang="en-US" b="1"/>
              <a:t>Xem báo cáo</a:t>
            </a:r>
          </a:p>
          <a:p>
            <a:pPr marL="628650" lvl="1" indent="-171450">
              <a:buFont typeface="Arial" panose="020B0604020202020204" pitchFamily="34" charset="0"/>
              <a:buChar char="•"/>
            </a:pPr>
            <a:r>
              <a:rPr lang="vi-VN"/>
              <a:t>Khi quét lỗ hổng kết thúc, báo cáo quét sẽ tự động được hiển thị trong Cổng thông tin Azure.</a:t>
            </a:r>
          </a:p>
          <a:p>
            <a:pPr marL="628650" lvl="1" indent="-171450">
              <a:buFont typeface="Arial" panose="020B0604020202020204" pitchFamily="34" charset="0"/>
              <a:buChar char="•"/>
            </a:pPr>
            <a:r>
              <a:rPr lang="vi-VN"/>
              <a:t>Kết quả bao gồm các cảnh báo về sai lệch từ các thực tiễn tốt nhất và ảnh chụp nhanh các cài đặt liên quan đến bảo mật của bạn, chẳng hạn như cơ sở dữ liệu và vai trò và quyền được liên kết của chúng.</a:t>
            </a:r>
            <a:endParaRPr lang="en-US"/>
          </a:p>
        </p:txBody>
      </p:sp>
      <p:sp>
        <p:nvSpPr>
          <p:cNvPr id="4" name="Slide Number Placeholder 3"/>
          <p:cNvSpPr>
            <a:spLocks noGrp="1"/>
          </p:cNvSpPr>
          <p:nvPr>
            <p:ph type="sldNum" sz="quarter" idx="5"/>
          </p:nvPr>
        </p:nvSpPr>
        <p:spPr/>
        <p:txBody>
          <a:bodyPr/>
          <a:lstStyle/>
          <a:p>
            <a:fld id="{C6CBF4E2-7A86-4D12-B203-B65B8991E7E1}" type="slidenum">
              <a:rPr lang="en-US" smtClean="0"/>
              <a:t>8</a:t>
            </a:fld>
            <a:endParaRPr lang="en-US"/>
          </a:p>
        </p:txBody>
      </p:sp>
    </p:spTree>
    <p:extLst>
      <p:ext uri="{BB962C8B-B14F-4D97-AF65-F5344CB8AC3E}">
        <p14:creationId xmlns:p14="http://schemas.microsoft.com/office/powerpoint/2010/main" val="2879163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Đánh giá lỗ hổng 5-7</a:t>
            </a:r>
          </a:p>
          <a:p>
            <a:pPr marL="171450" indent="-171450">
              <a:buFont typeface="Arial" panose="020B0604020202020204" pitchFamily="34" charset="0"/>
              <a:buChar char="•"/>
            </a:pPr>
            <a:r>
              <a:rPr lang="vi-VN" b="1"/>
              <a:t>Bước 3: Phân tích kết quả và giải quyết các vấn đề</a:t>
            </a:r>
            <a:endParaRPr lang="en-US" b="1"/>
          </a:p>
          <a:p>
            <a:pPr marL="628650" lvl="1" indent="-171450">
              <a:buFont typeface="Arial" panose="020B0604020202020204" pitchFamily="34" charset="0"/>
              <a:buChar char="•"/>
            </a:pPr>
            <a:r>
              <a:rPr lang="vi-VN" b="0"/>
              <a:t>Xem lại kết quả của bạn và xác định các phát hiện trong báo cáo là các vấn đề bảo mật thực sự trong môi trường của bạn.</a:t>
            </a:r>
          </a:p>
          <a:p>
            <a:pPr marL="628650" lvl="1" indent="-171450">
              <a:buFont typeface="Arial" panose="020B0604020202020204" pitchFamily="34" charset="0"/>
              <a:buChar char="•"/>
            </a:pPr>
            <a:r>
              <a:rPr lang="vi-VN" b="0"/>
              <a:t>Khoan xuống từng kết quả thất bại để hiểu tác động của việc tìm kiếm và lý do tại sao mỗi kiểm tra bảo mật không thành công.</a:t>
            </a:r>
          </a:p>
          <a:p>
            <a:pPr marL="628650" lvl="1" indent="-171450">
              <a:buFont typeface="Arial" panose="020B0604020202020204" pitchFamily="34" charset="0"/>
              <a:buChar char="•"/>
            </a:pPr>
            <a:r>
              <a:rPr lang="vi-VN" b="0"/>
              <a:t>Sử dụng thông tin khắc phục có thể được cung cấp bởi báo cáo để giải quyết vấn đề</a:t>
            </a:r>
            <a:r>
              <a:rPr lang="en-US" b="0"/>
              <a:t>.</a:t>
            </a:r>
          </a:p>
        </p:txBody>
      </p:sp>
      <p:sp>
        <p:nvSpPr>
          <p:cNvPr id="4" name="Slide Number Placeholder 3"/>
          <p:cNvSpPr>
            <a:spLocks noGrp="1"/>
          </p:cNvSpPr>
          <p:nvPr>
            <p:ph type="sldNum" sz="quarter" idx="5"/>
          </p:nvPr>
        </p:nvSpPr>
        <p:spPr/>
        <p:txBody>
          <a:bodyPr/>
          <a:lstStyle/>
          <a:p>
            <a:fld id="{C6CBF4E2-7A86-4D12-B203-B65B8991E7E1}" type="slidenum">
              <a:rPr lang="en-US" smtClean="0"/>
              <a:t>9</a:t>
            </a:fld>
            <a:endParaRPr lang="en-US"/>
          </a:p>
        </p:txBody>
      </p:sp>
    </p:spTree>
    <p:extLst>
      <p:ext uri="{BB962C8B-B14F-4D97-AF65-F5344CB8AC3E}">
        <p14:creationId xmlns:p14="http://schemas.microsoft.com/office/powerpoint/2010/main" val="1349333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Đánh giá lỗ hổng 6-7</a:t>
            </a:r>
          </a:p>
          <a:p>
            <a:pPr marL="171450" indent="-171450">
              <a:buFont typeface="Arial" panose="020B0604020202020204" pitchFamily="34" charset="0"/>
              <a:buChar char="•"/>
            </a:pPr>
            <a:r>
              <a:rPr lang="vi-VN" b="1"/>
              <a:t>Bước 4: Đặt đường cơ sở của bạn</a:t>
            </a:r>
            <a:endParaRPr lang="en-US" b="1"/>
          </a:p>
          <a:p>
            <a:pPr marL="628650" lvl="1" indent="-171450">
              <a:buFont typeface="Arial" panose="020B0604020202020204" pitchFamily="34" charset="0"/>
              <a:buChar char="•"/>
            </a:pPr>
            <a:r>
              <a:rPr lang="vi-VN" b="0"/>
              <a:t>Khi bạn xem lại kết quả đánh giá của mình, bạn có thể đánh dấu các kết quả cụ thể là một đường cơ sở chấp nhận được.</a:t>
            </a:r>
          </a:p>
          <a:p>
            <a:pPr marL="628650" lvl="1" indent="-171450">
              <a:buFont typeface="Arial" panose="020B0604020202020204" pitchFamily="34" charset="0"/>
              <a:buChar char="•"/>
            </a:pPr>
            <a:r>
              <a:rPr lang="vi-VN" b="0"/>
              <a:t>Kết quả phù hợp với đường cơ sở được coi là </a:t>
            </a:r>
            <a:r>
              <a:rPr lang="en-US" b="0"/>
              <a:t>cho qua</a:t>
            </a:r>
            <a:r>
              <a:rPr lang="vi-VN" b="0"/>
              <a:t> trong các lần quét tiếp theo.</a:t>
            </a:r>
          </a:p>
          <a:p>
            <a:pPr marL="628650" lvl="1" indent="-171450">
              <a:buFont typeface="Arial" panose="020B0604020202020204" pitchFamily="34" charset="0"/>
              <a:buChar char="•"/>
            </a:pPr>
            <a:r>
              <a:rPr lang="vi-VN" b="0"/>
              <a:t>Sau khi bạn đã thiết lập trạng thái bảo mật cơ bản, đánh giá lỗ hổng chỉ báo cáo về độ lệch so với đường cơ sở.</a:t>
            </a:r>
            <a:endParaRPr lang="en-US" b="0"/>
          </a:p>
        </p:txBody>
      </p:sp>
      <p:sp>
        <p:nvSpPr>
          <p:cNvPr id="4" name="Slide Number Placeholder 3"/>
          <p:cNvSpPr>
            <a:spLocks noGrp="1"/>
          </p:cNvSpPr>
          <p:nvPr>
            <p:ph type="sldNum" sz="quarter" idx="5"/>
          </p:nvPr>
        </p:nvSpPr>
        <p:spPr/>
        <p:txBody>
          <a:bodyPr/>
          <a:lstStyle/>
          <a:p>
            <a:fld id="{C6CBF4E2-7A86-4D12-B203-B65B8991E7E1}" type="slidenum">
              <a:rPr lang="en-US" smtClean="0"/>
              <a:t>10</a:t>
            </a:fld>
            <a:endParaRPr lang="en-US"/>
          </a:p>
        </p:txBody>
      </p:sp>
    </p:spTree>
    <p:extLst>
      <p:ext uri="{BB962C8B-B14F-4D97-AF65-F5344CB8AC3E}">
        <p14:creationId xmlns:p14="http://schemas.microsoft.com/office/powerpoint/2010/main" val="1457113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Đánh giá lỗ hổng 7-7</a:t>
            </a:r>
          </a:p>
          <a:p>
            <a:pPr marL="171450" indent="-171450">
              <a:buFont typeface="Arial" panose="020B0604020202020204" pitchFamily="34" charset="0"/>
              <a:buChar char="•"/>
            </a:pPr>
            <a:r>
              <a:rPr lang="vi-VN" b="1"/>
              <a:t>Bước 5: Chạy quét mới để xem báo cáo theo dõi tùy chỉnh của bạn</a:t>
            </a:r>
            <a:endParaRPr lang="en-US" b="1"/>
          </a:p>
          <a:p>
            <a:pPr marL="628650" lvl="1" indent="-171450">
              <a:buFont typeface="Arial" panose="020B0604020202020204" pitchFamily="34" charset="0"/>
              <a:buChar char="•"/>
            </a:pPr>
            <a:r>
              <a:rPr lang="vi-VN" b="0"/>
              <a:t>Sau khi bạn hoàn tất thiết lập các đường cơ sở quy tắc của mình, hãy chạy quét mới để xem báo cáo tùy chỉnh.</a:t>
            </a:r>
          </a:p>
          <a:p>
            <a:pPr marL="628650" lvl="1" indent="-171450">
              <a:buFont typeface="Arial" panose="020B0604020202020204" pitchFamily="34" charset="0"/>
              <a:buChar char="•"/>
            </a:pPr>
            <a:r>
              <a:rPr lang="vi-VN" b="0"/>
              <a:t>Đánh giá lỗ hổng </a:t>
            </a:r>
            <a:r>
              <a:rPr lang="en-US" b="0"/>
              <a:t>b</a:t>
            </a:r>
            <a:r>
              <a:rPr lang="vi-VN" b="0"/>
              <a:t>ây giờ chỉ báo cáo các vấn đề bảo mật đi chệch khỏi trạng thái cơ sở được phê duyệt của bạn.</a:t>
            </a:r>
            <a:endParaRPr lang="en-US" b="0"/>
          </a:p>
        </p:txBody>
      </p:sp>
      <p:sp>
        <p:nvSpPr>
          <p:cNvPr id="4" name="Slide Number Placeholder 3"/>
          <p:cNvSpPr>
            <a:spLocks noGrp="1"/>
          </p:cNvSpPr>
          <p:nvPr>
            <p:ph type="sldNum" sz="quarter" idx="5"/>
          </p:nvPr>
        </p:nvSpPr>
        <p:spPr/>
        <p:txBody>
          <a:bodyPr/>
          <a:lstStyle/>
          <a:p>
            <a:fld id="{C6CBF4E2-7A86-4D12-B203-B65B8991E7E1}" type="slidenum">
              <a:rPr lang="en-US" smtClean="0"/>
              <a:t>11</a:t>
            </a:fld>
            <a:endParaRPr lang="en-US"/>
          </a:p>
        </p:txBody>
      </p:sp>
    </p:spTree>
    <p:extLst>
      <p:ext uri="{BB962C8B-B14F-4D97-AF65-F5344CB8AC3E}">
        <p14:creationId xmlns:p14="http://schemas.microsoft.com/office/powerpoint/2010/main" val="2133590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Cụm dữ liệu lớn 1-6</a:t>
            </a:r>
          </a:p>
          <a:p>
            <a:pPr marL="171450" indent="-171450">
              <a:buFont typeface="Arial" panose="020B0604020202020204" pitchFamily="34" charset="0"/>
              <a:buChar char="•"/>
            </a:pPr>
            <a:r>
              <a:rPr lang="en-US" b="0"/>
              <a:t>Trong các cụm dữ liệu lớn SQL Server 2019 cho phép triển khai các cụm có thể mở rộng của SQL Server, Spark và các thùng chứa hệ thống tệp phân tán (HDFS) của Hadoop chạy trên Kubernetes.</a:t>
            </a:r>
          </a:p>
          <a:p>
            <a:pPr marL="171450" indent="-171450">
              <a:buFont typeface="Arial" panose="020B0604020202020204" pitchFamily="34" charset="0"/>
              <a:buChar char="•"/>
            </a:pPr>
            <a:r>
              <a:rPr lang="en-US" b="0"/>
              <a:t>Công dụng phổ biến của cụm dữ liệu lớn:</a:t>
            </a:r>
          </a:p>
          <a:p>
            <a:pPr marL="628650" lvl="1" indent="-171450">
              <a:buFont typeface="Arial" panose="020B0604020202020204" pitchFamily="34" charset="0"/>
              <a:buChar char="•"/>
            </a:pPr>
            <a:r>
              <a:rPr lang="en-US" b="0"/>
              <a:t>Triển khai các cụm có thể mở rộng của SQL Server, Spark và các thùng chứa HDFS chạy trên Kubernetes</a:t>
            </a:r>
          </a:p>
          <a:p>
            <a:pPr marL="628650" lvl="1" indent="-171450">
              <a:buFont typeface="Arial" panose="020B0604020202020204" pitchFamily="34" charset="0"/>
              <a:buChar char="•"/>
            </a:pPr>
            <a:r>
              <a:rPr lang="en-US" b="0"/>
              <a:t>Đọc, viết và xử lý dữ liệu lớn từ Transact-SQL hoặc Spark</a:t>
            </a:r>
          </a:p>
          <a:p>
            <a:pPr marL="628650" lvl="1" indent="-171450">
              <a:buFont typeface="Arial" panose="020B0604020202020204" pitchFamily="34" charset="0"/>
              <a:buChar char="•"/>
            </a:pPr>
            <a:r>
              <a:rPr lang="vi-VN" b="0"/>
              <a:t>Dễ dàng kết hợp và phân tích dữ liệu quan hệ có giá trị cao với dữ liệu lớn khối lượng lớn</a:t>
            </a:r>
            <a:endParaRPr lang="en-US" b="0"/>
          </a:p>
          <a:p>
            <a:pPr marL="628650" lvl="1" indent="-171450">
              <a:buFont typeface="Arial" panose="020B0604020202020204" pitchFamily="34" charset="0"/>
              <a:buChar char="•"/>
            </a:pPr>
            <a:r>
              <a:rPr lang="en-US" b="0"/>
              <a:t>Truy vấn nguồn dữ liệu ngoài</a:t>
            </a:r>
          </a:p>
          <a:p>
            <a:pPr marL="628650" lvl="1" indent="-171450">
              <a:buFont typeface="Arial" panose="020B0604020202020204" pitchFamily="34" charset="0"/>
              <a:buChar char="•"/>
            </a:pPr>
            <a:r>
              <a:rPr lang="vi-VN" b="0"/>
              <a:t>Lưu trữ dữ liệu lớn trong HDFS được quản lý bởi SQL Server</a:t>
            </a:r>
            <a:endParaRPr lang="en-US" b="0"/>
          </a:p>
          <a:p>
            <a:pPr marL="628650" lvl="1" indent="-171450">
              <a:buFont typeface="Arial" panose="020B0604020202020204" pitchFamily="34" charset="0"/>
              <a:buChar char="•"/>
            </a:pPr>
            <a:r>
              <a:rPr lang="en-US" b="0"/>
              <a:t>Truy vấn dữ liệu từ nhiều nguồn dữ liệu ngoài thông qua cụm</a:t>
            </a:r>
          </a:p>
          <a:p>
            <a:pPr marL="628650" lvl="1" indent="-171450">
              <a:buFont typeface="Arial" panose="020B0604020202020204" pitchFamily="34" charset="0"/>
              <a:buChar char="•"/>
            </a:pPr>
            <a:r>
              <a:rPr lang="en-US" b="0"/>
              <a:t>Sử dụng dữ liệu cho AI, học máy và các tác vụ phân tích khác</a:t>
            </a:r>
          </a:p>
          <a:p>
            <a:pPr marL="628650" lvl="1" indent="-171450">
              <a:buFont typeface="Arial" panose="020B0604020202020204" pitchFamily="34" charset="0"/>
              <a:buChar char="•"/>
            </a:pPr>
            <a:r>
              <a:rPr lang="en-US" b="0"/>
              <a:t>Triển khai và chạy các ứng dụng trong cụm dữ liệu lớn • Ảo hóa dữ liệu với Polybase</a:t>
            </a:r>
          </a:p>
          <a:p>
            <a:pPr marL="628650" lvl="1" indent="-171450">
              <a:buFont typeface="Arial" panose="020B0604020202020204" pitchFamily="34" charset="0"/>
              <a:buChar char="•"/>
            </a:pPr>
            <a:r>
              <a:rPr lang="en-US" b="0"/>
              <a:t>Truy vấn dữ liệu từ máy chủ SQL bên ngoài, Oracle, Teradata, MongoDB và nguồn dữ liệu ODBC với các bảng bên ngoài</a:t>
            </a:r>
          </a:p>
          <a:p>
            <a:pPr marL="628650" lvl="1" indent="-171450">
              <a:buFont typeface="Arial" panose="020B0604020202020204" pitchFamily="34" charset="0"/>
              <a:buChar char="•"/>
            </a:pPr>
            <a:r>
              <a:rPr lang="vi-VN" b="0"/>
              <a:t>Cung cấp tính sẵn sàng cao cho cá thể SQL Server Master và tất cả các cơ sở dữ liệu bằng cách sử dụng công nghệ nhóm sẵn có</a:t>
            </a:r>
            <a:r>
              <a:rPr lang="en-US" b="0"/>
              <a:t> </a:t>
            </a:r>
            <a:r>
              <a:rPr lang="en-US" b="1"/>
              <a:t>Always On availability group</a:t>
            </a:r>
          </a:p>
        </p:txBody>
      </p:sp>
      <p:sp>
        <p:nvSpPr>
          <p:cNvPr id="4" name="Slide Number Placeholder 3"/>
          <p:cNvSpPr>
            <a:spLocks noGrp="1"/>
          </p:cNvSpPr>
          <p:nvPr>
            <p:ph type="sldNum" sz="quarter" idx="5"/>
          </p:nvPr>
        </p:nvSpPr>
        <p:spPr/>
        <p:txBody>
          <a:bodyPr/>
          <a:lstStyle/>
          <a:p>
            <a:fld id="{C6CBF4E2-7A86-4D12-B203-B65B8991E7E1}" type="slidenum">
              <a:rPr lang="en-US" smtClean="0"/>
              <a:t>12</a:t>
            </a:fld>
            <a:endParaRPr lang="en-US"/>
          </a:p>
        </p:txBody>
      </p:sp>
    </p:spTree>
    <p:extLst>
      <p:ext uri="{BB962C8B-B14F-4D97-AF65-F5344CB8AC3E}">
        <p14:creationId xmlns:p14="http://schemas.microsoft.com/office/powerpoint/2010/main" val="3015299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Cụm dữ liệu lớn 2-6</a:t>
            </a:r>
          </a:p>
          <a:p>
            <a:pPr marL="171450" indent="-171450">
              <a:buFont typeface="Arial" panose="020B0604020202020204" pitchFamily="34" charset="0"/>
              <a:buChar char="•"/>
            </a:pPr>
            <a:r>
              <a:rPr lang="en-US" b="1"/>
              <a:t>Ảo hóa dữ liệu</a:t>
            </a:r>
          </a:p>
          <a:p>
            <a:pPr marL="628650" lvl="1" indent="-171450">
              <a:buFont typeface="Arial" panose="020B0604020202020204" pitchFamily="34" charset="0"/>
              <a:buChar char="•"/>
            </a:pPr>
            <a:r>
              <a:rPr lang="en-US" b="0"/>
              <a:t>Cụm dữ liệu lớn SQL Server có thể truy vấn các nguồn dữ liệu ngoài mà không di chuyển hoặc sao chép dữ liệu</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20">
                <a:latin typeface="Times New Roman"/>
                <a:cs typeface="Times New Roman"/>
              </a:rPr>
              <a:t>Data</a:t>
            </a:r>
            <a:r>
              <a:rPr lang="en-US" sz="1200" b="1" spc="-114">
                <a:latin typeface="Times New Roman"/>
                <a:cs typeface="Times New Roman"/>
              </a:rPr>
              <a:t> </a:t>
            </a:r>
            <a:r>
              <a:rPr lang="en-US" sz="1200" b="1" spc="-60">
                <a:latin typeface="Times New Roman"/>
                <a:cs typeface="Times New Roman"/>
              </a:rPr>
              <a:t>Lake</a:t>
            </a:r>
            <a:endParaRPr lang="en-US" sz="1200">
              <a:latin typeface="Times New Roman"/>
              <a:cs typeface="Times New Roman"/>
            </a:endParaRPr>
          </a:p>
          <a:p>
            <a:pPr marL="628650" lvl="1" indent="-171450">
              <a:buFont typeface="Arial" panose="020B0604020202020204" pitchFamily="34" charset="0"/>
              <a:buChar char="•"/>
            </a:pPr>
            <a:r>
              <a:rPr lang="vi-VN" b="0"/>
              <a:t>Data Lake là một kho lưu trữ chứa một lượng lớn dữ liệu thô ở định dạng gốc của nó.</a:t>
            </a:r>
          </a:p>
          <a:p>
            <a:pPr marL="628650" lvl="1" indent="-171450">
              <a:buFont typeface="Arial" panose="020B0604020202020204" pitchFamily="34" charset="0"/>
              <a:buChar char="•"/>
            </a:pPr>
            <a:r>
              <a:rPr lang="vi-VN" b="0"/>
              <a:t>Nó là một nhóm lưu trữ HDFS có thể mở rộng.</a:t>
            </a:r>
            <a:endParaRPr lang="en-US" b="0"/>
          </a:p>
        </p:txBody>
      </p:sp>
      <p:sp>
        <p:nvSpPr>
          <p:cNvPr id="4" name="Slide Number Placeholder 3"/>
          <p:cNvSpPr>
            <a:spLocks noGrp="1"/>
          </p:cNvSpPr>
          <p:nvPr>
            <p:ph type="sldNum" sz="quarter" idx="5"/>
          </p:nvPr>
        </p:nvSpPr>
        <p:spPr/>
        <p:txBody>
          <a:bodyPr/>
          <a:lstStyle/>
          <a:p>
            <a:fld id="{C6CBF4E2-7A86-4D12-B203-B65B8991E7E1}" type="slidenum">
              <a:rPr lang="en-US" smtClean="0"/>
              <a:t>13</a:t>
            </a:fld>
            <a:endParaRPr lang="en-US"/>
          </a:p>
        </p:txBody>
      </p:sp>
    </p:spTree>
    <p:extLst>
      <p:ext uri="{BB962C8B-B14F-4D97-AF65-F5344CB8AC3E}">
        <p14:creationId xmlns:p14="http://schemas.microsoft.com/office/powerpoint/2010/main" val="1587140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Cụm dữ liệu lớn 3-6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10">
                <a:latin typeface="Times New Roman"/>
                <a:cs typeface="Times New Roman"/>
              </a:rPr>
              <a:t>Scale-out </a:t>
            </a:r>
            <a:r>
              <a:rPr lang="en-US" sz="1200" b="1" spc="-45">
                <a:latin typeface="Times New Roman"/>
                <a:cs typeface="Times New Roman"/>
              </a:rPr>
              <a:t>data</a:t>
            </a:r>
            <a:r>
              <a:rPr lang="en-US" sz="1200" b="1" spc="-275">
                <a:latin typeface="Times New Roman"/>
                <a:cs typeface="Times New Roman"/>
              </a:rPr>
              <a:t>             </a:t>
            </a:r>
            <a:r>
              <a:rPr lang="en-US" sz="1200" b="1" spc="-65">
                <a:latin typeface="Times New Roman"/>
                <a:cs typeface="Times New Roman"/>
              </a:rPr>
              <a:t>mart</a:t>
            </a:r>
            <a:endParaRPr lang="en-US" sz="1200">
              <a:latin typeface="Times New Roman"/>
              <a:cs typeface="Times New Roman"/>
            </a:endParaRPr>
          </a:p>
          <a:p>
            <a:pPr marL="628650" lvl="1" indent="-171450">
              <a:buFont typeface="Arial" panose="020B0604020202020204" pitchFamily="34" charset="0"/>
              <a:buChar char="•"/>
            </a:pPr>
            <a:r>
              <a:rPr lang="vi-VN"/>
              <a:t>Cung cấp tính toán và lưu trữ quy mô để cải thiện hiệu suất phân tích bất kỳ dữ liệu nào</a:t>
            </a:r>
            <a:endParaRPr lang="en-US"/>
          </a:p>
          <a:p>
            <a:pPr marL="171450" lvl="0" indent="-171450">
              <a:buFont typeface="Arial" panose="020B0604020202020204" pitchFamily="34" charset="0"/>
              <a:buChar char="•"/>
            </a:pPr>
            <a:r>
              <a:rPr lang="en-US" b="1"/>
              <a:t>Tích hợp AI và học máy</a:t>
            </a:r>
          </a:p>
          <a:p>
            <a:pPr marL="628650" lvl="1" indent="-171450">
              <a:buFont typeface="Arial" panose="020B0604020202020204" pitchFamily="34" charset="0"/>
              <a:buChar char="•"/>
            </a:pPr>
            <a:r>
              <a:rPr lang="vi-VN" b="0"/>
              <a:t>Cho phép các tác vụ AI và học</a:t>
            </a:r>
            <a:r>
              <a:rPr lang="en-US" b="0"/>
              <a:t> </a:t>
            </a:r>
            <a:r>
              <a:rPr lang="vi-VN" b="0"/>
              <a:t>máy về dữ liệu được lưu trữ trong nhóm lưu trữ HDFS và nhóm dữ liệu</a:t>
            </a:r>
            <a:endParaRPr lang="en-US" b="0"/>
          </a:p>
        </p:txBody>
      </p:sp>
      <p:sp>
        <p:nvSpPr>
          <p:cNvPr id="4" name="Slide Number Placeholder 3"/>
          <p:cNvSpPr>
            <a:spLocks noGrp="1"/>
          </p:cNvSpPr>
          <p:nvPr>
            <p:ph type="sldNum" sz="quarter" idx="5"/>
          </p:nvPr>
        </p:nvSpPr>
        <p:spPr/>
        <p:txBody>
          <a:bodyPr/>
          <a:lstStyle/>
          <a:p>
            <a:fld id="{C6CBF4E2-7A86-4D12-B203-B65B8991E7E1}" type="slidenum">
              <a:rPr lang="en-US" smtClean="0"/>
              <a:t>14</a:t>
            </a:fld>
            <a:endParaRPr lang="en-US"/>
          </a:p>
        </p:txBody>
      </p:sp>
    </p:spTree>
    <p:extLst>
      <p:ext uri="{BB962C8B-B14F-4D97-AF65-F5344CB8AC3E}">
        <p14:creationId xmlns:p14="http://schemas.microsoft.com/office/powerpoint/2010/main" val="472221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Cụm dữ liệu lớn 4-6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15">
                <a:latin typeface="Times New Roman"/>
                <a:cs typeface="Times New Roman"/>
              </a:rPr>
              <a:t>Kubernetes</a:t>
            </a:r>
            <a:r>
              <a:rPr lang="en-US" sz="1200" b="1" spc="-160">
                <a:latin typeface="Times New Roman"/>
                <a:cs typeface="Times New Roman"/>
              </a:rPr>
              <a:t> </a:t>
            </a:r>
            <a:r>
              <a:rPr lang="en-US" sz="1200" b="1" spc="-25">
                <a:latin typeface="Times New Roman"/>
                <a:cs typeface="Times New Roman"/>
              </a:rPr>
              <a:t>Terms</a:t>
            </a:r>
            <a:endParaRPr lang="en-US" sz="1200">
              <a:latin typeface="Times New Roman"/>
              <a:cs typeface="Times New Roman"/>
            </a:endParaRPr>
          </a:p>
        </p:txBody>
      </p:sp>
      <p:sp>
        <p:nvSpPr>
          <p:cNvPr id="4" name="Slide Number Placeholder 3"/>
          <p:cNvSpPr>
            <a:spLocks noGrp="1"/>
          </p:cNvSpPr>
          <p:nvPr>
            <p:ph type="sldNum" sz="quarter" idx="5"/>
          </p:nvPr>
        </p:nvSpPr>
        <p:spPr/>
        <p:txBody>
          <a:bodyPr/>
          <a:lstStyle/>
          <a:p>
            <a:fld id="{C6CBF4E2-7A86-4D12-B203-B65B8991E7E1}" type="slidenum">
              <a:rPr lang="en-US" smtClean="0"/>
              <a:t>15</a:t>
            </a:fld>
            <a:endParaRPr lang="en-US"/>
          </a:p>
        </p:txBody>
      </p:sp>
    </p:spTree>
    <p:extLst>
      <p:ext uri="{BB962C8B-B14F-4D97-AF65-F5344CB8AC3E}">
        <p14:creationId xmlns:p14="http://schemas.microsoft.com/office/powerpoint/2010/main" val="531780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Cụm dữ liệu lớn 5-6</a:t>
            </a:r>
          </a:p>
        </p:txBody>
      </p:sp>
      <p:sp>
        <p:nvSpPr>
          <p:cNvPr id="4" name="Slide Number Placeholder 3"/>
          <p:cNvSpPr>
            <a:spLocks noGrp="1"/>
          </p:cNvSpPr>
          <p:nvPr>
            <p:ph type="sldNum" sz="quarter" idx="5"/>
          </p:nvPr>
        </p:nvSpPr>
        <p:spPr/>
        <p:txBody>
          <a:bodyPr/>
          <a:lstStyle/>
          <a:p>
            <a:fld id="{C6CBF4E2-7A86-4D12-B203-B65B8991E7E1}" type="slidenum">
              <a:rPr lang="en-US" smtClean="0"/>
              <a:t>16</a:t>
            </a:fld>
            <a:endParaRPr lang="en-US"/>
          </a:p>
        </p:txBody>
      </p:sp>
    </p:spTree>
    <p:extLst>
      <p:ext uri="{BB962C8B-B14F-4D97-AF65-F5344CB8AC3E}">
        <p14:creationId xmlns:p14="http://schemas.microsoft.com/office/powerpoint/2010/main" val="3613692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Cụm dữ liệu lớn 6-6</a:t>
            </a:r>
          </a:p>
          <a:p>
            <a:endParaRPr lang="en-US"/>
          </a:p>
        </p:txBody>
      </p:sp>
      <p:sp>
        <p:nvSpPr>
          <p:cNvPr id="4" name="Slide Number Placeholder 3"/>
          <p:cNvSpPr>
            <a:spLocks noGrp="1"/>
          </p:cNvSpPr>
          <p:nvPr>
            <p:ph type="sldNum" sz="quarter" idx="5"/>
          </p:nvPr>
        </p:nvSpPr>
        <p:spPr/>
        <p:txBody>
          <a:bodyPr/>
          <a:lstStyle/>
          <a:p>
            <a:fld id="{C6CBF4E2-7A86-4D12-B203-B65B8991E7E1}" type="slidenum">
              <a:rPr lang="en-US" smtClean="0"/>
              <a:t>17</a:t>
            </a:fld>
            <a:endParaRPr lang="en-US"/>
          </a:p>
        </p:txBody>
      </p:sp>
    </p:spTree>
    <p:extLst>
      <p:ext uri="{BB962C8B-B14F-4D97-AF65-F5344CB8AC3E}">
        <p14:creationId xmlns:p14="http://schemas.microsoft.com/office/powerpoint/2010/main" val="1882483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Dữ liệu JSON trong SQL Server 1-4</a:t>
            </a:r>
          </a:p>
          <a:p>
            <a:pPr marL="171450" indent="-171450">
              <a:buFont typeface="Arial" panose="020B0604020202020204" pitchFamily="34" charset="0"/>
              <a:buChar char="•"/>
            </a:pPr>
            <a:r>
              <a:rPr lang="vi-VN" b="0"/>
              <a:t>JSON là một định dạng dữ liệu văn bản được sử dụng để trao đổi dữ liệu trong các ứng dụng web và web hiện đại.</a:t>
            </a:r>
          </a:p>
          <a:p>
            <a:pPr marL="171450" indent="-171450">
              <a:buFont typeface="Arial" panose="020B0604020202020204" pitchFamily="34" charset="0"/>
              <a:buChar char="•"/>
            </a:pPr>
            <a:r>
              <a:rPr lang="vi-VN" b="0"/>
              <a:t>JSON cũng được sử dụng để lưu trữ dữ liệu phi cấu trúc trong các t</a:t>
            </a:r>
            <a:r>
              <a:rPr lang="en-US" b="0"/>
              <a:t>ậ</a:t>
            </a:r>
            <a:r>
              <a:rPr lang="vi-VN" b="0"/>
              <a:t>p </a:t>
            </a:r>
            <a:r>
              <a:rPr lang="en-US" b="0"/>
              <a:t>tin </a:t>
            </a:r>
            <a:r>
              <a:rPr lang="vi-VN" b="0"/>
              <a:t>nhật ký hoặc cơ sở dữ liệu NoSQL như </a:t>
            </a:r>
            <a:r>
              <a:rPr lang="vi-VN" b="1"/>
              <a:t>Microsoft Azure Cosmos DB</a:t>
            </a:r>
            <a:r>
              <a:rPr lang="vi-VN" b="0"/>
              <a:t>.</a:t>
            </a:r>
          </a:p>
          <a:p>
            <a:pPr marL="171450" indent="-171450">
              <a:buFont typeface="Arial" panose="020B0604020202020204" pitchFamily="34" charset="0"/>
              <a:buChar char="•"/>
            </a:pPr>
            <a:r>
              <a:rPr lang="vi-VN" b="0"/>
              <a:t>Nhiều dịch vụ web REST</a:t>
            </a:r>
            <a:r>
              <a:rPr lang="en-US" b="0"/>
              <a:t> </a:t>
            </a:r>
            <a:r>
              <a:rPr lang="vi-VN" b="0"/>
              <a:t>trả về </a:t>
            </a:r>
            <a:r>
              <a:rPr lang="en-US" b="0"/>
              <a:t>kết quả </a:t>
            </a:r>
            <a:r>
              <a:rPr lang="vi-VN" b="0"/>
              <a:t>được định dạng là văn bản JSON hoặc chấp nhận dữ liệu được định dạng là JSON</a:t>
            </a:r>
            <a:endParaRPr lang="en-US" b="0"/>
          </a:p>
          <a:p>
            <a:pPr marL="171450" indent="-171450">
              <a:buFont typeface="Arial" panose="020B0604020202020204" pitchFamily="34" charset="0"/>
              <a:buChar char="•"/>
            </a:pPr>
            <a:r>
              <a:rPr lang="vi-VN" b="0"/>
              <a:t>Thông qua các </a:t>
            </a:r>
            <a:r>
              <a:rPr lang="en-US" b="0"/>
              <a:t>hàm </a:t>
            </a:r>
            <a:r>
              <a:rPr lang="vi-VN" b="0"/>
              <a:t>và toán tử tích hợp SQL Server, bạn có thể:</a:t>
            </a:r>
          </a:p>
          <a:p>
            <a:pPr marL="628650" lvl="1" indent="-171450">
              <a:buFont typeface="Arial" panose="020B0604020202020204" pitchFamily="34" charset="0"/>
              <a:buChar char="•"/>
            </a:pPr>
            <a:r>
              <a:rPr lang="vi-VN" b="0"/>
              <a:t>Phân tích văn bản JSON và đọc hoặc sửa đổi các giá trị</a:t>
            </a:r>
          </a:p>
          <a:p>
            <a:pPr marL="628650" lvl="1" indent="-171450">
              <a:buFont typeface="Arial" panose="020B0604020202020204" pitchFamily="34" charset="0"/>
              <a:buChar char="•"/>
            </a:pPr>
            <a:r>
              <a:rPr lang="vi-VN" b="0"/>
              <a:t>Chuyển đổi mảng các đối tượng JSON thành định dạng bảng</a:t>
            </a:r>
          </a:p>
          <a:p>
            <a:pPr marL="628650" lvl="1" indent="-171450">
              <a:buFont typeface="Arial" panose="020B0604020202020204" pitchFamily="34" charset="0"/>
              <a:buChar char="•"/>
            </a:pPr>
            <a:r>
              <a:rPr lang="vi-VN" b="0"/>
              <a:t>Chạy bất kỳ truy vấn nào Transact-SQL trên các đối tượng JSON được chuyển đổi</a:t>
            </a:r>
          </a:p>
          <a:p>
            <a:pPr marL="628650" lvl="1" indent="-171450">
              <a:buFont typeface="Arial" panose="020B0604020202020204" pitchFamily="34" charset="0"/>
              <a:buChar char="•"/>
            </a:pPr>
            <a:r>
              <a:rPr lang="vi-VN" b="0"/>
              <a:t>Định dạng kết quả của các truy vấn Transact-SQL ở định dạng JSON</a:t>
            </a:r>
            <a:endParaRPr lang="en-US" b="0"/>
          </a:p>
        </p:txBody>
      </p:sp>
      <p:sp>
        <p:nvSpPr>
          <p:cNvPr id="4" name="Slide Number Placeholder 3"/>
          <p:cNvSpPr>
            <a:spLocks noGrp="1"/>
          </p:cNvSpPr>
          <p:nvPr>
            <p:ph type="sldNum" sz="quarter" idx="5"/>
          </p:nvPr>
        </p:nvSpPr>
        <p:spPr/>
        <p:txBody>
          <a:bodyPr/>
          <a:lstStyle/>
          <a:p>
            <a:fld id="{C6CBF4E2-7A86-4D12-B203-B65B8991E7E1}" type="slidenum">
              <a:rPr lang="en-US" smtClean="0"/>
              <a:t>18</a:t>
            </a:fld>
            <a:endParaRPr lang="en-US"/>
          </a:p>
        </p:txBody>
      </p:sp>
    </p:spTree>
    <p:extLst>
      <p:ext uri="{BB962C8B-B14F-4D97-AF65-F5344CB8AC3E}">
        <p14:creationId xmlns:p14="http://schemas.microsoft.com/office/powerpoint/2010/main" val="2635291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Dữ liệu JSON trong SQL Server 2-4</a:t>
            </a:r>
          </a:p>
          <a:p>
            <a:pPr marL="171450" indent="-171450">
              <a:buFont typeface="Arial" panose="020B0604020202020204" pitchFamily="34" charset="0"/>
              <a:buChar char="•"/>
            </a:pPr>
            <a:r>
              <a:rPr lang="en-US" b="1"/>
              <a:t>Sửa đổi giá trị JSON</a:t>
            </a:r>
          </a:p>
          <a:p>
            <a:pPr marL="628650" lvl="1" indent="-171450">
              <a:buFont typeface="Arial" panose="020B0604020202020204" pitchFamily="34" charset="0"/>
              <a:buChar char="•"/>
            </a:pPr>
            <a:r>
              <a:rPr lang="vi-VN"/>
              <a:t>Để sửa đổi các phần của văn bản JSON, </a:t>
            </a:r>
            <a:r>
              <a:rPr lang="en-US"/>
              <a:t>hàm </a:t>
            </a:r>
            <a:r>
              <a:rPr lang="vi-VN" b="1"/>
              <a:t>JSON_MODIFY</a:t>
            </a:r>
            <a:r>
              <a:rPr lang="vi-VN"/>
              <a:t> (Transact-SQL) được sử dụng để cập nhật giá trị của một thuộc tính trong chuỗi JSON và trả về chuỗi JSON được cập nhật</a:t>
            </a:r>
            <a:endParaRPr lang="en-US"/>
          </a:p>
          <a:p>
            <a:pPr marL="171450" lvl="0" indent="-171450">
              <a:buFont typeface="Arial" panose="020B0604020202020204" pitchFamily="34" charset="0"/>
              <a:buChar char="•"/>
            </a:pPr>
            <a:r>
              <a:rPr lang="en-US" b="1"/>
              <a:t>OPENJSON để chuyển đổi JSON sang Rowset</a:t>
            </a:r>
          </a:p>
          <a:p>
            <a:pPr marL="628650" lvl="1" indent="-171450">
              <a:buFont typeface="Arial" panose="020B0604020202020204" pitchFamily="34" charset="0"/>
              <a:buChar char="•"/>
            </a:pPr>
            <a:r>
              <a:rPr lang="en-US"/>
              <a:t>Ngôn ngữ truy vấn tùy chỉnh không bắt buộc phải truy vấn JSON trong SQL Server. Để truy vấn dữ liệu JSON, có thể sử dụng TSQL tiêu chuẩn</a:t>
            </a:r>
          </a:p>
        </p:txBody>
      </p:sp>
      <p:sp>
        <p:nvSpPr>
          <p:cNvPr id="4" name="Slide Number Placeholder 3"/>
          <p:cNvSpPr>
            <a:spLocks noGrp="1"/>
          </p:cNvSpPr>
          <p:nvPr>
            <p:ph type="sldNum" sz="quarter" idx="5"/>
          </p:nvPr>
        </p:nvSpPr>
        <p:spPr/>
        <p:txBody>
          <a:bodyPr/>
          <a:lstStyle/>
          <a:p>
            <a:fld id="{C6CBF4E2-7A86-4D12-B203-B65B8991E7E1}" type="slidenum">
              <a:rPr lang="en-US" smtClean="0"/>
              <a:t>19</a:t>
            </a:fld>
            <a:endParaRPr lang="en-US"/>
          </a:p>
        </p:txBody>
      </p:sp>
    </p:spTree>
    <p:extLst>
      <p:ext uri="{BB962C8B-B14F-4D97-AF65-F5344CB8AC3E}">
        <p14:creationId xmlns:p14="http://schemas.microsoft.com/office/powerpoint/2010/main" val="54552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Dữ liệu JSON trong SQL Server 3-4</a:t>
            </a:r>
          </a:p>
          <a:p>
            <a:pPr marL="171450" indent="-171450">
              <a:buFont typeface="Arial" panose="020B0604020202020204" pitchFamily="34" charset="0"/>
              <a:buChar char="•"/>
            </a:pPr>
            <a:r>
              <a:rPr lang="vi-VN"/>
              <a:t>Các tài liệu JSON có thể có các </a:t>
            </a:r>
            <a:r>
              <a:rPr lang="en-US"/>
              <a:t>phần tử </a:t>
            </a:r>
            <a:r>
              <a:rPr lang="vi-VN"/>
              <a:t>phụ và dữ liệu phân cấp không thể được ánh xạ trực tiếp vào các cột quan hệ tiêu chuẩn. Trong trường hợp này, bạn có thể </a:t>
            </a:r>
            <a:r>
              <a:rPr lang="en-US"/>
              <a:t>làm phẳng</a:t>
            </a:r>
            <a:r>
              <a:rPr lang="vi-VN"/>
              <a:t> phân cấp JSON bằng cách </a:t>
            </a:r>
            <a:r>
              <a:rPr lang="en-US"/>
              <a:t>kết </a:t>
            </a:r>
            <a:r>
              <a:rPr lang="vi-VN"/>
              <a:t>thực thể </a:t>
            </a:r>
            <a:r>
              <a:rPr lang="en-US"/>
              <a:t>cha </a:t>
            </a:r>
            <a:r>
              <a:rPr lang="vi-VN"/>
              <a:t>với các mảng phụ</a:t>
            </a:r>
            <a:r>
              <a:rPr lang="en-US"/>
              <a:t>.</a:t>
            </a:r>
          </a:p>
        </p:txBody>
      </p:sp>
      <p:sp>
        <p:nvSpPr>
          <p:cNvPr id="4" name="Slide Number Placeholder 3"/>
          <p:cNvSpPr>
            <a:spLocks noGrp="1"/>
          </p:cNvSpPr>
          <p:nvPr>
            <p:ph type="sldNum" sz="quarter" idx="5"/>
          </p:nvPr>
        </p:nvSpPr>
        <p:spPr/>
        <p:txBody>
          <a:bodyPr/>
          <a:lstStyle/>
          <a:p>
            <a:fld id="{C6CBF4E2-7A86-4D12-B203-B65B8991E7E1}" type="slidenum">
              <a:rPr lang="en-US" smtClean="0"/>
              <a:t>20</a:t>
            </a:fld>
            <a:endParaRPr lang="en-US"/>
          </a:p>
        </p:txBody>
      </p:sp>
    </p:spTree>
    <p:extLst>
      <p:ext uri="{BB962C8B-B14F-4D97-AF65-F5344CB8AC3E}">
        <p14:creationId xmlns:p14="http://schemas.microsoft.com/office/powerpoint/2010/main" val="21904037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Dữ liệu JSON trong SQL Server 4-4</a:t>
            </a:r>
          </a:p>
          <a:p>
            <a:pPr marL="171450" indent="-171450">
              <a:buFont typeface="Arial" panose="020B0604020202020204" pitchFamily="34" charset="0"/>
              <a:buChar char="•"/>
            </a:pPr>
            <a:r>
              <a:rPr lang="en-US" b="1"/>
              <a:t>Xuất dữ liệu SQL Server sang JSON</a:t>
            </a:r>
          </a:p>
          <a:p>
            <a:pPr marL="628650" lvl="1" indent="-171450">
              <a:buFont typeface="Arial" panose="020B0604020202020204" pitchFamily="34" charset="0"/>
              <a:buChar char="•"/>
            </a:pPr>
            <a:r>
              <a:rPr lang="vi-VN" b="0"/>
              <a:t>Bạn có thể định dạng dữ liệu SQL Server hoặc kết quả của các truy vấn SQL dưới dạng JSON bằng cách thêm mệnh đề JSON cho một câu lệnh Chọn. </a:t>
            </a:r>
            <a:r>
              <a:rPr lang="vi-VN" b="1"/>
              <a:t>FOR JSON</a:t>
            </a:r>
            <a:r>
              <a:rPr lang="en-US" b="1"/>
              <a:t> </a:t>
            </a:r>
            <a:r>
              <a:rPr lang="vi-VN" b="0"/>
              <a:t>ủy thác định dạng của đầu ra JSON từ các ứng dụng khách của bạn đến SQL Server</a:t>
            </a:r>
            <a:r>
              <a:rPr lang="en-US" b="0"/>
              <a:t>.</a:t>
            </a:r>
          </a:p>
        </p:txBody>
      </p:sp>
      <p:sp>
        <p:nvSpPr>
          <p:cNvPr id="4" name="Slide Number Placeholder 3"/>
          <p:cNvSpPr>
            <a:spLocks noGrp="1"/>
          </p:cNvSpPr>
          <p:nvPr>
            <p:ph type="sldNum" sz="quarter" idx="5"/>
          </p:nvPr>
        </p:nvSpPr>
        <p:spPr/>
        <p:txBody>
          <a:bodyPr/>
          <a:lstStyle/>
          <a:p>
            <a:fld id="{C6CBF4E2-7A86-4D12-B203-B65B8991E7E1}" type="slidenum">
              <a:rPr lang="en-US" smtClean="0"/>
              <a:t>21</a:t>
            </a:fld>
            <a:endParaRPr lang="en-US"/>
          </a:p>
        </p:txBody>
      </p:sp>
    </p:spTree>
    <p:extLst>
      <p:ext uri="{BB962C8B-B14F-4D97-AF65-F5344CB8AC3E}">
        <p14:creationId xmlns:p14="http://schemas.microsoft.com/office/powerpoint/2010/main" val="17215665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1"/>
              <a:t>Verbose Truncation</a:t>
            </a:r>
            <a:r>
              <a:rPr lang="en-US" b="1"/>
              <a:t> </a:t>
            </a:r>
            <a:r>
              <a:rPr lang="vi-VN" b="1"/>
              <a:t>Warnings</a:t>
            </a:r>
            <a:r>
              <a:rPr lang="en-US" b="1"/>
              <a:t> </a:t>
            </a:r>
            <a:r>
              <a:rPr lang="en-US"/>
              <a:t>giúp</a:t>
            </a:r>
            <a:r>
              <a:rPr lang="vi-VN"/>
              <a:t> việc xử lý sự cố dễ dàng bằng cách hiển thị các chi tiết bổ sung và chính xác trong các thông báo lỗi.</a:t>
            </a:r>
          </a:p>
          <a:p>
            <a:pPr marL="171450" indent="-171450">
              <a:buFont typeface="Arial" panose="020B0604020202020204" pitchFamily="34" charset="0"/>
              <a:buChar char="•"/>
            </a:pPr>
            <a:r>
              <a:rPr lang="vi-VN"/>
              <a:t>Đánh giá lỗ hổng SQL là một dịch vụ cung cấp khả năng hiển thị vào trạng thái bảo mật của bạn.</a:t>
            </a:r>
          </a:p>
          <a:p>
            <a:pPr marL="171450" indent="-171450">
              <a:buFont typeface="Arial" panose="020B0604020202020204" pitchFamily="34" charset="0"/>
              <a:buChar char="•"/>
            </a:pPr>
            <a:r>
              <a:rPr lang="vi-VN"/>
              <a:t>Báo cáo lỗ hổng liệt kê có bao nhiêu vấn đề đã được tìm thấy và mức độ nghiêm trọng tương ứng của họ.</a:t>
            </a:r>
          </a:p>
          <a:p>
            <a:pPr marL="171450" indent="-171450">
              <a:buFont typeface="Arial" panose="020B0604020202020204" pitchFamily="34" charset="0"/>
              <a:buChar char="•"/>
            </a:pPr>
            <a:r>
              <a:rPr lang="vi-VN"/>
              <a:t>Các cụm dữ liệu lớn của SQL Server cung cấp sự linh hoạt trong việc tương tác với dữ liệu lớn.</a:t>
            </a:r>
          </a:p>
          <a:p>
            <a:pPr marL="171450" indent="-171450">
              <a:buFont typeface="Arial" panose="020B0604020202020204" pitchFamily="34" charset="0"/>
              <a:buChar char="•"/>
            </a:pPr>
            <a:r>
              <a:rPr lang="vi-VN" b="1"/>
              <a:t>Kubernetes</a:t>
            </a:r>
            <a:r>
              <a:rPr lang="vi-VN"/>
              <a:t> là một dàn dựng container nguồn mở.</a:t>
            </a:r>
          </a:p>
          <a:p>
            <a:pPr marL="171450" indent="-171450">
              <a:buFont typeface="Arial" panose="020B0604020202020204" pitchFamily="34" charset="0"/>
              <a:buChar char="•"/>
            </a:pPr>
            <a:r>
              <a:rPr lang="vi-VN" b="1"/>
              <a:t>Kubernetes</a:t>
            </a:r>
            <a:r>
              <a:rPr lang="vi-VN"/>
              <a:t> chịu trách nhiệm cho trạng thái của các cụm dữ liệu lớn của SQL Server.</a:t>
            </a:r>
          </a:p>
          <a:p>
            <a:pPr marL="171450" indent="-171450">
              <a:buFont typeface="Arial" panose="020B0604020202020204" pitchFamily="34" charset="0"/>
              <a:buChar char="•"/>
            </a:pPr>
            <a:r>
              <a:rPr lang="vi-VN" b="1"/>
              <a:t>JSON</a:t>
            </a:r>
            <a:r>
              <a:rPr lang="vi-VN"/>
              <a:t> được sử dụng để lưu trữ dữ liệu phi cấu trúc trong các tệp nhật ký hoặc cơ sở dữ liệu NoSQL như Microsoft Azure Cosmos DB</a:t>
            </a:r>
            <a:endParaRPr lang="en-US"/>
          </a:p>
        </p:txBody>
      </p:sp>
      <p:sp>
        <p:nvSpPr>
          <p:cNvPr id="4" name="Slide Number Placeholder 3"/>
          <p:cNvSpPr>
            <a:spLocks noGrp="1"/>
          </p:cNvSpPr>
          <p:nvPr>
            <p:ph type="sldNum" sz="quarter" idx="5"/>
          </p:nvPr>
        </p:nvSpPr>
        <p:spPr/>
        <p:txBody>
          <a:bodyPr/>
          <a:lstStyle/>
          <a:p>
            <a:fld id="{C6CBF4E2-7A86-4D12-B203-B65B8991E7E1}" type="slidenum">
              <a:rPr lang="en-US" smtClean="0"/>
              <a:t>22</a:t>
            </a:fld>
            <a:endParaRPr lang="en-US"/>
          </a:p>
        </p:txBody>
      </p:sp>
    </p:spTree>
    <p:extLst>
      <p:ext uri="{BB962C8B-B14F-4D97-AF65-F5344CB8AC3E}">
        <p14:creationId xmlns:p14="http://schemas.microsoft.com/office/powerpoint/2010/main" val="751763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3540" y="15493"/>
            <a:ext cx="8376919"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45440" y="1159763"/>
            <a:ext cx="8453755" cy="4384675"/>
          </a:xfrm>
          <a:prstGeom prst="rect">
            <a:avLst/>
          </a:prstGeom>
        </p:spPr>
        <p:txBody>
          <a:bodyPr wrap="square" lIns="0" tIns="0" rIns="0" bIns="0">
            <a:spAutoFit/>
          </a:bodyPr>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10/30/2021</a:t>
            </a:fld>
            <a:endParaRPr lang="en-US"/>
          </a:p>
        </p:txBody>
      </p:sp>
      <p:sp>
        <p:nvSpPr>
          <p:cNvPr id="6" name="Holder 6"/>
          <p:cNvSpPr>
            <a:spLocks noGrp="1"/>
          </p:cNvSpPr>
          <p:nvPr>
            <p:ph type="sldNum" sz="quarter" idx="7"/>
          </p:nvPr>
        </p:nvSpPr>
        <p:spPr>
          <a:xfrm>
            <a:off x="7859268" y="6569709"/>
            <a:ext cx="958215"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617725" y="4147173"/>
            <a:ext cx="5780405" cy="1999614"/>
          </a:xfrm>
          <a:prstGeom prst="rect">
            <a:avLst/>
          </a:prstGeom>
        </p:spPr>
        <p:txBody>
          <a:bodyPr vert="horz" wrap="square" lIns="0" tIns="77470" rIns="0" bIns="0" rtlCol="0">
            <a:spAutoFit/>
          </a:bodyPr>
          <a:lstStyle/>
          <a:p>
            <a:pPr marL="1270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16</a:t>
            </a:r>
            <a:endParaRPr sz="2800">
              <a:latin typeface="Book Antiqua"/>
              <a:cs typeface="Book Antiqua"/>
            </a:endParaRPr>
          </a:p>
          <a:p>
            <a:pPr marL="1534160" marR="5080" indent="-1357630">
              <a:lnSpc>
                <a:spcPct val="101000"/>
              </a:lnSpc>
              <a:spcBef>
                <a:spcPts val="765"/>
              </a:spcBef>
              <a:tabLst>
                <a:tab pos="4624705" algn="l"/>
              </a:tabLst>
            </a:pPr>
            <a:r>
              <a:rPr sz="4500" b="1" i="1" dirty="0">
                <a:latin typeface="Book Antiqua"/>
                <a:cs typeface="Book Antiqua"/>
              </a:rPr>
              <a:t>Enhancements </a:t>
            </a:r>
            <a:r>
              <a:rPr sz="4500" b="1" i="1" spc="-5" dirty="0">
                <a:latin typeface="Book Antiqua"/>
                <a:cs typeface="Book Antiqua"/>
              </a:rPr>
              <a:t>i</a:t>
            </a:r>
            <a:r>
              <a:rPr sz="4500" b="1" i="1" dirty="0">
                <a:latin typeface="Book Antiqua"/>
                <a:cs typeface="Book Antiqua"/>
              </a:rPr>
              <a:t>n	</a:t>
            </a:r>
            <a:r>
              <a:rPr sz="4500" b="1" i="1" spc="-5" dirty="0">
                <a:latin typeface="Book Antiqua"/>
                <a:cs typeface="Book Antiqua"/>
              </a:rPr>
              <a:t>SQL  Server</a:t>
            </a:r>
            <a:r>
              <a:rPr sz="4500" b="1" i="1" spc="-15" dirty="0">
                <a:latin typeface="Book Antiqua"/>
                <a:cs typeface="Book Antiqua"/>
              </a:rPr>
              <a:t> </a:t>
            </a:r>
            <a:r>
              <a:rPr sz="4500" b="1" i="1" dirty="0">
                <a:latin typeface="Book Antiqua"/>
                <a:cs typeface="Book Antiqua"/>
              </a:rPr>
              <a:t>2019</a:t>
            </a:r>
            <a:endParaRPr sz="4500">
              <a:latin typeface="Book Antiqua"/>
              <a:cs typeface="Book Antiqua"/>
            </a:endParaRPr>
          </a:p>
        </p:txBody>
      </p:sp>
      <p:sp>
        <p:nvSpPr>
          <p:cNvPr id="7" name="object 7"/>
          <p:cNvSpPr txBox="1">
            <a:spLocks noGrp="1"/>
          </p:cNvSpPr>
          <p:nvPr>
            <p:ph type="title"/>
          </p:nvPr>
        </p:nvSpPr>
        <p:spPr>
          <a:xfrm>
            <a:off x="2885185" y="1379473"/>
            <a:ext cx="4539615" cy="1694180"/>
          </a:xfrm>
          <a:prstGeom prst="rect">
            <a:avLst/>
          </a:prstGeom>
        </p:spPr>
        <p:txBody>
          <a:bodyPr vert="horz" wrap="square" lIns="0" tIns="1270" rIns="0" bIns="0" rtlCol="0">
            <a:spAutoFit/>
          </a:bodyPr>
          <a:lstStyle/>
          <a:p>
            <a:pPr marL="12065" marR="5080" indent="-1270" algn="ctr">
              <a:lnSpc>
                <a:spcPct val="102099"/>
              </a:lnSpc>
              <a:spcBef>
                <a:spcPts val="10"/>
              </a:spcBef>
            </a:pPr>
            <a:r>
              <a:rPr sz="3600" b="1" spc="-5" dirty="0">
                <a:latin typeface="Times New Roman"/>
                <a:cs typeface="Times New Roman"/>
              </a:rPr>
              <a:t>Intelligent </a:t>
            </a:r>
            <a:r>
              <a:rPr sz="3600" b="1" spc="-25" dirty="0">
                <a:latin typeface="Times New Roman"/>
                <a:cs typeface="Times New Roman"/>
              </a:rPr>
              <a:t>Data  </a:t>
            </a:r>
            <a:r>
              <a:rPr sz="3600" b="1" spc="-35" dirty="0">
                <a:latin typeface="Times New Roman"/>
                <a:cs typeface="Times New Roman"/>
              </a:rPr>
              <a:t>Management </a:t>
            </a:r>
            <a:r>
              <a:rPr sz="3600" b="1" spc="45" dirty="0">
                <a:latin typeface="Times New Roman"/>
                <a:cs typeface="Times New Roman"/>
              </a:rPr>
              <a:t>with</a:t>
            </a:r>
            <a:r>
              <a:rPr sz="3600" b="1" spc="-409" dirty="0">
                <a:latin typeface="Times New Roman"/>
                <a:cs typeface="Times New Roman"/>
              </a:rPr>
              <a:t> </a:t>
            </a:r>
            <a:r>
              <a:rPr sz="3600" b="1" spc="10" dirty="0">
                <a:latin typeface="Times New Roman"/>
                <a:cs typeface="Times New Roman"/>
              </a:rPr>
              <a:t>SQL  </a:t>
            </a:r>
            <a:r>
              <a:rPr sz="3600" b="1" spc="-45" dirty="0">
                <a:latin typeface="Times New Roman"/>
                <a:cs typeface="Times New Roman"/>
              </a:rPr>
              <a:t>Server</a:t>
            </a:r>
            <a:endParaRPr sz="36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130" dirty="0"/>
              <a:t>Objectives</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83540" y="1463040"/>
            <a:ext cx="7209790" cy="1488440"/>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65" dirty="0">
                <a:latin typeface="Times New Roman"/>
                <a:cs typeface="Times New Roman"/>
              </a:rPr>
              <a:t>Describe</a:t>
            </a:r>
            <a:r>
              <a:rPr sz="2400" spc="-100"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95" dirty="0">
                <a:latin typeface="Times New Roman"/>
                <a:cs typeface="Times New Roman"/>
              </a:rPr>
              <a:t>importance</a:t>
            </a:r>
            <a:r>
              <a:rPr sz="2400" spc="-80"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105" dirty="0">
                <a:latin typeface="Times New Roman"/>
                <a:cs typeface="Times New Roman"/>
              </a:rPr>
              <a:t>new</a:t>
            </a:r>
            <a:r>
              <a:rPr sz="2400" spc="-100" dirty="0">
                <a:latin typeface="Times New Roman"/>
                <a:cs typeface="Times New Roman"/>
              </a:rPr>
              <a:t> </a:t>
            </a:r>
            <a:r>
              <a:rPr sz="2400" spc="90" dirty="0">
                <a:latin typeface="Times New Roman"/>
                <a:cs typeface="Times New Roman"/>
              </a:rPr>
              <a:t>error</a:t>
            </a:r>
            <a:r>
              <a:rPr sz="2400" spc="-90" dirty="0">
                <a:latin typeface="Times New Roman"/>
                <a:cs typeface="Times New Roman"/>
              </a:rPr>
              <a:t> </a:t>
            </a:r>
            <a:r>
              <a:rPr sz="2400" spc="30" dirty="0">
                <a:latin typeface="Times New Roman"/>
                <a:cs typeface="Times New Roman"/>
              </a:rPr>
              <a:t>messages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a:t>
            </a:r>
            <a:r>
              <a:rPr sz="2400" spc="-100" dirty="0">
                <a:latin typeface="Times New Roman"/>
                <a:cs typeface="Times New Roman"/>
              </a:rPr>
              <a:t> </a:t>
            </a:r>
            <a:r>
              <a:rPr sz="2400" spc="125" dirty="0">
                <a:latin typeface="Times New Roman"/>
                <a:cs typeface="Times New Roman"/>
              </a:rPr>
              <a:t>how</a:t>
            </a:r>
            <a:r>
              <a:rPr sz="2400" spc="-90"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90" dirty="0">
                <a:latin typeface="Times New Roman"/>
                <a:cs typeface="Times New Roman"/>
              </a:rPr>
              <a:t>perform</a:t>
            </a:r>
            <a:r>
              <a:rPr sz="2400" spc="-95" dirty="0">
                <a:latin typeface="Times New Roman"/>
                <a:cs typeface="Times New Roman"/>
              </a:rPr>
              <a:t> </a:t>
            </a:r>
            <a:r>
              <a:rPr sz="2400" spc="70" dirty="0">
                <a:latin typeface="Times New Roman"/>
                <a:cs typeface="Times New Roman"/>
              </a:rPr>
              <a:t>vulnerability</a:t>
            </a:r>
            <a:r>
              <a:rPr sz="2400" spc="-55" dirty="0">
                <a:latin typeface="Times New Roman"/>
                <a:cs typeface="Times New Roman"/>
              </a:rPr>
              <a:t> </a:t>
            </a:r>
            <a:r>
              <a:rPr sz="2400" spc="65" dirty="0">
                <a:latin typeface="Times New Roman"/>
                <a:cs typeface="Times New Roman"/>
              </a:rPr>
              <a:t>assessment</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 </a:t>
            </a:r>
            <a:r>
              <a:rPr sz="2400" spc="-35" dirty="0">
                <a:latin typeface="Times New Roman"/>
                <a:cs typeface="Times New Roman"/>
              </a:rPr>
              <a:t>Big </a:t>
            </a:r>
            <a:r>
              <a:rPr sz="2400" spc="100" dirty="0">
                <a:latin typeface="Times New Roman"/>
                <a:cs typeface="Times New Roman"/>
              </a:rPr>
              <a:t>Data</a:t>
            </a:r>
            <a:r>
              <a:rPr sz="2400" spc="-270" dirty="0">
                <a:latin typeface="Times New Roman"/>
                <a:cs typeface="Times New Roman"/>
              </a:rPr>
              <a:t> </a:t>
            </a:r>
            <a:r>
              <a:rPr sz="2400" spc="65" dirty="0">
                <a:latin typeface="Times New Roman"/>
                <a:cs typeface="Times New Roman"/>
              </a:rPr>
              <a:t>clusters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75" dirty="0">
                <a:latin typeface="Times New Roman"/>
                <a:cs typeface="Times New Roman"/>
              </a:rPr>
              <a:t> </a:t>
            </a:r>
            <a:r>
              <a:rPr sz="2400" spc="125" dirty="0">
                <a:latin typeface="Times New Roman"/>
                <a:cs typeface="Times New Roman"/>
              </a:rPr>
              <a:t>how</a:t>
            </a:r>
            <a:r>
              <a:rPr sz="2400" spc="-85" dirty="0">
                <a:latin typeface="Times New Roman"/>
                <a:cs typeface="Times New Roman"/>
              </a:rPr>
              <a:t> </a:t>
            </a:r>
            <a:r>
              <a:rPr sz="2400" spc="130" dirty="0">
                <a:latin typeface="Times New Roman"/>
                <a:cs typeface="Times New Roman"/>
              </a:rPr>
              <a:t>to</a:t>
            </a:r>
            <a:r>
              <a:rPr sz="2400" spc="-80" dirty="0">
                <a:latin typeface="Times New Roman"/>
                <a:cs typeface="Times New Roman"/>
              </a:rPr>
              <a:t> </a:t>
            </a:r>
            <a:r>
              <a:rPr sz="2400" spc="80" dirty="0">
                <a:latin typeface="Times New Roman"/>
                <a:cs typeface="Times New Roman"/>
              </a:rPr>
              <a:t>use</a:t>
            </a:r>
            <a:r>
              <a:rPr sz="2400" spc="-95" dirty="0">
                <a:latin typeface="Times New Roman"/>
                <a:cs typeface="Times New Roman"/>
              </a:rPr>
              <a:t> </a:t>
            </a:r>
            <a:r>
              <a:rPr sz="2400" spc="85" dirty="0">
                <a:latin typeface="Times New Roman"/>
                <a:cs typeface="Times New Roman"/>
              </a:rPr>
              <a:t>JSON</a:t>
            </a:r>
            <a:r>
              <a:rPr sz="2400" spc="-85" dirty="0">
                <a:latin typeface="Times New Roman"/>
                <a:cs typeface="Times New Roman"/>
              </a:rPr>
              <a:t> </a:t>
            </a:r>
            <a:r>
              <a:rPr sz="2400" spc="95" dirty="0">
                <a:latin typeface="Times New Roman"/>
                <a:cs typeface="Times New Roman"/>
              </a:rPr>
              <a:t>data</a:t>
            </a:r>
            <a:r>
              <a:rPr sz="2400" spc="-75" dirty="0">
                <a:latin typeface="Times New Roman"/>
                <a:cs typeface="Times New Roman"/>
              </a:rPr>
              <a:t> </a:t>
            </a:r>
            <a:r>
              <a:rPr sz="2400" spc="105" dirty="0">
                <a:latin typeface="Times New Roman"/>
                <a:cs typeface="Times New Roman"/>
              </a:rPr>
              <a:t>with</a:t>
            </a:r>
            <a:r>
              <a:rPr sz="2400" spc="-65" dirty="0">
                <a:latin typeface="Times New Roman"/>
                <a:cs typeface="Times New Roman"/>
              </a:rPr>
              <a:t> </a:t>
            </a:r>
            <a:r>
              <a:rPr sz="2400" spc="114" dirty="0">
                <a:latin typeface="Times New Roman"/>
                <a:cs typeface="Times New Roman"/>
              </a:rPr>
              <a:t>SQL</a:t>
            </a:r>
            <a:r>
              <a:rPr sz="2400" spc="-90" dirty="0">
                <a:latin typeface="Times New Roman"/>
                <a:cs typeface="Times New Roman"/>
              </a:rPr>
              <a:t> </a:t>
            </a:r>
            <a:r>
              <a:rPr sz="2400" spc="70" dirty="0">
                <a:latin typeface="Times New Roman"/>
                <a:cs typeface="Times New Roman"/>
              </a:rPr>
              <a:t>Server</a:t>
            </a:r>
            <a:r>
              <a:rPr sz="2400" spc="-100" dirty="0">
                <a:latin typeface="Times New Roman"/>
                <a:cs typeface="Times New Roman"/>
              </a:rPr>
              <a:t> </a:t>
            </a:r>
            <a:r>
              <a:rPr sz="2400" spc="-110" dirty="0">
                <a:latin typeface="Times New Roman"/>
                <a:cs typeface="Times New Roman"/>
              </a:rPr>
              <a:t>2019</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444105" cy="635635"/>
          </a:xfrm>
          <a:prstGeom prst="rect">
            <a:avLst/>
          </a:prstGeom>
        </p:spPr>
        <p:txBody>
          <a:bodyPr vert="horz" wrap="square" lIns="0" tIns="12700" rIns="0" bIns="0" rtlCol="0">
            <a:spAutoFit/>
          </a:bodyPr>
          <a:lstStyle/>
          <a:p>
            <a:pPr marL="12700">
              <a:lnSpc>
                <a:spcPct val="100000"/>
              </a:lnSpc>
              <a:spcBef>
                <a:spcPts val="100"/>
              </a:spcBef>
            </a:pPr>
            <a:r>
              <a:rPr lang="en-US" spc="150"/>
              <a:t>Verbose</a:t>
            </a:r>
            <a:r>
              <a:rPr lang="en-US" spc="-155"/>
              <a:t> </a:t>
            </a:r>
            <a:r>
              <a:rPr lang="en-US" spc="210"/>
              <a:t>Truncation</a:t>
            </a:r>
            <a:r>
              <a:rPr lang="en-US" spc="-155"/>
              <a:t> </a:t>
            </a:r>
            <a:r>
              <a:rPr lang="en-US" spc="200"/>
              <a:t>Warnings</a:t>
            </a:r>
            <a:r>
              <a:rPr lang="en-US" spc="-155"/>
              <a:t> </a:t>
            </a:r>
            <a:r>
              <a:rPr spc="-250"/>
              <a:t>1-</a:t>
            </a:r>
            <a:r>
              <a:rPr lang="en-US" spc="-250"/>
              <a:t>2</a:t>
            </a:r>
            <a:endParaRPr spc="-250" dirty="0"/>
          </a:p>
        </p:txBody>
      </p:sp>
      <p:sp>
        <p:nvSpPr>
          <p:cNvPr id="3" name="object 3"/>
          <p:cNvSpPr/>
          <p:nvPr/>
        </p:nvSpPr>
        <p:spPr>
          <a:xfrm>
            <a:off x="52578" y="916305"/>
            <a:ext cx="4519930" cy="1750695"/>
          </a:xfrm>
          <a:custGeom>
            <a:avLst/>
            <a:gdLst/>
            <a:ahLst/>
            <a:cxnLst/>
            <a:rect l="l" t="t" r="r" b="b"/>
            <a:pathLst>
              <a:path w="4519930" h="2512695">
                <a:moveTo>
                  <a:pt x="4519422" y="418719"/>
                </a:moveTo>
                <a:lnTo>
                  <a:pt x="4516602" y="369887"/>
                </a:lnTo>
                <a:lnTo>
                  <a:pt x="4508360" y="322707"/>
                </a:lnTo>
                <a:lnTo>
                  <a:pt x="4495012" y="277507"/>
                </a:lnTo>
                <a:lnTo>
                  <a:pt x="4476864" y="234581"/>
                </a:lnTo>
                <a:lnTo>
                  <a:pt x="4454233" y="194246"/>
                </a:lnTo>
                <a:lnTo>
                  <a:pt x="4427436" y="156832"/>
                </a:lnTo>
                <a:lnTo>
                  <a:pt x="4396778" y="122643"/>
                </a:lnTo>
                <a:lnTo>
                  <a:pt x="4362589" y="91986"/>
                </a:lnTo>
                <a:lnTo>
                  <a:pt x="4325175" y="65189"/>
                </a:lnTo>
                <a:lnTo>
                  <a:pt x="4284840" y="42557"/>
                </a:lnTo>
                <a:lnTo>
                  <a:pt x="4241914" y="24409"/>
                </a:lnTo>
                <a:lnTo>
                  <a:pt x="4196715" y="11061"/>
                </a:lnTo>
                <a:lnTo>
                  <a:pt x="4149534" y="2819"/>
                </a:lnTo>
                <a:lnTo>
                  <a:pt x="4100703" y="0"/>
                </a:lnTo>
                <a:lnTo>
                  <a:pt x="418731" y="0"/>
                </a:lnTo>
                <a:lnTo>
                  <a:pt x="369887" y="2819"/>
                </a:lnTo>
                <a:lnTo>
                  <a:pt x="322719" y="11061"/>
                </a:lnTo>
                <a:lnTo>
                  <a:pt x="277507" y="24409"/>
                </a:lnTo>
                <a:lnTo>
                  <a:pt x="234581" y="42557"/>
                </a:lnTo>
                <a:lnTo>
                  <a:pt x="194246" y="65189"/>
                </a:lnTo>
                <a:lnTo>
                  <a:pt x="156832" y="91986"/>
                </a:lnTo>
                <a:lnTo>
                  <a:pt x="122643" y="122643"/>
                </a:lnTo>
                <a:lnTo>
                  <a:pt x="91986" y="156832"/>
                </a:lnTo>
                <a:lnTo>
                  <a:pt x="65189" y="194246"/>
                </a:lnTo>
                <a:lnTo>
                  <a:pt x="42557" y="234581"/>
                </a:lnTo>
                <a:lnTo>
                  <a:pt x="24409" y="277507"/>
                </a:lnTo>
                <a:lnTo>
                  <a:pt x="11049" y="322707"/>
                </a:lnTo>
                <a:lnTo>
                  <a:pt x="2806" y="369887"/>
                </a:lnTo>
                <a:lnTo>
                  <a:pt x="0" y="418719"/>
                </a:lnTo>
                <a:lnTo>
                  <a:pt x="0" y="2093595"/>
                </a:lnTo>
                <a:lnTo>
                  <a:pt x="2806" y="2142439"/>
                </a:lnTo>
                <a:lnTo>
                  <a:pt x="11049" y="2189619"/>
                </a:lnTo>
                <a:lnTo>
                  <a:pt x="24409" y="2234819"/>
                </a:lnTo>
                <a:lnTo>
                  <a:pt x="42557" y="2277745"/>
                </a:lnTo>
                <a:lnTo>
                  <a:pt x="65189" y="2318080"/>
                </a:lnTo>
                <a:lnTo>
                  <a:pt x="91986" y="2355494"/>
                </a:lnTo>
                <a:lnTo>
                  <a:pt x="122643" y="2389682"/>
                </a:lnTo>
                <a:lnTo>
                  <a:pt x="156832" y="2420340"/>
                </a:lnTo>
                <a:lnTo>
                  <a:pt x="194246" y="2447137"/>
                </a:lnTo>
                <a:lnTo>
                  <a:pt x="234581" y="2469769"/>
                </a:lnTo>
                <a:lnTo>
                  <a:pt x="277507" y="2487917"/>
                </a:lnTo>
                <a:lnTo>
                  <a:pt x="322719" y="2501265"/>
                </a:lnTo>
                <a:lnTo>
                  <a:pt x="369887" y="2509507"/>
                </a:lnTo>
                <a:lnTo>
                  <a:pt x="418731" y="2512314"/>
                </a:lnTo>
                <a:lnTo>
                  <a:pt x="4100703" y="2512314"/>
                </a:lnTo>
                <a:lnTo>
                  <a:pt x="4149534" y="2509507"/>
                </a:lnTo>
                <a:lnTo>
                  <a:pt x="4196715" y="2501265"/>
                </a:lnTo>
                <a:lnTo>
                  <a:pt x="4241914" y="2487917"/>
                </a:lnTo>
                <a:lnTo>
                  <a:pt x="4284840" y="2469769"/>
                </a:lnTo>
                <a:lnTo>
                  <a:pt x="4325175" y="2447137"/>
                </a:lnTo>
                <a:lnTo>
                  <a:pt x="4362589" y="2420340"/>
                </a:lnTo>
                <a:lnTo>
                  <a:pt x="4396778" y="2389682"/>
                </a:lnTo>
                <a:lnTo>
                  <a:pt x="4427436" y="2355494"/>
                </a:lnTo>
                <a:lnTo>
                  <a:pt x="4454233" y="2318080"/>
                </a:lnTo>
                <a:lnTo>
                  <a:pt x="4476864" y="2277745"/>
                </a:lnTo>
                <a:lnTo>
                  <a:pt x="4495012" y="2234819"/>
                </a:lnTo>
                <a:lnTo>
                  <a:pt x="4508360" y="2189619"/>
                </a:lnTo>
                <a:lnTo>
                  <a:pt x="4516602" y="2142439"/>
                </a:lnTo>
                <a:lnTo>
                  <a:pt x="4519422" y="2093595"/>
                </a:lnTo>
                <a:lnTo>
                  <a:pt x="4519422" y="418719"/>
                </a:lnTo>
                <a:close/>
              </a:path>
            </a:pathLst>
          </a:custGeom>
          <a:solidFill>
            <a:srgbClr val="9BBA58"/>
          </a:solidFill>
        </p:spPr>
        <p:txBody>
          <a:bodyPr wrap="square" lIns="0" tIns="0" rIns="0" bIns="0" rtlCol="0"/>
          <a:lstStyle/>
          <a:p>
            <a:endParaRPr/>
          </a:p>
        </p:txBody>
      </p:sp>
      <p:sp>
        <p:nvSpPr>
          <p:cNvPr id="4" name="object 4"/>
          <p:cNvSpPr txBox="1"/>
          <p:nvPr/>
        </p:nvSpPr>
        <p:spPr>
          <a:xfrm>
            <a:off x="279908" y="922086"/>
            <a:ext cx="4065270" cy="1618007"/>
          </a:xfrm>
          <a:prstGeom prst="rect">
            <a:avLst/>
          </a:prstGeom>
        </p:spPr>
        <p:txBody>
          <a:bodyPr vert="horz" wrap="square" lIns="0" tIns="50165" rIns="0" bIns="0" rtlCol="0">
            <a:spAutoFit/>
          </a:bodyPr>
          <a:lstStyle/>
          <a:p>
            <a:pPr marL="355600" marR="180340" indent="-342900" algn="just">
              <a:lnSpc>
                <a:spcPts val="2380"/>
              </a:lnSpc>
              <a:spcBef>
                <a:spcPts val="395"/>
              </a:spcBef>
              <a:buFont typeface="Wingdings"/>
              <a:buChar char=""/>
              <a:tabLst>
                <a:tab pos="355600" algn="l"/>
              </a:tabLst>
            </a:pPr>
            <a:r>
              <a:rPr spc="-5" dirty="0">
                <a:solidFill>
                  <a:srgbClr val="FFFFFF"/>
                </a:solidFill>
                <a:latin typeface="Times New Roman"/>
                <a:cs typeface="Times New Roman"/>
              </a:rPr>
              <a:t>Is</a:t>
            </a:r>
            <a:r>
              <a:rPr spc="-95" dirty="0">
                <a:solidFill>
                  <a:srgbClr val="FFFFFF"/>
                </a:solidFill>
                <a:latin typeface="Times New Roman"/>
                <a:cs typeface="Times New Roman"/>
              </a:rPr>
              <a:t> </a:t>
            </a:r>
            <a:r>
              <a:rPr spc="114" dirty="0">
                <a:solidFill>
                  <a:srgbClr val="FFFFFF"/>
                </a:solidFill>
                <a:latin typeface="Times New Roman"/>
                <a:cs typeface="Times New Roman"/>
              </a:rPr>
              <a:t>one</a:t>
            </a:r>
            <a:r>
              <a:rPr spc="-110" dirty="0">
                <a:solidFill>
                  <a:srgbClr val="FFFFFF"/>
                </a:solidFill>
                <a:latin typeface="Times New Roman"/>
                <a:cs typeface="Times New Roman"/>
              </a:rPr>
              <a:t> </a:t>
            </a:r>
            <a:r>
              <a:rPr spc="65" dirty="0">
                <a:solidFill>
                  <a:srgbClr val="FFFFFF"/>
                </a:solidFill>
                <a:latin typeface="Times New Roman"/>
                <a:cs typeface="Times New Roman"/>
              </a:rPr>
              <a:t>of</a:t>
            </a:r>
            <a:r>
              <a:rPr spc="-95" dirty="0">
                <a:solidFill>
                  <a:srgbClr val="FFFFFF"/>
                </a:solidFill>
                <a:latin typeface="Times New Roman"/>
                <a:cs typeface="Times New Roman"/>
              </a:rPr>
              <a:t> </a:t>
            </a:r>
            <a:r>
              <a:rPr spc="125" dirty="0">
                <a:solidFill>
                  <a:srgbClr val="FFFFFF"/>
                </a:solidFill>
                <a:latin typeface="Times New Roman"/>
                <a:cs typeface="Times New Roman"/>
              </a:rPr>
              <a:t>the</a:t>
            </a:r>
            <a:r>
              <a:rPr spc="-100" dirty="0">
                <a:solidFill>
                  <a:srgbClr val="FFFFFF"/>
                </a:solidFill>
                <a:latin typeface="Times New Roman"/>
                <a:cs typeface="Times New Roman"/>
              </a:rPr>
              <a:t> </a:t>
            </a:r>
            <a:r>
              <a:rPr spc="60" dirty="0">
                <a:solidFill>
                  <a:srgbClr val="FFFFFF"/>
                </a:solidFill>
                <a:latin typeface="Times New Roman"/>
                <a:cs typeface="Times New Roman"/>
              </a:rPr>
              <a:t>greatest</a:t>
            </a:r>
            <a:r>
              <a:rPr spc="-110" dirty="0">
                <a:solidFill>
                  <a:srgbClr val="FFFFFF"/>
                </a:solidFill>
                <a:latin typeface="Times New Roman"/>
                <a:cs typeface="Times New Roman"/>
              </a:rPr>
              <a:t> </a:t>
            </a:r>
            <a:r>
              <a:rPr spc="70" dirty="0">
                <a:solidFill>
                  <a:srgbClr val="FFFFFF"/>
                </a:solidFill>
                <a:latin typeface="Times New Roman"/>
                <a:cs typeface="Times New Roman"/>
              </a:rPr>
              <a:t>features  </a:t>
            </a:r>
            <a:r>
              <a:rPr spc="100" dirty="0">
                <a:solidFill>
                  <a:srgbClr val="FFFFFF"/>
                </a:solidFill>
                <a:latin typeface="Times New Roman"/>
                <a:cs typeface="Times New Roman"/>
              </a:rPr>
              <a:t>launched</a:t>
            </a:r>
            <a:r>
              <a:rPr spc="-120" dirty="0">
                <a:solidFill>
                  <a:srgbClr val="FFFFFF"/>
                </a:solidFill>
                <a:latin typeface="Times New Roman"/>
                <a:cs typeface="Times New Roman"/>
              </a:rPr>
              <a:t> </a:t>
            </a:r>
            <a:r>
              <a:rPr spc="105" dirty="0">
                <a:solidFill>
                  <a:srgbClr val="FFFFFF"/>
                </a:solidFill>
                <a:latin typeface="Times New Roman"/>
                <a:cs typeface="Times New Roman"/>
              </a:rPr>
              <a:t>in</a:t>
            </a:r>
            <a:r>
              <a:rPr spc="-105" dirty="0">
                <a:solidFill>
                  <a:srgbClr val="FFFFFF"/>
                </a:solidFill>
                <a:latin typeface="Times New Roman"/>
                <a:cs typeface="Times New Roman"/>
              </a:rPr>
              <a:t> </a:t>
            </a:r>
            <a:r>
              <a:rPr spc="110" dirty="0">
                <a:solidFill>
                  <a:srgbClr val="FFFFFF"/>
                </a:solidFill>
                <a:latin typeface="Times New Roman"/>
                <a:cs typeface="Times New Roman"/>
              </a:rPr>
              <a:t>SQL</a:t>
            </a:r>
            <a:r>
              <a:rPr spc="-110" dirty="0">
                <a:solidFill>
                  <a:srgbClr val="FFFFFF"/>
                </a:solidFill>
                <a:latin typeface="Times New Roman"/>
                <a:cs typeface="Times New Roman"/>
              </a:rPr>
              <a:t> </a:t>
            </a:r>
            <a:r>
              <a:rPr spc="70" dirty="0">
                <a:solidFill>
                  <a:srgbClr val="FFFFFF"/>
                </a:solidFill>
                <a:latin typeface="Times New Roman"/>
                <a:cs typeface="Times New Roman"/>
              </a:rPr>
              <a:t>Server</a:t>
            </a:r>
            <a:r>
              <a:rPr spc="-110" dirty="0">
                <a:solidFill>
                  <a:srgbClr val="FFFFFF"/>
                </a:solidFill>
                <a:latin typeface="Times New Roman"/>
                <a:cs typeface="Times New Roman"/>
              </a:rPr>
              <a:t> </a:t>
            </a:r>
            <a:r>
              <a:rPr spc="-80">
                <a:solidFill>
                  <a:srgbClr val="FFFFFF"/>
                </a:solidFill>
                <a:latin typeface="Times New Roman"/>
                <a:cs typeface="Times New Roman"/>
              </a:rPr>
              <a:t>2019.</a:t>
            </a:r>
            <a:endParaRPr lang="en-US" spc="-80">
              <a:solidFill>
                <a:srgbClr val="FFFFFF"/>
              </a:solidFill>
              <a:latin typeface="Times New Roman"/>
              <a:cs typeface="Times New Roman"/>
            </a:endParaRPr>
          </a:p>
          <a:p>
            <a:pPr marL="355600" marR="180340" indent="-342900" algn="just">
              <a:lnSpc>
                <a:spcPts val="2380"/>
              </a:lnSpc>
              <a:spcBef>
                <a:spcPts val="395"/>
              </a:spcBef>
              <a:buFont typeface="Wingdings"/>
              <a:buChar char=""/>
              <a:tabLst>
                <a:tab pos="355600" algn="l"/>
              </a:tabLst>
            </a:pPr>
            <a:r>
              <a:rPr lang="en-US" spc="45">
                <a:solidFill>
                  <a:srgbClr val="FFFFFF"/>
                </a:solidFill>
                <a:latin typeface="Times New Roman"/>
                <a:cs typeface="Times New Roman"/>
              </a:rPr>
              <a:t>It saves a lot of time while importing, inserting, and updating huge amount of data</a:t>
            </a:r>
            <a:r>
              <a:rPr spc="70">
                <a:solidFill>
                  <a:srgbClr val="FFFFFF"/>
                </a:solidFill>
                <a:latin typeface="Times New Roman"/>
                <a:cs typeface="Times New Roman"/>
              </a:rPr>
              <a:t>.</a:t>
            </a:r>
            <a:endParaRPr>
              <a:latin typeface="Times New Roman"/>
              <a:cs typeface="Times New Roman"/>
            </a:endParaRPr>
          </a:p>
        </p:txBody>
      </p:sp>
      <p:sp>
        <p:nvSpPr>
          <p:cNvPr id="6" name="object 6"/>
          <p:cNvSpPr txBox="1"/>
          <p:nvPr/>
        </p:nvSpPr>
        <p:spPr>
          <a:xfrm>
            <a:off x="1446720" y="6287865"/>
            <a:ext cx="173164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General </a:t>
            </a:r>
            <a:r>
              <a:rPr sz="1400" b="1" spc="-75" dirty="0">
                <a:latin typeface="Times New Roman"/>
                <a:cs typeface="Times New Roman"/>
              </a:rPr>
              <a:t>Error</a:t>
            </a:r>
            <a:r>
              <a:rPr sz="1400" b="1" spc="-170" dirty="0">
                <a:latin typeface="Times New Roman"/>
                <a:cs typeface="Times New Roman"/>
              </a:rPr>
              <a:t> </a:t>
            </a:r>
            <a:r>
              <a:rPr sz="1400" b="1" spc="-20" dirty="0">
                <a:latin typeface="Times New Roman"/>
                <a:cs typeface="Times New Roman"/>
              </a:rPr>
              <a:t>Message</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3" name="TextBox 12">
            <a:extLst>
              <a:ext uri="{FF2B5EF4-FFF2-40B4-BE49-F238E27FC236}">
                <a16:creationId xmlns:a16="http://schemas.microsoft.com/office/drawing/2014/main" id="{4BE72391-72D5-4BD2-89A1-5EE8BBD8FBC2}"/>
              </a:ext>
            </a:extLst>
          </p:cNvPr>
          <p:cNvSpPr txBox="1"/>
          <p:nvPr/>
        </p:nvSpPr>
        <p:spPr>
          <a:xfrm>
            <a:off x="4776061" y="916305"/>
            <a:ext cx="4024489"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a:t>USE [master]</a:t>
            </a:r>
          </a:p>
          <a:p>
            <a:r>
              <a:rPr lang="en-US" sz="1400"/>
              <a:t>GO</a:t>
            </a:r>
          </a:p>
          <a:p>
            <a:r>
              <a:rPr lang="en-US" sz="1400"/>
              <a:t>--Create Sample Database</a:t>
            </a:r>
          </a:p>
          <a:p>
            <a:r>
              <a:rPr lang="en-US" sz="1400"/>
              <a:t>CREATE DATABASE [Sample DB 2017]</a:t>
            </a:r>
          </a:p>
          <a:p>
            <a:r>
              <a:rPr lang="en-US" sz="1400"/>
              <a:t>GO</a:t>
            </a:r>
          </a:p>
          <a:p>
            <a:r>
              <a:rPr lang="en-US" sz="1400"/>
              <a:t>ALTER DATABASE [Sample DB 2017]</a:t>
            </a:r>
          </a:p>
          <a:p>
            <a:r>
              <a:rPr lang="en-US" sz="1400"/>
              <a:t>SET COMPATIBILITY_LEVEL = 140 -- SQL Server 2017</a:t>
            </a:r>
          </a:p>
          <a:p>
            <a:r>
              <a:rPr lang="en-US" sz="1400"/>
              <a:t>GO </a:t>
            </a:r>
          </a:p>
        </p:txBody>
      </p:sp>
      <p:sp>
        <p:nvSpPr>
          <p:cNvPr id="15" name="TextBox 14">
            <a:extLst>
              <a:ext uri="{FF2B5EF4-FFF2-40B4-BE49-F238E27FC236}">
                <a16:creationId xmlns:a16="http://schemas.microsoft.com/office/drawing/2014/main" id="{3C4BD57D-2A44-4678-904B-5E583C1A8E2B}"/>
              </a:ext>
            </a:extLst>
          </p:cNvPr>
          <p:cNvSpPr txBox="1"/>
          <p:nvPr/>
        </p:nvSpPr>
        <p:spPr>
          <a:xfrm>
            <a:off x="4776060" y="3179322"/>
            <a:ext cx="4041423" cy="310854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a:t>USE [Sample DB 2017]</a:t>
            </a:r>
          </a:p>
          <a:p>
            <a:r>
              <a:rPr lang="en-US" sz="1400"/>
              <a:t>GO</a:t>
            </a:r>
          </a:p>
          <a:p>
            <a:r>
              <a:rPr lang="en-US" sz="1400"/>
              <a:t>CREATE TABLE [dbo].[tbl_Color]( </a:t>
            </a:r>
          </a:p>
          <a:p>
            <a:r>
              <a:rPr lang="en-US" sz="1400"/>
              <a:t>	[Color ID] [int] IDENTITY(1,1) NOT NULL, 	[Color Name] [varchar](3) NULL </a:t>
            </a:r>
          </a:p>
          <a:p>
            <a:r>
              <a:rPr lang="en-US" sz="1400"/>
              <a:t>) ON [PRIMARY] </a:t>
            </a:r>
          </a:p>
          <a:p>
            <a:r>
              <a:rPr lang="en-US" sz="1400"/>
              <a:t>GO</a:t>
            </a:r>
          </a:p>
          <a:p>
            <a:r>
              <a:rPr lang="en-US" sz="1400"/>
              <a:t>INSERT INTO [dbo].[tbl_Color] </a:t>
            </a:r>
          </a:p>
          <a:p>
            <a:r>
              <a:rPr lang="en-US" sz="1400"/>
              <a:t>	([Color Name]) </a:t>
            </a:r>
          </a:p>
          <a:p>
            <a:r>
              <a:rPr lang="en-US" sz="1400"/>
              <a:t>              VALUES </a:t>
            </a:r>
          </a:p>
          <a:p>
            <a:pPr lvl="2"/>
            <a:r>
              <a:rPr lang="en-US" sz="1400"/>
              <a:t>('Red’), </a:t>
            </a:r>
          </a:p>
          <a:p>
            <a:pPr lvl="2"/>
            <a:r>
              <a:rPr lang="en-US" sz="1400"/>
              <a:t>('Blue’), </a:t>
            </a:r>
          </a:p>
          <a:p>
            <a:pPr lvl="2"/>
            <a:r>
              <a:rPr lang="en-US" sz="1400"/>
              <a:t>('Green’) </a:t>
            </a:r>
          </a:p>
          <a:p>
            <a:r>
              <a:rPr lang="en-US" sz="1400"/>
              <a:t>GO</a:t>
            </a:r>
          </a:p>
        </p:txBody>
      </p:sp>
      <p:pic>
        <p:nvPicPr>
          <p:cNvPr id="17" name="Picture 16">
            <a:extLst>
              <a:ext uri="{FF2B5EF4-FFF2-40B4-BE49-F238E27FC236}">
                <a16:creationId xmlns:a16="http://schemas.microsoft.com/office/drawing/2014/main" id="{80410FC9-4B49-473D-BDC4-264447D18C59}"/>
              </a:ext>
            </a:extLst>
          </p:cNvPr>
          <p:cNvPicPr>
            <a:picLocks noChangeAspect="1"/>
          </p:cNvPicPr>
          <p:nvPr/>
        </p:nvPicPr>
        <p:blipFill>
          <a:blip r:embed="rId3"/>
          <a:stretch>
            <a:fillRect/>
          </a:stretch>
        </p:blipFill>
        <p:spPr>
          <a:xfrm>
            <a:off x="971549" y="2758168"/>
            <a:ext cx="2881992" cy="34609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444105" cy="635635"/>
          </a:xfrm>
          <a:prstGeom prst="rect">
            <a:avLst/>
          </a:prstGeom>
        </p:spPr>
        <p:txBody>
          <a:bodyPr vert="horz" wrap="square" lIns="0" tIns="12700" rIns="0" bIns="0" rtlCol="0">
            <a:spAutoFit/>
          </a:bodyPr>
          <a:lstStyle/>
          <a:p>
            <a:pPr marL="12700">
              <a:lnSpc>
                <a:spcPct val="100000"/>
              </a:lnSpc>
              <a:spcBef>
                <a:spcPts val="100"/>
              </a:spcBef>
            </a:pPr>
            <a:r>
              <a:rPr lang="en-US" spc="150"/>
              <a:t>Verbose</a:t>
            </a:r>
            <a:r>
              <a:rPr lang="en-US" spc="-155"/>
              <a:t> </a:t>
            </a:r>
            <a:r>
              <a:rPr lang="en-US" spc="210"/>
              <a:t>Truncation</a:t>
            </a:r>
            <a:r>
              <a:rPr lang="en-US" spc="-155"/>
              <a:t> </a:t>
            </a:r>
            <a:r>
              <a:rPr lang="en-US" spc="200"/>
              <a:t>Warnings</a:t>
            </a:r>
            <a:r>
              <a:rPr lang="en-US" spc="-155"/>
              <a:t> </a:t>
            </a:r>
            <a:r>
              <a:rPr lang="en-US" spc="-250"/>
              <a:t>2</a:t>
            </a:r>
            <a:r>
              <a:rPr spc="-250"/>
              <a:t>-</a:t>
            </a:r>
            <a:r>
              <a:rPr lang="en-US" spc="-250"/>
              <a:t>2</a:t>
            </a:r>
            <a:endParaRPr spc="-250" dirty="0"/>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3" name="TextBox 12">
            <a:extLst>
              <a:ext uri="{FF2B5EF4-FFF2-40B4-BE49-F238E27FC236}">
                <a16:creationId xmlns:a16="http://schemas.microsoft.com/office/drawing/2014/main" id="{4BE72391-72D5-4BD2-89A1-5EE8BBD8FBC2}"/>
              </a:ext>
            </a:extLst>
          </p:cNvPr>
          <p:cNvSpPr txBox="1"/>
          <p:nvPr/>
        </p:nvSpPr>
        <p:spPr>
          <a:xfrm>
            <a:off x="76200" y="865146"/>
            <a:ext cx="4024489" cy="116955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a:t>USE [master]</a:t>
            </a:r>
          </a:p>
          <a:p>
            <a:r>
              <a:rPr lang="en-US" sz="1400"/>
              <a:t>GO</a:t>
            </a:r>
          </a:p>
          <a:p>
            <a:r>
              <a:rPr lang="en-US" sz="1400"/>
              <a:t>--Create Sample Database</a:t>
            </a:r>
          </a:p>
          <a:p>
            <a:r>
              <a:rPr lang="en-US" sz="1400"/>
              <a:t>CREATE DATABASE [Sample DB 2019]</a:t>
            </a:r>
          </a:p>
          <a:p>
            <a:r>
              <a:rPr lang="en-US" sz="1400"/>
              <a:t>GO</a:t>
            </a:r>
          </a:p>
        </p:txBody>
      </p:sp>
      <p:sp>
        <p:nvSpPr>
          <p:cNvPr id="15" name="TextBox 14">
            <a:extLst>
              <a:ext uri="{FF2B5EF4-FFF2-40B4-BE49-F238E27FC236}">
                <a16:creationId xmlns:a16="http://schemas.microsoft.com/office/drawing/2014/main" id="{3C4BD57D-2A44-4678-904B-5E583C1A8E2B}"/>
              </a:ext>
            </a:extLst>
          </p:cNvPr>
          <p:cNvSpPr txBox="1"/>
          <p:nvPr/>
        </p:nvSpPr>
        <p:spPr>
          <a:xfrm>
            <a:off x="76200" y="2377857"/>
            <a:ext cx="4041423" cy="310854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a:t>USE [Sample DB 2019]</a:t>
            </a:r>
          </a:p>
          <a:p>
            <a:r>
              <a:rPr lang="en-US" sz="1400"/>
              <a:t>GO</a:t>
            </a:r>
          </a:p>
          <a:p>
            <a:r>
              <a:rPr lang="en-US" sz="1400"/>
              <a:t>CREATE TABLE [dbo].[tbl_Color]( </a:t>
            </a:r>
          </a:p>
          <a:p>
            <a:r>
              <a:rPr lang="en-US" sz="1400"/>
              <a:t>	[Color ID] [int] IDENTITY(1,1) NOT NULL,</a:t>
            </a:r>
          </a:p>
          <a:p>
            <a:r>
              <a:rPr lang="en-US" sz="1400"/>
              <a:t>	 [Color Name] [varchar](3) NULL </a:t>
            </a:r>
          </a:p>
          <a:p>
            <a:r>
              <a:rPr lang="en-US" sz="1400"/>
              <a:t>) ON [PRIMARY] </a:t>
            </a:r>
          </a:p>
          <a:p>
            <a:r>
              <a:rPr lang="en-US" sz="1400"/>
              <a:t>GO </a:t>
            </a:r>
          </a:p>
          <a:p>
            <a:r>
              <a:rPr lang="en-US" sz="1400"/>
              <a:t>INSERT INTO [dbo].[tbl_Color] </a:t>
            </a:r>
          </a:p>
          <a:p>
            <a:r>
              <a:rPr lang="en-US" sz="1400"/>
              <a:t>		([Color Name]) </a:t>
            </a:r>
          </a:p>
          <a:p>
            <a:r>
              <a:rPr lang="en-US" sz="1400"/>
              <a:t>	VALUES </a:t>
            </a:r>
          </a:p>
          <a:p>
            <a:r>
              <a:rPr lang="en-US" sz="1400"/>
              <a:t>		('Red’), </a:t>
            </a:r>
          </a:p>
          <a:p>
            <a:r>
              <a:rPr lang="en-US" sz="1400"/>
              <a:t>		('Blue’), </a:t>
            </a:r>
          </a:p>
          <a:p>
            <a:r>
              <a:rPr lang="en-US" sz="1400"/>
              <a:t>		('Green’) </a:t>
            </a:r>
          </a:p>
          <a:p>
            <a:r>
              <a:rPr lang="en-US" sz="1400"/>
              <a:t>GO</a:t>
            </a:r>
          </a:p>
        </p:txBody>
      </p:sp>
      <p:pic>
        <p:nvPicPr>
          <p:cNvPr id="7" name="Picture 6">
            <a:extLst>
              <a:ext uri="{FF2B5EF4-FFF2-40B4-BE49-F238E27FC236}">
                <a16:creationId xmlns:a16="http://schemas.microsoft.com/office/drawing/2014/main" id="{E74D2D08-9547-4867-BC58-F8EB9846882B}"/>
              </a:ext>
            </a:extLst>
          </p:cNvPr>
          <p:cNvPicPr>
            <a:picLocks noChangeAspect="1"/>
          </p:cNvPicPr>
          <p:nvPr/>
        </p:nvPicPr>
        <p:blipFill>
          <a:blip r:embed="rId3"/>
          <a:stretch>
            <a:fillRect/>
          </a:stretch>
        </p:blipFill>
        <p:spPr>
          <a:xfrm>
            <a:off x="4230511" y="3058886"/>
            <a:ext cx="4799590" cy="2630713"/>
          </a:xfrm>
          <a:prstGeom prst="rect">
            <a:avLst/>
          </a:prstGeom>
        </p:spPr>
      </p:pic>
      <p:sp>
        <p:nvSpPr>
          <p:cNvPr id="14" name="object 3">
            <a:extLst>
              <a:ext uri="{FF2B5EF4-FFF2-40B4-BE49-F238E27FC236}">
                <a16:creationId xmlns:a16="http://schemas.microsoft.com/office/drawing/2014/main" id="{7995D059-7802-428A-A04A-EF8E6EA3788D}"/>
              </a:ext>
            </a:extLst>
          </p:cNvPr>
          <p:cNvSpPr/>
          <p:nvPr/>
        </p:nvSpPr>
        <p:spPr>
          <a:xfrm>
            <a:off x="4572000" y="844215"/>
            <a:ext cx="3886200" cy="1898985"/>
          </a:xfrm>
          <a:custGeom>
            <a:avLst/>
            <a:gdLst/>
            <a:ahLst/>
            <a:cxnLst/>
            <a:rect l="l" t="t" r="r" b="b"/>
            <a:pathLst>
              <a:path w="4389120" h="2774950">
                <a:moveTo>
                  <a:pt x="4389120" y="462407"/>
                </a:moveTo>
                <a:lnTo>
                  <a:pt x="4386732" y="415137"/>
                </a:lnTo>
                <a:lnTo>
                  <a:pt x="4379722" y="369214"/>
                </a:lnTo>
                <a:lnTo>
                  <a:pt x="4368330" y="324904"/>
                </a:lnTo>
                <a:lnTo>
                  <a:pt x="4352772" y="282422"/>
                </a:lnTo>
                <a:lnTo>
                  <a:pt x="4333303" y="241998"/>
                </a:lnTo>
                <a:lnTo>
                  <a:pt x="4310151" y="203873"/>
                </a:lnTo>
                <a:lnTo>
                  <a:pt x="4283532" y="168275"/>
                </a:lnTo>
                <a:lnTo>
                  <a:pt x="4253687" y="135432"/>
                </a:lnTo>
                <a:lnTo>
                  <a:pt x="4220845" y="105587"/>
                </a:lnTo>
                <a:lnTo>
                  <a:pt x="4185247" y="78968"/>
                </a:lnTo>
                <a:lnTo>
                  <a:pt x="4147121" y="55816"/>
                </a:lnTo>
                <a:lnTo>
                  <a:pt x="4106697" y="36347"/>
                </a:lnTo>
                <a:lnTo>
                  <a:pt x="4064216" y="20789"/>
                </a:lnTo>
                <a:lnTo>
                  <a:pt x="4019905" y="9398"/>
                </a:lnTo>
                <a:lnTo>
                  <a:pt x="3973982" y="2387"/>
                </a:lnTo>
                <a:lnTo>
                  <a:pt x="3926713" y="0"/>
                </a:lnTo>
                <a:lnTo>
                  <a:pt x="462419" y="0"/>
                </a:lnTo>
                <a:lnTo>
                  <a:pt x="415137" y="2387"/>
                </a:lnTo>
                <a:lnTo>
                  <a:pt x="369214" y="9398"/>
                </a:lnTo>
                <a:lnTo>
                  <a:pt x="324904" y="20789"/>
                </a:lnTo>
                <a:lnTo>
                  <a:pt x="282422" y="36347"/>
                </a:lnTo>
                <a:lnTo>
                  <a:pt x="241998" y="55816"/>
                </a:lnTo>
                <a:lnTo>
                  <a:pt x="203873" y="78968"/>
                </a:lnTo>
                <a:lnTo>
                  <a:pt x="168275" y="105587"/>
                </a:lnTo>
                <a:lnTo>
                  <a:pt x="135432" y="135432"/>
                </a:lnTo>
                <a:lnTo>
                  <a:pt x="105587" y="168275"/>
                </a:lnTo>
                <a:lnTo>
                  <a:pt x="78968" y="203873"/>
                </a:lnTo>
                <a:lnTo>
                  <a:pt x="55803" y="241998"/>
                </a:lnTo>
                <a:lnTo>
                  <a:pt x="36334" y="282422"/>
                </a:lnTo>
                <a:lnTo>
                  <a:pt x="20777" y="324904"/>
                </a:lnTo>
                <a:lnTo>
                  <a:pt x="9385" y="369214"/>
                </a:lnTo>
                <a:lnTo>
                  <a:pt x="2374" y="415137"/>
                </a:lnTo>
                <a:lnTo>
                  <a:pt x="0" y="462407"/>
                </a:lnTo>
                <a:lnTo>
                  <a:pt x="0" y="2312035"/>
                </a:lnTo>
                <a:lnTo>
                  <a:pt x="2374" y="2359317"/>
                </a:lnTo>
                <a:lnTo>
                  <a:pt x="9385" y="2405240"/>
                </a:lnTo>
                <a:lnTo>
                  <a:pt x="20777" y="2449550"/>
                </a:lnTo>
                <a:lnTo>
                  <a:pt x="36334" y="2492032"/>
                </a:lnTo>
                <a:lnTo>
                  <a:pt x="55803" y="2532456"/>
                </a:lnTo>
                <a:lnTo>
                  <a:pt x="78968" y="2570581"/>
                </a:lnTo>
                <a:lnTo>
                  <a:pt x="105587" y="2606179"/>
                </a:lnTo>
                <a:lnTo>
                  <a:pt x="135432" y="2639022"/>
                </a:lnTo>
                <a:lnTo>
                  <a:pt x="168275" y="2668867"/>
                </a:lnTo>
                <a:lnTo>
                  <a:pt x="203873" y="2695486"/>
                </a:lnTo>
                <a:lnTo>
                  <a:pt x="241998" y="2718638"/>
                </a:lnTo>
                <a:lnTo>
                  <a:pt x="282422" y="2738107"/>
                </a:lnTo>
                <a:lnTo>
                  <a:pt x="324904" y="2753664"/>
                </a:lnTo>
                <a:lnTo>
                  <a:pt x="369214" y="2765056"/>
                </a:lnTo>
                <a:lnTo>
                  <a:pt x="415137" y="2772067"/>
                </a:lnTo>
                <a:lnTo>
                  <a:pt x="462419" y="2774442"/>
                </a:lnTo>
                <a:lnTo>
                  <a:pt x="3926713" y="2774442"/>
                </a:lnTo>
                <a:lnTo>
                  <a:pt x="3973982" y="2772067"/>
                </a:lnTo>
                <a:lnTo>
                  <a:pt x="4019905" y="2765056"/>
                </a:lnTo>
                <a:lnTo>
                  <a:pt x="4064216" y="2753664"/>
                </a:lnTo>
                <a:lnTo>
                  <a:pt x="4106697" y="2738107"/>
                </a:lnTo>
                <a:lnTo>
                  <a:pt x="4147121" y="2718638"/>
                </a:lnTo>
                <a:lnTo>
                  <a:pt x="4185247" y="2695486"/>
                </a:lnTo>
                <a:lnTo>
                  <a:pt x="4220845" y="2668867"/>
                </a:lnTo>
                <a:lnTo>
                  <a:pt x="4253687" y="2639022"/>
                </a:lnTo>
                <a:lnTo>
                  <a:pt x="4283532" y="2606179"/>
                </a:lnTo>
                <a:lnTo>
                  <a:pt x="4310151" y="2570581"/>
                </a:lnTo>
                <a:lnTo>
                  <a:pt x="4333303" y="2532456"/>
                </a:lnTo>
                <a:lnTo>
                  <a:pt x="4352772" y="2492032"/>
                </a:lnTo>
                <a:lnTo>
                  <a:pt x="4368330" y="2449550"/>
                </a:lnTo>
                <a:lnTo>
                  <a:pt x="4379722" y="2405240"/>
                </a:lnTo>
                <a:lnTo>
                  <a:pt x="4386732" y="2359317"/>
                </a:lnTo>
                <a:lnTo>
                  <a:pt x="4389120" y="2312035"/>
                </a:lnTo>
                <a:lnTo>
                  <a:pt x="4389120" y="462407"/>
                </a:lnTo>
                <a:close/>
              </a:path>
            </a:pathLst>
          </a:custGeom>
          <a:solidFill>
            <a:srgbClr val="8063A1"/>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6" name="object 4">
            <a:extLst>
              <a:ext uri="{FF2B5EF4-FFF2-40B4-BE49-F238E27FC236}">
                <a16:creationId xmlns:a16="http://schemas.microsoft.com/office/drawing/2014/main" id="{A9F086EF-EBDA-471B-BA63-417F2F75CAD3}"/>
              </a:ext>
            </a:extLst>
          </p:cNvPr>
          <p:cNvSpPr txBox="1"/>
          <p:nvPr/>
        </p:nvSpPr>
        <p:spPr>
          <a:xfrm>
            <a:off x="4724400" y="1066800"/>
            <a:ext cx="3619500" cy="1427480"/>
          </a:xfrm>
          <a:prstGeom prst="rect">
            <a:avLst/>
          </a:prstGeom>
        </p:spPr>
        <p:txBody>
          <a:bodyPr vert="horz" wrap="square" lIns="0" tIns="46990" rIns="0" bIns="0" rtlCol="0">
            <a:spAutoFit/>
          </a:bodyPr>
          <a:lstStyle/>
          <a:p>
            <a:pPr marL="354965" marR="5080" indent="-342900">
              <a:lnSpc>
                <a:spcPts val="2160"/>
              </a:lnSpc>
              <a:spcBef>
                <a:spcPts val="370"/>
              </a:spcBef>
              <a:buFont typeface="Wingdings"/>
              <a:buChar char=""/>
              <a:tabLst>
                <a:tab pos="354965" algn="l"/>
                <a:tab pos="355600" algn="l"/>
              </a:tabLst>
            </a:pPr>
            <a:r>
              <a:rPr sz="2000" spc="70" dirty="0">
                <a:solidFill>
                  <a:srgbClr val="FFFFFF"/>
                </a:solidFill>
                <a:latin typeface="Times New Roman"/>
                <a:cs typeface="Times New Roman"/>
              </a:rPr>
              <a:t>You </a:t>
            </a:r>
            <a:r>
              <a:rPr sz="2000" spc="75" dirty="0">
                <a:solidFill>
                  <a:srgbClr val="FFFFFF"/>
                </a:solidFill>
                <a:latin typeface="Times New Roman"/>
                <a:cs typeface="Times New Roman"/>
              </a:rPr>
              <a:t>can </a:t>
            </a:r>
            <a:r>
              <a:rPr sz="2000" spc="30" dirty="0">
                <a:solidFill>
                  <a:srgbClr val="FFFFFF"/>
                </a:solidFill>
                <a:latin typeface="Times New Roman"/>
                <a:cs typeface="Times New Roman"/>
              </a:rPr>
              <a:t>also </a:t>
            </a:r>
            <a:r>
              <a:rPr sz="2000" spc="55" dirty="0">
                <a:solidFill>
                  <a:srgbClr val="FFFFFF"/>
                </a:solidFill>
                <a:latin typeface="Times New Roman"/>
                <a:cs typeface="Times New Roman"/>
              </a:rPr>
              <a:t>set </a:t>
            </a:r>
            <a:r>
              <a:rPr sz="2000" spc="110" dirty="0">
                <a:solidFill>
                  <a:srgbClr val="FFFFFF"/>
                </a:solidFill>
                <a:latin typeface="Times New Roman"/>
                <a:cs typeface="Times New Roman"/>
              </a:rPr>
              <a:t>the </a:t>
            </a:r>
            <a:r>
              <a:rPr sz="2000" spc="60" dirty="0">
                <a:solidFill>
                  <a:srgbClr val="FFFFFF"/>
                </a:solidFill>
                <a:latin typeface="Times New Roman"/>
                <a:cs typeface="Times New Roman"/>
              </a:rPr>
              <a:t>database  </a:t>
            </a:r>
            <a:r>
              <a:rPr sz="2000" spc="55" dirty="0">
                <a:solidFill>
                  <a:srgbClr val="FFFFFF"/>
                </a:solidFill>
                <a:latin typeface="Times New Roman"/>
                <a:cs typeface="Times New Roman"/>
              </a:rPr>
              <a:t>compatibility </a:t>
            </a:r>
            <a:r>
              <a:rPr sz="2000" spc="40" dirty="0">
                <a:solidFill>
                  <a:srgbClr val="FFFFFF"/>
                </a:solidFill>
                <a:latin typeface="Times New Roman"/>
                <a:cs typeface="Times New Roman"/>
              </a:rPr>
              <a:t>by </a:t>
            </a:r>
            <a:r>
              <a:rPr sz="2000" spc="45" dirty="0">
                <a:solidFill>
                  <a:srgbClr val="FFFFFF"/>
                </a:solidFill>
                <a:latin typeface="Times New Roman"/>
                <a:cs typeface="Times New Roman"/>
              </a:rPr>
              <a:t>selecting  </a:t>
            </a:r>
            <a:r>
              <a:rPr sz="2000" spc="60" dirty="0">
                <a:solidFill>
                  <a:srgbClr val="FFFFFF"/>
                </a:solidFill>
                <a:latin typeface="Times New Roman"/>
                <a:cs typeface="Times New Roman"/>
              </a:rPr>
              <a:t>Database Properties </a:t>
            </a:r>
            <a:r>
              <a:rPr sz="2000" spc="110" dirty="0">
                <a:solidFill>
                  <a:srgbClr val="FFFFFF"/>
                </a:solidFill>
                <a:latin typeface="Times New Roman"/>
                <a:cs typeface="Times New Roman"/>
              </a:rPr>
              <a:t>and</a:t>
            </a:r>
            <a:r>
              <a:rPr sz="2000" spc="-315" dirty="0">
                <a:solidFill>
                  <a:srgbClr val="FFFFFF"/>
                </a:solidFill>
                <a:latin typeface="Times New Roman"/>
                <a:cs typeface="Times New Roman"/>
              </a:rPr>
              <a:t> </a:t>
            </a:r>
            <a:r>
              <a:rPr sz="2000" spc="100" dirty="0">
                <a:solidFill>
                  <a:srgbClr val="FFFFFF"/>
                </a:solidFill>
                <a:latin typeface="Times New Roman"/>
                <a:cs typeface="Times New Roman"/>
              </a:rPr>
              <a:t>then,  </a:t>
            </a:r>
            <a:r>
              <a:rPr sz="2000" spc="35" dirty="0">
                <a:solidFill>
                  <a:srgbClr val="FFFFFF"/>
                </a:solidFill>
                <a:latin typeface="Times New Roman"/>
                <a:cs typeface="Times New Roman"/>
              </a:rPr>
              <a:t>select </a:t>
            </a:r>
            <a:r>
              <a:rPr sz="2000" spc="110" dirty="0">
                <a:solidFill>
                  <a:srgbClr val="FFFFFF"/>
                </a:solidFill>
                <a:latin typeface="Times New Roman"/>
                <a:cs typeface="Times New Roman"/>
              </a:rPr>
              <a:t>Options and </a:t>
            </a:r>
            <a:r>
              <a:rPr sz="2000" spc="55" dirty="0">
                <a:solidFill>
                  <a:srgbClr val="FFFFFF"/>
                </a:solidFill>
                <a:latin typeface="Times New Roman"/>
                <a:cs typeface="Times New Roman"/>
              </a:rPr>
              <a:t>set  </a:t>
            </a:r>
            <a:r>
              <a:rPr sz="2000" spc="75" dirty="0">
                <a:solidFill>
                  <a:srgbClr val="FFFFFF"/>
                </a:solidFill>
                <a:latin typeface="Times New Roman"/>
                <a:cs typeface="Times New Roman"/>
              </a:rPr>
              <a:t>Compatibility</a:t>
            </a:r>
            <a:r>
              <a:rPr sz="2000" spc="-65" dirty="0">
                <a:solidFill>
                  <a:srgbClr val="FFFFFF"/>
                </a:solidFill>
                <a:latin typeface="Times New Roman"/>
                <a:cs typeface="Times New Roman"/>
              </a:rPr>
              <a:t> </a:t>
            </a:r>
            <a:r>
              <a:rPr sz="2000" spc="20" dirty="0">
                <a:solidFill>
                  <a:srgbClr val="FFFFFF"/>
                </a:solidFill>
                <a:latin typeface="Times New Roman"/>
                <a:cs typeface="Times New Roman"/>
              </a:rPr>
              <a:t>level.</a:t>
            </a:r>
            <a:endParaRPr sz="2000">
              <a:latin typeface="Times New Roman"/>
              <a:cs typeface="Times New Roman"/>
            </a:endParaRPr>
          </a:p>
        </p:txBody>
      </p:sp>
      <p:sp>
        <p:nvSpPr>
          <p:cNvPr id="18" name="TextBox 17">
            <a:extLst>
              <a:ext uri="{FF2B5EF4-FFF2-40B4-BE49-F238E27FC236}">
                <a16:creationId xmlns:a16="http://schemas.microsoft.com/office/drawing/2014/main" id="{E7C557DD-2125-44C8-959C-96CA3E8C2B7B}"/>
              </a:ext>
            </a:extLst>
          </p:cNvPr>
          <p:cNvSpPr txBox="1"/>
          <p:nvPr/>
        </p:nvSpPr>
        <p:spPr>
          <a:xfrm>
            <a:off x="5314950" y="5689599"/>
            <a:ext cx="2438400" cy="369332"/>
          </a:xfrm>
          <a:prstGeom prst="rect">
            <a:avLst/>
          </a:prstGeom>
          <a:noFill/>
        </p:spPr>
        <p:txBody>
          <a:bodyPr wrap="square">
            <a:spAutoFit/>
          </a:bodyPr>
          <a:lstStyle/>
          <a:p>
            <a:r>
              <a:rPr lang="en-US" b="1"/>
              <a:t>Detailed Error Message</a:t>
            </a:r>
          </a:p>
        </p:txBody>
      </p:sp>
    </p:spTree>
    <p:extLst>
      <p:ext uri="{BB962C8B-B14F-4D97-AF65-F5344CB8AC3E}">
        <p14:creationId xmlns:p14="http://schemas.microsoft.com/office/powerpoint/2010/main" val="186728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0"/>
            <a:ext cx="6360795"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25" dirty="0"/>
              <a:t> </a:t>
            </a:r>
            <a:r>
              <a:rPr spc="-204" dirty="0"/>
              <a:t>1-7</a:t>
            </a:r>
          </a:p>
        </p:txBody>
      </p:sp>
      <p:sp>
        <p:nvSpPr>
          <p:cNvPr id="3" name="object 3"/>
          <p:cNvSpPr/>
          <p:nvPr/>
        </p:nvSpPr>
        <p:spPr>
          <a:xfrm>
            <a:off x="195834" y="958595"/>
            <a:ext cx="8720455" cy="2152650"/>
          </a:xfrm>
          <a:custGeom>
            <a:avLst/>
            <a:gdLst/>
            <a:ahLst/>
            <a:cxnLst/>
            <a:rect l="l" t="t" r="r" b="b"/>
            <a:pathLst>
              <a:path w="8720455" h="2152650">
                <a:moveTo>
                  <a:pt x="8720328" y="358775"/>
                </a:moveTo>
                <a:lnTo>
                  <a:pt x="8717051" y="310108"/>
                </a:lnTo>
                <a:lnTo>
                  <a:pt x="8707501" y="263410"/>
                </a:lnTo>
                <a:lnTo>
                  <a:pt x="8692121" y="219138"/>
                </a:lnTo>
                <a:lnTo>
                  <a:pt x="8671331" y="177711"/>
                </a:lnTo>
                <a:lnTo>
                  <a:pt x="8645563" y="139560"/>
                </a:lnTo>
                <a:lnTo>
                  <a:pt x="8615235" y="105092"/>
                </a:lnTo>
                <a:lnTo>
                  <a:pt x="8580768" y="74764"/>
                </a:lnTo>
                <a:lnTo>
                  <a:pt x="8542617" y="48996"/>
                </a:lnTo>
                <a:lnTo>
                  <a:pt x="8501189" y="28206"/>
                </a:lnTo>
                <a:lnTo>
                  <a:pt x="8456917" y="12827"/>
                </a:lnTo>
                <a:lnTo>
                  <a:pt x="8410219" y="3276"/>
                </a:lnTo>
                <a:lnTo>
                  <a:pt x="8361553" y="0"/>
                </a:lnTo>
                <a:lnTo>
                  <a:pt x="358775" y="0"/>
                </a:lnTo>
                <a:lnTo>
                  <a:pt x="310083" y="3276"/>
                </a:lnTo>
                <a:lnTo>
                  <a:pt x="263398" y="12827"/>
                </a:lnTo>
                <a:lnTo>
                  <a:pt x="219113" y="28206"/>
                </a:lnTo>
                <a:lnTo>
                  <a:pt x="177685" y="48996"/>
                </a:lnTo>
                <a:lnTo>
                  <a:pt x="139534" y="74764"/>
                </a:lnTo>
                <a:lnTo>
                  <a:pt x="105079" y="105092"/>
                </a:lnTo>
                <a:lnTo>
                  <a:pt x="74752" y="139560"/>
                </a:lnTo>
                <a:lnTo>
                  <a:pt x="48971" y="177711"/>
                </a:lnTo>
                <a:lnTo>
                  <a:pt x="28194" y="219138"/>
                </a:lnTo>
                <a:lnTo>
                  <a:pt x="12814" y="263410"/>
                </a:lnTo>
                <a:lnTo>
                  <a:pt x="3263" y="310108"/>
                </a:lnTo>
                <a:lnTo>
                  <a:pt x="0" y="358775"/>
                </a:lnTo>
                <a:lnTo>
                  <a:pt x="0" y="1793875"/>
                </a:lnTo>
                <a:lnTo>
                  <a:pt x="3263" y="1842554"/>
                </a:lnTo>
                <a:lnTo>
                  <a:pt x="12814" y="1889252"/>
                </a:lnTo>
                <a:lnTo>
                  <a:pt x="28194" y="1933524"/>
                </a:lnTo>
                <a:lnTo>
                  <a:pt x="48971" y="1974951"/>
                </a:lnTo>
                <a:lnTo>
                  <a:pt x="74752" y="2013102"/>
                </a:lnTo>
                <a:lnTo>
                  <a:pt x="105079" y="2047557"/>
                </a:lnTo>
                <a:lnTo>
                  <a:pt x="139534" y="2077897"/>
                </a:lnTo>
                <a:lnTo>
                  <a:pt x="177685" y="2103666"/>
                </a:lnTo>
                <a:lnTo>
                  <a:pt x="219113" y="2124456"/>
                </a:lnTo>
                <a:lnTo>
                  <a:pt x="263398" y="2139835"/>
                </a:lnTo>
                <a:lnTo>
                  <a:pt x="310083" y="2149386"/>
                </a:lnTo>
                <a:lnTo>
                  <a:pt x="358775" y="2152650"/>
                </a:lnTo>
                <a:lnTo>
                  <a:pt x="8361553" y="2152650"/>
                </a:lnTo>
                <a:lnTo>
                  <a:pt x="8410219" y="2149386"/>
                </a:lnTo>
                <a:lnTo>
                  <a:pt x="8456917" y="2139835"/>
                </a:lnTo>
                <a:lnTo>
                  <a:pt x="8501189" y="2124456"/>
                </a:lnTo>
                <a:lnTo>
                  <a:pt x="8542617" y="2103666"/>
                </a:lnTo>
                <a:lnTo>
                  <a:pt x="8580768" y="2077897"/>
                </a:lnTo>
                <a:lnTo>
                  <a:pt x="8615223" y="2047557"/>
                </a:lnTo>
                <a:lnTo>
                  <a:pt x="8645563" y="2013102"/>
                </a:lnTo>
                <a:lnTo>
                  <a:pt x="8671331" y="1974951"/>
                </a:lnTo>
                <a:lnTo>
                  <a:pt x="8692121" y="1933524"/>
                </a:lnTo>
                <a:lnTo>
                  <a:pt x="8707501" y="1889252"/>
                </a:lnTo>
                <a:lnTo>
                  <a:pt x="8717051" y="1842554"/>
                </a:lnTo>
                <a:lnTo>
                  <a:pt x="8720328" y="1793875"/>
                </a:lnTo>
                <a:lnTo>
                  <a:pt x="8720328" y="358775"/>
                </a:lnTo>
                <a:close/>
              </a:path>
            </a:pathLst>
          </a:custGeom>
          <a:solidFill>
            <a:srgbClr val="4F81BC"/>
          </a:solidFill>
        </p:spPr>
        <p:txBody>
          <a:bodyPr wrap="square" lIns="0" tIns="0" rIns="0" bIns="0" rtlCol="0"/>
          <a:lstStyle/>
          <a:p>
            <a:endParaRPr/>
          </a:p>
        </p:txBody>
      </p:sp>
      <p:sp>
        <p:nvSpPr>
          <p:cNvPr id="4" name="object 4"/>
          <p:cNvSpPr txBox="1"/>
          <p:nvPr/>
        </p:nvSpPr>
        <p:spPr>
          <a:xfrm>
            <a:off x="472948" y="1208531"/>
            <a:ext cx="7962900" cy="1568450"/>
          </a:xfrm>
          <a:prstGeom prst="rect">
            <a:avLst/>
          </a:prstGeom>
        </p:spPr>
        <p:txBody>
          <a:bodyPr vert="horz" wrap="square" lIns="0" tIns="50165" rIns="0" bIns="0" rtlCol="0">
            <a:spAutoFit/>
          </a:bodyPr>
          <a:lstStyle/>
          <a:p>
            <a:pPr marL="354965" marR="5080" indent="-342900" algn="just">
              <a:lnSpc>
                <a:spcPts val="2380"/>
              </a:lnSpc>
              <a:spcBef>
                <a:spcPts val="395"/>
              </a:spcBef>
              <a:buFont typeface="Wingdings"/>
              <a:buChar char=""/>
              <a:tabLst>
                <a:tab pos="355600" algn="l"/>
              </a:tabLst>
            </a:pPr>
            <a:r>
              <a:rPr sz="2200" spc="110" dirty="0">
                <a:solidFill>
                  <a:srgbClr val="FFFFFF"/>
                </a:solidFill>
                <a:latin typeface="Times New Roman"/>
                <a:cs typeface="Times New Roman"/>
              </a:rPr>
              <a:t>SQL </a:t>
            </a:r>
            <a:r>
              <a:rPr sz="2200" spc="75" dirty="0">
                <a:solidFill>
                  <a:srgbClr val="FFFFFF"/>
                </a:solidFill>
                <a:latin typeface="Times New Roman"/>
                <a:cs typeface="Times New Roman"/>
              </a:rPr>
              <a:t>Vulnerability Assessment </a:t>
            </a:r>
            <a:r>
              <a:rPr sz="2200" spc="5" dirty="0">
                <a:solidFill>
                  <a:srgbClr val="FFFFFF"/>
                </a:solidFill>
                <a:latin typeface="Times New Roman"/>
                <a:cs typeface="Times New Roman"/>
              </a:rPr>
              <a:t>is </a:t>
            </a:r>
            <a:r>
              <a:rPr sz="2200" spc="114" dirty="0">
                <a:solidFill>
                  <a:srgbClr val="FFFFFF"/>
                </a:solidFill>
                <a:latin typeface="Times New Roman"/>
                <a:cs typeface="Times New Roman"/>
              </a:rPr>
              <a:t>an </a:t>
            </a:r>
            <a:r>
              <a:rPr sz="2200" spc="55" dirty="0">
                <a:solidFill>
                  <a:srgbClr val="FFFFFF"/>
                </a:solidFill>
                <a:latin typeface="Times New Roman"/>
                <a:cs typeface="Times New Roman"/>
              </a:rPr>
              <a:t>easy-to-configure </a:t>
            </a:r>
            <a:r>
              <a:rPr sz="2200" spc="35" dirty="0">
                <a:solidFill>
                  <a:srgbClr val="FFFFFF"/>
                </a:solidFill>
                <a:latin typeface="Times New Roman"/>
                <a:cs typeface="Times New Roman"/>
              </a:rPr>
              <a:t>service  </a:t>
            </a:r>
            <a:r>
              <a:rPr sz="2200" spc="125" dirty="0">
                <a:solidFill>
                  <a:srgbClr val="FFFFFF"/>
                </a:solidFill>
                <a:latin typeface="Times New Roman"/>
                <a:cs typeface="Times New Roman"/>
              </a:rPr>
              <a:t>that </a:t>
            </a:r>
            <a:r>
              <a:rPr sz="2200" spc="85" dirty="0">
                <a:solidFill>
                  <a:srgbClr val="FFFFFF"/>
                </a:solidFill>
                <a:latin typeface="Times New Roman"/>
                <a:cs typeface="Times New Roman"/>
              </a:rPr>
              <a:t>can </a:t>
            </a:r>
            <a:r>
              <a:rPr sz="2200" spc="50" dirty="0">
                <a:solidFill>
                  <a:srgbClr val="FFFFFF"/>
                </a:solidFill>
                <a:latin typeface="Times New Roman"/>
                <a:cs typeface="Times New Roman"/>
              </a:rPr>
              <a:t>discover, </a:t>
            </a:r>
            <a:r>
              <a:rPr sz="2200" spc="65" dirty="0">
                <a:solidFill>
                  <a:srgbClr val="FFFFFF"/>
                </a:solidFill>
                <a:latin typeface="Times New Roman"/>
                <a:cs typeface="Times New Roman"/>
              </a:rPr>
              <a:t>track, </a:t>
            </a:r>
            <a:r>
              <a:rPr sz="2200" spc="120" dirty="0">
                <a:solidFill>
                  <a:srgbClr val="FFFFFF"/>
                </a:solidFill>
                <a:latin typeface="Times New Roman"/>
                <a:cs typeface="Times New Roman"/>
              </a:rPr>
              <a:t>and </a:t>
            </a:r>
            <a:r>
              <a:rPr sz="2200" spc="85" dirty="0">
                <a:solidFill>
                  <a:srgbClr val="FFFFFF"/>
                </a:solidFill>
                <a:latin typeface="Times New Roman"/>
                <a:cs typeface="Times New Roman"/>
              </a:rPr>
              <a:t>help you </a:t>
            </a:r>
            <a:r>
              <a:rPr sz="2200" spc="55" dirty="0">
                <a:solidFill>
                  <a:srgbClr val="FFFFFF"/>
                </a:solidFill>
                <a:latin typeface="Times New Roman"/>
                <a:cs typeface="Times New Roman"/>
              </a:rPr>
              <a:t>reverse </a:t>
            </a:r>
            <a:r>
              <a:rPr sz="2200" spc="95" dirty="0">
                <a:solidFill>
                  <a:srgbClr val="FFFFFF"/>
                </a:solidFill>
                <a:latin typeface="Times New Roman"/>
                <a:cs typeface="Times New Roman"/>
              </a:rPr>
              <a:t>or </a:t>
            </a:r>
            <a:r>
              <a:rPr sz="2200" spc="85" dirty="0">
                <a:solidFill>
                  <a:srgbClr val="FFFFFF"/>
                </a:solidFill>
                <a:latin typeface="Times New Roman"/>
                <a:cs typeface="Times New Roman"/>
              </a:rPr>
              <a:t>reduce  </a:t>
            </a:r>
            <a:r>
              <a:rPr sz="2200" spc="90" dirty="0">
                <a:solidFill>
                  <a:srgbClr val="FFFFFF"/>
                </a:solidFill>
                <a:latin typeface="Times New Roman"/>
                <a:cs typeface="Times New Roman"/>
              </a:rPr>
              <a:t>potential </a:t>
            </a:r>
            <a:r>
              <a:rPr sz="2200" spc="65" dirty="0">
                <a:solidFill>
                  <a:srgbClr val="FFFFFF"/>
                </a:solidFill>
                <a:latin typeface="Times New Roman"/>
                <a:cs typeface="Times New Roman"/>
              </a:rPr>
              <a:t>database</a:t>
            </a:r>
            <a:r>
              <a:rPr sz="2200" spc="-310" dirty="0">
                <a:solidFill>
                  <a:srgbClr val="FFFFFF"/>
                </a:solidFill>
                <a:latin typeface="Times New Roman"/>
                <a:cs typeface="Times New Roman"/>
              </a:rPr>
              <a:t> </a:t>
            </a:r>
            <a:r>
              <a:rPr sz="2200" spc="55" dirty="0">
                <a:solidFill>
                  <a:srgbClr val="FFFFFF"/>
                </a:solidFill>
                <a:latin typeface="Times New Roman"/>
                <a:cs typeface="Times New Roman"/>
              </a:rPr>
              <a:t>vulnerabilities.</a:t>
            </a:r>
            <a:endParaRPr sz="2200">
              <a:latin typeface="Times New Roman"/>
              <a:cs typeface="Times New Roman"/>
            </a:endParaRPr>
          </a:p>
          <a:p>
            <a:pPr marL="355600" indent="-342900">
              <a:lnSpc>
                <a:spcPct val="100000"/>
              </a:lnSpc>
              <a:spcBef>
                <a:spcPts val="2070"/>
              </a:spcBef>
              <a:buFont typeface="Wingdings"/>
              <a:buChar char=""/>
              <a:tabLst>
                <a:tab pos="355600" algn="l"/>
              </a:tabLst>
            </a:pPr>
            <a:r>
              <a:rPr sz="2200" spc="80" dirty="0">
                <a:solidFill>
                  <a:srgbClr val="FFFFFF"/>
                </a:solidFill>
                <a:latin typeface="Times New Roman"/>
                <a:cs typeface="Times New Roman"/>
              </a:rPr>
              <a:t>You</a:t>
            </a:r>
            <a:r>
              <a:rPr sz="2200" spc="-105" dirty="0">
                <a:solidFill>
                  <a:srgbClr val="FFFFFF"/>
                </a:solidFill>
                <a:latin typeface="Times New Roman"/>
                <a:cs typeface="Times New Roman"/>
              </a:rPr>
              <a:t> </a:t>
            </a:r>
            <a:r>
              <a:rPr sz="2200" spc="85" dirty="0">
                <a:solidFill>
                  <a:srgbClr val="FFFFFF"/>
                </a:solidFill>
                <a:latin typeface="Times New Roman"/>
                <a:cs typeface="Times New Roman"/>
              </a:rPr>
              <a:t>can</a:t>
            </a:r>
            <a:r>
              <a:rPr sz="2200" spc="-85" dirty="0">
                <a:solidFill>
                  <a:srgbClr val="FFFFFF"/>
                </a:solidFill>
                <a:latin typeface="Times New Roman"/>
                <a:cs typeface="Times New Roman"/>
              </a:rPr>
              <a:t> </a:t>
            </a:r>
            <a:r>
              <a:rPr sz="2200" spc="70" dirty="0">
                <a:solidFill>
                  <a:srgbClr val="FFFFFF"/>
                </a:solidFill>
                <a:latin typeface="Times New Roman"/>
                <a:cs typeface="Times New Roman"/>
              </a:rPr>
              <a:t>use</a:t>
            </a:r>
            <a:r>
              <a:rPr sz="2200" spc="-90" dirty="0">
                <a:solidFill>
                  <a:srgbClr val="FFFFFF"/>
                </a:solidFill>
                <a:latin typeface="Times New Roman"/>
                <a:cs typeface="Times New Roman"/>
              </a:rPr>
              <a:t> </a:t>
            </a:r>
            <a:r>
              <a:rPr sz="2200" spc="75" dirty="0">
                <a:solidFill>
                  <a:srgbClr val="FFFFFF"/>
                </a:solidFill>
                <a:latin typeface="Times New Roman"/>
                <a:cs typeface="Times New Roman"/>
              </a:rPr>
              <a:t>it</a:t>
            </a:r>
            <a:r>
              <a:rPr sz="2200" spc="-9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90" dirty="0">
                <a:solidFill>
                  <a:srgbClr val="FFFFFF"/>
                </a:solidFill>
                <a:latin typeface="Times New Roman"/>
                <a:cs typeface="Times New Roman"/>
              </a:rPr>
              <a:t> </a:t>
            </a:r>
            <a:r>
              <a:rPr sz="2200" spc="55" dirty="0">
                <a:solidFill>
                  <a:srgbClr val="FFFFFF"/>
                </a:solidFill>
                <a:latin typeface="Times New Roman"/>
                <a:cs typeface="Times New Roman"/>
              </a:rPr>
              <a:t>proactively</a:t>
            </a:r>
            <a:r>
              <a:rPr sz="2200" spc="-100" dirty="0">
                <a:solidFill>
                  <a:srgbClr val="FFFFFF"/>
                </a:solidFill>
                <a:latin typeface="Times New Roman"/>
                <a:cs typeface="Times New Roman"/>
              </a:rPr>
              <a:t> </a:t>
            </a:r>
            <a:r>
              <a:rPr sz="2200" spc="75" dirty="0">
                <a:solidFill>
                  <a:srgbClr val="FFFFFF"/>
                </a:solidFill>
                <a:latin typeface="Times New Roman"/>
                <a:cs typeface="Times New Roman"/>
              </a:rPr>
              <a:t>improve</a:t>
            </a:r>
            <a:r>
              <a:rPr sz="2200" spc="-95" dirty="0">
                <a:solidFill>
                  <a:srgbClr val="FFFFFF"/>
                </a:solidFill>
                <a:latin typeface="Times New Roman"/>
                <a:cs typeface="Times New Roman"/>
              </a:rPr>
              <a:t> </a:t>
            </a:r>
            <a:r>
              <a:rPr sz="2200" spc="90" dirty="0">
                <a:solidFill>
                  <a:srgbClr val="FFFFFF"/>
                </a:solidFill>
                <a:latin typeface="Times New Roman"/>
                <a:cs typeface="Times New Roman"/>
              </a:rPr>
              <a:t>your</a:t>
            </a:r>
            <a:r>
              <a:rPr sz="2200" spc="-90" dirty="0">
                <a:solidFill>
                  <a:srgbClr val="FFFFFF"/>
                </a:solidFill>
                <a:latin typeface="Times New Roman"/>
                <a:cs typeface="Times New Roman"/>
              </a:rPr>
              <a:t> </a:t>
            </a:r>
            <a:r>
              <a:rPr sz="2200" spc="65" dirty="0">
                <a:solidFill>
                  <a:srgbClr val="FFFFFF"/>
                </a:solidFill>
                <a:latin typeface="Times New Roman"/>
                <a:cs typeface="Times New Roman"/>
              </a:rPr>
              <a:t>database</a:t>
            </a:r>
            <a:r>
              <a:rPr sz="2200" spc="-105" dirty="0">
                <a:solidFill>
                  <a:srgbClr val="FFFFFF"/>
                </a:solidFill>
                <a:latin typeface="Times New Roman"/>
                <a:cs typeface="Times New Roman"/>
              </a:rPr>
              <a:t> </a:t>
            </a:r>
            <a:r>
              <a:rPr sz="2200" spc="50" dirty="0">
                <a:solidFill>
                  <a:srgbClr val="FFFFFF"/>
                </a:solidFill>
                <a:latin typeface="Times New Roman"/>
                <a:cs typeface="Times New Roman"/>
              </a:rPr>
              <a:t>security.</a:t>
            </a:r>
            <a:endParaRPr sz="2200">
              <a:latin typeface="Times New Roman"/>
              <a:cs typeface="Times New Roman"/>
            </a:endParaRPr>
          </a:p>
        </p:txBody>
      </p:sp>
      <p:sp>
        <p:nvSpPr>
          <p:cNvPr id="5" name="object 5"/>
          <p:cNvSpPr/>
          <p:nvPr/>
        </p:nvSpPr>
        <p:spPr>
          <a:xfrm>
            <a:off x="211836" y="3472433"/>
            <a:ext cx="8720455" cy="2043430"/>
          </a:xfrm>
          <a:custGeom>
            <a:avLst/>
            <a:gdLst/>
            <a:ahLst/>
            <a:cxnLst/>
            <a:rect l="l" t="t" r="r" b="b"/>
            <a:pathLst>
              <a:path w="8720455" h="2043429">
                <a:moveTo>
                  <a:pt x="8720328" y="340487"/>
                </a:moveTo>
                <a:lnTo>
                  <a:pt x="8717216" y="294284"/>
                </a:lnTo>
                <a:lnTo>
                  <a:pt x="8708161" y="249961"/>
                </a:lnTo>
                <a:lnTo>
                  <a:pt x="8693569" y="207937"/>
                </a:lnTo>
                <a:lnTo>
                  <a:pt x="8673846" y="168630"/>
                </a:lnTo>
                <a:lnTo>
                  <a:pt x="8649386" y="132410"/>
                </a:lnTo>
                <a:lnTo>
                  <a:pt x="8620608" y="99720"/>
                </a:lnTo>
                <a:lnTo>
                  <a:pt x="8587918" y="70942"/>
                </a:lnTo>
                <a:lnTo>
                  <a:pt x="8551697" y="46482"/>
                </a:lnTo>
                <a:lnTo>
                  <a:pt x="8512391" y="26758"/>
                </a:lnTo>
                <a:lnTo>
                  <a:pt x="8470367" y="12166"/>
                </a:lnTo>
                <a:lnTo>
                  <a:pt x="8426044" y="3111"/>
                </a:lnTo>
                <a:lnTo>
                  <a:pt x="8379841" y="0"/>
                </a:lnTo>
                <a:lnTo>
                  <a:pt x="340499" y="0"/>
                </a:lnTo>
                <a:lnTo>
                  <a:pt x="294284" y="3111"/>
                </a:lnTo>
                <a:lnTo>
                  <a:pt x="249974" y="12166"/>
                </a:lnTo>
                <a:lnTo>
                  <a:pt x="207962" y="26758"/>
                </a:lnTo>
                <a:lnTo>
                  <a:pt x="168643" y="46482"/>
                </a:lnTo>
                <a:lnTo>
                  <a:pt x="132422" y="70942"/>
                </a:lnTo>
                <a:lnTo>
                  <a:pt x="99720" y="99720"/>
                </a:lnTo>
                <a:lnTo>
                  <a:pt x="70942" y="132410"/>
                </a:lnTo>
                <a:lnTo>
                  <a:pt x="46482" y="168630"/>
                </a:lnTo>
                <a:lnTo>
                  <a:pt x="26746" y="207937"/>
                </a:lnTo>
                <a:lnTo>
                  <a:pt x="12153" y="249961"/>
                </a:lnTo>
                <a:lnTo>
                  <a:pt x="3098" y="294284"/>
                </a:lnTo>
                <a:lnTo>
                  <a:pt x="0" y="340487"/>
                </a:lnTo>
                <a:lnTo>
                  <a:pt x="0" y="1702435"/>
                </a:lnTo>
                <a:lnTo>
                  <a:pt x="3098" y="1748650"/>
                </a:lnTo>
                <a:lnTo>
                  <a:pt x="12153" y="1792973"/>
                </a:lnTo>
                <a:lnTo>
                  <a:pt x="26746" y="1834997"/>
                </a:lnTo>
                <a:lnTo>
                  <a:pt x="46482" y="1874304"/>
                </a:lnTo>
                <a:lnTo>
                  <a:pt x="70942" y="1910524"/>
                </a:lnTo>
                <a:lnTo>
                  <a:pt x="99720" y="1943214"/>
                </a:lnTo>
                <a:lnTo>
                  <a:pt x="132422" y="1971992"/>
                </a:lnTo>
                <a:lnTo>
                  <a:pt x="168643" y="1996452"/>
                </a:lnTo>
                <a:lnTo>
                  <a:pt x="207962" y="2016175"/>
                </a:lnTo>
                <a:lnTo>
                  <a:pt x="249974" y="2030768"/>
                </a:lnTo>
                <a:lnTo>
                  <a:pt x="294284" y="2039823"/>
                </a:lnTo>
                <a:lnTo>
                  <a:pt x="340499" y="2042922"/>
                </a:lnTo>
                <a:lnTo>
                  <a:pt x="8379841" y="2042922"/>
                </a:lnTo>
                <a:lnTo>
                  <a:pt x="8426044" y="2039823"/>
                </a:lnTo>
                <a:lnTo>
                  <a:pt x="8470367" y="2030768"/>
                </a:lnTo>
                <a:lnTo>
                  <a:pt x="8512391" y="2016175"/>
                </a:lnTo>
                <a:lnTo>
                  <a:pt x="8551697" y="1996452"/>
                </a:lnTo>
                <a:lnTo>
                  <a:pt x="8587918" y="1971992"/>
                </a:lnTo>
                <a:lnTo>
                  <a:pt x="8620608" y="1943214"/>
                </a:lnTo>
                <a:lnTo>
                  <a:pt x="8649386" y="1910524"/>
                </a:lnTo>
                <a:lnTo>
                  <a:pt x="8673846" y="1874304"/>
                </a:lnTo>
                <a:lnTo>
                  <a:pt x="8693569" y="1834997"/>
                </a:lnTo>
                <a:lnTo>
                  <a:pt x="8708161" y="1792973"/>
                </a:lnTo>
                <a:lnTo>
                  <a:pt x="8717216" y="1748650"/>
                </a:lnTo>
                <a:lnTo>
                  <a:pt x="8720328" y="1702435"/>
                </a:lnTo>
                <a:lnTo>
                  <a:pt x="8720328" y="340487"/>
                </a:lnTo>
                <a:close/>
              </a:path>
            </a:pathLst>
          </a:custGeom>
          <a:solidFill>
            <a:srgbClr val="C0504D"/>
          </a:solidFill>
        </p:spPr>
        <p:txBody>
          <a:bodyPr wrap="square" lIns="0" tIns="0" rIns="0" bIns="0" rtlCol="0"/>
          <a:lstStyle/>
          <a:p>
            <a:endParaRPr/>
          </a:p>
        </p:txBody>
      </p:sp>
      <p:sp>
        <p:nvSpPr>
          <p:cNvPr id="6" name="object 6"/>
          <p:cNvSpPr txBox="1"/>
          <p:nvPr/>
        </p:nvSpPr>
        <p:spPr>
          <a:xfrm>
            <a:off x="489204" y="3605529"/>
            <a:ext cx="7962265" cy="1701800"/>
          </a:xfrm>
          <a:prstGeom prst="rect">
            <a:avLst/>
          </a:prstGeom>
        </p:spPr>
        <p:txBody>
          <a:bodyPr vert="horz" wrap="square" lIns="0" tIns="46990" rIns="0" bIns="0" rtlCol="0">
            <a:spAutoFit/>
          </a:bodyPr>
          <a:lstStyle/>
          <a:p>
            <a:pPr marL="354965" marR="5080" indent="-342900" algn="just">
              <a:lnSpc>
                <a:spcPts val="2160"/>
              </a:lnSpc>
              <a:spcBef>
                <a:spcPts val="370"/>
              </a:spcBef>
              <a:buFont typeface="Wingdings"/>
              <a:buChar char=""/>
              <a:tabLst>
                <a:tab pos="355600" algn="l"/>
              </a:tabLst>
            </a:pPr>
            <a:r>
              <a:rPr sz="2000" spc="70" dirty="0">
                <a:solidFill>
                  <a:srgbClr val="FFFFFF"/>
                </a:solidFill>
                <a:latin typeface="Times New Roman"/>
                <a:cs typeface="Times New Roman"/>
              </a:rPr>
              <a:t>Vulnerability Assessment </a:t>
            </a:r>
            <a:r>
              <a:rPr sz="2000" spc="5" dirty="0">
                <a:solidFill>
                  <a:srgbClr val="FFFFFF"/>
                </a:solidFill>
                <a:latin typeface="Times New Roman"/>
                <a:cs typeface="Times New Roman"/>
              </a:rPr>
              <a:t>is </a:t>
            </a:r>
            <a:r>
              <a:rPr sz="2000" spc="85" dirty="0">
                <a:solidFill>
                  <a:srgbClr val="FFFFFF"/>
                </a:solidFill>
                <a:latin typeface="Times New Roman"/>
                <a:cs typeface="Times New Roman"/>
              </a:rPr>
              <a:t>part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 </a:t>
            </a:r>
            <a:r>
              <a:rPr sz="2000" spc="60" dirty="0">
                <a:solidFill>
                  <a:srgbClr val="FFFFFF"/>
                </a:solidFill>
                <a:latin typeface="Times New Roman"/>
                <a:cs typeface="Times New Roman"/>
              </a:rPr>
              <a:t>Azure </a:t>
            </a:r>
            <a:r>
              <a:rPr sz="2000" spc="85" dirty="0">
                <a:solidFill>
                  <a:srgbClr val="FFFFFF"/>
                </a:solidFill>
                <a:latin typeface="Times New Roman"/>
                <a:cs typeface="Times New Roman"/>
              </a:rPr>
              <a:t>Defender </a:t>
            </a:r>
            <a:r>
              <a:rPr sz="2000" spc="65" dirty="0">
                <a:solidFill>
                  <a:srgbClr val="FFFFFF"/>
                </a:solidFill>
                <a:latin typeface="Times New Roman"/>
                <a:cs typeface="Times New Roman"/>
              </a:rPr>
              <a:t>for </a:t>
            </a:r>
            <a:r>
              <a:rPr sz="2000" spc="90" dirty="0">
                <a:solidFill>
                  <a:srgbClr val="FFFFFF"/>
                </a:solidFill>
                <a:latin typeface="Times New Roman"/>
                <a:cs typeface="Times New Roman"/>
              </a:rPr>
              <a:t>SQL  </a:t>
            </a:r>
            <a:r>
              <a:rPr sz="2000" spc="45" dirty="0">
                <a:solidFill>
                  <a:srgbClr val="FFFFFF"/>
                </a:solidFill>
                <a:latin typeface="Times New Roman"/>
                <a:cs typeface="Times New Roman"/>
              </a:rPr>
              <a:t>offering, </a:t>
            </a:r>
            <a:r>
              <a:rPr sz="2000" spc="80" dirty="0">
                <a:solidFill>
                  <a:srgbClr val="FFFFFF"/>
                </a:solidFill>
                <a:latin typeface="Times New Roman"/>
                <a:cs typeface="Times New Roman"/>
              </a:rPr>
              <a:t>which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75" dirty="0">
                <a:solidFill>
                  <a:srgbClr val="FFFFFF"/>
                </a:solidFill>
                <a:latin typeface="Times New Roman"/>
                <a:cs typeface="Times New Roman"/>
              </a:rPr>
              <a:t>unified </a:t>
            </a:r>
            <a:r>
              <a:rPr sz="2000" spc="40" dirty="0">
                <a:solidFill>
                  <a:srgbClr val="FFFFFF"/>
                </a:solidFill>
                <a:latin typeface="Times New Roman"/>
                <a:cs typeface="Times New Roman"/>
              </a:rPr>
              <a:t>package </a:t>
            </a:r>
            <a:r>
              <a:rPr sz="2000" spc="65" dirty="0">
                <a:solidFill>
                  <a:srgbClr val="FFFFFF"/>
                </a:solidFill>
                <a:latin typeface="Times New Roman"/>
                <a:cs typeface="Times New Roman"/>
              </a:rPr>
              <a:t>for </a:t>
            </a:r>
            <a:r>
              <a:rPr sz="2000" spc="75" dirty="0">
                <a:solidFill>
                  <a:srgbClr val="FFFFFF"/>
                </a:solidFill>
                <a:latin typeface="Times New Roman"/>
                <a:cs typeface="Times New Roman"/>
              </a:rPr>
              <a:t>advanced </a:t>
            </a:r>
            <a:r>
              <a:rPr sz="2000" spc="90" dirty="0">
                <a:solidFill>
                  <a:srgbClr val="FFFFFF"/>
                </a:solidFill>
                <a:latin typeface="Times New Roman"/>
                <a:cs typeface="Times New Roman"/>
              </a:rPr>
              <a:t>SQL </a:t>
            </a:r>
            <a:r>
              <a:rPr sz="2000" spc="50" dirty="0">
                <a:solidFill>
                  <a:srgbClr val="FFFFFF"/>
                </a:solidFill>
                <a:latin typeface="Times New Roman"/>
                <a:cs typeface="Times New Roman"/>
              </a:rPr>
              <a:t>security  </a:t>
            </a:r>
            <a:r>
              <a:rPr sz="2000" spc="35" dirty="0">
                <a:solidFill>
                  <a:srgbClr val="FFFFFF"/>
                </a:solidFill>
                <a:latin typeface="Times New Roman"/>
                <a:cs typeface="Times New Roman"/>
              </a:rPr>
              <a:t>capabilities.</a:t>
            </a:r>
            <a:endParaRPr sz="2000">
              <a:latin typeface="Times New Roman"/>
              <a:cs typeface="Times New Roman"/>
            </a:endParaRPr>
          </a:p>
          <a:p>
            <a:pPr marL="354965" marR="5080" indent="-342900" algn="just">
              <a:lnSpc>
                <a:spcPts val="2160"/>
              </a:lnSpc>
              <a:spcBef>
                <a:spcPts val="2160"/>
              </a:spcBef>
              <a:buFont typeface="Wingdings"/>
              <a:buChar char=""/>
              <a:tabLst>
                <a:tab pos="355600" algn="l"/>
              </a:tabLst>
            </a:pPr>
            <a:r>
              <a:rPr sz="2000" spc="70" dirty="0">
                <a:solidFill>
                  <a:srgbClr val="FFFFFF"/>
                </a:solidFill>
                <a:latin typeface="Times New Roman"/>
                <a:cs typeface="Times New Roman"/>
              </a:rPr>
              <a:t>Vulnerability Assessment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35" dirty="0">
                <a:solidFill>
                  <a:srgbClr val="FFFFFF"/>
                </a:solidFill>
                <a:latin typeface="Times New Roman"/>
                <a:cs typeface="Times New Roman"/>
              </a:rPr>
              <a:t>accessed </a:t>
            </a:r>
            <a:r>
              <a:rPr sz="2000" spc="110" dirty="0">
                <a:solidFill>
                  <a:srgbClr val="FFFFFF"/>
                </a:solidFill>
                <a:latin typeface="Times New Roman"/>
                <a:cs typeface="Times New Roman"/>
              </a:rPr>
              <a:t>and </a:t>
            </a:r>
            <a:r>
              <a:rPr sz="2000" spc="70" dirty="0">
                <a:solidFill>
                  <a:srgbClr val="FFFFFF"/>
                </a:solidFill>
                <a:latin typeface="Times New Roman"/>
                <a:cs typeface="Times New Roman"/>
              </a:rPr>
              <a:t>managed </a:t>
            </a:r>
            <a:r>
              <a:rPr sz="2000" spc="30" dirty="0">
                <a:solidFill>
                  <a:srgbClr val="FFFFFF"/>
                </a:solidFill>
                <a:latin typeface="Times New Roman"/>
                <a:cs typeface="Times New Roman"/>
              </a:rPr>
              <a:t>via </a:t>
            </a:r>
            <a:r>
              <a:rPr sz="2000" spc="70" dirty="0">
                <a:solidFill>
                  <a:srgbClr val="FFFFFF"/>
                </a:solidFill>
                <a:latin typeface="Times New Roman"/>
                <a:cs typeface="Times New Roman"/>
              </a:rPr>
              <a:t>central  </a:t>
            </a:r>
            <a:r>
              <a:rPr sz="2000" spc="60" dirty="0">
                <a:solidFill>
                  <a:srgbClr val="FFFFFF"/>
                </a:solidFill>
                <a:latin typeface="Times New Roman"/>
                <a:cs typeface="Times New Roman"/>
              </a:rPr>
              <a:t>Azure</a:t>
            </a:r>
            <a:r>
              <a:rPr sz="2000" spc="-75" dirty="0">
                <a:solidFill>
                  <a:srgbClr val="FFFFFF"/>
                </a:solidFill>
                <a:latin typeface="Times New Roman"/>
                <a:cs typeface="Times New Roman"/>
              </a:rPr>
              <a:t> </a:t>
            </a:r>
            <a:r>
              <a:rPr sz="2000" spc="85" dirty="0">
                <a:solidFill>
                  <a:srgbClr val="FFFFFF"/>
                </a:solidFill>
                <a:latin typeface="Times New Roman"/>
                <a:cs typeface="Times New Roman"/>
              </a:rPr>
              <a:t>Defender</a:t>
            </a:r>
            <a:r>
              <a:rPr sz="2000" spc="-5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spc="-85" dirty="0">
                <a:solidFill>
                  <a:srgbClr val="FFFFFF"/>
                </a:solidFill>
                <a:latin typeface="Times New Roman"/>
                <a:cs typeface="Times New Roman"/>
              </a:rPr>
              <a:t> </a:t>
            </a:r>
            <a:r>
              <a:rPr sz="2000" spc="65" dirty="0">
                <a:solidFill>
                  <a:srgbClr val="FFFFFF"/>
                </a:solidFill>
                <a:latin typeface="Times New Roman"/>
                <a:cs typeface="Times New Roman"/>
              </a:rPr>
              <a:t>portal.</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5</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0"/>
            <a:ext cx="6425565"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25" dirty="0"/>
              <a:t> </a:t>
            </a:r>
            <a:r>
              <a:rPr spc="-35" dirty="0"/>
              <a:t>2-7</a:t>
            </a:r>
          </a:p>
        </p:txBody>
      </p:sp>
      <p:sp>
        <p:nvSpPr>
          <p:cNvPr id="3" name="object 3"/>
          <p:cNvSpPr/>
          <p:nvPr/>
        </p:nvSpPr>
        <p:spPr>
          <a:xfrm>
            <a:off x="617982" y="2503931"/>
            <a:ext cx="8102600" cy="1603375"/>
          </a:xfrm>
          <a:custGeom>
            <a:avLst/>
            <a:gdLst/>
            <a:ahLst/>
            <a:cxnLst/>
            <a:rect l="l" t="t" r="r" b="b"/>
            <a:pathLst>
              <a:path w="8102600" h="1603375">
                <a:moveTo>
                  <a:pt x="8102346" y="267208"/>
                </a:moveTo>
                <a:lnTo>
                  <a:pt x="8098041" y="219189"/>
                </a:lnTo>
                <a:lnTo>
                  <a:pt x="8085620" y="173977"/>
                </a:lnTo>
                <a:lnTo>
                  <a:pt x="8065859" y="132346"/>
                </a:lnTo>
                <a:lnTo>
                  <a:pt x="8039494" y="95059"/>
                </a:lnTo>
                <a:lnTo>
                  <a:pt x="8007286" y="62852"/>
                </a:lnTo>
                <a:lnTo>
                  <a:pt x="7969999" y="36487"/>
                </a:lnTo>
                <a:lnTo>
                  <a:pt x="7928369" y="16725"/>
                </a:lnTo>
                <a:lnTo>
                  <a:pt x="7883157" y="4305"/>
                </a:lnTo>
                <a:lnTo>
                  <a:pt x="7835138" y="0"/>
                </a:lnTo>
                <a:lnTo>
                  <a:pt x="267220" y="0"/>
                </a:lnTo>
                <a:lnTo>
                  <a:pt x="219176" y="4305"/>
                </a:lnTo>
                <a:lnTo>
                  <a:pt x="173964" y="16725"/>
                </a:lnTo>
                <a:lnTo>
                  <a:pt x="132346" y="36487"/>
                </a:lnTo>
                <a:lnTo>
                  <a:pt x="95046" y="62852"/>
                </a:lnTo>
                <a:lnTo>
                  <a:pt x="62839" y="95059"/>
                </a:lnTo>
                <a:lnTo>
                  <a:pt x="36474" y="132346"/>
                </a:lnTo>
                <a:lnTo>
                  <a:pt x="16713" y="173977"/>
                </a:lnTo>
                <a:lnTo>
                  <a:pt x="4292" y="219189"/>
                </a:lnTo>
                <a:lnTo>
                  <a:pt x="0" y="267208"/>
                </a:lnTo>
                <a:lnTo>
                  <a:pt x="0" y="1336040"/>
                </a:lnTo>
                <a:lnTo>
                  <a:pt x="4292" y="1384071"/>
                </a:lnTo>
                <a:lnTo>
                  <a:pt x="16713" y="1429283"/>
                </a:lnTo>
                <a:lnTo>
                  <a:pt x="36474" y="1470914"/>
                </a:lnTo>
                <a:lnTo>
                  <a:pt x="62839" y="1508201"/>
                </a:lnTo>
                <a:lnTo>
                  <a:pt x="95046" y="1540408"/>
                </a:lnTo>
                <a:lnTo>
                  <a:pt x="132346" y="1566773"/>
                </a:lnTo>
                <a:lnTo>
                  <a:pt x="173964" y="1586534"/>
                </a:lnTo>
                <a:lnTo>
                  <a:pt x="219176" y="1598955"/>
                </a:lnTo>
                <a:lnTo>
                  <a:pt x="267220" y="1603248"/>
                </a:lnTo>
                <a:lnTo>
                  <a:pt x="7835138" y="1603248"/>
                </a:lnTo>
                <a:lnTo>
                  <a:pt x="7883157" y="1598955"/>
                </a:lnTo>
                <a:lnTo>
                  <a:pt x="7928369" y="1586534"/>
                </a:lnTo>
                <a:lnTo>
                  <a:pt x="7969999" y="1566773"/>
                </a:lnTo>
                <a:lnTo>
                  <a:pt x="8007286" y="1540408"/>
                </a:lnTo>
                <a:lnTo>
                  <a:pt x="8027505" y="1520190"/>
                </a:lnTo>
                <a:lnTo>
                  <a:pt x="8060423" y="1520190"/>
                </a:lnTo>
                <a:lnTo>
                  <a:pt x="8060423" y="1478610"/>
                </a:lnTo>
                <a:lnTo>
                  <a:pt x="8065859" y="1470914"/>
                </a:lnTo>
                <a:lnTo>
                  <a:pt x="8085620" y="1429283"/>
                </a:lnTo>
                <a:lnTo>
                  <a:pt x="8098041" y="1384071"/>
                </a:lnTo>
                <a:lnTo>
                  <a:pt x="8102346" y="1336040"/>
                </a:lnTo>
                <a:lnTo>
                  <a:pt x="8102346" y="267208"/>
                </a:lnTo>
                <a:close/>
              </a:path>
            </a:pathLst>
          </a:custGeom>
          <a:solidFill>
            <a:srgbClr val="000000"/>
          </a:solidFill>
        </p:spPr>
        <p:txBody>
          <a:bodyPr wrap="square" lIns="0" tIns="0" rIns="0" bIns="0" rtlCol="0"/>
          <a:lstStyle/>
          <a:p>
            <a:endParaRPr/>
          </a:p>
        </p:txBody>
      </p:sp>
      <p:sp>
        <p:nvSpPr>
          <p:cNvPr id="4" name="object 4"/>
          <p:cNvSpPr txBox="1"/>
          <p:nvPr/>
        </p:nvSpPr>
        <p:spPr>
          <a:xfrm>
            <a:off x="812037" y="2725674"/>
            <a:ext cx="7213600" cy="1094740"/>
          </a:xfrm>
          <a:prstGeom prst="rect">
            <a:avLst/>
          </a:prstGeom>
        </p:spPr>
        <p:txBody>
          <a:bodyPr vert="horz" wrap="square" lIns="0" tIns="12700" rIns="0" bIns="0" rtlCol="0">
            <a:spAutoFit/>
          </a:bodyPr>
          <a:lstStyle/>
          <a:p>
            <a:pPr marL="355600" indent="-342900">
              <a:lnSpc>
                <a:spcPts val="2820"/>
              </a:lnSpc>
              <a:spcBef>
                <a:spcPts val="100"/>
              </a:spcBef>
              <a:buFont typeface="Wingdings"/>
              <a:buChar char=""/>
              <a:tabLst>
                <a:tab pos="355600" algn="l"/>
              </a:tabLst>
            </a:pPr>
            <a:r>
              <a:rPr sz="2400" spc="65" dirty="0">
                <a:solidFill>
                  <a:srgbClr val="FFFFFF"/>
                </a:solidFill>
                <a:latin typeface="Times New Roman"/>
                <a:cs typeface="Times New Roman"/>
              </a:rPr>
              <a:t>It</a:t>
            </a:r>
            <a:r>
              <a:rPr sz="2400" spc="-90" dirty="0">
                <a:solidFill>
                  <a:srgbClr val="FFFFFF"/>
                </a:solidFill>
                <a:latin typeface="Times New Roman"/>
                <a:cs typeface="Times New Roman"/>
              </a:rPr>
              <a:t> </a:t>
            </a:r>
            <a:r>
              <a:rPr sz="2400" spc="90" dirty="0">
                <a:solidFill>
                  <a:srgbClr val="FFFFFF"/>
                </a:solidFill>
                <a:latin typeface="Times New Roman"/>
                <a:cs typeface="Times New Roman"/>
              </a:rPr>
              <a:t>can</a:t>
            </a:r>
            <a:r>
              <a:rPr sz="2400" spc="-85" dirty="0">
                <a:solidFill>
                  <a:srgbClr val="FFFFFF"/>
                </a:solidFill>
                <a:latin typeface="Times New Roman"/>
                <a:cs typeface="Times New Roman"/>
              </a:rPr>
              <a:t> </a:t>
            </a:r>
            <a:r>
              <a:rPr sz="2400" spc="100" dirty="0">
                <a:solidFill>
                  <a:srgbClr val="FFFFFF"/>
                </a:solidFill>
                <a:latin typeface="Times New Roman"/>
                <a:cs typeface="Times New Roman"/>
              </a:rPr>
              <a:t>help</a:t>
            </a:r>
            <a:r>
              <a:rPr sz="2400" spc="-90" dirty="0">
                <a:solidFill>
                  <a:srgbClr val="FFFFFF"/>
                </a:solidFill>
                <a:latin typeface="Times New Roman"/>
                <a:cs typeface="Times New Roman"/>
              </a:rPr>
              <a:t> </a:t>
            </a:r>
            <a:r>
              <a:rPr sz="2400" spc="95" dirty="0">
                <a:solidFill>
                  <a:srgbClr val="FFFFFF"/>
                </a:solidFill>
                <a:latin typeface="Times New Roman"/>
                <a:cs typeface="Times New Roman"/>
              </a:rPr>
              <a:t>you</a:t>
            </a:r>
            <a:r>
              <a:rPr sz="2400" spc="-80" dirty="0">
                <a:solidFill>
                  <a:srgbClr val="FFFFFF"/>
                </a:solidFill>
                <a:latin typeface="Times New Roman"/>
                <a:cs typeface="Times New Roman"/>
              </a:rPr>
              <a:t> </a:t>
            </a:r>
            <a:r>
              <a:rPr sz="2400" spc="75" dirty="0">
                <a:solidFill>
                  <a:srgbClr val="FFFFFF"/>
                </a:solidFill>
                <a:latin typeface="Times New Roman"/>
                <a:cs typeface="Times New Roman"/>
              </a:rPr>
              <a:t>to:</a:t>
            </a:r>
            <a:endParaRPr sz="2400">
              <a:latin typeface="Times New Roman"/>
              <a:cs typeface="Times New Roman"/>
            </a:endParaRPr>
          </a:p>
          <a:p>
            <a:pPr marL="474345" lvl="1" indent="-176530">
              <a:lnSpc>
                <a:spcPts val="2025"/>
              </a:lnSpc>
              <a:buSzPct val="112500"/>
              <a:buChar char="-"/>
              <a:tabLst>
                <a:tab pos="474980" algn="l"/>
              </a:tabLst>
            </a:pPr>
            <a:r>
              <a:rPr sz="1600" spc="50" dirty="0">
                <a:solidFill>
                  <a:srgbClr val="FFFFFF"/>
                </a:solidFill>
                <a:latin typeface="Times New Roman"/>
                <a:cs typeface="Times New Roman"/>
              </a:rPr>
              <a:t>Meet</a:t>
            </a:r>
            <a:r>
              <a:rPr sz="1600" spc="-45" dirty="0">
                <a:solidFill>
                  <a:srgbClr val="FFFFFF"/>
                </a:solidFill>
                <a:latin typeface="Times New Roman"/>
                <a:cs typeface="Times New Roman"/>
              </a:rPr>
              <a:t> </a:t>
            </a:r>
            <a:r>
              <a:rPr sz="1600" spc="45" dirty="0">
                <a:solidFill>
                  <a:srgbClr val="FFFFFF"/>
                </a:solidFill>
                <a:latin typeface="Times New Roman"/>
                <a:cs typeface="Times New Roman"/>
              </a:rPr>
              <a:t>compliance</a:t>
            </a:r>
            <a:r>
              <a:rPr sz="1600" spc="-65" dirty="0">
                <a:solidFill>
                  <a:srgbClr val="FFFFFF"/>
                </a:solidFill>
                <a:latin typeface="Times New Roman"/>
                <a:cs typeface="Times New Roman"/>
              </a:rPr>
              <a:t> </a:t>
            </a:r>
            <a:r>
              <a:rPr sz="1600" spc="65" dirty="0">
                <a:solidFill>
                  <a:srgbClr val="FFFFFF"/>
                </a:solidFill>
                <a:latin typeface="Times New Roman"/>
                <a:cs typeface="Times New Roman"/>
              </a:rPr>
              <a:t>requirements</a:t>
            </a:r>
            <a:r>
              <a:rPr sz="1600" spc="-45" dirty="0">
                <a:solidFill>
                  <a:srgbClr val="FFFFFF"/>
                </a:solidFill>
                <a:latin typeface="Times New Roman"/>
                <a:cs typeface="Times New Roman"/>
              </a:rPr>
              <a:t> </a:t>
            </a:r>
            <a:r>
              <a:rPr sz="1600" spc="90" dirty="0">
                <a:solidFill>
                  <a:srgbClr val="FFFFFF"/>
                </a:solidFill>
                <a:latin typeface="Times New Roman"/>
                <a:cs typeface="Times New Roman"/>
              </a:rPr>
              <a:t>that</a:t>
            </a:r>
            <a:r>
              <a:rPr sz="1600" spc="-60" dirty="0">
                <a:solidFill>
                  <a:srgbClr val="FFFFFF"/>
                </a:solidFill>
                <a:latin typeface="Times New Roman"/>
                <a:cs typeface="Times New Roman"/>
              </a:rPr>
              <a:t> </a:t>
            </a:r>
            <a:r>
              <a:rPr sz="1600" spc="60" dirty="0">
                <a:solidFill>
                  <a:srgbClr val="FFFFFF"/>
                </a:solidFill>
                <a:latin typeface="Times New Roman"/>
                <a:cs typeface="Times New Roman"/>
              </a:rPr>
              <a:t>require</a:t>
            </a:r>
            <a:r>
              <a:rPr sz="1600" spc="-60" dirty="0">
                <a:solidFill>
                  <a:srgbClr val="FFFFFF"/>
                </a:solidFill>
                <a:latin typeface="Times New Roman"/>
                <a:cs typeface="Times New Roman"/>
              </a:rPr>
              <a:t> </a:t>
            </a:r>
            <a:r>
              <a:rPr sz="1600" spc="50" dirty="0">
                <a:solidFill>
                  <a:srgbClr val="FFFFFF"/>
                </a:solidFill>
                <a:latin typeface="Times New Roman"/>
                <a:cs typeface="Times New Roman"/>
              </a:rPr>
              <a:t>database</a:t>
            </a:r>
            <a:r>
              <a:rPr sz="1600" spc="-65" dirty="0">
                <a:solidFill>
                  <a:srgbClr val="FFFFFF"/>
                </a:solidFill>
                <a:latin typeface="Times New Roman"/>
                <a:cs typeface="Times New Roman"/>
              </a:rPr>
              <a:t> </a:t>
            </a:r>
            <a:r>
              <a:rPr sz="1600" spc="45" dirty="0">
                <a:solidFill>
                  <a:srgbClr val="FFFFFF"/>
                </a:solidFill>
                <a:latin typeface="Times New Roman"/>
                <a:cs typeface="Times New Roman"/>
              </a:rPr>
              <a:t>scan</a:t>
            </a:r>
            <a:r>
              <a:rPr sz="1600" spc="-60" dirty="0">
                <a:solidFill>
                  <a:srgbClr val="FFFFFF"/>
                </a:solidFill>
                <a:latin typeface="Times New Roman"/>
                <a:cs typeface="Times New Roman"/>
              </a:rPr>
              <a:t> </a:t>
            </a:r>
            <a:r>
              <a:rPr sz="1600" spc="60" dirty="0">
                <a:solidFill>
                  <a:srgbClr val="FFFFFF"/>
                </a:solidFill>
                <a:latin typeface="Times New Roman"/>
                <a:cs typeface="Times New Roman"/>
              </a:rPr>
              <a:t>reports</a:t>
            </a:r>
            <a:endParaRPr sz="1600">
              <a:latin typeface="Times New Roman"/>
              <a:cs typeface="Times New Roman"/>
            </a:endParaRPr>
          </a:p>
          <a:p>
            <a:pPr marL="474980" lvl="1" indent="-177165">
              <a:lnSpc>
                <a:spcPts val="1745"/>
              </a:lnSpc>
              <a:buChar char="-"/>
              <a:tabLst>
                <a:tab pos="475615" algn="l"/>
              </a:tabLst>
            </a:pPr>
            <a:r>
              <a:rPr sz="1600" spc="50" dirty="0">
                <a:solidFill>
                  <a:srgbClr val="FFFFFF"/>
                </a:solidFill>
                <a:latin typeface="Times New Roman"/>
                <a:cs typeface="Times New Roman"/>
              </a:rPr>
              <a:t>Meet </a:t>
            </a:r>
            <a:r>
              <a:rPr sz="1600" spc="65" dirty="0">
                <a:solidFill>
                  <a:srgbClr val="FFFFFF"/>
                </a:solidFill>
                <a:latin typeface="Times New Roman"/>
                <a:cs typeface="Times New Roman"/>
              </a:rPr>
              <a:t>data</a:t>
            </a:r>
            <a:r>
              <a:rPr sz="1600" spc="-280" dirty="0">
                <a:solidFill>
                  <a:srgbClr val="FFFFFF"/>
                </a:solidFill>
                <a:latin typeface="Times New Roman"/>
                <a:cs typeface="Times New Roman"/>
              </a:rPr>
              <a:t> </a:t>
            </a:r>
            <a:r>
              <a:rPr sz="1600" spc="35" dirty="0">
                <a:solidFill>
                  <a:srgbClr val="FFFFFF"/>
                </a:solidFill>
                <a:latin typeface="Times New Roman"/>
                <a:cs typeface="Times New Roman"/>
              </a:rPr>
              <a:t>privacy </a:t>
            </a:r>
            <a:r>
              <a:rPr sz="1600" spc="65" dirty="0">
                <a:solidFill>
                  <a:srgbClr val="FFFFFF"/>
                </a:solidFill>
                <a:latin typeface="Times New Roman"/>
                <a:cs typeface="Times New Roman"/>
              </a:rPr>
              <a:t>standards</a:t>
            </a:r>
            <a:endParaRPr sz="1600">
              <a:latin typeface="Times New Roman"/>
              <a:cs typeface="Times New Roman"/>
            </a:endParaRPr>
          </a:p>
          <a:p>
            <a:pPr marL="474980" lvl="1" indent="-177165">
              <a:lnSpc>
                <a:spcPts val="1825"/>
              </a:lnSpc>
              <a:buChar char="-"/>
              <a:tabLst>
                <a:tab pos="475615" algn="l"/>
              </a:tabLst>
            </a:pPr>
            <a:r>
              <a:rPr sz="1600" spc="75" dirty="0">
                <a:solidFill>
                  <a:srgbClr val="FFFFFF"/>
                </a:solidFill>
                <a:latin typeface="Times New Roman"/>
                <a:cs typeface="Times New Roman"/>
              </a:rPr>
              <a:t>Monitor</a:t>
            </a:r>
            <a:r>
              <a:rPr sz="1600" spc="-55" dirty="0">
                <a:solidFill>
                  <a:srgbClr val="FFFFFF"/>
                </a:solidFill>
                <a:latin typeface="Times New Roman"/>
                <a:cs typeface="Times New Roman"/>
              </a:rPr>
              <a:t> </a:t>
            </a:r>
            <a:r>
              <a:rPr sz="1600" spc="25" dirty="0">
                <a:solidFill>
                  <a:srgbClr val="FFFFFF"/>
                </a:solidFill>
                <a:latin typeface="Times New Roman"/>
                <a:cs typeface="Times New Roman"/>
              </a:rPr>
              <a:t>a</a:t>
            </a:r>
            <a:r>
              <a:rPr sz="1600" spc="-65" dirty="0">
                <a:solidFill>
                  <a:srgbClr val="FFFFFF"/>
                </a:solidFill>
                <a:latin typeface="Times New Roman"/>
                <a:cs typeface="Times New Roman"/>
              </a:rPr>
              <a:t> </a:t>
            </a:r>
            <a:r>
              <a:rPr sz="1600" spc="50" dirty="0">
                <a:solidFill>
                  <a:srgbClr val="FFFFFF"/>
                </a:solidFill>
                <a:latin typeface="Times New Roman"/>
                <a:cs typeface="Times New Roman"/>
              </a:rPr>
              <a:t>dynamic</a:t>
            </a:r>
            <a:r>
              <a:rPr sz="1600" spc="-70" dirty="0">
                <a:solidFill>
                  <a:srgbClr val="FFFFFF"/>
                </a:solidFill>
                <a:latin typeface="Times New Roman"/>
                <a:cs typeface="Times New Roman"/>
              </a:rPr>
              <a:t> </a:t>
            </a:r>
            <a:r>
              <a:rPr sz="1600" spc="50" dirty="0">
                <a:solidFill>
                  <a:srgbClr val="FFFFFF"/>
                </a:solidFill>
                <a:latin typeface="Times New Roman"/>
                <a:cs typeface="Times New Roman"/>
              </a:rPr>
              <a:t>database</a:t>
            </a:r>
            <a:r>
              <a:rPr sz="1600" spc="-65" dirty="0">
                <a:solidFill>
                  <a:srgbClr val="FFFFFF"/>
                </a:solidFill>
                <a:latin typeface="Times New Roman"/>
                <a:cs typeface="Times New Roman"/>
              </a:rPr>
              <a:t> </a:t>
            </a:r>
            <a:r>
              <a:rPr sz="1600" spc="80" dirty="0">
                <a:solidFill>
                  <a:srgbClr val="FFFFFF"/>
                </a:solidFill>
                <a:latin typeface="Times New Roman"/>
                <a:cs typeface="Times New Roman"/>
              </a:rPr>
              <a:t>environment</a:t>
            </a:r>
            <a:r>
              <a:rPr sz="1600" spc="-45" dirty="0">
                <a:solidFill>
                  <a:srgbClr val="FFFFFF"/>
                </a:solidFill>
                <a:latin typeface="Times New Roman"/>
                <a:cs typeface="Times New Roman"/>
              </a:rPr>
              <a:t> </a:t>
            </a:r>
            <a:r>
              <a:rPr sz="1600" spc="60" dirty="0">
                <a:solidFill>
                  <a:srgbClr val="FFFFFF"/>
                </a:solidFill>
                <a:latin typeface="Times New Roman"/>
                <a:cs typeface="Times New Roman"/>
              </a:rPr>
              <a:t>where</a:t>
            </a:r>
            <a:r>
              <a:rPr sz="1600" spc="-55" dirty="0">
                <a:solidFill>
                  <a:srgbClr val="FFFFFF"/>
                </a:solidFill>
                <a:latin typeface="Times New Roman"/>
                <a:cs typeface="Times New Roman"/>
              </a:rPr>
              <a:t> </a:t>
            </a:r>
            <a:r>
              <a:rPr sz="1600" spc="50" dirty="0">
                <a:solidFill>
                  <a:srgbClr val="FFFFFF"/>
                </a:solidFill>
                <a:latin typeface="Times New Roman"/>
                <a:cs typeface="Times New Roman"/>
              </a:rPr>
              <a:t>changes</a:t>
            </a:r>
            <a:r>
              <a:rPr sz="1600" spc="-70" dirty="0">
                <a:solidFill>
                  <a:srgbClr val="FFFFFF"/>
                </a:solidFill>
                <a:latin typeface="Times New Roman"/>
                <a:cs typeface="Times New Roman"/>
              </a:rPr>
              <a:t> </a:t>
            </a:r>
            <a:r>
              <a:rPr sz="1600" spc="40" dirty="0">
                <a:solidFill>
                  <a:srgbClr val="FFFFFF"/>
                </a:solidFill>
                <a:latin typeface="Times New Roman"/>
                <a:cs typeface="Times New Roman"/>
              </a:rPr>
              <a:t>are</a:t>
            </a:r>
            <a:r>
              <a:rPr sz="1600" spc="-50" dirty="0">
                <a:solidFill>
                  <a:srgbClr val="FFFFFF"/>
                </a:solidFill>
                <a:latin typeface="Times New Roman"/>
                <a:cs typeface="Times New Roman"/>
              </a:rPr>
              <a:t> </a:t>
            </a:r>
            <a:r>
              <a:rPr sz="1600" spc="40" dirty="0">
                <a:solidFill>
                  <a:srgbClr val="FFFFFF"/>
                </a:solidFill>
                <a:latin typeface="Times New Roman"/>
                <a:cs typeface="Times New Roman"/>
              </a:rPr>
              <a:t>difficult</a:t>
            </a:r>
            <a:r>
              <a:rPr sz="1600" spc="-75" dirty="0">
                <a:solidFill>
                  <a:srgbClr val="FFFFFF"/>
                </a:solidFill>
                <a:latin typeface="Times New Roman"/>
                <a:cs typeface="Times New Roman"/>
              </a:rPr>
              <a:t> </a:t>
            </a:r>
            <a:r>
              <a:rPr sz="1600" spc="85" dirty="0">
                <a:solidFill>
                  <a:srgbClr val="FFFFFF"/>
                </a:solidFill>
                <a:latin typeface="Times New Roman"/>
                <a:cs typeface="Times New Roman"/>
              </a:rPr>
              <a:t>to</a:t>
            </a:r>
            <a:r>
              <a:rPr sz="1600" spc="-55" dirty="0">
                <a:solidFill>
                  <a:srgbClr val="FFFFFF"/>
                </a:solidFill>
                <a:latin typeface="Times New Roman"/>
                <a:cs typeface="Times New Roman"/>
              </a:rPr>
              <a:t> </a:t>
            </a:r>
            <a:r>
              <a:rPr sz="1600" spc="55" dirty="0">
                <a:solidFill>
                  <a:srgbClr val="FFFFFF"/>
                </a:solidFill>
                <a:latin typeface="Times New Roman"/>
                <a:cs typeface="Times New Roman"/>
              </a:rPr>
              <a:t>track</a:t>
            </a:r>
            <a:endParaRPr sz="1600">
              <a:latin typeface="Times New Roman"/>
              <a:cs typeface="Times New Roman"/>
            </a:endParaRPr>
          </a:p>
        </p:txBody>
      </p:sp>
      <p:sp>
        <p:nvSpPr>
          <p:cNvPr id="5" name="object 5"/>
          <p:cNvSpPr/>
          <p:nvPr/>
        </p:nvSpPr>
        <p:spPr>
          <a:xfrm>
            <a:off x="138684" y="854201"/>
            <a:ext cx="8540115" cy="1404620"/>
          </a:xfrm>
          <a:custGeom>
            <a:avLst/>
            <a:gdLst/>
            <a:ahLst/>
            <a:cxnLst/>
            <a:rect l="l" t="t" r="r" b="b"/>
            <a:pathLst>
              <a:path w="8540115" h="1404620">
                <a:moveTo>
                  <a:pt x="8539734" y="234061"/>
                </a:moveTo>
                <a:lnTo>
                  <a:pt x="8539721" y="177546"/>
                </a:lnTo>
                <a:lnTo>
                  <a:pt x="8532063" y="177546"/>
                </a:lnTo>
                <a:lnTo>
                  <a:pt x="8499754" y="103187"/>
                </a:lnTo>
                <a:lnTo>
                  <a:pt x="8471179" y="68554"/>
                </a:lnTo>
                <a:lnTo>
                  <a:pt x="8436546" y="39979"/>
                </a:lnTo>
                <a:lnTo>
                  <a:pt x="8396783" y="18402"/>
                </a:lnTo>
                <a:lnTo>
                  <a:pt x="8352841" y="4762"/>
                </a:lnTo>
                <a:lnTo>
                  <a:pt x="8305673" y="0"/>
                </a:lnTo>
                <a:lnTo>
                  <a:pt x="234073" y="0"/>
                </a:lnTo>
                <a:lnTo>
                  <a:pt x="186893" y="4762"/>
                </a:lnTo>
                <a:lnTo>
                  <a:pt x="142951" y="18402"/>
                </a:lnTo>
                <a:lnTo>
                  <a:pt x="103200" y="39979"/>
                </a:lnTo>
                <a:lnTo>
                  <a:pt x="68554" y="68554"/>
                </a:lnTo>
                <a:lnTo>
                  <a:pt x="39966" y="103187"/>
                </a:lnTo>
                <a:lnTo>
                  <a:pt x="18389" y="142951"/>
                </a:lnTo>
                <a:lnTo>
                  <a:pt x="4749" y="186893"/>
                </a:lnTo>
                <a:lnTo>
                  <a:pt x="0" y="234061"/>
                </a:lnTo>
                <a:lnTo>
                  <a:pt x="0" y="1170305"/>
                </a:lnTo>
                <a:lnTo>
                  <a:pt x="4749" y="1217485"/>
                </a:lnTo>
                <a:lnTo>
                  <a:pt x="18389" y="1261427"/>
                </a:lnTo>
                <a:lnTo>
                  <a:pt x="39966" y="1301178"/>
                </a:lnTo>
                <a:lnTo>
                  <a:pt x="68554" y="1335824"/>
                </a:lnTo>
                <a:lnTo>
                  <a:pt x="103200" y="1364399"/>
                </a:lnTo>
                <a:lnTo>
                  <a:pt x="142951" y="1385976"/>
                </a:lnTo>
                <a:lnTo>
                  <a:pt x="186893" y="1399616"/>
                </a:lnTo>
                <a:lnTo>
                  <a:pt x="234073" y="1404366"/>
                </a:lnTo>
                <a:lnTo>
                  <a:pt x="8305673" y="1404366"/>
                </a:lnTo>
                <a:lnTo>
                  <a:pt x="8352841" y="1399616"/>
                </a:lnTo>
                <a:lnTo>
                  <a:pt x="8396783" y="1385976"/>
                </a:lnTo>
                <a:lnTo>
                  <a:pt x="8436546" y="1364399"/>
                </a:lnTo>
                <a:lnTo>
                  <a:pt x="8471179" y="1335824"/>
                </a:lnTo>
                <a:lnTo>
                  <a:pt x="8499754" y="1301178"/>
                </a:lnTo>
                <a:lnTo>
                  <a:pt x="8521332" y="1261427"/>
                </a:lnTo>
                <a:lnTo>
                  <a:pt x="8523313" y="1255014"/>
                </a:lnTo>
                <a:lnTo>
                  <a:pt x="8539721" y="1255014"/>
                </a:lnTo>
                <a:lnTo>
                  <a:pt x="8539721" y="1170432"/>
                </a:lnTo>
                <a:lnTo>
                  <a:pt x="8539734" y="1170305"/>
                </a:lnTo>
                <a:lnTo>
                  <a:pt x="8539734" y="234061"/>
                </a:lnTo>
                <a:close/>
              </a:path>
            </a:pathLst>
          </a:custGeom>
          <a:solidFill>
            <a:srgbClr val="4AACC5"/>
          </a:solidFill>
        </p:spPr>
        <p:txBody>
          <a:bodyPr wrap="square" lIns="0" tIns="0" rIns="0" bIns="0" rtlCol="0"/>
          <a:lstStyle/>
          <a:p>
            <a:endParaRPr/>
          </a:p>
        </p:txBody>
      </p:sp>
      <p:sp>
        <p:nvSpPr>
          <p:cNvPr id="6" name="object 6"/>
          <p:cNvSpPr txBox="1"/>
          <p:nvPr/>
        </p:nvSpPr>
        <p:spPr>
          <a:xfrm>
            <a:off x="411733" y="935989"/>
            <a:ext cx="8202930" cy="1153160"/>
          </a:xfrm>
          <a:prstGeom prst="rect">
            <a:avLst/>
          </a:prstGeom>
        </p:spPr>
        <p:txBody>
          <a:bodyPr vert="horz" wrap="square" lIns="0" tIns="46990" rIns="0" bIns="0" rtlCol="0">
            <a:spAutoFit/>
          </a:bodyPr>
          <a:lstStyle/>
          <a:p>
            <a:pPr marL="355600" marR="5080" indent="-342900">
              <a:lnSpc>
                <a:spcPts val="2160"/>
              </a:lnSpc>
              <a:spcBef>
                <a:spcPts val="370"/>
              </a:spcBef>
              <a:buFont typeface="Wingdings"/>
              <a:buChar char=""/>
              <a:tabLst>
                <a:tab pos="354965" algn="l"/>
                <a:tab pos="355600" algn="l"/>
              </a:tabLst>
            </a:pPr>
            <a:r>
              <a:rPr sz="2000" spc="90" dirty="0">
                <a:solidFill>
                  <a:srgbClr val="FFFFFF"/>
                </a:solidFill>
                <a:latin typeface="Times New Roman"/>
                <a:cs typeface="Times New Roman"/>
              </a:rPr>
              <a:t>SQL </a:t>
            </a:r>
            <a:r>
              <a:rPr sz="2000" spc="70" dirty="0">
                <a:solidFill>
                  <a:srgbClr val="FFFFFF"/>
                </a:solidFill>
                <a:latin typeface="Times New Roman"/>
                <a:cs typeface="Times New Roman"/>
              </a:rPr>
              <a:t>Vulnerability Assessment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35" dirty="0">
                <a:solidFill>
                  <a:srgbClr val="FFFFFF"/>
                </a:solidFill>
                <a:latin typeface="Times New Roman"/>
                <a:cs typeface="Times New Roman"/>
              </a:rPr>
              <a:t>service </a:t>
            </a:r>
            <a:r>
              <a:rPr sz="2000" spc="114" dirty="0">
                <a:solidFill>
                  <a:srgbClr val="FFFFFF"/>
                </a:solidFill>
                <a:latin typeface="Times New Roman"/>
                <a:cs typeface="Times New Roman"/>
              </a:rPr>
              <a:t>that </a:t>
            </a:r>
            <a:r>
              <a:rPr sz="2000" spc="65" dirty="0">
                <a:solidFill>
                  <a:srgbClr val="FFFFFF"/>
                </a:solidFill>
                <a:latin typeface="Times New Roman"/>
                <a:cs typeface="Times New Roman"/>
              </a:rPr>
              <a:t>provides </a:t>
            </a:r>
            <a:r>
              <a:rPr sz="2000" spc="30" dirty="0">
                <a:solidFill>
                  <a:srgbClr val="FFFFFF"/>
                </a:solidFill>
                <a:latin typeface="Times New Roman"/>
                <a:cs typeface="Times New Roman"/>
              </a:rPr>
              <a:t>visibility </a:t>
            </a:r>
            <a:r>
              <a:rPr sz="2000" spc="100" dirty="0">
                <a:solidFill>
                  <a:srgbClr val="FFFFFF"/>
                </a:solidFill>
                <a:latin typeface="Times New Roman"/>
                <a:cs typeface="Times New Roman"/>
              </a:rPr>
              <a:t>into  </a:t>
            </a:r>
            <a:r>
              <a:rPr sz="2000" spc="80" dirty="0">
                <a:solidFill>
                  <a:srgbClr val="FFFFFF"/>
                </a:solidFill>
                <a:latin typeface="Times New Roman"/>
                <a:cs typeface="Times New Roman"/>
              </a:rPr>
              <a:t>your </a:t>
            </a:r>
            <a:r>
              <a:rPr sz="2000" spc="50" dirty="0">
                <a:solidFill>
                  <a:srgbClr val="FFFFFF"/>
                </a:solidFill>
                <a:latin typeface="Times New Roman"/>
                <a:cs typeface="Times New Roman"/>
              </a:rPr>
              <a:t>security</a:t>
            </a:r>
            <a:r>
              <a:rPr sz="2000" spc="-220" dirty="0">
                <a:solidFill>
                  <a:srgbClr val="FFFFFF"/>
                </a:solidFill>
                <a:latin typeface="Times New Roman"/>
                <a:cs typeface="Times New Roman"/>
              </a:rPr>
              <a:t> </a:t>
            </a:r>
            <a:r>
              <a:rPr sz="2000" spc="55" dirty="0">
                <a:solidFill>
                  <a:srgbClr val="FFFFFF"/>
                </a:solidFill>
                <a:latin typeface="Times New Roman"/>
                <a:cs typeface="Times New Roman"/>
              </a:rPr>
              <a:t>state.</a:t>
            </a:r>
            <a:endParaRPr sz="2000">
              <a:latin typeface="Times New Roman"/>
              <a:cs typeface="Times New Roman"/>
            </a:endParaRPr>
          </a:p>
          <a:p>
            <a:pPr marL="355600" marR="5080" indent="-342900">
              <a:lnSpc>
                <a:spcPts val="2160"/>
              </a:lnSpc>
              <a:buFont typeface="Wingdings"/>
              <a:buChar char=""/>
              <a:tabLst>
                <a:tab pos="354965" algn="l"/>
                <a:tab pos="355600" algn="l"/>
              </a:tabLst>
            </a:pPr>
            <a:r>
              <a:rPr sz="2000" spc="70" dirty="0">
                <a:solidFill>
                  <a:srgbClr val="FFFFFF"/>
                </a:solidFill>
                <a:latin typeface="Times New Roman"/>
                <a:cs typeface="Times New Roman"/>
              </a:rPr>
              <a:t>Vulnerability Assessment </a:t>
            </a:r>
            <a:r>
              <a:rPr sz="2000" spc="65" dirty="0">
                <a:solidFill>
                  <a:srgbClr val="FFFFFF"/>
                </a:solidFill>
                <a:latin typeface="Times New Roman"/>
                <a:cs typeface="Times New Roman"/>
              </a:rPr>
              <a:t>includes actionable </a:t>
            </a:r>
            <a:r>
              <a:rPr sz="2000" spc="55" dirty="0">
                <a:solidFill>
                  <a:srgbClr val="FFFFFF"/>
                </a:solidFill>
                <a:latin typeface="Times New Roman"/>
                <a:cs typeface="Times New Roman"/>
              </a:rPr>
              <a:t>steps </a:t>
            </a:r>
            <a:r>
              <a:rPr sz="2000" spc="110" dirty="0">
                <a:solidFill>
                  <a:srgbClr val="FFFFFF"/>
                </a:solidFill>
                <a:latin typeface="Times New Roman"/>
                <a:cs typeface="Times New Roman"/>
              </a:rPr>
              <a:t>to </a:t>
            </a:r>
            <a:r>
              <a:rPr sz="2000" spc="45" dirty="0">
                <a:solidFill>
                  <a:srgbClr val="FFFFFF"/>
                </a:solidFill>
                <a:latin typeface="Times New Roman"/>
                <a:cs typeface="Times New Roman"/>
              </a:rPr>
              <a:t>resolve </a:t>
            </a:r>
            <a:r>
              <a:rPr sz="2000" spc="50" dirty="0">
                <a:solidFill>
                  <a:srgbClr val="FFFFFF"/>
                </a:solidFill>
                <a:latin typeface="Times New Roman"/>
                <a:cs typeface="Times New Roman"/>
              </a:rPr>
              <a:t>security  </a:t>
            </a:r>
            <a:r>
              <a:rPr sz="2000" spc="35" dirty="0">
                <a:solidFill>
                  <a:srgbClr val="FFFFFF"/>
                </a:solidFill>
                <a:latin typeface="Times New Roman"/>
                <a:cs typeface="Times New Roman"/>
              </a:rPr>
              <a:t>issues</a:t>
            </a:r>
            <a:r>
              <a:rPr sz="2000" spc="-7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65" dirty="0">
                <a:solidFill>
                  <a:srgbClr val="FFFFFF"/>
                </a:solidFill>
                <a:latin typeface="Times New Roman"/>
                <a:cs typeface="Times New Roman"/>
              </a:rPr>
              <a:t> </a:t>
            </a:r>
            <a:r>
              <a:rPr sz="2000" spc="95" dirty="0">
                <a:solidFill>
                  <a:srgbClr val="FFFFFF"/>
                </a:solidFill>
                <a:latin typeface="Times New Roman"/>
                <a:cs typeface="Times New Roman"/>
              </a:rPr>
              <a:t>enhance</a:t>
            </a:r>
            <a:r>
              <a:rPr sz="2000" spc="-50" dirty="0">
                <a:solidFill>
                  <a:srgbClr val="FFFFFF"/>
                </a:solidFill>
                <a:latin typeface="Times New Roman"/>
                <a:cs typeface="Times New Roman"/>
              </a:rPr>
              <a:t> </a:t>
            </a:r>
            <a:r>
              <a:rPr sz="2000" spc="80" dirty="0">
                <a:solidFill>
                  <a:srgbClr val="FFFFFF"/>
                </a:solidFill>
                <a:latin typeface="Times New Roman"/>
                <a:cs typeface="Times New Roman"/>
              </a:rPr>
              <a:t>your</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database</a:t>
            </a:r>
            <a:r>
              <a:rPr sz="2000" spc="-55" dirty="0">
                <a:solidFill>
                  <a:srgbClr val="FFFFFF"/>
                </a:solidFill>
                <a:latin typeface="Times New Roman"/>
                <a:cs typeface="Times New Roman"/>
              </a:rPr>
              <a:t> </a:t>
            </a:r>
            <a:r>
              <a:rPr sz="2000" spc="45" dirty="0">
                <a:solidFill>
                  <a:srgbClr val="FFFFFF"/>
                </a:solidFill>
                <a:latin typeface="Times New Roman"/>
                <a:cs typeface="Times New Roman"/>
              </a:rPr>
              <a:t>security.</a:t>
            </a:r>
            <a:endParaRPr sz="2000">
              <a:latin typeface="Times New Roman"/>
              <a:cs typeface="Times New Roman"/>
            </a:endParaRPr>
          </a:p>
        </p:txBody>
      </p:sp>
      <p:pic>
        <p:nvPicPr>
          <p:cNvPr id="7" name="object 7"/>
          <p:cNvPicPr/>
          <p:nvPr/>
        </p:nvPicPr>
        <p:blipFill>
          <a:blip r:embed="rId3" cstate="print"/>
          <a:stretch>
            <a:fillRect/>
          </a:stretch>
        </p:blipFill>
        <p:spPr>
          <a:xfrm>
            <a:off x="1181861" y="4351782"/>
            <a:ext cx="7821168" cy="1796033"/>
          </a:xfrm>
          <a:prstGeom prst="rect">
            <a:avLst/>
          </a:prstGeom>
        </p:spPr>
      </p:pic>
      <p:sp>
        <p:nvSpPr>
          <p:cNvPr id="8" name="object 8"/>
          <p:cNvSpPr txBox="1"/>
          <p:nvPr/>
        </p:nvSpPr>
        <p:spPr>
          <a:xfrm>
            <a:off x="1373124" y="4578858"/>
            <a:ext cx="7255509" cy="1377950"/>
          </a:xfrm>
          <a:prstGeom prst="rect">
            <a:avLst/>
          </a:prstGeom>
        </p:spPr>
        <p:txBody>
          <a:bodyPr vert="horz" wrap="square" lIns="0" tIns="36830" rIns="0" bIns="0" rtlCol="0">
            <a:spAutoFit/>
          </a:bodyPr>
          <a:lstStyle/>
          <a:p>
            <a:pPr marL="419100" marR="67310" indent="-342900" algn="just">
              <a:lnSpc>
                <a:spcPts val="1939"/>
              </a:lnSpc>
              <a:spcBef>
                <a:spcPts val="290"/>
              </a:spcBef>
              <a:buFont typeface="Wingdings"/>
              <a:buChar char=""/>
              <a:tabLst>
                <a:tab pos="419734" algn="l"/>
              </a:tabLst>
            </a:pPr>
            <a:r>
              <a:rPr sz="1800" spc="120" dirty="0">
                <a:solidFill>
                  <a:srgbClr val="FFFFFF"/>
                </a:solidFill>
                <a:latin typeface="Times New Roman"/>
                <a:cs typeface="Times New Roman"/>
              </a:rPr>
              <a:t>The </a:t>
            </a:r>
            <a:r>
              <a:rPr sz="1800" spc="50" dirty="0">
                <a:solidFill>
                  <a:srgbClr val="FFFFFF"/>
                </a:solidFill>
                <a:latin typeface="Times New Roman"/>
                <a:cs typeface="Times New Roman"/>
              </a:rPr>
              <a:t>rules </a:t>
            </a:r>
            <a:r>
              <a:rPr sz="1800" spc="45" dirty="0">
                <a:solidFill>
                  <a:srgbClr val="FFFFFF"/>
                </a:solidFill>
                <a:latin typeface="Times New Roman"/>
                <a:cs typeface="Times New Roman"/>
              </a:rPr>
              <a:t>are </a:t>
            </a:r>
            <a:r>
              <a:rPr sz="1800" spc="55" dirty="0">
                <a:solidFill>
                  <a:srgbClr val="FFFFFF"/>
                </a:solidFill>
                <a:latin typeface="Times New Roman"/>
                <a:cs typeface="Times New Roman"/>
              </a:rPr>
              <a:t>based </a:t>
            </a:r>
            <a:r>
              <a:rPr sz="1800" spc="125" dirty="0">
                <a:solidFill>
                  <a:srgbClr val="FFFFFF"/>
                </a:solidFill>
                <a:latin typeface="Times New Roman"/>
                <a:cs typeface="Times New Roman"/>
              </a:rPr>
              <a:t>on </a:t>
            </a:r>
            <a:r>
              <a:rPr sz="1800" spc="55" dirty="0">
                <a:solidFill>
                  <a:srgbClr val="FFFFFF"/>
                </a:solidFill>
                <a:latin typeface="Times New Roman"/>
                <a:cs typeface="Times New Roman"/>
              </a:rPr>
              <a:t>Microsoft's </a:t>
            </a:r>
            <a:r>
              <a:rPr sz="1800" spc="60" dirty="0">
                <a:solidFill>
                  <a:srgbClr val="FFFFFF"/>
                </a:solidFill>
                <a:latin typeface="Times New Roman"/>
                <a:cs typeface="Times New Roman"/>
              </a:rPr>
              <a:t>best </a:t>
            </a:r>
            <a:r>
              <a:rPr sz="1800" spc="40" dirty="0">
                <a:solidFill>
                  <a:srgbClr val="FFFFFF"/>
                </a:solidFill>
                <a:latin typeface="Times New Roman"/>
                <a:cs typeface="Times New Roman"/>
              </a:rPr>
              <a:t>practices </a:t>
            </a:r>
            <a:r>
              <a:rPr sz="1800" spc="100" dirty="0">
                <a:solidFill>
                  <a:srgbClr val="FFFFFF"/>
                </a:solidFill>
                <a:latin typeface="Times New Roman"/>
                <a:cs typeface="Times New Roman"/>
              </a:rPr>
              <a:t>and </a:t>
            </a:r>
            <a:r>
              <a:rPr sz="1800" spc="50" dirty="0">
                <a:solidFill>
                  <a:srgbClr val="FFFFFF"/>
                </a:solidFill>
                <a:latin typeface="Times New Roman"/>
                <a:cs typeface="Times New Roman"/>
              </a:rPr>
              <a:t>focus </a:t>
            </a:r>
            <a:r>
              <a:rPr sz="1800" spc="120" dirty="0">
                <a:solidFill>
                  <a:srgbClr val="FFFFFF"/>
                </a:solidFill>
                <a:latin typeface="Times New Roman"/>
                <a:cs typeface="Times New Roman"/>
              </a:rPr>
              <a:t>on </a:t>
            </a:r>
            <a:r>
              <a:rPr sz="1800" spc="100" dirty="0">
                <a:solidFill>
                  <a:srgbClr val="FFFFFF"/>
                </a:solidFill>
                <a:latin typeface="Times New Roman"/>
                <a:cs typeface="Times New Roman"/>
              </a:rPr>
              <a:t>the  </a:t>
            </a:r>
            <a:r>
              <a:rPr sz="1800" spc="50" dirty="0">
                <a:solidFill>
                  <a:srgbClr val="FFFFFF"/>
                </a:solidFill>
                <a:latin typeface="Times New Roman"/>
                <a:cs typeface="Times New Roman"/>
              </a:rPr>
              <a:t>security </a:t>
            </a:r>
            <a:r>
              <a:rPr sz="1800" spc="35" dirty="0">
                <a:solidFill>
                  <a:srgbClr val="FFFFFF"/>
                </a:solidFill>
                <a:latin typeface="Times New Roman"/>
                <a:cs typeface="Times New Roman"/>
              </a:rPr>
              <a:t>issues </a:t>
            </a:r>
            <a:r>
              <a:rPr sz="1800" spc="100" dirty="0">
                <a:solidFill>
                  <a:srgbClr val="FFFFFF"/>
                </a:solidFill>
                <a:latin typeface="Times New Roman"/>
                <a:cs typeface="Times New Roman"/>
              </a:rPr>
              <a:t>that </a:t>
            </a:r>
            <a:r>
              <a:rPr sz="1800" spc="75" dirty="0">
                <a:solidFill>
                  <a:srgbClr val="FFFFFF"/>
                </a:solidFill>
                <a:latin typeface="Times New Roman"/>
                <a:cs typeface="Times New Roman"/>
              </a:rPr>
              <a:t>present </a:t>
            </a:r>
            <a:r>
              <a:rPr sz="1800" spc="100" dirty="0">
                <a:solidFill>
                  <a:srgbClr val="FFFFFF"/>
                </a:solidFill>
                <a:latin typeface="Times New Roman"/>
                <a:cs typeface="Times New Roman"/>
              </a:rPr>
              <a:t>the </a:t>
            </a:r>
            <a:r>
              <a:rPr sz="1800" spc="30" dirty="0">
                <a:solidFill>
                  <a:srgbClr val="FFFFFF"/>
                </a:solidFill>
                <a:latin typeface="Times New Roman"/>
                <a:cs typeface="Times New Roman"/>
              </a:rPr>
              <a:t>biggest </a:t>
            </a:r>
            <a:r>
              <a:rPr sz="1800" spc="35" dirty="0">
                <a:solidFill>
                  <a:srgbClr val="FFFFFF"/>
                </a:solidFill>
                <a:latin typeface="Times New Roman"/>
                <a:cs typeface="Times New Roman"/>
              </a:rPr>
              <a:t>risks </a:t>
            </a:r>
            <a:r>
              <a:rPr sz="1800" spc="100" dirty="0">
                <a:solidFill>
                  <a:srgbClr val="FFFFFF"/>
                </a:solidFill>
                <a:latin typeface="Times New Roman"/>
                <a:cs typeface="Times New Roman"/>
              </a:rPr>
              <a:t>to </a:t>
            </a:r>
            <a:r>
              <a:rPr sz="1800" spc="70" dirty="0">
                <a:solidFill>
                  <a:srgbClr val="FFFFFF"/>
                </a:solidFill>
                <a:latin typeface="Times New Roman"/>
                <a:cs typeface="Times New Roman"/>
              </a:rPr>
              <a:t>your </a:t>
            </a:r>
            <a:r>
              <a:rPr sz="1800" spc="55" dirty="0">
                <a:solidFill>
                  <a:srgbClr val="FFFFFF"/>
                </a:solidFill>
                <a:latin typeface="Times New Roman"/>
                <a:cs typeface="Times New Roman"/>
              </a:rPr>
              <a:t>database </a:t>
            </a:r>
            <a:r>
              <a:rPr sz="1800" spc="100" dirty="0">
                <a:solidFill>
                  <a:srgbClr val="FFFFFF"/>
                </a:solidFill>
                <a:latin typeface="Times New Roman"/>
                <a:cs typeface="Times New Roman"/>
              </a:rPr>
              <a:t>and</a:t>
            </a:r>
            <a:r>
              <a:rPr sz="1800" spc="20" dirty="0">
                <a:solidFill>
                  <a:srgbClr val="FFFFFF"/>
                </a:solidFill>
                <a:latin typeface="Times New Roman"/>
                <a:cs typeface="Times New Roman"/>
              </a:rPr>
              <a:t> </a:t>
            </a:r>
            <a:r>
              <a:rPr sz="1800" spc="45" dirty="0">
                <a:solidFill>
                  <a:srgbClr val="FFFFFF"/>
                </a:solidFill>
                <a:latin typeface="Times New Roman"/>
                <a:cs typeface="Times New Roman"/>
              </a:rPr>
              <a:t>its  valuable</a:t>
            </a:r>
            <a:r>
              <a:rPr sz="1800" spc="-85" dirty="0">
                <a:solidFill>
                  <a:srgbClr val="FFFFFF"/>
                </a:solidFill>
                <a:latin typeface="Times New Roman"/>
                <a:cs typeface="Times New Roman"/>
              </a:rPr>
              <a:t> </a:t>
            </a:r>
            <a:r>
              <a:rPr sz="1800" spc="55" dirty="0">
                <a:solidFill>
                  <a:srgbClr val="FFFFFF"/>
                </a:solidFill>
                <a:latin typeface="Times New Roman"/>
                <a:cs typeface="Times New Roman"/>
              </a:rPr>
              <a:t>data.</a:t>
            </a:r>
            <a:endParaRPr sz="1800">
              <a:latin typeface="Times New Roman"/>
              <a:cs typeface="Times New Roman"/>
            </a:endParaRPr>
          </a:p>
          <a:p>
            <a:pPr marL="419100" marR="66675" indent="-342900" algn="just">
              <a:lnSpc>
                <a:spcPts val="1939"/>
              </a:lnSpc>
              <a:spcBef>
                <a:spcPts val="15"/>
              </a:spcBef>
              <a:buFont typeface="Wingdings"/>
              <a:buChar char=""/>
              <a:tabLst>
                <a:tab pos="419734" algn="l"/>
              </a:tabLst>
            </a:pPr>
            <a:r>
              <a:rPr sz="1800" spc="55" dirty="0">
                <a:solidFill>
                  <a:srgbClr val="FFFFFF"/>
                </a:solidFill>
                <a:latin typeface="Times New Roman"/>
                <a:cs typeface="Times New Roman"/>
              </a:rPr>
              <a:t>Results</a:t>
            </a:r>
            <a:r>
              <a:rPr sz="1800" spc="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 dirty="0">
                <a:solidFill>
                  <a:srgbClr val="FFFFFF"/>
                </a:solidFill>
                <a:latin typeface="Times New Roman"/>
                <a:cs typeface="Times New Roman"/>
              </a:rPr>
              <a:t> </a:t>
            </a:r>
            <a:r>
              <a:rPr sz="1800" spc="105" dirty="0">
                <a:solidFill>
                  <a:srgbClr val="FFFFFF"/>
                </a:solidFill>
                <a:latin typeface="Times New Roman"/>
                <a:cs typeface="Times New Roman"/>
              </a:rPr>
              <a:t>the</a:t>
            </a:r>
            <a:r>
              <a:rPr sz="1800" spc="5" dirty="0">
                <a:solidFill>
                  <a:srgbClr val="FFFFFF"/>
                </a:solidFill>
                <a:latin typeface="Times New Roman"/>
                <a:cs typeface="Times New Roman"/>
              </a:rPr>
              <a:t> </a:t>
            </a:r>
            <a:r>
              <a:rPr sz="1800" spc="50" dirty="0">
                <a:solidFill>
                  <a:srgbClr val="FFFFFF"/>
                </a:solidFill>
                <a:latin typeface="Times New Roman"/>
                <a:cs typeface="Times New Roman"/>
              </a:rPr>
              <a:t>scan</a:t>
            </a:r>
            <a:r>
              <a:rPr sz="1800" spc="5" dirty="0">
                <a:solidFill>
                  <a:srgbClr val="FFFFFF"/>
                </a:solidFill>
                <a:latin typeface="Times New Roman"/>
                <a:cs typeface="Times New Roman"/>
              </a:rPr>
              <a:t> </a:t>
            </a:r>
            <a:r>
              <a:rPr sz="1800" spc="70" dirty="0">
                <a:solidFill>
                  <a:srgbClr val="FFFFFF"/>
                </a:solidFill>
                <a:latin typeface="Times New Roman"/>
                <a:cs typeface="Times New Roman"/>
              </a:rPr>
              <a:t>include</a:t>
            </a:r>
            <a:r>
              <a:rPr sz="1800" dirty="0">
                <a:solidFill>
                  <a:srgbClr val="FFFFFF"/>
                </a:solidFill>
                <a:latin typeface="Times New Roman"/>
                <a:cs typeface="Times New Roman"/>
              </a:rPr>
              <a:t> </a:t>
            </a:r>
            <a:r>
              <a:rPr sz="1800" spc="55" dirty="0">
                <a:solidFill>
                  <a:srgbClr val="FFFFFF"/>
                </a:solidFill>
                <a:latin typeface="Times New Roman"/>
                <a:cs typeface="Times New Roman"/>
              </a:rPr>
              <a:t>actionable</a:t>
            </a:r>
            <a:r>
              <a:rPr sz="1800" spc="5" dirty="0">
                <a:solidFill>
                  <a:srgbClr val="FFFFFF"/>
                </a:solidFill>
                <a:latin typeface="Times New Roman"/>
                <a:cs typeface="Times New Roman"/>
              </a:rPr>
              <a:t> </a:t>
            </a:r>
            <a:r>
              <a:rPr sz="1800" spc="50" dirty="0">
                <a:solidFill>
                  <a:srgbClr val="FFFFFF"/>
                </a:solidFill>
                <a:latin typeface="Times New Roman"/>
                <a:cs typeface="Times New Roman"/>
              </a:rPr>
              <a:t>steps</a:t>
            </a:r>
            <a:r>
              <a:rPr sz="1800" spc="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5" dirty="0">
                <a:solidFill>
                  <a:srgbClr val="FFFFFF"/>
                </a:solidFill>
                <a:latin typeface="Times New Roman"/>
                <a:cs typeface="Times New Roman"/>
              </a:rPr>
              <a:t> </a:t>
            </a:r>
            <a:r>
              <a:rPr sz="1800" spc="40" dirty="0">
                <a:solidFill>
                  <a:srgbClr val="FFFFFF"/>
                </a:solidFill>
                <a:latin typeface="Times New Roman"/>
                <a:cs typeface="Times New Roman"/>
              </a:rPr>
              <a:t>resolve</a:t>
            </a:r>
            <a:r>
              <a:rPr sz="1800" spc="15" dirty="0">
                <a:solidFill>
                  <a:srgbClr val="FFFFFF"/>
                </a:solidFill>
                <a:latin typeface="Times New Roman"/>
                <a:cs typeface="Times New Roman"/>
              </a:rPr>
              <a:t> </a:t>
            </a:r>
            <a:r>
              <a:rPr sz="1800" spc="55" dirty="0">
                <a:solidFill>
                  <a:srgbClr val="FFFFFF"/>
                </a:solidFill>
                <a:latin typeface="Times New Roman"/>
                <a:cs typeface="Times New Roman"/>
              </a:rPr>
              <a:t>each</a:t>
            </a:r>
            <a:r>
              <a:rPr sz="1800" spc="10" dirty="0">
                <a:solidFill>
                  <a:srgbClr val="FFFFFF"/>
                </a:solidFill>
                <a:latin typeface="Times New Roman"/>
                <a:cs typeface="Times New Roman"/>
              </a:rPr>
              <a:t> </a:t>
            </a:r>
            <a:r>
              <a:rPr sz="1800" spc="40" dirty="0">
                <a:solidFill>
                  <a:srgbClr val="FFFFFF"/>
                </a:solidFill>
                <a:latin typeface="Times New Roman"/>
                <a:cs typeface="Times New Roman"/>
              </a:rPr>
              <a:t>issue</a:t>
            </a:r>
            <a:r>
              <a:rPr sz="1800" spc="10" dirty="0">
                <a:solidFill>
                  <a:srgbClr val="FFFFFF"/>
                </a:solidFill>
                <a:latin typeface="Times New Roman"/>
                <a:cs typeface="Times New Roman"/>
              </a:rPr>
              <a:t> </a:t>
            </a:r>
            <a:r>
              <a:rPr sz="1800" spc="100" dirty="0">
                <a:solidFill>
                  <a:srgbClr val="FFFFFF"/>
                </a:solidFill>
                <a:latin typeface="Times New Roman"/>
                <a:cs typeface="Times New Roman"/>
              </a:rPr>
              <a:t>and  </a:t>
            </a:r>
            <a:r>
              <a:rPr sz="1800" spc="65" dirty="0">
                <a:solidFill>
                  <a:srgbClr val="FFFFFF"/>
                </a:solidFill>
                <a:latin typeface="Times New Roman"/>
                <a:cs typeface="Times New Roman"/>
              </a:rPr>
              <a:t>provide</a:t>
            </a:r>
            <a:r>
              <a:rPr sz="1800" spc="-80" dirty="0">
                <a:solidFill>
                  <a:srgbClr val="FFFFFF"/>
                </a:solidFill>
                <a:latin typeface="Times New Roman"/>
                <a:cs typeface="Times New Roman"/>
              </a:rPr>
              <a:t> </a:t>
            </a:r>
            <a:r>
              <a:rPr sz="1800" spc="50" dirty="0">
                <a:solidFill>
                  <a:srgbClr val="FFFFFF"/>
                </a:solidFill>
                <a:latin typeface="Times New Roman"/>
                <a:cs typeface="Times New Roman"/>
              </a:rPr>
              <a:t>customized</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remediation</a:t>
            </a:r>
            <a:r>
              <a:rPr sz="1800" spc="-75" dirty="0">
                <a:solidFill>
                  <a:srgbClr val="FFFFFF"/>
                </a:solidFill>
                <a:latin typeface="Times New Roman"/>
                <a:cs typeface="Times New Roman"/>
              </a:rPr>
              <a:t> </a:t>
            </a:r>
            <a:r>
              <a:rPr sz="1800" spc="45" dirty="0">
                <a:solidFill>
                  <a:srgbClr val="FFFFFF"/>
                </a:solidFill>
                <a:latin typeface="Times New Roman"/>
                <a:cs typeface="Times New Roman"/>
              </a:rPr>
              <a:t>scripts</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where</a:t>
            </a:r>
            <a:r>
              <a:rPr sz="1800" spc="-60" dirty="0">
                <a:solidFill>
                  <a:srgbClr val="FFFFFF"/>
                </a:solidFill>
                <a:latin typeface="Times New Roman"/>
                <a:cs typeface="Times New Roman"/>
              </a:rPr>
              <a:t> </a:t>
            </a:r>
            <a:r>
              <a:rPr sz="1800" spc="35" dirty="0">
                <a:solidFill>
                  <a:srgbClr val="FFFFFF"/>
                </a:solidFill>
                <a:latin typeface="Times New Roman"/>
                <a:cs typeface="Times New Roman"/>
              </a:rPr>
              <a:t>applicable.</a:t>
            </a:r>
            <a:endParaRPr sz="18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6</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21081"/>
            <a:ext cx="6392545"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30" dirty="0"/>
              <a:t> </a:t>
            </a:r>
            <a:r>
              <a:rPr spc="-120" dirty="0"/>
              <a:t>3-7</a:t>
            </a:r>
          </a:p>
        </p:txBody>
      </p:sp>
      <p:sp>
        <p:nvSpPr>
          <p:cNvPr id="3" name="object 3"/>
          <p:cNvSpPr txBox="1"/>
          <p:nvPr/>
        </p:nvSpPr>
        <p:spPr>
          <a:xfrm>
            <a:off x="194310" y="794765"/>
            <a:ext cx="8481060" cy="2141855"/>
          </a:xfrm>
          <a:prstGeom prst="rect">
            <a:avLst/>
          </a:prstGeom>
        </p:spPr>
        <p:txBody>
          <a:bodyPr vert="horz" wrap="square" lIns="0" tIns="12700" rIns="0" bIns="0" rtlCol="0">
            <a:spAutoFit/>
          </a:bodyPr>
          <a:lstStyle/>
          <a:p>
            <a:pPr marL="12700" marR="5080">
              <a:lnSpc>
                <a:spcPct val="100000"/>
              </a:lnSpc>
              <a:spcBef>
                <a:spcPts val="100"/>
              </a:spcBef>
            </a:pPr>
            <a:r>
              <a:rPr sz="1800" spc="65" dirty="0">
                <a:latin typeface="Times New Roman"/>
                <a:cs typeface="Times New Roman"/>
              </a:rPr>
              <a:t>You</a:t>
            </a:r>
            <a:r>
              <a:rPr sz="1800" spc="-55" dirty="0">
                <a:latin typeface="Times New Roman"/>
                <a:cs typeface="Times New Roman"/>
              </a:rPr>
              <a:t> </a:t>
            </a:r>
            <a:r>
              <a:rPr sz="1800" spc="65" dirty="0">
                <a:latin typeface="Times New Roman"/>
                <a:cs typeface="Times New Roman"/>
              </a:rPr>
              <a:t>can</a:t>
            </a:r>
            <a:r>
              <a:rPr sz="1800" spc="-60" dirty="0">
                <a:latin typeface="Times New Roman"/>
                <a:cs typeface="Times New Roman"/>
              </a:rPr>
              <a:t> </a:t>
            </a:r>
            <a:r>
              <a:rPr sz="1800" spc="40" dirty="0">
                <a:latin typeface="Times New Roman"/>
                <a:cs typeface="Times New Roman"/>
              </a:rPr>
              <a:t>customize</a:t>
            </a:r>
            <a:r>
              <a:rPr sz="1800" spc="-65" dirty="0">
                <a:latin typeface="Times New Roman"/>
                <a:cs typeface="Times New Roman"/>
              </a:rPr>
              <a:t> </a:t>
            </a:r>
            <a:r>
              <a:rPr sz="1800" spc="90" dirty="0">
                <a:latin typeface="Times New Roman"/>
                <a:cs typeface="Times New Roman"/>
              </a:rPr>
              <a:t>an</a:t>
            </a:r>
            <a:r>
              <a:rPr sz="1800" spc="-60" dirty="0">
                <a:latin typeface="Times New Roman"/>
                <a:cs typeface="Times New Roman"/>
              </a:rPr>
              <a:t> </a:t>
            </a:r>
            <a:r>
              <a:rPr sz="1800" spc="50" dirty="0">
                <a:latin typeface="Times New Roman"/>
                <a:cs typeface="Times New Roman"/>
              </a:rPr>
              <a:t>assessment</a:t>
            </a:r>
            <a:r>
              <a:rPr sz="1800" spc="-50" dirty="0">
                <a:latin typeface="Times New Roman"/>
                <a:cs typeface="Times New Roman"/>
              </a:rPr>
              <a:t> </a:t>
            </a:r>
            <a:r>
              <a:rPr sz="1800" spc="80" dirty="0">
                <a:latin typeface="Times New Roman"/>
                <a:cs typeface="Times New Roman"/>
              </a:rPr>
              <a:t>report</a:t>
            </a:r>
            <a:r>
              <a:rPr sz="1800" spc="-55" dirty="0">
                <a:latin typeface="Times New Roman"/>
                <a:cs typeface="Times New Roman"/>
              </a:rPr>
              <a:t> </a:t>
            </a:r>
            <a:r>
              <a:rPr sz="1800" spc="60" dirty="0">
                <a:latin typeface="Times New Roman"/>
                <a:cs typeface="Times New Roman"/>
              </a:rPr>
              <a:t>for</a:t>
            </a:r>
            <a:r>
              <a:rPr sz="1800" spc="-45" dirty="0">
                <a:latin typeface="Times New Roman"/>
                <a:cs typeface="Times New Roman"/>
              </a:rPr>
              <a:t> </a:t>
            </a:r>
            <a:r>
              <a:rPr sz="1800" spc="70" dirty="0">
                <a:latin typeface="Times New Roman"/>
                <a:cs typeface="Times New Roman"/>
              </a:rPr>
              <a:t>your</a:t>
            </a:r>
            <a:r>
              <a:rPr sz="1800" spc="-50" dirty="0">
                <a:latin typeface="Times New Roman"/>
                <a:cs typeface="Times New Roman"/>
              </a:rPr>
              <a:t> </a:t>
            </a:r>
            <a:r>
              <a:rPr sz="1800" spc="85" dirty="0">
                <a:latin typeface="Times New Roman"/>
                <a:cs typeface="Times New Roman"/>
              </a:rPr>
              <a:t>environment</a:t>
            </a:r>
            <a:r>
              <a:rPr sz="1800" spc="-65" dirty="0">
                <a:latin typeface="Times New Roman"/>
                <a:cs typeface="Times New Roman"/>
              </a:rPr>
              <a:t> </a:t>
            </a:r>
            <a:r>
              <a:rPr sz="1800" spc="35" dirty="0">
                <a:latin typeface="Times New Roman"/>
                <a:cs typeface="Times New Roman"/>
              </a:rPr>
              <a:t>by</a:t>
            </a:r>
            <a:r>
              <a:rPr sz="1800" spc="-50" dirty="0">
                <a:latin typeface="Times New Roman"/>
                <a:cs typeface="Times New Roman"/>
              </a:rPr>
              <a:t> </a:t>
            </a:r>
            <a:r>
              <a:rPr sz="1800" spc="60" dirty="0">
                <a:latin typeface="Times New Roman"/>
                <a:cs typeface="Times New Roman"/>
              </a:rPr>
              <a:t>setting</a:t>
            </a:r>
            <a:r>
              <a:rPr sz="1800" spc="-60" dirty="0">
                <a:latin typeface="Times New Roman"/>
                <a:cs typeface="Times New Roman"/>
              </a:rPr>
              <a:t> </a:t>
            </a:r>
            <a:r>
              <a:rPr sz="1800" spc="90" dirty="0">
                <a:latin typeface="Times New Roman"/>
                <a:cs typeface="Times New Roman"/>
              </a:rPr>
              <a:t>an</a:t>
            </a:r>
            <a:r>
              <a:rPr sz="1800" spc="-65" dirty="0">
                <a:latin typeface="Times New Roman"/>
                <a:cs typeface="Times New Roman"/>
              </a:rPr>
              <a:t> </a:t>
            </a:r>
            <a:r>
              <a:rPr sz="1800" spc="45" dirty="0">
                <a:latin typeface="Times New Roman"/>
                <a:cs typeface="Times New Roman"/>
              </a:rPr>
              <a:t>acceptable  baseline</a:t>
            </a:r>
            <a:r>
              <a:rPr sz="1800" spc="-75" dirty="0">
                <a:latin typeface="Times New Roman"/>
                <a:cs typeface="Times New Roman"/>
              </a:rPr>
              <a:t> </a:t>
            </a:r>
            <a:r>
              <a:rPr sz="1800" spc="35" dirty="0">
                <a:latin typeface="Times New Roman"/>
                <a:cs typeface="Times New Roman"/>
              </a:rPr>
              <a:t>for:</a:t>
            </a:r>
            <a:endParaRPr sz="1800">
              <a:latin typeface="Times New Roman"/>
              <a:cs typeface="Times New Roman"/>
            </a:endParaRPr>
          </a:p>
          <a:p>
            <a:pPr marL="298450" indent="-285750">
              <a:lnSpc>
                <a:spcPct val="100000"/>
              </a:lnSpc>
              <a:spcBef>
                <a:spcPts val="45"/>
              </a:spcBef>
              <a:buFont typeface="Wingdings"/>
              <a:buChar char=""/>
              <a:tabLst>
                <a:tab pos="298450" algn="l"/>
              </a:tabLst>
            </a:pPr>
            <a:r>
              <a:rPr sz="1600" spc="45" dirty="0">
                <a:latin typeface="Times New Roman"/>
                <a:cs typeface="Times New Roman"/>
              </a:rPr>
              <a:t>Permission</a:t>
            </a:r>
            <a:r>
              <a:rPr sz="1600" spc="-85" dirty="0">
                <a:latin typeface="Times New Roman"/>
                <a:cs typeface="Times New Roman"/>
              </a:rPr>
              <a:t> </a:t>
            </a:r>
            <a:r>
              <a:rPr sz="1600" spc="55" dirty="0">
                <a:latin typeface="Times New Roman"/>
                <a:cs typeface="Times New Roman"/>
              </a:rPr>
              <a:t>configurations</a:t>
            </a:r>
            <a:endParaRPr sz="1600">
              <a:latin typeface="Times New Roman"/>
              <a:cs typeface="Times New Roman"/>
            </a:endParaRPr>
          </a:p>
          <a:p>
            <a:pPr marL="298450" indent="-285750">
              <a:lnSpc>
                <a:spcPct val="100000"/>
              </a:lnSpc>
              <a:buFont typeface="Wingdings"/>
              <a:buChar char=""/>
              <a:tabLst>
                <a:tab pos="298450" algn="l"/>
              </a:tabLst>
            </a:pPr>
            <a:r>
              <a:rPr sz="1600" spc="55" dirty="0">
                <a:latin typeface="Times New Roman"/>
                <a:cs typeface="Times New Roman"/>
              </a:rPr>
              <a:t>Feature</a:t>
            </a:r>
            <a:r>
              <a:rPr sz="1600" spc="-60" dirty="0">
                <a:latin typeface="Times New Roman"/>
                <a:cs typeface="Times New Roman"/>
              </a:rPr>
              <a:t> </a:t>
            </a:r>
            <a:r>
              <a:rPr sz="1600" spc="55" dirty="0">
                <a:latin typeface="Times New Roman"/>
                <a:cs typeface="Times New Roman"/>
              </a:rPr>
              <a:t>configurations</a:t>
            </a:r>
            <a:endParaRPr sz="1600">
              <a:latin typeface="Times New Roman"/>
              <a:cs typeface="Times New Roman"/>
            </a:endParaRPr>
          </a:p>
          <a:p>
            <a:pPr marL="298450" indent="-285750">
              <a:lnSpc>
                <a:spcPct val="100000"/>
              </a:lnSpc>
              <a:buFont typeface="Wingdings"/>
              <a:buChar char=""/>
              <a:tabLst>
                <a:tab pos="298450" algn="l"/>
              </a:tabLst>
            </a:pPr>
            <a:r>
              <a:rPr sz="1600" spc="50" dirty="0">
                <a:latin typeface="Times New Roman"/>
                <a:cs typeface="Times New Roman"/>
              </a:rPr>
              <a:t>Database</a:t>
            </a:r>
            <a:r>
              <a:rPr sz="1600" spc="-75" dirty="0">
                <a:latin typeface="Times New Roman"/>
                <a:cs typeface="Times New Roman"/>
              </a:rPr>
              <a:t> </a:t>
            </a:r>
            <a:r>
              <a:rPr sz="1600" spc="45" dirty="0">
                <a:latin typeface="Times New Roman"/>
                <a:cs typeface="Times New Roman"/>
              </a:rPr>
              <a:t>settings</a:t>
            </a:r>
            <a:endParaRPr sz="1600">
              <a:latin typeface="Times New Roman"/>
              <a:cs typeface="Times New Roman"/>
            </a:endParaRPr>
          </a:p>
          <a:p>
            <a:pPr marL="278130">
              <a:lnSpc>
                <a:spcPts val="2380"/>
              </a:lnSpc>
              <a:spcBef>
                <a:spcPts val="1530"/>
              </a:spcBef>
            </a:pPr>
            <a:r>
              <a:rPr sz="2000" spc="45" dirty="0">
                <a:latin typeface="Times New Roman"/>
                <a:cs typeface="Times New Roman"/>
              </a:rPr>
              <a:t>Following</a:t>
            </a:r>
            <a:r>
              <a:rPr sz="2000" spc="-50" dirty="0">
                <a:latin typeface="Times New Roman"/>
                <a:cs typeface="Times New Roman"/>
              </a:rPr>
              <a:t> </a:t>
            </a:r>
            <a:r>
              <a:rPr sz="2000" spc="55" dirty="0">
                <a:latin typeface="Times New Roman"/>
                <a:cs typeface="Times New Roman"/>
              </a:rPr>
              <a:t>steps</a:t>
            </a:r>
            <a:r>
              <a:rPr sz="2000" spc="-65" dirty="0">
                <a:latin typeface="Times New Roman"/>
                <a:cs typeface="Times New Roman"/>
              </a:rPr>
              <a:t> </a:t>
            </a:r>
            <a:r>
              <a:rPr sz="2000" spc="50" dirty="0">
                <a:latin typeface="Times New Roman"/>
                <a:cs typeface="Times New Roman"/>
              </a:rPr>
              <a:t>are</a:t>
            </a:r>
            <a:r>
              <a:rPr sz="2000" spc="-70" dirty="0">
                <a:latin typeface="Times New Roman"/>
                <a:cs typeface="Times New Roman"/>
              </a:rPr>
              <a:t> </a:t>
            </a:r>
            <a:r>
              <a:rPr sz="2000" spc="80" dirty="0">
                <a:latin typeface="Times New Roman"/>
                <a:cs typeface="Times New Roman"/>
              </a:rPr>
              <a:t>used</a:t>
            </a:r>
            <a:r>
              <a:rPr sz="2000" spc="-75"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75" dirty="0">
                <a:latin typeface="Times New Roman"/>
                <a:cs typeface="Times New Roman"/>
              </a:rPr>
              <a:t>implement</a:t>
            </a:r>
            <a:r>
              <a:rPr sz="2000" spc="-60" dirty="0">
                <a:latin typeface="Times New Roman"/>
                <a:cs typeface="Times New Roman"/>
              </a:rPr>
              <a:t> </a:t>
            </a:r>
            <a:r>
              <a:rPr sz="2000" spc="60" dirty="0">
                <a:latin typeface="Times New Roman"/>
                <a:cs typeface="Times New Roman"/>
              </a:rPr>
              <a:t>vulnerability</a:t>
            </a:r>
            <a:r>
              <a:rPr sz="2000" spc="-50" dirty="0">
                <a:latin typeface="Times New Roman"/>
                <a:cs typeface="Times New Roman"/>
              </a:rPr>
              <a:t> </a:t>
            </a:r>
            <a:r>
              <a:rPr sz="2000" spc="45" dirty="0">
                <a:latin typeface="Times New Roman"/>
                <a:cs typeface="Times New Roman"/>
              </a:rPr>
              <a:t>assessment:</a:t>
            </a:r>
            <a:endParaRPr sz="2000">
              <a:latin typeface="Times New Roman"/>
              <a:cs typeface="Times New Roman"/>
            </a:endParaRPr>
          </a:p>
          <a:p>
            <a:pPr marL="278130">
              <a:lnSpc>
                <a:spcPts val="2620"/>
              </a:lnSpc>
            </a:pPr>
            <a:r>
              <a:rPr sz="2200" b="1" spc="25" dirty="0">
                <a:latin typeface="Times New Roman"/>
                <a:cs typeface="Times New Roman"/>
              </a:rPr>
              <a:t>Step </a:t>
            </a:r>
            <a:r>
              <a:rPr sz="2200" b="1" spc="-265" dirty="0">
                <a:latin typeface="Times New Roman"/>
                <a:cs typeface="Times New Roman"/>
              </a:rPr>
              <a:t>1: </a:t>
            </a:r>
            <a:r>
              <a:rPr sz="2200" b="1" spc="20" dirty="0">
                <a:latin typeface="Times New Roman"/>
                <a:cs typeface="Times New Roman"/>
              </a:rPr>
              <a:t>Run </a:t>
            </a:r>
            <a:r>
              <a:rPr sz="2200" b="1" spc="-85" dirty="0">
                <a:latin typeface="Times New Roman"/>
                <a:cs typeface="Times New Roman"/>
              </a:rPr>
              <a:t>a</a:t>
            </a:r>
            <a:r>
              <a:rPr sz="2200" b="1" spc="-240" dirty="0">
                <a:latin typeface="Times New Roman"/>
                <a:cs typeface="Times New Roman"/>
              </a:rPr>
              <a:t> </a:t>
            </a:r>
            <a:r>
              <a:rPr sz="2200" b="1" spc="-10" dirty="0">
                <a:latin typeface="Times New Roman"/>
                <a:cs typeface="Times New Roman"/>
              </a:rPr>
              <a:t>scan.</a:t>
            </a:r>
            <a:endParaRPr sz="2200">
              <a:latin typeface="Times New Roman"/>
              <a:cs typeface="Times New Roman"/>
            </a:endParaRPr>
          </a:p>
        </p:txBody>
      </p:sp>
      <p:pic>
        <p:nvPicPr>
          <p:cNvPr id="4" name="object 4"/>
          <p:cNvPicPr/>
          <p:nvPr/>
        </p:nvPicPr>
        <p:blipFill>
          <a:blip r:embed="rId3" cstate="print"/>
          <a:stretch>
            <a:fillRect/>
          </a:stretch>
        </p:blipFill>
        <p:spPr>
          <a:xfrm>
            <a:off x="1251966" y="3100577"/>
            <a:ext cx="6485382" cy="3370326"/>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7</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6443980"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25" dirty="0"/>
              <a:t> </a:t>
            </a:r>
            <a:r>
              <a:rPr spc="15" dirty="0"/>
              <a:t>4-7</a:t>
            </a:r>
          </a:p>
        </p:txBody>
      </p:sp>
      <p:sp>
        <p:nvSpPr>
          <p:cNvPr id="3" name="object 3"/>
          <p:cNvSpPr txBox="1"/>
          <p:nvPr/>
        </p:nvSpPr>
        <p:spPr>
          <a:xfrm>
            <a:off x="459740" y="917448"/>
            <a:ext cx="2753360" cy="361315"/>
          </a:xfrm>
          <a:prstGeom prst="rect">
            <a:avLst/>
          </a:prstGeom>
        </p:spPr>
        <p:txBody>
          <a:bodyPr vert="horz" wrap="square" lIns="0" tIns="12700" rIns="0" bIns="0" rtlCol="0">
            <a:spAutoFit/>
          </a:bodyPr>
          <a:lstStyle/>
          <a:p>
            <a:pPr marL="12700">
              <a:lnSpc>
                <a:spcPct val="100000"/>
              </a:lnSpc>
              <a:spcBef>
                <a:spcPts val="100"/>
              </a:spcBef>
            </a:pPr>
            <a:r>
              <a:rPr sz="2200" b="1" spc="25" dirty="0">
                <a:latin typeface="Times New Roman"/>
                <a:cs typeface="Times New Roman"/>
              </a:rPr>
              <a:t>Step</a:t>
            </a:r>
            <a:r>
              <a:rPr sz="2200" b="1" spc="-150" dirty="0">
                <a:latin typeface="Times New Roman"/>
                <a:cs typeface="Times New Roman"/>
              </a:rPr>
              <a:t> </a:t>
            </a:r>
            <a:r>
              <a:rPr sz="2200" b="1" spc="-125" dirty="0">
                <a:latin typeface="Times New Roman"/>
                <a:cs typeface="Times New Roman"/>
              </a:rPr>
              <a:t>2:</a:t>
            </a:r>
            <a:r>
              <a:rPr sz="2200" b="1" spc="-120" dirty="0">
                <a:latin typeface="Times New Roman"/>
                <a:cs typeface="Times New Roman"/>
              </a:rPr>
              <a:t> </a:t>
            </a:r>
            <a:r>
              <a:rPr sz="2200" b="1" spc="65" dirty="0">
                <a:latin typeface="Times New Roman"/>
                <a:cs typeface="Times New Roman"/>
              </a:rPr>
              <a:t>View</a:t>
            </a:r>
            <a:r>
              <a:rPr sz="2200" b="1" spc="-150" dirty="0">
                <a:latin typeface="Times New Roman"/>
                <a:cs typeface="Times New Roman"/>
              </a:rPr>
              <a:t> </a:t>
            </a:r>
            <a:r>
              <a:rPr sz="2200" b="1" spc="35" dirty="0">
                <a:latin typeface="Times New Roman"/>
                <a:cs typeface="Times New Roman"/>
              </a:rPr>
              <a:t>the</a:t>
            </a:r>
            <a:r>
              <a:rPr sz="2200" b="1" spc="-120" dirty="0">
                <a:latin typeface="Times New Roman"/>
                <a:cs typeface="Times New Roman"/>
              </a:rPr>
              <a:t> </a:t>
            </a:r>
            <a:r>
              <a:rPr sz="2200" b="1" spc="-35" dirty="0">
                <a:latin typeface="Times New Roman"/>
                <a:cs typeface="Times New Roman"/>
              </a:rPr>
              <a:t>report</a:t>
            </a:r>
            <a:endParaRPr sz="2200">
              <a:latin typeface="Times New Roman"/>
              <a:cs typeface="Times New Roman"/>
            </a:endParaRPr>
          </a:p>
        </p:txBody>
      </p:sp>
      <p:sp>
        <p:nvSpPr>
          <p:cNvPr id="4" name="object 4"/>
          <p:cNvSpPr/>
          <p:nvPr/>
        </p:nvSpPr>
        <p:spPr>
          <a:xfrm>
            <a:off x="211836" y="2090165"/>
            <a:ext cx="4360545" cy="3767454"/>
          </a:xfrm>
          <a:custGeom>
            <a:avLst/>
            <a:gdLst/>
            <a:ahLst/>
            <a:cxnLst/>
            <a:rect l="l" t="t" r="r" b="b"/>
            <a:pathLst>
              <a:path w="4360545" h="3767454">
                <a:moveTo>
                  <a:pt x="4360164" y="627888"/>
                </a:moveTo>
                <a:lnTo>
                  <a:pt x="4358271" y="578827"/>
                </a:lnTo>
                <a:lnTo>
                  <a:pt x="4352696" y="530809"/>
                </a:lnTo>
                <a:lnTo>
                  <a:pt x="4343565" y="483946"/>
                </a:lnTo>
                <a:lnTo>
                  <a:pt x="4331043" y="438391"/>
                </a:lnTo>
                <a:lnTo>
                  <a:pt x="4315244" y="394296"/>
                </a:lnTo>
                <a:lnTo>
                  <a:pt x="4296321" y="351790"/>
                </a:lnTo>
                <a:lnTo>
                  <a:pt x="4274413" y="311010"/>
                </a:lnTo>
                <a:lnTo>
                  <a:pt x="4249661" y="272110"/>
                </a:lnTo>
                <a:lnTo>
                  <a:pt x="4222204" y="235204"/>
                </a:lnTo>
                <a:lnTo>
                  <a:pt x="4192168" y="200456"/>
                </a:lnTo>
                <a:lnTo>
                  <a:pt x="4159707" y="167995"/>
                </a:lnTo>
                <a:lnTo>
                  <a:pt x="4124960" y="137960"/>
                </a:lnTo>
                <a:lnTo>
                  <a:pt x="4088053" y="110502"/>
                </a:lnTo>
                <a:lnTo>
                  <a:pt x="4049153" y="85750"/>
                </a:lnTo>
                <a:lnTo>
                  <a:pt x="4008374" y="63842"/>
                </a:lnTo>
                <a:lnTo>
                  <a:pt x="3965867" y="44919"/>
                </a:lnTo>
                <a:lnTo>
                  <a:pt x="3921772" y="29121"/>
                </a:lnTo>
                <a:lnTo>
                  <a:pt x="3876217" y="16598"/>
                </a:lnTo>
                <a:lnTo>
                  <a:pt x="3829354" y="7467"/>
                </a:lnTo>
                <a:lnTo>
                  <a:pt x="3781336" y="1892"/>
                </a:lnTo>
                <a:lnTo>
                  <a:pt x="3732276" y="0"/>
                </a:lnTo>
                <a:lnTo>
                  <a:pt x="627900" y="0"/>
                </a:lnTo>
                <a:lnTo>
                  <a:pt x="578827" y="1892"/>
                </a:lnTo>
                <a:lnTo>
                  <a:pt x="530783" y="7467"/>
                </a:lnTo>
                <a:lnTo>
                  <a:pt x="483920" y="16598"/>
                </a:lnTo>
                <a:lnTo>
                  <a:pt x="438365" y="29121"/>
                </a:lnTo>
                <a:lnTo>
                  <a:pt x="394271" y="44919"/>
                </a:lnTo>
                <a:lnTo>
                  <a:pt x="351751" y="63842"/>
                </a:lnTo>
                <a:lnTo>
                  <a:pt x="310972" y="85750"/>
                </a:lnTo>
                <a:lnTo>
                  <a:pt x="272072" y="110502"/>
                </a:lnTo>
                <a:lnTo>
                  <a:pt x="235165" y="137960"/>
                </a:lnTo>
                <a:lnTo>
                  <a:pt x="200418" y="167995"/>
                </a:lnTo>
                <a:lnTo>
                  <a:pt x="167970" y="200456"/>
                </a:lnTo>
                <a:lnTo>
                  <a:pt x="137934" y="235204"/>
                </a:lnTo>
                <a:lnTo>
                  <a:pt x="110477" y="272110"/>
                </a:lnTo>
                <a:lnTo>
                  <a:pt x="85725" y="311010"/>
                </a:lnTo>
                <a:lnTo>
                  <a:pt x="63817" y="351790"/>
                </a:lnTo>
                <a:lnTo>
                  <a:pt x="44894" y="394296"/>
                </a:lnTo>
                <a:lnTo>
                  <a:pt x="29108" y="438391"/>
                </a:lnTo>
                <a:lnTo>
                  <a:pt x="16573" y="483946"/>
                </a:lnTo>
                <a:lnTo>
                  <a:pt x="7454" y="530809"/>
                </a:lnTo>
                <a:lnTo>
                  <a:pt x="1879" y="578827"/>
                </a:lnTo>
                <a:lnTo>
                  <a:pt x="0" y="627888"/>
                </a:lnTo>
                <a:lnTo>
                  <a:pt x="0" y="3139440"/>
                </a:lnTo>
                <a:lnTo>
                  <a:pt x="1879" y="3188512"/>
                </a:lnTo>
                <a:lnTo>
                  <a:pt x="7454" y="3236531"/>
                </a:lnTo>
                <a:lnTo>
                  <a:pt x="16573" y="3283394"/>
                </a:lnTo>
                <a:lnTo>
                  <a:pt x="29108" y="3328949"/>
                </a:lnTo>
                <a:lnTo>
                  <a:pt x="44894" y="3373043"/>
                </a:lnTo>
                <a:lnTo>
                  <a:pt x="63817" y="3415550"/>
                </a:lnTo>
                <a:lnTo>
                  <a:pt x="85725" y="3456330"/>
                </a:lnTo>
                <a:lnTo>
                  <a:pt x="110477" y="3495230"/>
                </a:lnTo>
                <a:lnTo>
                  <a:pt x="137934" y="3532136"/>
                </a:lnTo>
                <a:lnTo>
                  <a:pt x="167970" y="3566884"/>
                </a:lnTo>
                <a:lnTo>
                  <a:pt x="200418" y="3599345"/>
                </a:lnTo>
                <a:lnTo>
                  <a:pt x="235165" y="3629380"/>
                </a:lnTo>
                <a:lnTo>
                  <a:pt x="272072" y="3656838"/>
                </a:lnTo>
                <a:lnTo>
                  <a:pt x="310972" y="3681590"/>
                </a:lnTo>
                <a:lnTo>
                  <a:pt x="351751" y="3703497"/>
                </a:lnTo>
                <a:lnTo>
                  <a:pt x="394271" y="3722420"/>
                </a:lnTo>
                <a:lnTo>
                  <a:pt x="438365" y="3738219"/>
                </a:lnTo>
                <a:lnTo>
                  <a:pt x="483920" y="3750741"/>
                </a:lnTo>
                <a:lnTo>
                  <a:pt x="530783" y="3759873"/>
                </a:lnTo>
                <a:lnTo>
                  <a:pt x="578827" y="3765448"/>
                </a:lnTo>
                <a:lnTo>
                  <a:pt x="627900" y="3767328"/>
                </a:lnTo>
                <a:lnTo>
                  <a:pt x="3732276" y="3767328"/>
                </a:lnTo>
                <a:lnTo>
                  <a:pt x="3781336" y="3765448"/>
                </a:lnTo>
                <a:lnTo>
                  <a:pt x="3829354" y="3759873"/>
                </a:lnTo>
                <a:lnTo>
                  <a:pt x="3876217" y="3750741"/>
                </a:lnTo>
                <a:lnTo>
                  <a:pt x="3921772" y="3738219"/>
                </a:lnTo>
                <a:lnTo>
                  <a:pt x="3965867" y="3722420"/>
                </a:lnTo>
                <a:lnTo>
                  <a:pt x="4008374" y="3703497"/>
                </a:lnTo>
                <a:lnTo>
                  <a:pt x="4049153" y="3681590"/>
                </a:lnTo>
                <a:lnTo>
                  <a:pt x="4088053" y="3656838"/>
                </a:lnTo>
                <a:lnTo>
                  <a:pt x="4124960" y="3629380"/>
                </a:lnTo>
                <a:lnTo>
                  <a:pt x="4159707" y="3599345"/>
                </a:lnTo>
                <a:lnTo>
                  <a:pt x="4192168" y="3566884"/>
                </a:lnTo>
                <a:lnTo>
                  <a:pt x="4222204" y="3532136"/>
                </a:lnTo>
                <a:lnTo>
                  <a:pt x="4249661" y="3495230"/>
                </a:lnTo>
                <a:lnTo>
                  <a:pt x="4274413" y="3456330"/>
                </a:lnTo>
                <a:lnTo>
                  <a:pt x="4296321" y="3415550"/>
                </a:lnTo>
                <a:lnTo>
                  <a:pt x="4315244" y="3373043"/>
                </a:lnTo>
                <a:lnTo>
                  <a:pt x="4331043" y="3328949"/>
                </a:lnTo>
                <a:lnTo>
                  <a:pt x="4343565" y="3283394"/>
                </a:lnTo>
                <a:lnTo>
                  <a:pt x="4352696" y="3236531"/>
                </a:lnTo>
                <a:lnTo>
                  <a:pt x="4358271" y="3188512"/>
                </a:lnTo>
                <a:lnTo>
                  <a:pt x="4360164" y="3139440"/>
                </a:lnTo>
                <a:lnTo>
                  <a:pt x="4360164" y="627888"/>
                </a:lnTo>
                <a:close/>
              </a:path>
            </a:pathLst>
          </a:custGeom>
          <a:solidFill>
            <a:srgbClr val="C0504D"/>
          </a:solidFill>
        </p:spPr>
        <p:txBody>
          <a:bodyPr wrap="square" lIns="0" tIns="0" rIns="0" bIns="0" rtlCol="0"/>
          <a:lstStyle/>
          <a:p>
            <a:endParaRPr/>
          </a:p>
        </p:txBody>
      </p:sp>
      <p:sp>
        <p:nvSpPr>
          <p:cNvPr id="5" name="object 5"/>
          <p:cNvSpPr txBox="1"/>
          <p:nvPr/>
        </p:nvSpPr>
        <p:spPr>
          <a:xfrm>
            <a:off x="382270" y="2416301"/>
            <a:ext cx="3918585" cy="3073400"/>
          </a:xfrm>
          <a:prstGeom prst="rect">
            <a:avLst/>
          </a:prstGeom>
        </p:spPr>
        <p:txBody>
          <a:bodyPr vert="horz" wrap="square" lIns="0" tIns="46990" rIns="0" bIns="0" rtlCol="0">
            <a:spAutoFit/>
          </a:bodyPr>
          <a:lstStyle/>
          <a:p>
            <a:pPr marL="355600" marR="5715" indent="-342900" algn="just">
              <a:lnSpc>
                <a:spcPts val="2160"/>
              </a:lnSpc>
              <a:spcBef>
                <a:spcPts val="370"/>
              </a:spcBef>
              <a:buFont typeface="Wingdings"/>
              <a:buChar char=""/>
              <a:tabLst>
                <a:tab pos="355600" algn="l"/>
              </a:tabLst>
            </a:pPr>
            <a:r>
              <a:rPr sz="2000" spc="180" dirty="0">
                <a:solidFill>
                  <a:srgbClr val="FFFFFF"/>
                </a:solidFill>
                <a:latin typeface="Times New Roman"/>
                <a:cs typeface="Times New Roman"/>
              </a:rPr>
              <a:t>When </a:t>
            </a:r>
            <a:r>
              <a:rPr sz="2000" spc="60" dirty="0">
                <a:solidFill>
                  <a:srgbClr val="FFFFFF"/>
                </a:solidFill>
                <a:latin typeface="Times New Roman"/>
                <a:cs typeface="Times New Roman"/>
              </a:rPr>
              <a:t>vulnerability</a:t>
            </a:r>
            <a:r>
              <a:rPr sz="2000" spc="620" dirty="0">
                <a:solidFill>
                  <a:srgbClr val="FFFFFF"/>
                </a:solidFill>
                <a:latin typeface="Times New Roman"/>
                <a:cs typeface="Times New Roman"/>
              </a:rPr>
              <a:t> </a:t>
            </a:r>
            <a:r>
              <a:rPr sz="2000" spc="55" dirty="0">
                <a:solidFill>
                  <a:srgbClr val="FFFFFF"/>
                </a:solidFill>
                <a:latin typeface="Times New Roman"/>
                <a:cs typeface="Times New Roman"/>
              </a:rPr>
              <a:t>scan </a:t>
            </a:r>
            <a:r>
              <a:rPr sz="2000" spc="5" dirty="0">
                <a:solidFill>
                  <a:srgbClr val="FFFFFF"/>
                </a:solidFill>
                <a:latin typeface="Times New Roman"/>
                <a:cs typeface="Times New Roman"/>
              </a:rPr>
              <a:t>is  </a:t>
            </a:r>
            <a:r>
              <a:rPr sz="2000" spc="60" dirty="0">
                <a:solidFill>
                  <a:srgbClr val="FFFFFF"/>
                </a:solidFill>
                <a:latin typeface="Times New Roman"/>
                <a:cs typeface="Times New Roman"/>
              </a:rPr>
              <a:t>finished,</a:t>
            </a:r>
            <a:r>
              <a:rPr sz="2000" spc="620" dirty="0">
                <a:solidFill>
                  <a:srgbClr val="FFFFFF"/>
                </a:solidFill>
                <a:latin typeface="Times New Roman"/>
                <a:cs typeface="Times New Roman"/>
              </a:rPr>
              <a:t> </a:t>
            </a:r>
            <a:r>
              <a:rPr sz="2000" spc="55" dirty="0">
                <a:solidFill>
                  <a:srgbClr val="FFFFFF"/>
                </a:solidFill>
                <a:latin typeface="Times New Roman"/>
                <a:cs typeface="Times New Roman"/>
              </a:rPr>
              <a:t>scan </a:t>
            </a:r>
            <a:r>
              <a:rPr sz="2000" spc="85" dirty="0">
                <a:solidFill>
                  <a:srgbClr val="FFFFFF"/>
                </a:solidFill>
                <a:latin typeface="Times New Roman"/>
                <a:cs typeface="Times New Roman"/>
              </a:rPr>
              <a:t>report </a:t>
            </a:r>
            <a:r>
              <a:rPr sz="2000" spc="5" dirty="0">
                <a:solidFill>
                  <a:srgbClr val="FFFFFF"/>
                </a:solidFill>
                <a:latin typeface="Times New Roman"/>
                <a:cs typeface="Times New Roman"/>
              </a:rPr>
              <a:t>is  </a:t>
            </a:r>
            <a:r>
              <a:rPr sz="2000" spc="55" dirty="0">
                <a:solidFill>
                  <a:srgbClr val="FFFFFF"/>
                </a:solidFill>
                <a:latin typeface="Times New Roman"/>
                <a:cs typeface="Times New Roman"/>
              </a:rPr>
              <a:t>automatically </a:t>
            </a:r>
            <a:r>
              <a:rPr sz="2000" spc="50" dirty="0">
                <a:solidFill>
                  <a:srgbClr val="FFFFFF"/>
                </a:solidFill>
                <a:latin typeface="Times New Roman"/>
                <a:cs typeface="Times New Roman"/>
              </a:rPr>
              <a:t>displayed </a:t>
            </a:r>
            <a:r>
              <a:rPr sz="2000" spc="90"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60" dirty="0">
                <a:solidFill>
                  <a:srgbClr val="FFFFFF"/>
                </a:solidFill>
                <a:latin typeface="Times New Roman"/>
                <a:cs typeface="Times New Roman"/>
              </a:rPr>
              <a:t>Azure</a:t>
            </a:r>
            <a:r>
              <a:rPr sz="2000" spc="-75" dirty="0">
                <a:solidFill>
                  <a:srgbClr val="FFFFFF"/>
                </a:solidFill>
                <a:latin typeface="Times New Roman"/>
                <a:cs typeface="Times New Roman"/>
              </a:rPr>
              <a:t> </a:t>
            </a:r>
            <a:r>
              <a:rPr sz="2000" spc="65" dirty="0">
                <a:solidFill>
                  <a:srgbClr val="FFFFFF"/>
                </a:solidFill>
                <a:latin typeface="Times New Roman"/>
                <a:cs typeface="Times New Roman"/>
              </a:rPr>
              <a:t>portal.</a:t>
            </a:r>
            <a:endParaRPr sz="2000">
              <a:latin typeface="Times New Roman"/>
              <a:cs typeface="Times New Roman"/>
            </a:endParaRPr>
          </a:p>
          <a:p>
            <a:pPr marL="355600" marR="5080" indent="-342900" algn="just">
              <a:lnSpc>
                <a:spcPts val="2160"/>
              </a:lnSpc>
              <a:spcBef>
                <a:spcPts val="2160"/>
              </a:spcBef>
              <a:buFont typeface="Wingdings"/>
              <a:buChar char=""/>
              <a:tabLst>
                <a:tab pos="355600" algn="l"/>
              </a:tabLst>
            </a:pPr>
            <a:r>
              <a:rPr sz="2000" spc="60" dirty="0">
                <a:solidFill>
                  <a:srgbClr val="FFFFFF"/>
                </a:solidFill>
                <a:latin typeface="Times New Roman"/>
                <a:cs typeface="Times New Roman"/>
              </a:rPr>
              <a:t>Results</a:t>
            </a:r>
            <a:r>
              <a:rPr sz="2000" spc="620" dirty="0">
                <a:solidFill>
                  <a:srgbClr val="FFFFFF"/>
                </a:solidFill>
                <a:latin typeface="Times New Roman"/>
                <a:cs typeface="Times New Roman"/>
              </a:rPr>
              <a:t> </a:t>
            </a:r>
            <a:r>
              <a:rPr sz="2000" spc="75" dirty="0">
                <a:solidFill>
                  <a:srgbClr val="FFFFFF"/>
                </a:solidFill>
                <a:latin typeface="Times New Roman"/>
                <a:cs typeface="Times New Roman"/>
              </a:rPr>
              <a:t>include </a:t>
            </a:r>
            <a:r>
              <a:rPr sz="2000" spc="65" dirty="0">
                <a:solidFill>
                  <a:srgbClr val="FFFFFF"/>
                </a:solidFill>
                <a:latin typeface="Times New Roman"/>
                <a:cs typeface="Times New Roman"/>
              </a:rPr>
              <a:t>warnings </a:t>
            </a:r>
            <a:r>
              <a:rPr sz="2000" spc="140" dirty="0">
                <a:solidFill>
                  <a:srgbClr val="FFFFFF"/>
                </a:solidFill>
                <a:latin typeface="Times New Roman"/>
                <a:cs typeface="Times New Roman"/>
              </a:rPr>
              <a:t>on  </a:t>
            </a:r>
            <a:r>
              <a:rPr sz="2000" spc="65" dirty="0">
                <a:solidFill>
                  <a:srgbClr val="FFFFFF"/>
                </a:solidFill>
                <a:latin typeface="Times New Roman"/>
                <a:cs typeface="Times New Roman"/>
              </a:rPr>
              <a:t>deviations </a:t>
            </a:r>
            <a:r>
              <a:rPr sz="2000" spc="70" dirty="0">
                <a:solidFill>
                  <a:srgbClr val="FFFFFF"/>
                </a:solidFill>
                <a:latin typeface="Times New Roman"/>
                <a:cs typeface="Times New Roman"/>
              </a:rPr>
              <a:t>from </a:t>
            </a:r>
            <a:r>
              <a:rPr sz="2000" spc="65" dirty="0">
                <a:solidFill>
                  <a:srgbClr val="FFFFFF"/>
                </a:solidFill>
                <a:latin typeface="Times New Roman"/>
                <a:cs typeface="Times New Roman"/>
              </a:rPr>
              <a:t>best </a:t>
            </a:r>
            <a:r>
              <a:rPr sz="2000" spc="50" dirty="0">
                <a:solidFill>
                  <a:srgbClr val="FFFFFF"/>
                </a:solidFill>
                <a:latin typeface="Times New Roman"/>
                <a:cs typeface="Times New Roman"/>
              </a:rPr>
              <a:t>practices  </a:t>
            </a:r>
            <a:r>
              <a:rPr sz="2000" spc="110" dirty="0">
                <a:solidFill>
                  <a:srgbClr val="FFFFFF"/>
                </a:solidFill>
                <a:latin typeface="Times New Roman"/>
                <a:cs typeface="Times New Roman"/>
              </a:rPr>
              <a:t>and </a:t>
            </a:r>
            <a:r>
              <a:rPr sz="2000" spc="30" dirty="0">
                <a:solidFill>
                  <a:srgbClr val="FFFFFF"/>
                </a:solidFill>
                <a:latin typeface="Times New Roman"/>
                <a:cs typeface="Times New Roman"/>
              </a:rPr>
              <a:t>a </a:t>
            </a:r>
            <a:r>
              <a:rPr sz="2000" spc="90" dirty="0">
                <a:solidFill>
                  <a:srgbClr val="FFFFFF"/>
                </a:solidFill>
                <a:latin typeface="Times New Roman"/>
                <a:cs typeface="Times New Roman"/>
              </a:rPr>
              <a:t>snapshot </a:t>
            </a:r>
            <a:r>
              <a:rPr sz="2000" spc="55" dirty="0">
                <a:solidFill>
                  <a:srgbClr val="FFFFFF"/>
                </a:solidFill>
                <a:latin typeface="Times New Roman"/>
                <a:cs typeface="Times New Roman"/>
              </a:rPr>
              <a:t>of </a:t>
            </a:r>
            <a:r>
              <a:rPr sz="2000" spc="80" dirty="0">
                <a:solidFill>
                  <a:srgbClr val="FFFFFF"/>
                </a:solidFill>
                <a:latin typeface="Times New Roman"/>
                <a:cs typeface="Times New Roman"/>
              </a:rPr>
              <a:t>your</a:t>
            </a:r>
            <a:r>
              <a:rPr sz="2000" spc="-30" dirty="0">
                <a:solidFill>
                  <a:srgbClr val="FFFFFF"/>
                </a:solidFill>
                <a:latin typeface="Times New Roman"/>
                <a:cs typeface="Times New Roman"/>
              </a:rPr>
              <a:t> </a:t>
            </a:r>
            <a:r>
              <a:rPr sz="2000" spc="50" dirty="0">
                <a:solidFill>
                  <a:srgbClr val="FFFFFF"/>
                </a:solidFill>
                <a:latin typeface="Times New Roman"/>
                <a:cs typeface="Times New Roman"/>
              </a:rPr>
              <a:t>security-  </a:t>
            </a:r>
            <a:r>
              <a:rPr sz="2000" spc="65" dirty="0">
                <a:solidFill>
                  <a:srgbClr val="FFFFFF"/>
                </a:solidFill>
                <a:latin typeface="Times New Roman"/>
                <a:cs typeface="Times New Roman"/>
              </a:rPr>
              <a:t>related </a:t>
            </a:r>
            <a:r>
              <a:rPr sz="2000" spc="50" dirty="0">
                <a:solidFill>
                  <a:srgbClr val="FFFFFF"/>
                </a:solidFill>
                <a:latin typeface="Times New Roman"/>
                <a:cs typeface="Times New Roman"/>
              </a:rPr>
              <a:t>settings, </a:t>
            </a:r>
            <a:r>
              <a:rPr sz="2000" spc="80" dirty="0">
                <a:solidFill>
                  <a:srgbClr val="FFFFFF"/>
                </a:solidFill>
                <a:latin typeface="Times New Roman"/>
                <a:cs typeface="Times New Roman"/>
              </a:rPr>
              <a:t>such</a:t>
            </a:r>
            <a:r>
              <a:rPr sz="2000" spc="-355" dirty="0">
                <a:solidFill>
                  <a:srgbClr val="FFFFFF"/>
                </a:solidFill>
                <a:latin typeface="Times New Roman"/>
                <a:cs typeface="Times New Roman"/>
              </a:rPr>
              <a:t> </a:t>
            </a:r>
            <a:r>
              <a:rPr sz="2000" spc="20" dirty="0">
                <a:solidFill>
                  <a:srgbClr val="FFFFFF"/>
                </a:solidFill>
                <a:latin typeface="Times New Roman"/>
                <a:cs typeface="Times New Roman"/>
              </a:rPr>
              <a:t>as </a:t>
            </a:r>
            <a:r>
              <a:rPr sz="2000" spc="60" dirty="0">
                <a:solidFill>
                  <a:srgbClr val="FFFFFF"/>
                </a:solidFill>
                <a:latin typeface="Times New Roman"/>
                <a:cs typeface="Times New Roman"/>
              </a:rPr>
              <a:t>database  </a:t>
            </a:r>
            <a:r>
              <a:rPr sz="2000" spc="55" dirty="0">
                <a:solidFill>
                  <a:srgbClr val="FFFFFF"/>
                </a:solidFill>
                <a:latin typeface="Times New Roman"/>
                <a:cs typeface="Times New Roman"/>
              </a:rPr>
              <a:t>principals </a:t>
            </a:r>
            <a:r>
              <a:rPr sz="2000" spc="114" dirty="0">
                <a:solidFill>
                  <a:srgbClr val="FFFFFF"/>
                </a:solidFill>
                <a:latin typeface="Times New Roman"/>
                <a:cs typeface="Times New Roman"/>
              </a:rPr>
              <a:t>and </a:t>
            </a:r>
            <a:r>
              <a:rPr sz="2000" spc="45" dirty="0">
                <a:solidFill>
                  <a:srgbClr val="FFFFFF"/>
                </a:solidFill>
                <a:latin typeface="Times New Roman"/>
                <a:cs typeface="Times New Roman"/>
              </a:rPr>
              <a:t>roles </a:t>
            </a:r>
            <a:r>
              <a:rPr sz="2000" spc="114" dirty="0">
                <a:solidFill>
                  <a:srgbClr val="FFFFFF"/>
                </a:solidFill>
                <a:latin typeface="Times New Roman"/>
                <a:cs typeface="Times New Roman"/>
              </a:rPr>
              <a:t>and </a:t>
            </a:r>
            <a:r>
              <a:rPr sz="2000" spc="85" dirty="0">
                <a:solidFill>
                  <a:srgbClr val="FFFFFF"/>
                </a:solidFill>
                <a:latin typeface="Times New Roman"/>
                <a:cs typeface="Times New Roman"/>
              </a:rPr>
              <a:t>their  </a:t>
            </a:r>
            <a:r>
              <a:rPr sz="2000" spc="50" dirty="0">
                <a:solidFill>
                  <a:srgbClr val="FFFFFF"/>
                </a:solidFill>
                <a:latin typeface="Times New Roman"/>
                <a:cs typeface="Times New Roman"/>
              </a:rPr>
              <a:t>associated</a:t>
            </a:r>
            <a:r>
              <a:rPr sz="2000" spc="-70" dirty="0">
                <a:solidFill>
                  <a:srgbClr val="FFFFFF"/>
                </a:solidFill>
                <a:latin typeface="Times New Roman"/>
                <a:cs typeface="Times New Roman"/>
              </a:rPr>
              <a:t> </a:t>
            </a:r>
            <a:r>
              <a:rPr sz="2000" spc="50" dirty="0">
                <a:solidFill>
                  <a:srgbClr val="FFFFFF"/>
                </a:solidFill>
                <a:latin typeface="Times New Roman"/>
                <a:cs typeface="Times New Roman"/>
              </a:rPr>
              <a:t>permissions.</a:t>
            </a:r>
            <a:endParaRPr sz="2000">
              <a:latin typeface="Times New Roman"/>
              <a:cs typeface="Times New Roman"/>
            </a:endParaRPr>
          </a:p>
        </p:txBody>
      </p:sp>
      <p:pic>
        <p:nvPicPr>
          <p:cNvPr id="6" name="object 6"/>
          <p:cNvPicPr/>
          <p:nvPr/>
        </p:nvPicPr>
        <p:blipFill>
          <a:blip r:embed="rId3" cstate="print"/>
          <a:stretch>
            <a:fillRect/>
          </a:stretch>
        </p:blipFill>
        <p:spPr>
          <a:xfrm>
            <a:off x="4678679" y="1800605"/>
            <a:ext cx="4360164" cy="4093464"/>
          </a:xfrm>
          <a:prstGeom prst="rect">
            <a:avLst/>
          </a:prstGeom>
        </p:spPr>
      </p:pic>
      <p:sp>
        <p:nvSpPr>
          <p:cNvPr id="7" name="object 7"/>
          <p:cNvSpPr txBox="1"/>
          <p:nvPr/>
        </p:nvSpPr>
        <p:spPr>
          <a:xfrm>
            <a:off x="6039358" y="5910326"/>
            <a:ext cx="160147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Vulnerability</a:t>
            </a:r>
            <a:r>
              <a:rPr sz="1400" b="1" spc="-120" dirty="0">
                <a:latin typeface="Times New Roman"/>
                <a:cs typeface="Times New Roman"/>
              </a:rPr>
              <a:t> </a:t>
            </a:r>
            <a:r>
              <a:rPr sz="1400" b="1" spc="-15" dirty="0">
                <a:latin typeface="Times New Roman"/>
                <a:cs typeface="Times New Roman"/>
              </a:rPr>
              <a:t>Report</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8</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50" y="31242"/>
            <a:ext cx="6361430"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15" dirty="0"/>
              <a:t> </a:t>
            </a:r>
            <a:r>
              <a:rPr spc="-204" dirty="0"/>
              <a:t>5-7</a:t>
            </a:r>
          </a:p>
        </p:txBody>
      </p:sp>
      <p:sp>
        <p:nvSpPr>
          <p:cNvPr id="3" name="object 3"/>
          <p:cNvSpPr/>
          <p:nvPr/>
        </p:nvSpPr>
        <p:spPr>
          <a:xfrm>
            <a:off x="169164" y="1510283"/>
            <a:ext cx="4297045" cy="4247515"/>
          </a:xfrm>
          <a:custGeom>
            <a:avLst/>
            <a:gdLst/>
            <a:ahLst/>
            <a:cxnLst/>
            <a:rect l="l" t="t" r="r" b="b"/>
            <a:pathLst>
              <a:path w="4297045" h="4247515">
                <a:moveTo>
                  <a:pt x="4296918" y="707898"/>
                </a:moveTo>
                <a:lnTo>
                  <a:pt x="4295279" y="659447"/>
                </a:lnTo>
                <a:lnTo>
                  <a:pt x="4290453" y="611860"/>
                </a:lnTo>
                <a:lnTo>
                  <a:pt x="4282529" y="565251"/>
                </a:lnTo>
                <a:lnTo>
                  <a:pt x="4271619" y="519734"/>
                </a:lnTo>
                <a:lnTo>
                  <a:pt x="4257840" y="475411"/>
                </a:lnTo>
                <a:lnTo>
                  <a:pt x="4241279" y="432384"/>
                </a:lnTo>
                <a:lnTo>
                  <a:pt x="4222039" y="390753"/>
                </a:lnTo>
                <a:lnTo>
                  <a:pt x="4200245" y="350634"/>
                </a:lnTo>
                <a:lnTo>
                  <a:pt x="4176001" y="312140"/>
                </a:lnTo>
                <a:lnTo>
                  <a:pt x="4149394" y="275348"/>
                </a:lnTo>
                <a:lnTo>
                  <a:pt x="4120540" y="240398"/>
                </a:lnTo>
                <a:lnTo>
                  <a:pt x="4089552" y="207365"/>
                </a:lnTo>
                <a:lnTo>
                  <a:pt x="4056519" y="176377"/>
                </a:lnTo>
                <a:lnTo>
                  <a:pt x="4021569" y="147523"/>
                </a:lnTo>
                <a:lnTo>
                  <a:pt x="3984777" y="120916"/>
                </a:lnTo>
                <a:lnTo>
                  <a:pt x="3946283" y="96672"/>
                </a:lnTo>
                <a:lnTo>
                  <a:pt x="3906164" y="74879"/>
                </a:lnTo>
                <a:lnTo>
                  <a:pt x="3864533" y="55638"/>
                </a:lnTo>
                <a:lnTo>
                  <a:pt x="3821506" y="39077"/>
                </a:lnTo>
                <a:lnTo>
                  <a:pt x="3777183" y="25298"/>
                </a:lnTo>
                <a:lnTo>
                  <a:pt x="3731666" y="14389"/>
                </a:lnTo>
                <a:lnTo>
                  <a:pt x="3685057" y="6464"/>
                </a:lnTo>
                <a:lnTo>
                  <a:pt x="3637470" y="1638"/>
                </a:lnTo>
                <a:lnTo>
                  <a:pt x="3589020" y="0"/>
                </a:lnTo>
                <a:lnTo>
                  <a:pt x="707910" y="0"/>
                </a:lnTo>
                <a:lnTo>
                  <a:pt x="659434" y="1638"/>
                </a:lnTo>
                <a:lnTo>
                  <a:pt x="611847" y="6464"/>
                </a:lnTo>
                <a:lnTo>
                  <a:pt x="565238" y="14389"/>
                </a:lnTo>
                <a:lnTo>
                  <a:pt x="519709" y="25298"/>
                </a:lnTo>
                <a:lnTo>
                  <a:pt x="475386" y="39077"/>
                </a:lnTo>
                <a:lnTo>
                  <a:pt x="432358" y="55638"/>
                </a:lnTo>
                <a:lnTo>
                  <a:pt x="390728" y="74879"/>
                </a:lnTo>
                <a:lnTo>
                  <a:pt x="350608" y="96672"/>
                </a:lnTo>
                <a:lnTo>
                  <a:pt x="312102" y="120916"/>
                </a:lnTo>
                <a:lnTo>
                  <a:pt x="275323" y="147523"/>
                </a:lnTo>
                <a:lnTo>
                  <a:pt x="240360" y="176377"/>
                </a:lnTo>
                <a:lnTo>
                  <a:pt x="207340" y="207365"/>
                </a:lnTo>
                <a:lnTo>
                  <a:pt x="176339" y="240398"/>
                </a:lnTo>
                <a:lnTo>
                  <a:pt x="147497" y="275348"/>
                </a:lnTo>
                <a:lnTo>
                  <a:pt x="120891" y="312140"/>
                </a:lnTo>
                <a:lnTo>
                  <a:pt x="96647" y="350634"/>
                </a:lnTo>
                <a:lnTo>
                  <a:pt x="74853" y="390753"/>
                </a:lnTo>
                <a:lnTo>
                  <a:pt x="55626" y="432384"/>
                </a:lnTo>
                <a:lnTo>
                  <a:pt x="39065" y="475411"/>
                </a:lnTo>
                <a:lnTo>
                  <a:pt x="25285" y="519734"/>
                </a:lnTo>
                <a:lnTo>
                  <a:pt x="14376" y="565251"/>
                </a:lnTo>
                <a:lnTo>
                  <a:pt x="6451" y="611860"/>
                </a:lnTo>
                <a:lnTo>
                  <a:pt x="1625" y="659447"/>
                </a:lnTo>
                <a:lnTo>
                  <a:pt x="0" y="707898"/>
                </a:lnTo>
                <a:lnTo>
                  <a:pt x="0" y="3539490"/>
                </a:lnTo>
                <a:lnTo>
                  <a:pt x="1625" y="3587953"/>
                </a:lnTo>
                <a:lnTo>
                  <a:pt x="6451" y="3635540"/>
                </a:lnTo>
                <a:lnTo>
                  <a:pt x="14376" y="3682149"/>
                </a:lnTo>
                <a:lnTo>
                  <a:pt x="25285" y="3727666"/>
                </a:lnTo>
                <a:lnTo>
                  <a:pt x="39065" y="3771989"/>
                </a:lnTo>
                <a:lnTo>
                  <a:pt x="55626" y="3815016"/>
                </a:lnTo>
                <a:lnTo>
                  <a:pt x="74853" y="3856647"/>
                </a:lnTo>
                <a:lnTo>
                  <a:pt x="96647" y="3896766"/>
                </a:lnTo>
                <a:lnTo>
                  <a:pt x="120891" y="3935260"/>
                </a:lnTo>
                <a:lnTo>
                  <a:pt x="147497" y="3972052"/>
                </a:lnTo>
                <a:lnTo>
                  <a:pt x="176339" y="4007002"/>
                </a:lnTo>
                <a:lnTo>
                  <a:pt x="207340" y="4040035"/>
                </a:lnTo>
                <a:lnTo>
                  <a:pt x="240360" y="4071023"/>
                </a:lnTo>
                <a:lnTo>
                  <a:pt x="275323" y="4099877"/>
                </a:lnTo>
                <a:lnTo>
                  <a:pt x="312102" y="4126484"/>
                </a:lnTo>
                <a:lnTo>
                  <a:pt x="350608" y="4150728"/>
                </a:lnTo>
                <a:lnTo>
                  <a:pt x="390728" y="4172521"/>
                </a:lnTo>
                <a:lnTo>
                  <a:pt x="432358" y="4191762"/>
                </a:lnTo>
                <a:lnTo>
                  <a:pt x="475386" y="4208322"/>
                </a:lnTo>
                <a:lnTo>
                  <a:pt x="519709" y="4222102"/>
                </a:lnTo>
                <a:lnTo>
                  <a:pt x="565238" y="4233011"/>
                </a:lnTo>
                <a:lnTo>
                  <a:pt x="611847" y="4240936"/>
                </a:lnTo>
                <a:lnTo>
                  <a:pt x="659434" y="4245762"/>
                </a:lnTo>
                <a:lnTo>
                  <a:pt x="707910" y="4247388"/>
                </a:lnTo>
                <a:lnTo>
                  <a:pt x="3589020" y="4247388"/>
                </a:lnTo>
                <a:lnTo>
                  <a:pt x="3637470" y="4245762"/>
                </a:lnTo>
                <a:lnTo>
                  <a:pt x="3685057" y="4240936"/>
                </a:lnTo>
                <a:lnTo>
                  <a:pt x="3731666" y="4233011"/>
                </a:lnTo>
                <a:lnTo>
                  <a:pt x="3777183" y="4222102"/>
                </a:lnTo>
                <a:lnTo>
                  <a:pt x="3821506" y="4208322"/>
                </a:lnTo>
                <a:lnTo>
                  <a:pt x="3864533" y="4191762"/>
                </a:lnTo>
                <a:lnTo>
                  <a:pt x="3906164" y="4172521"/>
                </a:lnTo>
                <a:lnTo>
                  <a:pt x="3946283" y="4150728"/>
                </a:lnTo>
                <a:lnTo>
                  <a:pt x="3984777" y="4126484"/>
                </a:lnTo>
                <a:lnTo>
                  <a:pt x="4021569" y="4099877"/>
                </a:lnTo>
                <a:lnTo>
                  <a:pt x="4056519" y="4071023"/>
                </a:lnTo>
                <a:lnTo>
                  <a:pt x="4089552" y="4040035"/>
                </a:lnTo>
                <a:lnTo>
                  <a:pt x="4120540" y="4007002"/>
                </a:lnTo>
                <a:lnTo>
                  <a:pt x="4149394" y="3972052"/>
                </a:lnTo>
                <a:lnTo>
                  <a:pt x="4176001" y="3935260"/>
                </a:lnTo>
                <a:lnTo>
                  <a:pt x="4200245" y="3896766"/>
                </a:lnTo>
                <a:lnTo>
                  <a:pt x="4222039" y="3856647"/>
                </a:lnTo>
                <a:lnTo>
                  <a:pt x="4241279" y="3815016"/>
                </a:lnTo>
                <a:lnTo>
                  <a:pt x="4257840" y="3771989"/>
                </a:lnTo>
                <a:lnTo>
                  <a:pt x="4271619" y="3727666"/>
                </a:lnTo>
                <a:lnTo>
                  <a:pt x="4282529" y="3682149"/>
                </a:lnTo>
                <a:lnTo>
                  <a:pt x="4290453" y="3635540"/>
                </a:lnTo>
                <a:lnTo>
                  <a:pt x="4295279" y="3587953"/>
                </a:lnTo>
                <a:lnTo>
                  <a:pt x="4296918" y="3539490"/>
                </a:lnTo>
                <a:lnTo>
                  <a:pt x="4296918" y="707898"/>
                </a:lnTo>
                <a:close/>
              </a:path>
            </a:pathLst>
          </a:custGeom>
          <a:solidFill>
            <a:srgbClr val="F79546"/>
          </a:solidFill>
        </p:spPr>
        <p:txBody>
          <a:bodyPr wrap="square" lIns="0" tIns="0" rIns="0" bIns="0" rtlCol="0"/>
          <a:lstStyle/>
          <a:p>
            <a:endParaRPr/>
          </a:p>
        </p:txBody>
      </p:sp>
      <p:sp>
        <p:nvSpPr>
          <p:cNvPr id="4" name="object 4"/>
          <p:cNvSpPr txBox="1"/>
          <p:nvPr/>
        </p:nvSpPr>
        <p:spPr>
          <a:xfrm>
            <a:off x="347472" y="1884934"/>
            <a:ext cx="3939540" cy="3622675"/>
          </a:xfrm>
          <a:prstGeom prst="rect">
            <a:avLst/>
          </a:prstGeom>
        </p:spPr>
        <p:txBody>
          <a:bodyPr vert="horz" wrap="square" lIns="0" tIns="43180" rIns="0" bIns="0" rtlCol="0">
            <a:spAutoFit/>
          </a:bodyPr>
          <a:lstStyle/>
          <a:p>
            <a:pPr marL="355600" marR="5080" indent="-342900" algn="just">
              <a:lnSpc>
                <a:spcPct val="90000"/>
              </a:lnSpc>
              <a:spcBef>
                <a:spcPts val="340"/>
              </a:spcBef>
              <a:buFont typeface="Wingdings"/>
              <a:buChar char=""/>
              <a:tabLst>
                <a:tab pos="355600" algn="l"/>
              </a:tabLst>
            </a:pPr>
            <a:r>
              <a:rPr sz="2000" spc="50" dirty="0">
                <a:solidFill>
                  <a:srgbClr val="FFFFFF"/>
                </a:solidFill>
                <a:latin typeface="Times New Roman"/>
                <a:cs typeface="Times New Roman"/>
              </a:rPr>
              <a:t>Review </a:t>
            </a:r>
            <a:r>
              <a:rPr sz="2000" spc="80" dirty="0">
                <a:solidFill>
                  <a:srgbClr val="FFFFFF"/>
                </a:solidFill>
                <a:latin typeface="Times New Roman"/>
                <a:cs typeface="Times New Roman"/>
              </a:rPr>
              <a:t>your </a:t>
            </a:r>
            <a:r>
              <a:rPr sz="2000" spc="60" dirty="0">
                <a:solidFill>
                  <a:srgbClr val="FFFFFF"/>
                </a:solidFill>
                <a:latin typeface="Times New Roman"/>
                <a:cs typeface="Times New Roman"/>
              </a:rPr>
              <a:t>results </a:t>
            </a:r>
            <a:r>
              <a:rPr sz="2000" spc="114" dirty="0">
                <a:solidFill>
                  <a:srgbClr val="FFFFFF"/>
                </a:solidFill>
                <a:latin typeface="Times New Roman"/>
                <a:cs typeface="Times New Roman"/>
              </a:rPr>
              <a:t>and  </a:t>
            </a:r>
            <a:r>
              <a:rPr sz="2000" spc="80" dirty="0">
                <a:solidFill>
                  <a:srgbClr val="FFFFFF"/>
                </a:solidFill>
                <a:latin typeface="Times New Roman"/>
                <a:cs typeface="Times New Roman"/>
              </a:rPr>
              <a:t>determine </a:t>
            </a:r>
            <a:r>
              <a:rPr sz="2000" spc="110" dirty="0">
                <a:solidFill>
                  <a:srgbClr val="FFFFFF"/>
                </a:solidFill>
                <a:latin typeface="Times New Roman"/>
                <a:cs typeface="Times New Roman"/>
              </a:rPr>
              <a:t>the </a:t>
            </a:r>
            <a:r>
              <a:rPr sz="2000" spc="60" dirty="0">
                <a:solidFill>
                  <a:srgbClr val="FFFFFF"/>
                </a:solidFill>
                <a:latin typeface="Times New Roman"/>
                <a:cs typeface="Times New Roman"/>
              </a:rPr>
              <a:t>findings </a:t>
            </a:r>
            <a:r>
              <a:rPr sz="2000" spc="90"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90" dirty="0">
                <a:solidFill>
                  <a:srgbClr val="FFFFFF"/>
                </a:solidFill>
                <a:latin typeface="Times New Roman"/>
                <a:cs typeface="Times New Roman"/>
              </a:rPr>
              <a:t>report </a:t>
            </a:r>
            <a:r>
              <a:rPr sz="2000" spc="114" dirty="0">
                <a:solidFill>
                  <a:srgbClr val="FFFFFF"/>
                </a:solidFill>
                <a:latin typeface="Times New Roman"/>
                <a:cs typeface="Times New Roman"/>
              </a:rPr>
              <a:t>that </a:t>
            </a:r>
            <a:r>
              <a:rPr sz="2000" spc="55" dirty="0">
                <a:solidFill>
                  <a:srgbClr val="FFFFFF"/>
                </a:solidFill>
                <a:latin typeface="Times New Roman"/>
                <a:cs typeface="Times New Roman"/>
              </a:rPr>
              <a:t>are </a:t>
            </a:r>
            <a:r>
              <a:rPr sz="2000" spc="100" dirty="0">
                <a:solidFill>
                  <a:srgbClr val="FFFFFF"/>
                </a:solidFill>
                <a:latin typeface="Times New Roman"/>
                <a:cs typeface="Times New Roman"/>
              </a:rPr>
              <a:t>true </a:t>
            </a:r>
            <a:r>
              <a:rPr sz="2000" spc="50" dirty="0">
                <a:solidFill>
                  <a:srgbClr val="FFFFFF"/>
                </a:solidFill>
                <a:latin typeface="Times New Roman"/>
                <a:cs typeface="Times New Roman"/>
              </a:rPr>
              <a:t>security  </a:t>
            </a:r>
            <a:r>
              <a:rPr sz="2000" spc="35" dirty="0">
                <a:solidFill>
                  <a:srgbClr val="FFFFFF"/>
                </a:solidFill>
                <a:latin typeface="Times New Roman"/>
                <a:cs typeface="Times New Roman"/>
              </a:rPr>
              <a:t>issues </a:t>
            </a:r>
            <a:r>
              <a:rPr sz="2000" spc="95" dirty="0">
                <a:solidFill>
                  <a:srgbClr val="FFFFFF"/>
                </a:solidFill>
                <a:latin typeface="Times New Roman"/>
                <a:cs typeface="Times New Roman"/>
              </a:rPr>
              <a:t>in </a:t>
            </a:r>
            <a:r>
              <a:rPr sz="2000" spc="80" dirty="0">
                <a:solidFill>
                  <a:srgbClr val="FFFFFF"/>
                </a:solidFill>
                <a:latin typeface="Times New Roman"/>
                <a:cs typeface="Times New Roman"/>
              </a:rPr>
              <a:t>your</a:t>
            </a:r>
            <a:r>
              <a:rPr sz="2000" spc="-360" dirty="0">
                <a:solidFill>
                  <a:srgbClr val="FFFFFF"/>
                </a:solidFill>
                <a:latin typeface="Times New Roman"/>
                <a:cs typeface="Times New Roman"/>
              </a:rPr>
              <a:t> </a:t>
            </a:r>
            <a:r>
              <a:rPr sz="2000" spc="90" dirty="0">
                <a:solidFill>
                  <a:srgbClr val="FFFFFF"/>
                </a:solidFill>
                <a:latin typeface="Times New Roman"/>
                <a:cs typeface="Times New Roman"/>
              </a:rPr>
              <a:t>environment.</a:t>
            </a:r>
            <a:endParaRPr sz="2000">
              <a:latin typeface="Times New Roman"/>
              <a:cs typeface="Times New Roman"/>
            </a:endParaRPr>
          </a:p>
          <a:p>
            <a:pPr marL="355600" marR="6350" indent="-342900" algn="just">
              <a:lnSpc>
                <a:spcPts val="2160"/>
              </a:lnSpc>
              <a:spcBef>
                <a:spcPts val="2190"/>
              </a:spcBef>
              <a:buFont typeface="Wingdings"/>
              <a:buChar char=""/>
              <a:tabLst>
                <a:tab pos="355600" algn="l"/>
              </a:tabLst>
            </a:pPr>
            <a:r>
              <a:rPr sz="2000" spc="45" dirty="0">
                <a:solidFill>
                  <a:srgbClr val="FFFFFF"/>
                </a:solidFill>
                <a:latin typeface="Times New Roman"/>
                <a:cs typeface="Times New Roman"/>
              </a:rPr>
              <a:t>Drill </a:t>
            </a:r>
            <a:r>
              <a:rPr sz="2000" spc="110" dirty="0">
                <a:solidFill>
                  <a:srgbClr val="FFFFFF"/>
                </a:solidFill>
                <a:latin typeface="Times New Roman"/>
                <a:cs typeface="Times New Roman"/>
              </a:rPr>
              <a:t>down to </a:t>
            </a:r>
            <a:r>
              <a:rPr sz="2000" spc="65" dirty="0">
                <a:solidFill>
                  <a:srgbClr val="FFFFFF"/>
                </a:solidFill>
                <a:latin typeface="Times New Roman"/>
                <a:cs typeface="Times New Roman"/>
              </a:rPr>
              <a:t>each </a:t>
            </a:r>
            <a:r>
              <a:rPr sz="2000" spc="40" dirty="0">
                <a:solidFill>
                  <a:srgbClr val="FFFFFF"/>
                </a:solidFill>
                <a:latin typeface="Times New Roman"/>
                <a:cs typeface="Times New Roman"/>
              </a:rPr>
              <a:t>failed </a:t>
            </a:r>
            <a:r>
              <a:rPr sz="2000" spc="65" dirty="0">
                <a:solidFill>
                  <a:srgbClr val="FFFFFF"/>
                </a:solidFill>
                <a:latin typeface="Times New Roman"/>
                <a:cs typeface="Times New Roman"/>
              </a:rPr>
              <a:t>result  </a:t>
            </a:r>
            <a:r>
              <a:rPr sz="2000" spc="110" dirty="0">
                <a:solidFill>
                  <a:srgbClr val="FFFFFF"/>
                </a:solidFill>
                <a:latin typeface="Times New Roman"/>
                <a:cs typeface="Times New Roman"/>
              </a:rPr>
              <a:t>to </a:t>
            </a:r>
            <a:r>
              <a:rPr sz="2000" spc="105" dirty="0">
                <a:solidFill>
                  <a:srgbClr val="FFFFFF"/>
                </a:solidFill>
                <a:latin typeface="Times New Roman"/>
                <a:cs typeface="Times New Roman"/>
              </a:rPr>
              <a:t>understand </a:t>
            </a:r>
            <a:r>
              <a:rPr sz="2000" spc="110" dirty="0">
                <a:solidFill>
                  <a:srgbClr val="FFFFFF"/>
                </a:solidFill>
                <a:latin typeface="Times New Roman"/>
                <a:cs typeface="Times New Roman"/>
              </a:rPr>
              <a:t>the </a:t>
            </a:r>
            <a:r>
              <a:rPr sz="2000" spc="65" dirty="0">
                <a:solidFill>
                  <a:srgbClr val="FFFFFF"/>
                </a:solidFill>
                <a:latin typeface="Times New Roman"/>
                <a:cs typeface="Times New Roman"/>
              </a:rPr>
              <a:t>impact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finding </a:t>
            </a:r>
            <a:r>
              <a:rPr sz="2000" spc="110" dirty="0">
                <a:solidFill>
                  <a:srgbClr val="FFFFFF"/>
                </a:solidFill>
                <a:latin typeface="Times New Roman"/>
                <a:cs typeface="Times New Roman"/>
              </a:rPr>
              <a:t>and </a:t>
            </a:r>
            <a:r>
              <a:rPr sz="2000" spc="70" dirty="0">
                <a:solidFill>
                  <a:srgbClr val="FFFFFF"/>
                </a:solidFill>
                <a:latin typeface="Times New Roman"/>
                <a:cs typeface="Times New Roman"/>
              </a:rPr>
              <a:t>why </a:t>
            </a:r>
            <a:r>
              <a:rPr sz="2000" spc="65" dirty="0">
                <a:solidFill>
                  <a:srgbClr val="FFFFFF"/>
                </a:solidFill>
                <a:latin typeface="Times New Roman"/>
                <a:cs typeface="Times New Roman"/>
              </a:rPr>
              <a:t>each </a:t>
            </a:r>
            <a:r>
              <a:rPr sz="2000" spc="50" dirty="0">
                <a:solidFill>
                  <a:srgbClr val="FFFFFF"/>
                </a:solidFill>
                <a:latin typeface="Times New Roman"/>
                <a:cs typeface="Times New Roman"/>
              </a:rPr>
              <a:t>security  </a:t>
            </a:r>
            <a:r>
              <a:rPr sz="2000" spc="65" dirty="0">
                <a:solidFill>
                  <a:srgbClr val="FFFFFF"/>
                </a:solidFill>
                <a:latin typeface="Times New Roman"/>
                <a:cs typeface="Times New Roman"/>
              </a:rPr>
              <a:t>check</a:t>
            </a:r>
            <a:r>
              <a:rPr sz="2000" spc="-80" dirty="0">
                <a:solidFill>
                  <a:srgbClr val="FFFFFF"/>
                </a:solidFill>
                <a:latin typeface="Times New Roman"/>
                <a:cs typeface="Times New Roman"/>
              </a:rPr>
              <a:t> </a:t>
            </a:r>
            <a:r>
              <a:rPr sz="2000" spc="35" dirty="0">
                <a:solidFill>
                  <a:srgbClr val="FFFFFF"/>
                </a:solidFill>
                <a:latin typeface="Times New Roman"/>
                <a:cs typeface="Times New Roman"/>
              </a:rPr>
              <a:t>failed.</a:t>
            </a:r>
            <a:endParaRPr sz="2000">
              <a:latin typeface="Times New Roman"/>
              <a:cs typeface="Times New Roman"/>
            </a:endParaRPr>
          </a:p>
          <a:p>
            <a:pPr marL="355600" marR="6350" indent="-342900" algn="just">
              <a:lnSpc>
                <a:spcPts val="2160"/>
              </a:lnSpc>
              <a:spcBef>
                <a:spcPts val="2160"/>
              </a:spcBef>
              <a:buFont typeface="Wingdings"/>
              <a:buChar char=""/>
              <a:tabLst>
                <a:tab pos="355600" algn="l"/>
              </a:tabLst>
            </a:pPr>
            <a:r>
              <a:rPr sz="2000" spc="75" dirty="0">
                <a:solidFill>
                  <a:srgbClr val="FFFFFF"/>
                </a:solidFill>
                <a:latin typeface="Times New Roman"/>
                <a:cs typeface="Times New Roman"/>
              </a:rPr>
              <a:t>Use </a:t>
            </a:r>
            <a:r>
              <a:rPr sz="2000" spc="114" dirty="0">
                <a:solidFill>
                  <a:srgbClr val="FFFFFF"/>
                </a:solidFill>
                <a:latin typeface="Times New Roman"/>
                <a:cs typeface="Times New Roman"/>
              </a:rPr>
              <a:t>the </a:t>
            </a:r>
            <a:r>
              <a:rPr sz="2000" spc="65" dirty="0">
                <a:solidFill>
                  <a:srgbClr val="FFFFFF"/>
                </a:solidFill>
                <a:latin typeface="Times New Roman"/>
                <a:cs typeface="Times New Roman"/>
              </a:rPr>
              <a:t>actionable </a:t>
            </a:r>
            <a:r>
              <a:rPr sz="2000" spc="75" dirty="0">
                <a:solidFill>
                  <a:srgbClr val="FFFFFF"/>
                </a:solidFill>
                <a:latin typeface="Times New Roman"/>
                <a:cs typeface="Times New Roman"/>
              </a:rPr>
              <a:t>remediation  </a:t>
            </a:r>
            <a:r>
              <a:rPr sz="2000" spc="85" dirty="0">
                <a:solidFill>
                  <a:srgbClr val="FFFFFF"/>
                </a:solidFill>
                <a:latin typeface="Times New Roman"/>
                <a:cs typeface="Times New Roman"/>
              </a:rPr>
              <a:t>information </a:t>
            </a:r>
            <a:r>
              <a:rPr sz="2000" spc="80" dirty="0">
                <a:solidFill>
                  <a:srgbClr val="FFFFFF"/>
                </a:solidFill>
                <a:latin typeface="Times New Roman"/>
                <a:cs typeface="Times New Roman"/>
              </a:rPr>
              <a:t>provided </a:t>
            </a:r>
            <a:r>
              <a:rPr sz="2000" spc="45" dirty="0">
                <a:solidFill>
                  <a:srgbClr val="FFFFFF"/>
                </a:solidFill>
                <a:latin typeface="Times New Roman"/>
                <a:cs typeface="Times New Roman"/>
              </a:rPr>
              <a:t>by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report</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45" dirty="0">
                <a:solidFill>
                  <a:srgbClr val="FFFFFF"/>
                </a:solidFill>
                <a:latin typeface="Times New Roman"/>
                <a:cs typeface="Times New Roman"/>
              </a:rPr>
              <a:t>resolve</a:t>
            </a:r>
            <a:r>
              <a:rPr sz="2000" spc="-4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35" dirty="0">
                <a:solidFill>
                  <a:srgbClr val="FFFFFF"/>
                </a:solidFill>
                <a:latin typeface="Times New Roman"/>
                <a:cs typeface="Times New Roman"/>
              </a:rPr>
              <a:t>issue.</a:t>
            </a:r>
            <a:endParaRPr sz="2000">
              <a:latin typeface="Times New Roman"/>
              <a:cs typeface="Times New Roman"/>
            </a:endParaRPr>
          </a:p>
        </p:txBody>
      </p:sp>
      <p:sp>
        <p:nvSpPr>
          <p:cNvPr id="5" name="object 5"/>
          <p:cNvSpPr txBox="1"/>
          <p:nvPr/>
        </p:nvSpPr>
        <p:spPr>
          <a:xfrm>
            <a:off x="353568" y="837946"/>
            <a:ext cx="5248910" cy="361315"/>
          </a:xfrm>
          <a:prstGeom prst="rect">
            <a:avLst/>
          </a:prstGeom>
        </p:spPr>
        <p:txBody>
          <a:bodyPr vert="horz" wrap="square" lIns="0" tIns="12700" rIns="0" bIns="0" rtlCol="0">
            <a:spAutoFit/>
          </a:bodyPr>
          <a:lstStyle/>
          <a:p>
            <a:pPr marL="12700">
              <a:lnSpc>
                <a:spcPct val="100000"/>
              </a:lnSpc>
              <a:spcBef>
                <a:spcPts val="100"/>
              </a:spcBef>
            </a:pPr>
            <a:r>
              <a:rPr sz="2200" b="1" spc="25" dirty="0">
                <a:latin typeface="Times New Roman"/>
                <a:cs typeface="Times New Roman"/>
              </a:rPr>
              <a:t>Step</a:t>
            </a:r>
            <a:r>
              <a:rPr sz="2200" b="1" spc="-135" dirty="0">
                <a:latin typeface="Times New Roman"/>
                <a:cs typeface="Times New Roman"/>
              </a:rPr>
              <a:t> </a:t>
            </a:r>
            <a:r>
              <a:rPr sz="2200" b="1" spc="-195" dirty="0">
                <a:latin typeface="Times New Roman"/>
                <a:cs typeface="Times New Roman"/>
              </a:rPr>
              <a:t>3:</a:t>
            </a:r>
            <a:r>
              <a:rPr sz="2200" b="1" spc="-100" dirty="0">
                <a:latin typeface="Times New Roman"/>
                <a:cs typeface="Times New Roman"/>
              </a:rPr>
              <a:t> </a:t>
            </a:r>
            <a:r>
              <a:rPr sz="2200" b="1" spc="-10" dirty="0">
                <a:latin typeface="Times New Roman"/>
                <a:cs typeface="Times New Roman"/>
              </a:rPr>
              <a:t>Analyze</a:t>
            </a:r>
            <a:r>
              <a:rPr sz="2200" b="1" spc="-120" dirty="0">
                <a:latin typeface="Times New Roman"/>
                <a:cs typeface="Times New Roman"/>
              </a:rPr>
              <a:t> </a:t>
            </a:r>
            <a:r>
              <a:rPr sz="2200" b="1" spc="35" dirty="0">
                <a:latin typeface="Times New Roman"/>
                <a:cs typeface="Times New Roman"/>
              </a:rPr>
              <a:t>the</a:t>
            </a:r>
            <a:r>
              <a:rPr sz="2200" b="1" spc="-105" dirty="0">
                <a:latin typeface="Times New Roman"/>
                <a:cs typeface="Times New Roman"/>
              </a:rPr>
              <a:t> </a:t>
            </a:r>
            <a:r>
              <a:rPr sz="2200" b="1" spc="-15" dirty="0">
                <a:latin typeface="Times New Roman"/>
                <a:cs typeface="Times New Roman"/>
              </a:rPr>
              <a:t>results</a:t>
            </a:r>
            <a:r>
              <a:rPr sz="2200" b="1" spc="-135" dirty="0">
                <a:latin typeface="Times New Roman"/>
                <a:cs typeface="Times New Roman"/>
              </a:rPr>
              <a:t> </a:t>
            </a:r>
            <a:r>
              <a:rPr sz="2200" b="1" spc="-10" dirty="0">
                <a:latin typeface="Times New Roman"/>
                <a:cs typeface="Times New Roman"/>
              </a:rPr>
              <a:t>and</a:t>
            </a:r>
            <a:r>
              <a:rPr sz="2200" b="1" spc="-114" dirty="0">
                <a:latin typeface="Times New Roman"/>
                <a:cs typeface="Times New Roman"/>
              </a:rPr>
              <a:t> </a:t>
            </a:r>
            <a:r>
              <a:rPr sz="2200" b="1" dirty="0">
                <a:latin typeface="Times New Roman"/>
                <a:cs typeface="Times New Roman"/>
              </a:rPr>
              <a:t>resolve</a:t>
            </a:r>
            <a:r>
              <a:rPr sz="2200" b="1" spc="-120" dirty="0">
                <a:latin typeface="Times New Roman"/>
                <a:cs typeface="Times New Roman"/>
              </a:rPr>
              <a:t> </a:t>
            </a:r>
            <a:r>
              <a:rPr sz="2200" b="1" spc="10" dirty="0">
                <a:latin typeface="Times New Roman"/>
                <a:cs typeface="Times New Roman"/>
              </a:rPr>
              <a:t>issues</a:t>
            </a:r>
            <a:endParaRPr sz="2200">
              <a:latin typeface="Times New Roman"/>
              <a:cs typeface="Times New Roman"/>
            </a:endParaRPr>
          </a:p>
        </p:txBody>
      </p:sp>
      <p:pic>
        <p:nvPicPr>
          <p:cNvPr id="6" name="object 6"/>
          <p:cNvPicPr/>
          <p:nvPr/>
        </p:nvPicPr>
        <p:blipFill>
          <a:blip r:embed="rId3" cstate="print"/>
          <a:stretch>
            <a:fillRect/>
          </a:stretch>
        </p:blipFill>
        <p:spPr>
          <a:xfrm>
            <a:off x="4572000" y="1693164"/>
            <a:ext cx="4402836" cy="3854958"/>
          </a:xfrm>
          <a:prstGeom prst="rect">
            <a:avLst/>
          </a:prstGeom>
        </p:spPr>
      </p:pic>
      <p:sp>
        <p:nvSpPr>
          <p:cNvPr id="7" name="object 7"/>
          <p:cNvSpPr txBox="1"/>
          <p:nvPr/>
        </p:nvSpPr>
        <p:spPr>
          <a:xfrm>
            <a:off x="6169659" y="5546597"/>
            <a:ext cx="113792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Security</a:t>
            </a:r>
            <a:r>
              <a:rPr sz="1400" b="1" spc="-125" dirty="0">
                <a:latin typeface="Times New Roman"/>
                <a:cs typeface="Times New Roman"/>
              </a:rPr>
              <a:t> </a:t>
            </a:r>
            <a:r>
              <a:rPr sz="1400" b="1" spc="-15" dirty="0">
                <a:latin typeface="Times New Roman"/>
                <a:cs typeface="Times New Roman"/>
              </a:rPr>
              <a:t>Issues</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9</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784" y="50292"/>
            <a:ext cx="6440805"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35" dirty="0"/>
              <a:t> </a:t>
            </a:r>
            <a:r>
              <a:rPr spc="10" dirty="0"/>
              <a:t>6-7</a:t>
            </a:r>
          </a:p>
        </p:txBody>
      </p:sp>
      <p:sp>
        <p:nvSpPr>
          <p:cNvPr id="3" name="object 3"/>
          <p:cNvSpPr txBox="1"/>
          <p:nvPr/>
        </p:nvSpPr>
        <p:spPr>
          <a:xfrm>
            <a:off x="410209" y="832612"/>
            <a:ext cx="2906395" cy="361315"/>
          </a:xfrm>
          <a:prstGeom prst="rect">
            <a:avLst/>
          </a:prstGeom>
        </p:spPr>
        <p:txBody>
          <a:bodyPr vert="horz" wrap="square" lIns="0" tIns="13335" rIns="0" bIns="0" rtlCol="0">
            <a:spAutoFit/>
          </a:bodyPr>
          <a:lstStyle/>
          <a:p>
            <a:pPr marL="12700">
              <a:lnSpc>
                <a:spcPct val="100000"/>
              </a:lnSpc>
              <a:spcBef>
                <a:spcPts val="105"/>
              </a:spcBef>
            </a:pPr>
            <a:r>
              <a:rPr sz="2200" b="1" spc="25" dirty="0">
                <a:latin typeface="Times New Roman"/>
                <a:cs typeface="Times New Roman"/>
              </a:rPr>
              <a:t>Step </a:t>
            </a:r>
            <a:r>
              <a:rPr sz="2200" b="1" spc="-85" dirty="0">
                <a:latin typeface="Times New Roman"/>
                <a:cs typeface="Times New Roman"/>
              </a:rPr>
              <a:t>4: </a:t>
            </a:r>
            <a:r>
              <a:rPr sz="2200" b="1" spc="40" dirty="0">
                <a:latin typeface="Times New Roman"/>
                <a:cs typeface="Times New Roman"/>
              </a:rPr>
              <a:t>Set</a:t>
            </a:r>
            <a:r>
              <a:rPr sz="2200" b="1" spc="-405" dirty="0">
                <a:latin typeface="Times New Roman"/>
                <a:cs typeface="Times New Roman"/>
              </a:rPr>
              <a:t> </a:t>
            </a:r>
            <a:r>
              <a:rPr sz="2200" b="1" spc="-20" dirty="0">
                <a:latin typeface="Times New Roman"/>
                <a:cs typeface="Times New Roman"/>
              </a:rPr>
              <a:t>your </a:t>
            </a:r>
            <a:r>
              <a:rPr sz="2200" b="1" spc="-5" dirty="0">
                <a:latin typeface="Times New Roman"/>
                <a:cs typeface="Times New Roman"/>
              </a:rPr>
              <a:t>baseline</a:t>
            </a:r>
            <a:endParaRPr sz="2200">
              <a:latin typeface="Times New Roman"/>
              <a:cs typeface="Times New Roman"/>
            </a:endParaRPr>
          </a:p>
        </p:txBody>
      </p:sp>
      <p:sp>
        <p:nvSpPr>
          <p:cNvPr id="4" name="object 4"/>
          <p:cNvSpPr/>
          <p:nvPr/>
        </p:nvSpPr>
        <p:spPr>
          <a:xfrm>
            <a:off x="275082" y="1496567"/>
            <a:ext cx="4128135" cy="4248150"/>
          </a:xfrm>
          <a:custGeom>
            <a:avLst/>
            <a:gdLst/>
            <a:ahLst/>
            <a:cxnLst/>
            <a:rect l="l" t="t" r="r" b="b"/>
            <a:pathLst>
              <a:path w="4128135" h="4248150">
                <a:moveTo>
                  <a:pt x="4127754" y="687959"/>
                </a:moveTo>
                <a:lnTo>
                  <a:pt x="4126166" y="640854"/>
                </a:lnTo>
                <a:lnTo>
                  <a:pt x="4121467" y="594601"/>
                </a:lnTo>
                <a:lnTo>
                  <a:pt x="4113771" y="549313"/>
                </a:lnTo>
                <a:lnTo>
                  <a:pt x="4103179" y="505066"/>
                </a:lnTo>
                <a:lnTo>
                  <a:pt x="4089781" y="461987"/>
                </a:lnTo>
                <a:lnTo>
                  <a:pt x="4073690" y="420166"/>
                </a:lnTo>
                <a:lnTo>
                  <a:pt x="4055008" y="379717"/>
                </a:lnTo>
                <a:lnTo>
                  <a:pt x="4033824" y="340728"/>
                </a:lnTo>
                <a:lnTo>
                  <a:pt x="4010266" y="303301"/>
                </a:lnTo>
                <a:lnTo>
                  <a:pt x="3984409" y="267563"/>
                </a:lnTo>
                <a:lnTo>
                  <a:pt x="3956380" y="233591"/>
                </a:lnTo>
                <a:lnTo>
                  <a:pt x="3926268" y="201485"/>
                </a:lnTo>
                <a:lnTo>
                  <a:pt x="3894163" y="171373"/>
                </a:lnTo>
                <a:lnTo>
                  <a:pt x="3860190" y="143344"/>
                </a:lnTo>
                <a:lnTo>
                  <a:pt x="3824452" y="117487"/>
                </a:lnTo>
                <a:lnTo>
                  <a:pt x="3787025" y="93929"/>
                </a:lnTo>
                <a:lnTo>
                  <a:pt x="3748036" y="72745"/>
                </a:lnTo>
                <a:lnTo>
                  <a:pt x="3707587" y="54063"/>
                </a:lnTo>
                <a:lnTo>
                  <a:pt x="3665766" y="37973"/>
                </a:lnTo>
                <a:lnTo>
                  <a:pt x="3622687" y="24574"/>
                </a:lnTo>
                <a:lnTo>
                  <a:pt x="3578441" y="13982"/>
                </a:lnTo>
                <a:lnTo>
                  <a:pt x="3533152" y="6286"/>
                </a:lnTo>
                <a:lnTo>
                  <a:pt x="3486899" y="1587"/>
                </a:lnTo>
                <a:lnTo>
                  <a:pt x="3439795" y="0"/>
                </a:lnTo>
                <a:lnTo>
                  <a:pt x="687971" y="0"/>
                </a:lnTo>
                <a:lnTo>
                  <a:pt x="640867" y="1587"/>
                </a:lnTo>
                <a:lnTo>
                  <a:pt x="594614" y="6286"/>
                </a:lnTo>
                <a:lnTo>
                  <a:pt x="549313" y="13982"/>
                </a:lnTo>
                <a:lnTo>
                  <a:pt x="505079" y="24574"/>
                </a:lnTo>
                <a:lnTo>
                  <a:pt x="461987" y="37973"/>
                </a:lnTo>
                <a:lnTo>
                  <a:pt x="420179" y="54063"/>
                </a:lnTo>
                <a:lnTo>
                  <a:pt x="379717" y="72745"/>
                </a:lnTo>
                <a:lnTo>
                  <a:pt x="340728" y="93929"/>
                </a:lnTo>
                <a:lnTo>
                  <a:pt x="303314" y="117487"/>
                </a:lnTo>
                <a:lnTo>
                  <a:pt x="267563" y="143344"/>
                </a:lnTo>
                <a:lnTo>
                  <a:pt x="233591" y="171373"/>
                </a:lnTo>
                <a:lnTo>
                  <a:pt x="201498" y="201485"/>
                </a:lnTo>
                <a:lnTo>
                  <a:pt x="171373" y="233591"/>
                </a:lnTo>
                <a:lnTo>
                  <a:pt x="143344" y="267563"/>
                </a:lnTo>
                <a:lnTo>
                  <a:pt x="117487" y="303301"/>
                </a:lnTo>
                <a:lnTo>
                  <a:pt x="93916" y="340728"/>
                </a:lnTo>
                <a:lnTo>
                  <a:pt x="72745" y="379717"/>
                </a:lnTo>
                <a:lnTo>
                  <a:pt x="54063" y="420166"/>
                </a:lnTo>
                <a:lnTo>
                  <a:pt x="37960" y="461987"/>
                </a:lnTo>
                <a:lnTo>
                  <a:pt x="24574" y="505066"/>
                </a:lnTo>
                <a:lnTo>
                  <a:pt x="13970" y="549313"/>
                </a:lnTo>
                <a:lnTo>
                  <a:pt x="6273" y="594601"/>
                </a:lnTo>
                <a:lnTo>
                  <a:pt x="1574" y="640854"/>
                </a:lnTo>
                <a:lnTo>
                  <a:pt x="0" y="687959"/>
                </a:lnTo>
                <a:lnTo>
                  <a:pt x="0" y="3560191"/>
                </a:lnTo>
                <a:lnTo>
                  <a:pt x="1574" y="3607308"/>
                </a:lnTo>
                <a:lnTo>
                  <a:pt x="6273" y="3653561"/>
                </a:lnTo>
                <a:lnTo>
                  <a:pt x="13970" y="3698849"/>
                </a:lnTo>
                <a:lnTo>
                  <a:pt x="24574" y="3743096"/>
                </a:lnTo>
                <a:lnTo>
                  <a:pt x="37960" y="3786174"/>
                </a:lnTo>
                <a:lnTo>
                  <a:pt x="54063" y="3827996"/>
                </a:lnTo>
                <a:lnTo>
                  <a:pt x="72745" y="3868445"/>
                </a:lnTo>
                <a:lnTo>
                  <a:pt x="93916" y="3907434"/>
                </a:lnTo>
                <a:lnTo>
                  <a:pt x="117487" y="3944861"/>
                </a:lnTo>
                <a:lnTo>
                  <a:pt x="143344" y="3980599"/>
                </a:lnTo>
                <a:lnTo>
                  <a:pt x="171373" y="4014571"/>
                </a:lnTo>
                <a:lnTo>
                  <a:pt x="201498" y="4046677"/>
                </a:lnTo>
                <a:lnTo>
                  <a:pt x="233591" y="4076789"/>
                </a:lnTo>
                <a:lnTo>
                  <a:pt x="267563" y="4104817"/>
                </a:lnTo>
                <a:lnTo>
                  <a:pt x="303314" y="4130675"/>
                </a:lnTo>
                <a:lnTo>
                  <a:pt x="340728" y="4154233"/>
                </a:lnTo>
                <a:lnTo>
                  <a:pt x="379717" y="4175417"/>
                </a:lnTo>
                <a:lnTo>
                  <a:pt x="420179" y="4194098"/>
                </a:lnTo>
                <a:lnTo>
                  <a:pt x="461987" y="4210189"/>
                </a:lnTo>
                <a:lnTo>
                  <a:pt x="505079" y="4223588"/>
                </a:lnTo>
                <a:lnTo>
                  <a:pt x="549313" y="4234180"/>
                </a:lnTo>
                <a:lnTo>
                  <a:pt x="594614" y="4241876"/>
                </a:lnTo>
                <a:lnTo>
                  <a:pt x="640867" y="4246575"/>
                </a:lnTo>
                <a:lnTo>
                  <a:pt x="687971" y="4248150"/>
                </a:lnTo>
                <a:lnTo>
                  <a:pt x="3439795" y="4248150"/>
                </a:lnTo>
                <a:lnTo>
                  <a:pt x="3486899" y="4246575"/>
                </a:lnTo>
                <a:lnTo>
                  <a:pt x="3533152" y="4241876"/>
                </a:lnTo>
                <a:lnTo>
                  <a:pt x="3578441" y="4234180"/>
                </a:lnTo>
                <a:lnTo>
                  <a:pt x="3622687" y="4223588"/>
                </a:lnTo>
                <a:lnTo>
                  <a:pt x="3665766" y="4210189"/>
                </a:lnTo>
                <a:lnTo>
                  <a:pt x="3707587" y="4194098"/>
                </a:lnTo>
                <a:lnTo>
                  <a:pt x="3748036" y="4175417"/>
                </a:lnTo>
                <a:lnTo>
                  <a:pt x="3787025" y="4154233"/>
                </a:lnTo>
                <a:lnTo>
                  <a:pt x="3824452" y="4130675"/>
                </a:lnTo>
                <a:lnTo>
                  <a:pt x="3860190" y="4104817"/>
                </a:lnTo>
                <a:lnTo>
                  <a:pt x="3894163" y="4076789"/>
                </a:lnTo>
                <a:lnTo>
                  <a:pt x="3926268" y="4046677"/>
                </a:lnTo>
                <a:lnTo>
                  <a:pt x="3956380" y="4014571"/>
                </a:lnTo>
                <a:lnTo>
                  <a:pt x="3984409" y="3980599"/>
                </a:lnTo>
                <a:lnTo>
                  <a:pt x="4010266" y="3944861"/>
                </a:lnTo>
                <a:lnTo>
                  <a:pt x="4033824" y="3907434"/>
                </a:lnTo>
                <a:lnTo>
                  <a:pt x="4055008" y="3868445"/>
                </a:lnTo>
                <a:lnTo>
                  <a:pt x="4073690" y="3827996"/>
                </a:lnTo>
                <a:lnTo>
                  <a:pt x="4089781" y="3786174"/>
                </a:lnTo>
                <a:lnTo>
                  <a:pt x="4103179" y="3743096"/>
                </a:lnTo>
                <a:lnTo>
                  <a:pt x="4113771" y="3698849"/>
                </a:lnTo>
                <a:lnTo>
                  <a:pt x="4121467" y="3653561"/>
                </a:lnTo>
                <a:lnTo>
                  <a:pt x="4126166" y="3607308"/>
                </a:lnTo>
                <a:lnTo>
                  <a:pt x="4127754" y="3560191"/>
                </a:lnTo>
                <a:lnTo>
                  <a:pt x="4127754" y="687959"/>
                </a:lnTo>
                <a:close/>
              </a:path>
            </a:pathLst>
          </a:custGeom>
          <a:solidFill>
            <a:srgbClr val="4F81BC"/>
          </a:solidFill>
        </p:spPr>
        <p:txBody>
          <a:bodyPr wrap="square" lIns="0" tIns="0" rIns="0" bIns="0" rtlCol="0"/>
          <a:lstStyle/>
          <a:p>
            <a:endParaRPr/>
          </a:p>
        </p:txBody>
      </p:sp>
      <p:sp>
        <p:nvSpPr>
          <p:cNvPr id="5" name="object 5"/>
          <p:cNvSpPr txBox="1"/>
          <p:nvPr/>
        </p:nvSpPr>
        <p:spPr>
          <a:xfrm>
            <a:off x="448818" y="2008886"/>
            <a:ext cx="3781425" cy="3347720"/>
          </a:xfrm>
          <a:prstGeom prst="rect">
            <a:avLst/>
          </a:prstGeom>
        </p:spPr>
        <p:txBody>
          <a:bodyPr vert="horz" wrap="square" lIns="0" tIns="46990" rIns="0" bIns="0" rtlCol="0">
            <a:spAutoFit/>
          </a:bodyPr>
          <a:lstStyle/>
          <a:p>
            <a:pPr marL="355600" marR="5080" indent="-343535" algn="just">
              <a:lnSpc>
                <a:spcPts val="2160"/>
              </a:lnSpc>
              <a:spcBef>
                <a:spcPts val="370"/>
              </a:spcBef>
              <a:buFont typeface="Wingdings"/>
              <a:buChar char=""/>
              <a:tabLst>
                <a:tab pos="356235" algn="l"/>
              </a:tabLst>
            </a:pPr>
            <a:r>
              <a:rPr sz="2000" spc="90" dirty="0">
                <a:solidFill>
                  <a:srgbClr val="FFFFFF"/>
                </a:solidFill>
                <a:latin typeface="Times New Roman"/>
                <a:cs typeface="Times New Roman"/>
              </a:rPr>
              <a:t>As </a:t>
            </a:r>
            <a:r>
              <a:rPr sz="2000" spc="80" dirty="0">
                <a:solidFill>
                  <a:srgbClr val="FFFFFF"/>
                </a:solidFill>
                <a:latin typeface="Times New Roman"/>
                <a:cs typeface="Times New Roman"/>
              </a:rPr>
              <a:t>you </a:t>
            </a:r>
            <a:r>
              <a:rPr sz="2000" spc="45" dirty="0">
                <a:solidFill>
                  <a:srgbClr val="FFFFFF"/>
                </a:solidFill>
                <a:latin typeface="Times New Roman"/>
                <a:cs typeface="Times New Roman"/>
              </a:rPr>
              <a:t>review </a:t>
            </a:r>
            <a:r>
              <a:rPr sz="2000" spc="80" dirty="0">
                <a:solidFill>
                  <a:srgbClr val="FFFFFF"/>
                </a:solidFill>
                <a:latin typeface="Times New Roman"/>
                <a:cs typeface="Times New Roman"/>
              </a:rPr>
              <a:t>your</a:t>
            </a:r>
            <a:r>
              <a:rPr sz="2000" spc="-265" dirty="0">
                <a:solidFill>
                  <a:srgbClr val="FFFFFF"/>
                </a:solidFill>
                <a:latin typeface="Times New Roman"/>
                <a:cs typeface="Times New Roman"/>
              </a:rPr>
              <a:t> </a:t>
            </a:r>
            <a:r>
              <a:rPr sz="2000" spc="55" dirty="0">
                <a:solidFill>
                  <a:srgbClr val="FFFFFF"/>
                </a:solidFill>
                <a:latin typeface="Times New Roman"/>
                <a:cs typeface="Times New Roman"/>
              </a:rPr>
              <a:t>assessment  </a:t>
            </a:r>
            <a:r>
              <a:rPr sz="2000" spc="50" dirty="0">
                <a:solidFill>
                  <a:srgbClr val="FFFFFF"/>
                </a:solidFill>
                <a:latin typeface="Times New Roman"/>
                <a:cs typeface="Times New Roman"/>
              </a:rPr>
              <a:t>results, </a:t>
            </a:r>
            <a:r>
              <a:rPr sz="2000" spc="80" dirty="0">
                <a:solidFill>
                  <a:srgbClr val="FFFFFF"/>
                </a:solidFill>
                <a:latin typeface="Times New Roman"/>
                <a:cs typeface="Times New Roman"/>
              </a:rPr>
              <a:t>you </a:t>
            </a:r>
            <a:r>
              <a:rPr sz="2000" spc="75" dirty="0">
                <a:solidFill>
                  <a:srgbClr val="FFFFFF"/>
                </a:solidFill>
                <a:latin typeface="Times New Roman"/>
                <a:cs typeface="Times New Roman"/>
              </a:rPr>
              <a:t>can mark </a:t>
            </a:r>
            <a:r>
              <a:rPr sz="2000" spc="25" dirty="0">
                <a:solidFill>
                  <a:srgbClr val="FFFFFF"/>
                </a:solidFill>
                <a:latin typeface="Times New Roman"/>
                <a:cs typeface="Times New Roman"/>
              </a:rPr>
              <a:t>specific  </a:t>
            </a:r>
            <a:r>
              <a:rPr sz="2000" spc="60" dirty="0">
                <a:solidFill>
                  <a:srgbClr val="FFFFFF"/>
                </a:solidFill>
                <a:latin typeface="Times New Roman"/>
                <a:cs typeface="Times New Roman"/>
              </a:rPr>
              <a:t>results </a:t>
            </a:r>
            <a:r>
              <a:rPr sz="2000" spc="20" dirty="0">
                <a:solidFill>
                  <a:srgbClr val="FFFFFF"/>
                </a:solidFill>
                <a:latin typeface="Times New Roman"/>
                <a:cs typeface="Times New Roman"/>
              </a:rPr>
              <a:t>as </a:t>
            </a:r>
            <a:r>
              <a:rPr sz="2000" spc="60" dirty="0">
                <a:solidFill>
                  <a:srgbClr val="FFFFFF"/>
                </a:solidFill>
                <a:latin typeface="Times New Roman"/>
                <a:cs typeface="Times New Roman"/>
              </a:rPr>
              <a:t>being </a:t>
            </a:r>
            <a:r>
              <a:rPr sz="2000" spc="105" dirty="0">
                <a:solidFill>
                  <a:srgbClr val="FFFFFF"/>
                </a:solidFill>
                <a:latin typeface="Times New Roman"/>
                <a:cs typeface="Times New Roman"/>
              </a:rPr>
              <a:t>an </a:t>
            </a:r>
            <a:r>
              <a:rPr sz="2000" spc="50" dirty="0">
                <a:solidFill>
                  <a:srgbClr val="FFFFFF"/>
                </a:solidFill>
                <a:latin typeface="Times New Roman"/>
                <a:cs typeface="Times New Roman"/>
              </a:rPr>
              <a:t>acceptable  </a:t>
            </a:r>
            <a:r>
              <a:rPr sz="2000" spc="45" dirty="0">
                <a:solidFill>
                  <a:srgbClr val="FFFFFF"/>
                </a:solidFill>
                <a:latin typeface="Times New Roman"/>
                <a:cs typeface="Times New Roman"/>
              </a:rPr>
              <a:t>baseline.</a:t>
            </a:r>
            <a:endParaRPr sz="2000">
              <a:latin typeface="Times New Roman"/>
              <a:cs typeface="Times New Roman"/>
            </a:endParaRPr>
          </a:p>
          <a:p>
            <a:pPr marL="355600" marR="5080" indent="-343535" algn="just">
              <a:lnSpc>
                <a:spcPts val="2160"/>
              </a:lnSpc>
              <a:buFont typeface="Wingdings"/>
              <a:buChar char=""/>
              <a:tabLst>
                <a:tab pos="356235" algn="l"/>
              </a:tabLst>
            </a:pPr>
            <a:r>
              <a:rPr sz="2000" spc="60" dirty="0">
                <a:solidFill>
                  <a:srgbClr val="FFFFFF"/>
                </a:solidFill>
                <a:latin typeface="Times New Roman"/>
                <a:cs typeface="Times New Roman"/>
              </a:rPr>
              <a:t>Results </a:t>
            </a:r>
            <a:r>
              <a:rPr sz="2000" spc="114" dirty="0">
                <a:solidFill>
                  <a:srgbClr val="FFFFFF"/>
                </a:solidFill>
                <a:latin typeface="Times New Roman"/>
                <a:cs typeface="Times New Roman"/>
              </a:rPr>
              <a:t>that </a:t>
            </a:r>
            <a:r>
              <a:rPr sz="2000" spc="85" dirty="0">
                <a:solidFill>
                  <a:srgbClr val="FFFFFF"/>
                </a:solidFill>
                <a:latin typeface="Times New Roman"/>
                <a:cs typeface="Times New Roman"/>
              </a:rPr>
              <a:t>match </a:t>
            </a:r>
            <a:r>
              <a:rPr sz="2000" spc="110" dirty="0">
                <a:solidFill>
                  <a:srgbClr val="FFFFFF"/>
                </a:solidFill>
                <a:latin typeface="Times New Roman"/>
                <a:cs typeface="Times New Roman"/>
              </a:rPr>
              <a:t>the</a:t>
            </a:r>
            <a:r>
              <a:rPr sz="2000" spc="-340" dirty="0">
                <a:solidFill>
                  <a:srgbClr val="FFFFFF"/>
                </a:solidFill>
                <a:latin typeface="Times New Roman"/>
                <a:cs typeface="Times New Roman"/>
              </a:rPr>
              <a:t> </a:t>
            </a:r>
            <a:r>
              <a:rPr sz="2000" spc="50" dirty="0">
                <a:solidFill>
                  <a:srgbClr val="FFFFFF"/>
                </a:solidFill>
                <a:latin typeface="Times New Roman"/>
                <a:cs typeface="Times New Roman"/>
              </a:rPr>
              <a:t>baseline  are </a:t>
            </a:r>
            <a:r>
              <a:rPr sz="2000" spc="70" dirty="0">
                <a:solidFill>
                  <a:srgbClr val="FFFFFF"/>
                </a:solidFill>
                <a:latin typeface="Times New Roman"/>
                <a:cs typeface="Times New Roman"/>
              </a:rPr>
              <a:t>considered </a:t>
            </a:r>
            <a:r>
              <a:rPr sz="2000" spc="20" dirty="0">
                <a:solidFill>
                  <a:srgbClr val="FFFFFF"/>
                </a:solidFill>
                <a:latin typeface="Times New Roman"/>
                <a:cs typeface="Times New Roman"/>
              </a:rPr>
              <a:t>as </a:t>
            </a:r>
            <a:r>
              <a:rPr sz="2000" spc="45" dirty="0">
                <a:solidFill>
                  <a:srgbClr val="FFFFFF"/>
                </a:solidFill>
                <a:latin typeface="Times New Roman"/>
                <a:cs typeface="Times New Roman"/>
              </a:rPr>
              <a:t>passing </a:t>
            </a:r>
            <a:r>
              <a:rPr sz="2000" spc="95" dirty="0">
                <a:solidFill>
                  <a:srgbClr val="FFFFFF"/>
                </a:solidFill>
                <a:latin typeface="Times New Roman"/>
                <a:cs typeface="Times New Roman"/>
              </a:rPr>
              <a:t>in  </a:t>
            </a:r>
            <a:r>
              <a:rPr sz="2000" spc="90" dirty="0">
                <a:solidFill>
                  <a:srgbClr val="FFFFFF"/>
                </a:solidFill>
                <a:latin typeface="Times New Roman"/>
                <a:cs typeface="Times New Roman"/>
              </a:rPr>
              <a:t>subsequent</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scans.</a:t>
            </a:r>
            <a:endParaRPr sz="2000">
              <a:latin typeface="Times New Roman"/>
              <a:cs typeface="Times New Roman"/>
            </a:endParaRPr>
          </a:p>
          <a:p>
            <a:pPr marL="355600" marR="6985" indent="-343535" algn="just">
              <a:lnSpc>
                <a:spcPts val="2160"/>
              </a:lnSpc>
              <a:buFont typeface="Wingdings"/>
              <a:buChar char=""/>
              <a:tabLst>
                <a:tab pos="356235" algn="l"/>
              </a:tabLst>
            </a:pPr>
            <a:r>
              <a:rPr sz="2000" spc="90" dirty="0">
                <a:solidFill>
                  <a:srgbClr val="FFFFFF"/>
                </a:solidFill>
                <a:latin typeface="Times New Roman"/>
                <a:cs typeface="Times New Roman"/>
              </a:rPr>
              <a:t>After </a:t>
            </a:r>
            <a:r>
              <a:rPr sz="2000" spc="80" dirty="0">
                <a:solidFill>
                  <a:srgbClr val="FFFFFF"/>
                </a:solidFill>
                <a:latin typeface="Times New Roman"/>
                <a:cs typeface="Times New Roman"/>
              </a:rPr>
              <a:t>you </a:t>
            </a:r>
            <a:r>
              <a:rPr sz="2000" spc="70" dirty="0">
                <a:solidFill>
                  <a:srgbClr val="FFFFFF"/>
                </a:solidFill>
                <a:latin typeface="Times New Roman"/>
                <a:cs typeface="Times New Roman"/>
              </a:rPr>
              <a:t>have </a:t>
            </a:r>
            <a:r>
              <a:rPr sz="2000" spc="60" dirty="0">
                <a:solidFill>
                  <a:srgbClr val="FFFFFF"/>
                </a:solidFill>
                <a:latin typeface="Times New Roman"/>
                <a:cs typeface="Times New Roman"/>
              </a:rPr>
              <a:t>established  </a:t>
            </a:r>
            <a:r>
              <a:rPr sz="2000" spc="80" dirty="0">
                <a:solidFill>
                  <a:srgbClr val="FFFFFF"/>
                </a:solidFill>
                <a:latin typeface="Times New Roman"/>
                <a:cs typeface="Times New Roman"/>
              </a:rPr>
              <a:t>your </a:t>
            </a:r>
            <a:r>
              <a:rPr sz="2000" spc="50" dirty="0">
                <a:solidFill>
                  <a:srgbClr val="FFFFFF"/>
                </a:solidFill>
                <a:latin typeface="Times New Roman"/>
                <a:cs typeface="Times New Roman"/>
              </a:rPr>
              <a:t>baseline security </a:t>
            </a:r>
            <a:r>
              <a:rPr sz="2000" spc="55" dirty="0">
                <a:solidFill>
                  <a:srgbClr val="FFFFFF"/>
                </a:solidFill>
                <a:latin typeface="Times New Roman"/>
                <a:cs typeface="Times New Roman"/>
              </a:rPr>
              <a:t>state,  </a:t>
            </a:r>
            <a:r>
              <a:rPr sz="2000" spc="70" dirty="0">
                <a:solidFill>
                  <a:srgbClr val="FFFFFF"/>
                </a:solidFill>
                <a:latin typeface="Times New Roman"/>
                <a:cs typeface="Times New Roman"/>
              </a:rPr>
              <a:t>Vulnerability Assessment only  </a:t>
            </a:r>
            <a:r>
              <a:rPr sz="2000" spc="75" dirty="0">
                <a:solidFill>
                  <a:srgbClr val="FFFFFF"/>
                </a:solidFill>
                <a:latin typeface="Times New Roman"/>
                <a:cs typeface="Times New Roman"/>
              </a:rPr>
              <a:t>reports </a:t>
            </a:r>
            <a:r>
              <a:rPr sz="2000" spc="135" dirty="0">
                <a:solidFill>
                  <a:srgbClr val="FFFFFF"/>
                </a:solidFill>
                <a:latin typeface="Times New Roman"/>
                <a:cs typeface="Times New Roman"/>
              </a:rPr>
              <a:t>on </a:t>
            </a:r>
            <a:r>
              <a:rPr sz="2000" spc="65" dirty="0">
                <a:solidFill>
                  <a:srgbClr val="FFFFFF"/>
                </a:solidFill>
                <a:latin typeface="Times New Roman"/>
                <a:cs typeface="Times New Roman"/>
              </a:rPr>
              <a:t>deviations </a:t>
            </a:r>
            <a:r>
              <a:rPr sz="2000" spc="70" dirty="0">
                <a:solidFill>
                  <a:srgbClr val="FFFFFF"/>
                </a:solidFill>
                <a:latin typeface="Times New Roman"/>
                <a:cs typeface="Times New Roman"/>
              </a:rPr>
              <a:t>from </a:t>
            </a:r>
            <a:r>
              <a:rPr sz="2000" spc="110" dirty="0">
                <a:solidFill>
                  <a:srgbClr val="FFFFFF"/>
                </a:solidFill>
                <a:latin typeface="Times New Roman"/>
                <a:cs typeface="Times New Roman"/>
              </a:rPr>
              <a:t>the  </a:t>
            </a:r>
            <a:r>
              <a:rPr sz="2000" spc="45" dirty="0">
                <a:solidFill>
                  <a:srgbClr val="FFFFFF"/>
                </a:solidFill>
                <a:latin typeface="Times New Roman"/>
                <a:cs typeface="Times New Roman"/>
              </a:rPr>
              <a:t>baseline.</a:t>
            </a:r>
            <a:endParaRPr sz="2000">
              <a:latin typeface="Times New Roman"/>
              <a:cs typeface="Times New Roman"/>
            </a:endParaRPr>
          </a:p>
        </p:txBody>
      </p:sp>
      <p:pic>
        <p:nvPicPr>
          <p:cNvPr id="6" name="object 6"/>
          <p:cNvPicPr/>
          <p:nvPr/>
        </p:nvPicPr>
        <p:blipFill>
          <a:blip r:embed="rId3" cstate="print"/>
          <a:stretch>
            <a:fillRect/>
          </a:stretch>
        </p:blipFill>
        <p:spPr>
          <a:xfrm>
            <a:off x="4572000" y="1870710"/>
            <a:ext cx="4417313" cy="3444240"/>
          </a:xfrm>
          <a:prstGeom prst="rect">
            <a:avLst/>
          </a:prstGeom>
        </p:spPr>
      </p:pic>
      <p:sp>
        <p:nvSpPr>
          <p:cNvPr id="7" name="object 7"/>
          <p:cNvSpPr txBox="1"/>
          <p:nvPr/>
        </p:nvSpPr>
        <p:spPr>
          <a:xfrm>
            <a:off x="6061709" y="5313171"/>
            <a:ext cx="154559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Approve </a:t>
            </a:r>
            <a:r>
              <a:rPr sz="1400" b="1" spc="-30" dirty="0">
                <a:latin typeface="Times New Roman"/>
                <a:cs typeface="Times New Roman"/>
              </a:rPr>
              <a:t>as</a:t>
            </a:r>
            <a:r>
              <a:rPr sz="1400" b="1" spc="-200" dirty="0">
                <a:latin typeface="Times New Roman"/>
                <a:cs typeface="Times New Roman"/>
              </a:rPr>
              <a:t> </a:t>
            </a:r>
            <a:r>
              <a:rPr sz="1400" b="1" spc="-10" dirty="0">
                <a:latin typeface="Times New Roman"/>
                <a:cs typeface="Times New Roman"/>
              </a:rPr>
              <a:t>Baseline</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10</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50" y="2286"/>
            <a:ext cx="6442075" cy="635635"/>
          </a:xfrm>
          <a:prstGeom prst="rect">
            <a:avLst/>
          </a:prstGeom>
        </p:spPr>
        <p:txBody>
          <a:bodyPr vert="horz" wrap="square" lIns="0" tIns="12700" rIns="0" bIns="0" rtlCol="0">
            <a:spAutoFit/>
          </a:bodyPr>
          <a:lstStyle/>
          <a:p>
            <a:pPr marL="12700">
              <a:lnSpc>
                <a:spcPct val="100000"/>
              </a:lnSpc>
              <a:spcBef>
                <a:spcPts val="100"/>
              </a:spcBef>
            </a:pPr>
            <a:r>
              <a:rPr spc="140" dirty="0"/>
              <a:t>Vulnerability Assessment</a:t>
            </a:r>
            <a:r>
              <a:rPr spc="-525" dirty="0"/>
              <a:t> </a:t>
            </a:r>
            <a:r>
              <a:rPr spc="10" dirty="0"/>
              <a:t>7-7</a:t>
            </a:r>
          </a:p>
        </p:txBody>
      </p:sp>
      <p:sp>
        <p:nvSpPr>
          <p:cNvPr id="3" name="object 3"/>
          <p:cNvSpPr/>
          <p:nvPr/>
        </p:nvSpPr>
        <p:spPr>
          <a:xfrm>
            <a:off x="216408" y="2003297"/>
            <a:ext cx="3976370" cy="3390900"/>
          </a:xfrm>
          <a:custGeom>
            <a:avLst/>
            <a:gdLst/>
            <a:ahLst/>
            <a:cxnLst/>
            <a:rect l="l" t="t" r="r" b="b"/>
            <a:pathLst>
              <a:path w="3976370" h="3390900">
                <a:moveTo>
                  <a:pt x="3976116" y="565150"/>
                </a:moveTo>
                <a:lnTo>
                  <a:pt x="3974033" y="516382"/>
                </a:lnTo>
                <a:lnTo>
                  <a:pt x="3967924" y="468769"/>
                </a:lnTo>
                <a:lnTo>
                  <a:pt x="3957955" y="422478"/>
                </a:lnTo>
                <a:lnTo>
                  <a:pt x="3944277" y="377672"/>
                </a:lnTo>
                <a:lnTo>
                  <a:pt x="3927081" y="334530"/>
                </a:lnTo>
                <a:lnTo>
                  <a:pt x="3906532" y="293230"/>
                </a:lnTo>
                <a:lnTo>
                  <a:pt x="3882783" y="253923"/>
                </a:lnTo>
                <a:lnTo>
                  <a:pt x="3856024" y="216789"/>
                </a:lnTo>
                <a:lnTo>
                  <a:pt x="3826421" y="181991"/>
                </a:lnTo>
                <a:lnTo>
                  <a:pt x="3794125" y="149694"/>
                </a:lnTo>
                <a:lnTo>
                  <a:pt x="3759327" y="120091"/>
                </a:lnTo>
                <a:lnTo>
                  <a:pt x="3722192" y="93332"/>
                </a:lnTo>
                <a:lnTo>
                  <a:pt x="3682885" y="69583"/>
                </a:lnTo>
                <a:lnTo>
                  <a:pt x="3641585" y="49034"/>
                </a:lnTo>
                <a:lnTo>
                  <a:pt x="3598443" y="31838"/>
                </a:lnTo>
                <a:lnTo>
                  <a:pt x="3553637" y="18161"/>
                </a:lnTo>
                <a:lnTo>
                  <a:pt x="3507346" y="8191"/>
                </a:lnTo>
                <a:lnTo>
                  <a:pt x="3459734" y="2082"/>
                </a:lnTo>
                <a:lnTo>
                  <a:pt x="3410966" y="0"/>
                </a:lnTo>
                <a:lnTo>
                  <a:pt x="565162" y="0"/>
                </a:lnTo>
                <a:lnTo>
                  <a:pt x="516394" y="2082"/>
                </a:lnTo>
                <a:lnTo>
                  <a:pt x="468782" y="8191"/>
                </a:lnTo>
                <a:lnTo>
                  <a:pt x="422490" y="18161"/>
                </a:lnTo>
                <a:lnTo>
                  <a:pt x="377685" y="31838"/>
                </a:lnTo>
                <a:lnTo>
                  <a:pt x="334556" y="49034"/>
                </a:lnTo>
                <a:lnTo>
                  <a:pt x="293243" y="69583"/>
                </a:lnTo>
                <a:lnTo>
                  <a:pt x="253936" y="93332"/>
                </a:lnTo>
                <a:lnTo>
                  <a:pt x="216801" y="120091"/>
                </a:lnTo>
                <a:lnTo>
                  <a:pt x="181991" y="149694"/>
                </a:lnTo>
                <a:lnTo>
                  <a:pt x="149707" y="181991"/>
                </a:lnTo>
                <a:lnTo>
                  <a:pt x="120091" y="216789"/>
                </a:lnTo>
                <a:lnTo>
                  <a:pt x="93332" y="253923"/>
                </a:lnTo>
                <a:lnTo>
                  <a:pt x="69583" y="293230"/>
                </a:lnTo>
                <a:lnTo>
                  <a:pt x="49034" y="334530"/>
                </a:lnTo>
                <a:lnTo>
                  <a:pt x="31826" y="377672"/>
                </a:lnTo>
                <a:lnTo>
                  <a:pt x="18161" y="422478"/>
                </a:lnTo>
                <a:lnTo>
                  <a:pt x="8178" y="468769"/>
                </a:lnTo>
                <a:lnTo>
                  <a:pt x="2070" y="516382"/>
                </a:lnTo>
                <a:lnTo>
                  <a:pt x="0" y="565150"/>
                </a:lnTo>
                <a:lnTo>
                  <a:pt x="0" y="2825750"/>
                </a:lnTo>
                <a:lnTo>
                  <a:pt x="2070" y="2874530"/>
                </a:lnTo>
                <a:lnTo>
                  <a:pt x="8178" y="2922143"/>
                </a:lnTo>
                <a:lnTo>
                  <a:pt x="18161" y="2968434"/>
                </a:lnTo>
                <a:lnTo>
                  <a:pt x="31826" y="3013240"/>
                </a:lnTo>
                <a:lnTo>
                  <a:pt x="49034" y="3056382"/>
                </a:lnTo>
                <a:lnTo>
                  <a:pt x="69583" y="3097682"/>
                </a:lnTo>
                <a:lnTo>
                  <a:pt x="93332" y="3136989"/>
                </a:lnTo>
                <a:lnTo>
                  <a:pt x="120091" y="3174123"/>
                </a:lnTo>
                <a:lnTo>
                  <a:pt x="149707" y="3208921"/>
                </a:lnTo>
                <a:lnTo>
                  <a:pt x="181991" y="3241217"/>
                </a:lnTo>
                <a:lnTo>
                  <a:pt x="216801" y="3270821"/>
                </a:lnTo>
                <a:lnTo>
                  <a:pt x="253936" y="3297580"/>
                </a:lnTo>
                <a:lnTo>
                  <a:pt x="293243" y="3321329"/>
                </a:lnTo>
                <a:lnTo>
                  <a:pt x="334556" y="3341878"/>
                </a:lnTo>
                <a:lnTo>
                  <a:pt x="377685" y="3359073"/>
                </a:lnTo>
                <a:lnTo>
                  <a:pt x="422490" y="3372751"/>
                </a:lnTo>
                <a:lnTo>
                  <a:pt x="468782" y="3382721"/>
                </a:lnTo>
                <a:lnTo>
                  <a:pt x="516394" y="3388830"/>
                </a:lnTo>
                <a:lnTo>
                  <a:pt x="565162" y="3390900"/>
                </a:lnTo>
                <a:lnTo>
                  <a:pt x="3410966" y="3390900"/>
                </a:lnTo>
                <a:lnTo>
                  <a:pt x="3459734" y="3388830"/>
                </a:lnTo>
                <a:lnTo>
                  <a:pt x="3507346" y="3382721"/>
                </a:lnTo>
                <a:lnTo>
                  <a:pt x="3553637" y="3372751"/>
                </a:lnTo>
                <a:lnTo>
                  <a:pt x="3598443" y="3359073"/>
                </a:lnTo>
                <a:lnTo>
                  <a:pt x="3641585" y="3341878"/>
                </a:lnTo>
                <a:lnTo>
                  <a:pt x="3682885" y="3321329"/>
                </a:lnTo>
                <a:lnTo>
                  <a:pt x="3722192" y="3297580"/>
                </a:lnTo>
                <a:lnTo>
                  <a:pt x="3759327" y="3270821"/>
                </a:lnTo>
                <a:lnTo>
                  <a:pt x="3794125" y="3241217"/>
                </a:lnTo>
                <a:lnTo>
                  <a:pt x="3826421" y="3208921"/>
                </a:lnTo>
                <a:lnTo>
                  <a:pt x="3856024" y="3174123"/>
                </a:lnTo>
                <a:lnTo>
                  <a:pt x="3882783" y="3136989"/>
                </a:lnTo>
                <a:lnTo>
                  <a:pt x="3906532" y="3097682"/>
                </a:lnTo>
                <a:lnTo>
                  <a:pt x="3927081" y="3056382"/>
                </a:lnTo>
                <a:lnTo>
                  <a:pt x="3944277" y="3013240"/>
                </a:lnTo>
                <a:lnTo>
                  <a:pt x="3957955" y="2968434"/>
                </a:lnTo>
                <a:lnTo>
                  <a:pt x="3967924" y="2922143"/>
                </a:lnTo>
                <a:lnTo>
                  <a:pt x="3974033" y="2874530"/>
                </a:lnTo>
                <a:lnTo>
                  <a:pt x="3976116" y="2825750"/>
                </a:lnTo>
                <a:lnTo>
                  <a:pt x="3976116" y="565150"/>
                </a:lnTo>
                <a:close/>
              </a:path>
            </a:pathLst>
          </a:custGeom>
          <a:solidFill>
            <a:srgbClr val="9BBA58"/>
          </a:solidFill>
        </p:spPr>
        <p:txBody>
          <a:bodyPr wrap="square" lIns="0" tIns="0" rIns="0" bIns="0" rtlCol="0"/>
          <a:lstStyle/>
          <a:p>
            <a:endParaRPr/>
          </a:p>
        </p:txBody>
      </p:sp>
      <p:sp>
        <p:nvSpPr>
          <p:cNvPr id="4" name="object 4"/>
          <p:cNvSpPr txBox="1"/>
          <p:nvPr/>
        </p:nvSpPr>
        <p:spPr>
          <a:xfrm>
            <a:off x="442468" y="2325369"/>
            <a:ext cx="3522979" cy="2524760"/>
          </a:xfrm>
          <a:prstGeom prst="rect">
            <a:avLst/>
          </a:prstGeom>
        </p:spPr>
        <p:txBody>
          <a:bodyPr vert="horz" wrap="square" lIns="0" tIns="46990" rIns="0" bIns="0" rtlCol="0">
            <a:spAutoFit/>
          </a:bodyPr>
          <a:lstStyle/>
          <a:p>
            <a:pPr marL="355600" marR="5080" indent="-343535" algn="just">
              <a:lnSpc>
                <a:spcPts val="2160"/>
              </a:lnSpc>
              <a:spcBef>
                <a:spcPts val="370"/>
              </a:spcBef>
              <a:buFont typeface="Wingdings"/>
              <a:buChar char=""/>
              <a:tabLst>
                <a:tab pos="356235" algn="l"/>
              </a:tabLst>
            </a:pPr>
            <a:r>
              <a:rPr sz="2000" spc="90" dirty="0">
                <a:solidFill>
                  <a:srgbClr val="FFFFFF"/>
                </a:solidFill>
                <a:latin typeface="Times New Roman"/>
                <a:cs typeface="Times New Roman"/>
              </a:rPr>
              <a:t>After </a:t>
            </a:r>
            <a:r>
              <a:rPr sz="2000" spc="80" dirty="0">
                <a:solidFill>
                  <a:srgbClr val="FFFFFF"/>
                </a:solidFill>
                <a:latin typeface="Times New Roman"/>
                <a:cs typeface="Times New Roman"/>
              </a:rPr>
              <a:t>you </a:t>
            </a:r>
            <a:r>
              <a:rPr sz="2000" spc="65" dirty="0">
                <a:solidFill>
                  <a:srgbClr val="FFFFFF"/>
                </a:solidFill>
                <a:latin typeface="Times New Roman"/>
                <a:cs typeface="Times New Roman"/>
              </a:rPr>
              <a:t>finish setting </a:t>
            </a:r>
            <a:r>
              <a:rPr sz="2000" spc="125" dirty="0">
                <a:solidFill>
                  <a:srgbClr val="FFFFFF"/>
                </a:solidFill>
                <a:latin typeface="Times New Roman"/>
                <a:cs typeface="Times New Roman"/>
              </a:rPr>
              <a:t>up  </a:t>
            </a:r>
            <a:r>
              <a:rPr sz="2000" spc="80" dirty="0">
                <a:solidFill>
                  <a:srgbClr val="FFFFFF"/>
                </a:solidFill>
                <a:latin typeface="Times New Roman"/>
                <a:cs typeface="Times New Roman"/>
              </a:rPr>
              <a:t>your </a:t>
            </a:r>
            <a:r>
              <a:rPr sz="2000" spc="75" dirty="0">
                <a:solidFill>
                  <a:srgbClr val="FFFFFF"/>
                </a:solidFill>
                <a:latin typeface="Times New Roman"/>
                <a:cs typeface="Times New Roman"/>
              </a:rPr>
              <a:t>Rule </a:t>
            </a:r>
            <a:r>
              <a:rPr sz="2000" spc="25" dirty="0">
                <a:solidFill>
                  <a:srgbClr val="FFFFFF"/>
                </a:solidFill>
                <a:latin typeface="Times New Roman"/>
                <a:cs typeface="Times New Roman"/>
              </a:rPr>
              <a:t>Baselines, </a:t>
            </a:r>
            <a:r>
              <a:rPr sz="2000" spc="135" dirty="0">
                <a:solidFill>
                  <a:srgbClr val="FFFFFF"/>
                </a:solidFill>
                <a:latin typeface="Times New Roman"/>
                <a:cs typeface="Times New Roman"/>
              </a:rPr>
              <a:t>run </a:t>
            </a:r>
            <a:r>
              <a:rPr sz="2000" spc="30" dirty="0">
                <a:solidFill>
                  <a:srgbClr val="FFFFFF"/>
                </a:solidFill>
                <a:latin typeface="Times New Roman"/>
                <a:cs typeface="Times New Roman"/>
              </a:rPr>
              <a:t>a  </a:t>
            </a:r>
            <a:r>
              <a:rPr sz="2000" spc="90" dirty="0">
                <a:solidFill>
                  <a:srgbClr val="FFFFFF"/>
                </a:solidFill>
                <a:latin typeface="Times New Roman"/>
                <a:cs typeface="Times New Roman"/>
              </a:rPr>
              <a:t>new </a:t>
            </a:r>
            <a:r>
              <a:rPr sz="2000" spc="55" dirty="0">
                <a:solidFill>
                  <a:srgbClr val="FFFFFF"/>
                </a:solidFill>
                <a:latin typeface="Times New Roman"/>
                <a:cs typeface="Times New Roman"/>
              </a:rPr>
              <a:t>scan </a:t>
            </a:r>
            <a:r>
              <a:rPr sz="2000" spc="110" dirty="0">
                <a:solidFill>
                  <a:srgbClr val="FFFFFF"/>
                </a:solidFill>
                <a:latin typeface="Times New Roman"/>
                <a:cs typeface="Times New Roman"/>
              </a:rPr>
              <a:t>to</a:t>
            </a:r>
            <a:r>
              <a:rPr sz="2000" spc="720" dirty="0">
                <a:solidFill>
                  <a:srgbClr val="FFFFFF"/>
                </a:solidFill>
                <a:latin typeface="Times New Roman"/>
                <a:cs typeface="Times New Roman"/>
              </a:rPr>
              <a:t> </a:t>
            </a:r>
            <a:r>
              <a:rPr sz="2000" spc="35" dirty="0">
                <a:solidFill>
                  <a:srgbClr val="FFFFFF"/>
                </a:solidFill>
                <a:latin typeface="Times New Roman"/>
                <a:cs typeface="Times New Roman"/>
              </a:rPr>
              <a:t>view </a:t>
            </a:r>
            <a:r>
              <a:rPr sz="2000" spc="114" dirty="0">
                <a:solidFill>
                  <a:srgbClr val="FFFFFF"/>
                </a:solidFill>
                <a:latin typeface="Times New Roman"/>
                <a:cs typeface="Times New Roman"/>
              </a:rPr>
              <a:t>the  </a:t>
            </a:r>
            <a:r>
              <a:rPr sz="2000" spc="50" dirty="0">
                <a:solidFill>
                  <a:srgbClr val="FFFFFF"/>
                </a:solidFill>
                <a:latin typeface="Times New Roman"/>
                <a:cs typeface="Times New Roman"/>
              </a:rPr>
              <a:t>customized</a:t>
            </a:r>
            <a:r>
              <a:rPr sz="2000" spc="-85" dirty="0">
                <a:solidFill>
                  <a:srgbClr val="FFFFFF"/>
                </a:solidFill>
                <a:latin typeface="Times New Roman"/>
                <a:cs typeface="Times New Roman"/>
              </a:rPr>
              <a:t> </a:t>
            </a:r>
            <a:r>
              <a:rPr sz="2000" spc="75" dirty="0">
                <a:solidFill>
                  <a:srgbClr val="FFFFFF"/>
                </a:solidFill>
                <a:latin typeface="Times New Roman"/>
                <a:cs typeface="Times New Roman"/>
              </a:rPr>
              <a:t>report.</a:t>
            </a:r>
            <a:endParaRPr sz="2000">
              <a:latin typeface="Times New Roman"/>
              <a:cs typeface="Times New Roman"/>
            </a:endParaRPr>
          </a:p>
          <a:p>
            <a:pPr marL="355600" marR="5080" indent="-343535" algn="just">
              <a:lnSpc>
                <a:spcPts val="2160"/>
              </a:lnSpc>
              <a:buFont typeface="Wingdings"/>
              <a:buChar char=""/>
              <a:tabLst>
                <a:tab pos="356235" algn="l"/>
              </a:tabLst>
            </a:pPr>
            <a:r>
              <a:rPr sz="2000" spc="70" dirty="0">
                <a:solidFill>
                  <a:srgbClr val="FFFFFF"/>
                </a:solidFill>
                <a:latin typeface="Times New Roman"/>
                <a:cs typeface="Times New Roman"/>
              </a:rPr>
              <a:t>Vulnerability Assessment  </a:t>
            </a:r>
            <a:r>
              <a:rPr sz="2000" spc="105" dirty="0">
                <a:solidFill>
                  <a:srgbClr val="FFFFFF"/>
                </a:solidFill>
                <a:latin typeface="Times New Roman"/>
                <a:cs typeface="Times New Roman"/>
              </a:rPr>
              <a:t>now </a:t>
            </a:r>
            <a:r>
              <a:rPr sz="2000" spc="75" dirty="0">
                <a:solidFill>
                  <a:srgbClr val="FFFFFF"/>
                </a:solidFill>
                <a:latin typeface="Times New Roman"/>
                <a:cs typeface="Times New Roman"/>
              </a:rPr>
              <a:t>reports </a:t>
            </a:r>
            <a:r>
              <a:rPr sz="2000" spc="70" dirty="0">
                <a:solidFill>
                  <a:srgbClr val="FFFFFF"/>
                </a:solidFill>
                <a:latin typeface="Times New Roman"/>
                <a:cs typeface="Times New Roman"/>
              </a:rPr>
              <a:t>only </a:t>
            </a:r>
            <a:r>
              <a:rPr sz="2000" spc="114" dirty="0">
                <a:solidFill>
                  <a:srgbClr val="FFFFFF"/>
                </a:solidFill>
                <a:latin typeface="Times New Roman"/>
                <a:cs typeface="Times New Roman"/>
              </a:rPr>
              <a:t>the  </a:t>
            </a:r>
            <a:r>
              <a:rPr sz="2000" spc="50" dirty="0">
                <a:solidFill>
                  <a:srgbClr val="FFFFFF"/>
                </a:solidFill>
                <a:latin typeface="Times New Roman"/>
                <a:cs typeface="Times New Roman"/>
              </a:rPr>
              <a:t>security </a:t>
            </a:r>
            <a:r>
              <a:rPr sz="2000" spc="35" dirty="0">
                <a:solidFill>
                  <a:srgbClr val="FFFFFF"/>
                </a:solidFill>
                <a:latin typeface="Times New Roman"/>
                <a:cs typeface="Times New Roman"/>
              </a:rPr>
              <a:t>issues </a:t>
            </a:r>
            <a:r>
              <a:rPr sz="2000" spc="114" dirty="0">
                <a:solidFill>
                  <a:srgbClr val="FFFFFF"/>
                </a:solidFill>
                <a:latin typeface="Times New Roman"/>
                <a:cs typeface="Times New Roman"/>
              </a:rPr>
              <a:t>that </a:t>
            </a:r>
            <a:r>
              <a:rPr sz="2000" spc="60" dirty="0">
                <a:solidFill>
                  <a:srgbClr val="FFFFFF"/>
                </a:solidFill>
                <a:latin typeface="Times New Roman"/>
                <a:cs typeface="Times New Roman"/>
              </a:rPr>
              <a:t>deviate  </a:t>
            </a:r>
            <a:r>
              <a:rPr sz="2000" spc="70" dirty="0">
                <a:solidFill>
                  <a:srgbClr val="FFFFFF"/>
                </a:solidFill>
                <a:latin typeface="Times New Roman"/>
                <a:cs typeface="Times New Roman"/>
              </a:rPr>
              <a:t>from </a:t>
            </a:r>
            <a:r>
              <a:rPr sz="2000" spc="80" dirty="0">
                <a:solidFill>
                  <a:srgbClr val="FFFFFF"/>
                </a:solidFill>
                <a:latin typeface="Times New Roman"/>
                <a:cs typeface="Times New Roman"/>
              </a:rPr>
              <a:t>your approved</a:t>
            </a:r>
            <a:r>
              <a:rPr sz="2000" spc="-130" dirty="0">
                <a:solidFill>
                  <a:srgbClr val="FFFFFF"/>
                </a:solidFill>
                <a:latin typeface="Times New Roman"/>
                <a:cs typeface="Times New Roman"/>
              </a:rPr>
              <a:t> </a:t>
            </a:r>
            <a:r>
              <a:rPr sz="2000" spc="50" dirty="0">
                <a:solidFill>
                  <a:srgbClr val="FFFFFF"/>
                </a:solidFill>
                <a:latin typeface="Times New Roman"/>
                <a:cs typeface="Times New Roman"/>
              </a:rPr>
              <a:t>baseline  </a:t>
            </a:r>
            <a:r>
              <a:rPr sz="2000" spc="55" dirty="0">
                <a:solidFill>
                  <a:srgbClr val="FFFFFF"/>
                </a:solidFill>
                <a:latin typeface="Times New Roman"/>
                <a:cs typeface="Times New Roman"/>
              </a:rPr>
              <a:t>state.</a:t>
            </a:r>
            <a:endParaRPr sz="2000">
              <a:latin typeface="Times New Roman"/>
              <a:cs typeface="Times New Roman"/>
            </a:endParaRPr>
          </a:p>
        </p:txBody>
      </p:sp>
      <p:sp>
        <p:nvSpPr>
          <p:cNvPr id="5" name="object 5"/>
          <p:cNvSpPr txBox="1"/>
          <p:nvPr/>
        </p:nvSpPr>
        <p:spPr>
          <a:xfrm>
            <a:off x="339090" y="894080"/>
            <a:ext cx="7228205" cy="361315"/>
          </a:xfrm>
          <a:prstGeom prst="rect">
            <a:avLst/>
          </a:prstGeom>
        </p:spPr>
        <p:txBody>
          <a:bodyPr vert="horz" wrap="square" lIns="0" tIns="12700" rIns="0" bIns="0" rtlCol="0">
            <a:spAutoFit/>
          </a:bodyPr>
          <a:lstStyle/>
          <a:p>
            <a:pPr marL="12700">
              <a:lnSpc>
                <a:spcPct val="100000"/>
              </a:lnSpc>
              <a:spcBef>
                <a:spcPts val="100"/>
              </a:spcBef>
            </a:pPr>
            <a:r>
              <a:rPr sz="2200" b="1" spc="25" dirty="0">
                <a:latin typeface="Times New Roman"/>
                <a:cs typeface="Times New Roman"/>
              </a:rPr>
              <a:t>Step</a:t>
            </a:r>
            <a:r>
              <a:rPr sz="2200" b="1" spc="-135" dirty="0">
                <a:latin typeface="Times New Roman"/>
                <a:cs typeface="Times New Roman"/>
              </a:rPr>
              <a:t> </a:t>
            </a:r>
            <a:r>
              <a:rPr sz="2200" b="1" spc="-260" dirty="0">
                <a:latin typeface="Times New Roman"/>
                <a:cs typeface="Times New Roman"/>
              </a:rPr>
              <a:t>5:</a:t>
            </a:r>
            <a:r>
              <a:rPr sz="2200" b="1" spc="-105" dirty="0">
                <a:latin typeface="Times New Roman"/>
                <a:cs typeface="Times New Roman"/>
              </a:rPr>
              <a:t> </a:t>
            </a:r>
            <a:r>
              <a:rPr sz="2200" b="1" spc="20" dirty="0">
                <a:latin typeface="Times New Roman"/>
                <a:cs typeface="Times New Roman"/>
              </a:rPr>
              <a:t>Run</a:t>
            </a:r>
            <a:r>
              <a:rPr sz="2200" b="1" spc="-120" dirty="0">
                <a:latin typeface="Times New Roman"/>
                <a:cs typeface="Times New Roman"/>
              </a:rPr>
              <a:t> </a:t>
            </a:r>
            <a:r>
              <a:rPr sz="2200" b="1" spc="-85" dirty="0">
                <a:latin typeface="Times New Roman"/>
                <a:cs typeface="Times New Roman"/>
              </a:rPr>
              <a:t>a</a:t>
            </a:r>
            <a:r>
              <a:rPr sz="2200" b="1" spc="-110" dirty="0">
                <a:latin typeface="Times New Roman"/>
                <a:cs typeface="Times New Roman"/>
              </a:rPr>
              <a:t> </a:t>
            </a:r>
            <a:r>
              <a:rPr sz="2200" b="1" spc="50" dirty="0">
                <a:latin typeface="Times New Roman"/>
                <a:cs typeface="Times New Roman"/>
              </a:rPr>
              <a:t>new</a:t>
            </a:r>
            <a:r>
              <a:rPr sz="2200" b="1" spc="-135" dirty="0">
                <a:latin typeface="Times New Roman"/>
                <a:cs typeface="Times New Roman"/>
              </a:rPr>
              <a:t> </a:t>
            </a:r>
            <a:r>
              <a:rPr sz="2200" b="1" spc="-10" dirty="0">
                <a:latin typeface="Times New Roman"/>
                <a:cs typeface="Times New Roman"/>
              </a:rPr>
              <a:t>scan</a:t>
            </a:r>
            <a:r>
              <a:rPr sz="2200" b="1" spc="-125" dirty="0">
                <a:latin typeface="Times New Roman"/>
                <a:cs typeface="Times New Roman"/>
              </a:rPr>
              <a:t> </a:t>
            </a:r>
            <a:r>
              <a:rPr sz="2200" b="1" spc="55" dirty="0">
                <a:latin typeface="Times New Roman"/>
                <a:cs typeface="Times New Roman"/>
              </a:rPr>
              <a:t>to</a:t>
            </a:r>
            <a:r>
              <a:rPr sz="2200" b="1" spc="-114" dirty="0">
                <a:latin typeface="Times New Roman"/>
                <a:cs typeface="Times New Roman"/>
              </a:rPr>
              <a:t> </a:t>
            </a:r>
            <a:r>
              <a:rPr sz="2200" b="1" spc="25" dirty="0">
                <a:latin typeface="Times New Roman"/>
                <a:cs typeface="Times New Roman"/>
              </a:rPr>
              <a:t>see</a:t>
            </a:r>
            <a:r>
              <a:rPr sz="2200" b="1" spc="-110" dirty="0">
                <a:latin typeface="Times New Roman"/>
                <a:cs typeface="Times New Roman"/>
              </a:rPr>
              <a:t> </a:t>
            </a:r>
            <a:r>
              <a:rPr sz="2200" b="1" spc="-20" dirty="0">
                <a:latin typeface="Times New Roman"/>
                <a:cs typeface="Times New Roman"/>
              </a:rPr>
              <a:t>your</a:t>
            </a:r>
            <a:r>
              <a:rPr sz="2200" b="1" spc="-105" dirty="0">
                <a:latin typeface="Times New Roman"/>
                <a:cs typeface="Times New Roman"/>
              </a:rPr>
              <a:t> </a:t>
            </a:r>
            <a:r>
              <a:rPr sz="2200" b="1" spc="-5" dirty="0">
                <a:latin typeface="Times New Roman"/>
                <a:cs typeface="Times New Roman"/>
              </a:rPr>
              <a:t>customized</a:t>
            </a:r>
            <a:r>
              <a:rPr sz="2200" b="1" spc="-130" dirty="0">
                <a:latin typeface="Times New Roman"/>
                <a:cs typeface="Times New Roman"/>
              </a:rPr>
              <a:t> </a:t>
            </a:r>
            <a:r>
              <a:rPr sz="2200" b="1" spc="-35" dirty="0">
                <a:latin typeface="Times New Roman"/>
                <a:cs typeface="Times New Roman"/>
              </a:rPr>
              <a:t>tracking</a:t>
            </a:r>
            <a:r>
              <a:rPr sz="2200" b="1" spc="-130" dirty="0">
                <a:latin typeface="Times New Roman"/>
                <a:cs typeface="Times New Roman"/>
              </a:rPr>
              <a:t> </a:t>
            </a:r>
            <a:r>
              <a:rPr sz="2200" b="1" spc="-35" dirty="0">
                <a:latin typeface="Times New Roman"/>
                <a:cs typeface="Times New Roman"/>
              </a:rPr>
              <a:t>report</a:t>
            </a:r>
            <a:endParaRPr sz="2200">
              <a:latin typeface="Times New Roman"/>
              <a:cs typeface="Times New Roman"/>
            </a:endParaRPr>
          </a:p>
        </p:txBody>
      </p:sp>
      <p:pic>
        <p:nvPicPr>
          <p:cNvPr id="6" name="object 6"/>
          <p:cNvPicPr/>
          <p:nvPr/>
        </p:nvPicPr>
        <p:blipFill>
          <a:blip r:embed="rId3" cstate="print"/>
          <a:stretch>
            <a:fillRect/>
          </a:stretch>
        </p:blipFill>
        <p:spPr>
          <a:xfrm>
            <a:off x="4440173" y="2274570"/>
            <a:ext cx="4487418" cy="3464814"/>
          </a:xfrm>
          <a:prstGeom prst="rect">
            <a:avLst/>
          </a:prstGeom>
        </p:spPr>
      </p:pic>
      <p:sp>
        <p:nvSpPr>
          <p:cNvPr id="7" name="object 7"/>
          <p:cNvSpPr txBox="1"/>
          <p:nvPr/>
        </p:nvSpPr>
        <p:spPr>
          <a:xfrm>
            <a:off x="5699759" y="5713476"/>
            <a:ext cx="180340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Customize Scan</a:t>
            </a:r>
            <a:r>
              <a:rPr sz="1400" b="1" spc="-190" dirty="0">
                <a:latin typeface="Times New Roman"/>
                <a:cs typeface="Times New Roman"/>
              </a:rPr>
              <a:t> </a:t>
            </a:r>
            <a:r>
              <a:rPr sz="1400" b="1" spc="-15" dirty="0">
                <a:latin typeface="Times New Roman"/>
                <a:cs typeface="Times New Roman"/>
              </a:rPr>
              <a:t>Report</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11</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4548505" cy="635635"/>
          </a:xfrm>
          <a:prstGeom prst="rect">
            <a:avLst/>
          </a:prstGeom>
        </p:spPr>
        <p:txBody>
          <a:bodyPr vert="horz" wrap="square" lIns="0" tIns="12700" rIns="0" bIns="0" rtlCol="0">
            <a:spAutoFit/>
          </a:bodyPr>
          <a:lstStyle/>
          <a:p>
            <a:pPr marL="12700">
              <a:lnSpc>
                <a:spcPct val="100000"/>
              </a:lnSpc>
              <a:spcBef>
                <a:spcPts val="100"/>
              </a:spcBef>
            </a:pPr>
            <a:r>
              <a:rPr spc="-60" dirty="0"/>
              <a:t>Big </a:t>
            </a:r>
            <a:r>
              <a:rPr spc="165" dirty="0"/>
              <a:t>Data </a:t>
            </a:r>
            <a:r>
              <a:rPr spc="175" dirty="0"/>
              <a:t>Clusters</a:t>
            </a:r>
            <a:r>
              <a:rPr spc="-630" dirty="0"/>
              <a:t> </a:t>
            </a:r>
            <a:r>
              <a:rPr spc="-210" dirty="0"/>
              <a:t>1-6</a:t>
            </a:r>
          </a:p>
        </p:txBody>
      </p:sp>
      <p:sp>
        <p:nvSpPr>
          <p:cNvPr id="3" name="object 3"/>
          <p:cNvSpPr/>
          <p:nvPr/>
        </p:nvSpPr>
        <p:spPr>
          <a:xfrm>
            <a:off x="381000" y="877823"/>
            <a:ext cx="8217534" cy="544830"/>
          </a:xfrm>
          <a:custGeom>
            <a:avLst/>
            <a:gdLst/>
            <a:ahLst/>
            <a:cxnLst/>
            <a:rect l="l" t="t" r="r" b="b"/>
            <a:pathLst>
              <a:path w="8217534" h="544830">
                <a:moveTo>
                  <a:pt x="8217408" y="28956"/>
                </a:moveTo>
                <a:lnTo>
                  <a:pt x="8192402" y="28956"/>
                </a:lnTo>
                <a:lnTo>
                  <a:pt x="8190814" y="26593"/>
                </a:lnTo>
                <a:lnTo>
                  <a:pt x="8161947" y="7137"/>
                </a:lnTo>
                <a:lnTo>
                  <a:pt x="8126603" y="0"/>
                </a:lnTo>
                <a:lnTo>
                  <a:pt x="90805" y="0"/>
                </a:lnTo>
                <a:lnTo>
                  <a:pt x="55448" y="7137"/>
                </a:lnTo>
                <a:lnTo>
                  <a:pt x="26593" y="26593"/>
                </a:lnTo>
                <a:lnTo>
                  <a:pt x="7124" y="55460"/>
                </a:lnTo>
                <a:lnTo>
                  <a:pt x="0" y="90805"/>
                </a:lnTo>
                <a:lnTo>
                  <a:pt x="0" y="454025"/>
                </a:lnTo>
                <a:lnTo>
                  <a:pt x="7124" y="489381"/>
                </a:lnTo>
                <a:lnTo>
                  <a:pt x="26593" y="518248"/>
                </a:lnTo>
                <a:lnTo>
                  <a:pt x="55448" y="537705"/>
                </a:lnTo>
                <a:lnTo>
                  <a:pt x="90805" y="544830"/>
                </a:lnTo>
                <a:lnTo>
                  <a:pt x="8126603" y="544830"/>
                </a:lnTo>
                <a:lnTo>
                  <a:pt x="8161947" y="537705"/>
                </a:lnTo>
                <a:lnTo>
                  <a:pt x="8190814" y="518248"/>
                </a:lnTo>
                <a:lnTo>
                  <a:pt x="8210270" y="489381"/>
                </a:lnTo>
                <a:lnTo>
                  <a:pt x="8217408" y="454025"/>
                </a:lnTo>
                <a:lnTo>
                  <a:pt x="8217408" y="415290"/>
                </a:lnTo>
                <a:lnTo>
                  <a:pt x="8217408" y="90805"/>
                </a:lnTo>
                <a:lnTo>
                  <a:pt x="8217408" y="28956"/>
                </a:lnTo>
                <a:close/>
              </a:path>
            </a:pathLst>
          </a:custGeom>
          <a:solidFill>
            <a:srgbClr val="C0504D"/>
          </a:solidFill>
        </p:spPr>
        <p:txBody>
          <a:bodyPr wrap="square" lIns="0" tIns="0" rIns="0" bIns="0" rtlCol="0"/>
          <a:lstStyle/>
          <a:p>
            <a:endParaRPr/>
          </a:p>
        </p:txBody>
      </p:sp>
      <p:sp>
        <p:nvSpPr>
          <p:cNvPr id="4" name="object 4"/>
          <p:cNvSpPr txBox="1"/>
          <p:nvPr/>
        </p:nvSpPr>
        <p:spPr>
          <a:xfrm>
            <a:off x="609091" y="844295"/>
            <a:ext cx="7925434" cy="430530"/>
          </a:xfrm>
          <a:prstGeom prst="rect">
            <a:avLst/>
          </a:prstGeom>
        </p:spPr>
        <p:txBody>
          <a:bodyPr vert="horz" wrap="square" lIns="0" tIns="36830" rIns="0" bIns="0" rtlCol="0">
            <a:spAutoFit/>
          </a:bodyPr>
          <a:lstStyle/>
          <a:p>
            <a:pPr marL="354965" marR="5080" indent="-342900">
              <a:lnSpc>
                <a:spcPts val="1510"/>
              </a:lnSpc>
              <a:spcBef>
                <a:spcPts val="290"/>
              </a:spcBef>
              <a:buFont typeface="Wingdings"/>
              <a:buChar char=""/>
              <a:tabLst>
                <a:tab pos="354965" algn="l"/>
                <a:tab pos="355600" algn="l"/>
              </a:tabLst>
            </a:pPr>
            <a:r>
              <a:rPr sz="1400" spc="55" dirty="0">
                <a:solidFill>
                  <a:srgbClr val="FFFFFF"/>
                </a:solidFill>
                <a:latin typeface="Times New Roman"/>
                <a:cs typeface="Times New Roman"/>
              </a:rPr>
              <a:t>In </a:t>
            </a:r>
            <a:r>
              <a:rPr sz="1400" spc="65" dirty="0">
                <a:solidFill>
                  <a:srgbClr val="FFFFFF"/>
                </a:solidFill>
                <a:latin typeface="Times New Roman"/>
                <a:cs typeface="Times New Roman"/>
              </a:rPr>
              <a:t>SQL </a:t>
            </a:r>
            <a:r>
              <a:rPr sz="1400" spc="40" dirty="0">
                <a:solidFill>
                  <a:srgbClr val="FFFFFF"/>
                </a:solidFill>
                <a:latin typeface="Times New Roman"/>
                <a:cs typeface="Times New Roman"/>
              </a:rPr>
              <a:t>Server </a:t>
            </a:r>
            <a:r>
              <a:rPr sz="1400" spc="-65" dirty="0">
                <a:solidFill>
                  <a:srgbClr val="FFFFFF"/>
                </a:solidFill>
                <a:latin typeface="Times New Roman"/>
                <a:cs typeface="Times New Roman"/>
              </a:rPr>
              <a:t>2019 </a:t>
            </a:r>
            <a:r>
              <a:rPr sz="1400" spc="-25" dirty="0">
                <a:solidFill>
                  <a:srgbClr val="FFFFFF"/>
                </a:solidFill>
                <a:latin typeface="Times New Roman"/>
                <a:cs typeface="Times New Roman"/>
              </a:rPr>
              <a:t>Big </a:t>
            </a:r>
            <a:r>
              <a:rPr sz="1400" spc="55" dirty="0">
                <a:solidFill>
                  <a:srgbClr val="FFFFFF"/>
                </a:solidFill>
                <a:latin typeface="Times New Roman"/>
                <a:cs typeface="Times New Roman"/>
              </a:rPr>
              <a:t>Data </a:t>
            </a:r>
            <a:r>
              <a:rPr sz="1400" spc="60" dirty="0">
                <a:solidFill>
                  <a:srgbClr val="FFFFFF"/>
                </a:solidFill>
                <a:latin typeface="Times New Roman"/>
                <a:cs typeface="Times New Roman"/>
              </a:rPr>
              <a:t>Clusters </a:t>
            </a:r>
            <a:r>
              <a:rPr sz="1400" spc="20" dirty="0">
                <a:solidFill>
                  <a:srgbClr val="FFFFFF"/>
                </a:solidFill>
                <a:latin typeface="Times New Roman"/>
                <a:cs typeface="Times New Roman"/>
              </a:rPr>
              <a:t>allow </a:t>
            </a:r>
            <a:r>
              <a:rPr sz="1400" spc="75" dirty="0">
                <a:solidFill>
                  <a:srgbClr val="FFFFFF"/>
                </a:solidFill>
                <a:latin typeface="Times New Roman"/>
                <a:cs typeface="Times New Roman"/>
              </a:rPr>
              <a:t>to </a:t>
            </a:r>
            <a:r>
              <a:rPr sz="1400" spc="40" dirty="0">
                <a:solidFill>
                  <a:srgbClr val="FFFFFF"/>
                </a:solidFill>
                <a:latin typeface="Times New Roman"/>
                <a:cs typeface="Times New Roman"/>
              </a:rPr>
              <a:t>deploy </a:t>
            </a:r>
            <a:r>
              <a:rPr sz="1400" spc="20" dirty="0">
                <a:solidFill>
                  <a:srgbClr val="FFFFFF"/>
                </a:solidFill>
                <a:latin typeface="Times New Roman"/>
                <a:cs typeface="Times New Roman"/>
              </a:rPr>
              <a:t>scalable </a:t>
            </a:r>
            <a:r>
              <a:rPr sz="1400" spc="35" dirty="0">
                <a:solidFill>
                  <a:srgbClr val="FFFFFF"/>
                </a:solidFill>
                <a:latin typeface="Times New Roman"/>
                <a:cs typeface="Times New Roman"/>
              </a:rPr>
              <a:t>clusters of </a:t>
            </a:r>
            <a:r>
              <a:rPr sz="1400" spc="65" dirty="0">
                <a:solidFill>
                  <a:srgbClr val="FFFFFF"/>
                </a:solidFill>
                <a:latin typeface="Times New Roman"/>
                <a:cs typeface="Times New Roman"/>
              </a:rPr>
              <a:t>SQL </a:t>
            </a:r>
            <a:r>
              <a:rPr sz="1400" spc="35" dirty="0">
                <a:solidFill>
                  <a:srgbClr val="FFFFFF"/>
                </a:solidFill>
                <a:latin typeface="Times New Roman"/>
                <a:cs typeface="Times New Roman"/>
              </a:rPr>
              <a:t>Server, </a:t>
            </a:r>
            <a:r>
              <a:rPr sz="1400" spc="45" dirty="0">
                <a:solidFill>
                  <a:srgbClr val="FFFFFF"/>
                </a:solidFill>
                <a:latin typeface="Times New Roman"/>
                <a:cs typeface="Times New Roman"/>
              </a:rPr>
              <a:t>Spark, </a:t>
            </a:r>
            <a:r>
              <a:rPr sz="1400" spc="75" dirty="0">
                <a:solidFill>
                  <a:srgbClr val="FFFFFF"/>
                </a:solidFill>
                <a:latin typeface="Times New Roman"/>
                <a:cs typeface="Times New Roman"/>
              </a:rPr>
              <a:t>and  </a:t>
            </a:r>
            <a:r>
              <a:rPr sz="1400" spc="65" dirty="0">
                <a:solidFill>
                  <a:srgbClr val="FFFFFF"/>
                </a:solidFill>
                <a:latin typeface="Times New Roman"/>
                <a:cs typeface="Times New Roman"/>
              </a:rPr>
              <a:t>Hadoop</a:t>
            </a:r>
            <a:r>
              <a:rPr sz="1400" spc="-45" dirty="0">
                <a:solidFill>
                  <a:srgbClr val="FFFFFF"/>
                </a:solidFill>
                <a:latin typeface="Times New Roman"/>
                <a:cs typeface="Times New Roman"/>
              </a:rPr>
              <a:t> </a:t>
            </a:r>
            <a:r>
              <a:rPr sz="1400" spc="55" dirty="0">
                <a:solidFill>
                  <a:srgbClr val="FFFFFF"/>
                </a:solidFill>
                <a:latin typeface="Times New Roman"/>
                <a:cs typeface="Times New Roman"/>
              </a:rPr>
              <a:t>Distributed</a:t>
            </a:r>
            <a:r>
              <a:rPr sz="1400" spc="-40" dirty="0">
                <a:solidFill>
                  <a:srgbClr val="FFFFFF"/>
                </a:solidFill>
                <a:latin typeface="Times New Roman"/>
                <a:cs typeface="Times New Roman"/>
              </a:rPr>
              <a:t> </a:t>
            </a:r>
            <a:r>
              <a:rPr sz="1400" spc="5" dirty="0">
                <a:solidFill>
                  <a:srgbClr val="FFFFFF"/>
                </a:solidFill>
                <a:latin typeface="Times New Roman"/>
                <a:cs typeface="Times New Roman"/>
              </a:rPr>
              <a:t>File</a:t>
            </a:r>
            <a:r>
              <a:rPr sz="1400" spc="-55" dirty="0">
                <a:solidFill>
                  <a:srgbClr val="FFFFFF"/>
                </a:solidFill>
                <a:latin typeface="Times New Roman"/>
                <a:cs typeface="Times New Roman"/>
              </a:rPr>
              <a:t> </a:t>
            </a:r>
            <a:r>
              <a:rPr sz="1400" spc="40" dirty="0">
                <a:solidFill>
                  <a:srgbClr val="FFFFFF"/>
                </a:solidFill>
                <a:latin typeface="Times New Roman"/>
                <a:cs typeface="Times New Roman"/>
              </a:rPr>
              <a:t>System</a:t>
            </a:r>
            <a:r>
              <a:rPr sz="1400" spc="-40" dirty="0">
                <a:solidFill>
                  <a:srgbClr val="FFFFFF"/>
                </a:solidFill>
                <a:latin typeface="Times New Roman"/>
                <a:cs typeface="Times New Roman"/>
              </a:rPr>
              <a:t> </a:t>
            </a:r>
            <a:r>
              <a:rPr sz="1400" spc="35" dirty="0">
                <a:solidFill>
                  <a:srgbClr val="FFFFFF"/>
                </a:solidFill>
                <a:latin typeface="Times New Roman"/>
                <a:cs typeface="Times New Roman"/>
              </a:rPr>
              <a:t>(HDFS)</a:t>
            </a:r>
            <a:r>
              <a:rPr sz="1400" spc="-20" dirty="0">
                <a:solidFill>
                  <a:srgbClr val="FFFFFF"/>
                </a:solidFill>
                <a:latin typeface="Times New Roman"/>
                <a:cs typeface="Times New Roman"/>
              </a:rPr>
              <a:t> </a:t>
            </a:r>
            <a:r>
              <a:rPr sz="1400" spc="50" dirty="0">
                <a:solidFill>
                  <a:srgbClr val="FFFFFF"/>
                </a:solidFill>
                <a:latin typeface="Times New Roman"/>
                <a:cs typeface="Times New Roman"/>
              </a:rPr>
              <a:t>containers</a:t>
            </a:r>
            <a:r>
              <a:rPr sz="1400" spc="-45" dirty="0">
                <a:solidFill>
                  <a:srgbClr val="FFFFFF"/>
                </a:solidFill>
                <a:latin typeface="Times New Roman"/>
                <a:cs typeface="Times New Roman"/>
              </a:rPr>
              <a:t> </a:t>
            </a:r>
            <a:r>
              <a:rPr sz="1400" spc="75" dirty="0">
                <a:solidFill>
                  <a:srgbClr val="FFFFFF"/>
                </a:solidFill>
                <a:latin typeface="Times New Roman"/>
                <a:cs typeface="Times New Roman"/>
              </a:rPr>
              <a:t>running</a:t>
            </a:r>
            <a:r>
              <a:rPr sz="1400" spc="-40" dirty="0">
                <a:solidFill>
                  <a:srgbClr val="FFFFFF"/>
                </a:solidFill>
                <a:latin typeface="Times New Roman"/>
                <a:cs typeface="Times New Roman"/>
              </a:rPr>
              <a:t> </a:t>
            </a:r>
            <a:r>
              <a:rPr sz="1400" spc="90" dirty="0">
                <a:solidFill>
                  <a:srgbClr val="FFFFFF"/>
                </a:solidFill>
                <a:latin typeface="Times New Roman"/>
                <a:cs typeface="Times New Roman"/>
              </a:rPr>
              <a:t>on</a:t>
            </a:r>
            <a:r>
              <a:rPr sz="1400" spc="-50" dirty="0">
                <a:solidFill>
                  <a:srgbClr val="FFFFFF"/>
                </a:solidFill>
                <a:latin typeface="Times New Roman"/>
                <a:cs typeface="Times New Roman"/>
              </a:rPr>
              <a:t> </a:t>
            </a:r>
            <a:r>
              <a:rPr sz="1400" spc="45" dirty="0">
                <a:solidFill>
                  <a:srgbClr val="FFFFFF"/>
                </a:solidFill>
                <a:latin typeface="Times New Roman"/>
                <a:cs typeface="Times New Roman"/>
              </a:rPr>
              <a:t>Kubernetes.</a:t>
            </a:r>
            <a:endParaRPr sz="1400">
              <a:latin typeface="Times New Roman"/>
              <a:cs typeface="Times New Roman"/>
            </a:endParaRPr>
          </a:p>
        </p:txBody>
      </p:sp>
      <p:grpSp>
        <p:nvGrpSpPr>
          <p:cNvPr id="5" name="object 5"/>
          <p:cNvGrpSpPr/>
          <p:nvPr/>
        </p:nvGrpSpPr>
        <p:grpSpPr>
          <a:xfrm>
            <a:off x="368808" y="2049779"/>
            <a:ext cx="8483600" cy="4391660"/>
            <a:chOff x="368808" y="2049779"/>
            <a:chExt cx="8483600" cy="4391660"/>
          </a:xfrm>
        </p:grpSpPr>
        <p:sp>
          <p:nvSpPr>
            <p:cNvPr id="6" name="object 6"/>
            <p:cNvSpPr/>
            <p:nvPr/>
          </p:nvSpPr>
          <p:spPr>
            <a:xfrm>
              <a:off x="381381" y="2062352"/>
              <a:ext cx="8458200" cy="401320"/>
            </a:xfrm>
            <a:custGeom>
              <a:avLst/>
              <a:gdLst/>
              <a:ahLst/>
              <a:cxnLst/>
              <a:rect l="l" t="t" r="r" b="b"/>
              <a:pathLst>
                <a:path w="8458200" h="401319">
                  <a:moveTo>
                    <a:pt x="8406511" y="0"/>
                  </a:moveTo>
                  <a:lnTo>
                    <a:pt x="51689" y="0"/>
                  </a:lnTo>
                  <a:lnTo>
                    <a:pt x="31568" y="3145"/>
                  </a:lnTo>
                  <a:lnTo>
                    <a:pt x="15138" y="11731"/>
                  </a:lnTo>
                  <a:lnTo>
                    <a:pt x="4061" y="24485"/>
                  </a:lnTo>
                  <a:lnTo>
                    <a:pt x="0" y="40132"/>
                  </a:lnTo>
                  <a:lnTo>
                    <a:pt x="0" y="360680"/>
                  </a:lnTo>
                  <a:lnTo>
                    <a:pt x="4061" y="376326"/>
                  </a:lnTo>
                  <a:lnTo>
                    <a:pt x="15138" y="389080"/>
                  </a:lnTo>
                  <a:lnTo>
                    <a:pt x="31568" y="397666"/>
                  </a:lnTo>
                  <a:lnTo>
                    <a:pt x="51689" y="400812"/>
                  </a:lnTo>
                  <a:lnTo>
                    <a:pt x="8406511" y="400812"/>
                  </a:lnTo>
                  <a:lnTo>
                    <a:pt x="8426642" y="397666"/>
                  </a:lnTo>
                  <a:lnTo>
                    <a:pt x="8443071" y="389080"/>
                  </a:lnTo>
                  <a:lnTo>
                    <a:pt x="8454141" y="376326"/>
                  </a:lnTo>
                  <a:lnTo>
                    <a:pt x="8458200" y="360680"/>
                  </a:lnTo>
                  <a:lnTo>
                    <a:pt x="8458200" y="40132"/>
                  </a:lnTo>
                  <a:lnTo>
                    <a:pt x="8454141" y="24485"/>
                  </a:lnTo>
                  <a:lnTo>
                    <a:pt x="8443071" y="11731"/>
                  </a:lnTo>
                  <a:lnTo>
                    <a:pt x="8426642" y="3145"/>
                  </a:lnTo>
                  <a:lnTo>
                    <a:pt x="8406511" y="0"/>
                  </a:lnTo>
                  <a:close/>
                </a:path>
              </a:pathLst>
            </a:custGeom>
            <a:solidFill>
              <a:srgbClr val="4AACC5"/>
            </a:solidFill>
          </p:spPr>
          <p:txBody>
            <a:bodyPr wrap="square" lIns="0" tIns="0" rIns="0" bIns="0" rtlCol="0"/>
            <a:lstStyle/>
            <a:p>
              <a:endParaRPr/>
            </a:p>
          </p:txBody>
        </p:sp>
        <p:sp>
          <p:nvSpPr>
            <p:cNvPr id="7" name="object 7"/>
            <p:cNvSpPr/>
            <p:nvPr/>
          </p:nvSpPr>
          <p:spPr>
            <a:xfrm>
              <a:off x="381381" y="2062352"/>
              <a:ext cx="8458200" cy="401320"/>
            </a:xfrm>
            <a:custGeom>
              <a:avLst/>
              <a:gdLst/>
              <a:ahLst/>
              <a:cxnLst/>
              <a:rect l="l" t="t" r="r" b="b"/>
              <a:pathLst>
                <a:path w="8458200" h="401319">
                  <a:moveTo>
                    <a:pt x="0" y="40132"/>
                  </a:moveTo>
                  <a:lnTo>
                    <a:pt x="4061" y="24485"/>
                  </a:lnTo>
                  <a:lnTo>
                    <a:pt x="15138" y="11731"/>
                  </a:lnTo>
                  <a:lnTo>
                    <a:pt x="31568" y="3145"/>
                  </a:lnTo>
                  <a:lnTo>
                    <a:pt x="51689" y="0"/>
                  </a:lnTo>
                  <a:lnTo>
                    <a:pt x="8406511" y="0"/>
                  </a:lnTo>
                  <a:lnTo>
                    <a:pt x="8426642" y="3145"/>
                  </a:lnTo>
                  <a:lnTo>
                    <a:pt x="8443071" y="11731"/>
                  </a:lnTo>
                  <a:lnTo>
                    <a:pt x="8454141" y="24485"/>
                  </a:lnTo>
                  <a:lnTo>
                    <a:pt x="8458200" y="40132"/>
                  </a:lnTo>
                  <a:lnTo>
                    <a:pt x="8458200" y="360680"/>
                  </a:lnTo>
                  <a:lnTo>
                    <a:pt x="8454141" y="376326"/>
                  </a:lnTo>
                  <a:lnTo>
                    <a:pt x="8443071" y="389080"/>
                  </a:lnTo>
                  <a:lnTo>
                    <a:pt x="8426642" y="397666"/>
                  </a:lnTo>
                  <a:lnTo>
                    <a:pt x="8406511" y="400812"/>
                  </a:lnTo>
                  <a:lnTo>
                    <a:pt x="51689" y="400812"/>
                  </a:lnTo>
                  <a:lnTo>
                    <a:pt x="31568" y="397666"/>
                  </a:lnTo>
                  <a:lnTo>
                    <a:pt x="15138" y="389080"/>
                  </a:lnTo>
                  <a:lnTo>
                    <a:pt x="4061" y="376326"/>
                  </a:lnTo>
                  <a:lnTo>
                    <a:pt x="0" y="360680"/>
                  </a:lnTo>
                  <a:lnTo>
                    <a:pt x="0" y="40132"/>
                  </a:lnTo>
                  <a:close/>
                </a:path>
              </a:pathLst>
            </a:custGeom>
            <a:ln w="25145">
              <a:solidFill>
                <a:srgbClr val="FFFFFF"/>
              </a:solidFill>
            </a:ln>
          </p:spPr>
          <p:txBody>
            <a:bodyPr wrap="square" lIns="0" tIns="0" rIns="0" bIns="0" rtlCol="0"/>
            <a:lstStyle/>
            <a:p>
              <a:endParaRPr/>
            </a:p>
          </p:txBody>
        </p:sp>
        <p:sp>
          <p:nvSpPr>
            <p:cNvPr id="8" name="object 8"/>
            <p:cNvSpPr/>
            <p:nvPr/>
          </p:nvSpPr>
          <p:spPr>
            <a:xfrm>
              <a:off x="381381" y="2502788"/>
              <a:ext cx="8458200" cy="401320"/>
            </a:xfrm>
            <a:custGeom>
              <a:avLst/>
              <a:gdLst/>
              <a:ahLst/>
              <a:cxnLst/>
              <a:rect l="l" t="t" r="r" b="b"/>
              <a:pathLst>
                <a:path w="8458200" h="401319">
                  <a:moveTo>
                    <a:pt x="8406511" y="0"/>
                  </a:moveTo>
                  <a:lnTo>
                    <a:pt x="51689" y="0"/>
                  </a:lnTo>
                  <a:lnTo>
                    <a:pt x="31568" y="3145"/>
                  </a:lnTo>
                  <a:lnTo>
                    <a:pt x="15138" y="11731"/>
                  </a:lnTo>
                  <a:lnTo>
                    <a:pt x="4061" y="24485"/>
                  </a:lnTo>
                  <a:lnTo>
                    <a:pt x="0" y="40132"/>
                  </a:lnTo>
                  <a:lnTo>
                    <a:pt x="0" y="360680"/>
                  </a:lnTo>
                  <a:lnTo>
                    <a:pt x="4061" y="376326"/>
                  </a:lnTo>
                  <a:lnTo>
                    <a:pt x="15138" y="389080"/>
                  </a:lnTo>
                  <a:lnTo>
                    <a:pt x="31568" y="397666"/>
                  </a:lnTo>
                  <a:lnTo>
                    <a:pt x="51689" y="400812"/>
                  </a:lnTo>
                  <a:lnTo>
                    <a:pt x="8406511" y="400812"/>
                  </a:lnTo>
                  <a:lnTo>
                    <a:pt x="8426642" y="397666"/>
                  </a:lnTo>
                  <a:lnTo>
                    <a:pt x="8443071" y="389080"/>
                  </a:lnTo>
                  <a:lnTo>
                    <a:pt x="8454141" y="376326"/>
                  </a:lnTo>
                  <a:lnTo>
                    <a:pt x="8458200" y="360680"/>
                  </a:lnTo>
                  <a:lnTo>
                    <a:pt x="8458200" y="40132"/>
                  </a:lnTo>
                  <a:lnTo>
                    <a:pt x="8454141" y="24485"/>
                  </a:lnTo>
                  <a:lnTo>
                    <a:pt x="8443071" y="11731"/>
                  </a:lnTo>
                  <a:lnTo>
                    <a:pt x="8426642" y="3145"/>
                  </a:lnTo>
                  <a:lnTo>
                    <a:pt x="8406511" y="0"/>
                  </a:lnTo>
                  <a:close/>
                </a:path>
              </a:pathLst>
            </a:custGeom>
            <a:solidFill>
              <a:srgbClr val="49CCC0"/>
            </a:solidFill>
          </p:spPr>
          <p:txBody>
            <a:bodyPr wrap="square" lIns="0" tIns="0" rIns="0" bIns="0" rtlCol="0"/>
            <a:lstStyle/>
            <a:p>
              <a:endParaRPr/>
            </a:p>
          </p:txBody>
        </p:sp>
        <p:sp>
          <p:nvSpPr>
            <p:cNvPr id="9" name="object 9"/>
            <p:cNvSpPr/>
            <p:nvPr/>
          </p:nvSpPr>
          <p:spPr>
            <a:xfrm>
              <a:off x="381381" y="2502788"/>
              <a:ext cx="8458200" cy="401320"/>
            </a:xfrm>
            <a:custGeom>
              <a:avLst/>
              <a:gdLst/>
              <a:ahLst/>
              <a:cxnLst/>
              <a:rect l="l" t="t" r="r" b="b"/>
              <a:pathLst>
                <a:path w="8458200" h="401319">
                  <a:moveTo>
                    <a:pt x="0" y="40132"/>
                  </a:moveTo>
                  <a:lnTo>
                    <a:pt x="4061" y="24485"/>
                  </a:lnTo>
                  <a:lnTo>
                    <a:pt x="15138" y="11731"/>
                  </a:lnTo>
                  <a:lnTo>
                    <a:pt x="31568" y="3145"/>
                  </a:lnTo>
                  <a:lnTo>
                    <a:pt x="51689" y="0"/>
                  </a:lnTo>
                  <a:lnTo>
                    <a:pt x="8406511" y="0"/>
                  </a:lnTo>
                  <a:lnTo>
                    <a:pt x="8426642" y="3145"/>
                  </a:lnTo>
                  <a:lnTo>
                    <a:pt x="8443071" y="11731"/>
                  </a:lnTo>
                  <a:lnTo>
                    <a:pt x="8454141" y="24485"/>
                  </a:lnTo>
                  <a:lnTo>
                    <a:pt x="8458200" y="40132"/>
                  </a:lnTo>
                  <a:lnTo>
                    <a:pt x="8458200" y="360680"/>
                  </a:lnTo>
                  <a:lnTo>
                    <a:pt x="8454141" y="376326"/>
                  </a:lnTo>
                  <a:lnTo>
                    <a:pt x="8443071" y="389080"/>
                  </a:lnTo>
                  <a:lnTo>
                    <a:pt x="8426642" y="397666"/>
                  </a:lnTo>
                  <a:lnTo>
                    <a:pt x="8406511" y="400812"/>
                  </a:lnTo>
                  <a:lnTo>
                    <a:pt x="51689" y="400812"/>
                  </a:lnTo>
                  <a:lnTo>
                    <a:pt x="31568" y="397666"/>
                  </a:lnTo>
                  <a:lnTo>
                    <a:pt x="15138" y="389080"/>
                  </a:lnTo>
                  <a:lnTo>
                    <a:pt x="4061" y="376326"/>
                  </a:lnTo>
                  <a:lnTo>
                    <a:pt x="0" y="360680"/>
                  </a:lnTo>
                  <a:lnTo>
                    <a:pt x="0" y="40132"/>
                  </a:lnTo>
                  <a:close/>
                </a:path>
              </a:pathLst>
            </a:custGeom>
            <a:ln w="25145">
              <a:solidFill>
                <a:srgbClr val="FFFFFF"/>
              </a:solidFill>
            </a:ln>
          </p:spPr>
          <p:txBody>
            <a:bodyPr wrap="square" lIns="0" tIns="0" rIns="0" bIns="0" rtlCol="0"/>
            <a:lstStyle/>
            <a:p>
              <a:endParaRPr/>
            </a:p>
          </p:txBody>
        </p:sp>
        <p:sp>
          <p:nvSpPr>
            <p:cNvPr id="10" name="object 10"/>
            <p:cNvSpPr/>
            <p:nvPr/>
          </p:nvSpPr>
          <p:spPr>
            <a:xfrm>
              <a:off x="381381" y="2943986"/>
              <a:ext cx="8458200" cy="400050"/>
            </a:xfrm>
            <a:custGeom>
              <a:avLst/>
              <a:gdLst/>
              <a:ahLst/>
              <a:cxnLst/>
              <a:rect l="l" t="t" r="r" b="b"/>
              <a:pathLst>
                <a:path w="8458200" h="400050">
                  <a:moveTo>
                    <a:pt x="8406511" y="0"/>
                  </a:moveTo>
                  <a:lnTo>
                    <a:pt x="51689" y="0"/>
                  </a:lnTo>
                  <a:lnTo>
                    <a:pt x="31568" y="3143"/>
                  </a:lnTo>
                  <a:lnTo>
                    <a:pt x="15138" y="11715"/>
                  </a:lnTo>
                  <a:lnTo>
                    <a:pt x="4061" y="24431"/>
                  </a:lnTo>
                  <a:lnTo>
                    <a:pt x="0" y="40004"/>
                  </a:lnTo>
                  <a:lnTo>
                    <a:pt x="0" y="360044"/>
                  </a:lnTo>
                  <a:lnTo>
                    <a:pt x="4061" y="375618"/>
                  </a:lnTo>
                  <a:lnTo>
                    <a:pt x="15138" y="388334"/>
                  </a:lnTo>
                  <a:lnTo>
                    <a:pt x="31568" y="396906"/>
                  </a:lnTo>
                  <a:lnTo>
                    <a:pt x="51689" y="400049"/>
                  </a:lnTo>
                  <a:lnTo>
                    <a:pt x="8406511" y="400049"/>
                  </a:lnTo>
                  <a:lnTo>
                    <a:pt x="8426642" y="396906"/>
                  </a:lnTo>
                  <a:lnTo>
                    <a:pt x="8443071" y="388334"/>
                  </a:lnTo>
                  <a:lnTo>
                    <a:pt x="8454141" y="375618"/>
                  </a:lnTo>
                  <a:lnTo>
                    <a:pt x="8458200" y="360044"/>
                  </a:lnTo>
                  <a:lnTo>
                    <a:pt x="8458200" y="40004"/>
                  </a:lnTo>
                  <a:lnTo>
                    <a:pt x="8454141" y="24431"/>
                  </a:lnTo>
                  <a:lnTo>
                    <a:pt x="8443071" y="11715"/>
                  </a:lnTo>
                  <a:lnTo>
                    <a:pt x="8426642" y="3143"/>
                  </a:lnTo>
                  <a:lnTo>
                    <a:pt x="8406511" y="0"/>
                  </a:lnTo>
                  <a:close/>
                </a:path>
              </a:pathLst>
            </a:custGeom>
            <a:solidFill>
              <a:srgbClr val="47D29B"/>
            </a:solidFill>
          </p:spPr>
          <p:txBody>
            <a:bodyPr wrap="square" lIns="0" tIns="0" rIns="0" bIns="0" rtlCol="0"/>
            <a:lstStyle/>
            <a:p>
              <a:endParaRPr/>
            </a:p>
          </p:txBody>
        </p:sp>
        <p:sp>
          <p:nvSpPr>
            <p:cNvPr id="11" name="object 11"/>
            <p:cNvSpPr/>
            <p:nvPr/>
          </p:nvSpPr>
          <p:spPr>
            <a:xfrm>
              <a:off x="381381" y="2943986"/>
              <a:ext cx="8458200" cy="400050"/>
            </a:xfrm>
            <a:custGeom>
              <a:avLst/>
              <a:gdLst/>
              <a:ahLst/>
              <a:cxnLst/>
              <a:rect l="l" t="t" r="r" b="b"/>
              <a:pathLst>
                <a:path w="8458200" h="400050">
                  <a:moveTo>
                    <a:pt x="0" y="40004"/>
                  </a:moveTo>
                  <a:lnTo>
                    <a:pt x="4061" y="24431"/>
                  </a:lnTo>
                  <a:lnTo>
                    <a:pt x="15138" y="11715"/>
                  </a:lnTo>
                  <a:lnTo>
                    <a:pt x="31568" y="3143"/>
                  </a:lnTo>
                  <a:lnTo>
                    <a:pt x="51689" y="0"/>
                  </a:lnTo>
                  <a:lnTo>
                    <a:pt x="8406511" y="0"/>
                  </a:lnTo>
                  <a:lnTo>
                    <a:pt x="8426642" y="3143"/>
                  </a:lnTo>
                  <a:lnTo>
                    <a:pt x="8443071" y="11715"/>
                  </a:lnTo>
                  <a:lnTo>
                    <a:pt x="8454141" y="24431"/>
                  </a:lnTo>
                  <a:lnTo>
                    <a:pt x="8458200" y="40004"/>
                  </a:lnTo>
                  <a:lnTo>
                    <a:pt x="8458200" y="360044"/>
                  </a:lnTo>
                  <a:lnTo>
                    <a:pt x="8454141" y="375618"/>
                  </a:lnTo>
                  <a:lnTo>
                    <a:pt x="8443071" y="388334"/>
                  </a:lnTo>
                  <a:lnTo>
                    <a:pt x="8426642" y="396906"/>
                  </a:lnTo>
                  <a:lnTo>
                    <a:pt x="8406511" y="400049"/>
                  </a:lnTo>
                  <a:lnTo>
                    <a:pt x="51689" y="400049"/>
                  </a:lnTo>
                  <a:lnTo>
                    <a:pt x="31568" y="396906"/>
                  </a:lnTo>
                  <a:lnTo>
                    <a:pt x="15138" y="388334"/>
                  </a:lnTo>
                  <a:lnTo>
                    <a:pt x="4061" y="375618"/>
                  </a:lnTo>
                  <a:lnTo>
                    <a:pt x="0" y="360044"/>
                  </a:lnTo>
                  <a:lnTo>
                    <a:pt x="0" y="40004"/>
                  </a:lnTo>
                  <a:close/>
                </a:path>
              </a:pathLst>
            </a:custGeom>
            <a:ln w="25146">
              <a:solidFill>
                <a:srgbClr val="FFFFFF"/>
              </a:solidFill>
            </a:ln>
          </p:spPr>
          <p:txBody>
            <a:bodyPr wrap="square" lIns="0" tIns="0" rIns="0" bIns="0" rtlCol="0"/>
            <a:lstStyle/>
            <a:p>
              <a:endParaRPr/>
            </a:p>
          </p:txBody>
        </p:sp>
        <p:sp>
          <p:nvSpPr>
            <p:cNvPr id="12" name="object 12"/>
            <p:cNvSpPr/>
            <p:nvPr/>
          </p:nvSpPr>
          <p:spPr>
            <a:xfrm>
              <a:off x="381381" y="3384422"/>
              <a:ext cx="8458200" cy="401320"/>
            </a:xfrm>
            <a:custGeom>
              <a:avLst/>
              <a:gdLst/>
              <a:ahLst/>
              <a:cxnLst/>
              <a:rect l="l" t="t" r="r" b="b"/>
              <a:pathLst>
                <a:path w="8458200" h="401320">
                  <a:moveTo>
                    <a:pt x="8406511" y="0"/>
                  </a:moveTo>
                  <a:lnTo>
                    <a:pt x="51689" y="0"/>
                  </a:lnTo>
                  <a:lnTo>
                    <a:pt x="31568" y="3145"/>
                  </a:lnTo>
                  <a:lnTo>
                    <a:pt x="15138" y="11731"/>
                  </a:lnTo>
                  <a:lnTo>
                    <a:pt x="4061" y="24485"/>
                  </a:lnTo>
                  <a:lnTo>
                    <a:pt x="0" y="40132"/>
                  </a:lnTo>
                  <a:lnTo>
                    <a:pt x="0" y="360680"/>
                  </a:lnTo>
                  <a:lnTo>
                    <a:pt x="4061" y="376326"/>
                  </a:lnTo>
                  <a:lnTo>
                    <a:pt x="15138" y="389080"/>
                  </a:lnTo>
                  <a:lnTo>
                    <a:pt x="31568" y="397666"/>
                  </a:lnTo>
                  <a:lnTo>
                    <a:pt x="51689" y="400812"/>
                  </a:lnTo>
                  <a:lnTo>
                    <a:pt x="8406511" y="400812"/>
                  </a:lnTo>
                  <a:lnTo>
                    <a:pt x="8426642" y="397666"/>
                  </a:lnTo>
                  <a:lnTo>
                    <a:pt x="8443071" y="389080"/>
                  </a:lnTo>
                  <a:lnTo>
                    <a:pt x="8454141" y="376326"/>
                  </a:lnTo>
                  <a:lnTo>
                    <a:pt x="8458200" y="360680"/>
                  </a:lnTo>
                  <a:lnTo>
                    <a:pt x="8458200" y="40132"/>
                  </a:lnTo>
                  <a:lnTo>
                    <a:pt x="8454141" y="24485"/>
                  </a:lnTo>
                  <a:lnTo>
                    <a:pt x="8443071" y="11731"/>
                  </a:lnTo>
                  <a:lnTo>
                    <a:pt x="8426642" y="3145"/>
                  </a:lnTo>
                  <a:lnTo>
                    <a:pt x="8406511" y="0"/>
                  </a:lnTo>
                  <a:close/>
                </a:path>
              </a:pathLst>
            </a:custGeom>
            <a:solidFill>
              <a:srgbClr val="46D771"/>
            </a:solidFill>
          </p:spPr>
          <p:txBody>
            <a:bodyPr wrap="square" lIns="0" tIns="0" rIns="0" bIns="0" rtlCol="0"/>
            <a:lstStyle/>
            <a:p>
              <a:endParaRPr/>
            </a:p>
          </p:txBody>
        </p:sp>
        <p:sp>
          <p:nvSpPr>
            <p:cNvPr id="13" name="object 13"/>
            <p:cNvSpPr/>
            <p:nvPr/>
          </p:nvSpPr>
          <p:spPr>
            <a:xfrm>
              <a:off x="381381" y="3384422"/>
              <a:ext cx="8458200" cy="401320"/>
            </a:xfrm>
            <a:custGeom>
              <a:avLst/>
              <a:gdLst/>
              <a:ahLst/>
              <a:cxnLst/>
              <a:rect l="l" t="t" r="r" b="b"/>
              <a:pathLst>
                <a:path w="8458200" h="401320">
                  <a:moveTo>
                    <a:pt x="0" y="40132"/>
                  </a:moveTo>
                  <a:lnTo>
                    <a:pt x="4061" y="24485"/>
                  </a:lnTo>
                  <a:lnTo>
                    <a:pt x="15138" y="11731"/>
                  </a:lnTo>
                  <a:lnTo>
                    <a:pt x="31568" y="3145"/>
                  </a:lnTo>
                  <a:lnTo>
                    <a:pt x="51689" y="0"/>
                  </a:lnTo>
                  <a:lnTo>
                    <a:pt x="8406511" y="0"/>
                  </a:lnTo>
                  <a:lnTo>
                    <a:pt x="8426642" y="3145"/>
                  </a:lnTo>
                  <a:lnTo>
                    <a:pt x="8443071" y="11731"/>
                  </a:lnTo>
                  <a:lnTo>
                    <a:pt x="8454141" y="24485"/>
                  </a:lnTo>
                  <a:lnTo>
                    <a:pt x="8458200" y="40132"/>
                  </a:lnTo>
                  <a:lnTo>
                    <a:pt x="8458200" y="360680"/>
                  </a:lnTo>
                  <a:lnTo>
                    <a:pt x="8454141" y="376326"/>
                  </a:lnTo>
                  <a:lnTo>
                    <a:pt x="8443071" y="389080"/>
                  </a:lnTo>
                  <a:lnTo>
                    <a:pt x="8426642" y="397666"/>
                  </a:lnTo>
                  <a:lnTo>
                    <a:pt x="8406511" y="400812"/>
                  </a:lnTo>
                  <a:lnTo>
                    <a:pt x="51689" y="400812"/>
                  </a:lnTo>
                  <a:lnTo>
                    <a:pt x="31568" y="397666"/>
                  </a:lnTo>
                  <a:lnTo>
                    <a:pt x="15138" y="389080"/>
                  </a:lnTo>
                  <a:lnTo>
                    <a:pt x="4061" y="376326"/>
                  </a:lnTo>
                  <a:lnTo>
                    <a:pt x="0" y="360680"/>
                  </a:lnTo>
                  <a:lnTo>
                    <a:pt x="0" y="40132"/>
                  </a:lnTo>
                  <a:close/>
                </a:path>
              </a:pathLst>
            </a:custGeom>
            <a:ln w="25145">
              <a:solidFill>
                <a:srgbClr val="FFFFFF"/>
              </a:solidFill>
            </a:ln>
          </p:spPr>
          <p:txBody>
            <a:bodyPr wrap="square" lIns="0" tIns="0" rIns="0" bIns="0" rtlCol="0"/>
            <a:lstStyle/>
            <a:p>
              <a:endParaRPr/>
            </a:p>
          </p:txBody>
        </p:sp>
        <p:sp>
          <p:nvSpPr>
            <p:cNvPr id="14" name="object 14"/>
            <p:cNvSpPr/>
            <p:nvPr/>
          </p:nvSpPr>
          <p:spPr>
            <a:xfrm>
              <a:off x="381381" y="3824858"/>
              <a:ext cx="8458200" cy="401320"/>
            </a:xfrm>
            <a:custGeom>
              <a:avLst/>
              <a:gdLst/>
              <a:ahLst/>
              <a:cxnLst/>
              <a:rect l="l" t="t" r="r" b="b"/>
              <a:pathLst>
                <a:path w="8458200" h="401320">
                  <a:moveTo>
                    <a:pt x="8406511" y="0"/>
                  </a:moveTo>
                  <a:lnTo>
                    <a:pt x="51689" y="0"/>
                  </a:lnTo>
                  <a:lnTo>
                    <a:pt x="31568" y="3145"/>
                  </a:lnTo>
                  <a:lnTo>
                    <a:pt x="15138" y="11731"/>
                  </a:lnTo>
                  <a:lnTo>
                    <a:pt x="4061" y="24485"/>
                  </a:lnTo>
                  <a:lnTo>
                    <a:pt x="0" y="40131"/>
                  </a:lnTo>
                  <a:lnTo>
                    <a:pt x="0" y="360679"/>
                  </a:lnTo>
                  <a:lnTo>
                    <a:pt x="4061" y="376326"/>
                  </a:lnTo>
                  <a:lnTo>
                    <a:pt x="15138" y="389080"/>
                  </a:lnTo>
                  <a:lnTo>
                    <a:pt x="31568" y="397666"/>
                  </a:lnTo>
                  <a:lnTo>
                    <a:pt x="51689" y="400811"/>
                  </a:lnTo>
                  <a:lnTo>
                    <a:pt x="8406511" y="400811"/>
                  </a:lnTo>
                  <a:lnTo>
                    <a:pt x="8426642" y="397666"/>
                  </a:lnTo>
                  <a:lnTo>
                    <a:pt x="8443071" y="389080"/>
                  </a:lnTo>
                  <a:lnTo>
                    <a:pt x="8454141" y="376326"/>
                  </a:lnTo>
                  <a:lnTo>
                    <a:pt x="8458200" y="360679"/>
                  </a:lnTo>
                  <a:lnTo>
                    <a:pt x="8458200" y="40131"/>
                  </a:lnTo>
                  <a:lnTo>
                    <a:pt x="8454141" y="24485"/>
                  </a:lnTo>
                  <a:lnTo>
                    <a:pt x="8443071" y="11731"/>
                  </a:lnTo>
                  <a:lnTo>
                    <a:pt x="8426642" y="3145"/>
                  </a:lnTo>
                  <a:lnTo>
                    <a:pt x="8406511" y="0"/>
                  </a:lnTo>
                  <a:close/>
                </a:path>
              </a:pathLst>
            </a:custGeom>
            <a:solidFill>
              <a:srgbClr val="48DE46"/>
            </a:solidFill>
          </p:spPr>
          <p:txBody>
            <a:bodyPr wrap="square" lIns="0" tIns="0" rIns="0" bIns="0" rtlCol="0"/>
            <a:lstStyle/>
            <a:p>
              <a:endParaRPr/>
            </a:p>
          </p:txBody>
        </p:sp>
        <p:sp>
          <p:nvSpPr>
            <p:cNvPr id="15" name="object 15"/>
            <p:cNvSpPr/>
            <p:nvPr/>
          </p:nvSpPr>
          <p:spPr>
            <a:xfrm>
              <a:off x="381381" y="3824858"/>
              <a:ext cx="8458200" cy="401320"/>
            </a:xfrm>
            <a:custGeom>
              <a:avLst/>
              <a:gdLst/>
              <a:ahLst/>
              <a:cxnLst/>
              <a:rect l="l" t="t" r="r" b="b"/>
              <a:pathLst>
                <a:path w="8458200" h="401320">
                  <a:moveTo>
                    <a:pt x="0" y="40131"/>
                  </a:moveTo>
                  <a:lnTo>
                    <a:pt x="4061" y="24485"/>
                  </a:lnTo>
                  <a:lnTo>
                    <a:pt x="15138" y="11731"/>
                  </a:lnTo>
                  <a:lnTo>
                    <a:pt x="31568" y="3145"/>
                  </a:lnTo>
                  <a:lnTo>
                    <a:pt x="51689" y="0"/>
                  </a:lnTo>
                  <a:lnTo>
                    <a:pt x="8406511" y="0"/>
                  </a:lnTo>
                  <a:lnTo>
                    <a:pt x="8426642" y="3145"/>
                  </a:lnTo>
                  <a:lnTo>
                    <a:pt x="8443071" y="11731"/>
                  </a:lnTo>
                  <a:lnTo>
                    <a:pt x="8454141" y="24485"/>
                  </a:lnTo>
                  <a:lnTo>
                    <a:pt x="8458200" y="40131"/>
                  </a:lnTo>
                  <a:lnTo>
                    <a:pt x="8458200" y="360679"/>
                  </a:lnTo>
                  <a:lnTo>
                    <a:pt x="8454141" y="376326"/>
                  </a:lnTo>
                  <a:lnTo>
                    <a:pt x="8443071" y="389080"/>
                  </a:lnTo>
                  <a:lnTo>
                    <a:pt x="8426642" y="397666"/>
                  </a:lnTo>
                  <a:lnTo>
                    <a:pt x="8406511" y="400811"/>
                  </a:lnTo>
                  <a:lnTo>
                    <a:pt x="51689" y="400811"/>
                  </a:lnTo>
                  <a:lnTo>
                    <a:pt x="31568" y="397666"/>
                  </a:lnTo>
                  <a:lnTo>
                    <a:pt x="15138" y="389080"/>
                  </a:lnTo>
                  <a:lnTo>
                    <a:pt x="4061" y="376326"/>
                  </a:lnTo>
                  <a:lnTo>
                    <a:pt x="0" y="360679"/>
                  </a:lnTo>
                  <a:lnTo>
                    <a:pt x="0" y="40131"/>
                  </a:lnTo>
                  <a:close/>
                </a:path>
              </a:pathLst>
            </a:custGeom>
            <a:ln w="25145">
              <a:solidFill>
                <a:srgbClr val="FFFFFF"/>
              </a:solidFill>
            </a:ln>
          </p:spPr>
          <p:txBody>
            <a:bodyPr wrap="square" lIns="0" tIns="0" rIns="0" bIns="0" rtlCol="0"/>
            <a:lstStyle/>
            <a:p>
              <a:endParaRPr/>
            </a:p>
          </p:txBody>
        </p:sp>
        <p:sp>
          <p:nvSpPr>
            <p:cNvPr id="16" name="object 16"/>
            <p:cNvSpPr/>
            <p:nvPr/>
          </p:nvSpPr>
          <p:spPr>
            <a:xfrm>
              <a:off x="381381" y="4265294"/>
              <a:ext cx="8458200" cy="401320"/>
            </a:xfrm>
            <a:custGeom>
              <a:avLst/>
              <a:gdLst/>
              <a:ahLst/>
              <a:cxnLst/>
              <a:rect l="l" t="t" r="r" b="b"/>
              <a:pathLst>
                <a:path w="8458200" h="401320">
                  <a:moveTo>
                    <a:pt x="8406511" y="0"/>
                  </a:moveTo>
                  <a:lnTo>
                    <a:pt x="51689" y="0"/>
                  </a:lnTo>
                  <a:lnTo>
                    <a:pt x="31568" y="3145"/>
                  </a:lnTo>
                  <a:lnTo>
                    <a:pt x="15138" y="11731"/>
                  </a:lnTo>
                  <a:lnTo>
                    <a:pt x="4061" y="24485"/>
                  </a:lnTo>
                  <a:lnTo>
                    <a:pt x="0" y="40131"/>
                  </a:lnTo>
                  <a:lnTo>
                    <a:pt x="0" y="360679"/>
                  </a:lnTo>
                  <a:lnTo>
                    <a:pt x="4061" y="376326"/>
                  </a:lnTo>
                  <a:lnTo>
                    <a:pt x="15138" y="389080"/>
                  </a:lnTo>
                  <a:lnTo>
                    <a:pt x="31568" y="397666"/>
                  </a:lnTo>
                  <a:lnTo>
                    <a:pt x="51689" y="400811"/>
                  </a:lnTo>
                  <a:lnTo>
                    <a:pt x="8406511" y="400811"/>
                  </a:lnTo>
                  <a:lnTo>
                    <a:pt x="8426642" y="397666"/>
                  </a:lnTo>
                  <a:lnTo>
                    <a:pt x="8443071" y="389080"/>
                  </a:lnTo>
                  <a:lnTo>
                    <a:pt x="8454141" y="376326"/>
                  </a:lnTo>
                  <a:lnTo>
                    <a:pt x="8458200" y="360679"/>
                  </a:lnTo>
                  <a:lnTo>
                    <a:pt x="8458200" y="40131"/>
                  </a:lnTo>
                  <a:lnTo>
                    <a:pt x="8454141" y="24485"/>
                  </a:lnTo>
                  <a:lnTo>
                    <a:pt x="8443071" y="11731"/>
                  </a:lnTo>
                  <a:lnTo>
                    <a:pt x="8426642" y="3145"/>
                  </a:lnTo>
                  <a:lnTo>
                    <a:pt x="8406511" y="0"/>
                  </a:lnTo>
                  <a:close/>
                </a:path>
              </a:pathLst>
            </a:custGeom>
            <a:solidFill>
              <a:srgbClr val="79E246"/>
            </a:solidFill>
          </p:spPr>
          <p:txBody>
            <a:bodyPr wrap="square" lIns="0" tIns="0" rIns="0" bIns="0" rtlCol="0"/>
            <a:lstStyle/>
            <a:p>
              <a:endParaRPr/>
            </a:p>
          </p:txBody>
        </p:sp>
        <p:sp>
          <p:nvSpPr>
            <p:cNvPr id="17" name="object 17"/>
            <p:cNvSpPr/>
            <p:nvPr/>
          </p:nvSpPr>
          <p:spPr>
            <a:xfrm>
              <a:off x="381381" y="4265294"/>
              <a:ext cx="8458200" cy="401320"/>
            </a:xfrm>
            <a:custGeom>
              <a:avLst/>
              <a:gdLst/>
              <a:ahLst/>
              <a:cxnLst/>
              <a:rect l="l" t="t" r="r" b="b"/>
              <a:pathLst>
                <a:path w="8458200" h="401320">
                  <a:moveTo>
                    <a:pt x="0" y="40131"/>
                  </a:moveTo>
                  <a:lnTo>
                    <a:pt x="4061" y="24485"/>
                  </a:lnTo>
                  <a:lnTo>
                    <a:pt x="15138" y="11731"/>
                  </a:lnTo>
                  <a:lnTo>
                    <a:pt x="31568" y="3145"/>
                  </a:lnTo>
                  <a:lnTo>
                    <a:pt x="51689" y="0"/>
                  </a:lnTo>
                  <a:lnTo>
                    <a:pt x="8406511" y="0"/>
                  </a:lnTo>
                  <a:lnTo>
                    <a:pt x="8426642" y="3145"/>
                  </a:lnTo>
                  <a:lnTo>
                    <a:pt x="8443071" y="11731"/>
                  </a:lnTo>
                  <a:lnTo>
                    <a:pt x="8454141" y="24485"/>
                  </a:lnTo>
                  <a:lnTo>
                    <a:pt x="8458200" y="40131"/>
                  </a:lnTo>
                  <a:lnTo>
                    <a:pt x="8458200" y="360679"/>
                  </a:lnTo>
                  <a:lnTo>
                    <a:pt x="8454141" y="376326"/>
                  </a:lnTo>
                  <a:lnTo>
                    <a:pt x="8443071" y="389080"/>
                  </a:lnTo>
                  <a:lnTo>
                    <a:pt x="8426642" y="397666"/>
                  </a:lnTo>
                  <a:lnTo>
                    <a:pt x="8406511" y="400811"/>
                  </a:lnTo>
                  <a:lnTo>
                    <a:pt x="51689" y="400811"/>
                  </a:lnTo>
                  <a:lnTo>
                    <a:pt x="31568" y="397666"/>
                  </a:lnTo>
                  <a:lnTo>
                    <a:pt x="15138" y="389080"/>
                  </a:lnTo>
                  <a:lnTo>
                    <a:pt x="4061" y="376326"/>
                  </a:lnTo>
                  <a:lnTo>
                    <a:pt x="0" y="360679"/>
                  </a:lnTo>
                  <a:lnTo>
                    <a:pt x="0" y="40131"/>
                  </a:lnTo>
                  <a:close/>
                </a:path>
              </a:pathLst>
            </a:custGeom>
            <a:ln w="25145">
              <a:solidFill>
                <a:srgbClr val="FFFFFF"/>
              </a:solidFill>
            </a:ln>
          </p:spPr>
          <p:txBody>
            <a:bodyPr wrap="square" lIns="0" tIns="0" rIns="0" bIns="0" rtlCol="0"/>
            <a:lstStyle/>
            <a:p>
              <a:endParaRPr/>
            </a:p>
          </p:txBody>
        </p:sp>
        <p:sp>
          <p:nvSpPr>
            <p:cNvPr id="18" name="object 18"/>
            <p:cNvSpPr/>
            <p:nvPr/>
          </p:nvSpPr>
          <p:spPr>
            <a:xfrm>
              <a:off x="381381" y="4706492"/>
              <a:ext cx="8458200" cy="401320"/>
            </a:xfrm>
            <a:custGeom>
              <a:avLst/>
              <a:gdLst/>
              <a:ahLst/>
              <a:cxnLst/>
              <a:rect l="l" t="t" r="r" b="b"/>
              <a:pathLst>
                <a:path w="8458200" h="401320">
                  <a:moveTo>
                    <a:pt x="8406511" y="0"/>
                  </a:moveTo>
                  <a:lnTo>
                    <a:pt x="51689" y="0"/>
                  </a:lnTo>
                  <a:lnTo>
                    <a:pt x="31568" y="3145"/>
                  </a:lnTo>
                  <a:lnTo>
                    <a:pt x="15138" y="11731"/>
                  </a:lnTo>
                  <a:lnTo>
                    <a:pt x="4061" y="24485"/>
                  </a:lnTo>
                  <a:lnTo>
                    <a:pt x="0" y="40131"/>
                  </a:lnTo>
                  <a:lnTo>
                    <a:pt x="0" y="360679"/>
                  </a:lnTo>
                  <a:lnTo>
                    <a:pt x="4061" y="376326"/>
                  </a:lnTo>
                  <a:lnTo>
                    <a:pt x="15138" y="389080"/>
                  </a:lnTo>
                  <a:lnTo>
                    <a:pt x="31568" y="397666"/>
                  </a:lnTo>
                  <a:lnTo>
                    <a:pt x="51689" y="400811"/>
                  </a:lnTo>
                  <a:lnTo>
                    <a:pt x="8406511" y="400811"/>
                  </a:lnTo>
                  <a:lnTo>
                    <a:pt x="8426642" y="397666"/>
                  </a:lnTo>
                  <a:lnTo>
                    <a:pt x="8443071" y="389080"/>
                  </a:lnTo>
                  <a:lnTo>
                    <a:pt x="8454141" y="376326"/>
                  </a:lnTo>
                  <a:lnTo>
                    <a:pt x="8458200" y="360679"/>
                  </a:lnTo>
                  <a:lnTo>
                    <a:pt x="8458200" y="40131"/>
                  </a:lnTo>
                  <a:lnTo>
                    <a:pt x="8454141" y="24485"/>
                  </a:lnTo>
                  <a:lnTo>
                    <a:pt x="8443071" y="11731"/>
                  </a:lnTo>
                  <a:lnTo>
                    <a:pt x="8426642" y="3145"/>
                  </a:lnTo>
                  <a:lnTo>
                    <a:pt x="8406511" y="0"/>
                  </a:lnTo>
                  <a:close/>
                </a:path>
              </a:pathLst>
            </a:custGeom>
            <a:solidFill>
              <a:srgbClr val="ACE946"/>
            </a:solidFill>
          </p:spPr>
          <p:txBody>
            <a:bodyPr wrap="square" lIns="0" tIns="0" rIns="0" bIns="0" rtlCol="0"/>
            <a:lstStyle/>
            <a:p>
              <a:endParaRPr/>
            </a:p>
          </p:txBody>
        </p:sp>
        <p:sp>
          <p:nvSpPr>
            <p:cNvPr id="19" name="object 19"/>
            <p:cNvSpPr/>
            <p:nvPr/>
          </p:nvSpPr>
          <p:spPr>
            <a:xfrm>
              <a:off x="381381" y="4706492"/>
              <a:ext cx="8458200" cy="401320"/>
            </a:xfrm>
            <a:custGeom>
              <a:avLst/>
              <a:gdLst/>
              <a:ahLst/>
              <a:cxnLst/>
              <a:rect l="l" t="t" r="r" b="b"/>
              <a:pathLst>
                <a:path w="8458200" h="401320">
                  <a:moveTo>
                    <a:pt x="0" y="40131"/>
                  </a:moveTo>
                  <a:lnTo>
                    <a:pt x="4061" y="24485"/>
                  </a:lnTo>
                  <a:lnTo>
                    <a:pt x="15138" y="11731"/>
                  </a:lnTo>
                  <a:lnTo>
                    <a:pt x="31568" y="3145"/>
                  </a:lnTo>
                  <a:lnTo>
                    <a:pt x="51689" y="0"/>
                  </a:lnTo>
                  <a:lnTo>
                    <a:pt x="8406511" y="0"/>
                  </a:lnTo>
                  <a:lnTo>
                    <a:pt x="8426642" y="3145"/>
                  </a:lnTo>
                  <a:lnTo>
                    <a:pt x="8443071" y="11731"/>
                  </a:lnTo>
                  <a:lnTo>
                    <a:pt x="8454141" y="24485"/>
                  </a:lnTo>
                  <a:lnTo>
                    <a:pt x="8458200" y="40131"/>
                  </a:lnTo>
                  <a:lnTo>
                    <a:pt x="8458200" y="360679"/>
                  </a:lnTo>
                  <a:lnTo>
                    <a:pt x="8454141" y="376326"/>
                  </a:lnTo>
                  <a:lnTo>
                    <a:pt x="8443071" y="389080"/>
                  </a:lnTo>
                  <a:lnTo>
                    <a:pt x="8426642" y="397666"/>
                  </a:lnTo>
                  <a:lnTo>
                    <a:pt x="8406511" y="400811"/>
                  </a:lnTo>
                  <a:lnTo>
                    <a:pt x="51689" y="400811"/>
                  </a:lnTo>
                  <a:lnTo>
                    <a:pt x="31568" y="397666"/>
                  </a:lnTo>
                  <a:lnTo>
                    <a:pt x="15138" y="389080"/>
                  </a:lnTo>
                  <a:lnTo>
                    <a:pt x="4061" y="376326"/>
                  </a:lnTo>
                  <a:lnTo>
                    <a:pt x="0" y="360679"/>
                  </a:lnTo>
                  <a:lnTo>
                    <a:pt x="0" y="40131"/>
                  </a:lnTo>
                  <a:close/>
                </a:path>
              </a:pathLst>
            </a:custGeom>
            <a:ln w="25145">
              <a:solidFill>
                <a:srgbClr val="FFFFFF"/>
              </a:solidFill>
            </a:ln>
          </p:spPr>
          <p:txBody>
            <a:bodyPr wrap="square" lIns="0" tIns="0" rIns="0" bIns="0" rtlCol="0"/>
            <a:lstStyle/>
            <a:p>
              <a:endParaRPr/>
            </a:p>
          </p:txBody>
        </p:sp>
        <p:sp>
          <p:nvSpPr>
            <p:cNvPr id="20" name="object 20"/>
            <p:cNvSpPr/>
            <p:nvPr/>
          </p:nvSpPr>
          <p:spPr>
            <a:xfrm>
              <a:off x="381381" y="5146928"/>
              <a:ext cx="8458200" cy="401320"/>
            </a:xfrm>
            <a:custGeom>
              <a:avLst/>
              <a:gdLst/>
              <a:ahLst/>
              <a:cxnLst/>
              <a:rect l="l" t="t" r="r" b="b"/>
              <a:pathLst>
                <a:path w="8458200" h="401320">
                  <a:moveTo>
                    <a:pt x="8406511" y="0"/>
                  </a:moveTo>
                  <a:lnTo>
                    <a:pt x="51689" y="0"/>
                  </a:lnTo>
                  <a:lnTo>
                    <a:pt x="31568" y="3145"/>
                  </a:lnTo>
                  <a:lnTo>
                    <a:pt x="15138" y="11731"/>
                  </a:lnTo>
                  <a:lnTo>
                    <a:pt x="4061" y="24485"/>
                  </a:lnTo>
                  <a:lnTo>
                    <a:pt x="0" y="40132"/>
                  </a:lnTo>
                  <a:lnTo>
                    <a:pt x="0" y="360680"/>
                  </a:lnTo>
                  <a:lnTo>
                    <a:pt x="4061" y="376326"/>
                  </a:lnTo>
                  <a:lnTo>
                    <a:pt x="15138" y="389080"/>
                  </a:lnTo>
                  <a:lnTo>
                    <a:pt x="31568" y="397666"/>
                  </a:lnTo>
                  <a:lnTo>
                    <a:pt x="51689" y="400812"/>
                  </a:lnTo>
                  <a:lnTo>
                    <a:pt x="8406511" y="400812"/>
                  </a:lnTo>
                  <a:lnTo>
                    <a:pt x="8426642" y="397666"/>
                  </a:lnTo>
                  <a:lnTo>
                    <a:pt x="8443071" y="389080"/>
                  </a:lnTo>
                  <a:lnTo>
                    <a:pt x="8454141" y="376326"/>
                  </a:lnTo>
                  <a:lnTo>
                    <a:pt x="8458200" y="360680"/>
                  </a:lnTo>
                  <a:lnTo>
                    <a:pt x="8458200" y="40132"/>
                  </a:lnTo>
                  <a:lnTo>
                    <a:pt x="8454141" y="24485"/>
                  </a:lnTo>
                  <a:lnTo>
                    <a:pt x="8443071" y="11731"/>
                  </a:lnTo>
                  <a:lnTo>
                    <a:pt x="8426642" y="3145"/>
                  </a:lnTo>
                  <a:lnTo>
                    <a:pt x="8406511" y="0"/>
                  </a:lnTo>
                  <a:close/>
                </a:path>
              </a:pathLst>
            </a:custGeom>
            <a:solidFill>
              <a:srgbClr val="E2ED46"/>
            </a:solidFill>
          </p:spPr>
          <p:txBody>
            <a:bodyPr wrap="square" lIns="0" tIns="0" rIns="0" bIns="0" rtlCol="0"/>
            <a:lstStyle/>
            <a:p>
              <a:endParaRPr/>
            </a:p>
          </p:txBody>
        </p:sp>
        <p:sp>
          <p:nvSpPr>
            <p:cNvPr id="21" name="object 21"/>
            <p:cNvSpPr/>
            <p:nvPr/>
          </p:nvSpPr>
          <p:spPr>
            <a:xfrm>
              <a:off x="381381" y="5146928"/>
              <a:ext cx="8458200" cy="401320"/>
            </a:xfrm>
            <a:custGeom>
              <a:avLst/>
              <a:gdLst/>
              <a:ahLst/>
              <a:cxnLst/>
              <a:rect l="l" t="t" r="r" b="b"/>
              <a:pathLst>
                <a:path w="8458200" h="401320">
                  <a:moveTo>
                    <a:pt x="0" y="40132"/>
                  </a:moveTo>
                  <a:lnTo>
                    <a:pt x="4061" y="24485"/>
                  </a:lnTo>
                  <a:lnTo>
                    <a:pt x="15138" y="11731"/>
                  </a:lnTo>
                  <a:lnTo>
                    <a:pt x="31568" y="3145"/>
                  </a:lnTo>
                  <a:lnTo>
                    <a:pt x="51689" y="0"/>
                  </a:lnTo>
                  <a:lnTo>
                    <a:pt x="8406511" y="0"/>
                  </a:lnTo>
                  <a:lnTo>
                    <a:pt x="8426642" y="3145"/>
                  </a:lnTo>
                  <a:lnTo>
                    <a:pt x="8443071" y="11731"/>
                  </a:lnTo>
                  <a:lnTo>
                    <a:pt x="8454141" y="24485"/>
                  </a:lnTo>
                  <a:lnTo>
                    <a:pt x="8458200" y="40132"/>
                  </a:lnTo>
                  <a:lnTo>
                    <a:pt x="8458200" y="360680"/>
                  </a:lnTo>
                  <a:lnTo>
                    <a:pt x="8454141" y="376326"/>
                  </a:lnTo>
                  <a:lnTo>
                    <a:pt x="8443071" y="389080"/>
                  </a:lnTo>
                  <a:lnTo>
                    <a:pt x="8426642" y="397666"/>
                  </a:lnTo>
                  <a:lnTo>
                    <a:pt x="8406511" y="400812"/>
                  </a:lnTo>
                  <a:lnTo>
                    <a:pt x="51689" y="400812"/>
                  </a:lnTo>
                  <a:lnTo>
                    <a:pt x="31568" y="397666"/>
                  </a:lnTo>
                  <a:lnTo>
                    <a:pt x="15138" y="389080"/>
                  </a:lnTo>
                  <a:lnTo>
                    <a:pt x="4061" y="376326"/>
                  </a:lnTo>
                  <a:lnTo>
                    <a:pt x="0" y="360680"/>
                  </a:lnTo>
                  <a:lnTo>
                    <a:pt x="0" y="40132"/>
                  </a:lnTo>
                  <a:close/>
                </a:path>
              </a:pathLst>
            </a:custGeom>
            <a:ln w="25145">
              <a:solidFill>
                <a:srgbClr val="FFFFFF"/>
              </a:solidFill>
            </a:ln>
          </p:spPr>
          <p:txBody>
            <a:bodyPr wrap="square" lIns="0" tIns="0" rIns="0" bIns="0" rtlCol="0"/>
            <a:lstStyle/>
            <a:p>
              <a:endParaRPr/>
            </a:p>
          </p:txBody>
        </p:sp>
        <p:sp>
          <p:nvSpPr>
            <p:cNvPr id="22" name="object 22"/>
            <p:cNvSpPr/>
            <p:nvPr/>
          </p:nvSpPr>
          <p:spPr>
            <a:xfrm>
              <a:off x="381381" y="5587364"/>
              <a:ext cx="8458200" cy="401320"/>
            </a:xfrm>
            <a:custGeom>
              <a:avLst/>
              <a:gdLst/>
              <a:ahLst/>
              <a:cxnLst/>
              <a:rect l="l" t="t" r="r" b="b"/>
              <a:pathLst>
                <a:path w="8458200" h="401320">
                  <a:moveTo>
                    <a:pt x="8406511" y="0"/>
                  </a:moveTo>
                  <a:lnTo>
                    <a:pt x="51689" y="0"/>
                  </a:lnTo>
                  <a:lnTo>
                    <a:pt x="31568" y="3149"/>
                  </a:lnTo>
                  <a:lnTo>
                    <a:pt x="15138" y="11739"/>
                  </a:lnTo>
                  <a:lnTo>
                    <a:pt x="4061" y="24479"/>
                  </a:lnTo>
                  <a:lnTo>
                    <a:pt x="0" y="40081"/>
                  </a:lnTo>
                  <a:lnTo>
                    <a:pt x="0" y="360730"/>
                  </a:lnTo>
                  <a:lnTo>
                    <a:pt x="4061" y="376332"/>
                  </a:lnTo>
                  <a:lnTo>
                    <a:pt x="15138" y="389072"/>
                  </a:lnTo>
                  <a:lnTo>
                    <a:pt x="31568" y="397662"/>
                  </a:lnTo>
                  <a:lnTo>
                    <a:pt x="51689" y="400812"/>
                  </a:lnTo>
                  <a:lnTo>
                    <a:pt x="8406511" y="400812"/>
                  </a:lnTo>
                  <a:lnTo>
                    <a:pt x="8426642" y="397662"/>
                  </a:lnTo>
                  <a:lnTo>
                    <a:pt x="8443071" y="389072"/>
                  </a:lnTo>
                  <a:lnTo>
                    <a:pt x="8454141" y="376332"/>
                  </a:lnTo>
                  <a:lnTo>
                    <a:pt x="8458200" y="360730"/>
                  </a:lnTo>
                  <a:lnTo>
                    <a:pt x="8458200" y="40081"/>
                  </a:lnTo>
                  <a:lnTo>
                    <a:pt x="8454141" y="24479"/>
                  </a:lnTo>
                  <a:lnTo>
                    <a:pt x="8443071" y="11739"/>
                  </a:lnTo>
                  <a:lnTo>
                    <a:pt x="8426642" y="3149"/>
                  </a:lnTo>
                  <a:lnTo>
                    <a:pt x="8406511" y="0"/>
                  </a:lnTo>
                  <a:close/>
                </a:path>
              </a:pathLst>
            </a:custGeom>
            <a:solidFill>
              <a:srgbClr val="F1C846"/>
            </a:solidFill>
          </p:spPr>
          <p:txBody>
            <a:bodyPr wrap="square" lIns="0" tIns="0" rIns="0" bIns="0" rtlCol="0"/>
            <a:lstStyle/>
            <a:p>
              <a:endParaRPr/>
            </a:p>
          </p:txBody>
        </p:sp>
        <p:sp>
          <p:nvSpPr>
            <p:cNvPr id="23" name="object 23"/>
            <p:cNvSpPr/>
            <p:nvPr/>
          </p:nvSpPr>
          <p:spPr>
            <a:xfrm>
              <a:off x="381381" y="5587364"/>
              <a:ext cx="8458200" cy="401320"/>
            </a:xfrm>
            <a:custGeom>
              <a:avLst/>
              <a:gdLst/>
              <a:ahLst/>
              <a:cxnLst/>
              <a:rect l="l" t="t" r="r" b="b"/>
              <a:pathLst>
                <a:path w="8458200" h="401320">
                  <a:moveTo>
                    <a:pt x="0" y="40081"/>
                  </a:moveTo>
                  <a:lnTo>
                    <a:pt x="4061" y="24479"/>
                  </a:lnTo>
                  <a:lnTo>
                    <a:pt x="15138" y="11739"/>
                  </a:lnTo>
                  <a:lnTo>
                    <a:pt x="31568" y="3149"/>
                  </a:lnTo>
                  <a:lnTo>
                    <a:pt x="51689" y="0"/>
                  </a:lnTo>
                  <a:lnTo>
                    <a:pt x="8406511" y="0"/>
                  </a:lnTo>
                  <a:lnTo>
                    <a:pt x="8426642" y="3149"/>
                  </a:lnTo>
                  <a:lnTo>
                    <a:pt x="8443071" y="11739"/>
                  </a:lnTo>
                  <a:lnTo>
                    <a:pt x="8454141" y="24479"/>
                  </a:lnTo>
                  <a:lnTo>
                    <a:pt x="8458200" y="40081"/>
                  </a:lnTo>
                  <a:lnTo>
                    <a:pt x="8458200" y="360730"/>
                  </a:lnTo>
                  <a:lnTo>
                    <a:pt x="8454141" y="376332"/>
                  </a:lnTo>
                  <a:lnTo>
                    <a:pt x="8443071" y="389072"/>
                  </a:lnTo>
                  <a:lnTo>
                    <a:pt x="8426642" y="397662"/>
                  </a:lnTo>
                  <a:lnTo>
                    <a:pt x="8406511" y="400812"/>
                  </a:lnTo>
                  <a:lnTo>
                    <a:pt x="51689" y="400812"/>
                  </a:lnTo>
                  <a:lnTo>
                    <a:pt x="31568" y="397662"/>
                  </a:lnTo>
                  <a:lnTo>
                    <a:pt x="15138" y="389072"/>
                  </a:lnTo>
                  <a:lnTo>
                    <a:pt x="4061" y="376332"/>
                  </a:lnTo>
                  <a:lnTo>
                    <a:pt x="0" y="360730"/>
                  </a:lnTo>
                  <a:lnTo>
                    <a:pt x="0" y="40081"/>
                  </a:lnTo>
                  <a:close/>
                </a:path>
              </a:pathLst>
            </a:custGeom>
            <a:ln w="25145">
              <a:solidFill>
                <a:srgbClr val="FFFFFF"/>
              </a:solidFill>
            </a:ln>
          </p:spPr>
          <p:txBody>
            <a:bodyPr wrap="square" lIns="0" tIns="0" rIns="0" bIns="0" rtlCol="0"/>
            <a:lstStyle/>
            <a:p>
              <a:endParaRPr/>
            </a:p>
          </p:txBody>
        </p:sp>
        <p:sp>
          <p:nvSpPr>
            <p:cNvPr id="24" name="object 24"/>
            <p:cNvSpPr/>
            <p:nvPr/>
          </p:nvSpPr>
          <p:spPr>
            <a:xfrm>
              <a:off x="381381" y="6028563"/>
              <a:ext cx="8458200" cy="400050"/>
            </a:xfrm>
            <a:custGeom>
              <a:avLst/>
              <a:gdLst/>
              <a:ahLst/>
              <a:cxnLst/>
              <a:rect l="l" t="t" r="r" b="b"/>
              <a:pathLst>
                <a:path w="8458200" h="400050">
                  <a:moveTo>
                    <a:pt x="8406511" y="0"/>
                  </a:moveTo>
                  <a:lnTo>
                    <a:pt x="51689" y="0"/>
                  </a:lnTo>
                  <a:lnTo>
                    <a:pt x="31568" y="3143"/>
                  </a:lnTo>
                  <a:lnTo>
                    <a:pt x="15138" y="11715"/>
                  </a:lnTo>
                  <a:lnTo>
                    <a:pt x="4061" y="24431"/>
                  </a:lnTo>
                  <a:lnTo>
                    <a:pt x="0" y="40005"/>
                  </a:lnTo>
                  <a:lnTo>
                    <a:pt x="0" y="360045"/>
                  </a:lnTo>
                  <a:lnTo>
                    <a:pt x="4061" y="375618"/>
                  </a:lnTo>
                  <a:lnTo>
                    <a:pt x="15138" y="388334"/>
                  </a:lnTo>
                  <a:lnTo>
                    <a:pt x="31568" y="396906"/>
                  </a:lnTo>
                  <a:lnTo>
                    <a:pt x="51689" y="400050"/>
                  </a:lnTo>
                  <a:lnTo>
                    <a:pt x="8406511" y="400050"/>
                  </a:lnTo>
                  <a:lnTo>
                    <a:pt x="8426642" y="396906"/>
                  </a:lnTo>
                  <a:lnTo>
                    <a:pt x="8443071" y="388334"/>
                  </a:lnTo>
                  <a:lnTo>
                    <a:pt x="8454141" y="375618"/>
                  </a:lnTo>
                  <a:lnTo>
                    <a:pt x="8458200" y="360045"/>
                  </a:lnTo>
                  <a:lnTo>
                    <a:pt x="8458200" y="40005"/>
                  </a:lnTo>
                  <a:lnTo>
                    <a:pt x="8454141" y="24431"/>
                  </a:lnTo>
                  <a:lnTo>
                    <a:pt x="8443071" y="11715"/>
                  </a:lnTo>
                  <a:lnTo>
                    <a:pt x="8426642" y="3143"/>
                  </a:lnTo>
                  <a:lnTo>
                    <a:pt x="8406511" y="0"/>
                  </a:lnTo>
                  <a:close/>
                </a:path>
              </a:pathLst>
            </a:custGeom>
            <a:solidFill>
              <a:srgbClr val="F79546"/>
            </a:solidFill>
          </p:spPr>
          <p:txBody>
            <a:bodyPr wrap="square" lIns="0" tIns="0" rIns="0" bIns="0" rtlCol="0"/>
            <a:lstStyle/>
            <a:p>
              <a:endParaRPr/>
            </a:p>
          </p:txBody>
        </p:sp>
        <p:sp>
          <p:nvSpPr>
            <p:cNvPr id="25" name="object 25"/>
            <p:cNvSpPr/>
            <p:nvPr/>
          </p:nvSpPr>
          <p:spPr>
            <a:xfrm>
              <a:off x="381381" y="6028563"/>
              <a:ext cx="8458200" cy="400050"/>
            </a:xfrm>
            <a:custGeom>
              <a:avLst/>
              <a:gdLst/>
              <a:ahLst/>
              <a:cxnLst/>
              <a:rect l="l" t="t" r="r" b="b"/>
              <a:pathLst>
                <a:path w="8458200" h="400050">
                  <a:moveTo>
                    <a:pt x="0" y="40005"/>
                  </a:moveTo>
                  <a:lnTo>
                    <a:pt x="4061" y="24431"/>
                  </a:lnTo>
                  <a:lnTo>
                    <a:pt x="15138" y="11715"/>
                  </a:lnTo>
                  <a:lnTo>
                    <a:pt x="31568" y="3143"/>
                  </a:lnTo>
                  <a:lnTo>
                    <a:pt x="51689" y="0"/>
                  </a:lnTo>
                  <a:lnTo>
                    <a:pt x="8406511" y="0"/>
                  </a:lnTo>
                  <a:lnTo>
                    <a:pt x="8426642" y="3143"/>
                  </a:lnTo>
                  <a:lnTo>
                    <a:pt x="8443071" y="11715"/>
                  </a:lnTo>
                  <a:lnTo>
                    <a:pt x="8454141" y="24431"/>
                  </a:lnTo>
                  <a:lnTo>
                    <a:pt x="8458200" y="40005"/>
                  </a:lnTo>
                  <a:lnTo>
                    <a:pt x="8458200" y="360045"/>
                  </a:lnTo>
                  <a:lnTo>
                    <a:pt x="8454141" y="375618"/>
                  </a:lnTo>
                  <a:lnTo>
                    <a:pt x="8443071" y="388334"/>
                  </a:lnTo>
                  <a:lnTo>
                    <a:pt x="8426642" y="396906"/>
                  </a:lnTo>
                  <a:lnTo>
                    <a:pt x="8406511" y="400050"/>
                  </a:lnTo>
                  <a:lnTo>
                    <a:pt x="51689" y="400050"/>
                  </a:lnTo>
                  <a:lnTo>
                    <a:pt x="31568" y="396906"/>
                  </a:lnTo>
                  <a:lnTo>
                    <a:pt x="15138" y="388334"/>
                  </a:lnTo>
                  <a:lnTo>
                    <a:pt x="4061" y="375618"/>
                  </a:lnTo>
                  <a:lnTo>
                    <a:pt x="0" y="360045"/>
                  </a:lnTo>
                  <a:lnTo>
                    <a:pt x="0" y="40005"/>
                  </a:lnTo>
                  <a:close/>
                </a:path>
              </a:pathLst>
            </a:custGeom>
            <a:ln w="25146">
              <a:solidFill>
                <a:srgbClr val="FFFFFF"/>
              </a:solidFill>
            </a:ln>
          </p:spPr>
          <p:txBody>
            <a:bodyPr wrap="square" lIns="0" tIns="0" rIns="0" bIns="0" rtlCol="0"/>
            <a:lstStyle/>
            <a:p>
              <a:endParaRPr/>
            </a:p>
          </p:txBody>
        </p:sp>
      </p:grpSp>
      <p:sp>
        <p:nvSpPr>
          <p:cNvPr id="26" name="object 26"/>
          <p:cNvSpPr txBox="1"/>
          <p:nvPr/>
        </p:nvSpPr>
        <p:spPr>
          <a:xfrm>
            <a:off x="78739" y="1545590"/>
            <a:ext cx="8499475" cy="4855210"/>
          </a:xfrm>
          <a:prstGeom prst="rect">
            <a:avLst/>
          </a:prstGeom>
        </p:spPr>
        <p:txBody>
          <a:bodyPr vert="horz" wrap="square" lIns="0" tIns="12700" rIns="0" bIns="0" rtlCol="0">
            <a:spAutoFit/>
          </a:bodyPr>
          <a:lstStyle/>
          <a:p>
            <a:pPr marL="12700">
              <a:lnSpc>
                <a:spcPct val="100000"/>
              </a:lnSpc>
              <a:spcBef>
                <a:spcPts val="100"/>
              </a:spcBef>
            </a:pPr>
            <a:r>
              <a:rPr sz="1800" spc="60" dirty="0">
                <a:latin typeface="Times New Roman"/>
                <a:cs typeface="Times New Roman"/>
              </a:rPr>
              <a:t>Popular</a:t>
            </a:r>
            <a:r>
              <a:rPr sz="1800" spc="-75" dirty="0">
                <a:latin typeface="Times New Roman"/>
                <a:cs typeface="Times New Roman"/>
              </a:rPr>
              <a:t> </a:t>
            </a:r>
            <a:r>
              <a:rPr sz="1800" spc="45" dirty="0">
                <a:latin typeface="Times New Roman"/>
                <a:cs typeface="Times New Roman"/>
              </a:rPr>
              <a:t>uses</a:t>
            </a:r>
            <a:r>
              <a:rPr sz="1800" spc="-60" dirty="0">
                <a:latin typeface="Times New Roman"/>
                <a:cs typeface="Times New Roman"/>
              </a:rPr>
              <a:t> </a:t>
            </a:r>
            <a:r>
              <a:rPr sz="1800" spc="50" dirty="0">
                <a:latin typeface="Times New Roman"/>
                <a:cs typeface="Times New Roman"/>
              </a:rPr>
              <a:t>of</a:t>
            </a:r>
            <a:r>
              <a:rPr sz="1800" spc="-55" dirty="0">
                <a:latin typeface="Times New Roman"/>
                <a:cs typeface="Times New Roman"/>
              </a:rPr>
              <a:t> </a:t>
            </a:r>
            <a:r>
              <a:rPr sz="1800" spc="-30" dirty="0">
                <a:latin typeface="Times New Roman"/>
                <a:cs typeface="Times New Roman"/>
              </a:rPr>
              <a:t>Big</a:t>
            </a:r>
            <a:r>
              <a:rPr sz="1800" spc="-65" dirty="0">
                <a:latin typeface="Times New Roman"/>
                <a:cs typeface="Times New Roman"/>
              </a:rPr>
              <a:t> </a:t>
            </a:r>
            <a:r>
              <a:rPr sz="1800" spc="75" dirty="0">
                <a:latin typeface="Times New Roman"/>
                <a:cs typeface="Times New Roman"/>
              </a:rPr>
              <a:t>Data</a:t>
            </a:r>
            <a:r>
              <a:rPr sz="1800" spc="-80" dirty="0">
                <a:latin typeface="Times New Roman"/>
                <a:cs typeface="Times New Roman"/>
              </a:rPr>
              <a:t> </a:t>
            </a:r>
            <a:r>
              <a:rPr sz="1800" spc="65" dirty="0">
                <a:latin typeface="Times New Roman"/>
                <a:cs typeface="Times New Roman"/>
              </a:rPr>
              <a:t>Clusters:</a:t>
            </a:r>
            <a:endParaRPr sz="1800">
              <a:latin typeface="Times New Roman"/>
              <a:cs typeface="Times New Roman"/>
            </a:endParaRPr>
          </a:p>
          <a:p>
            <a:pPr marL="393700" marR="1071880">
              <a:lnSpc>
                <a:spcPct val="202300"/>
              </a:lnSpc>
              <a:spcBef>
                <a:spcPts val="555"/>
              </a:spcBef>
            </a:pPr>
            <a:r>
              <a:rPr sz="1400" spc="40" dirty="0">
                <a:latin typeface="Times New Roman"/>
                <a:cs typeface="Times New Roman"/>
              </a:rPr>
              <a:t>Deploy</a:t>
            </a:r>
            <a:r>
              <a:rPr sz="1400" spc="-50" dirty="0">
                <a:latin typeface="Times New Roman"/>
                <a:cs typeface="Times New Roman"/>
              </a:rPr>
              <a:t> </a:t>
            </a:r>
            <a:r>
              <a:rPr sz="1400" spc="15" dirty="0">
                <a:latin typeface="Times New Roman"/>
                <a:cs typeface="Times New Roman"/>
              </a:rPr>
              <a:t>scalable</a:t>
            </a:r>
            <a:r>
              <a:rPr sz="1400" spc="-30" dirty="0">
                <a:latin typeface="Times New Roman"/>
                <a:cs typeface="Times New Roman"/>
              </a:rPr>
              <a:t> </a:t>
            </a:r>
            <a:r>
              <a:rPr sz="1400" spc="35" dirty="0">
                <a:latin typeface="Times New Roman"/>
                <a:cs typeface="Times New Roman"/>
              </a:rPr>
              <a:t>clusters</a:t>
            </a:r>
            <a:r>
              <a:rPr sz="1400" spc="-35" dirty="0">
                <a:latin typeface="Times New Roman"/>
                <a:cs typeface="Times New Roman"/>
              </a:rPr>
              <a:t> </a:t>
            </a:r>
            <a:r>
              <a:rPr sz="1400" spc="40" dirty="0">
                <a:latin typeface="Times New Roman"/>
                <a:cs typeface="Times New Roman"/>
              </a:rPr>
              <a:t>of</a:t>
            </a:r>
            <a:r>
              <a:rPr sz="1400" spc="-45" dirty="0">
                <a:latin typeface="Times New Roman"/>
                <a:cs typeface="Times New Roman"/>
              </a:rPr>
              <a:t> </a:t>
            </a:r>
            <a:r>
              <a:rPr sz="1400" spc="65" dirty="0">
                <a:latin typeface="Times New Roman"/>
                <a:cs typeface="Times New Roman"/>
              </a:rPr>
              <a:t>SQL</a:t>
            </a:r>
            <a:r>
              <a:rPr sz="1400" spc="-30" dirty="0">
                <a:latin typeface="Times New Roman"/>
                <a:cs typeface="Times New Roman"/>
              </a:rPr>
              <a:t> </a:t>
            </a:r>
            <a:r>
              <a:rPr sz="1400" spc="35" dirty="0">
                <a:latin typeface="Times New Roman"/>
                <a:cs typeface="Times New Roman"/>
              </a:rPr>
              <a:t>Server,</a:t>
            </a:r>
            <a:r>
              <a:rPr sz="1400" spc="-35" dirty="0">
                <a:latin typeface="Times New Roman"/>
                <a:cs typeface="Times New Roman"/>
              </a:rPr>
              <a:t> </a:t>
            </a:r>
            <a:r>
              <a:rPr sz="1400" spc="40" dirty="0">
                <a:latin typeface="Times New Roman"/>
                <a:cs typeface="Times New Roman"/>
              </a:rPr>
              <a:t>Spark,</a:t>
            </a:r>
            <a:r>
              <a:rPr sz="1400" spc="-30" dirty="0">
                <a:latin typeface="Times New Roman"/>
                <a:cs typeface="Times New Roman"/>
              </a:rPr>
              <a:t> </a:t>
            </a:r>
            <a:r>
              <a:rPr sz="1400" spc="75" dirty="0">
                <a:latin typeface="Times New Roman"/>
                <a:cs typeface="Times New Roman"/>
              </a:rPr>
              <a:t>and</a:t>
            </a:r>
            <a:r>
              <a:rPr sz="1400" spc="-50" dirty="0">
                <a:latin typeface="Times New Roman"/>
                <a:cs typeface="Times New Roman"/>
              </a:rPr>
              <a:t> </a:t>
            </a:r>
            <a:r>
              <a:rPr sz="1400" spc="60" dirty="0">
                <a:latin typeface="Times New Roman"/>
                <a:cs typeface="Times New Roman"/>
              </a:rPr>
              <a:t>HDFS</a:t>
            </a:r>
            <a:r>
              <a:rPr sz="1400" spc="-25" dirty="0">
                <a:latin typeface="Times New Roman"/>
                <a:cs typeface="Times New Roman"/>
              </a:rPr>
              <a:t> </a:t>
            </a:r>
            <a:r>
              <a:rPr sz="1400" spc="50" dirty="0">
                <a:latin typeface="Times New Roman"/>
                <a:cs typeface="Times New Roman"/>
              </a:rPr>
              <a:t>containers</a:t>
            </a:r>
            <a:r>
              <a:rPr sz="1400" spc="-40" dirty="0">
                <a:latin typeface="Times New Roman"/>
                <a:cs typeface="Times New Roman"/>
              </a:rPr>
              <a:t> </a:t>
            </a:r>
            <a:r>
              <a:rPr sz="1400" spc="75" dirty="0">
                <a:latin typeface="Times New Roman"/>
                <a:cs typeface="Times New Roman"/>
              </a:rPr>
              <a:t>running</a:t>
            </a:r>
            <a:r>
              <a:rPr sz="1400" spc="-35" dirty="0">
                <a:latin typeface="Times New Roman"/>
                <a:cs typeface="Times New Roman"/>
              </a:rPr>
              <a:t> </a:t>
            </a:r>
            <a:r>
              <a:rPr sz="1400" spc="95" dirty="0">
                <a:latin typeface="Times New Roman"/>
                <a:cs typeface="Times New Roman"/>
              </a:rPr>
              <a:t>on</a:t>
            </a:r>
            <a:r>
              <a:rPr sz="1400" spc="-45" dirty="0">
                <a:latin typeface="Times New Roman"/>
                <a:cs typeface="Times New Roman"/>
              </a:rPr>
              <a:t> </a:t>
            </a:r>
            <a:r>
              <a:rPr sz="1400" spc="50" dirty="0">
                <a:latin typeface="Times New Roman"/>
                <a:cs typeface="Times New Roman"/>
              </a:rPr>
              <a:t>Kubernetes  </a:t>
            </a:r>
            <a:r>
              <a:rPr sz="1400" spc="40" dirty="0">
                <a:latin typeface="Times New Roman"/>
                <a:cs typeface="Times New Roman"/>
              </a:rPr>
              <a:t>Read,</a:t>
            </a:r>
            <a:r>
              <a:rPr sz="1400" spc="-55" dirty="0">
                <a:latin typeface="Times New Roman"/>
                <a:cs typeface="Times New Roman"/>
              </a:rPr>
              <a:t> </a:t>
            </a:r>
            <a:r>
              <a:rPr sz="1400" spc="35" dirty="0">
                <a:latin typeface="Times New Roman"/>
                <a:cs typeface="Times New Roman"/>
              </a:rPr>
              <a:t>write,</a:t>
            </a:r>
            <a:r>
              <a:rPr sz="1400" spc="-50" dirty="0">
                <a:latin typeface="Times New Roman"/>
                <a:cs typeface="Times New Roman"/>
              </a:rPr>
              <a:t> </a:t>
            </a:r>
            <a:r>
              <a:rPr sz="1400" spc="75" dirty="0">
                <a:latin typeface="Times New Roman"/>
                <a:cs typeface="Times New Roman"/>
              </a:rPr>
              <a:t>and</a:t>
            </a:r>
            <a:r>
              <a:rPr sz="1400" spc="-55" dirty="0">
                <a:latin typeface="Times New Roman"/>
                <a:cs typeface="Times New Roman"/>
              </a:rPr>
              <a:t> </a:t>
            </a:r>
            <a:r>
              <a:rPr sz="1400" spc="30" dirty="0">
                <a:latin typeface="Times New Roman"/>
                <a:cs typeface="Times New Roman"/>
              </a:rPr>
              <a:t>process</a:t>
            </a:r>
            <a:r>
              <a:rPr sz="1400" spc="-45" dirty="0">
                <a:latin typeface="Times New Roman"/>
                <a:cs typeface="Times New Roman"/>
              </a:rPr>
              <a:t> </a:t>
            </a:r>
            <a:r>
              <a:rPr sz="1400" spc="15" dirty="0">
                <a:latin typeface="Times New Roman"/>
                <a:cs typeface="Times New Roman"/>
              </a:rPr>
              <a:t>big</a:t>
            </a:r>
            <a:r>
              <a:rPr sz="1400" spc="-50"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50" dirty="0">
                <a:latin typeface="Times New Roman"/>
                <a:cs typeface="Times New Roman"/>
              </a:rPr>
              <a:t>from</a:t>
            </a:r>
            <a:r>
              <a:rPr sz="1400" spc="-35" dirty="0">
                <a:latin typeface="Times New Roman"/>
                <a:cs typeface="Times New Roman"/>
              </a:rPr>
              <a:t> </a:t>
            </a:r>
            <a:r>
              <a:rPr sz="1400" spc="55" dirty="0">
                <a:latin typeface="Times New Roman"/>
                <a:cs typeface="Times New Roman"/>
              </a:rPr>
              <a:t>Transact-SQL</a:t>
            </a:r>
            <a:r>
              <a:rPr sz="1400" spc="-25" dirty="0">
                <a:latin typeface="Times New Roman"/>
                <a:cs typeface="Times New Roman"/>
              </a:rPr>
              <a:t> </a:t>
            </a:r>
            <a:r>
              <a:rPr sz="1400" spc="60" dirty="0">
                <a:latin typeface="Times New Roman"/>
                <a:cs typeface="Times New Roman"/>
              </a:rPr>
              <a:t>or</a:t>
            </a:r>
            <a:r>
              <a:rPr sz="1400" spc="-55" dirty="0">
                <a:latin typeface="Times New Roman"/>
                <a:cs typeface="Times New Roman"/>
              </a:rPr>
              <a:t> </a:t>
            </a:r>
            <a:r>
              <a:rPr sz="1400" spc="50" dirty="0">
                <a:latin typeface="Times New Roman"/>
                <a:cs typeface="Times New Roman"/>
              </a:rPr>
              <a:t>Spark</a:t>
            </a:r>
            <a:endParaRPr sz="1400">
              <a:latin typeface="Times New Roman"/>
              <a:cs typeface="Times New Roman"/>
            </a:endParaRPr>
          </a:p>
          <a:p>
            <a:pPr marL="393700" marR="1964055" indent="38100">
              <a:lnSpc>
                <a:spcPct val="206500"/>
              </a:lnSpc>
            </a:pPr>
            <a:r>
              <a:rPr sz="1400" dirty="0">
                <a:latin typeface="Times New Roman"/>
                <a:cs typeface="Times New Roman"/>
              </a:rPr>
              <a:t>Easily</a:t>
            </a:r>
            <a:r>
              <a:rPr sz="1400" spc="-30" dirty="0">
                <a:latin typeface="Times New Roman"/>
                <a:cs typeface="Times New Roman"/>
              </a:rPr>
              <a:t> </a:t>
            </a:r>
            <a:r>
              <a:rPr sz="1400" spc="50" dirty="0">
                <a:latin typeface="Times New Roman"/>
                <a:cs typeface="Times New Roman"/>
              </a:rPr>
              <a:t>combine</a:t>
            </a:r>
            <a:r>
              <a:rPr sz="1400" spc="-35" dirty="0">
                <a:latin typeface="Times New Roman"/>
                <a:cs typeface="Times New Roman"/>
              </a:rPr>
              <a:t> </a:t>
            </a:r>
            <a:r>
              <a:rPr sz="1400" spc="75" dirty="0">
                <a:latin typeface="Times New Roman"/>
                <a:cs typeface="Times New Roman"/>
              </a:rPr>
              <a:t>and</a:t>
            </a:r>
            <a:r>
              <a:rPr sz="1400" spc="-45" dirty="0">
                <a:latin typeface="Times New Roman"/>
                <a:cs typeface="Times New Roman"/>
              </a:rPr>
              <a:t> </a:t>
            </a:r>
            <a:r>
              <a:rPr sz="1400" spc="15" dirty="0">
                <a:latin typeface="Times New Roman"/>
                <a:cs typeface="Times New Roman"/>
              </a:rPr>
              <a:t>analyze</a:t>
            </a:r>
            <a:r>
              <a:rPr sz="1400" spc="-35" dirty="0">
                <a:latin typeface="Times New Roman"/>
                <a:cs typeface="Times New Roman"/>
              </a:rPr>
              <a:t> </a:t>
            </a:r>
            <a:r>
              <a:rPr sz="1400" spc="40" dirty="0">
                <a:latin typeface="Times New Roman"/>
                <a:cs typeface="Times New Roman"/>
              </a:rPr>
              <a:t>high-value</a:t>
            </a:r>
            <a:r>
              <a:rPr sz="1400" spc="-15" dirty="0">
                <a:latin typeface="Times New Roman"/>
                <a:cs typeface="Times New Roman"/>
              </a:rPr>
              <a:t> </a:t>
            </a:r>
            <a:r>
              <a:rPr sz="1400" spc="40" dirty="0">
                <a:latin typeface="Times New Roman"/>
                <a:cs typeface="Times New Roman"/>
              </a:rPr>
              <a:t>relational</a:t>
            </a:r>
            <a:r>
              <a:rPr sz="1400" spc="-40" dirty="0">
                <a:latin typeface="Times New Roman"/>
                <a:cs typeface="Times New Roman"/>
              </a:rPr>
              <a:t> </a:t>
            </a:r>
            <a:r>
              <a:rPr sz="1400" spc="55" dirty="0">
                <a:latin typeface="Times New Roman"/>
                <a:cs typeface="Times New Roman"/>
              </a:rPr>
              <a:t>data</a:t>
            </a:r>
            <a:r>
              <a:rPr sz="1400" spc="-40" dirty="0">
                <a:latin typeface="Times New Roman"/>
                <a:cs typeface="Times New Roman"/>
              </a:rPr>
              <a:t> </a:t>
            </a:r>
            <a:r>
              <a:rPr sz="1400" spc="60" dirty="0">
                <a:latin typeface="Times New Roman"/>
                <a:cs typeface="Times New Roman"/>
              </a:rPr>
              <a:t>with</a:t>
            </a:r>
            <a:r>
              <a:rPr sz="1400" spc="-45" dirty="0">
                <a:latin typeface="Times New Roman"/>
                <a:cs typeface="Times New Roman"/>
              </a:rPr>
              <a:t> </a:t>
            </a:r>
            <a:r>
              <a:rPr sz="1400" spc="45" dirty="0">
                <a:latin typeface="Times New Roman"/>
                <a:cs typeface="Times New Roman"/>
              </a:rPr>
              <a:t>high-volume</a:t>
            </a:r>
            <a:r>
              <a:rPr sz="1400" spc="-15" dirty="0">
                <a:latin typeface="Times New Roman"/>
                <a:cs typeface="Times New Roman"/>
              </a:rPr>
              <a:t> </a:t>
            </a:r>
            <a:r>
              <a:rPr sz="1400" spc="15" dirty="0">
                <a:latin typeface="Times New Roman"/>
                <a:cs typeface="Times New Roman"/>
              </a:rPr>
              <a:t>big</a:t>
            </a:r>
            <a:r>
              <a:rPr sz="1400" spc="-40" dirty="0">
                <a:latin typeface="Times New Roman"/>
                <a:cs typeface="Times New Roman"/>
              </a:rPr>
              <a:t> </a:t>
            </a:r>
            <a:r>
              <a:rPr sz="1400" spc="55" dirty="0">
                <a:latin typeface="Times New Roman"/>
                <a:cs typeface="Times New Roman"/>
              </a:rPr>
              <a:t>data  </a:t>
            </a:r>
            <a:r>
              <a:rPr sz="1400" spc="70" dirty="0">
                <a:latin typeface="Times New Roman"/>
                <a:cs typeface="Times New Roman"/>
              </a:rPr>
              <a:t>Query</a:t>
            </a:r>
            <a:r>
              <a:rPr sz="1400" spc="-45" dirty="0">
                <a:latin typeface="Times New Roman"/>
                <a:cs typeface="Times New Roman"/>
              </a:rPr>
              <a:t> </a:t>
            </a:r>
            <a:r>
              <a:rPr sz="1400" spc="50" dirty="0">
                <a:latin typeface="Times New Roman"/>
                <a:cs typeface="Times New Roman"/>
              </a:rPr>
              <a:t>external</a:t>
            </a:r>
            <a:r>
              <a:rPr sz="1400" spc="-65"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35" dirty="0">
                <a:latin typeface="Times New Roman"/>
                <a:cs typeface="Times New Roman"/>
              </a:rPr>
              <a:t>sources</a:t>
            </a:r>
            <a:endParaRPr sz="1400">
              <a:latin typeface="Times New Roman"/>
              <a:cs typeface="Times New Roman"/>
            </a:endParaRPr>
          </a:p>
          <a:p>
            <a:pPr marL="393700">
              <a:lnSpc>
                <a:spcPct val="100000"/>
              </a:lnSpc>
              <a:spcBef>
                <a:spcPts val="1789"/>
              </a:spcBef>
            </a:pPr>
            <a:r>
              <a:rPr sz="1400" spc="55" dirty="0">
                <a:latin typeface="Times New Roman"/>
                <a:cs typeface="Times New Roman"/>
              </a:rPr>
              <a:t>Store</a:t>
            </a:r>
            <a:r>
              <a:rPr sz="1400" spc="-55" dirty="0">
                <a:latin typeface="Times New Roman"/>
                <a:cs typeface="Times New Roman"/>
              </a:rPr>
              <a:t> </a:t>
            </a:r>
            <a:r>
              <a:rPr sz="1400" spc="15" dirty="0">
                <a:latin typeface="Times New Roman"/>
                <a:cs typeface="Times New Roman"/>
              </a:rPr>
              <a:t>big</a:t>
            </a:r>
            <a:r>
              <a:rPr sz="1400" spc="-50"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65" dirty="0">
                <a:latin typeface="Times New Roman"/>
                <a:cs typeface="Times New Roman"/>
              </a:rPr>
              <a:t>in</a:t>
            </a:r>
            <a:r>
              <a:rPr sz="1400" spc="-55" dirty="0">
                <a:latin typeface="Times New Roman"/>
                <a:cs typeface="Times New Roman"/>
              </a:rPr>
              <a:t> </a:t>
            </a:r>
            <a:r>
              <a:rPr sz="1400" spc="60" dirty="0">
                <a:latin typeface="Times New Roman"/>
                <a:cs typeface="Times New Roman"/>
              </a:rPr>
              <a:t>HDFS</a:t>
            </a:r>
            <a:r>
              <a:rPr sz="1400" spc="-35" dirty="0">
                <a:latin typeface="Times New Roman"/>
                <a:cs typeface="Times New Roman"/>
              </a:rPr>
              <a:t> </a:t>
            </a:r>
            <a:r>
              <a:rPr sz="1400" spc="45" dirty="0">
                <a:latin typeface="Times New Roman"/>
                <a:cs typeface="Times New Roman"/>
              </a:rPr>
              <a:t>managed</a:t>
            </a:r>
            <a:r>
              <a:rPr sz="1400" spc="-40" dirty="0">
                <a:latin typeface="Times New Roman"/>
                <a:cs typeface="Times New Roman"/>
              </a:rPr>
              <a:t> </a:t>
            </a:r>
            <a:r>
              <a:rPr sz="1400" spc="30" dirty="0">
                <a:latin typeface="Times New Roman"/>
                <a:cs typeface="Times New Roman"/>
              </a:rPr>
              <a:t>by</a:t>
            </a:r>
            <a:r>
              <a:rPr sz="1400" spc="-50" dirty="0">
                <a:latin typeface="Times New Roman"/>
                <a:cs typeface="Times New Roman"/>
              </a:rPr>
              <a:t> </a:t>
            </a:r>
            <a:r>
              <a:rPr sz="1400" spc="65" dirty="0">
                <a:latin typeface="Times New Roman"/>
                <a:cs typeface="Times New Roman"/>
              </a:rPr>
              <a:t>SQL</a:t>
            </a:r>
            <a:r>
              <a:rPr sz="1400" spc="-40" dirty="0">
                <a:latin typeface="Times New Roman"/>
                <a:cs typeface="Times New Roman"/>
              </a:rPr>
              <a:t> </a:t>
            </a:r>
            <a:r>
              <a:rPr sz="1400" spc="40" dirty="0">
                <a:latin typeface="Times New Roman"/>
                <a:cs typeface="Times New Roman"/>
              </a:rPr>
              <a:t>Server</a:t>
            </a:r>
            <a:endParaRPr sz="1400">
              <a:latin typeface="Times New Roman"/>
              <a:cs typeface="Times New Roman"/>
            </a:endParaRPr>
          </a:p>
          <a:p>
            <a:pPr marL="393700" marR="3021330">
              <a:lnSpc>
                <a:spcPct val="206500"/>
              </a:lnSpc>
            </a:pPr>
            <a:r>
              <a:rPr sz="1400" spc="70" dirty="0">
                <a:latin typeface="Times New Roman"/>
                <a:cs typeface="Times New Roman"/>
              </a:rPr>
              <a:t>Query</a:t>
            </a:r>
            <a:r>
              <a:rPr sz="1400" spc="-40"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50" dirty="0">
                <a:latin typeface="Times New Roman"/>
                <a:cs typeface="Times New Roman"/>
              </a:rPr>
              <a:t>from</a:t>
            </a:r>
            <a:r>
              <a:rPr sz="1400" spc="-40" dirty="0">
                <a:latin typeface="Times New Roman"/>
                <a:cs typeface="Times New Roman"/>
              </a:rPr>
              <a:t> </a:t>
            </a:r>
            <a:r>
              <a:rPr sz="1400" spc="45" dirty="0">
                <a:latin typeface="Times New Roman"/>
                <a:cs typeface="Times New Roman"/>
              </a:rPr>
              <a:t>multiple</a:t>
            </a:r>
            <a:r>
              <a:rPr sz="1400" spc="-45" dirty="0">
                <a:latin typeface="Times New Roman"/>
                <a:cs typeface="Times New Roman"/>
              </a:rPr>
              <a:t> </a:t>
            </a:r>
            <a:r>
              <a:rPr sz="1400" spc="50" dirty="0">
                <a:latin typeface="Times New Roman"/>
                <a:cs typeface="Times New Roman"/>
              </a:rPr>
              <a:t>external</a:t>
            </a:r>
            <a:r>
              <a:rPr sz="1400" spc="-65"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35" dirty="0">
                <a:latin typeface="Times New Roman"/>
                <a:cs typeface="Times New Roman"/>
              </a:rPr>
              <a:t>sources</a:t>
            </a:r>
            <a:r>
              <a:rPr sz="1400" spc="-40" dirty="0">
                <a:latin typeface="Times New Roman"/>
                <a:cs typeface="Times New Roman"/>
              </a:rPr>
              <a:t> </a:t>
            </a:r>
            <a:r>
              <a:rPr sz="1400" spc="75" dirty="0">
                <a:latin typeface="Times New Roman"/>
                <a:cs typeface="Times New Roman"/>
              </a:rPr>
              <a:t>through</a:t>
            </a:r>
            <a:r>
              <a:rPr sz="1400" spc="-35" dirty="0">
                <a:latin typeface="Times New Roman"/>
                <a:cs typeface="Times New Roman"/>
              </a:rPr>
              <a:t> </a:t>
            </a:r>
            <a:r>
              <a:rPr sz="1400" spc="80" dirty="0">
                <a:latin typeface="Times New Roman"/>
                <a:cs typeface="Times New Roman"/>
              </a:rPr>
              <a:t>the</a:t>
            </a:r>
            <a:r>
              <a:rPr sz="1400" spc="-50" dirty="0">
                <a:latin typeface="Times New Roman"/>
                <a:cs typeface="Times New Roman"/>
              </a:rPr>
              <a:t> </a:t>
            </a:r>
            <a:r>
              <a:rPr sz="1400" spc="40" dirty="0">
                <a:latin typeface="Times New Roman"/>
                <a:cs typeface="Times New Roman"/>
              </a:rPr>
              <a:t>cluster  </a:t>
            </a:r>
            <a:r>
              <a:rPr sz="1400" spc="50" dirty="0">
                <a:latin typeface="Times New Roman"/>
                <a:cs typeface="Times New Roman"/>
              </a:rPr>
              <a:t>Use</a:t>
            </a:r>
            <a:r>
              <a:rPr sz="1400" spc="-50" dirty="0">
                <a:latin typeface="Times New Roman"/>
                <a:cs typeface="Times New Roman"/>
              </a:rPr>
              <a:t> </a:t>
            </a:r>
            <a:r>
              <a:rPr sz="1400" spc="80" dirty="0">
                <a:latin typeface="Times New Roman"/>
                <a:cs typeface="Times New Roman"/>
              </a:rPr>
              <a:t>the</a:t>
            </a:r>
            <a:r>
              <a:rPr sz="1400" spc="-55" dirty="0">
                <a:latin typeface="Times New Roman"/>
                <a:cs typeface="Times New Roman"/>
              </a:rPr>
              <a:t> </a:t>
            </a:r>
            <a:r>
              <a:rPr sz="1400" spc="55" dirty="0">
                <a:latin typeface="Times New Roman"/>
                <a:cs typeface="Times New Roman"/>
              </a:rPr>
              <a:t>data</a:t>
            </a:r>
            <a:r>
              <a:rPr sz="1400" spc="-45" dirty="0">
                <a:latin typeface="Times New Roman"/>
                <a:cs typeface="Times New Roman"/>
              </a:rPr>
              <a:t> </a:t>
            </a:r>
            <a:r>
              <a:rPr sz="1400" spc="40" dirty="0">
                <a:latin typeface="Times New Roman"/>
                <a:cs typeface="Times New Roman"/>
              </a:rPr>
              <a:t>for</a:t>
            </a:r>
            <a:r>
              <a:rPr sz="1400" spc="-45" dirty="0">
                <a:latin typeface="Times New Roman"/>
                <a:cs typeface="Times New Roman"/>
              </a:rPr>
              <a:t> </a:t>
            </a:r>
            <a:r>
              <a:rPr sz="1400" spc="35" dirty="0">
                <a:latin typeface="Times New Roman"/>
                <a:cs typeface="Times New Roman"/>
              </a:rPr>
              <a:t>AI,</a:t>
            </a:r>
            <a:r>
              <a:rPr sz="1400" spc="-45" dirty="0">
                <a:latin typeface="Times New Roman"/>
                <a:cs typeface="Times New Roman"/>
              </a:rPr>
              <a:t> </a:t>
            </a:r>
            <a:r>
              <a:rPr sz="1400" spc="55" dirty="0">
                <a:latin typeface="Times New Roman"/>
                <a:cs typeface="Times New Roman"/>
              </a:rPr>
              <a:t>machine</a:t>
            </a:r>
            <a:r>
              <a:rPr sz="1400" spc="-35" dirty="0">
                <a:latin typeface="Times New Roman"/>
                <a:cs typeface="Times New Roman"/>
              </a:rPr>
              <a:t> </a:t>
            </a:r>
            <a:r>
              <a:rPr sz="1400" spc="35" dirty="0">
                <a:latin typeface="Times New Roman"/>
                <a:cs typeface="Times New Roman"/>
              </a:rPr>
              <a:t>learning,</a:t>
            </a:r>
            <a:r>
              <a:rPr sz="1400" spc="-50" dirty="0">
                <a:latin typeface="Times New Roman"/>
                <a:cs typeface="Times New Roman"/>
              </a:rPr>
              <a:t> </a:t>
            </a:r>
            <a:r>
              <a:rPr sz="1400" spc="75" dirty="0">
                <a:latin typeface="Times New Roman"/>
                <a:cs typeface="Times New Roman"/>
              </a:rPr>
              <a:t>and</a:t>
            </a:r>
            <a:r>
              <a:rPr sz="1400" spc="-50" dirty="0">
                <a:latin typeface="Times New Roman"/>
                <a:cs typeface="Times New Roman"/>
              </a:rPr>
              <a:t> </a:t>
            </a:r>
            <a:r>
              <a:rPr sz="1400" spc="70" dirty="0">
                <a:latin typeface="Times New Roman"/>
                <a:cs typeface="Times New Roman"/>
              </a:rPr>
              <a:t>other</a:t>
            </a:r>
            <a:r>
              <a:rPr sz="1400" spc="-55" dirty="0">
                <a:latin typeface="Times New Roman"/>
                <a:cs typeface="Times New Roman"/>
              </a:rPr>
              <a:t> </a:t>
            </a:r>
            <a:r>
              <a:rPr sz="1400" spc="20" dirty="0">
                <a:latin typeface="Times New Roman"/>
                <a:cs typeface="Times New Roman"/>
              </a:rPr>
              <a:t>analysis</a:t>
            </a:r>
            <a:r>
              <a:rPr sz="1400" spc="-35" dirty="0">
                <a:latin typeface="Times New Roman"/>
                <a:cs typeface="Times New Roman"/>
              </a:rPr>
              <a:t> </a:t>
            </a:r>
            <a:r>
              <a:rPr sz="1400" spc="35" dirty="0">
                <a:latin typeface="Times New Roman"/>
                <a:cs typeface="Times New Roman"/>
              </a:rPr>
              <a:t>tasks</a:t>
            </a:r>
            <a:endParaRPr sz="1400">
              <a:latin typeface="Times New Roman"/>
              <a:cs typeface="Times New Roman"/>
            </a:endParaRPr>
          </a:p>
          <a:p>
            <a:pPr marL="431800">
              <a:lnSpc>
                <a:spcPct val="100000"/>
              </a:lnSpc>
              <a:spcBef>
                <a:spcPts val="1789"/>
              </a:spcBef>
            </a:pPr>
            <a:r>
              <a:rPr sz="1400" spc="40" dirty="0">
                <a:latin typeface="Times New Roman"/>
                <a:cs typeface="Times New Roman"/>
              </a:rPr>
              <a:t>Deploy</a:t>
            </a:r>
            <a:r>
              <a:rPr sz="1400" spc="-55" dirty="0">
                <a:latin typeface="Times New Roman"/>
                <a:cs typeface="Times New Roman"/>
              </a:rPr>
              <a:t> </a:t>
            </a:r>
            <a:r>
              <a:rPr sz="1400" spc="75" dirty="0">
                <a:latin typeface="Times New Roman"/>
                <a:cs typeface="Times New Roman"/>
              </a:rPr>
              <a:t>and</a:t>
            </a:r>
            <a:r>
              <a:rPr sz="1400" spc="-50" dirty="0">
                <a:latin typeface="Times New Roman"/>
                <a:cs typeface="Times New Roman"/>
              </a:rPr>
              <a:t> </a:t>
            </a:r>
            <a:r>
              <a:rPr sz="1400" spc="95" dirty="0">
                <a:latin typeface="Times New Roman"/>
                <a:cs typeface="Times New Roman"/>
              </a:rPr>
              <a:t>run</a:t>
            </a:r>
            <a:r>
              <a:rPr sz="1400" spc="-45" dirty="0">
                <a:latin typeface="Times New Roman"/>
                <a:cs typeface="Times New Roman"/>
              </a:rPr>
              <a:t> </a:t>
            </a:r>
            <a:r>
              <a:rPr sz="1400" spc="40" dirty="0">
                <a:latin typeface="Times New Roman"/>
                <a:cs typeface="Times New Roman"/>
              </a:rPr>
              <a:t>applications</a:t>
            </a:r>
            <a:r>
              <a:rPr sz="1400" spc="-35" dirty="0">
                <a:latin typeface="Times New Roman"/>
                <a:cs typeface="Times New Roman"/>
              </a:rPr>
              <a:t> </a:t>
            </a:r>
            <a:r>
              <a:rPr sz="1400" spc="65" dirty="0">
                <a:latin typeface="Times New Roman"/>
                <a:cs typeface="Times New Roman"/>
              </a:rPr>
              <a:t>in</a:t>
            </a:r>
            <a:r>
              <a:rPr sz="1400" spc="-45" dirty="0">
                <a:latin typeface="Times New Roman"/>
                <a:cs typeface="Times New Roman"/>
              </a:rPr>
              <a:t> </a:t>
            </a:r>
            <a:r>
              <a:rPr sz="1400" spc="-25" dirty="0">
                <a:latin typeface="Times New Roman"/>
                <a:cs typeface="Times New Roman"/>
              </a:rPr>
              <a:t>Big</a:t>
            </a:r>
            <a:r>
              <a:rPr sz="1400" spc="-40" dirty="0">
                <a:latin typeface="Times New Roman"/>
                <a:cs typeface="Times New Roman"/>
              </a:rPr>
              <a:t> </a:t>
            </a:r>
            <a:r>
              <a:rPr sz="1400" spc="55" dirty="0">
                <a:latin typeface="Times New Roman"/>
                <a:cs typeface="Times New Roman"/>
              </a:rPr>
              <a:t>Data</a:t>
            </a:r>
            <a:r>
              <a:rPr sz="1400" spc="-40" dirty="0">
                <a:latin typeface="Times New Roman"/>
                <a:cs typeface="Times New Roman"/>
              </a:rPr>
              <a:t> </a:t>
            </a:r>
            <a:r>
              <a:rPr sz="1400" spc="60" dirty="0">
                <a:latin typeface="Times New Roman"/>
                <a:cs typeface="Times New Roman"/>
              </a:rPr>
              <a:t>Clusters</a:t>
            </a:r>
            <a:r>
              <a:rPr sz="1400" spc="-55" dirty="0">
                <a:latin typeface="Times New Roman"/>
                <a:cs typeface="Times New Roman"/>
              </a:rPr>
              <a:t> </a:t>
            </a:r>
            <a:r>
              <a:rPr sz="1400" spc="95" dirty="0">
                <a:latin typeface="Times New Roman"/>
                <a:cs typeface="Times New Roman"/>
              </a:rPr>
              <a:t>•</a:t>
            </a:r>
            <a:r>
              <a:rPr sz="1400" spc="-50" dirty="0">
                <a:latin typeface="Times New Roman"/>
                <a:cs typeface="Times New Roman"/>
              </a:rPr>
              <a:t> </a:t>
            </a:r>
            <a:r>
              <a:rPr sz="1400" spc="30" dirty="0">
                <a:latin typeface="Times New Roman"/>
                <a:cs typeface="Times New Roman"/>
              </a:rPr>
              <a:t>Virtualize</a:t>
            </a:r>
            <a:r>
              <a:rPr sz="1400" spc="-45" dirty="0">
                <a:latin typeface="Times New Roman"/>
                <a:cs typeface="Times New Roman"/>
              </a:rPr>
              <a:t> </a:t>
            </a:r>
            <a:r>
              <a:rPr sz="1400" spc="55" dirty="0">
                <a:latin typeface="Times New Roman"/>
                <a:cs typeface="Times New Roman"/>
              </a:rPr>
              <a:t>data</a:t>
            </a:r>
            <a:r>
              <a:rPr sz="1400" spc="-50" dirty="0">
                <a:latin typeface="Times New Roman"/>
                <a:cs typeface="Times New Roman"/>
              </a:rPr>
              <a:t> </a:t>
            </a:r>
            <a:r>
              <a:rPr sz="1400" spc="60" dirty="0">
                <a:latin typeface="Times New Roman"/>
                <a:cs typeface="Times New Roman"/>
              </a:rPr>
              <a:t>with</a:t>
            </a:r>
            <a:r>
              <a:rPr sz="1400" spc="-40" dirty="0">
                <a:latin typeface="Times New Roman"/>
                <a:cs typeface="Times New Roman"/>
              </a:rPr>
              <a:t> </a:t>
            </a:r>
            <a:r>
              <a:rPr sz="1400" spc="5" dirty="0">
                <a:latin typeface="Times New Roman"/>
                <a:cs typeface="Times New Roman"/>
              </a:rPr>
              <a:t>PolyBase</a:t>
            </a:r>
            <a:endParaRPr sz="1400">
              <a:latin typeface="Times New Roman"/>
              <a:cs typeface="Times New Roman"/>
            </a:endParaRPr>
          </a:p>
          <a:p>
            <a:pPr marL="393700" marR="5080">
              <a:lnSpc>
                <a:spcPts val="1510"/>
              </a:lnSpc>
              <a:spcBef>
                <a:spcPts val="1230"/>
              </a:spcBef>
            </a:pPr>
            <a:r>
              <a:rPr sz="1400" spc="70" dirty="0">
                <a:latin typeface="Times New Roman"/>
                <a:cs typeface="Times New Roman"/>
              </a:rPr>
              <a:t>Query</a:t>
            </a:r>
            <a:r>
              <a:rPr sz="1400" spc="-35" dirty="0">
                <a:latin typeface="Times New Roman"/>
                <a:cs typeface="Times New Roman"/>
              </a:rPr>
              <a:t> </a:t>
            </a:r>
            <a:r>
              <a:rPr sz="1400" spc="55" dirty="0">
                <a:latin typeface="Times New Roman"/>
                <a:cs typeface="Times New Roman"/>
              </a:rPr>
              <a:t>data</a:t>
            </a:r>
            <a:r>
              <a:rPr sz="1400" spc="-45" dirty="0">
                <a:latin typeface="Times New Roman"/>
                <a:cs typeface="Times New Roman"/>
              </a:rPr>
              <a:t> </a:t>
            </a:r>
            <a:r>
              <a:rPr sz="1400" spc="50" dirty="0">
                <a:latin typeface="Times New Roman"/>
                <a:cs typeface="Times New Roman"/>
              </a:rPr>
              <a:t>from</a:t>
            </a:r>
            <a:r>
              <a:rPr sz="1400" spc="-35" dirty="0">
                <a:latin typeface="Times New Roman"/>
                <a:cs typeface="Times New Roman"/>
              </a:rPr>
              <a:t> </a:t>
            </a:r>
            <a:r>
              <a:rPr sz="1400" spc="50" dirty="0">
                <a:latin typeface="Times New Roman"/>
                <a:cs typeface="Times New Roman"/>
              </a:rPr>
              <a:t>external</a:t>
            </a:r>
            <a:r>
              <a:rPr sz="1400" spc="-60" dirty="0">
                <a:latin typeface="Times New Roman"/>
                <a:cs typeface="Times New Roman"/>
              </a:rPr>
              <a:t> </a:t>
            </a:r>
            <a:r>
              <a:rPr sz="1400" spc="65" dirty="0">
                <a:latin typeface="Times New Roman"/>
                <a:cs typeface="Times New Roman"/>
              </a:rPr>
              <a:t>SQL</a:t>
            </a:r>
            <a:r>
              <a:rPr sz="1400" spc="-35" dirty="0">
                <a:latin typeface="Times New Roman"/>
                <a:cs typeface="Times New Roman"/>
              </a:rPr>
              <a:t> </a:t>
            </a:r>
            <a:r>
              <a:rPr sz="1400" spc="35" dirty="0">
                <a:latin typeface="Times New Roman"/>
                <a:cs typeface="Times New Roman"/>
              </a:rPr>
              <a:t>Server,</a:t>
            </a:r>
            <a:r>
              <a:rPr sz="1400" spc="-40" dirty="0">
                <a:latin typeface="Times New Roman"/>
                <a:cs typeface="Times New Roman"/>
              </a:rPr>
              <a:t> </a:t>
            </a:r>
            <a:r>
              <a:rPr sz="1400" spc="40" dirty="0">
                <a:latin typeface="Times New Roman"/>
                <a:cs typeface="Times New Roman"/>
              </a:rPr>
              <a:t>Oracle,</a:t>
            </a:r>
            <a:r>
              <a:rPr sz="1400" spc="-25" dirty="0">
                <a:latin typeface="Times New Roman"/>
                <a:cs typeface="Times New Roman"/>
              </a:rPr>
              <a:t> </a:t>
            </a:r>
            <a:r>
              <a:rPr sz="1400" spc="50" dirty="0">
                <a:latin typeface="Times New Roman"/>
                <a:cs typeface="Times New Roman"/>
              </a:rPr>
              <a:t>Teradata,</a:t>
            </a:r>
            <a:r>
              <a:rPr sz="1400" spc="-35" dirty="0">
                <a:latin typeface="Times New Roman"/>
                <a:cs typeface="Times New Roman"/>
              </a:rPr>
              <a:t> </a:t>
            </a:r>
            <a:r>
              <a:rPr sz="1400" spc="40" dirty="0">
                <a:latin typeface="Times New Roman"/>
                <a:cs typeface="Times New Roman"/>
              </a:rPr>
              <a:t>MongoDB,</a:t>
            </a:r>
            <a:r>
              <a:rPr sz="1400" spc="-30" dirty="0">
                <a:latin typeface="Times New Roman"/>
                <a:cs typeface="Times New Roman"/>
              </a:rPr>
              <a:t> </a:t>
            </a:r>
            <a:r>
              <a:rPr sz="1400" spc="75" dirty="0">
                <a:latin typeface="Times New Roman"/>
                <a:cs typeface="Times New Roman"/>
              </a:rPr>
              <a:t>and</a:t>
            </a:r>
            <a:r>
              <a:rPr sz="1400" spc="-50" dirty="0">
                <a:latin typeface="Times New Roman"/>
                <a:cs typeface="Times New Roman"/>
              </a:rPr>
              <a:t> </a:t>
            </a:r>
            <a:r>
              <a:rPr sz="1400" spc="100" dirty="0">
                <a:latin typeface="Times New Roman"/>
                <a:cs typeface="Times New Roman"/>
              </a:rPr>
              <a:t>ODBC</a:t>
            </a:r>
            <a:r>
              <a:rPr sz="1400" spc="-35" dirty="0">
                <a:latin typeface="Times New Roman"/>
                <a:cs typeface="Times New Roman"/>
              </a:rPr>
              <a:t> </a:t>
            </a:r>
            <a:r>
              <a:rPr sz="1400" spc="55" dirty="0">
                <a:latin typeface="Times New Roman"/>
                <a:cs typeface="Times New Roman"/>
              </a:rPr>
              <a:t>data</a:t>
            </a:r>
            <a:r>
              <a:rPr sz="1400" spc="-45" dirty="0">
                <a:latin typeface="Times New Roman"/>
                <a:cs typeface="Times New Roman"/>
              </a:rPr>
              <a:t> </a:t>
            </a:r>
            <a:r>
              <a:rPr sz="1400" spc="35" dirty="0">
                <a:latin typeface="Times New Roman"/>
                <a:cs typeface="Times New Roman"/>
              </a:rPr>
              <a:t>sources</a:t>
            </a:r>
            <a:r>
              <a:rPr sz="1400" spc="-30" dirty="0">
                <a:latin typeface="Times New Roman"/>
                <a:cs typeface="Times New Roman"/>
              </a:rPr>
              <a:t> </a:t>
            </a:r>
            <a:r>
              <a:rPr sz="1400" spc="60" dirty="0">
                <a:latin typeface="Times New Roman"/>
                <a:cs typeface="Times New Roman"/>
              </a:rPr>
              <a:t>with</a:t>
            </a:r>
            <a:r>
              <a:rPr sz="1400" spc="-45" dirty="0">
                <a:latin typeface="Times New Roman"/>
                <a:cs typeface="Times New Roman"/>
              </a:rPr>
              <a:t> </a:t>
            </a:r>
            <a:r>
              <a:rPr sz="1400" spc="50" dirty="0">
                <a:latin typeface="Times New Roman"/>
                <a:cs typeface="Times New Roman"/>
              </a:rPr>
              <a:t>external  </a:t>
            </a:r>
            <a:r>
              <a:rPr sz="1400" spc="35" dirty="0">
                <a:latin typeface="Times New Roman"/>
                <a:cs typeface="Times New Roman"/>
              </a:rPr>
              <a:t>tables</a:t>
            </a:r>
            <a:endParaRPr sz="1400">
              <a:latin typeface="Times New Roman"/>
              <a:cs typeface="Times New Roman"/>
            </a:endParaRPr>
          </a:p>
          <a:p>
            <a:pPr marL="393700" marR="649605">
              <a:lnSpc>
                <a:spcPts val="1510"/>
              </a:lnSpc>
              <a:spcBef>
                <a:spcPts val="450"/>
              </a:spcBef>
            </a:pPr>
            <a:r>
              <a:rPr sz="1400" spc="40" dirty="0">
                <a:latin typeface="Times New Roman"/>
                <a:cs typeface="Times New Roman"/>
              </a:rPr>
              <a:t>Provide</a:t>
            </a:r>
            <a:r>
              <a:rPr sz="1400" spc="-40" dirty="0">
                <a:latin typeface="Times New Roman"/>
                <a:cs typeface="Times New Roman"/>
              </a:rPr>
              <a:t> </a:t>
            </a:r>
            <a:r>
              <a:rPr sz="1400" spc="55" dirty="0">
                <a:latin typeface="Times New Roman"/>
                <a:cs typeface="Times New Roman"/>
              </a:rPr>
              <a:t>high</a:t>
            </a:r>
            <a:r>
              <a:rPr sz="1400" spc="-35" dirty="0">
                <a:latin typeface="Times New Roman"/>
                <a:cs typeface="Times New Roman"/>
              </a:rPr>
              <a:t> </a:t>
            </a:r>
            <a:r>
              <a:rPr sz="1400" spc="20" dirty="0">
                <a:latin typeface="Times New Roman"/>
                <a:cs typeface="Times New Roman"/>
              </a:rPr>
              <a:t>availability</a:t>
            </a:r>
            <a:r>
              <a:rPr sz="1400" spc="-15" dirty="0">
                <a:latin typeface="Times New Roman"/>
                <a:cs typeface="Times New Roman"/>
              </a:rPr>
              <a:t> </a:t>
            </a:r>
            <a:r>
              <a:rPr sz="1400" spc="40" dirty="0">
                <a:latin typeface="Times New Roman"/>
                <a:cs typeface="Times New Roman"/>
              </a:rPr>
              <a:t>for</a:t>
            </a:r>
            <a:r>
              <a:rPr sz="1400" spc="-40" dirty="0">
                <a:latin typeface="Times New Roman"/>
                <a:cs typeface="Times New Roman"/>
              </a:rPr>
              <a:t> </a:t>
            </a:r>
            <a:r>
              <a:rPr sz="1400" spc="80" dirty="0">
                <a:latin typeface="Times New Roman"/>
                <a:cs typeface="Times New Roman"/>
              </a:rPr>
              <a:t>the</a:t>
            </a:r>
            <a:r>
              <a:rPr sz="1400" spc="-45" dirty="0">
                <a:latin typeface="Times New Roman"/>
                <a:cs typeface="Times New Roman"/>
              </a:rPr>
              <a:t> </a:t>
            </a:r>
            <a:r>
              <a:rPr sz="1400" spc="60" dirty="0">
                <a:latin typeface="Times New Roman"/>
                <a:cs typeface="Times New Roman"/>
              </a:rPr>
              <a:t>SQL</a:t>
            </a:r>
            <a:r>
              <a:rPr sz="1400" spc="-30" dirty="0">
                <a:latin typeface="Times New Roman"/>
                <a:cs typeface="Times New Roman"/>
              </a:rPr>
              <a:t> </a:t>
            </a:r>
            <a:r>
              <a:rPr sz="1400" spc="40" dirty="0">
                <a:latin typeface="Times New Roman"/>
                <a:cs typeface="Times New Roman"/>
              </a:rPr>
              <a:t>Server</a:t>
            </a:r>
            <a:r>
              <a:rPr sz="1400" spc="-45" dirty="0">
                <a:latin typeface="Times New Roman"/>
                <a:cs typeface="Times New Roman"/>
              </a:rPr>
              <a:t> </a:t>
            </a:r>
            <a:r>
              <a:rPr sz="1400" spc="45" dirty="0">
                <a:latin typeface="Times New Roman"/>
                <a:cs typeface="Times New Roman"/>
              </a:rPr>
              <a:t>master</a:t>
            </a:r>
            <a:r>
              <a:rPr sz="1400" spc="-45" dirty="0">
                <a:latin typeface="Times New Roman"/>
                <a:cs typeface="Times New Roman"/>
              </a:rPr>
              <a:t> </a:t>
            </a:r>
            <a:r>
              <a:rPr sz="1400" spc="50" dirty="0">
                <a:latin typeface="Times New Roman"/>
                <a:cs typeface="Times New Roman"/>
              </a:rPr>
              <a:t>instance</a:t>
            </a:r>
            <a:r>
              <a:rPr sz="1400" spc="-45" dirty="0">
                <a:latin typeface="Times New Roman"/>
                <a:cs typeface="Times New Roman"/>
              </a:rPr>
              <a:t> </a:t>
            </a:r>
            <a:r>
              <a:rPr sz="1400" spc="75" dirty="0">
                <a:latin typeface="Times New Roman"/>
                <a:cs typeface="Times New Roman"/>
              </a:rPr>
              <a:t>and</a:t>
            </a:r>
            <a:r>
              <a:rPr sz="1400" spc="-45" dirty="0">
                <a:latin typeface="Times New Roman"/>
                <a:cs typeface="Times New Roman"/>
              </a:rPr>
              <a:t> </a:t>
            </a:r>
            <a:r>
              <a:rPr sz="1400" spc="5" dirty="0">
                <a:latin typeface="Times New Roman"/>
                <a:cs typeface="Times New Roman"/>
              </a:rPr>
              <a:t>all</a:t>
            </a:r>
            <a:r>
              <a:rPr sz="1400" spc="-50" dirty="0">
                <a:latin typeface="Times New Roman"/>
                <a:cs typeface="Times New Roman"/>
              </a:rPr>
              <a:t> </a:t>
            </a:r>
            <a:r>
              <a:rPr sz="1400" spc="35" dirty="0">
                <a:latin typeface="Times New Roman"/>
                <a:cs typeface="Times New Roman"/>
              </a:rPr>
              <a:t>databases</a:t>
            </a:r>
            <a:r>
              <a:rPr sz="1400" spc="-40" dirty="0">
                <a:latin typeface="Times New Roman"/>
                <a:cs typeface="Times New Roman"/>
              </a:rPr>
              <a:t> </a:t>
            </a:r>
            <a:r>
              <a:rPr sz="1400" spc="30" dirty="0">
                <a:latin typeface="Times New Roman"/>
                <a:cs typeface="Times New Roman"/>
              </a:rPr>
              <a:t>by</a:t>
            </a:r>
            <a:r>
              <a:rPr sz="1400" spc="-40" dirty="0">
                <a:latin typeface="Times New Roman"/>
                <a:cs typeface="Times New Roman"/>
              </a:rPr>
              <a:t> </a:t>
            </a:r>
            <a:r>
              <a:rPr sz="1400" spc="45" dirty="0">
                <a:latin typeface="Times New Roman"/>
                <a:cs typeface="Times New Roman"/>
              </a:rPr>
              <a:t>using</a:t>
            </a:r>
            <a:r>
              <a:rPr sz="1400" spc="-35" dirty="0">
                <a:latin typeface="Times New Roman"/>
                <a:cs typeface="Times New Roman"/>
              </a:rPr>
              <a:t> </a:t>
            </a:r>
            <a:r>
              <a:rPr sz="1400" spc="25" dirty="0">
                <a:latin typeface="Times New Roman"/>
                <a:cs typeface="Times New Roman"/>
              </a:rPr>
              <a:t>Always</a:t>
            </a:r>
            <a:r>
              <a:rPr sz="1400" spc="-30" dirty="0">
                <a:latin typeface="Times New Roman"/>
                <a:cs typeface="Times New Roman"/>
              </a:rPr>
              <a:t> </a:t>
            </a:r>
            <a:r>
              <a:rPr sz="1400" spc="150" dirty="0">
                <a:latin typeface="Times New Roman"/>
                <a:cs typeface="Times New Roman"/>
              </a:rPr>
              <a:t>On  </a:t>
            </a:r>
            <a:r>
              <a:rPr sz="1400" spc="20" dirty="0">
                <a:latin typeface="Times New Roman"/>
                <a:cs typeface="Times New Roman"/>
              </a:rPr>
              <a:t>availability </a:t>
            </a:r>
            <a:r>
              <a:rPr sz="1400" spc="55" dirty="0">
                <a:latin typeface="Times New Roman"/>
                <a:cs typeface="Times New Roman"/>
              </a:rPr>
              <a:t>group</a:t>
            </a:r>
            <a:r>
              <a:rPr sz="1400" spc="-90" dirty="0">
                <a:latin typeface="Times New Roman"/>
                <a:cs typeface="Times New Roman"/>
              </a:rPr>
              <a:t> </a:t>
            </a:r>
            <a:r>
              <a:rPr sz="1400" spc="45" dirty="0">
                <a:latin typeface="Times New Roman"/>
                <a:cs typeface="Times New Roman"/>
              </a:rPr>
              <a:t>technology</a:t>
            </a:r>
            <a:endParaRPr sz="1400">
              <a:latin typeface="Times New Roman"/>
              <a:cs typeface="Times New Roman"/>
            </a:endParaRPr>
          </a:p>
        </p:txBody>
      </p:sp>
      <p:sp>
        <p:nvSpPr>
          <p:cNvPr id="28" name="object 2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12</a:t>
            </a:fld>
            <a:endParaRPr sz="1200"/>
          </a:p>
        </p:txBody>
      </p:sp>
      <p:sp>
        <p:nvSpPr>
          <p:cNvPr id="29" name="object 2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1510283"/>
            <a:ext cx="4718050" cy="1200150"/>
          </a:xfrm>
          <a:custGeom>
            <a:avLst/>
            <a:gdLst/>
            <a:ahLst/>
            <a:cxnLst/>
            <a:rect l="l" t="t" r="r" b="b"/>
            <a:pathLst>
              <a:path w="4718050" h="1200150">
                <a:moveTo>
                  <a:pt x="4717542" y="200025"/>
                </a:moveTo>
                <a:lnTo>
                  <a:pt x="4712259" y="154165"/>
                </a:lnTo>
                <a:lnTo>
                  <a:pt x="4697209" y="112052"/>
                </a:lnTo>
                <a:lnTo>
                  <a:pt x="4673600" y="74917"/>
                </a:lnTo>
                <a:lnTo>
                  <a:pt x="4642624" y="43942"/>
                </a:lnTo>
                <a:lnTo>
                  <a:pt x="4605490" y="20332"/>
                </a:lnTo>
                <a:lnTo>
                  <a:pt x="4563376" y="5283"/>
                </a:lnTo>
                <a:lnTo>
                  <a:pt x="4517517" y="0"/>
                </a:lnTo>
                <a:lnTo>
                  <a:pt x="200025" y="0"/>
                </a:lnTo>
                <a:lnTo>
                  <a:pt x="154152" y="5283"/>
                </a:lnTo>
                <a:lnTo>
                  <a:pt x="112052" y="20332"/>
                </a:lnTo>
                <a:lnTo>
                  <a:pt x="74917" y="43942"/>
                </a:lnTo>
                <a:lnTo>
                  <a:pt x="43942" y="74917"/>
                </a:lnTo>
                <a:lnTo>
                  <a:pt x="20320" y="112052"/>
                </a:lnTo>
                <a:lnTo>
                  <a:pt x="5270" y="154165"/>
                </a:lnTo>
                <a:lnTo>
                  <a:pt x="0" y="200025"/>
                </a:lnTo>
                <a:lnTo>
                  <a:pt x="0" y="1000125"/>
                </a:lnTo>
                <a:lnTo>
                  <a:pt x="5270" y="1045997"/>
                </a:lnTo>
                <a:lnTo>
                  <a:pt x="20320" y="1088110"/>
                </a:lnTo>
                <a:lnTo>
                  <a:pt x="43942" y="1125245"/>
                </a:lnTo>
                <a:lnTo>
                  <a:pt x="74917" y="1156220"/>
                </a:lnTo>
                <a:lnTo>
                  <a:pt x="112052" y="1179830"/>
                </a:lnTo>
                <a:lnTo>
                  <a:pt x="154152" y="1194879"/>
                </a:lnTo>
                <a:lnTo>
                  <a:pt x="200025" y="1200150"/>
                </a:lnTo>
                <a:lnTo>
                  <a:pt x="4517517" y="1200150"/>
                </a:lnTo>
                <a:lnTo>
                  <a:pt x="4563376" y="1194879"/>
                </a:lnTo>
                <a:lnTo>
                  <a:pt x="4605490" y="1179830"/>
                </a:lnTo>
                <a:lnTo>
                  <a:pt x="4642624" y="1156220"/>
                </a:lnTo>
                <a:lnTo>
                  <a:pt x="4673600" y="1125245"/>
                </a:lnTo>
                <a:lnTo>
                  <a:pt x="4697209" y="1088110"/>
                </a:lnTo>
                <a:lnTo>
                  <a:pt x="4712259" y="1045997"/>
                </a:lnTo>
                <a:lnTo>
                  <a:pt x="4717542" y="1000125"/>
                </a:lnTo>
                <a:lnTo>
                  <a:pt x="4717542" y="200025"/>
                </a:lnTo>
                <a:close/>
              </a:path>
            </a:pathLst>
          </a:custGeom>
          <a:solidFill>
            <a:srgbClr val="F79546"/>
          </a:solidFill>
        </p:spPr>
        <p:txBody>
          <a:bodyPr wrap="square" lIns="0" tIns="0" rIns="0" bIns="0" rtlCol="0"/>
          <a:lstStyle/>
          <a:p>
            <a:endParaRPr/>
          </a:p>
        </p:txBody>
      </p:sp>
      <p:sp>
        <p:nvSpPr>
          <p:cNvPr id="3" name="object 3"/>
          <p:cNvSpPr txBox="1">
            <a:spLocks noGrp="1"/>
          </p:cNvSpPr>
          <p:nvPr>
            <p:ph type="title"/>
          </p:nvPr>
        </p:nvSpPr>
        <p:spPr>
          <a:xfrm>
            <a:off x="383540" y="15493"/>
            <a:ext cx="4613275" cy="635635"/>
          </a:xfrm>
          <a:prstGeom prst="rect">
            <a:avLst/>
          </a:prstGeom>
        </p:spPr>
        <p:txBody>
          <a:bodyPr vert="horz" wrap="square" lIns="0" tIns="12700" rIns="0" bIns="0" rtlCol="0">
            <a:spAutoFit/>
          </a:bodyPr>
          <a:lstStyle/>
          <a:p>
            <a:pPr marL="12700">
              <a:lnSpc>
                <a:spcPct val="100000"/>
              </a:lnSpc>
              <a:spcBef>
                <a:spcPts val="100"/>
              </a:spcBef>
            </a:pPr>
            <a:r>
              <a:rPr spc="-60" dirty="0"/>
              <a:t>Big </a:t>
            </a:r>
            <a:r>
              <a:rPr spc="165" dirty="0"/>
              <a:t>Data </a:t>
            </a:r>
            <a:r>
              <a:rPr spc="175" dirty="0"/>
              <a:t>Clusters</a:t>
            </a:r>
            <a:r>
              <a:rPr spc="-625" dirty="0"/>
              <a:t> </a:t>
            </a:r>
            <a:r>
              <a:rPr spc="-40" dirty="0"/>
              <a:t>2-6</a:t>
            </a:r>
          </a:p>
        </p:txBody>
      </p:sp>
      <p:sp>
        <p:nvSpPr>
          <p:cNvPr id="4" name="object 4"/>
          <p:cNvSpPr txBox="1"/>
          <p:nvPr/>
        </p:nvSpPr>
        <p:spPr>
          <a:xfrm>
            <a:off x="394715" y="1610359"/>
            <a:ext cx="4549140" cy="848360"/>
          </a:xfrm>
          <a:prstGeom prst="rect">
            <a:avLst/>
          </a:prstGeom>
        </p:spPr>
        <p:txBody>
          <a:bodyPr vert="horz" wrap="square" lIns="0" tIns="12700" rIns="0" bIns="0" rtlCol="0">
            <a:spAutoFit/>
          </a:bodyPr>
          <a:lstStyle/>
          <a:p>
            <a:pPr marL="298450" marR="5080" indent="-285750" algn="just">
              <a:lnSpc>
                <a:spcPct val="100000"/>
              </a:lnSpc>
              <a:spcBef>
                <a:spcPts val="100"/>
              </a:spcBef>
              <a:buFont typeface="Wingdings"/>
              <a:buChar char=""/>
              <a:tabLst>
                <a:tab pos="298450" algn="l"/>
              </a:tabLst>
            </a:pPr>
            <a:r>
              <a:rPr sz="1800" spc="85" dirty="0">
                <a:solidFill>
                  <a:srgbClr val="FFFFFF"/>
                </a:solidFill>
                <a:latin typeface="Times New Roman"/>
                <a:cs typeface="Times New Roman"/>
              </a:rPr>
              <a:t>SQL </a:t>
            </a:r>
            <a:r>
              <a:rPr sz="1800" spc="55" dirty="0">
                <a:solidFill>
                  <a:srgbClr val="FFFFFF"/>
                </a:solidFill>
                <a:latin typeface="Times New Roman"/>
                <a:cs typeface="Times New Roman"/>
              </a:rPr>
              <a:t>Server </a:t>
            </a:r>
            <a:r>
              <a:rPr sz="1800" spc="-30" dirty="0">
                <a:solidFill>
                  <a:srgbClr val="FFFFFF"/>
                </a:solidFill>
                <a:latin typeface="Times New Roman"/>
                <a:cs typeface="Times New Roman"/>
              </a:rPr>
              <a:t>Big </a:t>
            </a:r>
            <a:r>
              <a:rPr sz="1800" spc="75" dirty="0">
                <a:solidFill>
                  <a:srgbClr val="FFFFFF"/>
                </a:solidFill>
                <a:latin typeface="Times New Roman"/>
                <a:cs typeface="Times New Roman"/>
              </a:rPr>
              <a:t>Data Clusters </a:t>
            </a:r>
            <a:r>
              <a:rPr sz="1800" spc="65" dirty="0">
                <a:solidFill>
                  <a:srgbClr val="FFFFFF"/>
                </a:solidFill>
                <a:latin typeface="Times New Roman"/>
                <a:cs typeface="Times New Roman"/>
              </a:rPr>
              <a:t>can </a:t>
            </a:r>
            <a:r>
              <a:rPr sz="1800" spc="70" dirty="0">
                <a:solidFill>
                  <a:srgbClr val="FFFFFF"/>
                </a:solidFill>
                <a:latin typeface="Times New Roman"/>
                <a:cs typeface="Times New Roman"/>
              </a:rPr>
              <a:t>query  </a:t>
            </a:r>
            <a:r>
              <a:rPr sz="1800" spc="65" dirty="0">
                <a:solidFill>
                  <a:srgbClr val="FFFFFF"/>
                </a:solidFill>
                <a:latin typeface="Times New Roman"/>
                <a:cs typeface="Times New Roman"/>
              </a:rPr>
              <a:t>external data </a:t>
            </a:r>
            <a:r>
              <a:rPr sz="1800" spc="50" dirty="0">
                <a:solidFill>
                  <a:srgbClr val="FFFFFF"/>
                </a:solidFill>
                <a:latin typeface="Times New Roman"/>
                <a:cs typeface="Times New Roman"/>
              </a:rPr>
              <a:t>sources </a:t>
            </a:r>
            <a:r>
              <a:rPr sz="1800" spc="95" dirty="0">
                <a:solidFill>
                  <a:srgbClr val="FFFFFF"/>
                </a:solidFill>
                <a:latin typeface="Times New Roman"/>
                <a:cs typeface="Times New Roman"/>
              </a:rPr>
              <a:t>without </a:t>
            </a:r>
            <a:r>
              <a:rPr sz="1800" spc="55" dirty="0">
                <a:solidFill>
                  <a:srgbClr val="FFFFFF"/>
                </a:solidFill>
                <a:latin typeface="Times New Roman"/>
                <a:cs typeface="Times New Roman"/>
              </a:rPr>
              <a:t>moving </a:t>
            </a:r>
            <a:r>
              <a:rPr sz="1800" spc="75" dirty="0">
                <a:solidFill>
                  <a:srgbClr val="FFFFFF"/>
                </a:solidFill>
                <a:latin typeface="Times New Roman"/>
                <a:cs typeface="Times New Roman"/>
              </a:rPr>
              <a:t>or  </a:t>
            </a:r>
            <a:r>
              <a:rPr sz="1800" spc="45" dirty="0">
                <a:solidFill>
                  <a:srgbClr val="FFFFFF"/>
                </a:solidFill>
                <a:latin typeface="Times New Roman"/>
                <a:cs typeface="Times New Roman"/>
              </a:rPr>
              <a:t>copying </a:t>
            </a:r>
            <a:r>
              <a:rPr sz="1800" spc="100" dirty="0">
                <a:solidFill>
                  <a:srgbClr val="FFFFFF"/>
                </a:solidFill>
                <a:latin typeface="Times New Roman"/>
                <a:cs typeface="Times New Roman"/>
              </a:rPr>
              <a:t>the</a:t>
            </a:r>
            <a:r>
              <a:rPr sz="1800" spc="-175" dirty="0">
                <a:solidFill>
                  <a:srgbClr val="FFFFFF"/>
                </a:solidFill>
                <a:latin typeface="Times New Roman"/>
                <a:cs typeface="Times New Roman"/>
              </a:rPr>
              <a:t> </a:t>
            </a:r>
            <a:r>
              <a:rPr sz="1800" spc="55" dirty="0">
                <a:solidFill>
                  <a:srgbClr val="FFFFFF"/>
                </a:solidFill>
                <a:latin typeface="Times New Roman"/>
                <a:cs typeface="Times New Roman"/>
              </a:rPr>
              <a:t>data.</a:t>
            </a:r>
            <a:endParaRPr sz="1800">
              <a:latin typeface="Times New Roman"/>
              <a:cs typeface="Times New Roman"/>
            </a:endParaRPr>
          </a:p>
        </p:txBody>
      </p:sp>
      <p:sp>
        <p:nvSpPr>
          <p:cNvPr id="5" name="object 5"/>
          <p:cNvSpPr txBox="1"/>
          <p:nvPr/>
        </p:nvSpPr>
        <p:spPr>
          <a:xfrm>
            <a:off x="383540" y="878586"/>
            <a:ext cx="2098675" cy="330200"/>
          </a:xfrm>
          <a:prstGeom prst="rect">
            <a:avLst/>
          </a:prstGeom>
        </p:spPr>
        <p:txBody>
          <a:bodyPr vert="horz" wrap="square" lIns="0" tIns="12065" rIns="0" bIns="0" rtlCol="0">
            <a:spAutoFit/>
          </a:bodyPr>
          <a:lstStyle/>
          <a:p>
            <a:pPr marL="12700">
              <a:lnSpc>
                <a:spcPct val="100000"/>
              </a:lnSpc>
              <a:spcBef>
                <a:spcPts val="95"/>
              </a:spcBef>
            </a:pPr>
            <a:r>
              <a:rPr sz="2000" b="1" spc="-20" dirty="0">
                <a:latin typeface="Times New Roman"/>
                <a:cs typeface="Times New Roman"/>
              </a:rPr>
              <a:t>Data</a:t>
            </a:r>
            <a:r>
              <a:rPr sz="2000" b="1" spc="-130" dirty="0">
                <a:latin typeface="Times New Roman"/>
                <a:cs typeface="Times New Roman"/>
              </a:rPr>
              <a:t> </a:t>
            </a:r>
            <a:r>
              <a:rPr sz="2000" b="1" spc="-15" dirty="0">
                <a:latin typeface="Times New Roman"/>
                <a:cs typeface="Times New Roman"/>
              </a:rPr>
              <a:t>Virtualization</a:t>
            </a:r>
            <a:endParaRPr sz="2000">
              <a:latin typeface="Times New Roman"/>
              <a:cs typeface="Times New Roman"/>
            </a:endParaRPr>
          </a:p>
        </p:txBody>
      </p:sp>
      <p:pic>
        <p:nvPicPr>
          <p:cNvPr id="6" name="object 6"/>
          <p:cNvPicPr/>
          <p:nvPr/>
        </p:nvPicPr>
        <p:blipFill>
          <a:blip r:embed="rId3" cstate="print"/>
          <a:stretch>
            <a:fillRect/>
          </a:stretch>
        </p:blipFill>
        <p:spPr>
          <a:xfrm>
            <a:off x="5676900" y="1268730"/>
            <a:ext cx="2511552" cy="1595627"/>
          </a:xfrm>
          <a:prstGeom prst="rect">
            <a:avLst/>
          </a:prstGeom>
        </p:spPr>
      </p:pic>
      <p:sp>
        <p:nvSpPr>
          <p:cNvPr id="7" name="object 7"/>
          <p:cNvSpPr txBox="1"/>
          <p:nvPr/>
        </p:nvSpPr>
        <p:spPr>
          <a:xfrm>
            <a:off x="6234429" y="2890012"/>
            <a:ext cx="147955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Data</a:t>
            </a:r>
            <a:r>
              <a:rPr sz="1400" b="1" spc="-114" dirty="0">
                <a:latin typeface="Times New Roman"/>
                <a:cs typeface="Times New Roman"/>
              </a:rPr>
              <a:t> </a:t>
            </a:r>
            <a:r>
              <a:rPr sz="1400" b="1" spc="-10" dirty="0">
                <a:latin typeface="Times New Roman"/>
                <a:cs typeface="Times New Roman"/>
              </a:rPr>
              <a:t>Virtualization</a:t>
            </a:r>
            <a:endParaRPr sz="1400">
              <a:latin typeface="Times New Roman"/>
              <a:cs typeface="Times New Roman"/>
            </a:endParaRPr>
          </a:p>
        </p:txBody>
      </p:sp>
      <p:sp>
        <p:nvSpPr>
          <p:cNvPr id="8" name="object 8"/>
          <p:cNvSpPr/>
          <p:nvPr/>
        </p:nvSpPr>
        <p:spPr>
          <a:xfrm>
            <a:off x="316230" y="4388357"/>
            <a:ext cx="4716780" cy="1201420"/>
          </a:xfrm>
          <a:custGeom>
            <a:avLst/>
            <a:gdLst/>
            <a:ahLst/>
            <a:cxnLst/>
            <a:rect l="l" t="t" r="r" b="b"/>
            <a:pathLst>
              <a:path w="4716780" h="1201420">
                <a:moveTo>
                  <a:pt x="4716780" y="200152"/>
                </a:moveTo>
                <a:lnTo>
                  <a:pt x="4711484" y="154279"/>
                </a:lnTo>
                <a:lnTo>
                  <a:pt x="4696422" y="112153"/>
                </a:lnTo>
                <a:lnTo>
                  <a:pt x="4672787" y="74993"/>
                </a:lnTo>
                <a:lnTo>
                  <a:pt x="4641786" y="43992"/>
                </a:lnTo>
                <a:lnTo>
                  <a:pt x="4604626" y="20358"/>
                </a:lnTo>
                <a:lnTo>
                  <a:pt x="4562500" y="5295"/>
                </a:lnTo>
                <a:lnTo>
                  <a:pt x="4516628" y="0"/>
                </a:lnTo>
                <a:lnTo>
                  <a:pt x="200152" y="0"/>
                </a:lnTo>
                <a:lnTo>
                  <a:pt x="154254" y="5295"/>
                </a:lnTo>
                <a:lnTo>
                  <a:pt x="112128" y="20358"/>
                </a:lnTo>
                <a:lnTo>
                  <a:pt x="74955" y="43992"/>
                </a:lnTo>
                <a:lnTo>
                  <a:pt x="43967" y="74993"/>
                </a:lnTo>
                <a:lnTo>
                  <a:pt x="20332" y="112153"/>
                </a:lnTo>
                <a:lnTo>
                  <a:pt x="5283" y="154279"/>
                </a:lnTo>
                <a:lnTo>
                  <a:pt x="0" y="200152"/>
                </a:lnTo>
                <a:lnTo>
                  <a:pt x="0" y="1000760"/>
                </a:lnTo>
                <a:lnTo>
                  <a:pt x="5283" y="1046645"/>
                </a:lnTo>
                <a:lnTo>
                  <a:pt x="20332" y="1088771"/>
                </a:lnTo>
                <a:lnTo>
                  <a:pt x="43967" y="1125931"/>
                </a:lnTo>
                <a:lnTo>
                  <a:pt x="74955" y="1156931"/>
                </a:lnTo>
                <a:lnTo>
                  <a:pt x="112128" y="1180566"/>
                </a:lnTo>
                <a:lnTo>
                  <a:pt x="154254" y="1195628"/>
                </a:lnTo>
                <a:lnTo>
                  <a:pt x="200152" y="1200912"/>
                </a:lnTo>
                <a:lnTo>
                  <a:pt x="4516628" y="1200912"/>
                </a:lnTo>
                <a:lnTo>
                  <a:pt x="4562500" y="1195628"/>
                </a:lnTo>
                <a:lnTo>
                  <a:pt x="4604626" y="1180566"/>
                </a:lnTo>
                <a:lnTo>
                  <a:pt x="4641786" y="1156931"/>
                </a:lnTo>
                <a:lnTo>
                  <a:pt x="4672787" y="1125931"/>
                </a:lnTo>
                <a:lnTo>
                  <a:pt x="4696422" y="1088771"/>
                </a:lnTo>
                <a:lnTo>
                  <a:pt x="4711484" y="1046645"/>
                </a:lnTo>
                <a:lnTo>
                  <a:pt x="4716780" y="1000760"/>
                </a:lnTo>
                <a:lnTo>
                  <a:pt x="4716780" y="200152"/>
                </a:lnTo>
                <a:close/>
              </a:path>
            </a:pathLst>
          </a:custGeom>
          <a:solidFill>
            <a:srgbClr val="8063A1"/>
          </a:solidFill>
        </p:spPr>
        <p:txBody>
          <a:bodyPr wrap="square" lIns="0" tIns="0" rIns="0" bIns="0" rtlCol="0"/>
          <a:lstStyle/>
          <a:p>
            <a:endParaRPr/>
          </a:p>
        </p:txBody>
      </p:sp>
      <p:sp>
        <p:nvSpPr>
          <p:cNvPr id="9" name="object 9"/>
          <p:cNvSpPr txBox="1"/>
          <p:nvPr/>
        </p:nvSpPr>
        <p:spPr>
          <a:xfrm>
            <a:off x="383540" y="3883152"/>
            <a:ext cx="4549140" cy="1613535"/>
          </a:xfrm>
          <a:prstGeom prst="rect">
            <a:avLst/>
          </a:prstGeom>
        </p:spPr>
        <p:txBody>
          <a:bodyPr vert="horz" wrap="square" lIns="0" tIns="12065" rIns="0" bIns="0" rtlCol="0">
            <a:spAutoFit/>
          </a:bodyPr>
          <a:lstStyle/>
          <a:p>
            <a:pPr marL="135890">
              <a:lnSpc>
                <a:spcPct val="100000"/>
              </a:lnSpc>
              <a:spcBef>
                <a:spcPts val="95"/>
              </a:spcBef>
            </a:pPr>
            <a:r>
              <a:rPr sz="2000" b="1" spc="-20" dirty="0">
                <a:latin typeface="Times New Roman"/>
                <a:cs typeface="Times New Roman"/>
              </a:rPr>
              <a:t>Data</a:t>
            </a:r>
            <a:r>
              <a:rPr sz="2000" b="1" spc="-114" dirty="0">
                <a:latin typeface="Times New Roman"/>
                <a:cs typeface="Times New Roman"/>
              </a:rPr>
              <a:t> </a:t>
            </a:r>
            <a:r>
              <a:rPr sz="2000" b="1" spc="-60" dirty="0">
                <a:latin typeface="Times New Roman"/>
                <a:cs typeface="Times New Roman"/>
              </a:rPr>
              <a:t>Lake</a:t>
            </a:r>
            <a:endParaRPr sz="2000">
              <a:latin typeface="Times New Roman"/>
              <a:cs typeface="Times New Roman"/>
            </a:endParaRPr>
          </a:p>
          <a:p>
            <a:pPr marL="298450" marR="5080" indent="-285750" algn="just">
              <a:lnSpc>
                <a:spcPct val="100000"/>
              </a:lnSpc>
              <a:spcBef>
                <a:spcPts val="1465"/>
              </a:spcBef>
              <a:buFont typeface="Wingdings"/>
              <a:buChar char=""/>
              <a:tabLst>
                <a:tab pos="298450" algn="l"/>
              </a:tabLst>
            </a:pPr>
            <a:r>
              <a:rPr sz="1800" spc="70" dirty="0">
                <a:solidFill>
                  <a:srgbClr val="FFFFFF"/>
                </a:solidFill>
                <a:latin typeface="Times New Roman"/>
                <a:cs typeface="Times New Roman"/>
              </a:rPr>
              <a:t>Data </a:t>
            </a:r>
            <a:r>
              <a:rPr sz="1800" spc="30" dirty="0">
                <a:solidFill>
                  <a:srgbClr val="FFFFFF"/>
                </a:solidFill>
                <a:latin typeface="Times New Roman"/>
                <a:cs typeface="Times New Roman"/>
              </a:rPr>
              <a:t>Lake </a:t>
            </a:r>
            <a:r>
              <a:rPr sz="1800" spc="5" dirty="0">
                <a:solidFill>
                  <a:srgbClr val="FFFFFF"/>
                </a:solidFill>
                <a:latin typeface="Times New Roman"/>
                <a:cs typeface="Times New Roman"/>
              </a:rPr>
              <a:t>is </a:t>
            </a:r>
            <a:r>
              <a:rPr sz="1800" spc="30" dirty="0">
                <a:solidFill>
                  <a:srgbClr val="FFFFFF"/>
                </a:solidFill>
                <a:latin typeface="Times New Roman"/>
                <a:cs typeface="Times New Roman"/>
              </a:rPr>
              <a:t>a </a:t>
            </a:r>
            <a:r>
              <a:rPr sz="1800" spc="45" dirty="0">
                <a:solidFill>
                  <a:srgbClr val="FFFFFF"/>
                </a:solidFill>
                <a:latin typeface="Times New Roman"/>
                <a:cs typeface="Times New Roman"/>
              </a:rPr>
              <a:t>storage </a:t>
            </a:r>
            <a:r>
              <a:rPr sz="1800" spc="55" dirty="0">
                <a:solidFill>
                  <a:srgbClr val="FFFFFF"/>
                </a:solidFill>
                <a:latin typeface="Times New Roman"/>
                <a:cs typeface="Times New Roman"/>
              </a:rPr>
              <a:t>repository </a:t>
            </a:r>
            <a:r>
              <a:rPr sz="1800" spc="100" dirty="0">
                <a:solidFill>
                  <a:srgbClr val="FFFFFF"/>
                </a:solidFill>
                <a:latin typeface="Times New Roman"/>
                <a:cs typeface="Times New Roman"/>
              </a:rPr>
              <a:t>that</a:t>
            </a:r>
            <a:r>
              <a:rPr sz="1800" spc="-290" dirty="0">
                <a:solidFill>
                  <a:srgbClr val="FFFFFF"/>
                </a:solidFill>
                <a:latin typeface="Times New Roman"/>
                <a:cs typeface="Times New Roman"/>
              </a:rPr>
              <a:t> </a:t>
            </a:r>
            <a:r>
              <a:rPr sz="1800" spc="70" dirty="0">
                <a:solidFill>
                  <a:srgbClr val="FFFFFF"/>
                </a:solidFill>
                <a:latin typeface="Times New Roman"/>
                <a:cs typeface="Times New Roman"/>
              </a:rPr>
              <a:t>holds  </a:t>
            </a:r>
            <a:r>
              <a:rPr sz="1800" spc="30" dirty="0">
                <a:solidFill>
                  <a:srgbClr val="FFFFFF"/>
                </a:solidFill>
                <a:latin typeface="Times New Roman"/>
                <a:cs typeface="Times New Roman"/>
              </a:rPr>
              <a:t>a </a:t>
            </a:r>
            <a:r>
              <a:rPr sz="1800" spc="75" dirty="0">
                <a:solidFill>
                  <a:srgbClr val="FFFFFF"/>
                </a:solidFill>
                <a:latin typeface="Times New Roman"/>
                <a:cs typeface="Times New Roman"/>
              </a:rPr>
              <a:t>huge </a:t>
            </a:r>
            <a:r>
              <a:rPr sz="1800" spc="100" dirty="0">
                <a:solidFill>
                  <a:srgbClr val="FFFFFF"/>
                </a:solidFill>
                <a:latin typeface="Times New Roman"/>
                <a:cs typeface="Times New Roman"/>
              </a:rPr>
              <a:t>amount </a:t>
            </a:r>
            <a:r>
              <a:rPr sz="1800" spc="50" dirty="0">
                <a:solidFill>
                  <a:srgbClr val="FFFFFF"/>
                </a:solidFill>
                <a:latin typeface="Times New Roman"/>
                <a:cs typeface="Times New Roman"/>
              </a:rPr>
              <a:t>of raw </a:t>
            </a:r>
            <a:r>
              <a:rPr sz="1800" spc="70" dirty="0">
                <a:solidFill>
                  <a:srgbClr val="FFFFFF"/>
                </a:solidFill>
                <a:latin typeface="Times New Roman"/>
                <a:cs typeface="Times New Roman"/>
              </a:rPr>
              <a:t>data </a:t>
            </a:r>
            <a:r>
              <a:rPr sz="1800" spc="85" dirty="0">
                <a:solidFill>
                  <a:srgbClr val="FFFFFF"/>
                </a:solidFill>
                <a:latin typeface="Times New Roman"/>
                <a:cs typeface="Times New Roman"/>
              </a:rPr>
              <a:t>in </a:t>
            </a:r>
            <a:r>
              <a:rPr sz="1800" spc="40" dirty="0">
                <a:solidFill>
                  <a:srgbClr val="FFFFFF"/>
                </a:solidFill>
                <a:latin typeface="Times New Roman"/>
                <a:cs typeface="Times New Roman"/>
              </a:rPr>
              <a:t>its </a:t>
            </a:r>
            <a:r>
              <a:rPr sz="1800" spc="60" dirty="0">
                <a:solidFill>
                  <a:srgbClr val="FFFFFF"/>
                </a:solidFill>
                <a:latin typeface="Times New Roman"/>
                <a:cs typeface="Times New Roman"/>
              </a:rPr>
              <a:t>native  format.</a:t>
            </a:r>
            <a:endParaRPr sz="1800">
              <a:latin typeface="Times New Roman"/>
              <a:cs typeface="Times New Roman"/>
            </a:endParaRPr>
          </a:p>
          <a:p>
            <a:pPr marL="298450" indent="-285750" algn="just">
              <a:lnSpc>
                <a:spcPct val="100000"/>
              </a:lnSpc>
              <a:buFont typeface="Wingdings"/>
              <a:buChar char=""/>
              <a:tabLst>
                <a:tab pos="298450" algn="l"/>
              </a:tabLst>
            </a:pPr>
            <a:r>
              <a:rPr sz="1800" spc="50" dirty="0">
                <a:solidFill>
                  <a:srgbClr val="FFFFFF"/>
                </a:solidFill>
                <a:latin typeface="Times New Roman"/>
                <a:cs typeface="Times New Roman"/>
              </a:rPr>
              <a:t>It</a:t>
            </a:r>
            <a:r>
              <a:rPr sz="1800" spc="-70"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6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25" dirty="0">
                <a:solidFill>
                  <a:srgbClr val="FFFFFF"/>
                </a:solidFill>
                <a:latin typeface="Times New Roman"/>
                <a:cs typeface="Times New Roman"/>
              </a:rPr>
              <a:t>scalable</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HDFS</a:t>
            </a:r>
            <a:r>
              <a:rPr sz="1800" spc="-60" dirty="0">
                <a:solidFill>
                  <a:srgbClr val="FFFFFF"/>
                </a:solidFill>
                <a:latin typeface="Times New Roman"/>
                <a:cs typeface="Times New Roman"/>
              </a:rPr>
              <a:t> </a:t>
            </a:r>
            <a:r>
              <a:rPr sz="1800" spc="45" dirty="0">
                <a:solidFill>
                  <a:srgbClr val="FFFFFF"/>
                </a:solidFill>
                <a:latin typeface="Times New Roman"/>
                <a:cs typeface="Times New Roman"/>
              </a:rPr>
              <a:t>storage</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pool.</a:t>
            </a:r>
            <a:endParaRPr sz="1800">
              <a:latin typeface="Times New Roman"/>
              <a:cs typeface="Times New Roman"/>
            </a:endParaRPr>
          </a:p>
        </p:txBody>
      </p:sp>
      <p:pic>
        <p:nvPicPr>
          <p:cNvPr id="10" name="object 10"/>
          <p:cNvPicPr/>
          <p:nvPr/>
        </p:nvPicPr>
        <p:blipFill>
          <a:blip r:embed="rId4" cstate="print"/>
          <a:stretch>
            <a:fillRect/>
          </a:stretch>
        </p:blipFill>
        <p:spPr>
          <a:xfrm>
            <a:off x="5676900" y="3961638"/>
            <a:ext cx="2511552" cy="1873758"/>
          </a:xfrm>
          <a:prstGeom prst="rect">
            <a:avLst/>
          </a:prstGeom>
        </p:spPr>
      </p:pic>
      <p:sp>
        <p:nvSpPr>
          <p:cNvPr id="11" name="object 11"/>
          <p:cNvSpPr txBox="1"/>
          <p:nvPr/>
        </p:nvSpPr>
        <p:spPr>
          <a:xfrm>
            <a:off x="6486905" y="5833871"/>
            <a:ext cx="78994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Data</a:t>
            </a:r>
            <a:r>
              <a:rPr sz="1400" b="1" spc="-130" dirty="0">
                <a:latin typeface="Times New Roman"/>
                <a:cs typeface="Times New Roman"/>
              </a:rPr>
              <a:t> </a:t>
            </a:r>
            <a:r>
              <a:rPr sz="1400" b="1" spc="-40" dirty="0">
                <a:latin typeface="Times New Roman"/>
                <a:cs typeface="Times New Roman"/>
              </a:rPr>
              <a:t>Lake</a:t>
            </a:r>
            <a:endParaRPr sz="14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13</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580890" cy="635635"/>
          </a:xfrm>
          <a:prstGeom prst="rect">
            <a:avLst/>
          </a:prstGeom>
        </p:spPr>
        <p:txBody>
          <a:bodyPr vert="horz" wrap="square" lIns="0" tIns="12700" rIns="0" bIns="0" rtlCol="0">
            <a:spAutoFit/>
          </a:bodyPr>
          <a:lstStyle/>
          <a:p>
            <a:pPr marL="12700">
              <a:lnSpc>
                <a:spcPct val="100000"/>
              </a:lnSpc>
              <a:spcBef>
                <a:spcPts val="100"/>
              </a:spcBef>
            </a:pPr>
            <a:r>
              <a:rPr spc="-60" dirty="0"/>
              <a:t>Big </a:t>
            </a:r>
            <a:r>
              <a:rPr spc="165" dirty="0"/>
              <a:t>Data </a:t>
            </a:r>
            <a:r>
              <a:rPr spc="175" dirty="0"/>
              <a:t>Clusters</a:t>
            </a:r>
            <a:r>
              <a:rPr spc="-630" dirty="0"/>
              <a:t> </a:t>
            </a:r>
            <a:r>
              <a:rPr spc="-125" dirty="0"/>
              <a:t>3-6</a:t>
            </a:r>
          </a:p>
        </p:txBody>
      </p:sp>
      <p:pic>
        <p:nvPicPr>
          <p:cNvPr id="3" name="object 3"/>
          <p:cNvPicPr/>
          <p:nvPr/>
        </p:nvPicPr>
        <p:blipFill>
          <a:blip r:embed="rId3" cstate="print"/>
          <a:stretch>
            <a:fillRect/>
          </a:stretch>
        </p:blipFill>
        <p:spPr>
          <a:xfrm>
            <a:off x="304800" y="1449324"/>
            <a:ext cx="5336286" cy="1069085"/>
          </a:xfrm>
          <a:prstGeom prst="rect">
            <a:avLst/>
          </a:prstGeom>
        </p:spPr>
      </p:pic>
      <p:sp>
        <p:nvSpPr>
          <p:cNvPr id="4" name="object 4"/>
          <p:cNvSpPr txBox="1"/>
          <p:nvPr/>
        </p:nvSpPr>
        <p:spPr>
          <a:xfrm>
            <a:off x="525018" y="1501139"/>
            <a:ext cx="4895850" cy="965200"/>
          </a:xfrm>
          <a:prstGeom prst="rect">
            <a:avLst/>
          </a:prstGeom>
        </p:spPr>
        <p:txBody>
          <a:bodyPr vert="horz" wrap="square" lIns="0" tIns="77470" rIns="0" bIns="0" rtlCol="0">
            <a:spAutoFit/>
          </a:bodyPr>
          <a:lstStyle/>
          <a:p>
            <a:pPr marL="361950" marR="69850" indent="-285750" algn="just">
              <a:lnSpc>
                <a:spcPts val="1939"/>
              </a:lnSpc>
              <a:spcBef>
                <a:spcPts val="610"/>
              </a:spcBef>
              <a:buFont typeface="Wingdings"/>
              <a:buChar char=""/>
              <a:tabLst>
                <a:tab pos="362585" algn="l"/>
              </a:tabLst>
            </a:pPr>
            <a:r>
              <a:rPr sz="1800" spc="45" dirty="0">
                <a:solidFill>
                  <a:srgbClr val="FFFFFF"/>
                </a:solidFill>
                <a:latin typeface="Times New Roman"/>
                <a:cs typeface="Times New Roman"/>
              </a:rPr>
              <a:t>Provides scale-out </a:t>
            </a:r>
            <a:r>
              <a:rPr sz="1800" spc="80" dirty="0">
                <a:solidFill>
                  <a:srgbClr val="FFFFFF"/>
                </a:solidFill>
                <a:latin typeface="Times New Roman"/>
                <a:cs typeface="Times New Roman"/>
              </a:rPr>
              <a:t>compute </a:t>
            </a:r>
            <a:r>
              <a:rPr sz="1800" spc="100" dirty="0">
                <a:solidFill>
                  <a:srgbClr val="FFFFFF"/>
                </a:solidFill>
                <a:latin typeface="Times New Roman"/>
                <a:cs typeface="Times New Roman"/>
              </a:rPr>
              <a:t>and </a:t>
            </a:r>
            <a:r>
              <a:rPr sz="1800" spc="45" dirty="0">
                <a:solidFill>
                  <a:srgbClr val="FFFFFF"/>
                </a:solidFill>
                <a:latin typeface="Times New Roman"/>
                <a:cs typeface="Times New Roman"/>
              </a:rPr>
              <a:t>storage </a:t>
            </a:r>
            <a:r>
              <a:rPr sz="1800" spc="95" dirty="0">
                <a:solidFill>
                  <a:srgbClr val="FFFFFF"/>
                </a:solidFill>
                <a:latin typeface="Times New Roman"/>
                <a:cs typeface="Times New Roman"/>
              </a:rPr>
              <a:t>to  </a:t>
            </a:r>
            <a:r>
              <a:rPr sz="1800" spc="60" dirty="0">
                <a:solidFill>
                  <a:srgbClr val="FFFFFF"/>
                </a:solidFill>
                <a:latin typeface="Times New Roman"/>
                <a:cs typeface="Times New Roman"/>
              </a:rPr>
              <a:t>improve </a:t>
            </a:r>
            <a:r>
              <a:rPr sz="1800" spc="100" dirty="0">
                <a:solidFill>
                  <a:srgbClr val="FFFFFF"/>
                </a:solidFill>
                <a:latin typeface="Times New Roman"/>
                <a:cs typeface="Times New Roman"/>
              </a:rPr>
              <a:t>the </a:t>
            </a:r>
            <a:r>
              <a:rPr sz="1800" spc="65" dirty="0">
                <a:solidFill>
                  <a:srgbClr val="FFFFFF"/>
                </a:solidFill>
                <a:latin typeface="Times New Roman"/>
                <a:cs typeface="Times New Roman"/>
              </a:rPr>
              <a:t>performance </a:t>
            </a:r>
            <a:r>
              <a:rPr sz="1800" spc="50" dirty="0">
                <a:solidFill>
                  <a:srgbClr val="FFFFFF"/>
                </a:solidFill>
                <a:latin typeface="Times New Roman"/>
                <a:cs typeface="Times New Roman"/>
              </a:rPr>
              <a:t>of </a:t>
            </a:r>
            <a:r>
              <a:rPr sz="1800" spc="25" dirty="0">
                <a:solidFill>
                  <a:srgbClr val="FFFFFF"/>
                </a:solidFill>
                <a:latin typeface="Times New Roman"/>
                <a:cs typeface="Times New Roman"/>
              </a:rPr>
              <a:t>analyzing </a:t>
            </a:r>
            <a:r>
              <a:rPr sz="1800" spc="60" dirty="0">
                <a:solidFill>
                  <a:srgbClr val="FFFFFF"/>
                </a:solidFill>
                <a:latin typeface="Times New Roman"/>
                <a:cs typeface="Times New Roman"/>
              </a:rPr>
              <a:t>any  </a:t>
            </a:r>
            <a:r>
              <a:rPr sz="1800" spc="55" dirty="0">
                <a:solidFill>
                  <a:srgbClr val="FFFFFF"/>
                </a:solidFill>
                <a:latin typeface="Times New Roman"/>
                <a:cs typeface="Times New Roman"/>
              </a:rPr>
              <a:t>data.</a:t>
            </a:r>
            <a:endParaRPr sz="1800">
              <a:latin typeface="Times New Roman"/>
              <a:cs typeface="Times New Roman"/>
            </a:endParaRPr>
          </a:p>
        </p:txBody>
      </p:sp>
      <p:sp>
        <p:nvSpPr>
          <p:cNvPr id="5" name="object 5"/>
          <p:cNvSpPr txBox="1"/>
          <p:nvPr/>
        </p:nvSpPr>
        <p:spPr>
          <a:xfrm>
            <a:off x="398272" y="876553"/>
            <a:ext cx="2108200" cy="330200"/>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Times New Roman"/>
                <a:cs typeface="Times New Roman"/>
              </a:rPr>
              <a:t>Scale-out </a:t>
            </a:r>
            <a:r>
              <a:rPr sz="2000" b="1" spc="-45" dirty="0">
                <a:latin typeface="Times New Roman"/>
                <a:cs typeface="Times New Roman"/>
              </a:rPr>
              <a:t>data</a:t>
            </a:r>
            <a:r>
              <a:rPr sz="2000" b="1" spc="-275" dirty="0">
                <a:latin typeface="Times New Roman"/>
                <a:cs typeface="Times New Roman"/>
              </a:rPr>
              <a:t> </a:t>
            </a:r>
            <a:r>
              <a:rPr sz="2000" b="1" spc="-65" dirty="0">
                <a:latin typeface="Times New Roman"/>
                <a:cs typeface="Times New Roman"/>
              </a:rPr>
              <a:t>mart</a:t>
            </a:r>
            <a:endParaRPr sz="2000">
              <a:latin typeface="Times New Roman"/>
              <a:cs typeface="Times New Roman"/>
            </a:endParaRPr>
          </a:p>
        </p:txBody>
      </p:sp>
      <p:pic>
        <p:nvPicPr>
          <p:cNvPr id="6" name="object 6"/>
          <p:cNvPicPr/>
          <p:nvPr/>
        </p:nvPicPr>
        <p:blipFill>
          <a:blip r:embed="rId4" cstate="print"/>
          <a:stretch>
            <a:fillRect/>
          </a:stretch>
        </p:blipFill>
        <p:spPr>
          <a:xfrm>
            <a:off x="6105144" y="1110233"/>
            <a:ext cx="2581655" cy="1885950"/>
          </a:xfrm>
          <a:prstGeom prst="rect">
            <a:avLst/>
          </a:prstGeom>
        </p:spPr>
      </p:pic>
      <p:sp>
        <p:nvSpPr>
          <p:cNvPr id="7" name="object 7"/>
          <p:cNvSpPr txBox="1"/>
          <p:nvPr/>
        </p:nvSpPr>
        <p:spPr>
          <a:xfrm>
            <a:off x="6965442" y="2994660"/>
            <a:ext cx="79375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Data</a:t>
            </a:r>
            <a:r>
              <a:rPr sz="1400" b="1" spc="-120" dirty="0">
                <a:latin typeface="Times New Roman"/>
                <a:cs typeface="Times New Roman"/>
              </a:rPr>
              <a:t> </a:t>
            </a:r>
            <a:r>
              <a:rPr sz="1400" b="1" spc="-55" dirty="0">
                <a:latin typeface="Times New Roman"/>
                <a:cs typeface="Times New Roman"/>
              </a:rPr>
              <a:t>Mart</a:t>
            </a:r>
            <a:endParaRPr sz="1400">
              <a:latin typeface="Times New Roman"/>
              <a:cs typeface="Times New Roman"/>
            </a:endParaRPr>
          </a:p>
        </p:txBody>
      </p:sp>
      <p:sp>
        <p:nvSpPr>
          <p:cNvPr id="8" name="object 8"/>
          <p:cNvSpPr txBox="1"/>
          <p:nvPr/>
        </p:nvSpPr>
        <p:spPr>
          <a:xfrm>
            <a:off x="398272" y="3420871"/>
            <a:ext cx="3939540" cy="330200"/>
          </a:xfrm>
          <a:prstGeom prst="rect">
            <a:avLst/>
          </a:prstGeom>
        </p:spPr>
        <p:txBody>
          <a:bodyPr vert="horz" wrap="square" lIns="0" tIns="12065" rIns="0" bIns="0" rtlCol="0">
            <a:spAutoFit/>
          </a:bodyPr>
          <a:lstStyle/>
          <a:p>
            <a:pPr marL="12700">
              <a:lnSpc>
                <a:spcPct val="100000"/>
              </a:lnSpc>
              <a:spcBef>
                <a:spcPts val="95"/>
              </a:spcBef>
            </a:pPr>
            <a:r>
              <a:rPr sz="2000" b="1" spc="-30" dirty="0">
                <a:latin typeface="Times New Roman"/>
                <a:cs typeface="Times New Roman"/>
              </a:rPr>
              <a:t>Integrated</a:t>
            </a:r>
            <a:r>
              <a:rPr sz="2000" b="1" spc="-120" dirty="0">
                <a:latin typeface="Times New Roman"/>
                <a:cs typeface="Times New Roman"/>
              </a:rPr>
              <a:t> </a:t>
            </a:r>
            <a:r>
              <a:rPr sz="2000" b="1" spc="15" dirty="0">
                <a:latin typeface="Times New Roman"/>
                <a:cs typeface="Times New Roman"/>
              </a:rPr>
              <a:t>AI</a:t>
            </a:r>
            <a:r>
              <a:rPr sz="2000" b="1" spc="-85" dirty="0">
                <a:latin typeface="Times New Roman"/>
                <a:cs typeface="Times New Roman"/>
              </a:rPr>
              <a:t> </a:t>
            </a:r>
            <a:r>
              <a:rPr sz="2000" b="1" spc="-10" dirty="0">
                <a:latin typeface="Times New Roman"/>
                <a:cs typeface="Times New Roman"/>
              </a:rPr>
              <a:t>and</a:t>
            </a:r>
            <a:r>
              <a:rPr sz="2000" b="1" spc="-110" dirty="0">
                <a:latin typeface="Times New Roman"/>
                <a:cs typeface="Times New Roman"/>
              </a:rPr>
              <a:t> </a:t>
            </a:r>
            <a:r>
              <a:rPr sz="2000" b="1" spc="-10" dirty="0">
                <a:latin typeface="Times New Roman"/>
                <a:cs typeface="Times New Roman"/>
              </a:rPr>
              <a:t>Machine</a:t>
            </a:r>
            <a:r>
              <a:rPr sz="2000" b="1" spc="-114" dirty="0">
                <a:latin typeface="Times New Roman"/>
                <a:cs typeface="Times New Roman"/>
              </a:rPr>
              <a:t> </a:t>
            </a:r>
            <a:r>
              <a:rPr sz="2000" b="1" spc="-40" dirty="0">
                <a:latin typeface="Times New Roman"/>
                <a:cs typeface="Times New Roman"/>
              </a:rPr>
              <a:t>Learning</a:t>
            </a:r>
            <a:endParaRPr sz="2000">
              <a:latin typeface="Times New Roman"/>
              <a:cs typeface="Times New Roman"/>
            </a:endParaRPr>
          </a:p>
        </p:txBody>
      </p:sp>
      <p:pic>
        <p:nvPicPr>
          <p:cNvPr id="9" name="object 9"/>
          <p:cNvPicPr/>
          <p:nvPr/>
        </p:nvPicPr>
        <p:blipFill>
          <a:blip r:embed="rId5" cstate="print"/>
          <a:stretch>
            <a:fillRect/>
          </a:stretch>
        </p:blipFill>
        <p:spPr>
          <a:xfrm>
            <a:off x="4757928" y="4052315"/>
            <a:ext cx="4256532" cy="1917192"/>
          </a:xfrm>
          <a:prstGeom prst="rect">
            <a:avLst/>
          </a:prstGeom>
        </p:spPr>
      </p:pic>
      <p:pic>
        <p:nvPicPr>
          <p:cNvPr id="10" name="object 10"/>
          <p:cNvPicPr/>
          <p:nvPr/>
        </p:nvPicPr>
        <p:blipFill>
          <a:blip r:embed="rId6" cstate="print"/>
          <a:stretch>
            <a:fillRect/>
          </a:stretch>
        </p:blipFill>
        <p:spPr>
          <a:xfrm>
            <a:off x="525018" y="4006596"/>
            <a:ext cx="4046981" cy="1704594"/>
          </a:xfrm>
          <a:prstGeom prst="rect">
            <a:avLst/>
          </a:prstGeom>
        </p:spPr>
      </p:pic>
      <p:sp>
        <p:nvSpPr>
          <p:cNvPr id="11" name="object 11"/>
          <p:cNvSpPr txBox="1"/>
          <p:nvPr/>
        </p:nvSpPr>
        <p:spPr>
          <a:xfrm>
            <a:off x="692658" y="4089653"/>
            <a:ext cx="3712845" cy="1538605"/>
          </a:xfrm>
          <a:prstGeom prst="rect">
            <a:avLst/>
          </a:prstGeom>
        </p:spPr>
        <p:txBody>
          <a:bodyPr vert="horz" wrap="square" lIns="0" tIns="6350" rIns="0" bIns="0" rtlCol="0">
            <a:spAutoFit/>
          </a:bodyPr>
          <a:lstStyle/>
          <a:p>
            <a:pPr>
              <a:lnSpc>
                <a:spcPct val="100000"/>
              </a:lnSpc>
              <a:spcBef>
                <a:spcPts val="50"/>
              </a:spcBef>
            </a:pPr>
            <a:endParaRPr sz="2450">
              <a:latin typeface="Times New Roman"/>
              <a:cs typeface="Times New Roman"/>
            </a:endParaRPr>
          </a:p>
          <a:p>
            <a:pPr marL="361950" marR="68580" indent="-285750" algn="just">
              <a:lnSpc>
                <a:spcPts val="1939"/>
              </a:lnSpc>
              <a:buFont typeface="Wingdings"/>
              <a:buChar char=""/>
              <a:tabLst>
                <a:tab pos="361950" algn="l"/>
              </a:tabLst>
            </a:pPr>
            <a:r>
              <a:rPr sz="1800" spc="45" dirty="0">
                <a:solidFill>
                  <a:srgbClr val="FFFFFF"/>
                </a:solidFill>
                <a:latin typeface="Times New Roman"/>
                <a:cs typeface="Times New Roman"/>
              </a:rPr>
              <a:t>Enables </a:t>
            </a:r>
            <a:r>
              <a:rPr sz="1800" spc="75" dirty="0">
                <a:solidFill>
                  <a:srgbClr val="FFFFFF"/>
                </a:solidFill>
                <a:latin typeface="Times New Roman"/>
                <a:cs typeface="Times New Roman"/>
              </a:rPr>
              <a:t>AI </a:t>
            </a:r>
            <a:r>
              <a:rPr sz="1800" spc="100" dirty="0">
                <a:solidFill>
                  <a:srgbClr val="FFFFFF"/>
                </a:solidFill>
                <a:latin typeface="Times New Roman"/>
                <a:cs typeface="Times New Roman"/>
              </a:rPr>
              <a:t>and </a:t>
            </a:r>
            <a:r>
              <a:rPr sz="1800" spc="70" dirty="0">
                <a:solidFill>
                  <a:srgbClr val="FFFFFF"/>
                </a:solidFill>
                <a:latin typeface="Times New Roman"/>
                <a:cs typeface="Times New Roman"/>
              </a:rPr>
              <a:t>machine</a:t>
            </a:r>
            <a:r>
              <a:rPr sz="1800" spc="-250" dirty="0">
                <a:solidFill>
                  <a:srgbClr val="FFFFFF"/>
                </a:solidFill>
                <a:latin typeface="Times New Roman"/>
                <a:cs typeface="Times New Roman"/>
              </a:rPr>
              <a:t> </a:t>
            </a:r>
            <a:r>
              <a:rPr sz="1800" spc="55" dirty="0">
                <a:solidFill>
                  <a:srgbClr val="FFFFFF"/>
                </a:solidFill>
                <a:latin typeface="Times New Roman"/>
                <a:cs typeface="Times New Roman"/>
              </a:rPr>
              <a:t>learning  </a:t>
            </a:r>
            <a:r>
              <a:rPr sz="1800" spc="45" dirty="0">
                <a:solidFill>
                  <a:srgbClr val="FFFFFF"/>
                </a:solidFill>
                <a:latin typeface="Times New Roman"/>
                <a:cs typeface="Times New Roman"/>
              </a:rPr>
              <a:t>tasks</a:t>
            </a:r>
            <a:r>
              <a:rPr sz="1800" spc="-10" dirty="0">
                <a:solidFill>
                  <a:srgbClr val="FFFFFF"/>
                </a:solidFill>
                <a:latin typeface="Times New Roman"/>
                <a:cs typeface="Times New Roman"/>
              </a:rPr>
              <a:t> </a:t>
            </a:r>
            <a:r>
              <a:rPr sz="1800" spc="125" dirty="0">
                <a:solidFill>
                  <a:srgbClr val="FFFFFF"/>
                </a:solidFill>
                <a:latin typeface="Times New Roman"/>
                <a:cs typeface="Times New Roman"/>
              </a:rPr>
              <a:t>on</a:t>
            </a:r>
            <a:r>
              <a:rPr sz="1800" spc="-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5" dirty="0">
                <a:solidFill>
                  <a:srgbClr val="FFFFFF"/>
                </a:solidFill>
                <a:latin typeface="Times New Roman"/>
                <a:cs typeface="Times New Roman"/>
              </a:rPr>
              <a:t> </a:t>
            </a:r>
            <a:r>
              <a:rPr sz="1800" spc="70" dirty="0">
                <a:solidFill>
                  <a:srgbClr val="FFFFFF"/>
                </a:solidFill>
                <a:latin typeface="Times New Roman"/>
                <a:cs typeface="Times New Roman"/>
              </a:rPr>
              <a:t>stored</a:t>
            </a:r>
            <a:r>
              <a:rPr sz="1800"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5" dirty="0">
                <a:solidFill>
                  <a:srgbClr val="FFFFFF"/>
                </a:solidFill>
                <a:latin typeface="Times New Roman"/>
                <a:cs typeface="Times New Roman"/>
              </a:rPr>
              <a:t> </a:t>
            </a:r>
            <a:r>
              <a:rPr sz="1800" spc="80" dirty="0">
                <a:solidFill>
                  <a:srgbClr val="FFFFFF"/>
                </a:solidFill>
                <a:latin typeface="Times New Roman"/>
                <a:cs typeface="Times New Roman"/>
              </a:rPr>
              <a:t>HDFS  </a:t>
            </a:r>
            <a:r>
              <a:rPr sz="1800" spc="45" dirty="0">
                <a:solidFill>
                  <a:srgbClr val="FFFFFF"/>
                </a:solidFill>
                <a:latin typeface="Times New Roman"/>
                <a:cs typeface="Times New Roman"/>
              </a:rPr>
              <a:t>storage</a:t>
            </a:r>
            <a:r>
              <a:rPr sz="1800" spc="-85" dirty="0">
                <a:solidFill>
                  <a:srgbClr val="FFFFFF"/>
                </a:solidFill>
                <a:latin typeface="Times New Roman"/>
                <a:cs typeface="Times New Roman"/>
              </a:rPr>
              <a:t> </a:t>
            </a:r>
            <a:r>
              <a:rPr sz="1800" spc="55" dirty="0">
                <a:solidFill>
                  <a:srgbClr val="FFFFFF"/>
                </a:solidFill>
                <a:latin typeface="Times New Roman"/>
                <a:cs typeface="Times New Roman"/>
              </a:rPr>
              <a:t>pools</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8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85" dirty="0">
                <a:solidFill>
                  <a:srgbClr val="FFFFFF"/>
                </a:solidFill>
                <a:latin typeface="Times New Roman"/>
                <a:cs typeface="Times New Roman"/>
              </a:rPr>
              <a:t> </a:t>
            </a:r>
            <a:r>
              <a:rPr sz="1800" spc="45" dirty="0">
                <a:solidFill>
                  <a:srgbClr val="FFFFFF"/>
                </a:solidFill>
                <a:latin typeface="Times New Roman"/>
                <a:cs typeface="Times New Roman"/>
              </a:rPr>
              <a:t>pools.</a:t>
            </a:r>
            <a:endParaRPr sz="18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14</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493"/>
            <a:ext cx="4631690" cy="635635"/>
          </a:xfrm>
          <a:prstGeom prst="rect">
            <a:avLst/>
          </a:prstGeom>
        </p:spPr>
        <p:txBody>
          <a:bodyPr vert="horz" wrap="square" lIns="0" tIns="12700" rIns="0" bIns="0" rtlCol="0">
            <a:spAutoFit/>
          </a:bodyPr>
          <a:lstStyle/>
          <a:p>
            <a:pPr marL="12700">
              <a:lnSpc>
                <a:spcPct val="100000"/>
              </a:lnSpc>
              <a:spcBef>
                <a:spcPts val="100"/>
              </a:spcBef>
            </a:pPr>
            <a:r>
              <a:rPr sz="4000" spc="-60" dirty="0">
                <a:solidFill>
                  <a:srgbClr val="FFFFFF"/>
                </a:solidFill>
                <a:latin typeface="Times New Roman"/>
                <a:cs typeface="Times New Roman"/>
              </a:rPr>
              <a:t>Big </a:t>
            </a:r>
            <a:r>
              <a:rPr sz="4000" spc="165" dirty="0">
                <a:solidFill>
                  <a:srgbClr val="FFFFFF"/>
                </a:solidFill>
                <a:latin typeface="Times New Roman"/>
                <a:cs typeface="Times New Roman"/>
              </a:rPr>
              <a:t>Data </a:t>
            </a:r>
            <a:r>
              <a:rPr sz="4000" spc="175" dirty="0">
                <a:solidFill>
                  <a:srgbClr val="FFFFFF"/>
                </a:solidFill>
                <a:latin typeface="Times New Roman"/>
                <a:cs typeface="Times New Roman"/>
              </a:rPr>
              <a:t>Clusters</a:t>
            </a:r>
            <a:r>
              <a:rPr sz="4000" spc="-630" dirty="0">
                <a:solidFill>
                  <a:srgbClr val="FFFFFF"/>
                </a:solidFill>
                <a:latin typeface="Times New Roman"/>
                <a:cs typeface="Times New Roman"/>
              </a:rPr>
              <a:t> </a:t>
            </a:r>
            <a:r>
              <a:rPr sz="4000" spc="10" dirty="0">
                <a:solidFill>
                  <a:srgbClr val="FFFFFF"/>
                </a:solidFill>
                <a:latin typeface="Times New Roman"/>
                <a:cs typeface="Times New Roman"/>
              </a:rPr>
              <a:t>4-6</a:t>
            </a:r>
            <a:endParaRPr sz="4000">
              <a:latin typeface="Times New Roman"/>
              <a:cs typeface="Times New Roman"/>
            </a:endParaRPr>
          </a:p>
        </p:txBody>
      </p:sp>
      <p:sp>
        <p:nvSpPr>
          <p:cNvPr id="3" name="object 3"/>
          <p:cNvSpPr txBox="1"/>
          <p:nvPr/>
        </p:nvSpPr>
        <p:spPr>
          <a:xfrm>
            <a:off x="470916" y="1486915"/>
            <a:ext cx="2008505" cy="330200"/>
          </a:xfrm>
          <a:prstGeom prst="rect">
            <a:avLst/>
          </a:prstGeom>
        </p:spPr>
        <p:txBody>
          <a:bodyPr vert="horz" wrap="square" lIns="0" tIns="12065" rIns="0" bIns="0" rtlCol="0">
            <a:spAutoFit/>
          </a:bodyPr>
          <a:lstStyle/>
          <a:p>
            <a:pPr marL="12700">
              <a:lnSpc>
                <a:spcPct val="100000"/>
              </a:lnSpc>
              <a:spcBef>
                <a:spcPts val="95"/>
              </a:spcBef>
            </a:pPr>
            <a:r>
              <a:rPr sz="2000" b="1" spc="-15" dirty="0">
                <a:latin typeface="Times New Roman"/>
                <a:cs typeface="Times New Roman"/>
              </a:rPr>
              <a:t>Kubernetes</a:t>
            </a:r>
            <a:r>
              <a:rPr sz="2000" b="1" spc="-160" dirty="0">
                <a:latin typeface="Times New Roman"/>
                <a:cs typeface="Times New Roman"/>
              </a:rPr>
              <a:t> </a:t>
            </a:r>
            <a:r>
              <a:rPr sz="2000" b="1" spc="-25" dirty="0">
                <a:latin typeface="Times New Roman"/>
                <a:cs typeface="Times New Roman"/>
              </a:rPr>
              <a:t>Terms</a:t>
            </a:r>
            <a:endParaRPr sz="2000">
              <a:latin typeface="Times New Roman"/>
              <a:cs typeface="Times New Roman"/>
            </a:endParaRPr>
          </a:p>
        </p:txBody>
      </p:sp>
      <p:pic>
        <p:nvPicPr>
          <p:cNvPr id="4" name="object 4"/>
          <p:cNvPicPr/>
          <p:nvPr/>
        </p:nvPicPr>
        <p:blipFill>
          <a:blip r:embed="rId3" cstate="print"/>
          <a:stretch>
            <a:fillRect/>
          </a:stretch>
        </p:blipFill>
        <p:spPr>
          <a:xfrm>
            <a:off x="140970" y="2335529"/>
            <a:ext cx="8545830" cy="2818638"/>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549775" cy="635635"/>
          </a:xfrm>
          <a:prstGeom prst="rect">
            <a:avLst/>
          </a:prstGeom>
        </p:spPr>
        <p:txBody>
          <a:bodyPr vert="horz" wrap="square" lIns="0" tIns="12700" rIns="0" bIns="0" rtlCol="0">
            <a:spAutoFit/>
          </a:bodyPr>
          <a:lstStyle/>
          <a:p>
            <a:pPr marL="12700">
              <a:lnSpc>
                <a:spcPct val="100000"/>
              </a:lnSpc>
              <a:spcBef>
                <a:spcPts val="100"/>
              </a:spcBef>
            </a:pPr>
            <a:r>
              <a:rPr spc="-60" dirty="0"/>
              <a:t>Big </a:t>
            </a:r>
            <a:r>
              <a:rPr spc="165" dirty="0"/>
              <a:t>Data </a:t>
            </a:r>
            <a:r>
              <a:rPr spc="175" dirty="0"/>
              <a:t>Clusters</a:t>
            </a:r>
            <a:r>
              <a:rPr spc="-635" dirty="0"/>
              <a:t> </a:t>
            </a:r>
            <a:r>
              <a:rPr spc="-204" dirty="0"/>
              <a:t>5-6</a:t>
            </a:r>
          </a:p>
        </p:txBody>
      </p:sp>
      <p:pic>
        <p:nvPicPr>
          <p:cNvPr id="3" name="object 3"/>
          <p:cNvPicPr/>
          <p:nvPr/>
        </p:nvPicPr>
        <p:blipFill>
          <a:blip r:embed="rId3" cstate="print"/>
          <a:stretch>
            <a:fillRect/>
          </a:stretch>
        </p:blipFill>
        <p:spPr>
          <a:xfrm>
            <a:off x="0" y="1171194"/>
            <a:ext cx="9143999" cy="4636770"/>
          </a:xfrm>
          <a:prstGeom prst="rect">
            <a:avLst/>
          </a:prstGeom>
        </p:spPr>
      </p:pic>
      <p:sp>
        <p:nvSpPr>
          <p:cNvPr id="4" name="object 4"/>
          <p:cNvSpPr txBox="1"/>
          <p:nvPr/>
        </p:nvSpPr>
        <p:spPr>
          <a:xfrm>
            <a:off x="3965194" y="6258305"/>
            <a:ext cx="2195830" cy="23876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Times New Roman"/>
                <a:cs typeface="Times New Roman"/>
              </a:rPr>
              <a:t>SQL</a:t>
            </a:r>
            <a:r>
              <a:rPr sz="1400" b="1" spc="-90" dirty="0">
                <a:latin typeface="Times New Roman"/>
                <a:cs typeface="Times New Roman"/>
              </a:rPr>
              <a:t> </a:t>
            </a:r>
            <a:r>
              <a:rPr sz="1400" b="1" spc="-20" dirty="0">
                <a:latin typeface="Times New Roman"/>
                <a:cs typeface="Times New Roman"/>
              </a:rPr>
              <a:t>Server</a:t>
            </a:r>
            <a:r>
              <a:rPr sz="1400" b="1" spc="-95" dirty="0">
                <a:latin typeface="Times New Roman"/>
                <a:cs typeface="Times New Roman"/>
              </a:rPr>
              <a:t> </a:t>
            </a:r>
            <a:r>
              <a:rPr sz="1400" b="1" spc="-25" dirty="0">
                <a:latin typeface="Times New Roman"/>
                <a:cs typeface="Times New Roman"/>
              </a:rPr>
              <a:t>Big</a:t>
            </a:r>
            <a:r>
              <a:rPr sz="1400" b="1" spc="-95" dirty="0">
                <a:latin typeface="Times New Roman"/>
                <a:cs typeface="Times New Roman"/>
              </a:rPr>
              <a:t> </a:t>
            </a:r>
            <a:r>
              <a:rPr sz="1400" b="1" spc="-10" dirty="0">
                <a:latin typeface="Times New Roman"/>
                <a:cs typeface="Times New Roman"/>
              </a:rPr>
              <a:t>Data</a:t>
            </a:r>
            <a:r>
              <a:rPr sz="1400" b="1" spc="-80" dirty="0">
                <a:latin typeface="Times New Roman"/>
                <a:cs typeface="Times New Roman"/>
              </a:rPr>
              <a:t> </a:t>
            </a:r>
            <a:r>
              <a:rPr sz="1400" b="1" spc="5" dirty="0">
                <a:latin typeface="Times New Roman"/>
                <a:cs typeface="Times New Roman"/>
              </a:rPr>
              <a:t>Cluster</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16</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28194"/>
            <a:ext cx="4629150" cy="635635"/>
          </a:xfrm>
          <a:prstGeom prst="rect">
            <a:avLst/>
          </a:prstGeom>
        </p:spPr>
        <p:txBody>
          <a:bodyPr vert="horz" wrap="square" lIns="0" tIns="12700" rIns="0" bIns="0" rtlCol="0">
            <a:spAutoFit/>
          </a:bodyPr>
          <a:lstStyle/>
          <a:p>
            <a:pPr marL="12700">
              <a:lnSpc>
                <a:spcPct val="100000"/>
              </a:lnSpc>
              <a:spcBef>
                <a:spcPts val="100"/>
              </a:spcBef>
            </a:pPr>
            <a:r>
              <a:rPr spc="-60" dirty="0"/>
              <a:t>Big </a:t>
            </a:r>
            <a:r>
              <a:rPr spc="165" dirty="0"/>
              <a:t>Data </a:t>
            </a:r>
            <a:r>
              <a:rPr spc="175" dirty="0"/>
              <a:t>Clusters</a:t>
            </a:r>
            <a:r>
              <a:rPr spc="-625" dirty="0"/>
              <a:t> </a:t>
            </a:r>
            <a:r>
              <a:rPr dirty="0"/>
              <a:t>6-6</a:t>
            </a:r>
          </a:p>
        </p:txBody>
      </p:sp>
      <p:pic>
        <p:nvPicPr>
          <p:cNvPr id="3" name="object 3"/>
          <p:cNvPicPr/>
          <p:nvPr/>
        </p:nvPicPr>
        <p:blipFill>
          <a:blip r:embed="rId3" cstate="print"/>
          <a:stretch>
            <a:fillRect/>
          </a:stretch>
        </p:blipFill>
        <p:spPr>
          <a:xfrm>
            <a:off x="278129" y="1298447"/>
            <a:ext cx="8644128" cy="4445508"/>
          </a:xfrm>
          <a:prstGeom prst="rect">
            <a:avLst/>
          </a:prstGeom>
        </p:spPr>
      </p:pic>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17</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 y="1778"/>
            <a:ext cx="6289040" cy="635635"/>
          </a:xfrm>
          <a:prstGeom prst="rect">
            <a:avLst/>
          </a:prstGeom>
        </p:spPr>
        <p:txBody>
          <a:bodyPr vert="horz" wrap="square" lIns="0" tIns="12700" rIns="0" bIns="0" rtlCol="0">
            <a:spAutoFit/>
          </a:bodyPr>
          <a:lstStyle/>
          <a:p>
            <a:pPr marL="12700">
              <a:lnSpc>
                <a:spcPct val="100000"/>
              </a:lnSpc>
              <a:spcBef>
                <a:spcPts val="100"/>
              </a:spcBef>
            </a:pPr>
            <a:r>
              <a:rPr spc="145" dirty="0"/>
              <a:t>JSON</a:t>
            </a:r>
            <a:r>
              <a:rPr spc="-160" dirty="0"/>
              <a:t> </a:t>
            </a:r>
            <a:r>
              <a:rPr spc="160" dirty="0"/>
              <a:t>data</a:t>
            </a:r>
            <a:r>
              <a:rPr spc="-165" dirty="0"/>
              <a:t> </a:t>
            </a:r>
            <a:r>
              <a:rPr spc="195" dirty="0"/>
              <a:t>in</a:t>
            </a:r>
            <a:r>
              <a:rPr spc="-155" dirty="0"/>
              <a:t> </a:t>
            </a:r>
            <a:r>
              <a:rPr spc="200" dirty="0"/>
              <a:t>SQL</a:t>
            </a:r>
            <a:r>
              <a:rPr spc="-165" dirty="0"/>
              <a:t> </a:t>
            </a:r>
            <a:r>
              <a:rPr spc="125" dirty="0"/>
              <a:t>Server</a:t>
            </a:r>
            <a:r>
              <a:rPr spc="-175" dirty="0"/>
              <a:t> </a:t>
            </a:r>
            <a:r>
              <a:rPr spc="-200" dirty="0"/>
              <a:t>1-4</a:t>
            </a:r>
          </a:p>
        </p:txBody>
      </p:sp>
      <p:sp>
        <p:nvSpPr>
          <p:cNvPr id="3" name="object 3"/>
          <p:cNvSpPr/>
          <p:nvPr/>
        </p:nvSpPr>
        <p:spPr>
          <a:xfrm>
            <a:off x="327660" y="940307"/>
            <a:ext cx="8488680" cy="1986280"/>
          </a:xfrm>
          <a:custGeom>
            <a:avLst/>
            <a:gdLst/>
            <a:ahLst/>
            <a:cxnLst/>
            <a:rect l="l" t="t" r="r" b="b"/>
            <a:pathLst>
              <a:path w="8488680" h="1986280">
                <a:moveTo>
                  <a:pt x="8488680" y="330962"/>
                </a:moveTo>
                <a:lnTo>
                  <a:pt x="8485086" y="282067"/>
                </a:lnTo>
                <a:lnTo>
                  <a:pt x="8474659" y="235394"/>
                </a:lnTo>
                <a:lnTo>
                  <a:pt x="8457908" y="191452"/>
                </a:lnTo>
                <a:lnTo>
                  <a:pt x="8435340" y="150774"/>
                </a:lnTo>
                <a:lnTo>
                  <a:pt x="8407489" y="113842"/>
                </a:lnTo>
                <a:lnTo>
                  <a:pt x="8374837" y="81191"/>
                </a:lnTo>
                <a:lnTo>
                  <a:pt x="8337905" y="53340"/>
                </a:lnTo>
                <a:lnTo>
                  <a:pt x="8297227" y="30772"/>
                </a:lnTo>
                <a:lnTo>
                  <a:pt x="8253285" y="14020"/>
                </a:lnTo>
                <a:lnTo>
                  <a:pt x="8206613" y="3594"/>
                </a:lnTo>
                <a:lnTo>
                  <a:pt x="8157718" y="0"/>
                </a:lnTo>
                <a:lnTo>
                  <a:pt x="330974" y="0"/>
                </a:lnTo>
                <a:lnTo>
                  <a:pt x="282054" y="3594"/>
                </a:lnTo>
                <a:lnTo>
                  <a:pt x="235381" y="14020"/>
                </a:lnTo>
                <a:lnTo>
                  <a:pt x="191439" y="30772"/>
                </a:lnTo>
                <a:lnTo>
                  <a:pt x="150749" y="53340"/>
                </a:lnTo>
                <a:lnTo>
                  <a:pt x="113830" y="81191"/>
                </a:lnTo>
                <a:lnTo>
                  <a:pt x="81178" y="113842"/>
                </a:lnTo>
                <a:lnTo>
                  <a:pt x="53314" y="150774"/>
                </a:lnTo>
                <a:lnTo>
                  <a:pt x="30759" y="191452"/>
                </a:lnTo>
                <a:lnTo>
                  <a:pt x="14008" y="235394"/>
                </a:lnTo>
                <a:lnTo>
                  <a:pt x="3581" y="282067"/>
                </a:lnTo>
                <a:lnTo>
                  <a:pt x="0" y="330962"/>
                </a:lnTo>
                <a:lnTo>
                  <a:pt x="0" y="1654810"/>
                </a:lnTo>
                <a:lnTo>
                  <a:pt x="3581" y="1703717"/>
                </a:lnTo>
                <a:lnTo>
                  <a:pt x="14008" y="1750390"/>
                </a:lnTo>
                <a:lnTo>
                  <a:pt x="30759" y="1794332"/>
                </a:lnTo>
                <a:lnTo>
                  <a:pt x="53314" y="1835010"/>
                </a:lnTo>
                <a:lnTo>
                  <a:pt x="81178" y="1871941"/>
                </a:lnTo>
                <a:lnTo>
                  <a:pt x="113830" y="1904593"/>
                </a:lnTo>
                <a:lnTo>
                  <a:pt x="150749" y="1932444"/>
                </a:lnTo>
                <a:lnTo>
                  <a:pt x="191439" y="1955012"/>
                </a:lnTo>
                <a:lnTo>
                  <a:pt x="235381" y="1971763"/>
                </a:lnTo>
                <a:lnTo>
                  <a:pt x="282054" y="1982190"/>
                </a:lnTo>
                <a:lnTo>
                  <a:pt x="330974" y="1985772"/>
                </a:lnTo>
                <a:lnTo>
                  <a:pt x="8157718" y="1985772"/>
                </a:lnTo>
                <a:lnTo>
                  <a:pt x="8206613" y="1982190"/>
                </a:lnTo>
                <a:lnTo>
                  <a:pt x="8253285" y="1971763"/>
                </a:lnTo>
                <a:lnTo>
                  <a:pt x="8297227" y="1955012"/>
                </a:lnTo>
                <a:lnTo>
                  <a:pt x="8337905" y="1932444"/>
                </a:lnTo>
                <a:lnTo>
                  <a:pt x="8374837" y="1904593"/>
                </a:lnTo>
                <a:lnTo>
                  <a:pt x="8407489" y="1871941"/>
                </a:lnTo>
                <a:lnTo>
                  <a:pt x="8435340" y="1835010"/>
                </a:lnTo>
                <a:lnTo>
                  <a:pt x="8457908" y="1794332"/>
                </a:lnTo>
                <a:lnTo>
                  <a:pt x="8474659" y="1750390"/>
                </a:lnTo>
                <a:lnTo>
                  <a:pt x="8485086" y="1703717"/>
                </a:lnTo>
                <a:lnTo>
                  <a:pt x="8488680" y="1654810"/>
                </a:lnTo>
                <a:lnTo>
                  <a:pt x="8488680" y="330962"/>
                </a:lnTo>
                <a:close/>
              </a:path>
            </a:pathLst>
          </a:custGeom>
          <a:solidFill>
            <a:srgbClr val="9BBA58"/>
          </a:solidFill>
        </p:spPr>
        <p:txBody>
          <a:bodyPr wrap="square" lIns="0" tIns="0" rIns="0" bIns="0" rtlCol="0"/>
          <a:lstStyle/>
          <a:p>
            <a:endParaRPr/>
          </a:p>
        </p:txBody>
      </p:sp>
      <p:sp>
        <p:nvSpPr>
          <p:cNvPr id="4" name="object 4"/>
          <p:cNvSpPr txBox="1"/>
          <p:nvPr/>
        </p:nvSpPr>
        <p:spPr>
          <a:xfrm>
            <a:off x="406145" y="1048512"/>
            <a:ext cx="8283575" cy="3670935"/>
          </a:xfrm>
          <a:prstGeom prst="rect">
            <a:avLst/>
          </a:prstGeom>
        </p:spPr>
        <p:txBody>
          <a:bodyPr vert="horz" wrap="square" lIns="0" tIns="46990" rIns="0" bIns="0" rtlCol="0">
            <a:spAutoFit/>
          </a:bodyPr>
          <a:lstStyle/>
          <a:p>
            <a:pPr marL="607060" marR="207645" indent="-343535">
              <a:lnSpc>
                <a:spcPts val="2160"/>
              </a:lnSpc>
              <a:spcBef>
                <a:spcPts val="370"/>
              </a:spcBef>
              <a:buFont typeface="Wingdings"/>
              <a:buChar char=""/>
              <a:tabLst>
                <a:tab pos="606425" algn="l"/>
                <a:tab pos="607060" algn="l"/>
              </a:tabLst>
            </a:pPr>
            <a:r>
              <a:rPr sz="2000" spc="65" dirty="0">
                <a:solidFill>
                  <a:srgbClr val="FFFFFF"/>
                </a:solidFill>
                <a:latin typeface="Times New Roman"/>
                <a:cs typeface="Times New Roman"/>
              </a:rPr>
              <a:t>JSON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textual data </a:t>
            </a:r>
            <a:r>
              <a:rPr sz="2000" spc="75" dirty="0">
                <a:solidFill>
                  <a:srgbClr val="FFFFFF"/>
                </a:solidFill>
                <a:latin typeface="Times New Roman"/>
                <a:cs typeface="Times New Roman"/>
              </a:rPr>
              <a:t>format </a:t>
            </a:r>
            <a:r>
              <a:rPr sz="2000" spc="114" dirty="0">
                <a:solidFill>
                  <a:srgbClr val="FFFFFF"/>
                </a:solidFill>
                <a:latin typeface="Times New Roman"/>
                <a:cs typeface="Times New Roman"/>
              </a:rPr>
              <a:t>that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 </a:t>
            </a:r>
            <a:r>
              <a:rPr sz="2000" spc="65" dirty="0">
                <a:solidFill>
                  <a:srgbClr val="FFFFFF"/>
                </a:solidFill>
                <a:latin typeface="Times New Roman"/>
                <a:cs typeface="Times New Roman"/>
              </a:rPr>
              <a:t>for exchanging </a:t>
            </a:r>
            <a:r>
              <a:rPr sz="2000" spc="80" dirty="0">
                <a:solidFill>
                  <a:srgbClr val="FFFFFF"/>
                </a:solidFill>
                <a:latin typeface="Times New Roman"/>
                <a:cs typeface="Times New Roman"/>
              </a:rPr>
              <a:t>data </a:t>
            </a:r>
            <a:r>
              <a:rPr sz="2000" spc="95" dirty="0">
                <a:solidFill>
                  <a:srgbClr val="FFFFFF"/>
                </a:solidFill>
                <a:latin typeface="Times New Roman"/>
                <a:cs typeface="Times New Roman"/>
              </a:rPr>
              <a:t>in  </a:t>
            </a:r>
            <a:r>
              <a:rPr sz="2000" spc="100" dirty="0">
                <a:solidFill>
                  <a:srgbClr val="FFFFFF"/>
                </a:solidFill>
                <a:latin typeface="Times New Roman"/>
                <a:cs typeface="Times New Roman"/>
              </a:rPr>
              <a:t>modern</a:t>
            </a:r>
            <a:r>
              <a:rPr sz="2000" spc="-65" dirty="0">
                <a:solidFill>
                  <a:srgbClr val="FFFFFF"/>
                </a:solidFill>
                <a:latin typeface="Times New Roman"/>
                <a:cs typeface="Times New Roman"/>
              </a:rPr>
              <a:t> </a:t>
            </a:r>
            <a:r>
              <a:rPr sz="2000" spc="155" dirty="0">
                <a:solidFill>
                  <a:srgbClr val="FFFFFF"/>
                </a:solidFill>
                <a:latin typeface="Times New Roman"/>
                <a:cs typeface="Times New Roman"/>
              </a:rPr>
              <a:t>Web</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Mobile</a:t>
            </a:r>
            <a:r>
              <a:rPr sz="2000" spc="-60" dirty="0">
                <a:solidFill>
                  <a:srgbClr val="FFFFFF"/>
                </a:solidFill>
                <a:latin typeface="Times New Roman"/>
                <a:cs typeface="Times New Roman"/>
              </a:rPr>
              <a:t> </a:t>
            </a:r>
            <a:r>
              <a:rPr sz="2000" spc="55" dirty="0">
                <a:solidFill>
                  <a:srgbClr val="FFFFFF"/>
                </a:solidFill>
                <a:latin typeface="Times New Roman"/>
                <a:cs typeface="Times New Roman"/>
              </a:rPr>
              <a:t>applications.</a:t>
            </a:r>
            <a:endParaRPr sz="2000">
              <a:latin typeface="Times New Roman"/>
              <a:cs typeface="Times New Roman"/>
            </a:endParaRPr>
          </a:p>
          <a:p>
            <a:pPr marL="607060" marR="207645" indent="-343535">
              <a:lnSpc>
                <a:spcPts val="2160"/>
              </a:lnSpc>
              <a:buFont typeface="Wingdings"/>
              <a:buChar char=""/>
              <a:tabLst>
                <a:tab pos="606425" algn="l"/>
                <a:tab pos="607060" algn="l"/>
              </a:tabLst>
            </a:pPr>
            <a:r>
              <a:rPr sz="2000" spc="65" dirty="0">
                <a:solidFill>
                  <a:srgbClr val="FFFFFF"/>
                </a:solidFill>
                <a:latin typeface="Times New Roman"/>
                <a:cs typeface="Times New Roman"/>
              </a:rPr>
              <a:t>JSON </a:t>
            </a:r>
            <a:r>
              <a:rPr sz="2000" spc="5" dirty="0">
                <a:solidFill>
                  <a:srgbClr val="FFFFFF"/>
                </a:solidFill>
                <a:latin typeface="Times New Roman"/>
                <a:cs typeface="Times New Roman"/>
              </a:rPr>
              <a:t>is </a:t>
            </a:r>
            <a:r>
              <a:rPr sz="2000" spc="35" dirty="0">
                <a:solidFill>
                  <a:srgbClr val="FFFFFF"/>
                </a:solidFill>
                <a:latin typeface="Times New Roman"/>
                <a:cs typeface="Times New Roman"/>
              </a:rPr>
              <a:t>also </a:t>
            </a:r>
            <a:r>
              <a:rPr sz="2000" spc="80" dirty="0">
                <a:solidFill>
                  <a:srgbClr val="FFFFFF"/>
                </a:solidFill>
                <a:latin typeface="Times New Roman"/>
                <a:cs typeface="Times New Roman"/>
              </a:rPr>
              <a:t>used </a:t>
            </a:r>
            <a:r>
              <a:rPr sz="2000" spc="110" dirty="0">
                <a:solidFill>
                  <a:srgbClr val="FFFFFF"/>
                </a:solidFill>
                <a:latin typeface="Times New Roman"/>
                <a:cs typeface="Times New Roman"/>
              </a:rPr>
              <a:t>to </a:t>
            </a:r>
            <a:r>
              <a:rPr sz="2000" spc="70" dirty="0">
                <a:solidFill>
                  <a:srgbClr val="FFFFFF"/>
                </a:solidFill>
                <a:latin typeface="Times New Roman"/>
                <a:cs typeface="Times New Roman"/>
              </a:rPr>
              <a:t>store </a:t>
            </a:r>
            <a:r>
              <a:rPr sz="2000" spc="100" dirty="0">
                <a:solidFill>
                  <a:srgbClr val="FFFFFF"/>
                </a:solidFill>
                <a:latin typeface="Times New Roman"/>
                <a:cs typeface="Times New Roman"/>
              </a:rPr>
              <a:t>unstructured </a:t>
            </a:r>
            <a:r>
              <a:rPr sz="2000" spc="80" dirty="0">
                <a:solidFill>
                  <a:srgbClr val="FFFFFF"/>
                </a:solidFill>
                <a:latin typeface="Times New Roman"/>
                <a:cs typeface="Times New Roman"/>
              </a:rPr>
              <a:t>data </a:t>
            </a:r>
            <a:r>
              <a:rPr sz="2000" spc="95" dirty="0">
                <a:solidFill>
                  <a:srgbClr val="FFFFFF"/>
                </a:solidFill>
                <a:latin typeface="Times New Roman"/>
                <a:cs typeface="Times New Roman"/>
              </a:rPr>
              <a:t>in </a:t>
            </a:r>
            <a:r>
              <a:rPr sz="2000" spc="20" dirty="0">
                <a:solidFill>
                  <a:srgbClr val="FFFFFF"/>
                </a:solidFill>
                <a:latin typeface="Times New Roman"/>
                <a:cs typeface="Times New Roman"/>
              </a:rPr>
              <a:t>log </a:t>
            </a:r>
            <a:r>
              <a:rPr sz="2000" spc="15" dirty="0">
                <a:solidFill>
                  <a:srgbClr val="FFFFFF"/>
                </a:solidFill>
                <a:latin typeface="Times New Roman"/>
                <a:cs typeface="Times New Roman"/>
              </a:rPr>
              <a:t>files </a:t>
            </a:r>
            <a:r>
              <a:rPr sz="2000" spc="85" dirty="0">
                <a:solidFill>
                  <a:srgbClr val="FFFFFF"/>
                </a:solidFill>
                <a:latin typeface="Times New Roman"/>
                <a:cs typeface="Times New Roman"/>
              </a:rPr>
              <a:t>or </a:t>
            </a:r>
            <a:r>
              <a:rPr sz="2000" spc="105" dirty="0">
                <a:solidFill>
                  <a:srgbClr val="FFFFFF"/>
                </a:solidFill>
                <a:latin typeface="Times New Roman"/>
                <a:cs typeface="Times New Roman"/>
              </a:rPr>
              <a:t>NoSQL  </a:t>
            </a:r>
            <a:r>
              <a:rPr sz="2000" spc="55" dirty="0">
                <a:solidFill>
                  <a:srgbClr val="FFFFFF"/>
                </a:solidFill>
                <a:latin typeface="Times New Roman"/>
                <a:cs typeface="Times New Roman"/>
              </a:rPr>
              <a:t>databases</a:t>
            </a:r>
            <a:r>
              <a:rPr sz="2000" spc="-55" dirty="0">
                <a:solidFill>
                  <a:srgbClr val="FFFFFF"/>
                </a:solidFill>
                <a:latin typeface="Times New Roman"/>
                <a:cs typeface="Times New Roman"/>
              </a:rPr>
              <a:t> </a:t>
            </a:r>
            <a:r>
              <a:rPr sz="2000" spc="85" dirty="0">
                <a:solidFill>
                  <a:srgbClr val="FFFFFF"/>
                </a:solidFill>
                <a:latin typeface="Times New Roman"/>
                <a:cs typeface="Times New Roman"/>
              </a:rPr>
              <a:t>such</a:t>
            </a:r>
            <a:r>
              <a:rPr sz="2000" spc="-8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Microsoft</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Azure</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Cosmos</a:t>
            </a:r>
            <a:r>
              <a:rPr sz="2000" spc="-60" dirty="0">
                <a:solidFill>
                  <a:srgbClr val="FFFFFF"/>
                </a:solidFill>
                <a:latin typeface="Times New Roman"/>
                <a:cs typeface="Times New Roman"/>
              </a:rPr>
              <a:t> </a:t>
            </a:r>
            <a:r>
              <a:rPr sz="2000" spc="20" dirty="0">
                <a:solidFill>
                  <a:srgbClr val="FFFFFF"/>
                </a:solidFill>
                <a:latin typeface="Times New Roman"/>
                <a:cs typeface="Times New Roman"/>
              </a:rPr>
              <a:t>DB.</a:t>
            </a:r>
            <a:endParaRPr sz="2000">
              <a:latin typeface="Times New Roman"/>
              <a:cs typeface="Times New Roman"/>
            </a:endParaRPr>
          </a:p>
          <a:p>
            <a:pPr marL="607060" marR="208915" indent="-343535">
              <a:lnSpc>
                <a:spcPts val="2160"/>
              </a:lnSpc>
              <a:buFont typeface="Wingdings"/>
              <a:buChar char=""/>
              <a:tabLst>
                <a:tab pos="606425" algn="l"/>
                <a:tab pos="607060" algn="l"/>
              </a:tabLst>
            </a:pPr>
            <a:r>
              <a:rPr sz="2000" spc="65" dirty="0">
                <a:solidFill>
                  <a:srgbClr val="FFFFFF"/>
                </a:solidFill>
                <a:latin typeface="Times New Roman"/>
                <a:cs typeface="Times New Roman"/>
              </a:rPr>
              <a:t>Many</a:t>
            </a:r>
            <a:r>
              <a:rPr sz="2000" spc="10" dirty="0">
                <a:solidFill>
                  <a:srgbClr val="FFFFFF"/>
                </a:solidFill>
                <a:latin typeface="Times New Roman"/>
                <a:cs typeface="Times New Roman"/>
              </a:rPr>
              <a:t> </a:t>
            </a:r>
            <a:r>
              <a:rPr sz="2000" spc="85" dirty="0">
                <a:solidFill>
                  <a:srgbClr val="FFFFFF"/>
                </a:solidFill>
                <a:latin typeface="Times New Roman"/>
                <a:cs typeface="Times New Roman"/>
              </a:rPr>
              <a:t>REST</a:t>
            </a:r>
            <a:r>
              <a:rPr sz="2000" spc="10" dirty="0">
                <a:solidFill>
                  <a:srgbClr val="FFFFFF"/>
                </a:solidFill>
                <a:latin typeface="Times New Roman"/>
                <a:cs typeface="Times New Roman"/>
              </a:rPr>
              <a:t> </a:t>
            </a:r>
            <a:r>
              <a:rPr sz="2000" spc="155" dirty="0">
                <a:solidFill>
                  <a:srgbClr val="FFFFFF"/>
                </a:solidFill>
                <a:latin typeface="Times New Roman"/>
                <a:cs typeface="Times New Roman"/>
              </a:rPr>
              <a:t>Web</a:t>
            </a:r>
            <a:r>
              <a:rPr sz="2000" spc="20" dirty="0">
                <a:solidFill>
                  <a:srgbClr val="FFFFFF"/>
                </a:solidFill>
                <a:latin typeface="Times New Roman"/>
                <a:cs typeface="Times New Roman"/>
              </a:rPr>
              <a:t> </a:t>
            </a:r>
            <a:r>
              <a:rPr sz="2000" spc="30" dirty="0">
                <a:solidFill>
                  <a:srgbClr val="FFFFFF"/>
                </a:solidFill>
                <a:latin typeface="Times New Roman"/>
                <a:cs typeface="Times New Roman"/>
              </a:rPr>
              <a:t>services</a:t>
            </a:r>
            <a:r>
              <a:rPr sz="2000" spc="20" dirty="0">
                <a:solidFill>
                  <a:srgbClr val="FFFFFF"/>
                </a:solidFill>
                <a:latin typeface="Times New Roman"/>
                <a:cs typeface="Times New Roman"/>
              </a:rPr>
              <a:t> </a:t>
            </a:r>
            <a:r>
              <a:rPr sz="2000" spc="110" dirty="0">
                <a:solidFill>
                  <a:srgbClr val="FFFFFF"/>
                </a:solidFill>
                <a:latin typeface="Times New Roman"/>
                <a:cs typeface="Times New Roman"/>
              </a:rPr>
              <a:t>return</a:t>
            </a:r>
            <a:r>
              <a:rPr sz="2000" spc="15" dirty="0">
                <a:solidFill>
                  <a:srgbClr val="FFFFFF"/>
                </a:solidFill>
                <a:latin typeface="Times New Roman"/>
                <a:cs typeface="Times New Roman"/>
              </a:rPr>
              <a:t> </a:t>
            </a:r>
            <a:r>
              <a:rPr sz="2000" spc="60" dirty="0">
                <a:solidFill>
                  <a:srgbClr val="FFFFFF"/>
                </a:solidFill>
                <a:latin typeface="Times New Roman"/>
                <a:cs typeface="Times New Roman"/>
              </a:rPr>
              <a:t>results</a:t>
            </a:r>
            <a:r>
              <a:rPr sz="2000" spc="1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1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10" dirty="0">
                <a:solidFill>
                  <a:srgbClr val="FFFFFF"/>
                </a:solidFill>
                <a:latin typeface="Times New Roman"/>
                <a:cs typeface="Times New Roman"/>
              </a:rPr>
              <a:t> </a:t>
            </a:r>
            <a:r>
              <a:rPr sz="2000" spc="80" dirty="0">
                <a:solidFill>
                  <a:srgbClr val="FFFFFF"/>
                </a:solidFill>
                <a:latin typeface="Times New Roman"/>
                <a:cs typeface="Times New Roman"/>
              </a:rPr>
              <a:t>formatted</a:t>
            </a:r>
            <a:r>
              <a:rPr sz="2000" spc="15"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dirty="0">
                <a:solidFill>
                  <a:srgbClr val="FFFFFF"/>
                </a:solidFill>
                <a:latin typeface="Times New Roman"/>
                <a:cs typeface="Times New Roman"/>
              </a:rPr>
              <a:t> </a:t>
            </a:r>
            <a:r>
              <a:rPr sz="2000" spc="65" dirty="0">
                <a:solidFill>
                  <a:srgbClr val="FFFFFF"/>
                </a:solidFill>
                <a:latin typeface="Times New Roman"/>
                <a:cs typeface="Times New Roman"/>
              </a:rPr>
              <a:t>JSON  </a:t>
            </a:r>
            <a:r>
              <a:rPr sz="2000" spc="95" dirty="0">
                <a:solidFill>
                  <a:srgbClr val="FFFFFF"/>
                </a:solidFill>
                <a:latin typeface="Times New Roman"/>
                <a:cs typeface="Times New Roman"/>
              </a:rPr>
              <a:t>text</a:t>
            </a:r>
            <a:r>
              <a:rPr sz="2000" spc="-55" dirty="0">
                <a:solidFill>
                  <a:srgbClr val="FFFFFF"/>
                </a:solidFill>
                <a:latin typeface="Times New Roman"/>
                <a:cs typeface="Times New Roman"/>
              </a:rPr>
              <a:t> </a:t>
            </a:r>
            <a:r>
              <a:rPr sz="2000" spc="85" dirty="0">
                <a:solidFill>
                  <a:srgbClr val="FFFFFF"/>
                </a:solidFill>
                <a:latin typeface="Times New Roman"/>
                <a:cs typeface="Times New Roman"/>
              </a:rPr>
              <a:t>or</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accept</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80" dirty="0">
                <a:solidFill>
                  <a:srgbClr val="FFFFFF"/>
                </a:solidFill>
                <a:latin typeface="Times New Roman"/>
                <a:cs typeface="Times New Roman"/>
              </a:rPr>
              <a:t>formatted</a:t>
            </a:r>
            <a:r>
              <a:rPr sz="2000" spc="-55"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JSON.</a:t>
            </a:r>
            <a:endParaRPr sz="2000">
              <a:latin typeface="Times New Roman"/>
              <a:cs typeface="Times New Roman"/>
            </a:endParaRPr>
          </a:p>
          <a:p>
            <a:pPr>
              <a:lnSpc>
                <a:spcPct val="100000"/>
              </a:lnSpc>
              <a:spcBef>
                <a:spcPts val="30"/>
              </a:spcBef>
            </a:pPr>
            <a:endParaRPr sz="2650">
              <a:latin typeface="Times New Roman"/>
              <a:cs typeface="Times New Roman"/>
            </a:endParaRPr>
          </a:p>
          <a:p>
            <a:pPr marL="12700">
              <a:lnSpc>
                <a:spcPct val="100000"/>
              </a:lnSpc>
              <a:spcBef>
                <a:spcPts val="5"/>
              </a:spcBef>
            </a:pPr>
            <a:r>
              <a:rPr sz="2400" spc="140" dirty="0">
                <a:latin typeface="Times New Roman"/>
                <a:cs typeface="Times New Roman"/>
              </a:rPr>
              <a:t>Through</a:t>
            </a:r>
            <a:r>
              <a:rPr sz="2400" spc="-75" dirty="0">
                <a:latin typeface="Times New Roman"/>
                <a:cs typeface="Times New Roman"/>
              </a:rPr>
              <a:t> </a:t>
            </a:r>
            <a:r>
              <a:rPr sz="2400" spc="120" dirty="0">
                <a:latin typeface="Times New Roman"/>
                <a:cs typeface="Times New Roman"/>
              </a:rPr>
              <a:t>SQL</a:t>
            </a:r>
            <a:r>
              <a:rPr sz="2400" spc="-95" dirty="0">
                <a:latin typeface="Times New Roman"/>
                <a:cs typeface="Times New Roman"/>
              </a:rPr>
              <a:t> </a:t>
            </a:r>
            <a:r>
              <a:rPr sz="2400" spc="75" dirty="0">
                <a:latin typeface="Times New Roman"/>
                <a:cs typeface="Times New Roman"/>
              </a:rPr>
              <a:t>Server</a:t>
            </a:r>
            <a:r>
              <a:rPr sz="2400" spc="-114" dirty="0">
                <a:latin typeface="Times New Roman"/>
                <a:cs typeface="Times New Roman"/>
              </a:rPr>
              <a:t> </a:t>
            </a:r>
            <a:r>
              <a:rPr sz="2400" spc="85" dirty="0">
                <a:latin typeface="Times New Roman"/>
                <a:cs typeface="Times New Roman"/>
              </a:rPr>
              <a:t>built-in</a:t>
            </a:r>
            <a:r>
              <a:rPr sz="2400" spc="-75" dirty="0">
                <a:latin typeface="Times New Roman"/>
                <a:cs typeface="Times New Roman"/>
              </a:rPr>
              <a:t> </a:t>
            </a:r>
            <a:r>
              <a:rPr sz="2400" spc="105" dirty="0">
                <a:latin typeface="Times New Roman"/>
                <a:cs typeface="Times New Roman"/>
              </a:rPr>
              <a:t>functions</a:t>
            </a:r>
            <a:r>
              <a:rPr sz="2400" spc="-90"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80" dirty="0">
                <a:latin typeface="Times New Roman"/>
                <a:cs typeface="Times New Roman"/>
              </a:rPr>
              <a:t>operators,</a:t>
            </a:r>
            <a:r>
              <a:rPr sz="2400" spc="-75" dirty="0">
                <a:latin typeface="Times New Roman"/>
                <a:cs typeface="Times New Roman"/>
              </a:rPr>
              <a:t> </a:t>
            </a:r>
            <a:r>
              <a:rPr sz="2400" spc="95" dirty="0">
                <a:latin typeface="Times New Roman"/>
                <a:cs typeface="Times New Roman"/>
              </a:rPr>
              <a:t>you</a:t>
            </a:r>
            <a:r>
              <a:rPr sz="2400" spc="-80" dirty="0">
                <a:latin typeface="Times New Roman"/>
                <a:cs typeface="Times New Roman"/>
              </a:rPr>
              <a:t> </a:t>
            </a:r>
            <a:r>
              <a:rPr sz="2400" spc="55" dirty="0">
                <a:latin typeface="Times New Roman"/>
                <a:cs typeface="Times New Roman"/>
              </a:rPr>
              <a:t>can:</a:t>
            </a:r>
            <a:endParaRPr sz="2400">
              <a:latin typeface="Times New Roman"/>
              <a:cs typeface="Times New Roman"/>
            </a:endParaRPr>
          </a:p>
          <a:p>
            <a:pPr marL="564515" indent="-286385">
              <a:lnSpc>
                <a:spcPct val="100000"/>
              </a:lnSpc>
              <a:spcBef>
                <a:spcPts val="870"/>
              </a:spcBef>
              <a:buFont typeface="Arial"/>
              <a:buChar char="•"/>
              <a:tabLst>
                <a:tab pos="564515" algn="l"/>
                <a:tab pos="565150" algn="l"/>
              </a:tabLst>
            </a:pPr>
            <a:r>
              <a:rPr sz="1800" spc="30" dirty="0">
                <a:latin typeface="Times New Roman"/>
                <a:cs typeface="Times New Roman"/>
              </a:rPr>
              <a:t>Parse</a:t>
            </a:r>
            <a:r>
              <a:rPr sz="1800" spc="-70" dirty="0">
                <a:latin typeface="Times New Roman"/>
                <a:cs typeface="Times New Roman"/>
              </a:rPr>
              <a:t> </a:t>
            </a:r>
            <a:r>
              <a:rPr sz="1800" spc="65" dirty="0">
                <a:latin typeface="Times New Roman"/>
                <a:cs typeface="Times New Roman"/>
              </a:rPr>
              <a:t>JSON</a:t>
            </a:r>
            <a:r>
              <a:rPr sz="1800" spc="-55" dirty="0">
                <a:latin typeface="Times New Roman"/>
                <a:cs typeface="Times New Roman"/>
              </a:rPr>
              <a:t> </a:t>
            </a:r>
            <a:r>
              <a:rPr sz="1800" spc="85" dirty="0">
                <a:latin typeface="Times New Roman"/>
                <a:cs typeface="Times New Roman"/>
              </a:rPr>
              <a:t>text</a:t>
            </a:r>
            <a:r>
              <a:rPr sz="1800" spc="-70" dirty="0">
                <a:latin typeface="Times New Roman"/>
                <a:cs typeface="Times New Roman"/>
              </a:rPr>
              <a:t> </a:t>
            </a:r>
            <a:r>
              <a:rPr sz="1800" spc="100" dirty="0">
                <a:latin typeface="Times New Roman"/>
                <a:cs typeface="Times New Roman"/>
              </a:rPr>
              <a:t>and</a:t>
            </a:r>
            <a:r>
              <a:rPr sz="1800" spc="-70" dirty="0">
                <a:latin typeface="Times New Roman"/>
                <a:cs typeface="Times New Roman"/>
              </a:rPr>
              <a:t> </a:t>
            </a:r>
            <a:r>
              <a:rPr sz="1800" spc="65" dirty="0">
                <a:latin typeface="Times New Roman"/>
                <a:cs typeface="Times New Roman"/>
              </a:rPr>
              <a:t>read</a:t>
            </a:r>
            <a:r>
              <a:rPr sz="1800" spc="-75" dirty="0">
                <a:latin typeface="Times New Roman"/>
                <a:cs typeface="Times New Roman"/>
              </a:rPr>
              <a:t> </a:t>
            </a:r>
            <a:r>
              <a:rPr sz="1800" spc="75" dirty="0">
                <a:latin typeface="Times New Roman"/>
                <a:cs typeface="Times New Roman"/>
              </a:rPr>
              <a:t>or</a:t>
            </a:r>
            <a:r>
              <a:rPr sz="1800" spc="-65" dirty="0">
                <a:latin typeface="Times New Roman"/>
                <a:cs typeface="Times New Roman"/>
              </a:rPr>
              <a:t> </a:t>
            </a:r>
            <a:r>
              <a:rPr sz="1800" spc="50" dirty="0">
                <a:latin typeface="Times New Roman"/>
                <a:cs typeface="Times New Roman"/>
              </a:rPr>
              <a:t>modify</a:t>
            </a:r>
            <a:r>
              <a:rPr sz="1800" spc="-55" dirty="0">
                <a:latin typeface="Times New Roman"/>
                <a:cs typeface="Times New Roman"/>
              </a:rPr>
              <a:t> </a:t>
            </a:r>
            <a:r>
              <a:rPr sz="1800" spc="40" dirty="0">
                <a:latin typeface="Times New Roman"/>
                <a:cs typeface="Times New Roman"/>
              </a:rPr>
              <a:t>values</a:t>
            </a:r>
            <a:endParaRPr sz="1800">
              <a:latin typeface="Times New Roman"/>
              <a:cs typeface="Times New Roman"/>
            </a:endParaRPr>
          </a:p>
          <a:p>
            <a:pPr marL="564515" indent="-286385">
              <a:lnSpc>
                <a:spcPct val="100000"/>
              </a:lnSpc>
              <a:buFont typeface="Arial"/>
              <a:buChar char="•"/>
              <a:tabLst>
                <a:tab pos="564515" algn="l"/>
                <a:tab pos="565150" algn="l"/>
              </a:tabLst>
            </a:pPr>
            <a:r>
              <a:rPr sz="1800" spc="75" dirty="0">
                <a:latin typeface="Times New Roman"/>
                <a:cs typeface="Times New Roman"/>
              </a:rPr>
              <a:t>Transform</a:t>
            </a:r>
            <a:r>
              <a:rPr sz="1800" spc="-70" dirty="0">
                <a:latin typeface="Times New Roman"/>
                <a:cs typeface="Times New Roman"/>
              </a:rPr>
              <a:t> </a:t>
            </a:r>
            <a:r>
              <a:rPr sz="1800" spc="35" dirty="0">
                <a:latin typeface="Times New Roman"/>
                <a:cs typeface="Times New Roman"/>
              </a:rPr>
              <a:t>arrays</a:t>
            </a:r>
            <a:r>
              <a:rPr sz="1800" spc="-70" dirty="0">
                <a:latin typeface="Times New Roman"/>
                <a:cs typeface="Times New Roman"/>
              </a:rPr>
              <a:t> </a:t>
            </a:r>
            <a:r>
              <a:rPr sz="1800" spc="50" dirty="0">
                <a:latin typeface="Times New Roman"/>
                <a:cs typeface="Times New Roman"/>
              </a:rPr>
              <a:t>of</a:t>
            </a:r>
            <a:r>
              <a:rPr sz="1800" spc="-55" dirty="0">
                <a:latin typeface="Times New Roman"/>
                <a:cs typeface="Times New Roman"/>
              </a:rPr>
              <a:t> </a:t>
            </a:r>
            <a:r>
              <a:rPr sz="1800" spc="65" dirty="0">
                <a:latin typeface="Times New Roman"/>
                <a:cs typeface="Times New Roman"/>
              </a:rPr>
              <a:t>JSON</a:t>
            </a:r>
            <a:r>
              <a:rPr sz="1800" spc="-55" dirty="0">
                <a:latin typeface="Times New Roman"/>
                <a:cs typeface="Times New Roman"/>
              </a:rPr>
              <a:t> </a:t>
            </a:r>
            <a:r>
              <a:rPr sz="1800" spc="50" dirty="0">
                <a:latin typeface="Times New Roman"/>
                <a:cs typeface="Times New Roman"/>
              </a:rPr>
              <a:t>objects</a:t>
            </a:r>
            <a:r>
              <a:rPr sz="1800" spc="-65" dirty="0">
                <a:latin typeface="Times New Roman"/>
                <a:cs typeface="Times New Roman"/>
              </a:rPr>
              <a:t> </a:t>
            </a:r>
            <a:r>
              <a:rPr sz="1800" spc="90" dirty="0">
                <a:latin typeface="Times New Roman"/>
                <a:cs typeface="Times New Roman"/>
              </a:rPr>
              <a:t>into</a:t>
            </a:r>
            <a:r>
              <a:rPr sz="1800" spc="-70" dirty="0">
                <a:latin typeface="Times New Roman"/>
                <a:cs typeface="Times New Roman"/>
              </a:rPr>
              <a:t> </a:t>
            </a:r>
            <a:r>
              <a:rPr sz="1800" spc="50" dirty="0">
                <a:latin typeface="Times New Roman"/>
                <a:cs typeface="Times New Roman"/>
              </a:rPr>
              <a:t>table</a:t>
            </a:r>
            <a:r>
              <a:rPr sz="1800" spc="-70" dirty="0">
                <a:latin typeface="Times New Roman"/>
                <a:cs typeface="Times New Roman"/>
              </a:rPr>
              <a:t> </a:t>
            </a:r>
            <a:r>
              <a:rPr sz="1800" spc="65" dirty="0">
                <a:latin typeface="Times New Roman"/>
                <a:cs typeface="Times New Roman"/>
              </a:rPr>
              <a:t>format</a:t>
            </a:r>
            <a:endParaRPr sz="1800">
              <a:latin typeface="Times New Roman"/>
              <a:cs typeface="Times New Roman"/>
            </a:endParaRPr>
          </a:p>
          <a:p>
            <a:pPr marL="564515" indent="-286385">
              <a:lnSpc>
                <a:spcPct val="100000"/>
              </a:lnSpc>
              <a:buFont typeface="Arial"/>
              <a:buChar char="•"/>
              <a:tabLst>
                <a:tab pos="564515" algn="l"/>
                <a:tab pos="565150" algn="l"/>
              </a:tabLst>
            </a:pPr>
            <a:r>
              <a:rPr sz="1800" spc="130" dirty="0">
                <a:latin typeface="Times New Roman"/>
                <a:cs typeface="Times New Roman"/>
              </a:rPr>
              <a:t>Run</a:t>
            </a:r>
            <a:r>
              <a:rPr sz="1800" spc="-70" dirty="0">
                <a:latin typeface="Times New Roman"/>
                <a:cs typeface="Times New Roman"/>
              </a:rPr>
              <a:t> </a:t>
            </a:r>
            <a:r>
              <a:rPr sz="1800" spc="60" dirty="0">
                <a:latin typeface="Times New Roman"/>
                <a:cs typeface="Times New Roman"/>
              </a:rPr>
              <a:t>any</a:t>
            </a:r>
            <a:r>
              <a:rPr sz="1800" spc="-65" dirty="0">
                <a:latin typeface="Times New Roman"/>
                <a:cs typeface="Times New Roman"/>
              </a:rPr>
              <a:t> </a:t>
            </a:r>
            <a:r>
              <a:rPr sz="1800" spc="70" dirty="0">
                <a:latin typeface="Times New Roman"/>
                <a:cs typeface="Times New Roman"/>
              </a:rPr>
              <a:t>Transact-SQL</a:t>
            </a:r>
            <a:r>
              <a:rPr sz="1800" spc="-75" dirty="0">
                <a:latin typeface="Times New Roman"/>
                <a:cs typeface="Times New Roman"/>
              </a:rPr>
              <a:t> </a:t>
            </a:r>
            <a:r>
              <a:rPr sz="1800" spc="70" dirty="0">
                <a:latin typeface="Times New Roman"/>
                <a:cs typeface="Times New Roman"/>
              </a:rPr>
              <a:t>query</a:t>
            </a:r>
            <a:r>
              <a:rPr sz="1800" spc="-75" dirty="0">
                <a:latin typeface="Times New Roman"/>
                <a:cs typeface="Times New Roman"/>
              </a:rPr>
              <a:t> </a:t>
            </a:r>
            <a:r>
              <a:rPr sz="1800" spc="120" dirty="0">
                <a:latin typeface="Times New Roman"/>
                <a:cs typeface="Times New Roman"/>
              </a:rPr>
              <a:t>on</a:t>
            </a:r>
            <a:r>
              <a:rPr sz="1800" spc="-65"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75" dirty="0">
                <a:latin typeface="Times New Roman"/>
                <a:cs typeface="Times New Roman"/>
              </a:rPr>
              <a:t>converted</a:t>
            </a:r>
            <a:r>
              <a:rPr sz="1800" spc="-80" dirty="0">
                <a:latin typeface="Times New Roman"/>
                <a:cs typeface="Times New Roman"/>
              </a:rPr>
              <a:t> </a:t>
            </a:r>
            <a:r>
              <a:rPr sz="1800" spc="65" dirty="0">
                <a:latin typeface="Times New Roman"/>
                <a:cs typeface="Times New Roman"/>
              </a:rPr>
              <a:t>JSON</a:t>
            </a:r>
            <a:r>
              <a:rPr sz="1800" spc="-70" dirty="0">
                <a:latin typeface="Times New Roman"/>
                <a:cs typeface="Times New Roman"/>
              </a:rPr>
              <a:t> </a:t>
            </a:r>
            <a:r>
              <a:rPr sz="1800" spc="50" dirty="0">
                <a:latin typeface="Times New Roman"/>
                <a:cs typeface="Times New Roman"/>
              </a:rPr>
              <a:t>objects</a:t>
            </a:r>
            <a:endParaRPr sz="1800">
              <a:latin typeface="Times New Roman"/>
              <a:cs typeface="Times New Roman"/>
            </a:endParaRPr>
          </a:p>
          <a:p>
            <a:pPr marL="564515" indent="-286385">
              <a:lnSpc>
                <a:spcPct val="100000"/>
              </a:lnSpc>
              <a:buFont typeface="Arial"/>
              <a:buChar char="•"/>
              <a:tabLst>
                <a:tab pos="564515" algn="l"/>
                <a:tab pos="565150" algn="l"/>
              </a:tabLst>
            </a:pPr>
            <a:r>
              <a:rPr sz="1800" spc="65" dirty="0">
                <a:latin typeface="Times New Roman"/>
                <a:cs typeface="Times New Roman"/>
              </a:rPr>
              <a:t>Format</a:t>
            </a:r>
            <a:r>
              <a:rPr sz="1800" spc="-70"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50" dirty="0">
                <a:latin typeface="Times New Roman"/>
                <a:cs typeface="Times New Roman"/>
              </a:rPr>
              <a:t>results</a:t>
            </a:r>
            <a:r>
              <a:rPr sz="1800" spc="-60" dirty="0">
                <a:latin typeface="Times New Roman"/>
                <a:cs typeface="Times New Roman"/>
              </a:rPr>
              <a:t> </a:t>
            </a:r>
            <a:r>
              <a:rPr sz="1800" spc="50" dirty="0">
                <a:latin typeface="Times New Roman"/>
                <a:cs typeface="Times New Roman"/>
              </a:rPr>
              <a:t>of</a:t>
            </a:r>
            <a:r>
              <a:rPr sz="1800" spc="-60" dirty="0">
                <a:latin typeface="Times New Roman"/>
                <a:cs typeface="Times New Roman"/>
              </a:rPr>
              <a:t> </a:t>
            </a:r>
            <a:r>
              <a:rPr sz="1800" spc="70" dirty="0">
                <a:latin typeface="Times New Roman"/>
                <a:cs typeface="Times New Roman"/>
              </a:rPr>
              <a:t>Transact-SQL</a:t>
            </a:r>
            <a:r>
              <a:rPr sz="1800" spc="-80" dirty="0">
                <a:latin typeface="Times New Roman"/>
                <a:cs typeface="Times New Roman"/>
              </a:rPr>
              <a:t> </a:t>
            </a:r>
            <a:r>
              <a:rPr sz="1800" spc="60" dirty="0">
                <a:latin typeface="Times New Roman"/>
                <a:cs typeface="Times New Roman"/>
              </a:rPr>
              <a:t>queries</a:t>
            </a:r>
            <a:r>
              <a:rPr sz="1800" spc="-70" dirty="0">
                <a:latin typeface="Times New Roman"/>
                <a:cs typeface="Times New Roman"/>
              </a:rPr>
              <a:t> </a:t>
            </a:r>
            <a:r>
              <a:rPr sz="1800" spc="85" dirty="0">
                <a:latin typeface="Times New Roman"/>
                <a:cs typeface="Times New Roman"/>
              </a:rPr>
              <a:t>in</a:t>
            </a:r>
            <a:r>
              <a:rPr sz="1800" spc="-60" dirty="0">
                <a:latin typeface="Times New Roman"/>
                <a:cs typeface="Times New Roman"/>
              </a:rPr>
              <a:t> </a:t>
            </a:r>
            <a:r>
              <a:rPr sz="1800" spc="65" dirty="0">
                <a:latin typeface="Times New Roman"/>
                <a:cs typeface="Times New Roman"/>
              </a:rPr>
              <a:t>JSON</a:t>
            </a:r>
            <a:r>
              <a:rPr sz="1800" spc="-50" dirty="0">
                <a:latin typeface="Times New Roman"/>
                <a:cs typeface="Times New Roman"/>
              </a:rPr>
              <a:t> </a:t>
            </a:r>
            <a:r>
              <a:rPr sz="1800" spc="65" dirty="0">
                <a:latin typeface="Times New Roman"/>
                <a:cs typeface="Times New Roman"/>
              </a:rPr>
              <a:t>format</a:t>
            </a:r>
            <a:endParaRPr sz="18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651"/>
            <a:ext cx="6353810" cy="635635"/>
          </a:xfrm>
          <a:prstGeom prst="rect">
            <a:avLst/>
          </a:prstGeom>
        </p:spPr>
        <p:txBody>
          <a:bodyPr vert="horz" wrap="square" lIns="0" tIns="12700" rIns="0" bIns="0" rtlCol="0">
            <a:spAutoFit/>
          </a:bodyPr>
          <a:lstStyle/>
          <a:p>
            <a:pPr marL="12700">
              <a:lnSpc>
                <a:spcPct val="100000"/>
              </a:lnSpc>
              <a:spcBef>
                <a:spcPts val="100"/>
              </a:spcBef>
            </a:pPr>
            <a:r>
              <a:rPr spc="145" dirty="0"/>
              <a:t>JSON</a:t>
            </a:r>
            <a:r>
              <a:rPr spc="-160" dirty="0"/>
              <a:t> </a:t>
            </a:r>
            <a:r>
              <a:rPr spc="160" dirty="0"/>
              <a:t>data</a:t>
            </a:r>
            <a:r>
              <a:rPr spc="-165" dirty="0"/>
              <a:t> </a:t>
            </a:r>
            <a:r>
              <a:rPr spc="195" dirty="0"/>
              <a:t>in</a:t>
            </a:r>
            <a:r>
              <a:rPr spc="-155" dirty="0"/>
              <a:t> </a:t>
            </a:r>
            <a:r>
              <a:rPr spc="200" dirty="0"/>
              <a:t>SQL</a:t>
            </a:r>
            <a:r>
              <a:rPr spc="-165" dirty="0"/>
              <a:t> </a:t>
            </a:r>
            <a:r>
              <a:rPr spc="125" dirty="0"/>
              <a:t>Server</a:t>
            </a:r>
            <a:r>
              <a:rPr spc="-170" dirty="0"/>
              <a:t> </a:t>
            </a:r>
            <a:r>
              <a:rPr spc="-30" dirty="0"/>
              <a:t>2-4</a:t>
            </a:r>
          </a:p>
        </p:txBody>
      </p:sp>
      <p:sp>
        <p:nvSpPr>
          <p:cNvPr id="3" name="object 3"/>
          <p:cNvSpPr/>
          <p:nvPr/>
        </p:nvSpPr>
        <p:spPr>
          <a:xfrm>
            <a:off x="327660" y="1372361"/>
            <a:ext cx="8488680" cy="1033780"/>
          </a:xfrm>
          <a:custGeom>
            <a:avLst/>
            <a:gdLst/>
            <a:ahLst/>
            <a:cxnLst/>
            <a:rect l="l" t="t" r="r" b="b"/>
            <a:pathLst>
              <a:path w="8488680" h="1033780">
                <a:moveTo>
                  <a:pt x="8488680" y="172212"/>
                </a:moveTo>
                <a:lnTo>
                  <a:pt x="8482520" y="126428"/>
                </a:lnTo>
                <a:lnTo>
                  <a:pt x="8465160" y="85293"/>
                </a:lnTo>
                <a:lnTo>
                  <a:pt x="8438236" y="50444"/>
                </a:lnTo>
                <a:lnTo>
                  <a:pt x="8403387" y="23520"/>
                </a:lnTo>
                <a:lnTo>
                  <a:pt x="8362251" y="6159"/>
                </a:lnTo>
                <a:lnTo>
                  <a:pt x="8316468" y="0"/>
                </a:lnTo>
                <a:lnTo>
                  <a:pt x="172212" y="0"/>
                </a:lnTo>
                <a:lnTo>
                  <a:pt x="126428" y="6159"/>
                </a:lnTo>
                <a:lnTo>
                  <a:pt x="85293" y="23520"/>
                </a:lnTo>
                <a:lnTo>
                  <a:pt x="50431" y="50444"/>
                </a:lnTo>
                <a:lnTo>
                  <a:pt x="23507" y="85293"/>
                </a:lnTo>
                <a:lnTo>
                  <a:pt x="6146" y="126428"/>
                </a:lnTo>
                <a:lnTo>
                  <a:pt x="0" y="172212"/>
                </a:lnTo>
                <a:lnTo>
                  <a:pt x="0" y="861060"/>
                </a:lnTo>
                <a:lnTo>
                  <a:pt x="6146" y="906856"/>
                </a:lnTo>
                <a:lnTo>
                  <a:pt x="23507" y="947991"/>
                </a:lnTo>
                <a:lnTo>
                  <a:pt x="50431" y="982840"/>
                </a:lnTo>
                <a:lnTo>
                  <a:pt x="85293" y="1009764"/>
                </a:lnTo>
                <a:lnTo>
                  <a:pt x="126428" y="1027125"/>
                </a:lnTo>
                <a:lnTo>
                  <a:pt x="172212" y="1033272"/>
                </a:lnTo>
                <a:lnTo>
                  <a:pt x="8316468" y="1033272"/>
                </a:lnTo>
                <a:lnTo>
                  <a:pt x="8362251" y="1027125"/>
                </a:lnTo>
                <a:lnTo>
                  <a:pt x="8403387" y="1009764"/>
                </a:lnTo>
                <a:lnTo>
                  <a:pt x="8438236" y="982840"/>
                </a:lnTo>
                <a:lnTo>
                  <a:pt x="8465160" y="947991"/>
                </a:lnTo>
                <a:lnTo>
                  <a:pt x="8482520" y="906856"/>
                </a:lnTo>
                <a:lnTo>
                  <a:pt x="8488680" y="861060"/>
                </a:lnTo>
                <a:lnTo>
                  <a:pt x="8488680" y="172212"/>
                </a:lnTo>
                <a:close/>
              </a:path>
            </a:pathLst>
          </a:custGeom>
          <a:solidFill>
            <a:srgbClr val="000000"/>
          </a:solidFill>
        </p:spPr>
        <p:txBody>
          <a:bodyPr wrap="square" lIns="0" tIns="0" rIns="0" bIns="0" rtlCol="0"/>
          <a:lstStyle/>
          <a:p>
            <a:endParaRPr/>
          </a:p>
        </p:txBody>
      </p:sp>
      <p:sp>
        <p:nvSpPr>
          <p:cNvPr id="4" name="object 4"/>
          <p:cNvSpPr txBox="1"/>
          <p:nvPr/>
        </p:nvSpPr>
        <p:spPr>
          <a:xfrm>
            <a:off x="406145" y="876045"/>
            <a:ext cx="7966709" cy="1395095"/>
          </a:xfrm>
          <a:prstGeom prst="rect">
            <a:avLst/>
          </a:prstGeom>
        </p:spPr>
        <p:txBody>
          <a:bodyPr vert="horz" wrap="square" lIns="0" tIns="12065" rIns="0" bIns="0" rtlCol="0">
            <a:spAutoFit/>
          </a:bodyPr>
          <a:lstStyle/>
          <a:p>
            <a:pPr marL="12700">
              <a:lnSpc>
                <a:spcPct val="100000"/>
              </a:lnSpc>
              <a:spcBef>
                <a:spcPts val="95"/>
              </a:spcBef>
            </a:pPr>
            <a:r>
              <a:rPr sz="2000" b="1" dirty="0">
                <a:latin typeface="Times New Roman"/>
                <a:cs typeface="Times New Roman"/>
              </a:rPr>
              <a:t>Modify </a:t>
            </a:r>
            <a:r>
              <a:rPr sz="2000" b="1" spc="-25" dirty="0">
                <a:latin typeface="Times New Roman"/>
                <a:cs typeface="Times New Roman"/>
              </a:rPr>
              <a:t>JSON</a:t>
            </a:r>
            <a:r>
              <a:rPr sz="2000" b="1" spc="-240" dirty="0">
                <a:latin typeface="Times New Roman"/>
                <a:cs typeface="Times New Roman"/>
              </a:rPr>
              <a:t> </a:t>
            </a:r>
            <a:r>
              <a:rPr sz="2000" b="1" spc="15" dirty="0">
                <a:latin typeface="Times New Roman"/>
                <a:cs typeface="Times New Roman"/>
              </a:rPr>
              <a:t>Values</a:t>
            </a:r>
            <a:endParaRPr sz="2000">
              <a:latin typeface="Times New Roman"/>
              <a:cs typeface="Times New Roman"/>
            </a:endParaRPr>
          </a:p>
          <a:p>
            <a:pPr>
              <a:lnSpc>
                <a:spcPct val="100000"/>
              </a:lnSpc>
            </a:pPr>
            <a:endParaRPr sz="2250">
              <a:latin typeface="Times New Roman"/>
              <a:cs typeface="Times New Roman"/>
            </a:endParaRPr>
          </a:p>
          <a:p>
            <a:pPr marL="494030" marR="5080" indent="-342900" algn="just">
              <a:lnSpc>
                <a:spcPts val="1939"/>
              </a:lnSpc>
              <a:buFont typeface="Wingdings"/>
              <a:buChar char=""/>
              <a:tabLst>
                <a:tab pos="494665" algn="l"/>
              </a:tabLst>
            </a:pPr>
            <a:r>
              <a:rPr sz="1800" spc="125" dirty="0">
                <a:solidFill>
                  <a:srgbClr val="FFFFFF"/>
                </a:solidFill>
                <a:latin typeface="Times New Roman"/>
                <a:cs typeface="Times New Roman"/>
              </a:rPr>
              <a:t>To </a:t>
            </a:r>
            <a:r>
              <a:rPr sz="1800" spc="50" dirty="0">
                <a:solidFill>
                  <a:srgbClr val="FFFFFF"/>
                </a:solidFill>
                <a:latin typeface="Times New Roman"/>
                <a:cs typeface="Times New Roman"/>
              </a:rPr>
              <a:t>modify </a:t>
            </a:r>
            <a:r>
              <a:rPr sz="1800" spc="65" dirty="0">
                <a:solidFill>
                  <a:srgbClr val="FFFFFF"/>
                </a:solidFill>
                <a:latin typeface="Times New Roman"/>
                <a:cs typeface="Times New Roman"/>
              </a:rPr>
              <a:t>parts </a:t>
            </a:r>
            <a:r>
              <a:rPr sz="1800" spc="50" dirty="0">
                <a:solidFill>
                  <a:srgbClr val="FFFFFF"/>
                </a:solidFill>
                <a:latin typeface="Times New Roman"/>
                <a:cs typeface="Times New Roman"/>
              </a:rPr>
              <a:t>of </a:t>
            </a:r>
            <a:r>
              <a:rPr sz="1800" spc="65" dirty="0">
                <a:solidFill>
                  <a:srgbClr val="FFFFFF"/>
                </a:solidFill>
                <a:latin typeface="Times New Roman"/>
                <a:cs typeface="Times New Roman"/>
              </a:rPr>
              <a:t>JSON </a:t>
            </a:r>
            <a:r>
              <a:rPr sz="1800" spc="70" dirty="0">
                <a:solidFill>
                  <a:srgbClr val="FFFFFF"/>
                </a:solidFill>
                <a:latin typeface="Times New Roman"/>
                <a:cs typeface="Times New Roman"/>
              </a:rPr>
              <a:t>text, </a:t>
            </a:r>
            <a:r>
              <a:rPr sz="1800" spc="10" dirty="0">
                <a:solidFill>
                  <a:srgbClr val="FFFFFF"/>
                </a:solidFill>
                <a:latin typeface="Times New Roman"/>
                <a:cs typeface="Times New Roman"/>
              </a:rPr>
              <a:t>JSON_MODIFY </a:t>
            </a:r>
            <a:r>
              <a:rPr sz="1800" spc="60" dirty="0">
                <a:solidFill>
                  <a:srgbClr val="FFFFFF"/>
                </a:solidFill>
                <a:latin typeface="Times New Roman"/>
                <a:cs typeface="Times New Roman"/>
              </a:rPr>
              <a:t>(Transact-SQL) </a:t>
            </a:r>
            <a:r>
              <a:rPr sz="1800" spc="85" dirty="0">
                <a:solidFill>
                  <a:srgbClr val="FFFFFF"/>
                </a:solidFill>
                <a:latin typeface="Times New Roman"/>
                <a:cs typeface="Times New Roman"/>
              </a:rPr>
              <a:t>function </a:t>
            </a:r>
            <a:r>
              <a:rPr sz="1800" spc="5" dirty="0">
                <a:solidFill>
                  <a:srgbClr val="FFFFFF"/>
                </a:solidFill>
                <a:latin typeface="Times New Roman"/>
                <a:cs typeface="Times New Roman"/>
              </a:rPr>
              <a:t>is  </a:t>
            </a:r>
            <a:r>
              <a:rPr sz="1800" spc="75" dirty="0">
                <a:solidFill>
                  <a:srgbClr val="FFFFFF"/>
                </a:solidFill>
                <a:latin typeface="Times New Roman"/>
                <a:cs typeface="Times New Roman"/>
              </a:rPr>
              <a:t>used </a:t>
            </a:r>
            <a:r>
              <a:rPr sz="1800" spc="100" dirty="0">
                <a:solidFill>
                  <a:srgbClr val="FFFFFF"/>
                </a:solidFill>
                <a:latin typeface="Times New Roman"/>
                <a:cs typeface="Times New Roman"/>
              </a:rPr>
              <a:t>to </a:t>
            </a:r>
            <a:r>
              <a:rPr sz="1800" spc="85" dirty="0">
                <a:solidFill>
                  <a:srgbClr val="FFFFFF"/>
                </a:solidFill>
                <a:latin typeface="Times New Roman"/>
                <a:cs typeface="Times New Roman"/>
              </a:rPr>
              <a:t>update </a:t>
            </a:r>
            <a:r>
              <a:rPr sz="1800" spc="100" dirty="0">
                <a:solidFill>
                  <a:srgbClr val="FFFFFF"/>
                </a:solidFill>
                <a:latin typeface="Times New Roman"/>
                <a:cs typeface="Times New Roman"/>
              </a:rPr>
              <a:t>the </a:t>
            </a:r>
            <a:r>
              <a:rPr sz="1800" spc="45" dirty="0">
                <a:solidFill>
                  <a:srgbClr val="FFFFFF"/>
                </a:solidFill>
                <a:latin typeface="Times New Roman"/>
                <a:cs typeface="Times New Roman"/>
              </a:rPr>
              <a:t>value </a:t>
            </a:r>
            <a:r>
              <a:rPr sz="1800" spc="50" dirty="0">
                <a:solidFill>
                  <a:srgbClr val="FFFFFF"/>
                </a:solidFill>
                <a:latin typeface="Times New Roman"/>
                <a:cs typeface="Times New Roman"/>
              </a:rPr>
              <a:t>of </a:t>
            </a:r>
            <a:r>
              <a:rPr sz="1800" spc="30" dirty="0">
                <a:solidFill>
                  <a:srgbClr val="FFFFFF"/>
                </a:solidFill>
                <a:latin typeface="Times New Roman"/>
                <a:cs typeface="Times New Roman"/>
              </a:rPr>
              <a:t>a </a:t>
            </a:r>
            <a:r>
              <a:rPr sz="1800" spc="70" dirty="0">
                <a:solidFill>
                  <a:srgbClr val="FFFFFF"/>
                </a:solidFill>
                <a:latin typeface="Times New Roman"/>
                <a:cs typeface="Times New Roman"/>
              </a:rPr>
              <a:t>property </a:t>
            </a:r>
            <a:r>
              <a:rPr sz="1800" spc="85" dirty="0">
                <a:solidFill>
                  <a:srgbClr val="FFFFFF"/>
                </a:solidFill>
                <a:latin typeface="Times New Roman"/>
                <a:cs typeface="Times New Roman"/>
              </a:rPr>
              <a:t>in </a:t>
            </a:r>
            <a:r>
              <a:rPr sz="1800" spc="30" dirty="0">
                <a:solidFill>
                  <a:srgbClr val="FFFFFF"/>
                </a:solidFill>
                <a:latin typeface="Times New Roman"/>
                <a:cs typeface="Times New Roman"/>
              </a:rPr>
              <a:t>a </a:t>
            </a:r>
            <a:r>
              <a:rPr sz="1800" spc="65" dirty="0">
                <a:solidFill>
                  <a:srgbClr val="FFFFFF"/>
                </a:solidFill>
                <a:latin typeface="Times New Roman"/>
                <a:cs typeface="Times New Roman"/>
              </a:rPr>
              <a:t>JSON </a:t>
            </a:r>
            <a:r>
              <a:rPr sz="1800" spc="55" dirty="0">
                <a:solidFill>
                  <a:srgbClr val="FFFFFF"/>
                </a:solidFill>
                <a:latin typeface="Times New Roman"/>
                <a:cs typeface="Times New Roman"/>
              </a:rPr>
              <a:t>string </a:t>
            </a:r>
            <a:r>
              <a:rPr sz="1800" spc="100" dirty="0">
                <a:solidFill>
                  <a:srgbClr val="FFFFFF"/>
                </a:solidFill>
                <a:latin typeface="Times New Roman"/>
                <a:cs typeface="Times New Roman"/>
              </a:rPr>
              <a:t>and </a:t>
            </a:r>
            <a:r>
              <a:rPr sz="1800" spc="95" dirty="0">
                <a:solidFill>
                  <a:srgbClr val="FFFFFF"/>
                </a:solidFill>
                <a:latin typeface="Times New Roman"/>
                <a:cs typeface="Times New Roman"/>
              </a:rPr>
              <a:t>return </a:t>
            </a:r>
            <a:r>
              <a:rPr sz="1800" spc="100" dirty="0">
                <a:solidFill>
                  <a:srgbClr val="FFFFFF"/>
                </a:solidFill>
                <a:latin typeface="Times New Roman"/>
                <a:cs typeface="Times New Roman"/>
              </a:rPr>
              <a:t>the  </a:t>
            </a:r>
            <a:r>
              <a:rPr sz="1800" spc="90" dirty="0">
                <a:solidFill>
                  <a:srgbClr val="FFFFFF"/>
                </a:solidFill>
                <a:latin typeface="Times New Roman"/>
                <a:cs typeface="Times New Roman"/>
              </a:rPr>
              <a:t>updated </a:t>
            </a:r>
            <a:r>
              <a:rPr sz="1800" spc="65" dirty="0">
                <a:solidFill>
                  <a:srgbClr val="FFFFFF"/>
                </a:solidFill>
                <a:latin typeface="Times New Roman"/>
                <a:cs typeface="Times New Roman"/>
              </a:rPr>
              <a:t>JSON</a:t>
            </a:r>
            <a:r>
              <a:rPr sz="1800" spc="-235" dirty="0">
                <a:solidFill>
                  <a:srgbClr val="FFFFFF"/>
                </a:solidFill>
                <a:latin typeface="Times New Roman"/>
                <a:cs typeface="Times New Roman"/>
              </a:rPr>
              <a:t> </a:t>
            </a:r>
            <a:r>
              <a:rPr sz="1800" spc="50" dirty="0">
                <a:solidFill>
                  <a:srgbClr val="FFFFFF"/>
                </a:solidFill>
                <a:latin typeface="Times New Roman"/>
                <a:cs typeface="Times New Roman"/>
              </a:rPr>
              <a:t>string.</a:t>
            </a:r>
            <a:endParaRPr sz="1800">
              <a:latin typeface="Times New Roman"/>
              <a:cs typeface="Times New Roman"/>
            </a:endParaRPr>
          </a:p>
        </p:txBody>
      </p:sp>
      <p:pic>
        <p:nvPicPr>
          <p:cNvPr id="5" name="object 5"/>
          <p:cNvPicPr/>
          <p:nvPr/>
        </p:nvPicPr>
        <p:blipFill>
          <a:blip r:embed="rId3" cstate="print"/>
          <a:stretch>
            <a:fillRect/>
          </a:stretch>
        </p:blipFill>
        <p:spPr>
          <a:xfrm>
            <a:off x="1316736" y="2609088"/>
            <a:ext cx="5233416" cy="412241"/>
          </a:xfrm>
          <a:prstGeom prst="rect">
            <a:avLst/>
          </a:prstGeom>
        </p:spPr>
      </p:pic>
      <p:sp>
        <p:nvSpPr>
          <p:cNvPr id="6" name="object 6"/>
          <p:cNvSpPr/>
          <p:nvPr/>
        </p:nvSpPr>
        <p:spPr>
          <a:xfrm>
            <a:off x="327660" y="3954017"/>
            <a:ext cx="8488680" cy="967105"/>
          </a:xfrm>
          <a:custGeom>
            <a:avLst/>
            <a:gdLst/>
            <a:ahLst/>
            <a:cxnLst/>
            <a:rect l="l" t="t" r="r" b="b"/>
            <a:pathLst>
              <a:path w="8488680" h="967104">
                <a:moveTo>
                  <a:pt x="8488680" y="161163"/>
                </a:moveTo>
                <a:lnTo>
                  <a:pt x="8482914" y="118313"/>
                </a:lnTo>
                <a:lnTo>
                  <a:pt x="8466671" y="79819"/>
                </a:lnTo>
                <a:lnTo>
                  <a:pt x="8441474" y="47205"/>
                </a:lnTo>
                <a:lnTo>
                  <a:pt x="8408860" y="22009"/>
                </a:lnTo>
                <a:lnTo>
                  <a:pt x="8370367" y="5765"/>
                </a:lnTo>
                <a:lnTo>
                  <a:pt x="8327517" y="0"/>
                </a:lnTo>
                <a:lnTo>
                  <a:pt x="161163" y="0"/>
                </a:lnTo>
                <a:lnTo>
                  <a:pt x="118313" y="5765"/>
                </a:lnTo>
                <a:lnTo>
                  <a:pt x="79819" y="22009"/>
                </a:lnTo>
                <a:lnTo>
                  <a:pt x="47205" y="47205"/>
                </a:lnTo>
                <a:lnTo>
                  <a:pt x="21996" y="79819"/>
                </a:lnTo>
                <a:lnTo>
                  <a:pt x="5753" y="118313"/>
                </a:lnTo>
                <a:lnTo>
                  <a:pt x="0" y="161163"/>
                </a:lnTo>
                <a:lnTo>
                  <a:pt x="0" y="805815"/>
                </a:lnTo>
                <a:lnTo>
                  <a:pt x="5753" y="848677"/>
                </a:lnTo>
                <a:lnTo>
                  <a:pt x="21996" y="887171"/>
                </a:lnTo>
                <a:lnTo>
                  <a:pt x="47205" y="919784"/>
                </a:lnTo>
                <a:lnTo>
                  <a:pt x="79819" y="944981"/>
                </a:lnTo>
                <a:lnTo>
                  <a:pt x="118313" y="961224"/>
                </a:lnTo>
                <a:lnTo>
                  <a:pt x="161163" y="966978"/>
                </a:lnTo>
                <a:lnTo>
                  <a:pt x="8327517" y="966978"/>
                </a:lnTo>
                <a:lnTo>
                  <a:pt x="8370367" y="961224"/>
                </a:lnTo>
                <a:lnTo>
                  <a:pt x="8408860" y="944981"/>
                </a:lnTo>
                <a:lnTo>
                  <a:pt x="8441474" y="919784"/>
                </a:lnTo>
                <a:lnTo>
                  <a:pt x="8466671" y="887171"/>
                </a:lnTo>
                <a:lnTo>
                  <a:pt x="8482914" y="848677"/>
                </a:lnTo>
                <a:lnTo>
                  <a:pt x="8488680" y="805815"/>
                </a:lnTo>
                <a:lnTo>
                  <a:pt x="8488680" y="161163"/>
                </a:lnTo>
                <a:close/>
              </a:path>
            </a:pathLst>
          </a:custGeom>
          <a:solidFill>
            <a:srgbClr val="1F487C"/>
          </a:solidFill>
        </p:spPr>
        <p:txBody>
          <a:bodyPr wrap="square" lIns="0" tIns="0" rIns="0" bIns="0" rtlCol="0"/>
          <a:lstStyle/>
          <a:p>
            <a:endParaRPr/>
          </a:p>
        </p:txBody>
      </p:sp>
      <p:sp>
        <p:nvSpPr>
          <p:cNvPr id="7" name="object 7"/>
          <p:cNvSpPr txBox="1"/>
          <p:nvPr/>
        </p:nvSpPr>
        <p:spPr>
          <a:xfrm>
            <a:off x="406145" y="3547871"/>
            <a:ext cx="7967980" cy="1146175"/>
          </a:xfrm>
          <a:prstGeom prst="rect">
            <a:avLst/>
          </a:prstGeom>
        </p:spPr>
        <p:txBody>
          <a:bodyPr vert="horz" wrap="square" lIns="0" tIns="12065" rIns="0" bIns="0" rtlCol="0">
            <a:spAutoFit/>
          </a:bodyPr>
          <a:lstStyle/>
          <a:p>
            <a:pPr marL="12700">
              <a:lnSpc>
                <a:spcPct val="100000"/>
              </a:lnSpc>
              <a:spcBef>
                <a:spcPts val="95"/>
              </a:spcBef>
            </a:pPr>
            <a:r>
              <a:rPr sz="2000" b="1" spc="-15" dirty="0">
                <a:latin typeface="Times New Roman"/>
                <a:cs typeface="Times New Roman"/>
              </a:rPr>
              <a:t>OPENJSON</a:t>
            </a:r>
            <a:r>
              <a:rPr sz="2000" b="1" spc="-135" dirty="0">
                <a:latin typeface="Times New Roman"/>
                <a:cs typeface="Times New Roman"/>
              </a:rPr>
              <a:t> </a:t>
            </a:r>
            <a:r>
              <a:rPr sz="2000" b="1" spc="55" dirty="0">
                <a:latin typeface="Times New Roman"/>
                <a:cs typeface="Times New Roman"/>
              </a:rPr>
              <a:t>to</a:t>
            </a:r>
            <a:r>
              <a:rPr sz="2000" b="1" spc="-95" dirty="0">
                <a:latin typeface="Times New Roman"/>
                <a:cs typeface="Times New Roman"/>
              </a:rPr>
              <a:t> </a:t>
            </a:r>
            <a:r>
              <a:rPr sz="2000" b="1" spc="25" dirty="0">
                <a:latin typeface="Times New Roman"/>
                <a:cs typeface="Times New Roman"/>
              </a:rPr>
              <a:t>Convert</a:t>
            </a:r>
            <a:r>
              <a:rPr sz="2000" b="1" spc="-105" dirty="0">
                <a:latin typeface="Times New Roman"/>
                <a:cs typeface="Times New Roman"/>
              </a:rPr>
              <a:t> </a:t>
            </a:r>
            <a:r>
              <a:rPr sz="2000" b="1" spc="-25" dirty="0">
                <a:latin typeface="Times New Roman"/>
                <a:cs typeface="Times New Roman"/>
              </a:rPr>
              <a:t>JSON</a:t>
            </a:r>
            <a:r>
              <a:rPr sz="2000" b="1" spc="-114" dirty="0">
                <a:latin typeface="Times New Roman"/>
                <a:cs typeface="Times New Roman"/>
              </a:rPr>
              <a:t> </a:t>
            </a:r>
            <a:r>
              <a:rPr sz="2000" b="1" spc="55" dirty="0">
                <a:latin typeface="Times New Roman"/>
                <a:cs typeface="Times New Roman"/>
              </a:rPr>
              <a:t>to</a:t>
            </a:r>
            <a:r>
              <a:rPr sz="2000" b="1" spc="-95" dirty="0">
                <a:latin typeface="Times New Roman"/>
                <a:cs typeface="Times New Roman"/>
              </a:rPr>
              <a:t> </a:t>
            </a:r>
            <a:r>
              <a:rPr sz="2000" b="1" dirty="0">
                <a:latin typeface="Times New Roman"/>
                <a:cs typeface="Times New Roman"/>
              </a:rPr>
              <a:t>rowset</a:t>
            </a:r>
            <a:endParaRPr sz="2000">
              <a:latin typeface="Times New Roman"/>
              <a:cs typeface="Times New Roman"/>
            </a:endParaRPr>
          </a:p>
          <a:p>
            <a:pPr>
              <a:lnSpc>
                <a:spcPct val="100000"/>
              </a:lnSpc>
              <a:spcBef>
                <a:spcPts val="40"/>
              </a:spcBef>
            </a:pPr>
            <a:endParaRPr sz="2200">
              <a:latin typeface="Times New Roman"/>
              <a:cs typeface="Times New Roman"/>
            </a:endParaRPr>
          </a:p>
          <a:p>
            <a:pPr marL="494030" marR="5080" indent="-342900">
              <a:lnSpc>
                <a:spcPts val="1939"/>
              </a:lnSpc>
              <a:buFont typeface="Wingdings"/>
              <a:buChar char=""/>
              <a:tabLst>
                <a:tab pos="494030" algn="l"/>
                <a:tab pos="494665" algn="l"/>
              </a:tabLst>
            </a:pPr>
            <a:r>
              <a:rPr sz="1800" spc="110" dirty="0">
                <a:solidFill>
                  <a:srgbClr val="FFFFFF"/>
                </a:solidFill>
                <a:latin typeface="Times New Roman"/>
                <a:cs typeface="Times New Roman"/>
              </a:rPr>
              <a:t>Custom </a:t>
            </a:r>
            <a:r>
              <a:rPr sz="1800" spc="70" dirty="0">
                <a:solidFill>
                  <a:srgbClr val="FFFFFF"/>
                </a:solidFill>
                <a:latin typeface="Times New Roman"/>
                <a:cs typeface="Times New Roman"/>
              </a:rPr>
              <a:t>query </a:t>
            </a:r>
            <a:r>
              <a:rPr sz="1800" spc="40" dirty="0">
                <a:solidFill>
                  <a:srgbClr val="FFFFFF"/>
                </a:solidFill>
                <a:latin typeface="Times New Roman"/>
                <a:cs typeface="Times New Roman"/>
              </a:rPr>
              <a:t>language </a:t>
            </a:r>
            <a:r>
              <a:rPr sz="1800" spc="5" dirty="0">
                <a:solidFill>
                  <a:srgbClr val="FFFFFF"/>
                </a:solidFill>
                <a:latin typeface="Times New Roman"/>
                <a:cs typeface="Times New Roman"/>
              </a:rPr>
              <a:t>is </a:t>
            </a:r>
            <a:r>
              <a:rPr sz="1800" spc="120" dirty="0">
                <a:solidFill>
                  <a:srgbClr val="FFFFFF"/>
                </a:solidFill>
                <a:latin typeface="Times New Roman"/>
                <a:cs typeface="Times New Roman"/>
              </a:rPr>
              <a:t>not </a:t>
            </a:r>
            <a:r>
              <a:rPr sz="1800" spc="70" dirty="0">
                <a:solidFill>
                  <a:srgbClr val="FFFFFF"/>
                </a:solidFill>
                <a:latin typeface="Times New Roman"/>
                <a:cs typeface="Times New Roman"/>
              </a:rPr>
              <a:t>required </a:t>
            </a:r>
            <a:r>
              <a:rPr sz="1800" spc="100" dirty="0">
                <a:solidFill>
                  <a:srgbClr val="FFFFFF"/>
                </a:solidFill>
                <a:latin typeface="Times New Roman"/>
                <a:cs typeface="Times New Roman"/>
              </a:rPr>
              <a:t>to </a:t>
            </a:r>
            <a:r>
              <a:rPr sz="1800" spc="70" dirty="0">
                <a:solidFill>
                  <a:srgbClr val="FFFFFF"/>
                </a:solidFill>
                <a:latin typeface="Times New Roman"/>
                <a:cs typeface="Times New Roman"/>
              </a:rPr>
              <a:t>query </a:t>
            </a:r>
            <a:r>
              <a:rPr sz="1800" spc="65" dirty="0">
                <a:solidFill>
                  <a:srgbClr val="FFFFFF"/>
                </a:solidFill>
                <a:latin typeface="Times New Roman"/>
                <a:cs typeface="Times New Roman"/>
              </a:rPr>
              <a:t>JSON </a:t>
            </a:r>
            <a:r>
              <a:rPr sz="1800" spc="85" dirty="0">
                <a:solidFill>
                  <a:srgbClr val="FFFFFF"/>
                </a:solidFill>
                <a:latin typeface="Times New Roman"/>
                <a:cs typeface="Times New Roman"/>
              </a:rPr>
              <a:t>in SQL </a:t>
            </a:r>
            <a:r>
              <a:rPr sz="1800" spc="45" dirty="0">
                <a:solidFill>
                  <a:srgbClr val="FFFFFF"/>
                </a:solidFill>
                <a:latin typeface="Times New Roman"/>
                <a:cs typeface="Times New Roman"/>
              </a:rPr>
              <a:t>Server. </a:t>
            </a:r>
            <a:r>
              <a:rPr sz="1800" spc="125" dirty="0">
                <a:solidFill>
                  <a:srgbClr val="FFFFFF"/>
                </a:solidFill>
                <a:latin typeface="Times New Roman"/>
                <a:cs typeface="Times New Roman"/>
              </a:rPr>
              <a:t>To  </a:t>
            </a:r>
            <a:r>
              <a:rPr sz="1800" spc="70" dirty="0">
                <a:solidFill>
                  <a:srgbClr val="FFFFFF"/>
                </a:solidFill>
                <a:latin typeface="Times New Roman"/>
                <a:cs typeface="Times New Roman"/>
              </a:rPr>
              <a:t>query</a:t>
            </a:r>
            <a:r>
              <a:rPr sz="1800" spc="-80" dirty="0">
                <a:solidFill>
                  <a:srgbClr val="FFFFFF"/>
                </a:solidFill>
                <a:latin typeface="Times New Roman"/>
                <a:cs typeface="Times New Roman"/>
              </a:rPr>
              <a:t> </a:t>
            </a:r>
            <a:r>
              <a:rPr sz="1800" spc="65" dirty="0">
                <a:solidFill>
                  <a:srgbClr val="FFFFFF"/>
                </a:solidFill>
                <a:latin typeface="Times New Roman"/>
                <a:cs typeface="Times New Roman"/>
              </a:rPr>
              <a:t>JSON</a:t>
            </a:r>
            <a:r>
              <a:rPr sz="1800" spc="-55" dirty="0">
                <a:solidFill>
                  <a:srgbClr val="FFFFFF"/>
                </a:solidFill>
                <a:latin typeface="Times New Roman"/>
                <a:cs typeface="Times New Roman"/>
              </a:rPr>
              <a:t> </a:t>
            </a:r>
            <a:r>
              <a:rPr sz="1800" spc="55" dirty="0">
                <a:solidFill>
                  <a:srgbClr val="FFFFFF"/>
                </a:solidFill>
                <a:latin typeface="Times New Roman"/>
                <a:cs typeface="Times New Roman"/>
              </a:rPr>
              <a:t>data,</a:t>
            </a:r>
            <a:r>
              <a:rPr sz="1800" spc="-80" dirty="0">
                <a:solidFill>
                  <a:srgbClr val="FFFFFF"/>
                </a:solidFill>
                <a:latin typeface="Times New Roman"/>
                <a:cs typeface="Times New Roman"/>
              </a:rPr>
              <a:t> </a:t>
            </a:r>
            <a:r>
              <a:rPr sz="1800" spc="80" dirty="0">
                <a:solidFill>
                  <a:srgbClr val="FFFFFF"/>
                </a:solidFill>
                <a:latin typeface="Times New Roman"/>
                <a:cs typeface="Times New Roman"/>
              </a:rPr>
              <a:t>standard</a:t>
            </a:r>
            <a:r>
              <a:rPr sz="1800" spc="-85" dirty="0">
                <a:solidFill>
                  <a:srgbClr val="FFFFFF"/>
                </a:solidFill>
                <a:latin typeface="Times New Roman"/>
                <a:cs typeface="Times New Roman"/>
              </a:rPr>
              <a:t> </a:t>
            </a:r>
            <a:r>
              <a:rPr sz="1800" spc="105" dirty="0">
                <a:solidFill>
                  <a:srgbClr val="FFFFFF"/>
                </a:solidFill>
                <a:latin typeface="Times New Roman"/>
                <a:cs typeface="Times New Roman"/>
              </a:rPr>
              <a:t>TSQL</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can</a:t>
            </a:r>
            <a:r>
              <a:rPr sz="1800" spc="-75" dirty="0">
                <a:solidFill>
                  <a:srgbClr val="FFFFFF"/>
                </a:solidFill>
                <a:latin typeface="Times New Roman"/>
                <a:cs typeface="Times New Roman"/>
              </a:rPr>
              <a:t> </a:t>
            </a:r>
            <a:r>
              <a:rPr sz="1800" spc="55" dirty="0">
                <a:solidFill>
                  <a:srgbClr val="FFFFFF"/>
                </a:solidFill>
                <a:latin typeface="Times New Roman"/>
                <a:cs typeface="Times New Roman"/>
              </a:rPr>
              <a:t>be</a:t>
            </a:r>
            <a:r>
              <a:rPr sz="1800" spc="-60" dirty="0">
                <a:solidFill>
                  <a:srgbClr val="FFFFFF"/>
                </a:solidFill>
                <a:latin typeface="Times New Roman"/>
                <a:cs typeface="Times New Roman"/>
              </a:rPr>
              <a:t> </a:t>
            </a:r>
            <a:r>
              <a:rPr sz="1800" spc="60" dirty="0">
                <a:solidFill>
                  <a:srgbClr val="FFFFFF"/>
                </a:solidFill>
                <a:latin typeface="Times New Roman"/>
                <a:cs typeface="Times New Roman"/>
              </a:rPr>
              <a:t>used.</a:t>
            </a:r>
            <a:endParaRPr sz="1800">
              <a:latin typeface="Times New Roman"/>
              <a:cs typeface="Times New Roman"/>
            </a:endParaRPr>
          </a:p>
        </p:txBody>
      </p:sp>
      <p:pic>
        <p:nvPicPr>
          <p:cNvPr id="8" name="object 8"/>
          <p:cNvPicPr/>
          <p:nvPr/>
        </p:nvPicPr>
        <p:blipFill>
          <a:blip r:embed="rId4" cstate="print"/>
          <a:stretch>
            <a:fillRect/>
          </a:stretch>
        </p:blipFill>
        <p:spPr>
          <a:xfrm>
            <a:off x="2229611" y="4950714"/>
            <a:ext cx="4684776" cy="1353312"/>
          </a:xfrm>
          <a:prstGeom prst="rect">
            <a:avLst/>
          </a:prstGeom>
        </p:spPr>
      </p:pic>
      <p:sp>
        <p:nvSpPr>
          <p:cNvPr id="9" name="object 9"/>
          <p:cNvSpPr txBox="1"/>
          <p:nvPr/>
        </p:nvSpPr>
        <p:spPr>
          <a:xfrm>
            <a:off x="3422141" y="6303264"/>
            <a:ext cx="218757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JSON Variable </a:t>
            </a:r>
            <a:r>
              <a:rPr sz="1400" b="1" spc="35" dirty="0">
                <a:latin typeface="Times New Roman"/>
                <a:cs typeface="Times New Roman"/>
              </a:rPr>
              <a:t>to</a:t>
            </a:r>
            <a:r>
              <a:rPr sz="1400" b="1" spc="-204" dirty="0">
                <a:latin typeface="Times New Roman"/>
                <a:cs typeface="Times New Roman"/>
              </a:rPr>
              <a:t> </a:t>
            </a:r>
            <a:r>
              <a:rPr sz="1400" b="1" spc="25" dirty="0">
                <a:latin typeface="Times New Roman"/>
                <a:cs typeface="Times New Roman"/>
              </a:rPr>
              <a:t>ROWSET</a:t>
            </a:r>
            <a:endParaRPr sz="14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19</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57377" y="938783"/>
            <a:ext cx="8645652" cy="1748027"/>
          </a:xfrm>
          <a:prstGeom prst="rect">
            <a:avLst/>
          </a:prstGeom>
        </p:spPr>
      </p:pic>
      <p:sp>
        <p:nvSpPr>
          <p:cNvPr id="3" name="object 3"/>
          <p:cNvSpPr txBox="1"/>
          <p:nvPr/>
        </p:nvSpPr>
        <p:spPr>
          <a:xfrm>
            <a:off x="497586" y="1024127"/>
            <a:ext cx="8289290" cy="1577340"/>
          </a:xfrm>
          <a:prstGeom prst="rect">
            <a:avLst/>
          </a:prstGeom>
        </p:spPr>
        <p:txBody>
          <a:bodyPr vert="horz" wrap="square" lIns="0" tIns="6985" rIns="0" bIns="0" rtlCol="0">
            <a:spAutoFit/>
          </a:bodyPr>
          <a:lstStyle/>
          <a:p>
            <a:pPr>
              <a:lnSpc>
                <a:spcPct val="100000"/>
              </a:lnSpc>
              <a:spcBef>
                <a:spcPts val="55"/>
              </a:spcBef>
            </a:pPr>
            <a:endParaRPr sz="2550">
              <a:latin typeface="Times New Roman"/>
              <a:cs typeface="Times New Roman"/>
            </a:endParaRPr>
          </a:p>
          <a:p>
            <a:pPr marL="419100" marR="67945" indent="-342900" algn="just">
              <a:lnSpc>
                <a:spcPct val="90000"/>
              </a:lnSpc>
              <a:buFont typeface="Wingdings"/>
              <a:buChar char=""/>
              <a:tabLst>
                <a:tab pos="419734" algn="l"/>
              </a:tabLst>
            </a:pPr>
            <a:r>
              <a:rPr sz="1800" spc="65" dirty="0">
                <a:solidFill>
                  <a:srgbClr val="FFFFFF"/>
                </a:solidFill>
                <a:latin typeface="Times New Roman"/>
                <a:cs typeface="Times New Roman"/>
              </a:rPr>
              <a:t>JSON </a:t>
            </a:r>
            <a:r>
              <a:rPr sz="1800" spc="80" dirty="0">
                <a:solidFill>
                  <a:srgbClr val="FFFFFF"/>
                </a:solidFill>
                <a:latin typeface="Times New Roman"/>
                <a:cs typeface="Times New Roman"/>
              </a:rPr>
              <a:t>documents </a:t>
            </a:r>
            <a:r>
              <a:rPr sz="1800" spc="30" dirty="0">
                <a:solidFill>
                  <a:srgbClr val="FFFFFF"/>
                </a:solidFill>
                <a:latin typeface="Times New Roman"/>
                <a:cs typeface="Times New Roman"/>
              </a:rPr>
              <a:t>may </a:t>
            </a:r>
            <a:r>
              <a:rPr sz="1800" spc="65" dirty="0">
                <a:solidFill>
                  <a:srgbClr val="FFFFFF"/>
                </a:solidFill>
                <a:latin typeface="Times New Roman"/>
                <a:cs typeface="Times New Roman"/>
              </a:rPr>
              <a:t>have </a:t>
            </a:r>
            <a:r>
              <a:rPr sz="1800" spc="60" dirty="0">
                <a:solidFill>
                  <a:srgbClr val="FFFFFF"/>
                </a:solidFill>
                <a:latin typeface="Times New Roman"/>
                <a:cs typeface="Times New Roman"/>
              </a:rPr>
              <a:t>sub-elements </a:t>
            </a:r>
            <a:r>
              <a:rPr sz="1800" spc="100" dirty="0">
                <a:solidFill>
                  <a:srgbClr val="FFFFFF"/>
                </a:solidFill>
                <a:latin typeface="Times New Roman"/>
                <a:cs typeface="Times New Roman"/>
              </a:rPr>
              <a:t>and </a:t>
            </a:r>
            <a:r>
              <a:rPr sz="1800" spc="50" dirty="0">
                <a:solidFill>
                  <a:srgbClr val="FFFFFF"/>
                </a:solidFill>
                <a:latin typeface="Times New Roman"/>
                <a:cs typeface="Times New Roman"/>
              </a:rPr>
              <a:t>hierarchical </a:t>
            </a:r>
            <a:r>
              <a:rPr sz="1800" spc="70" dirty="0">
                <a:solidFill>
                  <a:srgbClr val="FFFFFF"/>
                </a:solidFill>
                <a:latin typeface="Times New Roman"/>
                <a:cs typeface="Times New Roman"/>
              </a:rPr>
              <a:t>data </a:t>
            </a:r>
            <a:r>
              <a:rPr sz="1800" spc="105" dirty="0">
                <a:solidFill>
                  <a:srgbClr val="FFFFFF"/>
                </a:solidFill>
                <a:latin typeface="Times New Roman"/>
                <a:cs typeface="Times New Roman"/>
              </a:rPr>
              <a:t>that </a:t>
            </a:r>
            <a:r>
              <a:rPr sz="1800" spc="90" dirty="0">
                <a:solidFill>
                  <a:srgbClr val="FFFFFF"/>
                </a:solidFill>
                <a:latin typeface="Times New Roman"/>
                <a:cs typeface="Times New Roman"/>
              </a:rPr>
              <a:t>cannot </a:t>
            </a:r>
            <a:r>
              <a:rPr sz="1800" spc="55" dirty="0">
                <a:solidFill>
                  <a:srgbClr val="FFFFFF"/>
                </a:solidFill>
                <a:latin typeface="Times New Roman"/>
                <a:cs typeface="Times New Roman"/>
              </a:rPr>
              <a:t>be  </a:t>
            </a:r>
            <a:r>
              <a:rPr sz="1800" spc="45" dirty="0">
                <a:solidFill>
                  <a:srgbClr val="FFFFFF"/>
                </a:solidFill>
                <a:latin typeface="Times New Roman"/>
                <a:cs typeface="Times New Roman"/>
              </a:rPr>
              <a:t>directly </a:t>
            </a:r>
            <a:r>
              <a:rPr sz="1800" spc="75" dirty="0">
                <a:solidFill>
                  <a:srgbClr val="FFFFFF"/>
                </a:solidFill>
                <a:latin typeface="Times New Roman"/>
                <a:cs typeface="Times New Roman"/>
              </a:rPr>
              <a:t>mapped </a:t>
            </a:r>
            <a:r>
              <a:rPr sz="1800" spc="90" dirty="0">
                <a:solidFill>
                  <a:srgbClr val="FFFFFF"/>
                </a:solidFill>
                <a:latin typeface="Times New Roman"/>
                <a:cs typeface="Times New Roman"/>
              </a:rPr>
              <a:t>into </a:t>
            </a:r>
            <a:r>
              <a:rPr sz="1800" spc="100" dirty="0">
                <a:solidFill>
                  <a:srgbClr val="FFFFFF"/>
                </a:solidFill>
                <a:latin typeface="Times New Roman"/>
                <a:cs typeface="Times New Roman"/>
              </a:rPr>
              <a:t>the </a:t>
            </a:r>
            <a:r>
              <a:rPr sz="1800" spc="75" dirty="0">
                <a:solidFill>
                  <a:srgbClr val="FFFFFF"/>
                </a:solidFill>
                <a:latin typeface="Times New Roman"/>
                <a:cs typeface="Times New Roman"/>
              </a:rPr>
              <a:t>standard </a:t>
            </a:r>
            <a:r>
              <a:rPr sz="1800" spc="50" dirty="0">
                <a:solidFill>
                  <a:srgbClr val="FFFFFF"/>
                </a:solidFill>
                <a:latin typeface="Times New Roman"/>
                <a:cs typeface="Times New Roman"/>
              </a:rPr>
              <a:t>relational </a:t>
            </a:r>
            <a:r>
              <a:rPr sz="1800" spc="60" dirty="0">
                <a:solidFill>
                  <a:srgbClr val="FFFFFF"/>
                </a:solidFill>
                <a:latin typeface="Times New Roman"/>
                <a:cs typeface="Times New Roman"/>
              </a:rPr>
              <a:t>columns. </a:t>
            </a:r>
            <a:r>
              <a:rPr sz="1800" spc="75" dirty="0">
                <a:solidFill>
                  <a:srgbClr val="FFFFFF"/>
                </a:solidFill>
                <a:latin typeface="Times New Roman"/>
                <a:cs typeface="Times New Roman"/>
              </a:rPr>
              <a:t>In </a:t>
            </a:r>
            <a:r>
              <a:rPr sz="1800" spc="70" dirty="0">
                <a:solidFill>
                  <a:srgbClr val="FFFFFF"/>
                </a:solidFill>
                <a:latin typeface="Times New Roman"/>
                <a:cs typeface="Times New Roman"/>
              </a:rPr>
              <a:t>this </a:t>
            </a:r>
            <a:r>
              <a:rPr sz="1800" spc="15" dirty="0">
                <a:solidFill>
                  <a:srgbClr val="FFFFFF"/>
                </a:solidFill>
                <a:latin typeface="Times New Roman"/>
                <a:cs typeface="Times New Roman"/>
              </a:rPr>
              <a:t>case, </a:t>
            </a:r>
            <a:r>
              <a:rPr sz="1800" spc="70" dirty="0">
                <a:solidFill>
                  <a:srgbClr val="FFFFFF"/>
                </a:solidFill>
                <a:latin typeface="Times New Roman"/>
                <a:cs typeface="Times New Roman"/>
              </a:rPr>
              <a:t>you </a:t>
            </a:r>
            <a:r>
              <a:rPr sz="1800" spc="65" dirty="0">
                <a:solidFill>
                  <a:srgbClr val="FFFFFF"/>
                </a:solidFill>
                <a:latin typeface="Times New Roman"/>
                <a:cs typeface="Times New Roman"/>
              </a:rPr>
              <a:t>can  </a:t>
            </a:r>
            <a:r>
              <a:rPr sz="1800" spc="70" dirty="0">
                <a:solidFill>
                  <a:srgbClr val="FFFFFF"/>
                </a:solidFill>
                <a:latin typeface="Times New Roman"/>
                <a:cs typeface="Times New Roman"/>
              </a:rPr>
              <a:t>flatten</a:t>
            </a:r>
            <a:r>
              <a:rPr sz="1800" spc="-85" dirty="0">
                <a:solidFill>
                  <a:srgbClr val="FFFFFF"/>
                </a:solidFill>
                <a:latin typeface="Times New Roman"/>
                <a:cs typeface="Times New Roman"/>
              </a:rPr>
              <a:t> </a:t>
            </a:r>
            <a:r>
              <a:rPr sz="1800" spc="65" dirty="0">
                <a:solidFill>
                  <a:srgbClr val="FFFFFF"/>
                </a:solidFill>
                <a:latin typeface="Times New Roman"/>
                <a:cs typeface="Times New Roman"/>
              </a:rPr>
              <a:t>JSON</a:t>
            </a:r>
            <a:r>
              <a:rPr sz="1800" spc="-50" dirty="0">
                <a:solidFill>
                  <a:srgbClr val="FFFFFF"/>
                </a:solidFill>
                <a:latin typeface="Times New Roman"/>
                <a:cs typeface="Times New Roman"/>
              </a:rPr>
              <a:t> </a:t>
            </a:r>
            <a:r>
              <a:rPr sz="1800" spc="60" dirty="0">
                <a:solidFill>
                  <a:srgbClr val="FFFFFF"/>
                </a:solidFill>
                <a:latin typeface="Times New Roman"/>
                <a:cs typeface="Times New Roman"/>
              </a:rPr>
              <a:t>hierarchy</a:t>
            </a:r>
            <a:r>
              <a:rPr sz="1800" spc="-65" dirty="0">
                <a:solidFill>
                  <a:srgbClr val="FFFFFF"/>
                </a:solidFill>
                <a:latin typeface="Times New Roman"/>
                <a:cs typeface="Times New Roman"/>
              </a:rPr>
              <a:t> </a:t>
            </a:r>
            <a:r>
              <a:rPr sz="1800" spc="35" dirty="0">
                <a:solidFill>
                  <a:srgbClr val="FFFFFF"/>
                </a:solidFill>
                <a:latin typeface="Times New Roman"/>
                <a:cs typeface="Times New Roman"/>
              </a:rPr>
              <a:t>by</a:t>
            </a:r>
            <a:r>
              <a:rPr sz="1800" spc="-60" dirty="0">
                <a:solidFill>
                  <a:srgbClr val="FFFFFF"/>
                </a:solidFill>
                <a:latin typeface="Times New Roman"/>
                <a:cs typeface="Times New Roman"/>
              </a:rPr>
              <a:t> </a:t>
            </a:r>
            <a:r>
              <a:rPr sz="1800" spc="55" dirty="0">
                <a:solidFill>
                  <a:srgbClr val="FFFFFF"/>
                </a:solidFill>
                <a:latin typeface="Times New Roman"/>
                <a:cs typeface="Times New Roman"/>
              </a:rPr>
              <a:t>joining</a:t>
            </a:r>
            <a:r>
              <a:rPr sz="1800" spc="-60" dirty="0">
                <a:solidFill>
                  <a:srgbClr val="FFFFFF"/>
                </a:solidFill>
                <a:latin typeface="Times New Roman"/>
                <a:cs typeface="Times New Roman"/>
              </a:rPr>
              <a:t> </a:t>
            </a:r>
            <a:r>
              <a:rPr sz="1800" spc="85" dirty="0">
                <a:solidFill>
                  <a:srgbClr val="FFFFFF"/>
                </a:solidFill>
                <a:latin typeface="Times New Roman"/>
                <a:cs typeface="Times New Roman"/>
              </a:rPr>
              <a:t>parent</a:t>
            </a:r>
            <a:r>
              <a:rPr sz="1800" spc="-75" dirty="0">
                <a:solidFill>
                  <a:srgbClr val="FFFFFF"/>
                </a:solidFill>
                <a:latin typeface="Times New Roman"/>
                <a:cs typeface="Times New Roman"/>
              </a:rPr>
              <a:t> </a:t>
            </a:r>
            <a:r>
              <a:rPr sz="1800" spc="70" dirty="0">
                <a:solidFill>
                  <a:srgbClr val="FFFFFF"/>
                </a:solidFill>
                <a:latin typeface="Times New Roman"/>
                <a:cs typeface="Times New Roman"/>
              </a:rPr>
              <a:t>entity</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with</a:t>
            </a:r>
            <a:r>
              <a:rPr sz="1800" spc="-60" dirty="0">
                <a:solidFill>
                  <a:srgbClr val="FFFFFF"/>
                </a:solidFill>
                <a:latin typeface="Times New Roman"/>
                <a:cs typeface="Times New Roman"/>
              </a:rPr>
              <a:t> </a:t>
            </a:r>
            <a:r>
              <a:rPr sz="1800" spc="40" dirty="0">
                <a:solidFill>
                  <a:srgbClr val="FFFFFF"/>
                </a:solidFill>
                <a:latin typeface="Times New Roman"/>
                <a:cs typeface="Times New Roman"/>
              </a:rPr>
              <a:t>sub-arrays.</a:t>
            </a:r>
            <a:endParaRPr sz="1800">
              <a:latin typeface="Times New Roman"/>
              <a:cs typeface="Times New Roman"/>
            </a:endParaRPr>
          </a:p>
        </p:txBody>
      </p:sp>
      <p:sp>
        <p:nvSpPr>
          <p:cNvPr id="4" name="object 4"/>
          <p:cNvSpPr txBox="1">
            <a:spLocks noGrp="1"/>
          </p:cNvSpPr>
          <p:nvPr>
            <p:ph type="title"/>
          </p:nvPr>
        </p:nvSpPr>
        <p:spPr>
          <a:xfrm>
            <a:off x="383540" y="15493"/>
            <a:ext cx="6321425" cy="635635"/>
          </a:xfrm>
          <a:prstGeom prst="rect">
            <a:avLst/>
          </a:prstGeom>
        </p:spPr>
        <p:txBody>
          <a:bodyPr vert="horz" wrap="square" lIns="0" tIns="12700" rIns="0" bIns="0" rtlCol="0">
            <a:spAutoFit/>
          </a:bodyPr>
          <a:lstStyle/>
          <a:p>
            <a:pPr marL="12700">
              <a:lnSpc>
                <a:spcPct val="100000"/>
              </a:lnSpc>
              <a:spcBef>
                <a:spcPts val="100"/>
              </a:spcBef>
            </a:pPr>
            <a:r>
              <a:rPr spc="145" dirty="0"/>
              <a:t>JSON</a:t>
            </a:r>
            <a:r>
              <a:rPr spc="-160" dirty="0"/>
              <a:t> </a:t>
            </a:r>
            <a:r>
              <a:rPr spc="160" dirty="0"/>
              <a:t>data</a:t>
            </a:r>
            <a:r>
              <a:rPr spc="-165" dirty="0"/>
              <a:t> </a:t>
            </a:r>
            <a:r>
              <a:rPr spc="195" dirty="0"/>
              <a:t>in</a:t>
            </a:r>
            <a:r>
              <a:rPr spc="-160" dirty="0"/>
              <a:t> </a:t>
            </a:r>
            <a:r>
              <a:rPr spc="200" dirty="0"/>
              <a:t>SQL</a:t>
            </a:r>
            <a:r>
              <a:rPr spc="-165" dirty="0"/>
              <a:t> </a:t>
            </a:r>
            <a:r>
              <a:rPr spc="125" dirty="0"/>
              <a:t>Server</a:t>
            </a:r>
            <a:r>
              <a:rPr spc="-170" dirty="0"/>
              <a:t> </a:t>
            </a:r>
            <a:r>
              <a:rPr spc="-114" dirty="0"/>
              <a:t>3-4</a:t>
            </a:r>
          </a:p>
        </p:txBody>
      </p:sp>
      <p:pic>
        <p:nvPicPr>
          <p:cNvPr id="5" name="object 5"/>
          <p:cNvPicPr/>
          <p:nvPr/>
        </p:nvPicPr>
        <p:blipFill>
          <a:blip r:embed="rId4" cstate="print"/>
          <a:stretch>
            <a:fillRect/>
          </a:stretch>
        </p:blipFill>
        <p:spPr>
          <a:xfrm>
            <a:off x="1266444" y="2946654"/>
            <a:ext cx="6611111" cy="2265426"/>
          </a:xfrm>
          <a:prstGeom prst="rect">
            <a:avLst/>
          </a:prstGeom>
        </p:spPr>
      </p:pic>
      <p:sp>
        <p:nvSpPr>
          <p:cNvPr id="6" name="object 6"/>
          <p:cNvSpPr txBox="1"/>
          <p:nvPr/>
        </p:nvSpPr>
        <p:spPr>
          <a:xfrm>
            <a:off x="3269741" y="5291328"/>
            <a:ext cx="2737485"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Result</a:t>
            </a:r>
            <a:r>
              <a:rPr sz="1400" b="1" spc="-90" dirty="0">
                <a:latin typeface="Times New Roman"/>
                <a:cs typeface="Times New Roman"/>
              </a:rPr>
              <a:t> </a:t>
            </a:r>
            <a:r>
              <a:rPr sz="1400" b="1" spc="35" dirty="0">
                <a:latin typeface="Times New Roman"/>
                <a:cs typeface="Times New Roman"/>
              </a:rPr>
              <a:t>of</a:t>
            </a:r>
            <a:r>
              <a:rPr sz="1400" b="1" spc="-80" dirty="0">
                <a:latin typeface="Times New Roman"/>
                <a:cs typeface="Times New Roman"/>
              </a:rPr>
              <a:t> </a:t>
            </a:r>
            <a:r>
              <a:rPr sz="1400" b="1" spc="-10" dirty="0">
                <a:latin typeface="Times New Roman"/>
                <a:cs typeface="Times New Roman"/>
              </a:rPr>
              <a:t>OPENJSON</a:t>
            </a:r>
            <a:r>
              <a:rPr sz="1400" b="1" spc="-85" dirty="0">
                <a:latin typeface="Times New Roman"/>
                <a:cs typeface="Times New Roman"/>
              </a:rPr>
              <a:t> </a:t>
            </a:r>
            <a:r>
              <a:rPr sz="1400" b="1" spc="20" dirty="0">
                <a:latin typeface="Times New Roman"/>
                <a:cs typeface="Times New Roman"/>
              </a:rPr>
              <a:t>function</a:t>
            </a:r>
            <a:r>
              <a:rPr sz="1400" b="1" spc="-95" dirty="0">
                <a:latin typeface="Times New Roman"/>
                <a:cs typeface="Times New Roman"/>
              </a:rPr>
              <a:t> </a:t>
            </a:r>
            <a:r>
              <a:rPr sz="1400" b="1" spc="-10" dirty="0">
                <a:latin typeface="Times New Roman"/>
                <a:cs typeface="Times New Roman"/>
              </a:rPr>
              <a:t>calls</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20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6372225" cy="635635"/>
          </a:xfrm>
          <a:prstGeom prst="rect">
            <a:avLst/>
          </a:prstGeom>
        </p:spPr>
        <p:txBody>
          <a:bodyPr vert="horz" wrap="square" lIns="0" tIns="12700" rIns="0" bIns="0" rtlCol="0">
            <a:spAutoFit/>
          </a:bodyPr>
          <a:lstStyle/>
          <a:p>
            <a:pPr marL="12700">
              <a:lnSpc>
                <a:spcPct val="100000"/>
              </a:lnSpc>
              <a:spcBef>
                <a:spcPts val="100"/>
              </a:spcBef>
            </a:pPr>
            <a:r>
              <a:rPr spc="145" dirty="0"/>
              <a:t>JSON</a:t>
            </a:r>
            <a:r>
              <a:rPr spc="-160" dirty="0"/>
              <a:t> </a:t>
            </a:r>
            <a:r>
              <a:rPr spc="160" dirty="0"/>
              <a:t>data</a:t>
            </a:r>
            <a:r>
              <a:rPr spc="-165" dirty="0"/>
              <a:t> </a:t>
            </a:r>
            <a:r>
              <a:rPr spc="195" dirty="0"/>
              <a:t>in</a:t>
            </a:r>
            <a:r>
              <a:rPr spc="-160" dirty="0"/>
              <a:t> </a:t>
            </a:r>
            <a:r>
              <a:rPr spc="200" dirty="0"/>
              <a:t>SQL</a:t>
            </a:r>
            <a:r>
              <a:rPr spc="-165" dirty="0"/>
              <a:t> </a:t>
            </a:r>
            <a:r>
              <a:rPr spc="125" dirty="0"/>
              <a:t>Server</a:t>
            </a:r>
            <a:r>
              <a:rPr spc="-170" dirty="0"/>
              <a:t> </a:t>
            </a:r>
            <a:r>
              <a:rPr spc="20" dirty="0"/>
              <a:t>4-4</a:t>
            </a:r>
          </a:p>
        </p:txBody>
      </p:sp>
      <p:pic>
        <p:nvPicPr>
          <p:cNvPr id="3" name="object 3"/>
          <p:cNvPicPr/>
          <p:nvPr/>
        </p:nvPicPr>
        <p:blipFill>
          <a:blip r:embed="rId3" cstate="print"/>
          <a:stretch>
            <a:fillRect/>
          </a:stretch>
        </p:blipFill>
        <p:spPr>
          <a:xfrm>
            <a:off x="204215" y="1319783"/>
            <a:ext cx="8735568" cy="1165860"/>
          </a:xfrm>
          <a:prstGeom prst="rect">
            <a:avLst/>
          </a:prstGeom>
        </p:spPr>
      </p:pic>
      <p:sp>
        <p:nvSpPr>
          <p:cNvPr id="4" name="object 4"/>
          <p:cNvSpPr txBox="1"/>
          <p:nvPr/>
        </p:nvSpPr>
        <p:spPr>
          <a:xfrm>
            <a:off x="328422" y="1376172"/>
            <a:ext cx="8251190" cy="1053465"/>
          </a:xfrm>
          <a:prstGeom prst="rect">
            <a:avLst/>
          </a:prstGeom>
        </p:spPr>
        <p:txBody>
          <a:bodyPr vert="horz" wrap="square" lIns="0" tIns="121285" rIns="0" bIns="0" rtlCol="0">
            <a:spAutoFit/>
          </a:bodyPr>
          <a:lstStyle/>
          <a:p>
            <a:pPr marL="419100" marR="66675" indent="-342900" algn="just">
              <a:lnSpc>
                <a:spcPts val="1939"/>
              </a:lnSpc>
              <a:spcBef>
                <a:spcPts val="955"/>
              </a:spcBef>
              <a:buFont typeface="Wingdings"/>
              <a:buChar char=""/>
              <a:tabLst>
                <a:tab pos="419100" algn="l"/>
              </a:tabLst>
            </a:pPr>
            <a:r>
              <a:rPr sz="1800" spc="65" dirty="0">
                <a:solidFill>
                  <a:srgbClr val="FFFFFF"/>
                </a:solidFill>
                <a:latin typeface="Times New Roman"/>
                <a:cs typeface="Times New Roman"/>
              </a:rPr>
              <a:t>You can </a:t>
            </a:r>
            <a:r>
              <a:rPr sz="1800" spc="70" dirty="0">
                <a:solidFill>
                  <a:srgbClr val="FFFFFF"/>
                </a:solidFill>
                <a:latin typeface="Times New Roman"/>
                <a:cs typeface="Times New Roman"/>
              </a:rPr>
              <a:t>format </a:t>
            </a:r>
            <a:r>
              <a:rPr sz="1800" spc="85" dirty="0">
                <a:solidFill>
                  <a:srgbClr val="FFFFFF"/>
                </a:solidFill>
                <a:latin typeface="Times New Roman"/>
                <a:cs typeface="Times New Roman"/>
              </a:rPr>
              <a:t>SQL </a:t>
            </a:r>
            <a:r>
              <a:rPr sz="1800" spc="55" dirty="0">
                <a:solidFill>
                  <a:srgbClr val="FFFFFF"/>
                </a:solidFill>
                <a:latin typeface="Times New Roman"/>
                <a:cs typeface="Times New Roman"/>
              </a:rPr>
              <a:t>Server </a:t>
            </a:r>
            <a:r>
              <a:rPr sz="1800" spc="65" dirty="0">
                <a:solidFill>
                  <a:srgbClr val="FFFFFF"/>
                </a:solidFill>
                <a:latin typeface="Times New Roman"/>
                <a:cs typeface="Times New Roman"/>
              </a:rPr>
              <a:t>data </a:t>
            </a:r>
            <a:r>
              <a:rPr sz="1800" spc="75" dirty="0">
                <a:solidFill>
                  <a:srgbClr val="FFFFFF"/>
                </a:solidFill>
                <a:latin typeface="Times New Roman"/>
                <a:cs typeface="Times New Roman"/>
              </a:rPr>
              <a:t>or </a:t>
            </a:r>
            <a:r>
              <a:rPr sz="1800" spc="50" dirty="0">
                <a:solidFill>
                  <a:srgbClr val="FFFFFF"/>
                </a:solidFill>
                <a:latin typeface="Times New Roman"/>
                <a:cs typeface="Times New Roman"/>
              </a:rPr>
              <a:t>results of </a:t>
            </a:r>
            <a:r>
              <a:rPr sz="1800" spc="85" dirty="0">
                <a:solidFill>
                  <a:srgbClr val="FFFFFF"/>
                </a:solidFill>
                <a:latin typeface="Times New Roman"/>
                <a:cs typeface="Times New Roman"/>
              </a:rPr>
              <a:t>SQL </a:t>
            </a:r>
            <a:r>
              <a:rPr sz="1800" spc="55" dirty="0">
                <a:solidFill>
                  <a:srgbClr val="FFFFFF"/>
                </a:solidFill>
                <a:latin typeface="Times New Roman"/>
                <a:cs typeface="Times New Roman"/>
              </a:rPr>
              <a:t>queries </a:t>
            </a:r>
            <a:r>
              <a:rPr sz="1800" spc="15" dirty="0">
                <a:solidFill>
                  <a:srgbClr val="FFFFFF"/>
                </a:solidFill>
                <a:latin typeface="Times New Roman"/>
                <a:cs typeface="Times New Roman"/>
              </a:rPr>
              <a:t>as </a:t>
            </a:r>
            <a:r>
              <a:rPr sz="1800" spc="65" dirty="0">
                <a:solidFill>
                  <a:srgbClr val="FFFFFF"/>
                </a:solidFill>
                <a:latin typeface="Times New Roman"/>
                <a:cs typeface="Times New Roman"/>
              </a:rPr>
              <a:t>JSON </a:t>
            </a:r>
            <a:r>
              <a:rPr sz="1800" spc="40" dirty="0">
                <a:solidFill>
                  <a:srgbClr val="FFFFFF"/>
                </a:solidFill>
                <a:latin typeface="Times New Roman"/>
                <a:cs typeface="Times New Roman"/>
              </a:rPr>
              <a:t>by</a:t>
            </a:r>
            <a:r>
              <a:rPr sz="1800" spc="-125" dirty="0">
                <a:solidFill>
                  <a:srgbClr val="FFFFFF"/>
                </a:solidFill>
                <a:latin typeface="Times New Roman"/>
                <a:cs typeface="Times New Roman"/>
              </a:rPr>
              <a:t> </a:t>
            </a:r>
            <a:r>
              <a:rPr sz="1800" spc="65" dirty="0">
                <a:solidFill>
                  <a:srgbClr val="FFFFFF"/>
                </a:solidFill>
                <a:latin typeface="Times New Roman"/>
                <a:cs typeface="Times New Roman"/>
              </a:rPr>
              <a:t>adding  </a:t>
            </a:r>
            <a:r>
              <a:rPr sz="1800" spc="100" dirty="0">
                <a:solidFill>
                  <a:srgbClr val="FFFFFF"/>
                </a:solidFill>
                <a:latin typeface="Times New Roman"/>
                <a:cs typeface="Times New Roman"/>
              </a:rPr>
              <a:t>the </a:t>
            </a:r>
            <a:r>
              <a:rPr sz="1800" spc="105" dirty="0">
                <a:solidFill>
                  <a:srgbClr val="FFFFFF"/>
                </a:solidFill>
                <a:latin typeface="Times New Roman"/>
                <a:cs typeface="Times New Roman"/>
              </a:rPr>
              <a:t>FOR </a:t>
            </a:r>
            <a:r>
              <a:rPr sz="1800" spc="65" dirty="0">
                <a:solidFill>
                  <a:srgbClr val="FFFFFF"/>
                </a:solidFill>
                <a:latin typeface="Times New Roman"/>
                <a:cs typeface="Times New Roman"/>
              </a:rPr>
              <a:t>JSON </a:t>
            </a:r>
            <a:r>
              <a:rPr sz="1800" spc="35" dirty="0">
                <a:solidFill>
                  <a:srgbClr val="FFFFFF"/>
                </a:solidFill>
                <a:latin typeface="Times New Roman"/>
                <a:cs typeface="Times New Roman"/>
              </a:rPr>
              <a:t>clause </a:t>
            </a:r>
            <a:r>
              <a:rPr sz="1800" spc="100" dirty="0">
                <a:solidFill>
                  <a:srgbClr val="FFFFFF"/>
                </a:solidFill>
                <a:latin typeface="Times New Roman"/>
                <a:cs typeface="Times New Roman"/>
              </a:rPr>
              <a:t>to </a:t>
            </a:r>
            <a:r>
              <a:rPr sz="1800" spc="30" dirty="0">
                <a:solidFill>
                  <a:srgbClr val="FFFFFF"/>
                </a:solidFill>
                <a:latin typeface="Times New Roman"/>
                <a:cs typeface="Times New Roman"/>
              </a:rPr>
              <a:t>a </a:t>
            </a:r>
            <a:r>
              <a:rPr sz="1800" spc="70" dirty="0">
                <a:solidFill>
                  <a:srgbClr val="FFFFFF"/>
                </a:solidFill>
                <a:latin typeface="Times New Roman"/>
                <a:cs typeface="Times New Roman"/>
              </a:rPr>
              <a:t>SELECT statement. </a:t>
            </a:r>
            <a:r>
              <a:rPr sz="1800" spc="120" dirty="0">
                <a:solidFill>
                  <a:srgbClr val="FFFFFF"/>
                </a:solidFill>
                <a:latin typeface="Times New Roman"/>
                <a:cs typeface="Times New Roman"/>
              </a:rPr>
              <a:t>The </a:t>
            </a:r>
            <a:r>
              <a:rPr sz="1800" spc="105" dirty="0">
                <a:solidFill>
                  <a:srgbClr val="FFFFFF"/>
                </a:solidFill>
                <a:latin typeface="Times New Roman"/>
                <a:cs typeface="Times New Roman"/>
              </a:rPr>
              <a:t>FOR </a:t>
            </a:r>
            <a:r>
              <a:rPr sz="1800" spc="65" dirty="0">
                <a:solidFill>
                  <a:srgbClr val="FFFFFF"/>
                </a:solidFill>
                <a:latin typeface="Times New Roman"/>
                <a:cs typeface="Times New Roman"/>
              </a:rPr>
              <a:t>JSON </a:t>
            </a:r>
            <a:r>
              <a:rPr sz="1800" spc="35" dirty="0">
                <a:solidFill>
                  <a:srgbClr val="FFFFFF"/>
                </a:solidFill>
                <a:latin typeface="Times New Roman"/>
                <a:cs typeface="Times New Roman"/>
              </a:rPr>
              <a:t>delegates </a:t>
            </a:r>
            <a:r>
              <a:rPr sz="1800" spc="100" dirty="0">
                <a:solidFill>
                  <a:srgbClr val="FFFFFF"/>
                </a:solidFill>
                <a:latin typeface="Times New Roman"/>
                <a:cs typeface="Times New Roman"/>
              </a:rPr>
              <a:t>the  </a:t>
            </a:r>
            <a:r>
              <a:rPr sz="1800" spc="65" dirty="0">
                <a:solidFill>
                  <a:srgbClr val="FFFFFF"/>
                </a:solidFill>
                <a:latin typeface="Times New Roman"/>
                <a:cs typeface="Times New Roman"/>
              </a:rPr>
              <a:t>formatting</a:t>
            </a:r>
            <a:r>
              <a:rPr sz="1800" spc="-80"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60" dirty="0">
                <a:solidFill>
                  <a:srgbClr val="FFFFFF"/>
                </a:solidFill>
                <a:latin typeface="Times New Roman"/>
                <a:cs typeface="Times New Roman"/>
              </a:rPr>
              <a:t>JSON</a:t>
            </a:r>
            <a:r>
              <a:rPr sz="1800" spc="-60" dirty="0">
                <a:solidFill>
                  <a:srgbClr val="FFFFFF"/>
                </a:solidFill>
                <a:latin typeface="Times New Roman"/>
                <a:cs typeface="Times New Roman"/>
              </a:rPr>
              <a:t> </a:t>
            </a:r>
            <a:r>
              <a:rPr sz="1800" spc="114" dirty="0">
                <a:solidFill>
                  <a:srgbClr val="FFFFFF"/>
                </a:solidFill>
                <a:latin typeface="Times New Roman"/>
                <a:cs typeface="Times New Roman"/>
              </a:rPr>
              <a:t>output</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from</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your</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client</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applications</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70" dirty="0">
                <a:solidFill>
                  <a:srgbClr val="FFFFFF"/>
                </a:solidFill>
                <a:latin typeface="Times New Roman"/>
                <a:cs typeface="Times New Roman"/>
              </a:rPr>
              <a:t> </a:t>
            </a:r>
            <a:r>
              <a:rPr sz="1800" spc="90" dirty="0">
                <a:solidFill>
                  <a:srgbClr val="FFFFFF"/>
                </a:solidFill>
                <a:latin typeface="Times New Roman"/>
                <a:cs typeface="Times New Roman"/>
              </a:rPr>
              <a:t>SQL</a:t>
            </a:r>
            <a:r>
              <a:rPr sz="1800" spc="-60" dirty="0">
                <a:solidFill>
                  <a:srgbClr val="FFFFFF"/>
                </a:solidFill>
                <a:latin typeface="Times New Roman"/>
                <a:cs typeface="Times New Roman"/>
              </a:rPr>
              <a:t> </a:t>
            </a:r>
            <a:r>
              <a:rPr sz="1800" spc="50" dirty="0">
                <a:solidFill>
                  <a:srgbClr val="FFFFFF"/>
                </a:solidFill>
                <a:latin typeface="Times New Roman"/>
                <a:cs typeface="Times New Roman"/>
              </a:rPr>
              <a:t>Server.</a:t>
            </a:r>
            <a:endParaRPr sz="1800">
              <a:latin typeface="Times New Roman"/>
              <a:cs typeface="Times New Roman"/>
            </a:endParaRPr>
          </a:p>
        </p:txBody>
      </p:sp>
      <p:sp>
        <p:nvSpPr>
          <p:cNvPr id="5" name="object 5"/>
          <p:cNvSpPr txBox="1"/>
          <p:nvPr/>
        </p:nvSpPr>
        <p:spPr>
          <a:xfrm>
            <a:off x="428244" y="902207"/>
            <a:ext cx="3616960" cy="330200"/>
          </a:xfrm>
          <a:prstGeom prst="rect">
            <a:avLst/>
          </a:prstGeom>
        </p:spPr>
        <p:txBody>
          <a:bodyPr vert="horz" wrap="square" lIns="0" tIns="12065" rIns="0" bIns="0" rtlCol="0">
            <a:spAutoFit/>
          </a:bodyPr>
          <a:lstStyle/>
          <a:p>
            <a:pPr marL="12700">
              <a:lnSpc>
                <a:spcPct val="100000"/>
              </a:lnSpc>
              <a:spcBef>
                <a:spcPts val="95"/>
              </a:spcBef>
            </a:pPr>
            <a:r>
              <a:rPr sz="2000" b="1" spc="-25" dirty="0">
                <a:latin typeface="Times New Roman"/>
                <a:cs typeface="Times New Roman"/>
              </a:rPr>
              <a:t>Export</a:t>
            </a:r>
            <a:r>
              <a:rPr sz="2000" b="1" spc="-110" dirty="0">
                <a:latin typeface="Times New Roman"/>
                <a:cs typeface="Times New Roman"/>
              </a:rPr>
              <a:t> </a:t>
            </a:r>
            <a:r>
              <a:rPr sz="2000" b="1" spc="5" dirty="0">
                <a:latin typeface="Times New Roman"/>
                <a:cs typeface="Times New Roman"/>
              </a:rPr>
              <a:t>SQL</a:t>
            </a:r>
            <a:r>
              <a:rPr sz="2000" b="1" spc="-105" dirty="0">
                <a:latin typeface="Times New Roman"/>
                <a:cs typeface="Times New Roman"/>
              </a:rPr>
              <a:t> </a:t>
            </a:r>
            <a:r>
              <a:rPr sz="2000" b="1" spc="-25" dirty="0">
                <a:latin typeface="Times New Roman"/>
                <a:cs typeface="Times New Roman"/>
              </a:rPr>
              <a:t>Server</a:t>
            </a:r>
            <a:r>
              <a:rPr sz="2000" b="1" spc="-114" dirty="0">
                <a:latin typeface="Times New Roman"/>
                <a:cs typeface="Times New Roman"/>
              </a:rPr>
              <a:t> </a:t>
            </a:r>
            <a:r>
              <a:rPr sz="2000" b="1" spc="-20" dirty="0">
                <a:latin typeface="Times New Roman"/>
                <a:cs typeface="Times New Roman"/>
              </a:rPr>
              <a:t>Data</a:t>
            </a:r>
            <a:r>
              <a:rPr sz="2000" b="1" spc="-120" dirty="0">
                <a:latin typeface="Times New Roman"/>
                <a:cs typeface="Times New Roman"/>
              </a:rPr>
              <a:t> </a:t>
            </a:r>
            <a:r>
              <a:rPr sz="2000" b="1" spc="55" dirty="0">
                <a:latin typeface="Times New Roman"/>
                <a:cs typeface="Times New Roman"/>
              </a:rPr>
              <a:t>to</a:t>
            </a:r>
            <a:r>
              <a:rPr sz="2000" b="1" spc="-114" dirty="0">
                <a:latin typeface="Times New Roman"/>
                <a:cs typeface="Times New Roman"/>
              </a:rPr>
              <a:t> </a:t>
            </a:r>
            <a:r>
              <a:rPr sz="2000" b="1" spc="-25" dirty="0">
                <a:latin typeface="Times New Roman"/>
                <a:cs typeface="Times New Roman"/>
              </a:rPr>
              <a:t>JSON</a:t>
            </a:r>
            <a:endParaRPr sz="2000">
              <a:latin typeface="Times New Roman"/>
              <a:cs typeface="Times New Roman"/>
            </a:endParaRPr>
          </a:p>
        </p:txBody>
      </p:sp>
      <p:pic>
        <p:nvPicPr>
          <p:cNvPr id="6" name="object 6"/>
          <p:cNvPicPr/>
          <p:nvPr/>
        </p:nvPicPr>
        <p:blipFill>
          <a:blip r:embed="rId4" cstate="print"/>
          <a:stretch>
            <a:fillRect/>
          </a:stretch>
        </p:blipFill>
        <p:spPr>
          <a:xfrm>
            <a:off x="1057655" y="2551176"/>
            <a:ext cx="7028688" cy="3736848"/>
          </a:xfrm>
          <a:prstGeom prst="rect">
            <a:avLst/>
          </a:prstGeom>
        </p:spPr>
      </p:pic>
      <p:sp>
        <p:nvSpPr>
          <p:cNvPr id="7" name="object 7"/>
          <p:cNvSpPr txBox="1"/>
          <p:nvPr/>
        </p:nvSpPr>
        <p:spPr>
          <a:xfrm>
            <a:off x="3741928" y="6296659"/>
            <a:ext cx="160718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Exported </a:t>
            </a:r>
            <a:r>
              <a:rPr sz="1400" b="1" spc="-20" dirty="0">
                <a:latin typeface="Times New Roman"/>
                <a:cs typeface="Times New Roman"/>
              </a:rPr>
              <a:t>JSON</a:t>
            </a:r>
            <a:r>
              <a:rPr sz="1400" b="1" spc="-200" dirty="0">
                <a:latin typeface="Times New Roman"/>
                <a:cs typeface="Times New Roman"/>
              </a:rPr>
              <a:t> </a:t>
            </a:r>
            <a:r>
              <a:rPr sz="1400" b="1" spc="-10" dirty="0">
                <a:latin typeface="Times New Roman"/>
                <a:cs typeface="Times New Roman"/>
              </a:rPr>
              <a:t>Data</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21</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155" dirty="0"/>
              <a:t>Summary</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5" baseline="4629" dirty="0"/>
              <a:t>16/</a:t>
            </a:r>
            <a:r>
              <a:rPr sz="1800" spc="-277" baseline="4629" dirty="0"/>
              <a:t> </a:t>
            </a:r>
            <a:fld id="{81D60167-4931-47E6-BA6A-407CBD079E47}" type="slidenum">
              <a:rPr sz="1200" spc="-5" dirty="0"/>
              <a:t>22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53695" marR="5080" indent="-341630">
              <a:lnSpc>
                <a:spcPct val="100000"/>
              </a:lnSpc>
              <a:spcBef>
                <a:spcPts val="100"/>
              </a:spcBef>
              <a:buSzPct val="90909"/>
              <a:buFont typeface="Calibri"/>
              <a:buChar char="●"/>
              <a:tabLst>
                <a:tab pos="353695" algn="l"/>
                <a:tab pos="354330" algn="l"/>
                <a:tab pos="1530350" algn="l"/>
                <a:tab pos="3075940" algn="l"/>
                <a:tab pos="4445000" algn="l"/>
                <a:tab pos="5369560" algn="l"/>
                <a:tab pos="7468870" algn="l"/>
                <a:tab pos="8147050" algn="l"/>
              </a:tabLst>
            </a:pPr>
            <a:r>
              <a:rPr spc="105" dirty="0"/>
              <a:t>Ver</a:t>
            </a:r>
            <a:r>
              <a:rPr spc="95" dirty="0"/>
              <a:t>b</a:t>
            </a:r>
            <a:r>
              <a:rPr spc="50" dirty="0"/>
              <a:t>ose</a:t>
            </a:r>
            <a:r>
              <a:rPr dirty="0"/>
              <a:t>	</a:t>
            </a:r>
            <a:r>
              <a:rPr spc="120" dirty="0"/>
              <a:t>Truncat</a:t>
            </a:r>
            <a:r>
              <a:rPr dirty="0"/>
              <a:t>i</a:t>
            </a:r>
            <a:r>
              <a:rPr spc="150" dirty="0"/>
              <a:t>on</a:t>
            </a:r>
            <a:r>
              <a:rPr dirty="0"/>
              <a:t>	</a:t>
            </a:r>
            <a:r>
              <a:rPr spc="200" dirty="0"/>
              <a:t>Wa</a:t>
            </a:r>
            <a:r>
              <a:rPr spc="85" dirty="0"/>
              <a:t>r</a:t>
            </a:r>
            <a:r>
              <a:rPr spc="135" dirty="0"/>
              <a:t>n</a:t>
            </a:r>
            <a:r>
              <a:rPr spc="65" dirty="0"/>
              <a:t>i</a:t>
            </a:r>
            <a:r>
              <a:rPr spc="60" dirty="0"/>
              <a:t>ngs</a:t>
            </a:r>
            <a:r>
              <a:rPr dirty="0"/>
              <a:t>	</a:t>
            </a:r>
            <a:r>
              <a:rPr spc="60" dirty="0"/>
              <a:t>makes</a:t>
            </a:r>
            <a:r>
              <a:rPr dirty="0"/>
              <a:t>	</a:t>
            </a:r>
            <a:r>
              <a:rPr spc="105" dirty="0"/>
              <a:t>t</a:t>
            </a:r>
            <a:r>
              <a:rPr spc="114" dirty="0"/>
              <a:t>r</a:t>
            </a:r>
            <a:r>
              <a:rPr spc="135" dirty="0"/>
              <a:t>o</a:t>
            </a:r>
            <a:r>
              <a:rPr spc="125" dirty="0"/>
              <a:t>u</a:t>
            </a:r>
            <a:r>
              <a:rPr spc="40" dirty="0"/>
              <a:t>ble</a:t>
            </a:r>
            <a:r>
              <a:rPr spc="30" dirty="0"/>
              <a:t>s</a:t>
            </a:r>
            <a:r>
              <a:rPr spc="180" dirty="0"/>
              <a:t>h</a:t>
            </a:r>
            <a:r>
              <a:rPr spc="100" dirty="0"/>
              <a:t>o</a:t>
            </a:r>
            <a:r>
              <a:rPr spc="90" dirty="0"/>
              <a:t>o</a:t>
            </a:r>
            <a:r>
              <a:rPr spc="80" dirty="0"/>
              <a:t>ting</a:t>
            </a:r>
            <a:r>
              <a:rPr dirty="0"/>
              <a:t>	</a:t>
            </a:r>
            <a:r>
              <a:rPr spc="40" dirty="0"/>
              <a:t>e</a:t>
            </a:r>
            <a:r>
              <a:rPr spc="30" dirty="0"/>
              <a:t>a</a:t>
            </a:r>
            <a:r>
              <a:rPr spc="-5" dirty="0"/>
              <a:t>sy</a:t>
            </a:r>
            <a:r>
              <a:rPr dirty="0"/>
              <a:t>	</a:t>
            </a:r>
            <a:r>
              <a:rPr spc="35" dirty="0"/>
              <a:t>by  </a:t>
            </a:r>
            <a:r>
              <a:rPr spc="50" dirty="0"/>
              <a:t>displaying</a:t>
            </a:r>
            <a:r>
              <a:rPr spc="-95" dirty="0"/>
              <a:t> </a:t>
            </a:r>
            <a:r>
              <a:rPr spc="80" dirty="0"/>
              <a:t>additional</a:t>
            </a:r>
            <a:r>
              <a:rPr spc="-114" dirty="0"/>
              <a:t> </a:t>
            </a:r>
            <a:r>
              <a:rPr spc="125" dirty="0"/>
              <a:t>and</a:t>
            </a:r>
            <a:r>
              <a:rPr spc="-100" dirty="0"/>
              <a:t> </a:t>
            </a:r>
            <a:r>
              <a:rPr spc="65" dirty="0"/>
              <a:t>exact</a:t>
            </a:r>
            <a:r>
              <a:rPr spc="-100" dirty="0"/>
              <a:t> </a:t>
            </a:r>
            <a:r>
              <a:rPr spc="55" dirty="0"/>
              <a:t>details</a:t>
            </a:r>
            <a:r>
              <a:rPr spc="-110" dirty="0"/>
              <a:t> </a:t>
            </a:r>
            <a:r>
              <a:rPr spc="105" dirty="0"/>
              <a:t>in</a:t>
            </a:r>
            <a:r>
              <a:rPr spc="-90" dirty="0"/>
              <a:t> </a:t>
            </a:r>
            <a:r>
              <a:rPr spc="85" dirty="0"/>
              <a:t>error</a:t>
            </a:r>
            <a:r>
              <a:rPr spc="-95" dirty="0"/>
              <a:t> </a:t>
            </a:r>
            <a:r>
              <a:rPr spc="25" dirty="0"/>
              <a:t>messages.</a:t>
            </a:r>
          </a:p>
          <a:p>
            <a:pPr marL="353695" marR="5080" indent="-341630">
              <a:lnSpc>
                <a:spcPct val="100000"/>
              </a:lnSpc>
              <a:buSzPct val="90909"/>
              <a:buFont typeface="Calibri"/>
              <a:buChar char="●"/>
              <a:tabLst>
                <a:tab pos="353695" algn="l"/>
                <a:tab pos="354330" algn="l"/>
              </a:tabLst>
            </a:pPr>
            <a:r>
              <a:rPr spc="110" dirty="0"/>
              <a:t>SQL </a:t>
            </a:r>
            <a:r>
              <a:rPr spc="75" dirty="0"/>
              <a:t>Vulnerability Assessment </a:t>
            </a:r>
            <a:r>
              <a:rPr spc="5" dirty="0"/>
              <a:t>is </a:t>
            </a:r>
            <a:r>
              <a:rPr spc="35" dirty="0"/>
              <a:t>a service </a:t>
            </a:r>
            <a:r>
              <a:rPr spc="125" dirty="0"/>
              <a:t>that </a:t>
            </a:r>
            <a:r>
              <a:rPr spc="70" dirty="0"/>
              <a:t>provides </a:t>
            </a:r>
            <a:r>
              <a:rPr spc="30" dirty="0"/>
              <a:t>visibility  </a:t>
            </a:r>
            <a:r>
              <a:rPr spc="114" dirty="0"/>
              <a:t>into</a:t>
            </a:r>
            <a:r>
              <a:rPr spc="-105" dirty="0"/>
              <a:t> </a:t>
            </a:r>
            <a:r>
              <a:rPr spc="90" dirty="0"/>
              <a:t>your</a:t>
            </a:r>
            <a:r>
              <a:rPr spc="-100" dirty="0"/>
              <a:t> </a:t>
            </a:r>
            <a:r>
              <a:rPr spc="60" dirty="0"/>
              <a:t>security</a:t>
            </a:r>
            <a:r>
              <a:rPr spc="-95" dirty="0"/>
              <a:t> </a:t>
            </a:r>
            <a:r>
              <a:rPr spc="60" dirty="0"/>
              <a:t>state.</a:t>
            </a:r>
          </a:p>
          <a:p>
            <a:pPr marL="353695" marR="5080" indent="-341630">
              <a:lnSpc>
                <a:spcPct val="100000"/>
              </a:lnSpc>
              <a:buSzPct val="90909"/>
              <a:buFont typeface="Calibri"/>
              <a:buChar char="●"/>
              <a:tabLst>
                <a:tab pos="353695" algn="l"/>
                <a:tab pos="354330" algn="l"/>
              </a:tabLst>
            </a:pPr>
            <a:r>
              <a:rPr spc="75" dirty="0"/>
              <a:t>Vulnerability </a:t>
            </a:r>
            <a:r>
              <a:rPr spc="100" dirty="0"/>
              <a:t>report </a:t>
            </a:r>
            <a:r>
              <a:rPr spc="30" dirty="0"/>
              <a:t>lists </a:t>
            </a:r>
            <a:r>
              <a:rPr spc="114" dirty="0"/>
              <a:t>how </a:t>
            </a:r>
            <a:r>
              <a:rPr spc="85" dirty="0"/>
              <a:t>many </a:t>
            </a:r>
            <a:r>
              <a:rPr spc="40" dirty="0"/>
              <a:t>issues </a:t>
            </a:r>
            <a:r>
              <a:rPr spc="60" dirty="0"/>
              <a:t>were </a:t>
            </a:r>
            <a:r>
              <a:rPr spc="120" dirty="0"/>
              <a:t>found </a:t>
            </a:r>
            <a:r>
              <a:rPr spc="125" dirty="0"/>
              <a:t>and </a:t>
            </a:r>
            <a:r>
              <a:rPr spc="95" dirty="0"/>
              <a:t>their  </a:t>
            </a:r>
            <a:r>
              <a:rPr spc="60" dirty="0"/>
              <a:t>respective</a:t>
            </a:r>
            <a:r>
              <a:rPr spc="-95" dirty="0"/>
              <a:t> </a:t>
            </a:r>
            <a:r>
              <a:rPr spc="40" dirty="0"/>
              <a:t>severities.</a:t>
            </a:r>
          </a:p>
          <a:p>
            <a:pPr marL="353695" marR="5080" indent="-341630">
              <a:lnSpc>
                <a:spcPct val="100000"/>
              </a:lnSpc>
              <a:spcBef>
                <a:spcPts val="5"/>
              </a:spcBef>
              <a:buSzPct val="90909"/>
              <a:buFont typeface="Calibri"/>
              <a:buChar char="●"/>
              <a:tabLst>
                <a:tab pos="353695" algn="l"/>
                <a:tab pos="354330" algn="l"/>
              </a:tabLst>
            </a:pPr>
            <a:r>
              <a:rPr spc="110" dirty="0"/>
              <a:t>SQL</a:t>
            </a:r>
            <a:r>
              <a:rPr spc="-60" dirty="0"/>
              <a:t> </a:t>
            </a:r>
            <a:r>
              <a:rPr spc="70" dirty="0"/>
              <a:t>Server</a:t>
            </a:r>
            <a:r>
              <a:rPr spc="-50" dirty="0"/>
              <a:t> </a:t>
            </a:r>
            <a:r>
              <a:rPr spc="-35" dirty="0"/>
              <a:t>Big</a:t>
            </a:r>
            <a:r>
              <a:rPr spc="-60" dirty="0"/>
              <a:t> </a:t>
            </a:r>
            <a:r>
              <a:rPr spc="85" dirty="0"/>
              <a:t>Data</a:t>
            </a:r>
            <a:r>
              <a:rPr spc="-65" dirty="0"/>
              <a:t> </a:t>
            </a:r>
            <a:r>
              <a:rPr spc="95" dirty="0"/>
              <a:t>Clusters</a:t>
            </a:r>
            <a:r>
              <a:rPr spc="-60" dirty="0"/>
              <a:t> </a:t>
            </a:r>
            <a:r>
              <a:rPr spc="80" dirty="0"/>
              <a:t>provide</a:t>
            </a:r>
            <a:r>
              <a:rPr spc="-65" dirty="0"/>
              <a:t> </a:t>
            </a:r>
            <a:r>
              <a:rPr spc="40" dirty="0"/>
              <a:t>flexibility</a:t>
            </a:r>
            <a:r>
              <a:rPr spc="-45" dirty="0"/>
              <a:t> </a:t>
            </a:r>
            <a:r>
              <a:rPr spc="105" dirty="0"/>
              <a:t>in</a:t>
            </a:r>
            <a:r>
              <a:rPr spc="-65" dirty="0"/>
              <a:t> </a:t>
            </a:r>
            <a:r>
              <a:rPr spc="80" dirty="0"/>
              <a:t>interacting</a:t>
            </a:r>
            <a:r>
              <a:rPr spc="-50" dirty="0"/>
              <a:t> </a:t>
            </a:r>
            <a:r>
              <a:rPr spc="100" dirty="0"/>
              <a:t>with  </a:t>
            </a:r>
            <a:r>
              <a:rPr spc="-35" dirty="0"/>
              <a:t>Big</a:t>
            </a:r>
            <a:r>
              <a:rPr spc="-90" dirty="0"/>
              <a:t> </a:t>
            </a:r>
            <a:r>
              <a:rPr spc="75" dirty="0"/>
              <a:t>Data.</a:t>
            </a:r>
          </a:p>
          <a:p>
            <a:pPr marL="353695" indent="-341630">
              <a:lnSpc>
                <a:spcPct val="100000"/>
              </a:lnSpc>
              <a:buSzPct val="90909"/>
              <a:buFont typeface="Calibri"/>
              <a:buChar char="●"/>
              <a:tabLst>
                <a:tab pos="353695" algn="l"/>
                <a:tab pos="354330" algn="l"/>
              </a:tabLst>
            </a:pPr>
            <a:r>
              <a:rPr spc="85" dirty="0"/>
              <a:t>Kubernetes</a:t>
            </a:r>
            <a:r>
              <a:rPr spc="-114" dirty="0"/>
              <a:t> </a:t>
            </a:r>
            <a:r>
              <a:rPr spc="5" dirty="0"/>
              <a:t>is</a:t>
            </a:r>
            <a:r>
              <a:rPr spc="-90" dirty="0"/>
              <a:t> </a:t>
            </a:r>
            <a:r>
              <a:rPr spc="114" dirty="0"/>
              <a:t>an</a:t>
            </a:r>
            <a:r>
              <a:rPr spc="-95" dirty="0"/>
              <a:t> </a:t>
            </a:r>
            <a:r>
              <a:rPr spc="114" dirty="0"/>
              <a:t>open</a:t>
            </a:r>
            <a:r>
              <a:rPr spc="-95" dirty="0"/>
              <a:t> </a:t>
            </a:r>
            <a:r>
              <a:rPr spc="70" dirty="0"/>
              <a:t>source</a:t>
            </a:r>
            <a:r>
              <a:rPr spc="-100" dirty="0"/>
              <a:t> </a:t>
            </a:r>
            <a:r>
              <a:rPr spc="95" dirty="0"/>
              <a:t>container</a:t>
            </a:r>
            <a:r>
              <a:rPr spc="-100" dirty="0"/>
              <a:t> </a:t>
            </a:r>
            <a:r>
              <a:rPr spc="80" dirty="0"/>
              <a:t>orchestrator.</a:t>
            </a:r>
          </a:p>
          <a:p>
            <a:pPr marL="353695" marR="5715" indent="-341630">
              <a:lnSpc>
                <a:spcPct val="100000"/>
              </a:lnSpc>
              <a:buSzPct val="90909"/>
              <a:buFont typeface="Calibri"/>
              <a:buChar char="●"/>
              <a:tabLst>
                <a:tab pos="353695" algn="l"/>
                <a:tab pos="354330" algn="l"/>
              </a:tabLst>
            </a:pPr>
            <a:r>
              <a:rPr spc="80" dirty="0"/>
              <a:t>Kubernetes </a:t>
            </a:r>
            <a:r>
              <a:rPr spc="5" dirty="0"/>
              <a:t>is </a:t>
            </a:r>
            <a:r>
              <a:rPr spc="65" dirty="0"/>
              <a:t>responsible </a:t>
            </a:r>
            <a:r>
              <a:rPr spc="70" dirty="0"/>
              <a:t>for </a:t>
            </a:r>
            <a:r>
              <a:rPr spc="120" dirty="0"/>
              <a:t>the </a:t>
            </a:r>
            <a:r>
              <a:rPr spc="70" dirty="0"/>
              <a:t>state </a:t>
            </a:r>
            <a:r>
              <a:rPr spc="65" dirty="0"/>
              <a:t>of </a:t>
            </a:r>
            <a:r>
              <a:rPr spc="120" dirty="0"/>
              <a:t>the </a:t>
            </a:r>
            <a:r>
              <a:rPr spc="110" dirty="0"/>
              <a:t>SQL </a:t>
            </a:r>
            <a:r>
              <a:rPr spc="65" dirty="0"/>
              <a:t>Server </a:t>
            </a:r>
            <a:r>
              <a:rPr spc="-35" dirty="0"/>
              <a:t>Big </a:t>
            </a:r>
            <a:r>
              <a:rPr spc="90" dirty="0"/>
              <a:t>Data  </a:t>
            </a:r>
            <a:r>
              <a:rPr spc="85" dirty="0"/>
              <a:t>Clusters.</a:t>
            </a:r>
          </a:p>
          <a:p>
            <a:pPr marL="353695" marR="5080" indent="-341630">
              <a:lnSpc>
                <a:spcPct val="100000"/>
              </a:lnSpc>
              <a:buSzPct val="90909"/>
              <a:buFont typeface="Calibri"/>
              <a:buChar char="●"/>
              <a:tabLst>
                <a:tab pos="353695" algn="l"/>
                <a:tab pos="354330" algn="l"/>
                <a:tab pos="1189355" algn="l"/>
                <a:tab pos="1505585" algn="l"/>
                <a:tab pos="2191385" algn="l"/>
                <a:tab pos="2566670" algn="l"/>
                <a:tab pos="3286760" algn="l"/>
                <a:tab pos="5622925" algn="l"/>
                <a:tab pos="5995035" algn="l"/>
                <a:tab pos="6489700" algn="l"/>
              </a:tabLst>
            </a:pPr>
            <a:r>
              <a:rPr spc="75" dirty="0"/>
              <a:t>JSON	</a:t>
            </a:r>
            <a:r>
              <a:rPr spc="5" dirty="0"/>
              <a:t>is	</a:t>
            </a:r>
            <a:r>
              <a:rPr spc="90" dirty="0"/>
              <a:t>used	</a:t>
            </a:r>
            <a:r>
              <a:rPr spc="120" dirty="0"/>
              <a:t>to	</a:t>
            </a:r>
            <a:r>
              <a:rPr spc="75" dirty="0"/>
              <a:t>store	</a:t>
            </a:r>
            <a:r>
              <a:rPr spc="110" dirty="0"/>
              <a:t>unstructured</a:t>
            </a:r>
            <a:r>
              <a:rPr spc="475" dirty="0"/>
              <a:t> </a:t>
            </a:r>
            <a:r>
              <a:rPr spc="85" dirty="0"/>
              <a:t>data	</a:t>
            </a:r>
            <a:r>
              <a:rPr spc="105" dirty="0"/>
              <a:t>in	</a:t>
            </a:r>
            <a:r>
              <a:rPr spc="20" dirty="0"/>
              <a:t>log	</a:t>
            </a:r>
            <a:r>
              <a:rPr spc="15" dirty="0"/>
              <a:t>files </a:t>
            </a:r>
            <a:r>
              <a:rPr spc="95" dirty="0"/>
              <a:t>or </a:t>
            </a:r>
            <a:r>
              <a:rPr spc="114" dirty="0"/>
              <a:t>NoSQL  </a:t>
            </a:r>
            <a:r>
              <a:rPr spc="60" dirty="0"/>
              <a:t>databases</a:t>
            </a:r>
            <a:r>
              <a:rPr spc="-114" dirty="0"/>
              <a:t> </a:t>
            </a:r>
            <a:r>
              <a:rPr spc="95" dirty="0"/>
              <a:t>such</a:t>
            </a:r>
            <a:r>
              <a:rPr spc="-105" dirty="0"/>
              <a:t> </a:t>
            </a:r>
            <a:r>
              <a:rPr spc="20" dirty="0"/>
              <a:t>as</a:t>
            </a:r>
            <a:r>
              <a:rPr spc="-95" dirty="0"/>
              <a:t> </a:t>
            </a:r>
            <a:r>
              <a:rPr spc="65" dirty="0"/>
              <a:t>Microsoft</a:t>
            </a:r>
            <a:r>
              <a:rPr spc="-105" dirty="0"/>
              <a:t> </a:t>
            </a:r>
            <a:r>
              <a:rPr spc="70" dirty="0"/>
              <a:t>Azure</a:t>
            </a:r>
            <a:r>
              <a:rPr spc="-100" dirty="0"/>
              <a:t> </a:t>
            </a:r>
            <a:r>
              <a:rPr spc="105" dirty="0"/>
              <a:t>Cosmos</a:t>
            </a:r>
            <a:r>
              <a:rPr spc="-105" dirty="0"/>
              <a:t> </a:t>
            </a:r>
            <a:r>
              <a:rPr spc="25" dirty="0"/>
              <a:t>DB.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405</TotalTime>
  <Words>3393</Words>
  <Application>Microsoft Office PowerPoint</Application>
  <PresentationFormat>On-screen Show (4:3)</PresentationFormat>
  <Paragraphs>331</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 Antiqua</vt:lpstr>
      <vt:lpstr>Calibri</vt:lpstr>
      <vt:lpstr>Palatino Linotype</vt:lpstr>
      <vt:lpstr>Times New Roman</vt:lpstr>
      <vt:lpstr>Wingdings</vt:lpstr>
      <vt:lpstr>Office Theme</vt:lpstr>
      <vt:lpstr>Intelligent Data  Management with SQL  Server</vt:lpstr>
      <vt:lpstr>Objectives</vt:lpstr>
      <vt:lpstr>Verbose Truncation Warnings 1-2</vt:lpstr>
      <vt:lpstr>Verbose Truncation Warnings 2-2</vt:lpstr>
      <vt:lpstr>Vulnerability Assessment 1-7</vt:lpstr>
      <vt:lpstr>Vulnerability Assessment 2-7</vt:lpstr>
      <vt:lpstr>Vulnerability Assessment 3-7</vt:lpstr>
      <vt:lpstr>Vulnerability Assessment 4-7</vt:lpstr>
      <vt:lpstr>Vulnerability Assessment 5-7</vt:lpstr>
      <vt:lpstr>Vulnerability Assessment 6-7</vt:lpstr>
      <vt:lpstr>Vulnerability Assessment 7-7</vt:lpstr>
      <vt:lpstr>Big Data Clusters 1-6</vt:lpstr>
      <vt:lpstr>Big Data Clusters 2-6</vt:lpstr>
      <vt:lpstr>Big Data Clusters 3-6</vt:lpstr>
      <vt:lpstr>PowerPoint Presentation</vt:lpstr>
      <vt:lpstr>Big Data Clusters 5-6</vt:lpstr>
      <vt:lpstr>Big Data Clusters 6-6</vt:lpstr>
      <vt:lpstr>JSON data in SQL Server 1-4</vt:lpstr>
      <vt:lpstr>JSON data in SQL Server 2-4</vt:lpstr>
      <vt:lpstr>JSON data in SQL Server 3-4</vt:lpstr>
      <vt:lpstr>JSON data in SQL Server 4-4</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122</cp:revision>
  <dcterms:created xsi:type="dcterms:W3CDTF">2021-10-11T16:12:26Z</dcterms:created>
  <dcterms:modified xsi:type="dcterms:W3CDTF">2021-10-30T05:12:01Z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